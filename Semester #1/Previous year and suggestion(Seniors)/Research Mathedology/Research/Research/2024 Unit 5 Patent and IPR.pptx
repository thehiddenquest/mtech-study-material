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258" r:id="rId2"/>
    <p:sldId id="259" r:id="rId3"/>
    <p:sldId id="324" r:id="rId4"/>
    <p:sldId id="328" r:id="rId5"/>
    <p:sldId id="260" r:id="rId6"/>
    <p:sldId id="261" r:id="rId7"/>
    <p:sldId id="266" r:id="rId8"/>
    <p:sldId id="268" r:id="rId9"/>
    <p:sldId id="262" r:id="rId10"/>
    <p:sldId id="264" r:id="rId11"/>
    <p:sldId id="265"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4" r:id="rId36"/>
    <p:sldId id="295" r:id="rId37"/>
    <p:sldId id="296" r:id="rId38"/>
    <p:sldId id="297" r:id="rId39"/>
    <p:sldId id="298" r:id="rId40"/>
    <p:sldId id="299" r:id="rId41"/>
    <p:sldId id="300" r:id="rId42"/>
    <p:sldId id="301" r:id="rId43"/>
    <p:sldId id="302" r:id="rId44"/>
    <p:sldId id="304" r:id="rId45"/>
    <p:sldId id="305" r:id="rId46"/>
    <p:sldId id="306" r:id="rId47"/>
    <p:sldId id="307" r:id="rId48"/>
    <p:sldId id="308" r:id="rId49"/>
    <p:sldId id="309" r:id="rId50"/>
    <p:sldId id="310" r:id="rId51"/>
    <p:sldId id="311" r:id="rId52"/>
    <p:sldId id="314" r:id="rId53"/>
    <p:sldId id="315" r:id="rId54"/>
    <p:sldId id="317" r:id="rId55"/>
    <p:sldId id="318" r:id="rId56"/>
    <p:sldId id="319" r:id="rId57"/>
    <p:sldId id="320" r:id="rId58"/>
    <p:sldId id="322" r:id="rId59"/>
    <p:sldId id="325" r:id="rId60"/>
    <p:sldId id="326" r:id="rId61"/>
    <p:sldId id="327" r:id="rId6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9" d="100"/>
          <a:sy n="49" d="100"/>
        </p:scale>
        <p:origin x="964"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CA50734-CF65-451A-9D6E-1FF9CFC4598D}" type="datetimeFigureOut">
              <a:rPr lang="en-US" smtClean="0"/>
              <a:pPr/>
              <a:t>11/29/2024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3D0851-AE41-4507-966D-59482AB6D52C}" type="slidenum">
              <a:rPr lang="en-IN" smtClean="0"/>
              <a:pPr/>
              <a:t>‹#›</a:t>
            </a:fld>
            <a:endParaRPr lang="en-IN"/>
          </a:p>
        </p:txBody>
      </p:sp>
    </p:spTree>
    <p:extLst>
      <p:ext uri="{BB962C8B-B14F-4D97-AF65-F5344CB8AC3E}">
        <p14:creationId xmlns:p14="http://schemas.microsoft.com/office/powerpoint/2010/main" val="5799876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E14A58BF-E470-46DE-8341-2F297C1B9A44}" type="slidenum">
              <a:rPr lang="en-US" smtClean="0"/>
              <a:pPr eaLnBrk="1" hangingPunct="1"/>
              <a:t>8</a:t>
            </a:fld>
            <a:endParaRPr lang="en-US"/>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4024D6CF-846C-49B8-960B-219810F96EAA}" type="slidenum">
              <a:rPr lang="en-US" smtClean="0"/>
              <a:pPr eaLnBrk="1" hangingPunct="1"/>
              <a:t>12</a:t>
            </a:fld>
            <a:endParaRPr lang="en-US"/>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DE04E017-1E89-44EC-B094-8088F245625D}" type="slidenum">
              <a:rPr lang="en-US" smtClean="0"/>
              <a:pPr eaLnBrk="1" hangingPunct="1"/>
              <a:t>13</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09C45B2A-567F-4F8D-A1CF-DA560237E792}" type="slidenum">
              <a:rPr lang="en-US" smtClean="0"/>
              <a:pPr eaLnBrk="1" hangingPunct="1"/>
              <a:t>53</a:t>
            </a:fld>
            <a:endParaRPr lang="en-US"/>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Ph.D Course work on Research Methodology</a:t>
            </a:r>
          </a:p>
        </p:txBody>
      </p:sp>
      <p:sp>
        <p:nvSpPr>
          <p:cNvPr id="5" name="Footer Placeholder 4"/>
          <p:cNvSpPr>
            <a:spLocks noGrp="1"/>
          </p:cNvSpPr>
          <p:nvPr>
            <p:ph type="ftr" sz="quarter" idx="11"/>
          </p:nvPr>
        </p:nvSpPr>
        <p:spPr/>
        <p:txBody>
          <a:bodyPr/>
          <a:lstStyle/>
          <a:p>
            <a:r>
              <a:rPr lang="en-IN"/>
              <a:t>Prof. A. K. Datta  University of Calcutta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Ph.D Course work on Research Methodology</a:t>
            </a:r>
          </a:p>
        </p:txBody>
      </p:sp>
      <p:sp>
        <p:nvSpPr>
          <p:cNvPr id="5" name="Footer Placeholder 4"/>
          <p:cNvSpPr>
            <a:spLocks noGrp="1"/>
          </p:cNvSpPr>
          <p:nvPr>
            <p:ph type="ftr" sz="quarter" idx="11"/>
          </p:nvPr>
        </p:nvSpPr>
        <p:spPr/>
        <p:txBody>
          <a:bodyPr/>
          <a:lstStyle/>
          <a:p>
            <a:r>
              <a:rPr lang="en-IN"/>
              <a:t>Prof. A. K. Datta  University of Calcutta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Ph.D Course work on Research Methodology</a:t>
            </a:r>
          </a:p>
        </p:txBody>
      </p:sp>
      <p:sp>
        <p:nvSpPr>
          <p:cNvPr id="5" name="Footer Placeholder 4"/>
          <p:cNvSpPr>
            <a:spLocks noGrp="1"/>
          </p:cNvSpPr>
          <p:nvPr>
            <p:ph type="ftr" sz="quarter" idx="11"/>
          </p:nvPr>
        </p:nvSpPr>
        <p:spPr/>
        <p:txBody>
          <a:bodyPr/>
          <a:lstStyle/>
          <a:p>
            <a:r>
              <a:rPr lang="en-IN"/>
              <a:t>Prof. A. K. Datta  University of Calcutta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Ph.D Course work on Research Methodology</a:t>
            </a:r>
          </a:p>
        </p:txBody>
      </p:sp>
      <p:sp>
        <p:nvSpPr>
          <p:cNvPr id="6" name="Footer Placeholder 5"/>
          <p:cNvSpPr>
            <a:spLocks noGrp="1"/>
          </p:cNvSpPr>
          <p:nvPr>
            <p:ph type="ftr" sz="quarter" idx="11"/>
          </p:nvPr>
        </p:nvSpPr>
        <p:spPr/>
        <p:txBody>
          <a:bodyPr/>
          <a:lstStyle/>
          <a:p>
            <a:r>
              <a:rPr lang="en-IN"/>
              <a:t>Prof. A. K. Datta  University of Calcutta </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Ph.D Course work on Research Methodology</a:t>
            </a:r>
          </a:p>
        </p:txBody>
      </p:sp>
      <p:sp>
        <p:nvSpPr>
          <p:cNvPr id="8" name="Footer Placeholder 7"/>
          <p:cNvSpPr>
            <a:spLocks noGrp="1"/>
          </p:cNvSpPr>
          <p:nvPr>
            <p:ph type="ftr" sz="quarter" idx="11"/>
          </p:nvPr>
        </p:nvSpPr>
        <p:spPr/>
        <p:txBody>
          <a:bodyPr/>
          <a:lstStyle/>
          <a:p>
            <a:r>
              <a:rPr lang="en-IN"/>
              <a:t>Prof. A. K. Datta  University of Calcutta </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Ph.D Course work on Research Methodology</a:t>
            </a:r>
          </a:p>
        </p:txBody>
      </p:sp>
      <p:sp>
        <p:nvSpPr>
          <p:cNvPr id="4" name="Footer Placeholder 3"/>
          <p:cNvSpPr>
            <a:spLocks noGrp="1"/>
          </p:cNvSpPr>
          <p:nvPr>
            <p:ph type="ftr" sz="quarter" idx="11"/>
          </p:nvPr>
        </p:nvSpPr>
        <p:spPr/>
        <p:txBody>
          <a:bodyPr/>
          <a:lstStyle/>
          <a:p>
            <a:r>
              <a:rPr lang="en-IN"/>
              <a:t>Prof. A. K. Datta  University of Calcutta </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Ph.D Course work on Research Methodology</a:t>
            </a:r>
          </a:p>
        </p:txBody>
      </p:sp>
      <p:sp>
        <p:nvSpPr>
          <p:cNvPr id="3" name="Footer Placeholder 2"/>
          <p:cNvSpPr>
            <a:spLocks noGrp="1"/>
          </p:cNvSpPr>
          <p:nvPr>
            <p:ph type="ftr" sz="quarter" idx="11"/>
          </p:nvPr>
        </p:nvSpPr>
        <p:spPr/>
        <p:txBody>
          <a:bodyPr/>
          <a:lstStyle/>
          <a:p>
            <a:r>
              <a:rPr lang="en-IN"/>
              <a:t>Prof. A. K. Datta  University of Calcutta </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Ph.D Course work on Research Methodology</a:t>
            </a:r>
          </a:p>
        </p:txBody>
      </p:sp>
      <p:sp>
        <p:nvSpPr>
          <p:cNvPr id="6" name="Footer Placeholder 5"/>
          <p:cNvSpPr>
            <a:spLocks noGrp="1"/>
          </p:cNvSpPr>
          <p:nvPr>
            <p:ph type="ftr" sz="quarter" idx="11"/>
          </p:nvPr>
        </p:nvSpPr>
        <p:spPr/>
        <p:txBody>
          <a:bodyPr/>
          <a:lstStyle/>
          <a:p>
            <a:r>
              <a:rPr lang="en-IN"/>
              <a:t>Prof. A. K. Datta  University of Calcutta </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Ph.D Course work on Research Methodology</a:t>
            </a:r>
          </a:p>
        </p:txBody>
      </p:sp>
      <p:sp>
        <p:nvSpPr>
          <p:cNvPr id="6" name="Footer Placeholder 5"/>
          <p:cNvSpPr>
            <a:spLocks noGrp="1"/>
          </p:cNvSpPr>
          <p:nvPr>
            <p:ph type="ftr" sz="quarter" idx="11"/>
          </p:nvPr>
        </p:nvSpPr>
        <p:spPr/>
        <p:txBody>
          <a:bodyPr/>
          <a:lstStyle/>
          <a:p>
            <a:r>
              <a:rPr lang="en-IN"/>
              <a:t>Prof. A. K. Datta  University of Calcutta </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Ph.D Course work on Research Methodology</a:t>
            </a:r>
          </a:p>
        </p:txBody>
      </p:sp>
      <p:sp>
        <p:nvSpPr>
          <p:cNvPr id="5" name="Footer Placeholder 4"/>
          <p:cNvSpPr>
            <a:spLocks noGrp="1"/>
          </p:cNvSpPr>
          <p:nvPr>
            <p:ph type="ftr" sz="quarter" idx="11"/>
          </p:nvPr>
        </p:nvSpPr>
        <p:spPr/>
        <p:txBody>
          <a:bodyPr/>
          <a:lstStyle/>
          <a:p>
            <a:r>
              <a:rPr lang="en-IN"/>
              <a:t>Prof. A. K. Datta  University of Calcutta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Ph.D Course work on Research Methodology</a:t>
            </a:r>
          </a:p>
        </p:txBody>
      </p:sp>
      <p:sp>
        <p:nvSpPr>
          <p:cNvPr id="5" name="Footer Placeholder 4"/>
          <p:cNvSpPr>
            <a:spLocks noGrp="1"/>
          </p:cNvSpPr>
          <p:nvPr>
            <p:ph type="ftr" sz="quarter" idx="11"/>
          </p:nvPr>
        </p:nvSpPr>
        <p:spPr/>
        <p:txBody>
          <a:bodyPr/>
          <a:lstStyle/>
          <a:p>
            <a:r>
              <a:rPr lang="en-IN"/>
              <a:t>Prof. A. K. Datta  University of Calcutta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5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6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9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0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1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32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33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4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5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36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37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8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39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40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41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42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43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46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47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49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50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51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52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54_Title and Content">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A82324F-CB34-408F-A405-09BD4432CEFC}" type="slidenum">
              <a:rPr lang="en-US"/>
              <a:pPr>
                <a:defRPr/>
              </a:pPr>
              <a:t>‹#›</a:t>
            </a:fld>
            <a:endParaRPr lang="en-US"/>
          </a:p>
        </p:txBody>
      </p:sp>
    </p:spTree>
    <p:extLst>
      <p:ext uri="{BB962C8B-B14F-4D97-AF65-F5344CB8AC3E}">
        <p14:creationId xmlns:p14="http://schemas.microsoft.com/office/powerpoint/2010/main" val="396972511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AutoShape 7"/>
          <p:cNvSpPr>
            <a:spLocks noChangeArrowheads="1"/>
          </p:cNvSpPr>
          <p:nvPr userDrawn="1"/>
        </p:nvSpPr>
        <p:spPr bwMode="auto">
          <a:xfrm rot="5400000">
            <a:off x="0" y="0"/>
            <a:ext cx="914400" cy="914400"/>
          </a:xfrm>
          <a:prstGeom prst="rtTriangle">
            <a:avLst/>
          </a:prstGeom>
          <a:solidFill>
            <a:srgbClr val="FFFF00"/>
          </a:solidFill>
          <a:ln w="9525">
            <a:solidFill>
              <a:srgbClr val="000000"/>
            </a:solidFill>
            <a:miter lim="800000"/>
            <a:headEnd/>
            <a:tailEnd/>
          </a:ln>
          <a:effectLst>
            <a:outerShdw dist="107763" dir="2700000" algn="ctr" rotWithShape="0">
              <a:srgbClr val="808080">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a:ln>
                <a:noFill/>
              </a:ln>
              <a:solidFill>
                <a:sysClr val="windowText" lastClr="000000"/>
              </a:solidFill>
              <a:effectLst/>
              <a:uLnTx/>
              <a:uFillTx/>
            </a:endParaRPr>
          </a:p>
        </p:txBody>
      </p:sp>
      <p:cxnSp>
        <p:nvCxnSpPr>
          <p:cNvPr id="9" name="Straight Connector 8"/>
          <p:cNvCxnSpPr/>
          <p:nvPr userDrawn="1"/>
        </p:nvCxnSpPr>
        <p:spPr bwMode="auto">
          <a:xfrm>
            <a:off x="533400" y="533400"/>
            <a:ext cx="8610600" cy="1588"/>
          </a:xfrm>
          <a:prstGeom prst="line">
            <a:avLst/>
          </a:prstGeom>
          <a:solidFill>
            <a:schemeClr val="accent1"/>
          </a:solidFill>
          <a:ln w="28575" cap="flat" cmpd="sng" algn="ctr">
            <a:solidFill>
              <a:schemeClr val="bg2">
                <a:lumMod val="50000"/>
              </a:schemeClr>
            </a:solidFill>
            <a:prstDash val="solid"/>
            <a:round/>
            <a:headEnd type="none" w="med" len="med"/>
            <a:tailEnd type="none" w="med" len="med"/>
          </a:ln>
          <a:effectLst/>
        </p:spPr>
      </p:cxnSp>
      <p:cxnSp>
        <p:nvCxnSpPr>
          <p:cNvPr id="10" name="Straight Connector 9"/>
          <p:cNvCxnSpPr/>
          <p:nvPr userDrawn="1"/>
        </p:nvCxnSpPr>
        <p:spPr bwMode="auto">
          <a:xfrm>
            <a:off x="533400" y="609600"/>
            <a:ext cx="8610600" cy="1588"/>
          </a:xfrm>
          <a:prstGeom prst="line">
            <a:avLst/>
          </a:prstGeom>
          <a:solidFill>
            <a:schemeClr val="accent1"/>
          </a:solidFill>
          <a:ln w="28575" cap="flat" cmpd="sng" algn="ctr">
            <a:solidFill>
              <a:srgbClr val="FFFF00"/>
            </a:solidFill>
            <a:prstDash val="solid"/>
            <a:round/>
            <a:headEnd type="none" w="med" len="med"/>
            <a:tailEnd type="none" w="med" len="med"/>
          </a:ln>
          <a:effectLst/>
        </p:spPr>
      </p:cxnSp>
      <p:sp>
        <p:nvSpPr>
          <p:cNvPr id="12" name="Rectangle 11"/>
          <p:cNvSpPr/>
          <p:nvPr userDrawn="1"/>
        </p:nvSpPr>
        <p:spPr bwMode="auto">
          <a:xfrm>
            <a:off x="0" y="6553200"/>
            <a:ext cx="9144000" cy="304800"/>
          </a:xfrm>
          <a:prstGeom prst="rect">
            <a:avLst/>
          </a:prstGeom>
          <a:solidFill>
            <a:srgbClr val="FFFF00"/>
          </a:solidFill>
          <a:ln w="9525" cap="flat" cmpd="sng" algn="ctr">
            <a:solidFill>
              <a:schemeClr val="tx1"/>
            </a:solidFill>
            <a:prstDash val="solid"/>
            <a:round/>
            <a:headEnd type="none" w="med" len="med"/>
            <a:tailEnd type="none" w="med" len="med"/>
          </a:ln>
          <a:effectLst>
            <a:outerShdw blurRad="50800" dist="38100" dir="18900000" algn="bl" rotWithShape="0">
              <a:prstClr val="black">
                <a:alpha val="40000"/>
              </a:prstClr>
            </a:outerShdw>
          </a:effectLst>
          <a:scene3d>
            <a:camera prst="orthographicFront"/>
            <a:lightRig rig="threePt" dir="t"/>
          </a:scene3d>
          <a:sp3d>
            <a:bevelT w="101600" prst="riblet"/>
          </a:sp3d>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0" cap="none" spc="0" normalizeH="0" baseline="0" noProof="0">
              <a:ln>
                <a:noFill/>
              </a:ln>
              <a:solidFill>
                <a:srgbClr val="000000"/>
              </a:solidFill>
              <a:effectLst/>
              <a:uLnTx/>
              <a:uFillTx/>
              <a:latin typeface="Arial" charset="0"/>
            </a:endParaRPr>
          </a:p>
        </p:txBody>
      </p:sp>
      <p:sp>
        <p:nvSpPr>
          <p:cNvPr id="5" name="Footer Placeholder 4"/>
          <p:cNvSpPr>
            <a:spLocks noGrp="1"/>
          </p:cNvSpPr>
          <p:nvPr>
            <p:ph type="ftr" sz="quarter" idx="3"/>
          </p:nvPr>
        </p:nvSpPr>
        <p:spPr>
          <a:xfrm>
            <a:off x="3276600" y="6492875"/>
            <a:ext cx="3200400" cy="365125"/>
          </a:xfrm>
          <a:prstGeom prst="rect">
            <a:avLst/>
          </a:prstGeom>
        </p:spPr>
        <p:txBody>
          <a:bodyPr vert="horz" lIns="91440" tIns="45720" rIns="91440" bIns="45720" rtlCol="0" anchor="ctr"/>
          <a:lstStyle>
            <a:lvl1pPr algn="ctr">
              <a:defRPr sz="1200">
                <a:solidFill>
                  <a:schemeClr val="tx1"/>
                </a:solidFill>
              </a:defRPr>
            </a:lvl1pPr>
          </a:lstStyle>
          <a:p>
            <a:r>
              <a:rPr lang="en-IN" dirty="0"/>
              <a:t>Prof. A. K. </a:t>
            </a:r>
            <a:r>
              <a:rPr lang="en-IN" dirty="0" err="1"/>
              <a:t>Datta</a:t>
            </a:r>
            <a:r>
              <a:rPr lang="en-IN" dirty="0"/>
              <a:t>  University of Calcutta </a:t>
            </a:r>
            <a:endParaRPr lang="en-US" dirty="0"/>
          </a:p>
        </p:txBody>
      </p:sp>
      <p:sp>
        <p:nvSpPr>
          <p:cNvPr id="4" name="Date Placeholder 3"/>
          <p:cNvSpPr>
            <a:spLocks noGrp="1"/>
          </p:cNvSpPr>
          <p:nvPr>
            <p:ph type="dt" sz="half" idx="2"/>
          </p:nvPr>
        </p:nvSpPr>
        <p:spPr>
          <a:xfrm>
            <a:off x="304800" y="6492875"/>
            <a:ext cx="3124200" cy="365125"/>
          </a:xfrm>
          <a:prstGeom prst="rect">
            <a:avLst/>
          </a:prstGeom>
        </p:spPr>
        <p:txBody>
          <a:bodyPr vert="horz" lIns="91440" tIns="45720" rIns="91440" bIns="45720" rtlCol="0" anchor="ctr"/>
          <a:lstStyle>
            <a:lvl1pPr algn="l">
              <a:defRPr sz="1200">
                <a:solidFill>
                  <a:schemeClr val="tx1"/>
                </a:solidFill>
              </a:defRPr>
            </a:lvl1pPr>
          </a:lstStyle>
          <a:p>
            <a:r>
              <a:rPr lang="en-US"/>
              <a:t>Ph.D Course work on Research Methodology</a:t>
            </a:r>
            <a:endParaRPr lang="en-US" dirty="0"/>
          </a:p>
        </p:txBody>
      </p:sp>
      <p:sp>
        <p:nvSpPr>
          <p:cNvPr id="6" name="Slide Number Placeholder 5"/>
          <p:cNvSpPr>
            <a:spLocks noGrp="1"/>
          </p:cNvSpPr>
          <p:nvPr>
            <p:ph type="sldNum" sz="quarter" idx="4"/>
          </p:nvPr>
        </p:nvSpPr>
        <p:spPr>
          <a:xfrm>
            <a:off x="6705600" y="6492875"/>
            <a:ext cx="2133600" cy="365125"/>
          </a:xfrm>
          <a:prstGeom prst="rect">
            <a:avLst/>
          </a:prstGeom>
        </p:spPr>
        <p:txBody>
          <a:bodyPr vert="horz" lIns="91440" tIns="45720" rIns="91440" bIns="45720" rtlCol="0" anchor="ctr"/>
          <a:lstStyle>
            <a:lvl1pPr algn="r">
              <a:defRPr sz="1400">
                <a:solidFill>
                  <a:schemeClr val="tx1"/>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 id="2147483678" r:id="rId29"/>
    <p:sldLayoutId id="2147483679" r:id="rId30"/>
    <p:sldLayoutId id="2147483680" r:id="rId31"/>
    <p:sldLayoutId id="2147483681" r:id="rId32"/>
    <p:sldLayoutId id="2147483682" r:id="rId33"/>
    <p:sldLayoutId id="2147483683" r:id="rId34"/>
    <p:sldLayoutId id="2147483684" r:id="rId35"/>
    <p:sldLayoutId id="2147483685" r:id="rId36"/>
    <p:sldLayoutId id="2147483688" r:id="rId37"/>
    <p:sldLayoutId id="2147483689" r:id="rId38"/>
    <p:sldLayoutId id="2147483690" r:id="rId39"/>
    <p:sldLayoutId id="2147483691" r:id="rId40"/>
    <p:sldLayoutId id="2147483692" r:id="rId41"/>
    <p:sldLayoutId id="2147483693" r:id="rId42"/>
    <p:sldLayoutId id="2147483694" r:id="rId43"/>
    <p:sldLayoutId id="2147483695" r:id="rId44"/>
    <p:sldLayoutId id="2147483696" r:id="rId45"/>
    <p:sldLayoutId id="2147483697" r:id="rId46"/>
    <p:sldLayoutId id="2147483698" r:id="rId47"/>
    <p:sldLayoutId id="2147483699" r:id="rId48"/>
    <p:sldLayoutId id="2147483700" r:id="rId49"/>
    <p:sldLayoutId id="2147483701" r:id="rId50"/>
    <p:sldLayoutId id="2147483702" r:id="rId51"/>
    <p:sldLayoutId id="2147483705" r:id="rId52"/>
    <p:sldLayoutId id="2147483706" r:id="rId53"/>
    <p:sldLayoutId id="2147483708" r:id="rId54"/>
    <p:sldLayoutId id="2147483709" r:id="rId55"/>
    <p:sldLayoutId id="2147483710" r:id="rId56"/>
    <p:sldLayoutId id="2147483711" r:id="rId57"/>
    <p:sldLayoutId id="2147483713" r:id="rId58"/>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hyperlink" Target="http://www.ipindia.nic.in/" TargetMode="External"/><Relationship Id="rId1" Type="http://schemas.openxmlformats.org/officeDocument/2006/relationships/slideLayout" Target="../slideLayouts/slideLayout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8.xml"/></Relationships>
</file>

<file path=ppt/slides/_rels/slide6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4"/>
          <p:cNvSpPr>
            <a:spLocks noChangeArrowheads="1"/>
          </p:cNvSpPr>
          <p:nvPr/>
        </p:nvSpPr>
        <p:spPr bwMode="auto">
          <a:xfrm>
            <a:off x="4038600" y="3048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en-IN"/>
          </a:p>
        </p:txBody>
      </p:sp>
      <p:sp>
        <p:nvSpPr>
          <p:cNvPr id="2051" name="Rectangle 8"/>
          <p:cNvSpPr>
            <a:spLocks noChangeArrowheads="1"/>
          </p:cNvSpPr>
          <p:nvPr/>
        </p:nvSpPr>
        <p:spPr bwMode="auto">
          <a:xfrm>
            <a:off x="642910" y="1571612"/>
            <a:ext cx="7567618"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p>
            <a:endParaRPr lang="en-US" sz="3200" b="1" dirty="0">
              <a:solidFill>
                <a:srgbClr val="C00000"/>
              </a:solidFill>
              <a:latin typeface="Book Antiqua" pitchFamily="18" charset="0"/>
            </a:endParaRPr>
          </a:p>
          <a:p>
            <a:r>
              <a:rPr lang="en-US" sz="4000" dirty="0">
                <a:latin typeface="Book Antiqua" pitchFamily="18" charset="0"/>
                <a:cs typeface="Times New Roman" pitchFamily="18" charset="0"/>
              </a:rPr>
              <a:t>IPR:  Intellectual property rights</a:t>
            </a:r>
          </a:p>
          <a:p>
            <a:endParaRPr lang="en-US" sz="4000" b="1" dirty="0">
              <a:solidFill>
                <a:srgbClr val="C00000"/>
              </a:solidFill>
              <a:latin typeface="Book Antiqua" pitchFamily="18" charset="0"/>
            </a:endParaRPr>
          </a:p>
          <a:p>
            <a:endParaRPr lang="en-US" sz="4000" b="1" u="sng" dirty="0">
              <a:solidFill>
                <a:srgbClr val="C00000"/>
              </a:solidFill>
              <a:latin typeface="Book Antiqua" pitchFamily="18" charset="0"/>
            </a:endParaRPr>
          </a:p>
          <a:p>
            <a:endParaRPr lang="en-US" sz="4800" b="1" dirty="0">
              <a:solidFill>
                <a:srgbClr val="C00000"/>
              </a:solidFill>
              <a:latin typeface="Book Antiqua" pitchFamily="18" charset="0"/>
            </a:endParaRPr>
          </a:p>
        </p:txBody>
      </p:sp>
    </p:spTree>
  </p:cSld>
  <p:clrMapOvr>
    <a:masterClrMapping/>
  </p:clrMapOvr>
  <p:transition>
    <p:wipe/>
    <p:sndAc>
      <p:end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0" name="Rectangle 1033"/>
          <p:cNvSpPr>
            <a:spLocks noGrp="1" noChangeArrowheads="1"/>
          </p:cNvSpPr>
          <p:nvPr>
            <p:ph type="title" idx="4294967295"/>
          </p:nvPr>
        </p:nvSpPr>
        <p:spPr>
          <a:xfrm>
            <a:off x="1790700" y="0"/>
            <a:ext cx="5867400" cy="609600"/>
          </a:xfrm>
          <a:prstGeom prst="rect">
            <a:avLst/>
          </a:prstGeom>
        </p:spPr>
        <p:txBody>
          <a:bodyPr/>
          <a:lstStyle/>
          <a:p>
            <a:r>
              <a:rPr lang="en-US" sz="3200" dirty="0">
                <a:solidFill>
                  <a:srgbClr val="0000FF"/>
                </a:solidFill>
                <a:latin typeface="Times New Roman" pitchFamily="18" charset="0"/>
                <a:cs typeface="Times New Roman" pitchFamily="18" charset="0"/>
              </a:rPr>
              <a:t>Intellectual property</a:t>
            </a:r>
          </a:p>
        </p:txBody>
      </p:sp>
      <p:grpSp>
        <p:nvGrpSpPr>
          <p:cNvPr id="14" name="Group 13"/>
          <p:cNvGrpSpPr/>
          <p:nvPr/>
        </p:nvGrpSpPr>
        <p:grpSpPr>
          <a:xfrm>
            <a:off x="714348" y="1142984"/>
            <a:ext cx="7848600" cy="4638020"/>
            <a:chOff x="762000" y="1524000"/>
            <a:chExt cx="7848600" cy="4638020"/>
          </a:xfrm>
        </p:grpSpPr>
        <p:sp>
          <p:nvSpPr>
            <p:cNvPr id="3074" name="Text Box 1026"/>
            <p:cNvSpPr txBox="1">
              <a:spLocks noChangeArrowheads="1"/>
            </p:cNvSpPr>
            <p:nvPr/>
          </p:nvSpPr>
          <p:spPr bwMode="auto">
            <a:xfrm>
              <a:off x="1447800" y="1524000"/>
              <a:ext cx="438453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2800" dirty="0">
                  <a:latin typeface="Times New Roman" pitchFamily="18" charset="0"/>
                  <a:cs typeface="Times New Roman" pitchFamily="18" charset="0"/>
                </a:rPr>
                <a:t>Creation of  Human Intellect</a:t>
              </a:r>
              <a:r>
                <a:rPr lang="en-US" sz="2400" dirty="0">
                  <a:latin typeface="Times New Roman" pitchFamily="18" charset="0"/>
                  <a:cs typeface="Times New Roman" pitchFamily="18" charset="0"/>
                </a:rPr>
                <a:t> </a:t>
              </a:r>
            </a:p>
          </p:txBody>
        </p:sp>
        <p:sp>
          <p:nvSpPr>
            <p:cNvPr id="3075" name="Text Box 1028"/>
            <p:cNvSpPr txBox="1">
              <a:spLocks noChangeArrowheads="1"/>
            </p:cNvSpPr>
            <p:nvPr/>
          </p:nvSpPr>
          <p:spPr bwMode="auto">
            <a:xfrm>
              <a:off x="1447800" y="3352800"/>
              <a:ext cx="65532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2800">
                  <a:latin typeface="Times New Roman" pitchFamily="18" charset="0"/>
                  <a:cs typeface="Times New Roman" pitchFamily="18" charset="0"/>
                </a:rPr>
                <a:t> IPR- A  Key component  for success in Business</a:t>
              </a:r>
            </a:p>
            <a:p>
              <a:pPr eaLnBrk="1" hangingPunct="1"/>
              <a:endParaRPr lang="en-US" sz="2800" b="1">
                <a:latin typeface="Times New Roman" pitchFamily="18" charset="0"/>
                <a:cs typeface="Times New Roman" pitchFamily="18" charset="0"/>
              </a:endParaRPr>
            </a:p>
          </p:txBody>
        </p:sp>
        <p:sp>
          <p:nvSpPr>
            <p:cNvPr id="3076" name="Line 1029"/>
            <p:cNvSpPr>
              <a:spLocks noChangeShapeType="1"/>
            </p:cNvSpPr>
            <p:nvPr/>
          </p:nvSpPr>
          <p:spPr bwMode="auto">
            <a:xfrm flipV="1">
              <a:off x="762000" y="1676400"/>
              <a:ext cx="0" cy="43434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7" name="Line 1030"/>
            <p:cNvSpPr>
              <a:spLocks noChangeShapeType="1"/>
            </p:cNvSpPr>
            <p:nvPr/>
          </p:nvSpPr>
          <p:spPr bwMode="auto">
            <a:xfrm>
              <a:off x="762000" y="1828800"/>
              <a:ext cx="6858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8" name="Line 1031"/>
            <p:cNvSpPr>
              <a:spLocks noChangeShapeType="1"/>
            </p:cNvSpPr>
            <p:nvPr/>
          </p:nvSpPr>
          <p:spPr bwMode="auto">
            <a:xfrm>
              <a:off x="762000" y="5943600"/>
              <a:ext cx="6858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9" name="Line 1032"/>
            <p:cNvSpPr>
              <a:spLocks noChangeShapeType="1"/>
            </p:cNvSpPr>
            <p:nvPr/>
          </p:nvSpPr>
          <p:spPr bwMode="auto">
            <a:xfrm>
              <a:off x="762000" y="3657600"/>
              <a:ext cx="6858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81" name="Rectangle 1036"/>
            <p:cNvSpPr>
              <a:spLocks noChangeArrowheads="1"/>
            </p:cNvSpPr>
            <p:nvPr/>
          </p:nvSpPr>
          <p:spPr bwMode="auto">
            <a:xfrm>
              <a:off x="1447800" y="2286000"/>
              <a:ext cx="7162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r>
                <a:rPr lang="en-US" sz="2800" dirty="0">
                  <a:latin typeface="Times New Roman" pitchFamily="18" charset="0"/>
                  <a:cs typeface="Times New Roman" pitchFamily="18" charset="0"/>
                </a:rPr>
                <a:t> Knowledge Assets – Tradable Commodities - capital</a:t>
              </a:r>
              <a:r>
                <a:rPr lang="en-US" sz="2400" b="1" dirty="0">
                  <a:latin typeface="Times New Roman" pitchFamily="18" charset="0"/>
                  <a:cs typeface="Times New Roman" pitchFamily="18" charset="0"/>
                </a:rPr>
                <a:t>  </a:t>
              </a:r>
            </a:p>
          </p:txBody>
        </p:sp>
        <p:sp>
          <p:nvSpPr>
            <p:cNvPr id="3082" name="Line 1037"/>
            <p:cNvSpPr>
              <a:spLocks noChangeShapeType="1"/>
            </p:cNvSpPr>
            <p:nvPr/>
          </p:nvSpPr>
          <p:spPr bwMode="auto">
            <a:xfrm>
              <a:off x="838200" y="2590800"/>
              <a:ext cx="6858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83" name="Rectangle 1038"/>
            <p:cNvSpPr>
              <a:spLocks noChangeArrowheads="1"/>
            </p:cNvSpPr>
            <p:nvPr/>
          </p:nvSpPr>
          <p:spPr bwMode="auto">
            <a:xfrm>
              <a:off x="1371600" y="5638800"/>
              <a:ext cx="67485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p>
              <a:r>
                <a:rPr lang="en-US" sz="2800" dirty="0">
                  <a:latin typeface="Times New Roman" pitchFamily="18" charset="0"/>
                  <a:cs typeface="Times New Roman" pitchFamily="18" charset="0"/>
                </a:rPr>
                <a:t> </a:t>
              </a:r>
              <a:r>
                <a:rPr lang="en-US" sz="2800" b="1" dirty="0">
                  <a:latin typeface="Times New Roman" pitchFamily="18" charset="0"/>
                  <a:cs typeface="Times New Roman" pitchFamily="18" charset="0"/>
                </a:rPr>
                <a:t>IPR - “New wealth of  the Nations</a:t>
              </a:r>
            </a:p>
          </p:txBody>
        </p:sp>
        <p:sp>
          <p:nvSpPr>
            <p:cNvPr id="3084" name="Line 1041"/>
            <p:cNvSpPr>
              <a:spLocks noChangeShapeType="1"/>
            </p:cNvSpPr>
            <p:nvPr/>
          </p:nvSpPr>
          <p:spPr bwMode="auto">
            <a:xfrm>
              <a:off x="762000" y="4953000"/>
              <a:ext cx="6858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85" name="Rectangle 1042"/>
            <p:cNvSpPr>
              <a:spLocks noChangeArrowheads="1"/>
            </p:cNvSpPr>
            <p:nvPr/>
          </p:nvSpPr>
          <p:spPr bwMode="auto">
            <a:xfrm>
              <a:off x="1524000" y="4800600"/>
              <a:ext cx="4191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marL="342900" indent="-342900"/>
              <a:r>
                <a:rPr lang="en-US" sz="2800">
                  <a:latin typeface="Times New Roman" pitchFamily="18" charset="0"/>
                  <a:cs typeface="Times New Roman" pitchFamily="18" charset="0"/>
                </a:rPr>
                <a:t>Tool for  Competitiveness</a:t>
              </a:r>
            </a:p>
          </p:txBody>
        </p:sp>
      </p:grpSp>
    </p:spTree>
  </p:cSld>
  <p:clrMapOvr>
    <a:masterClrMapping/>
  </p:clrMapOvr>
  <p:transition>
    <p:wipe/>
    <p:sndAc>
      <p:end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Ph.D Course work on Research Methodology</a:t>
            </a:r>
          </a:p>
        </p:txBody>
      </p:sp>
      <p:sp>
        <p:nvSpPr>
          <p:cNvPr id="3" name="Footer Placeholder 2"/>
          <p:cNvSpPr>
            <a:spLocks noGrp="1"/>
          </p:cNvSpPr>
          <p:nvPr>
            <p:ph type="ftr" sz="quarter" idx="11"/>
          </p:nvPr>
        </p:nvSpPr>
        <p:spPr/>
        <p:txBody>
          <a:bodyPr/>
          <a:lstStyle/>
          <a:p>
            <a:r>
              <a:rPr lang="en-IN"/>
              <a:t>Prof. A. K. Datta  University of Calcutta </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
        <p:nvSpPr>
          <p:cNvPr id="5" name="Rectangle 4"/>
          <p:cNvSpPr/>
          <p:nvPr/>
        </p:nvSpPr>
        <p:spPr>
          <a:xfrm>
            <a:off x="214282" y="714356"/>
            <a:ext cx="8715436" cy="4319131"/>
          </a:xfrm>
          <a:prstGeom prst="rect">
            <a:avLst/>
          </a:prstGeom>
        </p:spPr>
        <p:txBody>
          <a:bodyPr wrap="square">
            <a:spAutoFit/>
          </a:bodyPr>
          <a:lstStyle/>
          <a:p>
            <a:pPr>
              <a:lnSpc>
                <a:spcPts val="3200"/>
              </a:lnSpc>
            </a:pPr>
            <a:r>
              <a:rPr lang="en-IN" sz="2400" dirty="0">
                <a:latin typeface="Bookman Old Style" pitchFamily="18" charset="0"/>
              </a:rPr>
              <a:t>Encyclopaedia Britannica defined the term intellectual property as, `</a:t>
            </a:r>
            <a:r>
              <a:rPr lang="en-IN" sz="2400" dirty="0">
                <a:solidFill>
                  <a:srgbClr val="0000CC"/>
                </a:solidFill>
                <a:latin typeface="Bookman Old Style" pitchFamily="18" charset="0"/>
              </a:rPr>
              <a:t>a property that derives from the work of an individual's mind or intellect</a:t>
            </a:r>
            <a:r>
              <a:rPr lang="en-IN" sz="2400" dirty="0">
                <a:latin typeface="Bookman Old Style" pitchFamily="18" charset="0"/>
              </a:rPr>
              <a:t>.' </a:t>
            </a:r>
          </a:p>
          <a:p>
            <a:pPr>
              <a:lnSpc>
                <a:spcPts val="3200"/>
              </a:lnSpc>
            </a:pPr>
            <a:endParaRPr lang="en-IN" sz="2400" dirty="0">
              <a:latin typeface="Bookman Old Style" pitchFamily="18" charset="0"/>
            </a:endParaRPr>
          </a:p>
          <a:p>
            <a:r>
              <a:rPr lang="en-IN" sz="2400" dirty="0">
                <a:latin typeface="Bookman Old Style" pitchFamily="18" charset="0"/>
              </a:rPr>
              <a:t>World Intellectual Property Organization (WIPO) has also referred to intellectual property (IP) as `creations of the intellect, such as inventions; literary and artistic works; designs; and symbols, names, and images used for commercial purpose.” </a:t>
            </a:r>
          </a:p>
          <a:p>
            <a:endParaRPr lang="en-IN" sz="2400" dirty="0">
              <a:latin typeface="Bookman Old Style" pitchFamily="18" charset="0"/>
            </a:endParaRPr>
          </a:p>
          <a:p>
            <a:endParaRPr lang="en-US" sz="2400" dirty="0">
              <a:latin typeface="Bookman Old Style"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FEB085-7D8B-7CB6-8847-BBFD8D0D5CF5}"/>
              </a:ext>
            </a:extLst>
          </p:cNvPr>
          <p:cNvSpPr>
            <a:spLocks noGrp="1"/>
          </p:cNvSpPr>
          <p:nvPr>
            <p:ph type="dt" sz="half" idx="10"/>
          </p:nvPr>
        </p:nvSpPr>
        <p:spPr/>
        <p:txBody>
          <a:bodyPr/>
          <a:lstStyle/>
          <a:p>
            <a:r>
              <a:rPr lang="en-US"/>
              <a:t>Ph.D Course work on Research Methodology</a:t>
            </a:r>
          </a:p>
        </p:txBody>
      </p:sp>
      <p:sp>
        <p:nvSpPr>
          <p:cNvPr id="3" name="Footer Placeholder 2">
            <a:extLst>
              <a:ext uri="{FF2B5EF4-FFF2-40B4-BE49-F238E27FC236}">
                <a16:creationId xmlns:a16="http://schemas.microsoft.com/office/drawing/2014/main" id="{6FDABA44-A402-6C4A-DD5E-65D399A8EE18}"/>
              </a:ext>
            </a:extLst>
          </p:cNvPr>
          <p:cNvSpPr>
            <a:spLocks noGrp="1"/>
          </p:cNvSpPr>
          <p:nvPr>
            <p:ph type="ftr" sz="quarter" idx="11"/>
          </p:nvPr>
        </p:nvSpPr>
        <p:spPr/>
        <p:txBody>
          <a:bodyPr/>
          <a:lstStyle/>
          <a:p>
            <a:r>
              <a:rPr lang="en-IN"/>
              <a:t>Prof. A. K. Datta  University of Calcutta </a:t>
            </a:r>
            <a:endParaRPr lang="en-US"/>
          </a:p>
        </p:txBody>
      </p:sp>
      <p:sp>
        <p:nvSpPr>
          <p:cNvPr id="4" name="Slide Number Placeholder 3">
            <a:extLst>
              <a:ext uri="{FF2B5EF4-FFF2-40B4-BE49-F238E27FC236}">
                <a16:creationId xmlns:a16="http://schemas.microsoft.com/office/drawing/2014/main" id="{571A1A10-17AF-578E-1E4A-228FF322B650}"/>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6" name="TextBox 5">
            <a:extLst>
              <a:ext uri="{FF2B5EF4-FFF2-40B4-BE49-F238E27FC236}">
                <a16:creationId xmlns:a16="http://schemas.microsoft.com/office/drawing/2014/main" id="{1110B93E-1AC5-78D4-613C-CB082E860A86}"/>
              </a:ext>
            </a:extLst>
          </p:cNvPr>
          <p:cNvSpPr txBox="1"/>
          <p:nvPr/>
        </p:nvSpPr>
        <p:spPr>
          <a:xfrm>
            <a:off x="467544" y="1052736"/>
            <a:ext cx="8136904" cy="4154984"/>
          </a:xfrm>
          <a:prstGeom prst="rect">
            <a:avLst/>
          </a:prstGeom>
          <a:noFill/>
        </p:spPr>
        <p:txBody>
          <a:bodyPr wrap="square">
            <a:spAutoFit/>
          </a:bodyPr>
          <a:lstStyle/>
          <a:p>
            <a:r>
              <a:rPr lang="en-IN" sz="2400" dirty="0">
                <a:latin typeface="Bookman Old Style" pitchFamily="18" charset="0"/>
              </a:rPr>
              <a:t>WIPO recognized eight types of intellectual property rights: </a:t>
            </a:r>
          </a:p>
          <a:p>
            <a:endParaRPr lang="en-IN" sz="2400" dirty="0">
              <a:latin typeface="Bookman Old Style" pitchFamily="18" charset="0"/>
            </a:endParaRPr>
          </a:p>
          <a:p>
            <a:pPr marL="457200" indent="-457200">
              <a:buAutoNum type="arabicParenBoth"/>
            </a:pPr>
            <a:r>
              <a:rPr lang="en-IN" sz="2400" dirty="0">
                <a:latin typeface="Bookman Old Style" pitchFamily="18" charset="0"/>
              </a:rPr>
              <a:t>Copyright, </a:t>
            </a:r>
          </a:p>
          <a:p>
            <a:pPr marL="457200" indent="-457200">
              <a:buAutoNum type="arabicParenBoth"/>
            </a:pPr>
            <a:r>
              <a:rPr lang="en-IN" sz="2400" dirty="0">
                <a:latin typeface="Bookman Old Style" pitchFamily="18" charset="0"/>
              </a:rPr>
              <a:t>Patents, </a:t>
            </a:r>
          </a:p>
          <a:p>
            <a:pPr marL="457200" indent="-457200">
              <a:buAutoNum type="arabicParenBoth"/>
            </a:pPr>
            <a:r>
              <a:rPr lang="en-IN" sz="2400" dirty="0">
                <a:latin typeface="Bookman Old Style" pitchFamily="18" charset="0"/>
              </a:rPr>
              <a:t>Trademarks, </a:t>
            </a:r>
          </a:p>
          <a:p>
            <a:pPr marL="457200" indent="-457200">
              <a:buAutoNum type="arabicParenBoth"/>
            </a:pPr>
            <a:r>
              <a:rPr lang="en-IN" sz="2400" dirty="0">
                <a:latin typeface="Bookman Old Style" pitchFamily="18" charset="0"/>
              </a:rPr>
              <a:t>Trade secrets, </a:t>
            </a:r>
          </a:p>
          <a:p>
            <a:pPr marL="457200" indent="-457200">
              <a:buAutoNum type="arabicParenBoth"/>
            </a:pPr>
            <a:r>
              <a:rPr lang="en-IN" sz="2400" dirty="0">
                <a:latin typeface="Bookman Old Style" pitchFamily="18" charset="0"/>
              </a:rPr>
              <a:t>Industrial designs, </a:t>
            </a:r>
          </a:p>
          <a:p>
            <a:pPr marL="457200" indent="-457200">
              <a:buAutoNum type="arabicParenBoth"/>
            </a:pPr>
            <a:r>
              <a:rPr lang="en-IN" sz="2400" dirty="0">
                <a:latin typeface="Bookman Old Style" pitchFamily="18" charset="0"/>
              </a:rPr>
              <a:t>Plant varieties, </a:t>
            </a:r>
          </a:p>
          <a:p>
            <a:pPr marL="457200" indent="-457200">
              <a:buAutoNum type="arabicParenBoth"/>
            </a:pPr>
            <a:r>
              <a:rPr lang="en-IN" sz="2400" dirty="0">
                <a:latin typeface="Bookman Old Style" pitchFamily="18" charset="0"/>
              </a:rPr>
              <a:t>Geographical indications, and </a:t>
            </a:r>
          </a:p>
          <a:p>
            <a:pPr marL="457200" indent="-457200">
              <a:buAutoNum type="arabicParenBoth"/>
            </a:pPr>
            <a:r>
              <a:rPr lang="en-IN" sz="2400" dirty="0">
                <a:latin typeface="Bookman Old Style" pitchFamily="18" charset="0"/>
              </a:rPr>
              <a:t> Design layout of integrated circuits</a:t>
            </a:r>
            <a:endParaRPr lang="en-US" sz="2400" dirty="0">
              <a:latin typeface="Bookman Old Style" pitchFamily="18" charset="0"/>
            </a:endParaRPr>
          </a:p>
        </p:txBody>
      </p:sp>
    </p:spTree>
    <p:extLst>
      <p:ext uri="{BB962C8B-B14F-4D97-AF65-F5344CB8AC3E}">
        <p14:creationId xmlns:p14="http://schemas.microsoft.com/office/powerpoint/2010/main" val="1620772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idx="4294967295"/>
          </p:nvPr>
        </p:nvSpPr>
        <p:spPr>
          <a:xfrm>
            <a:off x="762000" y="-17206"/>
            <a:ext cx="8229600" cy="715962"/>
          </a:xfrm>
          <a:prstGeom prst="rect">
            <a:avLst/>
          </a:prstGeom>
        </p:spPr>
        <p:txBody>
          <a:bodyPr/>
          <a:lstStyle/>
          <a:p>
            <a:r>
              <a:rPr lang="en-US" sz="3200" dirty="0">
                <a:solidFill>
                  <a:srgbClr val="0000FF"/>
                </a:solidFill>
                <a:latin typeface="Times New Roman" pitchFamily="18" charset="0"/>
                <a:cs typeface="Times New Roman" pitchFamily="18" charset="0"/>
              </a:rPr>
              <a:t>Intellectual property</a:t>
            </a: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4294967295"/>
          </p:nvPr>
        </p:nvSpPr>
        <p:spPr>
          <a:xfrm>
            <a:off x="457200" y="1066800"/>
            <a:ext cx="8458200" cy="5410200"/>
          </a:xfrm>
          <a:prstGeom prst="rect">
            <a:avLst/>
          </a:prstGeom>
        </p:spPr>
        <p:txBody>
          <a:bodyPr/>
          <a:lstStyle/>
          <a:p>
            <a:pPr algn="just">
              <a:defRPr/>
            </a:pPr>
            <a:r>
              <a:rPr lang="en-US" sz="2800" dirty="0">
                <a:latin typeface="Times New Roman" pitchFamily="18" charset="0"/>
                <a:cs typeface="Times New Roman" pitchFamily="18" charset="0"/>
              </a:rPr>
              <a:t>Not just a tool of exploitation, but a tool of empowerment</a:t>
            </a:r>
          </a:p>
          <a:p>
            <a:pPr algn="just">
              <a:defRPr/>
            </a:pPr>
            <a:r>
              <a:rPr lang="en-US" altLang="zh-CN" sz="2800" dirty="0">
                <a:latin typeface="Times New Roman" pitchFamily="18" charset="0"/>
                <a:cs typeface="Times New Roman" pitchFamily="18" charset="0"/>
              </a:rPr>
              <a:t> Knowledge-based economy characterized by the </a:t>
            </a:r>
          </a:p>
          <a:p>
            <a:pPr algn="just">
              <a:buFontTx/>
              <a:buNone/>
              <a:defRPr/>
            </a:pPr>
            <a:r>
              <a:rPr lang="en-US" altLang="zh-CN" sz="2800" dirty="0">
                <a:latin typeface="Times New Roman" pitchFamily="18" charset="0"/>
                <a:cs typeface="Times New Roman" pitchFamily="18" charset="0"/>
              </a:rPr>
              <a:t>    creation, possession, utilization and proliferation</a:t>
            </a:r>
          </a:p>
          <a:p>
            <a:pPr algn="just">
              <a:buFontTx/>
              <a:buNone/>
              <a:defRPr/>
            </a:pPr>
            <a:r>
              <a:rPr lang="en-US" altLang="zh-CN" sz="2800" dirty="0">
                <a:latin typeface="Times New Roman" pitchFamily="18" charset="0"/>
                <a:cs typeface="Times New Roman" pitchFamily="18" charset="0"/>
              </a:rPr>
              <a:t>    of knowledge assets </a:t>
            </a:r>
          </a:p>
          <a:p>
            <a:pPr algn="just">
              <a:defRPr/>
            </a:pPr>
            <a:r>
              <a:rPr lang="en-US" altLang="zh-CN" sz="2800" dirty="0">
                <a:latin typeface="Times New Roman" pitchFamily="18" charset="0"/>
                <a:cs typeface="Times New Roman" pitchFamily="18" charset="0"/>
              </a:rPr>
              <a:t>Countries which pay adequate attention to     innovation and  protection of IPRs win in international competition;</a:t>
            </a:r>
          </a:p>
          <a:p>
            <a:pPr algn="just">
              <a:defRPr/>
            </a:pPr>
            <a:r>
              <a:rPr lang="en-US" altLang="zh-CN" sz="2800" dirty="0">
                <a:latin typeface="Times New Roman" pitchFamily="18" charset="0"/>
                <a:cs typeface="Times New Roman" pitchFamily="18" charset="0"/>
              </a:rPr>
              <a:t> </a:t>
            </a:r>
            <a:r>
              <a:rPr lang="en-US" altLang="zh-CN" sz="2800" dirty="0">
                <a:latin typeface="Times New Roman" pitchFamily="18" charset="0"/>
                <a:ea typeface="Tahoma" pitchFamily="34" charset="0"/>
                <a:cs typeface="Times New Roman" pitchFamily="18" charset="0"/>
              </a:rPr>
              <a:t>Knowledge assets are fast gaining importance  over physical assets in Industry </a:t>
            </a:r>
            <a:endParaRPr lang="zh-CN" altLang="en-US" sz="2800" dirty="0">
              <a:latin typeface="Times New Roman" pitchFamily="18" charset="0"/>
              <a:cs typeface="Times New Roman" pitchFamily="18" charset="0"/>
            </a:endParaRPr>
          </a:p>
          <a:p>
            <a:pPr>
              <a:defRPr/>
            </a:pPr>
            <a:endParaRPr lang="en-US" dirty="0">
              <a:latin typeface="Times New Roman" pitchFamily="18" charset="0"/>
              <a:cs typeface="Times New Roman" pitchFamily="18" charset="0"/>
            </a:endParaRPr>
          </a:p>
          <a:p>
            <a:pPr>
              <a:defRPr/>
            </a:pPr>
            <a:endParaRPr lang="en-IN" dirty="0">
              <a:latin typeface="Times New Roman" pitchFamily="18" charset="0"/>
              <a:cs typeface="Times New Roman" pitchFamily="18" charset="0"/>
            </a:endParaRPr>
          </a:p>
        </p:txBody>
      </p:sp>
    </p:spTree>
  </p:cSld>
  <p:clrMapOvr>
    <a:masterClrMapping/>
  </p:clrMapOvr>
  <p:transition>
    <p:wipe/>
    <p:sndAc>
      <p:end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idx="4294967295"/>
          </p:nvPr>
        </p:nvSpPr>
        <p:spPr>
          <a:xfrm>
            <a:off x="609600" y="31955"/>
            <a:ext cx="8229600" cy="1143000"/>
          </a:xfrm>
          <a:prstGeom prst="rect">
            <a:avLst/>
          </a:prstGeom>
        </p:spPr>
        <p:txBody>
          <a:bodyPr/>
          <a:lstStyle/>
          <a:p>
            <a:pPr eaLnBrk="1" hangingPunct="1"/>
            <a:r>
              <a:rPr lang="en-US" sz="3200" dirty="0">
                <a:latin typeface="Times New Roman" pitchFamily="18" charset="0"/>
                <a:cs typeface="Times New Roman" pitchFamily="18" charset="0"/>
              </a:rPr>
              <a:t>Intellectual property</a:t>
            </a:r>
            <a:endParaRPr lang="en-IN" sz="3200" dirty="0">
              <a:latin typeface="Times New Roman" pitchFamily="18" charset="0"/>
              <a:cs typeface="Times New Roman" pitchFamily="18" charset="0"/>
            </a:endParaRPr>
          </a:p>
        </p:txBody>
      </p:sp>
      <p:sp>
        <p:nvSpPr>
          <p:cNvPr id="5123" name="Content Placeholder 2"/>
          <p:cNvSpPr>
            <a:spLocks noGrp="1"/>
          </p:cNvSpPr>
          <p:nvPr>
            <p:ph idx="4294967295"/>
          </p:nvPr>
        </p:nvSpPr>
        <p:spPr>
          <a:xfrm>
            <a:off x="381000" y="1295400"/>
            <a:ext cx="8229600" cy="4525963"/>
          </a:xfrm>
          <a:prstGeom prst="rect">
            <a:avLst/>
          </a:prstGeom>
        </p:spPr>
        <p:txBody>
          <a:bodyPr/>
          <a:lstStyle/>
          <a:p>
            <a:pPr algn="just" eaLnBrk="1" hangingPunct="1">
              <a:lnSpc>
                <a:spcPts val="4000"/>
              </a:lnSpc>
            </a:pPr>
            <a:r>
              <a:rPr lang="en-US" altLang="zh-CN" sz="2800" dirty="0">
                <a:latin typeface="Times New Roman" pitchFamily="18" charset="0"/>
                <a:ea typeface="SimSun" pitchFamily="2" charset="-122"/>
                <a:cs typeface="Times New Roman" pitchFamily="18" charset="0"/>
              </a:rPr>
              <a:t>There will be no self-relied innovation without protection of IPRs. </a:t>
            </a:r>
          </a:p>
          <a:p>
            <a:pPr algn="just" eaLnBrk="1" hangingPunct="1">
              <a:lnSpc>
                <a:spcPts val="4000"/>
              </a:lnSpc>
            </a:pPr>
            <a:r>
              <a:rPr lang="en-US" altLang="zh-CN" sz="2800" dirty="0">
                <a:latin typeface="Times New Roman" pitchFamily="18" charset="0"/>
                <a:ea typeface="SimSun" pitchFamily="2" charset="-122"/>
                <a:cs typeface="Times New Roman" pitchFamily="18" charset="0"/>
              </a:rPr>
              <a:t>To protect, IPRs is necessary for inspiriting domestic self-relied innovation</a:t>
            </a:r>
          </a:p>
          <a:p>
            <a:pPr algn="just" eaLnBrk="1" hangingPunct="1">
              <a:lnSpc>
                <a:spcPts val="4000"/>
              </a:lnSpc>
            </a:pPr>
            <a:r>
              <a:rPr lang="en-US" altLang="zh-CN" sz="2800" dirty="0">
                <a:latin typeface="Times New Roman" pitchFamily="18" charset="0"/>
                <a:ea typeface="SimSun" pitchFamily="2" charset="-122"/>
                <a:cs typeface="Times New Roman" pitchFamily="18" charset="0"/>
              </a:rPr>
              <a:t>To protect IPRs is to respect work, respect knowledge, respect talents and  respect creation </a:t>
            </a:r>
          </a:p>
          <a:p>
            <a:pPr algn="just" eaLnBrk="1" hangingPunct="1">
              <a:lnSpc>
                <a:spcPts val="4000"/>
              </a:lnSpc>
            </a:pPr>
            <a:r>
              <a:rPr lang="en-US" altLang="zh-CN" sz="2800" dirty="0">
                <a:latin typeface="Times New Roman" pitchFamily="18" charset="0"/>
                <a:ea typeface="SimSun" pitchFamily="2" charset="-122"/>
                <a:cs typeface="Times New Roman" pitchFamily="18" charset="0"/>
              </a:rPr>
              <a:t>IPR is to encourage technological innovation and improve IP awareness of the whole society</a:t>
            </a:r>
          </a:p>
          <a:p>
            <a:pPr eaLnBrk="1" hangingPunct="1">
              <a:lnSpc>
                <a:spcPts val="4000"/>
              </a:lnSpc>
              <a:buFontTx/>
              <a:buNone/>
            </a:pPr>
            <a:endParaRPr lang="en-IN" dirty="0">
              <a:latin typeface="Times New Roman" pitchFamily="18" charset="0"/>
              <a:cs typeface="Times New Roman" pitchFamily="18" charset="0"/>
            </a:endParaRPr>
          </a:p>
        </p:txBody>
      </p:sp>
    </p:spTree>
  </p:cSld>
  <p:clrMapOvr>
    <a:masterClrMapping/>
  </p:clrMapOvr>
  <p:transition>
    <p:wipe/>
    <p:sndAc>
      <p:end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990600" y="-76200"/>
            <a:ext cx="7543800" cy="762000"/>
          </a:xfrm>
        </p:spPr>
        <p:txBody>
          <a:bodyPr/>
          <a:lstStyle/>
          <a:p>
            <a:pPr eaLnBrk="1" hangingPunct="1"/>
            <a:r>
              <a:rPr lang="en-US" sz="4000" dirty="0">
                <a:solidFill>
                  <a:srgbClr val="0000FF"/>
                </a:solidFill>
                <a:latin typeface="Times New Roman" pitchFamily="18" charset="0"/>
                <a:cs typeface="Times New Roman" pitchFamily="18" charset="0"/>
              </a:rPr>
              <a:t>What is a </a:t>
            </a:r>
            <a:r>
              <a:rPr lang="en-US" sz="3200" dirty="0">
                <a:solidFill>
                  <a:srgbClr val="0000FF"/>
                </a:solidFill>
                <a:latin typeface="Times New Roman" pitchFamily="18" charset="0"/>
                <a:cs typeface="Times New Roman" pitchFamily="18" charset="0"/>
              </a:rPr>
              <a:t>Patent ?</a:t>
            </a:r>
            <a:endParaRPr lang="en-AU" sz="3200" dirty="0">
              <a:solidFill>
                <a:srgbClr val="0000FF"/>
              </a:solidFill>
              <a:latin typeface="Times New Roman" pitchFamily="18" charset="0"/>
              <a:cs typeface="Times New Roman" pitchFamily="18" charset="0"/>
            </a:endParaRPr>
          </a:p>
        </p:txBody>
      </p:sp>
      <p:sp>
        <p:nvSpPr>
          <p:cNvPr id="10243" name="Rectangle 3"/>
          <p:cNvSpPr>
            <a:spLocks noGrp="1" noChangeArrowheads="1"/>
          </p:cNvSpPr>
          <p:nvPr>
            <p:ph type="body" sz="half" idx="2"/>
          </p:nvPr>
        </p:nvSpPr>
        <p:spPr>
          <a:xfrm>
            <a:off x="285720" y="1785926"/>
            <a:ext cx="8523983" cy="4572032"/>
          </a:xfrm>
        </p:spPr>
        <p:txBody>
          <a:bodyPr/>
          <a:lstStyle/>
          <a:p>
            <a:pPr eaLnBrk="1" hangingPunct="1">
              <a:lnSpc>
                <a:spcPts val="3200"/>
              </a:lnSpc>
              <a:buFontTx/>
              <a:buNone/>
            </a:pPr>
            <a:r>
              <a:rPr lang="en-US" sz="2400" b="1" dirty="0">
                <a:solidFill>
                  <a:srgbClr val="C00000"/>
                </a:solidFill>
                <a:latin typeface="Book Antiqua" pitchFamily="18" charset="0"/>
                <a:cs typeface="Times New Roman" pitchFamily="18" charset="0"/>
              </a:rPr>
              <a:t>New (novel),</a:t>
            </a:r>
            <a:r>
              <a:rPr lang="en-US" sz="2400" dirty="0">
                <a:solidFill>
                  <a:srgbClr val="C00000"/>
                </a:solidFill>
                <a:latin typeface="Book Antiqua" pitchFamily="18" charset="0"/>
                <a:cs typeface="Times New Roman" pitchFamily="18" charset="0"/>
              </a:rPr>
              <a:t>  </a:t>
            </a:r>
            <a:r>
              <a:rPr lang="en-US" sz="2400" b="1" dirty="0">
                <a:solidFill>
                  <a:srgbClr val="C00000"/>
                </a:solidFill>
                <a:latin typeface="Book Antiqua" pitchFamily="18" charset="0"/>
                <a:cs typeface="Times New Roman" pitchFamily="18" charset="0"/>
              </a:rPr>
              <a:t>if it does not form a part of state of the art</a:t>
            </a:r>
            <a:r>
              <a:rPr lang="en-US" sz="2400" dirty="0">
                <a:solidFill>
                  <a:srgbClr val="C00000"/>
                </a:solidFill>
                <a:latin typeface="Book Antiqua" pitchFamily="18" charset="0"/>
                <a:cs typeface="Times New Roman" pitchFamily="18" charset="0"/>
              </a:rPr>
              <a:t> </a:t>
            </a:r>
          </a:p>
          <a:p>
            <a:pPr eaLnBrk="1" hangingPunct="1">
              <a:lnSpc>
                <a:spcPts val="3200"/>
              </a:lnSpc>
              <a:buFontTx/>
              <a:buNone/>
            </a:pPr>
            <a:endParaRPr lang="en-US" sz="2400" dirty="0">
              <a:latin typeface="Book Antiqua" pitchFamily="18" charset="0"/>
              <a:cs typeface="Times New Roman" pitchFamily="18" charset="0"/>
            </a:endParaRPr>
          </a:p>
          <a:p>
            <a:pPr eaLnBrk="1" hangingPunct="1">
              <a:lnSpc>
                <a:spcPts val="3200"/>
              </a:lnSpc>
            </a:pPr>
            <a:r>
              <a:rPr lang="en-US" sz="2400" b="1" dirty="0">
                <a:latin typeface="Book Antiqua" pitchFamily="18" charset="0"/>
                <a:cs typeface="Times New Roman" pitchFamily="18" charset="0"/>
              </a:rPr>
              <a:t>Inventive Step</a:t>
            </a:r>
            <a:r>
              <a:rPr lang="en-US" sz="2400" b="1" u="sng" dirty="0">
                <a:latin typeface="Book Antiqua" pitchFamily="18" charset="0"/>
                <a:cs typeface="Times New Roman" pitchFamily="18" charset="0"/>
              </a:rPr>
              <a:t> -</a:t>
            </a:r>
            <a:endParaRPr lang="en-US" sz="2400" b="1" dirty="0">
              <a:latin typeface="Book Antiqua" pitchFamily="18" charset="0"/>
              <a:cs typeface="Times New Roman" pitchFamily="18" charset="0"/>
            </a:endParaRPr>
          </a:p>
          <a:p>
            <a:pPr eaLnBrk="1" hangingPunct="1">
              <a:lnSpc>
                <a:spcPts val="3200"/>
              </a:lnSpc>
              <a:buFontTx/>
              <a:buNone/>
            </a:pPr>
            <a:r>
              <a:rPr lang="en-US" sz="2400" dirty="0">
                <a:latin typeface="Book Antiqua" pitchFamily="18" charset="0"/>
                <a:cs typeface="Times New Roman" pitchFamily="18" charset="0"/>
              </a:rPr>
              <a:t>   A</a:t>
            </a:r>
            <a:r>
              <a:rPr lang="en-US" sz="2400" b="1" dirty="0">
                <a:latin typeface="Book Antiqua" pitchFamily="18" charset="0"/>
                <a:cs typeface="Times New Roman" pitchFamily="18" charset="0"/>
              </a:rPr>
              <a:t> feature of an invention</a:t>
            </a:r>
            <a:r>
              <a:rPr lang="en-US" sz="2400" dirty="0">
                <a:latin typeface="Book Antiqua" pitchFamily="18" charset="0"/>
                <a:cs typeface="Times New Roman" pitchFamily="18" charset="0"/>
              </a:rPr>
              <a:t> that involves technical advance as compared to the existing knowledge or having economic significance or both and that makes the invention not obvious to a person skilled in the art </a:t>
            </a:r>
          </a:p>
          <a:p>
            <a:pPr eaLnBrk="1" hangingPunct="1">
              <a:lnSpc>
                <a:spcPts val="3200"/>
              </a:lnSpc>
              <a:buFontTx/>
              <a:buNone/>
            </a:pPr>
            <a:endParaRPr lang="en-US" sz="2400" dirty="0">
              <a:latin typeface="Book Antiqua" pitchFamily="18" charset="0"/>
              <a:cs typeface="Times New Roman" pitchFamily="18" charset="0"/>
            </a:endParaRPr>
          </a:p>
          <a:p>
            <a:pPr eaLnBrk="1" hangingPunct="1">
              <a:lnSpc>
                <a:spcPts val="3200"/>
              </a:lnSpc>
            </a:pPr>
            <a:r>
              <a:rPr lang="en-US" sz="2400" b="1" dirty="0">
                <a:latin typeface="Book Antiqua" pitchFamily="18" charset="0"/>
                <a:cs typeface="Times New Roman" pitchFamily="18" charset="0"/>
              </a:rPr>
              <a:t>Capable of industrial application</a:t>
            </a:r>
            <a:r>
              <a:rPr lang="en-US" sz="2400" dirty="0">
                <a:latin typeface="Book Antiqua" pitchFamily="18" charset="0"/>
                <a:cs typeface="Times New Roman" pitchFamily="18" charset="0"/>
              </a:rPr>
              <a:t> </a:t>
            </a:r>
            <a:r>
              <a:rPr lang="en-US" sz="2400" u="sng" dirty="0">
                <a:latin typeface="Book Antiqua" pitchFamily="18" charset="0"/>
                <a:cs typeface="Times New Roman" pitchFamily="18" charset="0"/>
              </a:rPr>
              <a:t>means</a:t>
            </a:r>
            <a:r>
              <a:rPr lang="en-US" sz="2400" dirty="0">
                <a:latin typeface="Book Antiqua" pitchFamily="18" charset="0"/>
                <a:cs typeface="Times New Roman" pitchFamily="18" charset="0"/>
              </a:rPr>
              <a:t>- invention is capable of being made or used in any kind of industry</a:t>
            </a:r>
          </a:p>
        </p:txBody>
      </p:sp>
      <p:sp>
        <p:nvSpPr>
          <p:cNvPr id="10244" name="Rectangle 4"/>
          <p:cNvSpPr>
            <a:spLocks noChangeArrowheads="1"/>
          </p:cNvSpPr>
          <p:nvPr/>
        </p:nvSpPr>
        <p:spPr bwMode="auto">
          <a:xfrm>
            <a:off x="486697" y="646093"/>
            <a:ext cx="86106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40000"/>
              </a:spcBef>
            </a:pPr>
            <a:r>
              <a:rPr lang="en-US" sz="2800" dirty="0">
                <a:latin typeface="Times New Roman" pitchFamily="18" charset="0"/>
                <a:cs typeface="Times New Roman" pitchFamily="18" charset="0"/>
              </a:rPr>
              <a:t>A new product or process  involving an Inventive Step and  capable of Industrial application</a:t>
            </a:r>
          </a:p>
        </p:txBody>
      </p:sp>
      <p:sp>
        <p:nvSpPr>
          <p:cNvPr id="10245" name="Rectangle 5"/>
          <p:cNvSpPr>
            <a:spLocks noChangeArrowheads="1"/>
          </p:cNvSpPr>
          <p:nvPr/>
        </p:nvSpPr>
        <p:spPr bwMode="auto">
          <a:xfrm>
            <a:off x="228600" y="1981200"/>
            <a:ext cx="89154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IN"/>
          </a:p>
        </p:txBody>
      </p:sp>
      <p:sp>
        <p:nvSpPr>
          <p:cNvPr id="10246" name="Rectangle 6"/>
          <p:cNvSpPr>
            <a:spLocks noChangeArrowheads="1"/>
          </p:cNvSpPr>
          <p:nvPr/>
        </p:nvSpPr>
        <p:spPr bwMode="auto">
          <a:xfrm>
            <a:off x="228600" y="990600"/>
            <a:ext cx="85344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IN"/>
          </a:p>
        </p:txBody>
      </p:sp>
    </p:spTree>
  </p:cSld>
  <p:clrMapOvr>
    <a:masterClrMapping/>
  </p:clrMapOvr>
  <p:transition>
    <p:wipe/>
    <p:sndAc>
      <p:end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2CCF96A6-5E74-4429-9987-25F77D99CA79}" type="slidenum">
              <a:rPr lang="en-AU" smtClean="0"/>
              <a:pPr eaLnBrk="1" hangingPunct="1"/>
              <a:t>8</a:t>
            </a:fld>
            <a:endParaRPr lang="en-AU"/>
          </a:p>
        </p:txBody>
      </p:sp>
      <p:sp>
        <p:nvSpPr>
          <p:cNvPr id="12291" name="Rectangle 2"/>
          <p:cNvSpPr>
            <a:spLocks noGrp="1" noChangeArrowheads="1"/>
          </p:cNvSpPr>
          <p:nvPr>
            <p:ph type="title" idx="4294967295"/>
          </p:nvPr>
        </p:nvSpPr>
        <p:spPr>
          <a:xfrm>
            <a:off x="1143000" y="0"/>
            <a:ext cx="7793037" cy="635000"/>
          </a:xfrm>
          <a:prstGeom prst="rect">
            <a:avLst/>
          </a:prstGeom>
          <a:noFill/>
        </p:spPr>
        <p:txBody>
          <a:bodyPr/>
          <a:lstStyle/>
          <a:p>
            <a:r>
              <a:rPr lang="en-US" sz="3600" dirty="0">
                <a:solidFill>
                  <a:srgbClr val="993300"/>
                </a:solidFill>
                <a:latin typeface="Times New Roman" pitchFamily="18" charset="0"/>
                <a:cs typeface="Times New Roman" pitchFamily="18" charset="0"/>
              </a:rPr>
              <a:t>Patent Law - Salient Features</a:t>
            </a:r>
            <a:endParaRPr lang="en-AU" sz="3600" dirty="0">
              <a:solidFill>
                <a:srgbClr val="993300"/>
              </a:solidFill>
              <a:latin typeface="Times New Roman" pitchFamily="18" charset="0"/>
              <a:cs typeface="Times New Roman" pitchFamily="18" charset="0"/>
            </a:endParaRPr>
          </a:p>
        </p:txBody>
      </p:sp>
      <p:sp>
        <p:nvSpPr>
          <p:cNvPr id="12292" name="Rectangle 3"/>
          <p:cNvSpPr>
            <a:spLocks noGrp="1" noChangeArrowheads="1"/>
          </p:cNvSpPr>
          <p:nvPr>
            <p:ph type="body" idx="4294967295"/>
          </p:nvPr>
        </p:nvSpPr>
        <p:spPr>
          <a:xfrm>
            <a:off x="304800" y="1219200"/>
            <a:ext cx="8686800" cy="4876800"/>
          </a:xfrm>
          <a:prstGeom prst="rect">
            <a:avLst/>
          </a:prstGeom>
          <a:noFill/>
        </p:spPr>
        <p:txBody>
          <a:bodyPr/>
          <a:lstStyle/>
          <a:p>
            <a:pPr marL="258763" indent="-258763" defTabSz="915988">
              <a:lnSpc>
                <a:spcPct val="90000"/>
              </a:lnSpc>
            </a:pPr>
            <a:r>
              <a:rPr lang="en-US" sz="2800" dirty="0">
                <a:latin typeface="Times New Roman" pitchFamily="18" charset="0"/>
                <a:cs typeface="Times New Roman" pitchFamily="18" charset="0"/>
              </a:rPr>
              <a:t>Both product and process patent provided</a:t>
            </a:r>
          </a:p>
          <a:p>
            <a:pPr marL="258763" indent="-258763" defTabSz="915988">
              <a:lnSpc>
                <a:spcPct val="90000"/>
              </a:lnSpc>
            </a:pPr>
            <a:r>
              <a:rPr lang="en-US" sz="2800" dirty="0">
                <a:latin typeface="Times New Roman" pitchFamily="18" charset="0"/>
                <a:cs typeface="Times New Roman" pitchFamily="18" charset="0"/>
              </a:rPr>
              <a:t>Term of patent – 20 years</a:t>
            </a:r>
          </a:p>
          <a:p>
            <a:pPr marL="258763" indent="-258763" defTabSz="915988">
              <a:lnSpc>
                <a:spcPct val="90000"/>
              </a:lnSpc>
            </a:pPr>
            <a:r>
              <a:rPr lang="en-US" sz="2800" dirty="0">
                <a:latin typeface="Times New Roman" pitchFamily="18" charset="0"/>
                <a:cs typeface="Times New Roman" pitchFamily="18" charset="0"/>
              </a:rPr>
              <a:t>Examination on request</a:t>
            </a:r>
          </a:p>
          <a:p>
            <a:pPr marL="258763" indent="-258763" defTabSz="915988">
              <a:lnSpc>
                <a:spcPct val="90000"/>
              </a:lnSpc>
            </a:pPr>
            <a:r>
              <a:rPr lang="en-US" sz="2800" dirty="0">
                <a:latin typeface="Times New Roman" pitchFamily="18" charset="0"/>
                <a:cs typeface="Times New Roman" pitchFamily="18" charset="0"/>
              </a:rPr>
              <a:t>Both pre-grant and post-grant opposition </a:t>
            </a:r>
          </a:p>
          <a:p>
            <a:pPr marL="258763" indent="-258763" defTabSz="915988">
              <a:lnSpc>
                <a:spcPct val="90000"/>
              </a:lnSpc>
            </a:pPr>
            <a:r>
              <a:rPr lang="en-US" sz="2800" dirty="0">
                <a:latin typeface="Times New Roman" pitchFamily="18" charset="0"/>
                <a:cs typeface="Times New Roman" pitchFamily="18" charset="0"/>
              </a:rPr>
              <a:t>Fast track mechanism for disposal of appeals</a:t>
            </a:r>
          </a:p>
          <a:p>
            <a:pPr marL="258763" indent="-258763" defTabSz="915988">
              <a:lnSpc>
                <a:spcPct val="90000"/>
              </a:lnSpc>
            </a:pPr>
            <a:r>
              <a:rPr lang="en-US" sz="2800" dirty="0">
                <a:latin typeface="Times New Roman" pitchFamily="18" charset="0"/>
                <a:cs typeface="Times New Roman" pitchFamily="18" charset="0"/>
              </a:rPr>
              <a:t>Provision for protection of bio-diversity and traditional knowledge</a:t>
            </a:r>
          </a:p>
          <a:p>
            <a:pPr marL="258763" indent="-258763" defTabSz="915988">
              <a:lnSpc>
                <a:spcPct val="90000"/>
              </a:lnSpc>
            </a:pPr>
            <a:r>
              <a:rPr lang="en-US" sz="2800" dirty="0">
                <a:latin typeface="Times New Roman" pitchFamily="18" charset="0"/>
                <a:cs typeface="Times New Roman" pitchFamily="18" charset="0"/>
              </a:rPr>
              <a:t>Publication of applications after 18 months with facility for early publication</a:t>
            </a:r>
          </a:p>
          <a:p>
            <a:pPr marL="258763" indent="-258763" defTabSz="915988">
              <a:lnSpc>
                <a:spcPct val="90000"/>
              </a:lnSpc>
            </a:pPr>
            <a:r>
              <a:rPr lang="en-US" sz="2800" dirty="0">
                <a:latin typeface="Times New Roman" pitchFamily="18" charset="0"/>
                <a:cs typeface="Times New Roman" pitchFamily="18" charset="0"/>
              </a:rPr>
              <a:t>Substantially reduced time-lines</a:t>
            </a:r>
            <a:endParaRPr lang="en-AU" sz="2800" dirty="0">
              <a:latin typeface="Times New Roman" pitchFamily="18" charset="0"/>
              <a:cs typeface="Times New Roman" pitchFamily="18" charset="0"/>
            </a:endParaRPr>
          </a:p>
        </p:txBody>
      </p:sp>
    </p:spTree>
  </p:cSld>
  <p:clrMapOvr>
    <a:masterClrMapping/>
  </p:clrMapOvr>
  <p:transition>
    <p:wipe/>
    <p:sndAc>
      <p:endSnd/>
    </p:sndAc>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0402" name="Rectangle 2"/>
          <p:cNvSpPr>
            <a:spLocks noGrp="1" noChangeArrowheads="1"/>
          </p:cNvSpPr>
          <p:nvPr>
            <p:ph type="title" idx="4294967295"/>
          </p:nvPr>
        </p:nvSpPr>
        <p:spPr>
          <a:xfrm>
            <a:off x="762000" y="-304800"/>
            <a:ext cx="8382000" cy="609600"/>
          </a:xfrm>
          <a:prstGeom prst="rect">
            <a:avLst/>
          </a:prstGeom>
        </p:spPr>
        <p:txBody>
          <a:bodyPr/>
          <a:lstStyle/>
          <a:p>
            <a:pPr>
              <a:lnSpc>
                <a:spcPct val="90000"/>
              </a:lnSpc>
              <a:defRPr/>
            </a:pPr>
            <a:br>
              <a:rPr lang="en-US" sz="3200" dirty="0">
                <a:solidFill>
                  <a:srgbClr val="3333CC"/>
                </a:solidFill>
                <a:latin typeface="Times New Roman" pitchFamily="18" charset="0"/>
                <a:cs typeface="Times New Roman" pitchFamily="18" charset="0"/>
              </a:rPr>
            </a:br>
            <a:r>
              <a:rPr lang="en-US" sz="2800" dirty="0">
                <a:effectLst>
                  <a:outerShdw blurRad="38100" dist="38100" dir="2700000" algn="tl">
                    <a:srgbClr val="FFFFFF"/>
                  </a:outerShdw>
                </a:effectLst>
                <a:latin typeface="Times New Roman" pitchFamily="18" charset="0"/>
                <a:cs typeface="Times New Roman" pitchFamily="18" charset="0"/>
              </a:rPr>
              <a:t>Legislative Framework of IP Administration</a:t>
            </a:r>
          </a:p>
        </p:txBody>
      </p:sp>
      <p:sp>
        <p:nvSpPr>
          <p:cNvPr id="230403" name="Rectangle 3"/>
          <p:cNvSpPr>
            <a:spLocks noGrp="1" noChangeArrowheads="1"/>
          </p:cNvSpPr>
          <p:nvPr>
            <p:ph type="body" idx="4294967295"/>
          </p:nvPr>
        </p:nvSpPr>
        <p:spPr>
          <a:xfrm>
            <a:off x="500034" y="642918"/>
            <a:ext cx="8215402" cy="5943600"/>
          </a:xfrm>
          <a:prstGeom prst="rect">
            <a:avLst/>
          </a:prstGeom>
        </p:spPr>
        <p:txBody>
          <a:bodyPr/>
          <a:lstStyle/>
          <a:p>
            <a:pPr>
              <a:lnSpc>
                <a:spcPts val="3200"/>
              </a:lnSpc>
              <a:buFontTx/>
              <a:buNone/>
              <a:defRPr/>
            </a:pPr>
            <a:r>
              <a:rPr lang="en-US" sz="2800" b="1" dirty="0">
                <a:latin typeface="Times New Roman" pitchFamily="18" charset="0"/>
                <a:cs typeface="Times New Roman" pitchFamily="18" charset="0"/>
              </a:rPr>
              <a:t>Department of IP &amp;P covers</a:t>
            </a:r>
          </a:p>
          <a:p>
            <a:pPr lvl="1">
              <a:lnSpc>
                <a:spcPts val="3200"/>
              </a:lnSpc>
              <a:buFont typeface="Wingdings" pitchFamily="2" charset="2"/>
              <a:buBlip>
                <a:blip r:embed="rId2"/>
              </a:buBlip>
              <a:defRPr/>
            </a:pPr>
            <a:r>
              <a:rPr lang="en-US" sz="2400" b="1" dirty="0">
                <a:effectLst>
                  <a:outerShdw blurRad="38100" dist="38100" dir="2700000" algn="tl">
                    <a:srgbClr val="C0C0C0"/>
                  </a:outerShdw>
                </a:effectLst>
                <a:latin typeface="Times New Roman" pitchFamily="18" charset="0"/>
                <a:cs typeface="Times New Roman" pitchFamily="18" charset="0"/>
              </a:rPr>
              <a:t>The Patents Act, 1970 (as amended in 2005)</a:t>
            </a:r>
          </a:p>
          <a:p>
            <a:pPr lvl="2">
              <a:lnSpc>
                <a:spcPts val="3200"/>
              </a:lnSpc>
              <a:buFont typeface="Wingdings" pitchFamily="2" charset="2"/>
              <a:buBlip>
                <a:blip r:embed="rId2"/>
              </a:buBlip>
              <a:defRPr/>
            </a:pPr>
            <a:r>
              <a:rPr lang="en-US" sz="2000" b="1" dirty="0">
                <a:effectLst>
                  <a:outerShdw blurRad="38100" dist="38100" dir="2700000" algn="tl">
                    <a:srgbClr val="C0C0C0"/>
                  </a:outerShdw>
                </a:effectLst>
                <a:latin typeface="Times New Roman" pitchFamily="18" charset="0"/>
                <a:cs typeface="Times New Roman" pitchFamily="18" charset="0"/>
              </a:rPr>
              <a:t>The Patents Rules, 2003 (as amended in 2006)</a:t>
            </a:r>
          </a:p>
          <a:p>
            <a:pPr lvl="1">
              <a:lnSpc>
                <a:spcPts val="3200"/>
              </a:lnSpc>
              <a:buFont typeface="Wingdings" pitchFamily="2" charset="2"/>
              <a:buBlip>
                <a:blip r:embed="rId2"/>
              </a:buBlip>
              <a:defRPr/>
            </a:pPr>
            <a:r>
              <a:rPr lang="en-US" sz="2400" dirty="0">
                <a:latin typeface="Times New Roman" pitchFamily="18" charset="0"/>
                <a:cs typeface="Times New Roman" pitchFamily="18" charset="0"/>
              </a:rPr>
              <a:t>The Designs Act, 2000</a:t>
            </a:r>
          </a:p>
          <a:p>
            <a:pPr lvl="2">
              <a:lnSpc>
                <a:spcPts val="3200"/>
              </a:lnSpc>
              <a:buFont typeface="Wingdings" pitchFamily="2" charset="2"/>
              <a:buBlip>
                <a:blip r:embed="rId2"/>
              </a:buBlip>
              <a:defRPr/>
            </a:pPr>
            <a:r>
              <a:rPr lang="en-US" sz="2000" dirty="0">
                <a:latin typeface="Times New Roman" pitchFamily="18" charset="0"/>
                <a:cs typeface="Times New Roman" pitchFamily="18" charset="0"/>
              </a:rPr>
              <a:t>The Designs Rules, 2001 (as amended in 2008)</a:t>
            </a:r>
          </a:p>
          <a:p>
            <a:pPr lvl="1">
              <a:lnSpc>
                <a:spcPts val="3200"/>
              </a:lnSpc>
              <a:buFont typeface="Wingdings" pitchFamily="2" charset="2"/>
              <a:buBlip>
                <a:blip r:embed="rId2"/>
              </a:buBlip>
              <a:defRPr/>
            </a:pPr>
            <a:r>
              <a:rPr lang="en-US" sz="2400" dirty="0">
                <a:latin typeface="Times New Roman" pitchFamily="18" charset="0"/>
                <a:cs typeface="Times New Roman" pitchFamily="18" charset="0"/>
              </a:rPr>
              <a:t> The Trade Marks Act 1999</a:t>
            </a:r>
          </a:p>
          <a:p>
            <a:pPr lvl="2">
              <a:lnSpc>
                <a:spcPts val="3200"/>
              </a:lnSpc>
              <a:buFont typeface="Wingdings" pitchFamily="2" charset="2"/>
              <a:buBlip>
                <a:blip r:embed="rId2"/>
              </a:buBlip>
              <a:defRPr/>
            </a:pPr>
            <a:r>
              <a:rPr lang="en-US" sz="2000" dirty="0">
                <a:latin typeface="Times New Roman" pitchFamily="18" charset="0"/>
                <a:cs typeface="Times New Roman" pitchFamily="18" charset="0"/>
              </a:rPr>
              <a:t>The Trade Marks Rules 2002</a:t>
            </a:r>
          </a:p>
          <a:p>
            <a:pPr lvl="1">
              <a:lnSpc>
                <a:spcPts val="3200"/>
              </a:lnSpc>
              <a:buFont typeface="Wingdings" pitchFamily="2" charset="2"/>
              <a:buBlip>
                <a:blip r:embed="rId2"/>
              </a:buBlip>
              <a:defRPr/>
            </a:pPr>
            <a:r>
              <a:rPr lang="en-US" sz="2400" dirty="0">
                <a:latin typeface="Times New Roman" pitchFamily="18" charset="0"/>
                <a:cs typeface="Times New Roman" pitchFamily="18" charset="0"/>
              </a:rPr>
              <a:t>The Geographical Indications of Goods (Registration &amp; Protection) Act, 1999</a:t>
            </a:r>
          </a:p>
          <a:p>
            <a:pPr lvl="2">
              <a:lnSpc>
                <a:spcPts val="3200"/>
              </a:lnSpc>
              <a:buFont typeface="Wingdings" pitchFamily="2" charset="2"/>
              <a:buBlip>
                <a:blip r:embed="rId2"/>
              </a:buBlip>
              <a:defRPr/>
            </a:pPr>
            <a:r>
              <a:rPr lang="en-US" sz="2000" dirty="0">
                <a:latin typeface="Times New Roman" pitchFamily="18" charset="0"/>
                <a:cs typeface="Times New Roman" pitchFamily="18" charset="0"/>
              </a:rPr>
              <a:t>The Geographical Indications of Goods (Registration &amp; Protection)  Rules, 2002,</a:t>
            </a:r>
          </a:p>
          <a:p>
            <a:pPr>
              <a:lnSpc>
                <a:spcPts val="3200"/>
              </a:lnSpc>
              <a:buFont typeface="Wingdings" pitchFamily="2" charset="2"/>
              <a:buNone/>
              <a:defRPr/>
            </a:pPr>
            <a:r>
              <a:rPr lang="en-US" sz="2400" b="1" dirty="0">
                <a:latin typeface="Times New Roman" pitchFamily="18" charset="0"/>
                <a:cs typeface="Times New Roman" pitchFamily="18" charset="0"/>
              </a:rPr>
              <a:t>Department of Education covers</a:t>
            </a:r>
          </a:p>
          <a:p>
            <a:pPr lvl="1">
              <a:lnSpc>
                <a:spcPts val="3200"/>
              </a:lnSpc>
              <a:buFont typeface="Wingdings" pitchFamily="2" charset="2"/>
              <a:buBlip>
                <a:blip r:embed="rId2"/>
              </a:buBlip>
              <a:defRPr/>
            </a:pPr>
            <a:r>
              <a:rPr lang="en-US" sz="2400" dirty="0">
                <a:latin typeface="Times New Roman" pitchFamily="18" charset="0"/>
                <a:cs typeface="Times New Roman" pitchFamily="18" charset="0"/>
              </a:rPr>
              <a:t>The Copyrights Act 1957 (amended in 1999)</a:t>
            </a:r>
            <a:endParaRPr lang="en-US" sz="1800" dirty="0">
              <a:latin typeface="Times New Roman" pitchFamily="18" charset="0"/>
              <a:cs typeface="Times New Roman" pitchFamily="18" charset="0"/>
            </a:endParaRPr>
          </a:p>
          <a:p>
            <a:pPr lvl="2">
              <a:lnSpc>
                <a:spcPts val="3200"/>
              </a:lnSpc>
              <a:defRPr/>
            </a:pPr>
            <a:endParaRPr lang="en-US" sz="1800" dirty="0">
              <a:latin typeface="Times New Roman" pitchFamily="18" charset="0"/>
              <a:cs typeface="Times New Roman" pitchFamily="18" charset="0"/>
            </a:endParaRPr>
          </a:p>
        </p:txBody>
      </p:sp>
    </p:spTree>
  </p:cSld>
  <p:clrMapOvr>
    <a:masterClrMapping/>
  </p:clrMapOvr>
  <p:transition>
    <p:wipe/>
    <p:sndAc>
      <p:endSnd/>
    </p:sndAc>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354" name="Rectangle 2"/>
          <p:cNvSpPr>
            <a:spLocks noGrp="1" noChangeArrowheads="1"/>
          </p:cNvSpPr>
          <p:nvPr>
            <p:ph type="title" idx="4294967295"/>
          </p:nvPr>
        </p:nvSpPr>
        <p:spPr>
          <a:xfrm>
            <a:off x="422275" y="0"/>
            <a:ext cx="8721725" cy="533400"/>
          </a:xfrm>
          <a:prstGeom prst="rect">
            <a:avLst/>
          </a:prstGeom>
        </p:spPr>
        <p:txBody>
          <a:bodyPr/>
          <a:lstStyle/>
          <a:p>
            <a:pPr eaLnBrk="1" hangingPunct="1">
              <a:defRPr/>
            </a:pPr>
            <a:r>
              <a:rPr lang="en-US" sz="3600" dirty="0">
                <a:solidFill>
                  <a:schemeClr val="tx1"/>
                </a:solidFill>
                <a:latin typeface="Times New Roman" pitchFamily="18" charset="0"/>
                <a:cs typeface="Times New Roman" pitchFamily="18" charset="0"/>
              </a:rPr>
              <a:t>Areas</a:t>
            </a:r>
          </a:p>
        </p:txBody>
      </p:sp>
      <p:sp>
        <p:nvSpPr>
          <p:cNvPr id="100355" name="Rectangle 3"/>
          <p:cNvSpPr>
            <a:spLocks noGrp="1" noChangeArrowheads="1"/>
          </p:cNvSpPr>
          <p:nvPr>
            <p:ph type="body" idx="4294967295"/>
          </p:nvPr>
        </p:nvSpPr>
        <p:spPr>
          <a:xfrm>
            <a:off x="304800" y="762000"/>
            <a:ext cx="8839200" cy="5715000"/>
          </a:xfrm>
          <a:prstGeom prst="rect">
            <a:avLst/>
          </a:prstGeom>
        </p:spPr>
        <p:txBody>
          <a:bodyPr/>
          <a:lstStyle/>
          <a:p>
            <a:pPr eaLnBrk="1" hangingPunct="1">
              <a:lnSpc>
                <a:spcPct val="75000"/>
              </a:lnSpc>
            </a:pPr>
            <a:r>
              <a:rPr lang="en-US" sz="2800" dirty="0">
                <a:solidFill>
                  <a:srgbClr val="CC0000"/>
                </a:solidFill>
                <a:latin typeface="Book Antiqua" pitchFamily="18" charset="0"/>
                <a:cs typeface="Times New Roman" pitchFamily="18" charset="0"/>
              </a:rPr>
              <a:t>Patents:</a:t>
            </a:r>
            <a:endParaRPr lang="en-US" dirty="0">
              <a:solidFill>
                <a:srgbClr val="CC0000"/>
              </a:solidFill>
              <a:latin typeface="Book Antiqua" pitchFamily="18" charset="0"/>
              <a:cs typeface="Times New Roman" pitchFamily="18" charset="0"/>
            </a:endParaRPr>
          </a:p>
          <a:p>
            <a:pPr eaLnBrk="1" hangingPunct="1">
              <a:lnSpc>
                <a:spcPct val="75000"/>
              </a:lnSpc>
              <a:buFontTx/>
              <a:buNone/>
            </a:pPr>
            <a:r>
              <a:rPr lang="en-US" b="1" dirty="0">
                <a:solidFill>
                  <a:srgbClr val="CC0000"/>
                </a:solidFill>
                <a:latin typeface="Book Antiqua" pitchFamily="18" charset="0"/>
                <a:cs typeface="Times New Roman" pitchFamily="18" charset="0"/>
              </a:rPr>
              <a:t>		</a:t>
            </a:r>
            <a:r>
              <a:rPr lang="en-US" b="1" dirty="0">
                <a:latin typeface="Book Antiqua" pitchFamily="18" charset="0"/>
                <a:cs typeface="Times New Roman" pitchFamily="18" charset="0"/>
              </a:rPr>
              <a:t>- </a:t>
            </a:r>
            <a:r>
              <a:rPr lang="en-US" sz="2800" b="1" dirty="0">
                <a:latin typeface="Book Antiqua" pitchFamily="18" charset="0"/>
                <a:cs typeface="Times New Roman" pitchFamily="18" charset="0"/>
              </a:rPr>
              <a:t>Inventions</a:t>
            </a:r>
          </a:p>
          <a:p>
            <a:pPr eaLnBrk="1" hangingPunct="1">
              <a:lnSpc>
                <a:spcPct val="75000"/>
              </a:lnSpc>
              <a:buFontTx/>
              <a:buNone/>
            </a:pPr>
            <a:r>
              <a:rPr lang="en-US" sz="2800" b="1" dirty="0">
                <a:latin typeface="Book Antiqua" pitchFamily="18" charset="0"/>
                <a:cs typeface="Times New Roman" pitchFamily="18" charset="0"/>
              </a:rPr>
              <a:t>		-</a:t>
            </a:r>
            <a:r>
              <a:rPr lang="en-US" sz="2800" dirty="0">
                <a:latin typeface="Book Antiqua" pitchFamily="18" charset="0"/>
                <a:cs typeface="Times New Roman" pitchFamily="18" charset="0"/>
              </a:rPr>
              <a:t>Technical Solution to a Technical problem    </a:t>
            </a:r>
          </a:p>
          <a:p>
            <a:pPr eaLnBrk="1" hangingPunct="1">
              <a:lnSpc>
                <a:spcPct val="85000"/>
              </a:lnSpc>
              <a:buFontTx/>
              <a:buNone/>
            </a:pPr>
            <a:r>
              <a:rPr lang="en-US" sz="2800" dirty="0">
                <a:solidFill>
                  <a:srgbClr val="000066"/>
                </a:solidFill>
                <a:latin typeface="Book Antiqua" pitchFamily="18" charset="0"/>
                <a:cs typeface="Times New Roman" pitchFamily="18" charset="0"/>
              </a:rPr>
              <a:t> 	</a:t>
            </a:r>
          </a:p>
          <a:p>
            <a:pPr eaLnBrk="1" hangingPunct="1">
              <a:lnSpc>
                <a:spcPct val="90000"/>
              </a:lnSpc>
            </a:pPr>
            <a:r>
              <a:rPr lang="en-US" sz="2800" dirty="0">
                <a:latin typeface="Book Antiqua" pitchFamily="18" charset="0"/>
                <a:cs typeface="Times New Roman" pitchFamily="18" charset="0"/>
              </a:rPr>
              <a:t> </a:t>
            </a:r>
            <a:r>
              <a:rPr lang="en-US" sz="2800" dirty="0">
                <a:solidFill>
                  <a:srgbClr val="FF0000"/>
                </a:solidFill>
                <a:latin typeface="Book Antiqua" pitchFamily="18" charset="0"/>
                <a:cs typeface="Times New Roman" pitchFamily="18" charset="0"/>
              </a:rPr>
              <a:t>Industrial designs</a:t>
            </a:r>
            <a:r>
              <a:rPr lang="en-US" sz="2800" b="1" dirty="0">
                <a:solidFill>
                  <a:srgbClr val="FF0000"/>
                </a:solidFill>
                <a:latin typeface="Book Antiqua" pitchFamily="18" charset="0"/>
                <a:cs typeface="Times New Roman" pitchFamily="18" charset="0"/>
              </a:rPr>
              <a:t>:</a:t>
            </a:r>
          </a:p>
          <a:p>
            <a:pPr eaLnBrk="1" hangingPunct="1">
              <a:lnSpc>
                <a:spcPct val="70000"/>
              </a:lnSpc>
              <a:buFontTx/>
              <a:buNone/>
            </a:pPr>
            <a:r>
              <a:rPr lang="en-US" sz="2800" b="1" dirty="0">
                <a:solidFill>
                  <a:srgbClr val="D60093"/>
                </a:solidFill>
                <a:latin typeface="Book Antiqua" pitchFamily="18" charset="0"/>
                <a:cs typeface="Times New Roman" pitchFamily="18" charset="0"/>
              </a:rPr>
              <a:t>		- </a:t>
            </a:r>
            <a:r>
              <a:rPr lang="en-US" sz="2800" b="1" dirty="0">
                <a:latin typeface="Book Antiqua" pitchFamily="18" charset="0"/>
                <a:cs typeface="Times New Roman" pitchFamily="18" charset="0"/>
              </a:rPr>
              <a:t>External  features</a:t>
            </a:r>
            <a:r>
              <a:rPr lang="en-US" sz="2800" dirty="0">
                <a:latin typeface="Book Antiqua" pitchFamily="18" charset="0"/>
                <a:cs typeface="Times New Roman" pitchFamily="18" charset="0"/>
              </a:rPr>
              <a:t> appealing to an eye</a:t>
            </a:r>
          </a:p>
          <a:p>
            <a:pPr eaLnBrk="1" hangingPunct="1">
              <a:lnSpc>
                <a:spcPct val="70000"/>
              </a:lnSpc>
              <a:buFontTx/>
              <a:buNone/>
            </a:pPr>
            <a:r>
              <a:rPr lang="en-US" sz="2800" dirty="0">
                <a:latin typeface="Book Antiqua" pitchFamily="18" charset="0"/>
                <a:cs typeface="Times New Roman" pitchFamily="18" charset="0"/>
              </a:rPr>
              <a:t>		-  New Shape, Pattern or Configuration </a:t>
            </a:r>
          </a:p>
          <a:p>
            <a:pPr eaLnBrk="1" hangingPunct="1">
              <a:lnSpc>
                <a:spcPct val="150000"/>
              </a:lnSpc>
              <a:buFontTx/>
              <a:buNone/>
            </a:pPr>
            <a:r>
              <a:rPr lang="en-US" sz="2800" dirty="0">
                <a:solidFill>
                  <a:srgbClr val="008000"/>
                </a:solidFill>
                <a:latin typeface="Book Antiqua" pitchFamily="18" charset="0"/>
                <a:cs typeface="Times New Roman" pitchFamily="18" charset="0"/>
              </a:rPr>
              <a:t>		</a:t>
            </a:r>
            <a:endParaRPr lang="en-US" sz="2800" dirty="0">
              <a:solidFill>
                <a:srgbClr val="000099"/>
              </a:solidFill>
              <a:latin typeface="Book Antiqua" pitchFamily="18" charset="0"/>
              <a:cs typeface="Times New Roman" pitchFamily="18" charset="0"/>
            </a:endParaRPr>
          </a:p>
          <a:p>
            <a:pPr eaLnBrk="1" hangingPunct="1">
              <a:lnSpc>
                <a:spcPct val="50000"/>
              </a:lnSpc>
            </a:pPr>
            <a:r>
              <a:rPr lang="en-US" sz="2800" dirty="0">
                <a:solidFill>
                  <a:srgbClr val="FF0000"/>
                </a:solidFill>
                <a:latin typeface="Book Antiqua" pitchFamily="18" charset="0"/>
                <a:cs typeface="Times New Roman" pitchFamily="18" charset="0"/>
              </a:rPr>
              <a:t>Trade mark</a:t>
            </a:r>
            <a:r>
              <a:rPr lang="en-US" sz="2800" dirty="0">
                <a:solidFill>
                  <a:srgbClr val="CC0099"/>
                </a:solidFill>
                <a:latin typeface="Book Antiqua" pitchFamily="18" charset="0"/>
                <a:cs typeface="Times New Roman" pitchFamily="18" charset="0"/>
              </a:rPr>
              <a:t>:</a:t>
            </a:r>
          </a:p>
          <a:p>
            <a:pPr eaLnBrk="1" hangingPunct="1">
              <a:lnSpc>
                <a:spcPct val="80000"/>
              </a:lnSpc>
              <a:buFontTx/>
              <a:buNone/>
            </a:pPr>
            <a:r>
              <a:rPr lang="en-US" b="1" dirty="0">
                <a:solidFill>
                  <a:srgbClr val="CC0099"/>
                </a:solidFill>
                <a:latin typeface="Book Antiqua" pitchFamily="18" charset="0"/>
                <a:cs typeface="Times New Roman" pitchFamily="18" charset="0"/>
              </a:rPr>
              <a:t>		</a:t>
            </a:r>
            <a:r>
              <a:rPr lang="en-US" b="1" dirty="0">
                <a:solidFill>
                  <a:srgbClr val="0000FF"/>
                </a:solidFill>
                <a:latin typeface="Book Antiqua" pitchFamily="18" charset="0"/>
                <a:cs typeface="Times New Roman" pitchFamily="18" charset="0"/>
              </a:rPr>
              <a:t>-   </a:t>
            </a:r>
            <a:r>
              <a:rPr lang="en-US" sz="2800" b="1" dirty="0">
                <a:latin typeface="Book Antiqua" pitchFamily="18" charset="0"/>
                <a:cs typeface="Times New Roman" pitchFamily="18" charset="0"/>
              </a:rPr>
              <a:t>A Visual Symbol</a:t>
            </a:r>
            <a:r>
              <a:rPr lang="en-US" sz="2800" dirty="0">
                <a:latin typeface="Book Antiqua" pitchFamily="18" charset="0"/>
                <a:cs typeface="Times New Roman" pitchFamily="18" charset="0"/>
              </a:rPr>
              <a:t>  as  Word, Name, Logo, 			Label </a:t>
            </a:r>
            <a:r>
              <a:rPr lang="en-US" sz="2800" dirty="0" err="1">
                <a:latin typeface="Book Antiqua" pitchFamily="18" charset="0"/>
                <a:cs typeface="Times New Roman" pitchFamily="18" charset="0"/>
              </a:rPr>
              <a:t>etc</a:t>
            </a:r>
            <a:endParaRPr lang="en-US" sz="2800" dirty="0">
              <a:latin typeface="Book Antiqua" pitchFamily="18" charset="0"/>
              <a:cs typeface="Times New Roman" pitchFamily="18" charset="0"/>
            </a:endParaRPr>
          </a:p>
          <a:p>
            <a:pPr algn="just" eaLnBrk="1" hangingPunct="1">
              <a:lnSpc>
                <a:spcPct val="80000"/>
              </a:lnSpc>
              <a:buFontTx/>
              <a:buNone/>
            </a:pPr>
            <a:r>
              <a:rPr lang="en-US" sz="2800" dirty="0">
                <a:latin typeface="Book Antiqua" pitchFamily="18" charset="0"/>
                <a:cs typeface="Times New Roman" pitchFamily="18" charset="0"/>
              </a:rPr>
              <a:t>		-   Applied on Article of Manufacture </a:t>
            </a:r>
            <a:r>
              <a:rPr lang="en-US" sz="2800" b="1" u="sng" dirty="0">
                <a:latin typeface="Book Antiqua" pitchFamily="18" charset="0"/>
                <a:cs typeface="Times New Roman" pitchFamily="18" charset="0"/>
              </a:rPr>
              <a:t>or </a:t>
            </a:r>
            <a:r>
              <a:rPr lang="en-US" sz="2800" dirty="0">
                <a:latin typeface="Book Antiqua" pitchFamily="18" charset="0"/>
                <a:cs typeface="Times New Roman" pitchFamily="18" charset="0"/>
              </a:rPr>
              <a:t> Service </a:t>
            </a:r>
          </a:p>
          <a:p>
            <a:pPr algn="just" eaLnBrk="1" hangingPunct="1">
              <a:lnSpc>
                <a:spcPct val="80000"/>
              </a:lnSpc>
              <a:buFontTx/>
              <a:buNone/>
            </a:pPr>
            <a:r>
              <a:rPr lang="en-US" sz="2800" dirty="0">
                <a:latin typeface="Book Antiqua" pitchFamily="18" charset="0"/>
                <a:cs typeface="Times New Roman" pitchFamily="18" charset="0"/>
              </a:rPr>
              <a:t>		-    To indicate the origin of manufacture/service.</a:t>
            </a:r>
          </a:p>
        </p:txBody>
      </p:sp>
    </p:spTree>
  </p:cSld>
  <p:clrMapOvr>
    <a:masterClrMapping/>
  </p:clrMapOvr>
  <p:transition>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body" idx="4294967295"/>
          </p:nvPr>
        </p:nvSpPr>
        <p:spPr>
          <a:xfrm>
            <a:off x="152400" y="533400"/>
            <a:ext cx="9144000" cy="5967434"/>
          </a:xfrm>
          <a:prstGeom prst="rect">
            <a:avLst/>
          </a:prstGeom>
        </p:spPr>
        <p:txBody>
          <a:bodyPr/>
          <a:lstStyle/>
          <a:p>
            <a:pPr algn="just" eaLnBrk="1" hangingPunct="1">
              <a:lnSpc>
                <a:spcPct val="80000"/>
              </a:lnSpc>
            </a:pPr>
            <a:r>
              <a:rPr lang="en-US" sz="2800" dirty="0">
                <a:solidFill>
                  <a:srgbClr val="FF0000"/>
                </a:solidFill>
                <a:latin typeface="Book Antiqua" pitchFamily="18" charset="0"/>
              </a:rPr>
              <a:t>Copyright-</a:t>
            </a:r>
          </a:p>
          <a:p>
            <a:pPr algn="just" eaLnBrk="1" hangingPunct="1">
              <a:lnSpc>
                <a:spcPct val="20000"/>
              </a:lnSpc>
              <a:buFontTx/>
              <a:buNone/>
            </a:pPr>
            <a:endParaRPr lang="en-US" sz="2800" b="1" u="sng" dirty="0">
              <a:solidFill>
                <a:srgbClr val="0000FF"/>
              </a:solidFill>
              <a:latin typeface="Book Antiqua" pitchFamily="18" charset="0"/>
            </a:endParaRPr>
          </a:p>
          <a:p>
            <a:pPr algn="just" eaLnBrk="1" hangingPunct="1">
              <a:lnSpc>
                <a:spcPct val="0"/>
              </a:lnSpc>
              <a:buFontTx/>
              <a:buNone/>
            </a:pPr>
            <a:endParaRPr lang="en-US" sz="1600" b="1" dirty="0">
              <a:solidFill>
                <a:schemeClr val="hlink"/>
              </a:solidFill>
              <a:latin typeface="Book Antiqua" pitchFamily="18" charset="0"/>
            </a:endParaRPr>
          </a:p>
          <a:p>
            <a:pPr lvl="1" algn="just" eaLnBrk="1" hangingPunct="1">
              <a:buFont typeface="Wingdings" pitchFamily="2" charset="2"/>
              <a:buChar char="§"/>
            </a:pPr>
            <a:r>
              <a:rPr lang="en-US" b="1" dirty="0">
                <a:latin typeface="Book Antiqua" pitchFamily="18" charset="0"/>
                <a:cs typeface="Times New Roman" pitchFamily="18" charset="0"/>
              </a:rPr>
              <a:t>Artistic creation</a:t>
            </a:r>
            <a:endParaRPr lang="en-US" dirty="0">
              <a:latin typeface="Book Antiqua" pitchFamily="18" charset="0"/>
              <a:cs typeface="Times New Roman" pitchFamily="18" charset="0"/>
            </a:endParaRPr>
          </a:p>
          <a:p>
            <a:pPr lvl="1" algn="just" eaLnBrk="1" hangingPunct="1">
              <a:buFont typeface="Wingdings" pitchFamily="2" charset="2"/>
              <a:buChar char="§"/>
            </a:pPr>
            <a:r>
              <a:rPr lang="en-US" dirty="0">
                <a:latin typeface="Book Antiqua" pitchFamily="18" charset="0"/>
                <a:cs typeface="Times New Roman" pitchFamily="18" charset="0"/>
              </a:rPr>
              <a:t>Proprietary right</a:t>
            </a:r>
          </a:p>
          <a:p>
            <a:pPr lvl="1" eaLnBrk="1" hangingPunct="1">
              <a:buFont typeface="Wingdings" pitchFamily="2" charset="2"/>
              <a:buChar char="§"/>
            </a:pPr>
            <a:r>
              <a:rPr lang="en-US" dirty="0">
                <a:latin typeface="Book Antiqua" pitchFamily="18" charset="0"/>
                <a:cs typeface="Times New Roman" pitchFamily="18" charset="0"/>
              </a:rPr>
              <a:t>comes into existence as soon as the work is created</a:t>
            </a:r>
          </a:p>
          <a:p>
            <a:pPr eaLnBrk="1" hangingPunct="1"/>
            <a:r>
              <a:rPr lang="en-US" sz="2800" dirty="0">
                <a:solidFill>
                  <a:srgbClr val="FF0000"/>
                </a:solidFill>
                <a:latin typeface="Book Antiqua" pitchFamily="18" charset="0"/>
              </a:rPr>
              <a:t>Geographical indications</a:t>
            </a:r>
          </a:p>
          <a:p>
            <a:pPr lvl="1" eaLnBrk="1" hangingPunct="1">
              <a:lnSpc>
                <a:spcPct val="130000"/>
              </a:lnSpc>
              <a:buFont typeface="Wingdings" pitchFamily="2" charset="2"/>
              <a:buChar char="§"/>
            </a:pPr>
            <a:r>
              <a:rPr lang="en-US" dirty="0">
                <a:latin typeface="Book Antiqua" pitchFamily="18" charset="0"/>
                <a:cs typeface="Times New Roman" pitchFamily="18" charset="0"/>
              </a:rPr>
              <a:t>Identifies agricultural, natural or manufactured goods</a:t>
            </a:r>
          </a:p>
          <a:p>
            <a:pPr lvl="1" eaLnBrk="1" hangingPunct="1">
              <a:buFont typeface="Wingdings" pitchFamily="2" charset="2"/>
              <a:buChar char="§"/>
            </a:pPr>
            <a:r>
              <a:rPr lang="en-US" dirty="0">
                <a:latin typeface="Book Antiqua" pitchFamily="18" charset="0"/>
                <a:cs typeface="Times New Roman" pitchFamily="18" charset="0"/>
              </a:rPr>
              <a:t>originating  from a definite territory in India</a:t>
            </a:r>
          </a:p>
          <a:p>
            <a:pPr lvl="1" eaLnBrk="1" hangingPunct="1">
              <a:buFont typeface="Wingdings" pitchFamily="2" charset="2"/>
              <a:buChar char="§"/>
            </a:pPr>
            <a:r>
              <a:rPr lang="en-US" dirty="0">
                <a:latin typeface="Book Antiqua" pitchFamily="18" charset="0"/>
                <a:cs typeface="Times New Roman" pitchFamily="18" charset="0"/>
              </a:rPr>
              <a:t>possessing special quality or reputation</a:t>
            </a:r>
          </a:p>
          <a:p>
            <a:pPr lvl="1" eaLnBrk="1" hangingPunct="1">
              <a:buFont typeface="Wingdings" pitchFamily="2" charset="2"/>
              <a:buChar char="§"/>
            </a:pPr>
            <a:r>
              <a:rPr lang="en-US" dirty="0">
                <a:latin typeface="Book Antiqua" pitchFamily="18" charset="0"/>
                <a:cs typeface="Times New Roman" pitchFamily="18" charset="0"/>
              </a:rPr>
              <a:t> based upon unique characteristics of the geographical location</a:t>
            </a:r>
            <a:r>
              <a:rPr lang="en-US" i="1" dirty="0">
                <a:latin typeface="Book Antiqua" pitchFamily="18" charset="0"/>
                <a:cs typeface="Times New Roman" pitchFamily="18" charset="0"/>
              </a:rPr>
              <a:t> </a:t>
            </a:r>
          </a:p>
        </p:txBody>
      </p:sp>
    </p:spTree>
  </p:cSld>
  <p:clrMapOvr>
    <a:masterClrMapping/>
  </p:clrMapOvr>
  <p:transition>
    <p:wipe/>
    <p:sndAc>
      <p:end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0E7F665F-4331-418F-9C2C-CE23C7D93631}" type="slidenum">
              <a:rPr lang="en-AU" smtClean="0"/>
              <a:pPr eaLnBrk="1" hangingPunct="1"/>
              <a:t>12</a:t>
            </a:fld>
            <a:endParaRPr lang="en-AU"/>
          </a:p>
        </p:txBody>
      </p:sp>
      <p:sp>
        <p:nvSpPr>
          <p:cNvPr id="13315" name="Rectangle 2"/>
          <p:cNvSpPr>
            <a:spLocks noGrp="1" noChangeArrowheads="1"/>
          </p:cNvSpPr>
          <p:nvPr>
            <p:ph type="title" idx="4294967295"/>
          </p:nvPr>
        </p:nvSpPr>
        <p:spPr>
          <a:xfrm>
            <a:off x="609600" y="-152400"/>
            <a:ext cx="8229600" cy="1143000"/>
          </a:xfrm>
          <a:prstGeom prst="rect">
            <a:avLst/>
          </a:prstGeom>
          <a:noFill/>
        </p:spPr>
        <p:txBody>
          <a:bodyPr/>
          <a:lstStyle/>
          <a:p>
            <a:r>
              <a:rPr lang="en-US" sz="3600" dirty="0">
                <a:solidFill>
                  <a:srgbClr val="993300"/>
                </a:solidFill>
                <a:latin typeface="Times New Roman" pitchFamily="18" charset="0"/>
                <a:cs typeface="Times New Roman" pitchFamily="18" charset="0"/>
              </a:rPr>
              <a:t>Safeguards in the Patent Law</a:t>
            </a:r>
            <a:endParaRPr lang="en-AU" sz="3600" dirty="0">
              <a:solidFill>
                <a:srgbClr val="993300"/>
              </a:solidFill>
              <a:latin typeface="Times New Roman" pitchFamily="18" charset="0"/>
              <a:cs typeface="Times New Roman" pitchFamily="18" charset="0"/>
            </a:endParaRPr>
          </a:p>
        </p:txBody>
      </p:sp>
      <p:sp>
        <p:nvSpPr>
          <p:cNvPr id="13316" name="Rectangle 3"/>
          <p:cNvSpPr>
            <a:spLocks noGrp="1" noChangeArrowheads="1"/>
          </p:cNvSpPr>
          <p:nvPr>
            <p:ph type="body" idx="4294967295"/>
          </p:nvPr>
        </p:nvSpPr>
        <p:spPr>
          <a:xfrm>
            <a:off x="381000" y="1143000"/>
            <a:ext cx="8229600" cy="4525963"/>
          </a:xfrm>
          <a:prstGeom prst="rect">
            <a:avLst/>
          </a:prstGeom>
          <a:noFill/>
        </p:spPr>
        <p:txBody>
          <a:bodyPr/>
          <a:lstStyle/>
          <a:p>
            <a:r>
              <a:rPr lang="en-US" sz="2800" dirty="0">
                <a:latin typeface="Times New Roman" pitchFamily="18" charset="0"/>
                <a:cs typeface="Times New Roman" pitchFamily="18" charset="0"/>
              </a:rPr>
              <a:t>Compulsory license to ensure availability of drugs at reasonable prices</a:t>
            </a:r>
          </a:p>
          <a:p>
            <a:endParaRPr lang="en-US" sz="2800" dirty="0">
              <a:latin typeface="Times New Roman" pitchFamily="18" charset="0"/>
              <a:cs typeface="Times New Roman" pitchFamily="18" charset="0"/>
            </a:endParaRPr>
          </a:p>
          <a:p>
            <a:r>
              <a:rPr lang="en-US" sz="2800" dirty="0">
                <a:latin typeface="Times New Roman" pitchFamily="18" charset="0"/>
                <a:cs typeface="Times New Roman" pitchFamily="18" charset="0"/>
              </a:rPr>
              <a:t>Provision to deal with public health emergency </a:t>
            </a:r>
          </a:p>
          <a:p>
            <a:endParaRPr lang="en-US" sz="2800" dirty="0">
              <a:latin typeface="Times New Roman" pitchFamily="18" charset="0"/>
              <a:cs typeface="Times New Roman" pitchFamily="18" charset="0"/>
            </a:endParaRPr>
          </a:p>
          <a:p>
            <a:r>
              <a:rPr lang="en-US" sz="2800" dirty="0">
                <a:latin typeface="Times New Roman" pitchFamily="18" charset="0"/>
                <a:cs typeface="Times New Roman" pitchFamily="18" charset="0"/>
              </a:rPr>
              <a:t>Revocation of patent in public interest and also on security considerations</a:t>
            </a:r>
            <a:endParaRPr lang="en-AU" sz="2800" dirty="0">
              <a:latin typeface="Times New Roman" pitchFamily="18" charset="0"/>
              <a:cs typeface="Times New Roman" pitchFamily="18" charset="0"/>
            </a:endParaRPr>
          </a:p>
        </p:txBody>
      </p:sp>
    </p:spTree>
  </p:cSld>
  <p:clrMapOvr>
    <a:masterClrMapping/>
  </p:clrMapOvr>
  <p:transition>
    <p:wipe/>
    <p:sndAc>
      <p:end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914400" y="2057400"/>
            <a:ext cx="7772400" cy="1143000"/>
          </a:xfrm>
        </p:spPr>
        <p:txBody>
          <a:bodyPr/>
          <a:lstStyle/>
          <a:p>
            <a:pPr>
              <a:defRPr/>
            </a:pPr>
            <a:r>
              <a:rPr lang="en-US" sz="4000" dirty="0">
                <a:solidFill>
                  <a:srgbClr val="0000FF"/>
                </a:solidFill>
                <a:latin typeface="Times New Roman" pitchFamily="18" charset="0"/>
                <a:cs typeface="Times New Roman" pitchFamily="18" charset="0"/>
              </a:rPr>
              <a:t>Scope of Patentability Under </a:t>
            </a:r>
            <a:br>
              <a:rPr lang="en-US" sz="4000" dirty="0">
                <a:solidFill>
                  <a:srgbClr val="0000FF"/>
                </a:solidFill>
                <a:latin typeface="Times New Roman" pitchFamily="18" charset="0"/>
                <a:cs typeface="Times New Roman" pitchFamily="18" charset="0"/>
              </a:rPr>
            </a:br>
            <a:r>
              <a:rPr lang="en-US" sz="4000" dirty="0">
                <a:solidFill>
                  <a:srgbClr val="0000FF"/>
                </a:solidFill>
                <a:latin typeface="Times New Roman" pitchFamily="18" charset="0"/>
                <a:cs typeface="Times New Roman" pitchFamily="18" charset="0"/>
              </a:rPr>
              <a:t>The Patents Act </a:t>
            </a:r>
            <a:endParaRPr lang="en-AU" sz="4000" dirty="0">
              <a:solidFill>
                <a:srgbClr val="0000FF"/>
              </a:solidFill>
              <a:latin typeface="Times New Roman" pitchFamily="18" charset="0"/>
              <a:cs typeface="Times New Roman" pitchFamily="18" charset="0"/>
            </a:endParaRPr>
          </a:p>
        </p:txBody>
      </p:sp>
    </p:spTree>
  </p:cSld>
  <p:clrMapOvr>
    <a:masterClrMapping/>
  </p:clrMapOvr>
  <p:transition>
    <p:wipe/>
    <p:sndAc>
      <p:end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ctrTitle"/>
          </p:nvPr>
        </p:nvSpPr>
        <p:spPr>
          <a:xfrm>
            <a:off x="988142" y="0"/>
            <a:ext cx="7772400" cy="1143000"/>
          </a:xfrm>
        </p:spPr>
        <p:txBody>
          <a:bodyPr/>
          <a:lstStyle/>
          <a:p>
            <a:pPr>
              <a:defRPr/>
            </a:pPr>
            <a:r>
              <a:rPr lang="en-US" sz="3600" dirty="0">
                <a:solidFill>
                  <a:srgbClr val="0000FF"/>
                </a:solidFill>
                <a:latin typeface="Times New Roman" pitchFamily="18" charset="0"/>
                <a:cs typeface="Times New Roman" pitchFamily="18" charset="0"/>
              </a:rPr>
              <a:t>What is an Invention?</a:t>
            </a:r>
            <a:endParaRPr lang="en-AU" sz="3600" dirty="0">
              <a:solidFill>
                <a:srgbClr val="0000FF"/>
              </a:solidFill>
              <a:latin typeface="Times New Roman" pitchFamily="18" charset="0"/>
              <a:cs typeface="Times New Roman" pitchFamily="18" charset="0"/>
            </a:endParaRPr>
          </a:p>
        </p:txBody>
      </p:sp>
      <p:sp>
        <p:nvSpPr>
          <p:cNvPr id="134148" name="Rectangle 4" descr="Rectangle: Click to edit Master text styles&#10;Second level&#10;Third level&#10;Fourth level&#10;Fifth level"/>
          <p:cNvSpPr>
            <a:spLocks noChangeArrowheads="1"/>
          </p:cNvSpPr>
          <p:nvPr/>
        </p:nvSpPr>
        <p:spPr bwMode="auto">
          <a:xfrm>
            <a:off x="457200" y="1447800"/>
            <a:ext cx="8153400" cy="4114800"/>
          </a:xfrm>
          <a:prstGeom prst="rect">
            <a:avLst/>
          </a:prstGeom>
          <a:noFill/>
          <a:ln w="9525">
            <a:noFill/>
            <a:miter lim="800000"/>
            <a:headEnd/>
            <a:tailEnd/>
          </a:ln>
          <a:effectLst/>
        </p:spPr>
        <p:txBody>
          <a:bodyPr/>
          <a:lstStyle/>
          <a:p>
            <a:pPr marL="342900" indent="-342900">
              <a:spcBef>
                <a:spcPct val="20000"/>
              </a:spcBef>
              <a:buClr>
                <a:schemeClr val="hlink"/>
              </a:buClr>
              <a:buSzPct val="110000"/>
              <a:buFont typeface="Wingdings" pitchFamily="2" charset="2"/>
              <a:buNone/>
              <a:defRPr/>
            </a:pPr>
            <a:r>
              <a:rPr lang="en-US" sz="3600" dirty="0">
                <a:solidFill>
                  <a:srgbClr val="FF3300"/>
                </a:solidFill>
                <a:effectLst>
                  <a:outerShdw blurRad="38100" dist="38100" dir="2700000" algn="tl">
                    <a:srgbClr val="C0C0C0"/>
                  </a:outerShdw>
                </a:effectLst>
                <a:latin typeface="Times New Roman" pitchFamily="18" charset="0"/>
                <a:cs typeface="Times New Roman" pitchFamily="18" charset="0"/>
              </a:rPr>
              <a:t>Sec.2(1)(J) </a:t>
            </a:r>
            <a:endParaRPr lang="en-US" sz="4800" dirty="0">
              <a:solidFill>
                <a:srgbClr val="FF3300"/>
              </a:solidFill>
              <a:effectLst>
                <a:outerShdw blurRad="38100" dist="38100" dir="2700000" algn="tl">
                  <a:srgbClr val="C0C0C0"/>
                </a:outerShdw>
              </a:effectLst>
              <a:latin typeface="Times New Roman" pitchFamily="18" charset="0"/>
              <a:cs typeface="Times New Roman" pitchFamily="18" charset="0"/>
            </a:endParaRPr>
          </a:p>
          <a:p>
            <a:pPr marL="342900" indent="-342900" algn="just">
              <a:spcBef>
                <a:spcPct val="20000"/>
              </a:spcBef>
              <a:buClr>
                <a:schemeClr val="hlink"/>
              </a:buClr>
              <a:buSzPct val="110000"/>
              <a:buFont typeface="Wingdings" pitchFamily="2" charset="2"/>
              <a:buNone/>
              <a:defRPr/>
            </a:pPr>
            <a:r>
              <a:rPr lang="en-US" sz="3600" dirty="0">
                <a:latin typeface="Times New Roman" pitchFamily="18" charset="0"/>
                <a:cs typeface="Times New Roman" pitchFamily="18" charset="0"/>
              </a:rPr>
              <a:t>“Invention” means a new product or process involving an inventive step and capable of industrial application</a:t>
            </a:r>
          </a:p>
          <a:p>
            <a:pPr marL="342900" indent="-342900">
              <a:spcBef>
                <a:spcPct val="20000"/>
              </a:spcBef>
              <a:buClr>
                <a:schemeClr val="hlink"/>
              </a:buClr>
              <a:buSzPct val="110000"/>
              <a:buFont typeface="Wingdings" pitchFamily="2" charset="2"/>
              <a:buNone/>
              <a:defRPr/>
            </a:pPr>
            <a:endParaRPr lang="en-US" sz="3600" dirty="0"/>
          </a:p>
          <a:p>
            <a:pPr marL="342900" indent="-342900" algn="r">
              <a:spcBef>
                <a:spcPct val="20000"/>
              </a:spcBef>
              <a:buClr>
                <a:schemeClr val="hlink"/>
              </a:buClr>
              <a:buSzPct val="110000"/>
              <a:buFont typeface="Wingdings" pitchFamily="2" charset="2"/>
              <a:buNone/>
              <a:defRPr/>
            </a:pPr>
            <a:endParaRPr lang="en-US" sz="3600" dirty="0"/>
          </a:p>
        </p:txBody>
      </p:sp>
    </p:spTree>
  </p:cSld>
  <p:clrMapOvr>
    <a:masterClrMapping/>
  </p:clrMapOvr>
  <p:transition>
    <p:wipe/>
    <p:sndAc>
      <p:end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a:xfrm>
            <a:off x="990600" y="0"/>
            <a:ext cx="7772400" cy="762000"/>
          </a:xfrm>
        </p:spPr>
        <p:txBody>
          <a:bodyPr/>
          <a:lstStyle/>
          <a:p>
            <a:r>
              <a:rPr lang="en-US" sz="3600" dirty="0">
                <a:solidFill>
                  <a:srgbClr val="993366"/>
                </a:solidFill>
                <a:latin typeface="Times New Roman" pitchFamily="18" charset="0"/>
                <a:cs typeface="Times New Roman" pitchFamily="18" charset="0"/>
              </a:rPr>
              <a:t>Patentable subject matter</a:t>
            </a:r>
            <a:endParaRPr lang="en-AU" sz="3600" dirty="0">
              <a:solidFill>
                <a:srgbClr val="993366"/>
              </a:solidFill>
              <a:latin typeface="Times New Roman" pitchFamily="18" charset="0"/>
              <a:cs typeface="Times New Roman" pitchFamily="18" charset="0"/>
            </a:endParaRPr>
          </a:p>
        </p:txBody>
      </p:sp>
      <p:sp>
        <p:nvSpPr>
          <p:cNvPr id="16387" name="Rectangle 3" descr="Rectangle: Click to edit Master text styles&#10;Second level&#10;Third level&#10;Fourth level&#10;Fifth level"/>
          <p:cNvSpPr>
            <a:spLocks noChangeArrowheads="1"/>
          </p:cNvSpPr>
          <p:nvPr/>
        </p:nvSpPr>
        <p:spPr bwMode="auto">
          <a:xfrm>
            <a:off x="609600" y="1981200"/>
            <a:ext cx="8153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r">
              <a:spcBef>
                <a:spcPct val="20000"/>
              </a:spcBef>
              <a:buClr>
                <a:schemeClr val="hlink"/>
              </a:buClr>
              <a:buSzPct val="110000"/>
              <a:buFont typeface="Wingdings" pitchFamily="2" charset="2"/>
              <a:buNone/>
            </a:pPr>
            <a:endParaRPr lang="en-US" sz="3600"/>
          </a:p>
        </p:txBody>
      </p:sp>
      <p:sp>
        <p:nvSpPr>
          <p:cNvPr id="140293" name="Rectangle 5" descr="Rectangle: Click to edit Master text styles&#10;Second level&#10;Third level&#10;Fourth level&#10;Fifth level"/>
          <p:cNvSpPr>
            <a:spLocks noChangeArrowheads="1"/>
          </p:cNvSpPr>
          <p:nvPr/>
        </p:nvSpPr>
        <p:spPr bwMode="auto">
          <a:xfrm>
            <a:off x="609600" y="1143000"/>
            <a:ext cx="8153400" cy="4572000"/>
          </a:xfrm>
          <a:prstGeom prst="rect">
            <a:avLst/>
          </a:prstGeom>
          <a:noFill/>
          <a:ln w="9525">
            <a:noFill/>
            <a:miter lim="800000"/>
            <a:headEnd/>
            <a:tailEnd/>
          </a:ln>
          <a:effectLst/>
        </p:spPr>
        <p:txBody>
          <a:bodyPr/>
          <a:lstStyle/>
          <a:p>
            <a:pPr marL="609600" indent="-609600">
              <a:spcBef>
                <a:spcPct val="20000"/>
              </a:spcBef>
              <a:buClr>
                <a:schemeClr val="hlink"/>
              </a:buClr>
              <a:buSzPct val="110000"/>
              <a:buFont typeface="Wingdings" pitchFamily="2" charset="2"/>
              <a:buNone/>
              <a:defRPr/>
            </a:pPr>
            <a:r>
              <a:rPr lang="en-US" sz="3600" dirty="0">
                <a:solidFill>
                  <a:srgbClr val="FF3300"/>
                </a:solidFill>
                <a:effectLst>
                  <a:outerShdw blurRad="38100" dist="38100" dir="2700000" algn="tl">
                    <a:srgbClr val="C0C0C0"/>
                  </a:outerShdw>
                </a:effectLst>
                <a:latin typeface="Times New Roman" pitchFamily="18" charset="0"/>
                <a:cs typeface="Times New Roman" pitchFamily="18" charset="0"/>
              </a:rPr>
              <a:t>Invention must</a:t>
            </a:r>
            <a:r>
              <a:rPr lang="en-US" sz="3200" dirty="0">
                <a:latin typeface="Times New Roman" pitchFamily="18" charset="0"/>
                <a:cs typeface="Times New Roman" pitchFamily="18" charset="0"/>
              </a:rPr>
              <a:t> </a:t>
            </a:r>
          </a:p>
          <a:p>
            <a:pPr marL="609600" indent="-609600">
              <a:spcBef>
                <a:spcPct val="20000"/>
              </a:spcBef>
              <a:buClr>
                <a:srgbClr val="E89A7E"/>
              </a:buClr>
              <a:buSzPct val="110000"/>
              <a:buFont typeface="Wingdings" pitchFamily="2" charset="2"/>
              <a:buBlip>
                <a:blip r:embed="rId2"/>
              </a:buBlip>
              <a:defRPr/>
            </a:pPr>
            <a:r>
              <a:rPr lang="en-US" sz="3200" dirty="0">
                <a:latin typeface="Times New Roman" pitchFamily="18" charset="0"/>
                <a:cs typeface="Times New Roman" pitchFamily="18" charset="0"/>
              </a:rPr>
              <a:t>relates to a </a:t>
            </a:r>
            <a:r>
              <a:rPr lang="en-US" sz="3200" dirty="0">
                <a:solidFill>
                  <a:srgbClr val="993366"/>
                </a:solidFill>
                <a:effectLst>
                  <a:outerShdw blurRad="38100" dist="38100" dir="2700000" algn="tl">
                    <a:srgbClr val="C0C0C0"/>
                  </a:outerShdw>
                </a:effectLst>
                <a:latin typeface="Times New Roman" pitchFamily="18" charset="0"/>
                <a:cs typeface="Times New Roman" pitchFamily="18" charset="0"/>
              </a:rPr>
              <a:t>Process</a:t>
            </a:r>
            <a:r>
              <a:rPr lang="en-US" sz="3200" dirty="0">
                <a:latin typeface="Times New Roman" pitchFamily="18" charset="0"/>
                <a:cs typeface="Times New Roman" pitchFamily="18" charset="0"/>
              </a:rPr>
              <a:t> or </a:t>
            </a:r>
            <a:r>
              <a:rPr lang="en-US" sz="3200" dirty="0">
                <a:solidFill>
                  <a:srgbClr val="993366"/>
                </a:solidFill>
                <a:effectLst>
                  <a:outerShdw blurRad="38100" dist="38100" dir="2700000" algn="tl">
                    <a:srgbClr val="C0C0C0"/>
                  </a:outerShdw>
                </a:effectLst>
                <a:latin typeface="Times New Roman" pitchFamily="18" charset="0"/>
                <a:cs typeface="Times New Roman" pitchFamily="18" charset="0"/>
              </a:rPr>
              <a:t>Product</a:t>
            </a:r>
            <a:r>
              <a:rPr lang="en-US" sz="3200" dirty="0">
                <a:latin typeface="Times New Roman" pitchFamily="18" charset="0"/>
                <a:cs typeface="Times New Roman" pitchFamily="18" charset="0"/>
              </a:rPr>
              <a:t> or both </a:t>
            </a:r>
          </a:p>
          <a:p>
            <a:pPr marL="609600" indent="-609600">
              <a:spcBef>
                <a:spcPct val="20000"/>
              </a:spcBef>
              <a:buClr>
                <a:srgbClr val="E89A7E"/>
              </a:buClr>
              <a:buSzPct val="110000"/>
              <a:buFont typeface="Wingdings" pitchFamily="2" charset="2"/>
              <a:buBlip>
                <a:blip r:embed="rId2"/>
              </a:buBlip>
              <a:defRPr/>
            </a:pPr>
            <a:r>
              <a:rPr lang="en-US" sz="3200" dirty="0">
                <a:latin typeface="Times New Roman" pitchFamily="18" charset="0"/>
                <a:cs typeface="Times New Roman" pitchFamily="18" charset="0"/>
              </a:rPr>
              <a:t>be new</a:t>
            </a:r>
            <a:r>
              <a:rPr lang="en-US" sz="3200" dirty="0">
                <a:solidFill>
                  <a:srgbClr val="FF0000"/>
                </a:solidFill>
                <a:latin typeface="Times New Roman" pitchFamily="18" charset="0"/>
                <a:cs typeface="Times New Roman" pitchFamily="18" charset="0"/>
              </a:rPr>
              <a:t> (Novel) </a:t>
            </a:r>
          </a:p>
          <a:p>
            <a:pPr marL="609600" indent="-609600">
              <a:spcBef>
                <a:spcPct val="20000"/>
              </a:spcBef>
              <a:buClr>
                <a:srgbClr val="E89A7E"/>
              </a:buClr>
              <a:buSzPct val="110000"/>
              <a:buFont typeface="Wingdings" pitchFamily="2" charset="2"/>
              <a:buBlip>
                <a:blip r:embed="rId2"/>
              </a:buBlip>
              <a:defRPr/>
            </a:pPr>
            <a:r>
              <a:rPr lang="en-US" sz="3200" dirty="0">
                <a:latin typeface="Times New Roman" pitchFamily="18" charset="0"/>
                <a:cs typeface="Times New Roman" pitchFamily="18" charset="0"/>
              </a:rPr>
              <a:t>involves an </a:t>
            </a:r>
            <a:r>
              <a:rPr lang="en-US" sz="3200" dirty="0">
                <a:solidFill>
                  <a:srgbClr val="FF0000"/>
                </a:solidFill>
                <a:effectLst>
                  <a:outerShdw blurRad="38100" dist="38100" dir="2700000" algn="tl">
                    <a:srgbClr val="C0C0C0"/>
                  </a:outerShdw>
                </a:effectLst>
                <a:latin typeface="Times New Roman" pitchFamily="18" charset="0"/>
                <a:cs typeface="Times New Roman" pitchFamily="18" charset="0"/>
              </a:rPr>
              <a:t>inventive step</a:t>
            </a:r>
            <a:r>
              <a:rPr lang="en-US" sz="3200" dirty="0">
                <a:effectLst>
                  <a:outerShdw blurRad="38100" dist="38100" dir="2700000" algn="tl">
                    <a:srgbClr val="C0C0C0"/>
                  </a:outerShdw>
                </a:effectLst>
                <a:latin typeface="Times New Roman" pitchFamily="18" charset="0"/>
                <a:cs typeface="Times New Roman" pitchFamily="18" charset="0"/>
              </a:rPr>
              <a:t> </a:t>
            </a:r>
          </a:p>
          <a:p>
            <a:pPr marL="609600" indent="-609600">
              <a:spcBef>
                <a:spcPct val="20000"/>
              </a:spcBef>
              <a:buClr>
                <a:srgbClr val="E89A7E"/>
              </a:buClr>
              <a:buSzPct val="110000"/>
              <a:buFont typeface="Wingdings" pitchFamily="2" charset="2"/>
              <a:buBlip>
                <a:blip r:embed="rId2"/>
              </a:buBlip>
              <a:defRPr/>
            </a:pPr>
            <a:r>
              <a:rPr lang="en-US" sz="3200" dirty="0">
                <a:latin typeface="Times New Roman" pitchFamily="18" charset="0"/>
                <a:cs typeface="Times New Roman" pitchFamily="18" charset="0"/>
              </a:rPr>
              <a:t>be Capable of </a:t>
            </a:r>
            <a:r>
              <a:rPr lang="en-US" sz="3200" dirty="0">
                <a:solidFill>
                  <a:srgbClr val="FF0000"/>
                </a:solidFill>
                <a:effectLst>
                  <a:outerShdw blurRad="38100" dist="38100" dir="2700000" algn="tl">
                    <a:srgbClr val="C0C0C0"/>
                  </a:outerShdw>
                </a:effectLst>
                <a:latin typeface="Times New Roman" pitchFamily="18" charset="0"/>
                <a:cs typeface="Times New Roman" pitchFamily="18" charset="0"/>
              </a:rPr>
              <a:t>industrial application</a:t>
            </a:r>
            <a:r>
              <a:rPr lang="en-US" sz="3200" dirty="0">
                <a:latin typeface="Times New Roman" pitchFamily="18" charset="0"/>
                <a:cs typeface="Times New Roman" pitchFamily="18" charset="0"/>
              </a:rPr>
              <a:t> </a:t>
            </a:r>
          </a:p>
          <a:p>
            <a:pPr marL="609600" indent="-609600">
              <a:spcBef>
                <a:spcPct val="20000"/>
              </a:spcBef>
              <a:buClr>
                <a:srgbClr val="E89A7E"/>
              </a:buClr>
              <a:buSzPct val="110000"/>
              <a:buFont typeface="Wingdings" pitchFamily="2" charset="2"/>
              <a:buBlip>
                <a:blip r:embed="rId2"/>
              </a:buBlip>
              <a:defRPr/>
            </a:pPr>
            <a:r>
              <a:rPr lang="en-US" sz="3200" dirty="0">
                <a:latin typeface="Times New Roman" pitchFamily="18" charset="0"/>
                <a:cs typeface="Times New Roman" pitchFamily="18" charset="0"/>
              </a:rPr>
              <a:t>not fall under  </a:t>
            </a:r>
            <a:r>
              <a:rPr lang="en-US" sz="3200" dirty="0">
                <a:solidFill>
                  <a:srgbClr val="FF3300"/>
                </a:solidFill>
                <a:effectLst>
                  <a:outerShdw blurRad="38100" dist="38100" dir="2700000" algn="tl">
                    <a:srgbClr val="C0C0C0"/>
                  </a:outerShdw>
                </a:effectLst>
                <a:latin typeface="Times New Roman" pitchFamily="18" charset="0"/>
                <a:cs typeface="Times New Roman" pitchFamily="18" charset="0"/>
              </a:rPr>
              <a:t>Section  3 and 4</a:t>
            </a:r>
            <a:endParaRPr lang="en-US" dirty="0">
              <a:solidFill>
                <a:srgbClr val="FF3300"/>
              </a:solidFill>
              <a:effectLst>
                <a:outerShdw blurRad="38100" dist="38100" dir="2700000" algn="tl">
                  <a:srgbClr val="C0C0C0"/>
                </a:outerShdw>
              </a:effectLst>
              <a:latin typeface="Times New Roman" pitchFamily="18" charset="0"/>
              <a:cs typeface="Times New Roman" pitchFamily="18" charset="0"/>
            </a:endParaRPr>
          </a:p>
        </p:txBody>
      </p:sp>
    </p:spTree>
  </p:cSld>
  <p:clrMapOvr>
    <a:masterClrMapping/>
  </p:clrMapOvr>
  <p:transition>
    <p:wipe/>
    <p:sndAc>
      <p:endSnd/>
    </p:sndAc>
  </p:transition>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609600" y="609600"/>
            <a:ext cx="7772400" cy="1371600"/>
          </a:xfrm>
          <a:prstGeom prst="rect">
            <a:avLst/>
          </a:prstGeom>
        </p:spPr>
        <p:txBody>
          <a:bodyPr/>
          <a:lstStyle/>
          <a:p>
            <a:r>
              <a:rPr lang="en-US" sz="4800" dirty="0">
                <a:solidFill>
                  <a:srgbClr val="993366"/>
                </a:solidFill>
                <a:latin typeface="Times New Roman" pitchFamily="18" charset="0"/>
                <a:cs typeface="Times New Roman" pitchFamily="18" charset="0"/>
              </a:rPr>
              <a:t>“NEW”</a:t>
            </a:r>
            <a:br>
              <a:rPr lang="en-US" sz="4800" dirty="0">
                <a:solidFill>
                  <a:srgbClr val="993366"/>
                </a:solidFill>
                <a:latin typeface="Times New Roman" pitchFamily="18" charset="0"/>
                <a:cs typeface="Times New Roman" pitchFamily="18" charset="0"/>
              </a:rPr>
            </a:br>
            <a:r>
              <a:rPr lang="en-US" sz="4000" dirty="0">
                <a:solidFill>
                  <a:srgbClr val="993366"/>
                </a:solidFill>
                <a:latin typeface="Times New Roman" pitchFamily="18" charset="0"/>
                <a:cs typeface="Times New Roman" pitchFamily="18" charset="0"/>
              </a:rPr>
              <a:t>MEANS</a:t>
            </a:r>
          </a:p>
        </p:txBody>
      </p:sp>
      <p:sp>
        <p:nvSpPr>
          <p:cNvPr id="130051" name="Rectangle 3" descr="Rectangle: Click to edit Master text styles&#10;Second level&#10;Third level&#10;Fourth level&#10;Fifth level"/>
          <p:cNvSpPr>
            <a:spLocks noGrp="1" noChangeArrowheads="1"/>
          </p:cNvSpPr>
          <p:nvPr>
            <p:ph type="body" idx="4294967295"/>
          </p:nvPr>
        </p:nvSpPr>
        <p:spPr>
          <a:xfrm>
            <a:off x="685800" y="1981200"/>
            <a:ext cx="7924800" cy="4495800"/>
          </a:xfrm>
          <a:prstGeom prst="rect">
            <a:avLst/>
          </a:prstGeom>
        </p:spPr>
        <p:txBody>
          <a:bodyPr/>
          <a:lstStyle/>
          <a:p>
            <a:pPr marL="457200" indent="-457200">
              <a:buFont typeface="Wingdings" pitchFamily="2" charset="2"/>
              <a:buNone/>
              <a:defRPr/>
            </a:pPr>
            <a:r>
              <a:rPr lang="en-US" sz="3600" dirty="0">
                <a:solidFill>
                  <a:srgbClr val="FF3300"/>
                </a:solidFill>
                <a:latin typeface="Times New Roman" pitchFamily="18" charset="0"/>
                <a:cs typeface="Times New Roman" pitchFamily="18" charset="0"/>
              </a:rPr>
              <a:t>Invention must not be</a:t>
            </a:r>
          </a:p>
          <a:p>
            <a:pPr marL="457200" indent="-457200">
              <a:lnSpc>
                <a:spcPct val="130000"/>
              </a:lnSpc>
              <a:buClr>
                <a:srgbClr val="E89A7E"/>
              </a:buClr>
              <a:buFont typeface="Wingdings" pitchFamily="2" charset="2"/>
              <a:buBlip>
                <a:blip r:embed="rId2"/>
              </a:buBlip>
              <a:defRPr/>
            </a:pPr>
            <a:r>
              <a:rPr lang="en-US" sz="2800" dirty="0">
                <a:latin typeface="Times New Roman" pitchFamily="18" charset="0"/>
                <a:cs typeface="Times New Roman" pitchFamily="18" charset="0"/>
              </a:rPr>
              <a:t>Published in India or elsewhere</a:t>
            </a:r>
          </a:p>
          <a:p>
            <a:pPr marL="457200" indent="-457200">
              <a:lnSpc>
                <a:spcPct val="130000"/>
              </a:lnSpc>
              <a:buClr>
                <a:srgbClr val="E89A7E"/>
              </a:buClr>
              <a:buFont typeface="Wingdings" pitchFamily="2" charset="2"/>
              <a:buBlip>
                <a:blip r:embed="rId2"/>
              </a:buBlip>
              <a:defRPr/>
            </a:pPr>
            <a:r>
              <a:rPr lang="en-US" sz="2800" dirty="0">
                <a:latin typeface="Times New Roman" pitchFamily="18" charset="0"/>
                <a:cs typeface="Times New Roman" pitchFamily="18" charset="0"/>
              </a:rPr>
              <a:t>In prior public knowledge or prior public use with in India</a:t>
            </a:r>
          </a:p>
          <a:p>
            <a:pPr marL="457200" indent="-457200">
              <a:lnSpc>
                <a:spcPct val="130000"/>
              </a:lnSpc>
              <a:buClr>
                <a:srgbClr val="E89A7E"/>
              </a:buClr>
              <a:buFont typeface="Wingdings" pitchFamily="2" charset="2"/>
              <a:buBlip>
                <a:blip r:embed="rId2"/>
              </a:buBlip>
              <a:defRPr/>
            </a:pPr>
            <a:r>
              <a:rPr lang="en-US" sz="2800" dirty="0">
                <a:latin typeface="Times New Roman" pitchFamily="18" charset="0"/>
                <a:cs typeface="Times New Roman" pitchFamily="18" charset="0"/>
              </a:rPr>
              <a:t>Claimed  before in any specification in India</a:t>
            </a:r>
          </a:p>
        </p:txBody>
      </p:sp>
    </p:spTree>
  </p:cSld>
  <p:clrMapOvr>
    <a:masterClrMapping/>
  </p:clrMapOvr>
  <p:transition>
    <p:wipe/>
    <p:sndAc>
      <p:endSnd/>
    </p:sndAc>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762000" y="-14748"/>
            <a:ext cx="7772400" cy="762000"/>
          </a:xfrm>
          <a:prstGeom prst="rect">
            <a:avLst/>
          </a:prstGeom>
        </p:spPr>
        <p:txBody>
          <a:bodyPr/>
          <a:lstStyle/>
          <a:p>
            <a:r>
              <a:rPr lang="en-US" sz="4000" dirty="0">
                <a:solidFill>
                  <a:srgbClr val="993366"/>
                </a:solidFill>
                <a:latin typeface="Times New Roman" pitchFamily="18" charset="0"/>
                <a:cs typeface="Times New Roman" pitchFamily="18" charset="0"/>
              </a:rPr>
              <a:t>Inventive step</a:t>
            </a:r>
          </a:p>
        </p:txBody>
      </p:sp>
      <p:sp>
        <p:nvSpPr>
          <p:cNvPr id="131075" name="Rectangle 3" descr="Rectangle: Click to edit Master text styles&#10;Second level&#10;Third level&#10;Fourth level&#10;Fifth level"/>
          <p:cNvSpPr>
            <a:spLocks noGrp="1" noChangeArrowheads="1"/>
          </p:cNvSpPr>
          <p:nvPr>
            <p:ph type="body" idx="4294967295"/>
          </p:nvPr>
        </p:nvSpPr>
        <p:spPr>
          <a:xfrm>
            <a:off x="228600" y="1219200"/>
            <a:ext cx="8610600" cy="4953000"/>
          </a:xfrm>
          <a:prstGeom prst="rect">
            <a:avLst/>
          </a:prstGeom>
        </p:spPr>
        <p:txBody>
          <a:bodyPr/>
          <a:lstStyle/>
          <a:p>
            <a:pPr marL="685800" indent="-336550" algn="ctr">
              <a:buFont typeface="Wingdings" pitchFamily="2" charset="2"/>
              <a:buNone/>
              <a:defRPr/>
            </a:pPr>
            <a:r>
              <a:rPr lang="en-US" sz="4000" dirty="0">
                <a:latin typeface="Times New Roman" pitchFamily="18" charset="0"/>
                <a:cs typeface="Times New Roman" pitchFamily="18" charset="0"/>
              </a:rPr>
              <a:t>A </a:t>
            </a:r>
            <a:r>
              <a:rPr lang="en-US" sz="4000" dirty="0">
                <a:solidFill>
                  <a:srgbClr val="FF3300"/>
                </a:solidFill>
                <a:latin typeface="Times New Roman" pitchFamily="18" charset="0"/>
                <a:cs typeface="Times New Roman" pitchFamily="18" charset="0"/>
              </a:rPr>
              <a:t>feature of an invention</a:t>
            </a:r>
            <a:r>
              <a:rPr lang="en-US" sz="4000" dirty="0">
                <a:latin typeface="Times New Roman" pitchFamily="18" charset="0"/>
                <a:cs typeface="Times New Roman" pitchFamily="18" charset="0"/>
              </a:rPr>
              <a:t> that</a:t>
            </a:r>
          </a:p>
          <a:p>
            <a:pPr marL="685800" indent="-336550" algn="just">
              <a:lnSpc>
                <a:spcPct val="90000"/>
              </a:lnSpc>
              <a:buClr>
                <a:srgbClr val="E89A7E"/>
              </a:buClr>
              <a:buFont typeface="Wingdings" pitchFamily="2" charset="2"/>
              <a:buBlip>
                <a:blip r:embed="rId2"/>
              </a:buBlip>
              <a:defRPr/>
            </a:pPr>
            <a:r>
              <a:rPr lang="en-US" sz="4000" dirty="0">
                <a:latin typeface="Times New Roman" pitchFamily="18" charset="0"/>
                <a:cs typeface="Times New Roman" pitchFamily="18" charset="0"/>
              </a:rPr>
              <a:t> </a:t>
            </a:r>
            <a:r>
              <a:rPr lang="en-US" dirty="0">
                <a:latin typeface="Times New Roman" pitchFamily="18" charset="0"/>
                <a:cs typeface="Times New Roman" pitchFamily="18" charset="0"/>
              </a:rPr>
              <a:t>involves technical advance as compared to the existing knowledge 	</a:t>
            </a:r>
          </a:p>
          <a:p>
            <a:pPr marL="685800" indent="-336550" algn="ctr">
              <a:lnSpc>
                <a:spcPct val="90000"/>
              </a:lnSpc>
              <a:buClr>
                <a:srgbClr val="E89A7E"/>
              </a:buClr>
              <a:buFont typeface="Wingdings" pitchFamily="2" charset="2"/>
              <a:buBlip>
                <a:blip r:embed="rId2"/>
              </a:buBlip>
              <a:defRPr/>
            </a:pPr>
            <a:r>
              <a:rPr lang="en-US" dirty="0">
                <a:latin typeface="Times New Roman" pitchFamily="18" charset="0"/>
                <a:cs typeface="Times New Roman" pitchFamily="18" charset="0"/>
              </a:rPr>
              <a:t>or </a:t>
            </a:r>
          </a:p>
          <a:p>
            <a:pPr marL="685800" indent="-336550" algn="just">
              <a:lnSpc>
                <a:spcPct val="90000"/>
              </a:lnSpc>
              <a:buClr>
                <a:srgbClr val="E89A7E"/>
              </a:buClr>
              <a:buFont typeface="Wingdings" pitchFamily="2" charset="2"/>
              <a:buBlip>
                <a:blip r:embed="rId2"/>
              </a:buBlip>
              <a:defRPr/>
            </a:pPr>
            <a:r>
              <a:rPr lang="en-US" dirty="0">
                <a:latin typeface="Times New Roman" pitchFamily="18" charset="0"/>
                <a:cs typeface="Times New Roman" pitchFamily="18" charset="0"/>
              </a:rPr>
              <a:t> 	have economic significance or both and </a:t>
            </a:r>
          </a:p>
          <a:p>
            <a:pPr marL="685800" indent="-336550" algn="just">
              <a:lnSpc>
                <a:spcPct val="90000"/>
              </a:lnSpc>
              <a:buClr>
                <a:srgbClr val="E89A7E"/>
              </a:buClr>
              <a:buFont typeface="Wingdings" pitchFamily="2" charset="2"/>
              <a:buBlip>
                <a:blip r:embed="rId2"/>
              </a:buBlip>
              <a:defRPr/>
            </a:pPr>
            <a:r>
              <a:rPr lang="en-US" dirty="0">
                <a:latin typeface="Times New Roman" pitchFamily="18" charset="0"/>
                <a:cs typeface="Times New Roman" pitchFamily="18" charset="0"/>
              </a:rPr>
              <a:t> 	makes the invention not obvious to a person skilled in the art </a:t>
            </a:r>
            <a:endParaRPr lang="en-US" sz="1600" dirty="0">
              <a:solidFill>
                <a:srgbClr val="23238B"/>
              </a:solidFill>
              <a:latin typeface="Times New Roman" pitchFamily="18" charset="0"/>
              <a:cs typeface="Times New Roman" pitchFamily="18" charset="0"/>
            </a:endParaRPr>
          </a:p>
          <a:p>
            <a:pPr marL="685800" indent="-336550" algn="ctr">
              <a:buClr>
                <a:srgbClr val="E89A7E"/>
              </a:buClr>
              <a:buFont typeface="Wingdings" pitchFamily="2" charset="2"/>
              <a:buBlip>
                <a:blip r:embed="rId2"/>
              </a:buBlip>
              <a:defRPr/>
            </a:pPr>
            <a:endParaRPr lang="en-US" sz="1600" dirty="0">
              <a:solidFill>
                <a:srgbClr val="23238B"/>
              </a:solidFill>
              <a:latin typeface="Times New Roman" pitchFamily="18" charset="0"/>
              <a:cs typeface="Times New Roman" pitchFamily="18" charset="0"/>
            </a:endParaRPr>
          </a:p>
        </p:txBody>
      </p:sp>
    </p:spTree>
  </p:cSld>
  <p:clrMapOvr>
    <a:masterClrMapping/>
  </p:clrMapOvr>
  <p:transition>
    <p:wipe/>
    <p:sndAc>
      <p:endSnd/>
    </p:sndAc>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a:xfrm>
            <a:off x="533400" y="533400"/>
            <a:ext cx="8458200" cy="1828800"/>
          </a:xfrm>
          <a:prstGeom prst="rect">
            <a:avLst/>
          </a:prstGeom>
        </p:spPr>
        <p:txBody>
          <a:bodyPr/>
          <a:lstStyle/>
          <a:p>
            <a:r>
              <a:rPr lang="en-US" dirty="0">
                <a:solidFill>
                  <a:srgbClr val="993366"/>
                </a:solidFill>
                <a:latin typeface="Times New Roman" pitchFamily="18" charset="0"/>
                <a:cs typeface="Times New Roman" pitchFamily="18" charset="0"/>
              </a:rPr>
              <a:t>Industrial application</a:t>
            </a:r>
            <a:r>
              <a:rPr lang="en-US" sz="4000" dirty="0">
                <a:solidFill>
                  <a:srgbClr val="993366"/>
                </a:solidFill>
                <a:latin typeface="Times New Roman" pitchFamily="18" charset="0"/>
                <a:cs typeface="Times New Roman" pitchFamily="18" charset="0"/>
              </a:rPr>
              <a:t> </a:t>
            </a:r>
            <a:r>
              <a:rPr lang="en-US" sz="4000" dirty="0">
                <a:solidFill>
                  <a:srgbClr val="FF3300"/>
                </a:solidFill>
                <a:latin typeface="Times New Roman" pitchFamily="18" charset="0"/>
                <a:cs typeface="Times New Roman" pitchFamily="18" charset="0"/>
              </a:rPr>
              <a:t>means</a:t>
            </a:r>
          </a:p>
        </p:txBody>
      </p:sp>
      <p:sp>
        <p:nvSpPr>
          <p:cNvPr id="19459" name="Rectangle 3" descr="Rectangle: Click to edit Master text styles&#10;Second level&#10;Third level&#10;Fourth level&#10;Fifth level"/>
          <p:cNvSpPr>
            <a:spLocks noGrp="1" noChangeArrowheads="1"/>
          </p:cNvSpPr>
          <p:nvPr>
            <p:ph type="body" idx="4294967295"/>
          </p:nvPr>
        </p:nvSpPr>
        <p:spPr>
          <a:xfrm>
            <a:off x="762000" y="2362200"/>
            <a:ext cx="7772400" cy="3276600"/>
          </a:xfrm>
          <a:prstGeom prst="rect">
            <a:avLst/>
          </a:prstGeom>
        </p:spPr>
        <p:txBody>
          <a:bodyPr/>
          <a:lstStyle/>
          <a:p>
            <a:pPr algn="just">
              <a:lnSpc>
                <a:spcPct val="80000"/>
              </a:lnSpc>
              <a:buFont typeface="Wingdings" pitchFamily="2" charset="2"/>
              <a:buNone/>
            </a:pPr>
            <a:r>
              <a:rPr lang="en-US" sz="3600" dirty="0">
                <a:latin typeface="Times New Roman" pitchFamily="18" charset="0"/>
                <a:cs typeface="Times New Roman" pitchFamily="18" charset="0"/>
              </a:rPr>
              <a:t>Invention is capable of being made or used in any kind of industry</a:t>
            </a:r>
          </a:p>
        </p:txBody>
      </p:sp>
    </p:spTree>
  </p:cSld>
  <p:clrMapOvr>
    <a:masterClrMapping/>
  </p:clrMapOvr>
  <p:transition>
    <p:wipe/>
    <p:sndAc>
      <p:endSnd/>
    </p:sndAc>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838200" y="457200"/>
            <a:ext cx="7848600" cy="609600"/>
          </a:xfrm>
          <a:prstGeom prst="rect">
            <a:avLst/>
          </a:prstGeom>
        </p:spPr>
        <p:txBody>
          <a:bodyPr/>
          <a:lstStyle/>
          <a:p>
            <a:r>
              <a:rPr lang="en-US" sz="4000" dirty="0">
                <a:solidFill>
                  <a:srgbClr val="993366"/>
                </a:solidFill>
                <a:latin typeface="Times New Roman" pitchFamily="18" charset="0"/>
                <a:cs typeface="Times New Roman" pitchFamily="18" charset="0"/>
              </a:rPr>
              <a:t>Section 3 exclusions</a:t>
            </a:r>
            <a:endParaRPr lang="en-US" sz="4000" i="1" dirty="0">
              <a:solidFill>
                <a:srgbClr val="993366"/>
              </a:solidFill>
              <a:latin typeface="Times New Roman" pitchFamily="18" charset="0"/>
              <a:cs typeface="Times New Roman" pitchFamily="18" charset="0"/>
            </a:endParaRPr>
          </a:p>
        </p:txBody>
      </p:sp>
      <p:sp>
        <p:nvSpPr>
          <p:cNvPr id="109571" name="Rectangle 3" descr="Rectangle: Click to edit Master text styles&#10;Second level&#10;Third level&#10;Fourth level&#10;Fifth level"/>
          <p:cNvSpPr>
            <a:spLocks noGrp="1" noChangeArrowheads="1"/>
          </p:cNvSpPr>
          <p:nvPr>
            <p:ph type="body" idx="4294967295"/>
          </p:nvPr>
        </p:nvSpPr>
        <p:spPr>
          <a:xfrm>
            <a:off x="990600" y="1143000"/>
            <a:ext cx="8153400" cy="5715000"/>
          </a:xfrm>
          <a:prstGeom prst="rect">
            <a:avLst/>
          </a:prstGeom>
        </p:spPr>
        <p:txBody>
          <a:bodyPr/>
          <a:lstStyle/>
          <a:p>
            <a:pPr marL="609600" indent="-609600">
              <a:lnSpc>
                <a:spcPct val="80000"/>
              </a:lnSpc>
              <a:spcBef>
                <a:spcPct val="25000"/>
              </a:spcBef>
              <a:buClr>
                <a:schemeClr val="bg2"/>
              </a:buClr>
              <a:buFontTx/>
              <a:buNone/>
              <a:defRPr/>
            </a:pPr>
            <a:r>
              <a:rPr lang="en-US" sz="4000" dirty="0">
                <a:solidFill>
                  <a:srgbClr val="FF3300"/>
                </a:solidFill>
                <a:latin typeface="Times New Roman" pitchFamily="18" charset="0"/>
                <a:cs typeface="Times New Roman" pitchFamily="18" charset="0"/>
              </a:rPr>
              <a:t>Section 3(a)</a:t>
            </a:r>
            <a:r>
              <a:rPr lang="en-US" dirty="0">
                <a:solidFill>
                  <a:srgbClr val="CC3300"/>
                </a:solidFill>
                <a:latin typeface="Times New Roman" pitchFamily="18" charset="0"/>
                <a:cs typeface="Times New Roman" pitchFamily="18" charset="0"/>
              </a:rPr>
              <a:t>  </a:t>
            </a:r>
            <a:r>
              <a:rPr lang="en-US" sz="2400" dirty="0">
                <a:solidFill>
                  <a:srgbClr val="A50021"/>
                </a:solidFill>
                <a:latin typeface="Times New Roman" pitchFamily="18" charset="0"/>
                <a:cs typeface="Times New Roman" pitchFamily="18" charset="0"/>
              </a:rPr>
              <a:t>     	</a:t>
            </a:r>
            <a:endParaRPr lang="en-US" dirty="0">
              <a:latin typeface="Times New Roman" pitchFamily="18" charset="0"/>
              <a:cs typeface="Times New Roman" pitchFamily="18" charset="0"/>
            </a:endParaRPr>
          </a:p>
          <a:p>
            <a:pPr marL="609600" indent="-609600">
              <a:defRPr/>
            </a:pPr>
            <a:r>
              <a:rPr lang="en-US" dirty="0">
                <a:latin typeface="Times New Roman" pitchFamily="18" charset="0"/>
                <a:cs typeface="Times New Roman" pitchFamily="18" charset="0"/>
              </a:rPr>
              <a:t>Frivolous inventions</a:t>
            </a:r>
          </a:p>
          <a:p>
            <a:pPr marL="609600" indent="-609600">
              <a:defRPr/>
            </a:pPr>
            <a:r>
              <a:rPr lang="en-US" dirty="0">
                <a:latin typeface="Times New Roman" pitchFamily="18" charset="0"/>
                <a:cs typeface="Times New Roman" pitchFamily="18" charset="0"/>
              </a:rPr>
              <a:t>Inventions contrary to well established natural laws</a:t>
            </a:r>
            <a:endParaRPr lang="en-US" sz="2800" dirty="0">
              <a:latin typeface="Times New Roman" pitchFamily="18" charset="0"/>
              <a:cs typeface="Times New Roman" pitchFamily="18" charset="0"/>
            </a:endParaRPr>
          </a:p>
          <a:p>
            <a:pPr marL="609600" indent="-609600" algn="just">
              <a:lnSpc>
                <a:spcPct val="110000"/>
              </a:lnSpc>
              <a:spcBef>
                <a:spcPct val="25000"/>
              </a:spcBef>
              <a:buClr>
                <a:schemeClr val="bg2"/>
              </a:buClr>
              <a:buFontTx/>
              <a:buNone/>
              <a:defRPr/>
            </a:pPr>
            <a:r>
              <a:rPr lang="en-US" sz="2400" dirty="0">
                <a:solidFill>
                  <a:srgbClr val="A50021"/>
                </a:solidFill>
                <a:latin typeface="Times New Roman" pitchFamily="18" charset="0"/>
                <a:cs typeface="Times New Roman" pitchFamily="18" charset="0"/>
              </a:rPr>
              <a:t> </a:t>
            </a:r>
            <a:r>
              <a:rPr lang="en-US" sz="4400" dirty="0">
                <a:solidFill>
                  <a:srgbClr val="A50021"/>
                </a:solidFill>
                <a:latin typeface="Times New Roman" pitchFamily="18" charset="0"/>
                <a:cs typeface="Times New Roman" pitchFamily="18" charset="0"/>
              </a:rPr>
              <a:t>Examples</a:t>
            </a:r>
          </a:p>
          <a:p>
            <a:pPr marL="609600" indent="-609600">
              <a:buClr>
                <a:srgbClr val="E89A7E"/>
              </a:buClr>
              <a:buFont typeface="Wingdings" pitchFamily="2" charset="2"/>
              <a:buChar char="Ø"/>
              <a:defRPr/>
            </a:pPr>
            <a:r>
              <a:rPr lang="en-US" dirty="0">
                <a:latin typeface="Times New Roman" pitchFamily="18" charset="0"/>
                <a:cs typeface="Times New Roman" pitchFamily="18" charset="0"/>
              </a:rPr>
              <a:t>Machine that gives more than 100% performance</a:t>
            </a:r>
          </a:p>
          <a:p>
            <a:pPr marL="609600" indent="-609600">
              <a:buClr>
                <a:srgbClr val="E89A7E"/>
              </a:buClr>
              <a:buFont typeface="Wingdings" pitchFamily="2" charset="2"/>
              <a:buChar char="Ø"/>
              <a:defRPr/>
            </a:pPr>
            <a:r>
              <a:rPr lang="en-US" dirty="0">
                <a:latin typeface="Times New Roman" pitchFamily="18" charset="0"/>
                <a:cs typeface="Times New Roman" pitchFamily="18" charset="0"/>
              </a:rPr>
              <a:t>Perpetual machine</a:t>
            </a:r>
          </a:p>
          <a:p>
            <a:pPr marL="609600" indent="-609600">
              <a:buClr>
                <a:srgbClr val="E89A7E"/>
              </a:buClr>
              <a:buFont typeface="Wingdings" pitchFamily="2" charset="2"/>
              <a:buNone/>
              <a:defRPr/>
            </a:pPr>
            <a:endParaRPr lang="en-US" dirty="0">
              <a:solidFill>
                <a:schemeClr val="hlink"/>
              </a:solidFill>
            </a:endParaRPr>
          </a:p>
        </p:txBody>
      </p:sp>
    </p:spTree>
  </p:cSld>
  <p:clrMapOvr>
    <a:masterClrMapping/>
  </p:clrMapOvr>
  <p:transition>
    <p:wipe/>
    <p:sndAc>
      <p:end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a:xfrm>
            <a:off x="754063" y="411163"/>
            <a:ext cx="7340600" cy="685800"/>
          </a:xfrm>
          <a:prstGeom prst="rect">
            <a:avLst/>
          </a:prstGeom>
        </p:spPr>
        <p:txBody>
          <a:bodyPr/>
          <a:lstStyle/>
          <a:p>
            <a:r>
              <a:rPr lang="en-US" sz="4000" dirty="0">
                <a:solidFill>
                  <a:srgbClr val="993366"/>
                </a:solidFill>
                <a:latin typeface="Times New Roman" pitchFamily="18" charset="0"/>
                <a:cs typeface="Times New Roman" pitchFamily="18" charset="0"/>
              </a:rPr>
              <a:t>Section 3 exclusions</a:t>
            </a:r>
          </a:p>
        </p:txBody>
      </p:sp>
      <p:sp>
        <p:nvSpPr>
          <p:cNvPr id="145411" name="Rectangle 3" descr="Rectangle: Click to edit Master text styles&#10;Second level&#10;Third level&#10;Fourth level&#10;Fifth level"/>
          <p:cNvSpPr>
            <a:spLocks noGrp="1" noChangeArrowheads="1"/>
          </p:cNvSpPr>
          <p:nvPr>
            <p:ph type="body" idx="4294967295"/>
          </p:nvPr>
        </p:nvSpPr>
        <p:spPr>
          <a:xfrm>
            <a:off x="609600" y="1371600"/>
            <a:ext cx="8305800" cy="5715000"/>
          </a:xfrm>
          <a:prstGeom prst="rect">
            <a:avLst/>
          </a:prstGeom>
        </p:spPr>
        <p:txBody>
          <a:bodyPr/>
          <a:lstStyle/>
          <a:p>
            <a:pPr>
              <a:lnSpc>
                <a:spcPct val="80000"/>
              </a:lnSpc>
              <a:spcBef>
                <a:spcPct val="0"/>
              </a:spcBef>
              <a:buFontTx/>
              <a:buNone/>
              <a:defRPr/>
            </a:pPr>
            <a:r>
              <a:rPr lang="en-US" sz="3600" dirty="0">
                <a:latin typeface="Times New Roman" pitchFamily="18" charset="0"/>
                <a:cs typeface="Times New Roman" pitchFamily="18" charset="0"/>
              </a:rPr>
              <a:t>Section 3(b)</a:t>
            </a:r>
            <a:r>
              <a:rPr lang="en-US" sz="4800" dirty="0">
                <a:latin typeface="Times New Roman" pitchFamily="18" charset="0"/>
                <a:cs typeface="Times New Roman" pitchFamily="18" charset="0"/>
              </a:rPr>
              <a:t> </a:t>
            </a:r>
          </a:p>
          <a:p>
            <a:pPr>
              <a:lnSpc>
                <a:spcPct val="80000"/>
              </a:lnSpc>
              <a:spcBef>
                <a:spcPct val="0"/>
              </a:spcBef>
              <a:buFontTx/>
              <a:buNone/>
              <a:defRPr/>
            </a:pPr>
            <a:r>
              <a:rPr lang="en-US" sz="1400" dirty="0">
                <a:latin typeface="Times New Roman" pitchFamily="18" charset="0"/>
                <a:cs typeface="Times New Roman" pitchFamily="18" charset="0"/>
              </a:rPr>
              <a:t>	</a:t>
            </a:r>
          </a:p>
          <a:p>
            <a:pPr>
              <a:lnSpc>
                <a:spcPct val="80000"/>
              </a:lnSpc>
              <a:spcBef>
                <a:spcPct val="0"/>
              </a:spcBef>
              <a:buFontTx/>
              <a:buNone/>
              <a:defRPr/>
            </a:pPr>
            <a:r>
              <a:rPr lang="en-US" sz="2800" dirty="0">
                <a:latin typeface="Times New Roman" pitchFamily="18" charset="0"/>
                <a:cs typeface="Times New Roman" pitchFamily="18" charset="0"/>
              </a:rPr>
              <a:t>	Commercial exploitation  or primary use of inventions, which is</a:t>
            </a:r>
          </a:p>
          <a:p>
            <a:pPr marL="457200" lvl="1" indent="0">
              <a:lnSpc>
                <a:spcPct val="80000"/>
              </a:lnSpc>
              <a:buClr>
                <a:srgbClr val="E89A7E"/>
              </a:buClr>
              <a:buSzPct val="115000"/>
              <a:buFont typeface="Wingdings" pitchFamily="2" charset="2"/>
              <a:buChar char="Ø"/>
              <a:defRPr/>
            </a:pPr>
            <a:r>
              <a:rPr lang="en-US" sz="3200" dirty="0">
                <a:latin typeface="Times New Roman" pitchFamily="18" charset="0"/>
                <a:cs typeface="Times New Roman" pitchFamily="18" charset="0"/>
              </a:rPr>
              <a:t>Contrary to </a:t>
            </a:r>
          </a:p>
          <a:p>
            <a:pPr marL="1774825" lvl="3">
              <a:lnSpc>
                <a:spcPct val="80000"/>
              </a:lnSpc>
              <a:buClr>
                <a:srgbClr val="E89A7E"/>
              </a:buClr>
              <a:buSzPct val="115000"/>
              <a:buFont typeface="Wingdings" pitchFamily="2" charset="2"/>
              <a:buChar char="Ø"/>
              <a:defRPr/>
            </a:pPr>
            <a:r>
              <a:rPr lang="en-US" sz="2400" dirty="0">
                <a:latin typeface="Times New Roman" pitchFamily="18" charset="0"/>
                <a:cs typeface="Times New Roman" pitchFamily="18" charset="0"/>
              </a:rPr>
              <a:t>public order or </a:t>
            </a:r>
          </a:p>
          <a:p>
            <a:pPr marL="1774825" lvl="3">
              <a:lnSpc>
                <a:spcPct val="80000"/>
              </a:lnSpc>
              <a:buClr>
                <a:srgbClr val="E89A7E"/>
              </a:buClr>
              <a:buSzPct val="115000"/>
              <a:buFont typeface="Wingdings" pitchFamily="2" charset="2"/>
              <a:buChar char="Ø"/>
              <a:defRPr/>
            </a:pPr>
            <a:r>
              <a:rPr lang="en-US" sz="2400" dirty="0">
                <a:latin typeface="Times New Roman" pitchFamily="18" charset="0"/>
                <a:cs typeface="Times New Roman" pitchFamily="18" charset="0"/>
              </a:rPr>
              <a:t>Morality</a:t>
            </a:r>
          </a:p>
          <a:p>
            <a:pPr marL="968375" lvl="2" indent="-396875">
              <a:lnSpc>
                <a:spcPct val="80000"/>
              </a:lnSpc>
              <a:buClr>
                <a:srgbClr val="E89A7E"/>
              </a:buClr>
              <a:buSzPct val="115000"/>
              <a:buFont typeface="Wingdings" pitchFamily="2" charset="2"/>
              <a:buNone/>
              <a:defRPr/>
            </a:pPr>
            <a:r>
              <a:rPr lang="en-US" sz="3600" dirty="0">
                <a:latin typeface="Times New Roman" pitchFamily="18" charset="0"/>
                <a:cs typeface="Times New Roman" pitchFamily="18" charset="0"/>
              </a:rPr>
              <a:t>Examples</a:t>
            </a:r>
            <a:endParaRPr lang="en-US" sz="2000" dirty="0">
              <a:latin typeface="Times New Roman" pitchFamily="18" charset="0"/>
              <a:cs typeface="Times New Roman" pitchFamily="18" charset="0"/>
            </a:endParaRPr>
          </a:p>
          <a:p>
            <a:pPr marL="1774825" lvl="3" algn="just">
              <a:lnSpc>
                <a:spcPct val="110000"/>
              </a:lnSpc>
              <a:spcBef>
                <a:spcPct val="25000"/>
              </a:spcBef>
              <a:buClr>
                <a:schemeClr val="bg2"/>
              </a:buClr>
              <a:defRPr/>
            </a:pPr>
            <a:r>
              <a:rPr lang="en-US" sz="2400" dirty="0">
                <a:latin typeface="Times New Roman" pitchFamily="18" charset="0"/>
                <a:cs typeface="Times New Roman" pitchFamily="18" charset="0"/>
              </a:rPr>
              <a:t>Gambling machine, </a:t>
            </a:r>
          </a:p>
          <a:p>
            <a:pPr marL="1774825" lvl="3">
              <a:lnSpc>
                <a:spcPct val="80000"/>
              </a:lnSpc>
              <a:spcBef>
                <a:spcPct val="25000"/>
              </a:spcBef>
              <a:buClr>
                <a:schemeClr val="bg2"/>
              </a:buClr>
              <a:defRPr/>
            </a:pPr>
            <a:r>
              <a:rPr lang="en-US" sz="2400" dirty="0">
                <a:latin typeface="Times New Roman" pitchFamily="18" charset="0"/>
                <a:cs typeface="Times New Roman" pitchFamily="18" charset="0"/>
              </a:rPr>
              <a:t>Device for house-breaking ,</a:t>
            </a:r>
          </a:p>
        </p:txBody>
      </p:sp>
    </p:spTree>
  </p:cSld>
  <p:clrMapOvr>
    <a:masterClrMapping/>
  </p:clrMapOvr>
  <p:transition>
    <p:wipe/>
    <p:sndAc>
      <p:end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754063" y="411163"/>
            <a:ext cx="7340600" cy="685800"/>
          </a:xfrm>
          <a:prstGeom prst="rect">
            <a:avLst/>
          </a:prstGeom>
        </p:spPr>
        <p:txBody>
          <a:bodyPr/>
          <a:lstStyle/>
          <a:p>
            <a:r>
              <a:rPr lang="en-US" sz="4000" dirty="0">
                <a:solidFill>
                  <a:srgbClr val="993366"/>
                </a:solidFill>
                <a:latin typeface="Times New Roman" pitchFamily="18" charset="0"/>
                <a:cs typeface="Times New Roman" pitchFamily="18" charset="0"/>
              </a:rPr>
              <a:t>Section 3 exclusions</a:t>
            </a:r>
          </a:p>
        </p:txBody>
      </p:sp>
      <p:sp>
        <p:nvSpPr>
          <p:cNvPr id="147459" name="Rectangle 3" descr="Rectangle: Click to edit Master text styles&#10;Second level&#10;Third level&#10;Fourth level&#10;Fifth level"/>
          <p:cNvSpPr>
            <a:spLocks noGrp="1" noChangeArrowheads="1"/>
          </p:cNvSpPr>
          <p:nvPr>
            <p:ph type="body" idx="4294967295"/>
          </p:nvPr>
        </p:nvSpPr>
        <p:spPr>
          <a:xfrm>
            <a:off x="609600" y="1133168"/>
            <a:ext cx="8305800" cy="5715000"/>
          </a:xfrm>
          <a:prstGeom prst="rect">
            <a:avLst/>
          </a:prstGeom>
        </p:spPr>
        <p:txBody>
          <a:bodyPr/>
          <a:lstStyle/>
          <a:p>
            <a:pPr marL="0" indent="0">
              <a:lnSpc>
                <a:spcPct val="80000"/>
              </a:lnSpc>
              <a:spcBef>
                <a:spcPct val="0"/>
              </a:spcBef>
              <a:buFontTx/>
              <a:buNone/>
              <a:defRPr/>
            </a:pPr>
            <a:r>
              <a:rPr lang="en-US" dirty="0">
                <a:solidFill>
                  <a:srgbClr val="FF3300"/>
                </a:solidFill>
                <a:effectLst>
                  <a:outerShdw blurRad="38100" dist="38100" dir="2700000" algn="tl">
                    <a:srgbClr val="C0C0C0"/>
                  </a:outerShdw>
                </a:effectLst>
                <a:latin typeface="Times New Roman" pitchFamily="18" charset="0"/>
                <a:cs typeface="Times New Roman" pitchFamily="18" charset="0"/>
              </a:rPr>
              <a:t>Section 3(b)</a:t>
            </a:r>
            <a:r>
              <a:rPr lang="en-US" sz="2400" dirty="0">
                <a:solidFill>
                  <a:srgbClr val="000066"/>
                </a:solidFill>
                <a:latin typeface="Times New Roman" pitchFamily="18" charset="0"/>
                <a:cs typeface="Times New Roman" pitchFamily="18" charset="0"/>
              </a:rPr>
              <a:t> </a:t>
            </a:r>
          </a:p>
          <a:p>
            <a:pPr marL="0" indent="0">
              <a:lnSpc>
                <a:spcPct val="80000"/>
              </a:lnSpc>
              <a:spcBef>
                <a:spcPct val="0"/>
              </a:spcBef>
              <a:buFontTx/>
              <a:buNone/>
              <a:defRPr/>
            </a:pPr>
            <a:r>
              <a:rPr lang="en-US" sz="900" dirty="0">
                <a:latin typeface="Times New Roman" pitchFamily="18" charset="0"/>
                <a:cs typeface="Times New Roman" pitchFamily="18" charset="0"/>
              </a:rPr>
              <a:t>	</a:t>
            </a:r>
          </a:p>
          <a:p>
            <a:pPr marL="0" indent="0">
              <a:lnSpc>
                <a:spcPct val="80000"/>
              </a:lnSpc>
              <a:spcBef>
                <a:spcPct val="0"/>
              </a:spcBef>
              <a:buFontTx/>
              <a:buNone/>
              <a:defRPr/>
            </a:pPr>
            <a:r>
              <a:rPr lang="en-US" dirty="0">
                <a:latin typeface="Times New Roman" pitchFamily="18" charset="0"/>
                <a:cs typeface="Times New Roman" pitchFamily="18" charset="0"/>
              </a:rPr>
              <a:t>Commercial exploitation  or primary use of inventions , which</a:t>
            </a:r>
            <a:r>
              <a:rPr lang="en-US" sz="3600" dirty="0">
                <a:latin typeface="Times New Roman" pitchFamily="18" charset="0"/>
                <a:cs typeface="Times New Roman" pitchFamily="18" charset="0"/>
              </a:rPr>
              <a:t> </a:t>
            </a:r>
          </a:p>
          <a:p>
            <a:pPr marL="403225" lvl="1" indent="-6350">
              <a:lnSpc>
                <a:spcPct val="80000"/>
              </a:lnSpc>
              <a:buClr>
                <a:srgbClr val="E89A7E"/>
              </a:buClr>
              <a:buSzPct val="115000"/>
              <a:buFont typeface="Wingdings" pitchFamily="2" charset="2"/>
              <a:buChar char="Ø"/>
              <a:defRPr/>
            </a:pPr>
            <a:r>
              <a:rPr lang="en-US" sz="3600" dirty="0">
                <a:latin typeface="Times New Roman" pitchFamily="18" charset="0"/>
                <a:cs typeface="Times New Roman" pitchFamily="18" charset="0"/>
              </a:rPr>
              <a:t>Causes serious Prejudice to</a:t>
            </a:r>
            <a:r>
              <a:rPr lang="en-US" sz="3400" dirty="0">
                <a:latin typeface="Times New Roman" pitchFamily="18" charset="0"/>
                <a:cs typeface="Times New Roman" pitchFamily="18" charset="0"/>
              </a:rPr>
              <a:t> </a:t>
            </a:r>
          </a:p>
          <a:p>
            <a:pPr marL="1951038" lvl="3" indent="-685800">
              <a:lnSpc>
                <a:spcPct val="80000"/>
              </a:lnSpc>
              <a:buClr>
                <a:srgbClr val="E89A7E"/>
              </a:buClr>
              <a:buSzPct val="115000"/>
              <a:buFont typeface="Wingdings" pitchFamily="2" charset="2"/>
              <a:buChar char="Ø"/>
              <a:defRPr/>
            </a:pPr>
            <a:r>
              <a:rPr lang="en-US" sz="2800" dirty="0">
                <a:latin typeface="Times New Roman" pitchFamily="18" charset="0"/>
                <a:cs typeface="Times New Roman" pitchFamily="18" charset="0"/>
              </a:rPr>
              <a:t>health or</a:t>
            </a:r>
          </a:p>
          <a:p>
            <a:pPr marL="1951038" lvl="3" indent="-685800">
              <a:lnSpc>
                <a:spcPct val="80000"/>
              </a:lnSpc>
              <a:buClr>
                <a:srgbClr val="E89A7E"/>
              </a:buClr>
              <a:buSzPct val="115000"/>
              <a:buFont typeface="Wingdings" pitchFamily="2" charset="2"/>
              <a:buChar char="Ø"/>
              <a:defRPr/>
            </a:pPr>
            <a:r>
              <a:rPr lang="en-US" sz="2800" dirty="0">
                <a:latin typeface="Times New Roman" pitchFamily="18" charset="0"/>
                <a:cs typeface="Times New Roman" pitchFamily="18" charset="0"/>
              </a:rPr>
              <a:t>human, animal, plant life or  </a:t>
            </a:r>
          </a:p>
          <a:p>
            <a:pPr marL="1951038" lvl="3" indent="-685800">
              <a:lnSpc>
                <a:spcPct val="80000"/>
              </a:lnSpc>
              <a:buClr>
                <a:srgbClr val="E89A7E"/>
              </a:buClr>
              <a:buSzPct val="115000"/>
              <a:buFont typeface="Wingdings" pitchFamily="2" charset="2"/>
              <a:buChar char="Ø"/>
              <a:defRPr/>
            </a:pPr>
            <a:r>
              <a:rPr lang="en-US" sz="2800" dirty="0">
                <a:latin typeface="Times New Roman" pitchFamily="18" charset="0"/>
                <a:cs typeface="Times New Roman" pitchFamily="18" charset="0"/>
              </a:rPr>
              <a:t>to the environment</a:t>
            </a:r>
          </a:p>
          <a:p>
            <a:pPr marL="860425" lvl="2" indent="-280988">
              <a:lnSpc>
                <a:spcPct val="80000"/>
              </a:lnSpc>
              <a:buClr>
                <a:srgbClr val="E89A7E"/>
              </a:buClr>
              <a:buSzPct val="115000"/>
              <a:buFont typeface="Wingdings" pitchFamily="2" charset="2"/>
              <a:buNone/>
              <a:defRPr/>
            </a:pPr>
            <a:r>
              <a:rPr lang="en-US" sz="3600" dirty="0">
                <a:solidFill>
                  <a:srgbClr val="A50021"/>
                </a:solidFill>
                <a:effectLst>
                  <a:outerShdw blurRad="38100" dist="38100" dir="2700000" algn="tl">
                    <a:srgbClr val="C0C0C0"/>
                  </a:outerShdw>
                </a:effectLst>
                <a:latin typeface="Times New Roman" pitchFamily="18" charset="0"/>
                <a:cs typeface="Times New Roman" pitchFamily="18" charset="0"/>
              </a:rPr>
              <a:t>Examples</a:t>
            </a:r>
            <a:endParaRPr lang="en-US" sz="3600" dirty="0">
              <a:latin typeface="Times New Roman" pitchFamily="18" charset="0"/>
              <a:cs typeface="Times New Roman" pitchFamily="18" charset="0"/>
            </a:endParaRPr>
          </a:p>
          <a:p>
            <a:pPr marL="1951038" lvl="3" indent="-685800">
              <a:lnSpc>
                <a:spcPct val="80000"/>
              </a:lnSpc>
              <a:spcBef>
                <a:spcPct val="25000"/>
              </a:spcBef>
              <a:buClr>
                <a:srgbClr val="993366"/>
              </a:buClr>
              <a:buSzPct val="110000"/>
              <a:buFont typeface="Wingdings" pitchFamily="2" charset="2"/>
              <a:buChar char="§"/>
              <a:defRPr/>
            </a:pPr>
            <a:r>
              <a:rPr lang="en-US" sz="2400" dirty="0">
                <a:latin typeface="Times New Roman" pitchFamily="18" charset="0"/>
                <a:cs typeface="Times New Roman" pitchFamily="18" charset="0"/>
              </a:rPr>
              <a:t>Biological warfare material or device, 	         weapons of mass destruction </a:t>
            </a:r>
          </a:p>
          <a:p>
            <a:pPr marL="1951038" lvl="3" indent="-685800">
              <a:lnSpc>
                <a:spcPct val="80000"/>
              </a:lnSpc>
              <a:spcBef>
                <a:spcPct val="25000"/>
              </a:spcBef>
              <a:buClr>
                <a:srgbClr val="993366"/>
              </a:buClr>
              <a:buSzPct val="110000"/>
              <a:buFont typeface="Wingdings" pitchFamily="2" charset="2"/>
              <a:buChar char="§"/>
              <a:defRPr/>
            </a:pPr>
            <a:r>
              <a:rPr lang="en-US" sz="2400" dirty="0">
                <a:latin typeface="Times New Roman" pitchFamily="18" charset="0"/>
                <a:cs typeface="Times New Roman" pitchFamily="18" charset="0"/>
              </a:rPr>
              <a:t>Terminator gene technology, </a:t>
            </a:r>
          </a:p>
          <a:p>
            <a:pPr marL="1951038" lvl="3" indent="-685800">
              <a:lnSpc>
                <a:spcPct val="80000"/>
              </a:lnSpc>
              <a:spcBef>
                <a:spcPct val="25000"/>
              </a:spcBef>
              <a:buClr>
                <a:srgbClr val="993366"/>
              </a:buClr>
              <a:buSzPct val="110000"/>
              <a:buFont typeface="Wingdings" pitchFamily="2" charset="2"/>
              <a:buChar char="§"/>
              <a:defRPr/>
            </a:pPr>
            <a:r>
              <a:rPr lang="en-US" sz="2400" dirty="0">
                <a:latin typeface="Times New Roman" pitchFamily="18" charset="0"/>
                <a:cs typeface="Times New Roman" pitchFamily="18" charset="0"/>
              </a:rPr>
              <a:t>Embryonic stem cell	</a:t>
            </a:r>
          </a:p>
        </p:txBody>
      </p:sp>
    </p:spTree>
  </p:cSld>
  <p:clrMapOvr>
    <a:masterClrMapping/>
  </p:clrMapOvr>
  <p:transition>
    <p:wipe/>
    <p:sndAc>
      <p:end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idx="4294967295"/>
          </p:nvPr>
        </p:nvSpPr>
        <p:spPr>
          <a:xfrm>
            <a:off x="304800" y="36871"/>
            <a:ext cx="8839200" cy="838200"/>
          </a:xfrm>
          <a:prstGeom prst="rect">
            <a:avLst/>
          </a:prstGeom>
        </p:spPr>
        <p:txBody>
          <a:bodyPr/>
          <a:lstStyle/>
          <a:p>
            <a:pPr>
              <a:lnSpc>
                <a:spcPct val="70000"/>
              </a:lnSpc>
            </a:pPr>
            <a:r>
              <a:rPr lang="en-US" sz="4000" dirty="0">
                <a:latin typeface="Times New Roman" pitchFamily="18" charset="0"/>
                <a:cs typeface="Times New Roman" pitchFamily="18" charset="0"/>
              </a:rPr>
              <a:t>Checks and Balances</a:t>
            </a:r>
            <a:r>
              <a:rPr lang="en-US" sz="5400" dirty="0">
                <a:latin typeface="Times New Roman" pitchFamily="18" charset="0"/>
                <a:cs typeface="Times New Roman" pitchFamily="18" charset="0"/>
              </a:rPr>
              <a:t> </a:t>
            </a:r>
          </a:p>
        </p:txBody>
      </p:sp>
      <p:sp>
        <p:nvSpPr>
          <p:cNvPr id="77827" name="Rectangle 3" descr="Rectangle: Click to edit Master text styles&#10;Second level&#10;Third level&#10;Fourth level&#10;Fifth level"/>
          <p:cNvSpPr>
            <a:spLocks noGrp="1" noChangeArrowheads="1"/>
          </p:cNvSpPr>
          <p:nvPr>
            <p:ph type="body" idx="4294967295"/>
          </p:nvPr>
        </p:nvSpPr>
        <p:spPr>
          <a:xfrm>
            <a:off x="457200" y="1143000"/>
            <a:ext cx="8305800" cy="4648200"/>
          </a:xfrm>
          <a:prstGeom prst="rect">
            <a:avLst/>
          </a:prstGeom>
        </p:spPr>
        <p:txBody>
          <a:bodyPr/>
          <a:lstStyle/>
          <a:p>
            <a:pPr>
              <a:lnSpc>
                <a:spcPct val="90000"/>
              </a:lnSpc>
              <a:buFont typeface="Wingdings" pitchFamily="2" charset="2"/>
              <a:buNone/>
              <a:defRPr/>
            </a:pPr>
            <a:r>
              <a:rPr lang="en-US" sz="4400" dirty="0">
                <a:solidFill>
                  <a:srgbClr val="FF3300"/>
                </a:solidFill>
                <a:latin typeface="Times New Roman" pitchFamily="18" charset="0"/>
                <a:cs typeface="Times New Roman" pitchFamily="18" charset="0"/>
              </a:rPr>
              <a:t>Section 3(b)	</a:t>
            </a:r>
          </a:p>
          <a:p>
            <a:pPr>
              <a:lnSpc>
                <a:spcPct val="90000"/>
              </a:lnSpc>
              <a:buFont typeface="Wingdings" pitchFamily="2" charset="2"/>
              <a:buNone/>
              <a:defRPr/>
            </a:pPr>
            <a:r>
              <a:rPr lang="en-US" dirty="0">
                <a:latin typeface="Times New Roman" pitchFamily="18" charset="0"/>
                <a:cs typeface="Times New Roman" pitchFamily="18" charset="0"/>
              </a:rPr>
              <a:t>Excludes patents on</a:t>
            </a:r>
            <a:r>
              <a:rPr lang="en-US" sz="2400" dirty="0">
                <a:latin typeface="Times New Roman" pitchFamily="18" charset="0"/>
                <a:cs typeface="Times New Roman" pitchFamily="18" charset="0"/>
              </a:rPr>
              <a:t> </a:t>
            </a:r>
          </a:p>
          <a:p>
            <a:pPr algn="just">
              <a:lnSpc>
                <a:spcPct val="90000"/>
              </a:lnSpc>
              <a:defRPr/>
            </a:pPr>
            <a:r>
              <a:rPr lang="en-US" dirty="0">
                <a:latin typeface="Times New Roman" pitchFamily="18" charset="0"/>
                <a:cs typeface="Times New Roman" pitchFamily="18" charset="0"/>
              </a:rPr>
              <a:t>GMOs – exploitation of which could be contrary public order or morality or prejudicial to human, animal or plant life or health or to the environment</a:t>
            </a:r>
          </a:p>
          <a:p>
            <a:pPr algn="just">
              <a:lnSpc>
                <a:spcPct val="90000"/>
              </a:lnSpc>
              <a:buFont typeface="Wingdings" pitchFamily="2" charset="2"/>
              <a:buNone/>
              <a:defRPr/>
            </a:pPr>
            <a:r>
              <a:rPr lang="en-US" dirty="0">
                <a:solidFill>
                  <a:srgbClr val="0070C0"/>
                </a:solidFill>
                <a:latin typeface="Times New Roman" pitchFamily="18" charset="0"/>
                <a:cs typeface="Times New Roman" pitchFamily="18" charset="0"/>
              </a:rPr>
              <a:t>Effect:</a:t>
            </a:r>
            <a:r>
              <a:rPr lang="en-US" dirty="0">
                <a:latin typeface="Times New Roman" pitchFamily="18" charset="0"/>
                <a:cs typeface="Times New Roman" pitchFamily="18" charset="0"/>
              </a:rPr>
              <a:t> Only genetically modified micro-organisms (GMOs) which do not fall under section 3 (b) are patentable.</a:t>
            </a:r>
          </a:p>
        </p:txBody>
      </p:sp>
    </p:spTree>
  </p:cSld>
  <p:clrMapOvr>
    <a:masterClrMapping/>
  </p:clrMapOvr>
  <p:transition>
    <p:wipe/>
    <p:sndAc>
      <p:end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xfrm>
            <a:off x="1193800" y="457200"/>
            <a:ext cx="7340600" cy="685800"/>
          </a:xfrm>
          <a:prstGeom prst="rect">
            <a:avLst/>
          </a:prstGeom>
        </p:spPr>
        <p:txBody>
          <a:bodyPr/>
          <a:lstStyle/>
          <a:p>
            <a:r>
              <a:rPr lang="en-US" sz="4000" dirty="0">
                <a:solidFill>
                  <a:srgbClr val="993366"/>
                </a:solidFill>
                <a:latin typeface="Times New Roman" pitchFamily="18" charset="0"/>
                <a:cs typeface="Times New Roman" pitchFamily="18" charset="0"/>
              </a:rPr>
              <a:t>Section 3 exclusions</a:t>
            </a:r>
          </a:p>
        </p:txBody>
      </p:sp>
      <p:sp>
        <p:nvSpPr>
          <p:cNvPr id="111619" name="Rectangle 3" descr="Rectangle: Click to edit Master text styles&#10;Second level&#10;Third level&#10;Fourth level&#10;Fifth level"/>
          <p:cNvSpPr>
            <a:spLocks noGrp="1" noChangeArrowheads="1"/>
          </p:cNvSpPr>
          <p:nvPr>
            <p:ph type="body" idx="4294967295"/>
          </p:nvPr>
        </p:nvSpPr>
        <p:spPr>
          <a:xfrm>
            <a:off x="685800" y="1066800"/>
            <a:ext cx="8229600" cy="5791200"/>
          </a:xfrm>
          <a:prstGeom prst="rect">
            <a:avLst/>
          </a:prstGeom>
        </p:spPr>
        <p:txBody>
          <a:bodyPr/>
          <a:lstStyle/>
          <a:p>
            <a:pPr marL="533400" indent="-479425">
              <a:lnSpc>
                <a:spcPct val="105000"/>
              </a:lnSpc>
              <a:buClr>
                <a:schemeClr val="bg2"/>
              </a:buClr>
              <a:buFont typeface="Wingdings" pitchFamily="2" charset="2"/>
              <a:buNone/>
              <a:defRPr/>
            </a:pPr>
            <a:r>
              <a:rPr lang="en-US" sz="200" dirty="0">
                <a:solidFill>
                  <a:srgbClr val="FF0066"/>
                </a:solidFill>
                <a:latin typeface="Times New Roman" pitchFamily="18" charset="0"/>
                <a:cs typeface="Times New Roman" pitchFamily="18" charset="0"/>
              </a:rPr>
              <a:t>   </a:t>
            </a:r>
            <a:r>
              <a:rPr lang="en-US" sz="3600" dirty="0">
                <a:solidFill>
                  <a:srgbClr val="FF3300"/>
                </a:solidFill>
                <a:latin typeface="Times New Roman" pitchFamily="18" charset="0"/>
                <a:cs typeface="Times New Roman" pitchFamily="18" charset="0"/>
              </a:rPr>
              <a:t>Section 3 ( c )</a:t>
            </a:r>
            <a:r>
              <a:rPr lang="en-US" sz="1400" dirty="0">
                <a:solidFill>
                  <a:srgbClr val="FF0066"/>
                </a:solidFill>
                <a:latin typeface="Times New Roman" pitchFamily="18" charset="0"/>
                <a:cs typeface="Times New Roman" pitchFamily="18" charset="0"/>
              </a:rPr>
              <a:t>	</a:t>
            </a:r>
            <a:endParaRPr lang="en-US" sz="2800" dirty="0">
              <a:solidFill>
                <a:srgbClr val="9900CC"/>
              </a:solidFill>
              <a:latin typeface="Times New Roman" pitchFamily="18" charset="0"/>
              <a:cs typeface="Times New Roman" pitchFamily="18" charset="0"/>
            </a:endParaRPr>
          </a:p>
          <a:p>
            <a:pPr marL="533400" indent="-479425" algn="just">
              <a:lnSpc>
                <a:spcPct val="85000"/>
              </a:lnSpc>
              <a:buClr>
                <a:srgbClr val="050813"/>
              </a:buClr>
              <a:defRPr/>
            </a:pPr>
            <a:r>
              <a:rPr lang="en-US" sz="2400" dirty="0">
                <a:latin typeface="Times New Roman" pitchFamily="18" charset="0"/>
                <a:cs typeface="Times New Roman" pitchFamily="18" charset="0"/>
              </a:rPr>
              <a:t>Mere Discovery of a Scientific Principle or</a:t>
            </a:r>
          </a:p>
          <a:p>
            <a:pPr marL="533400" indent="-479425" algn="just">
              <a:lnSpc>
                <a:spcPct val="85000"/>
              </a:lnSpc>
              <a:buClr>
                <a:srgbClr val="050813"/>
              </a:buClr>
              <a:defRPr/>
            </a:pPr>
            <a:r>
              <a:rPr lang="en-US" sz="2400" dirty="0">
                <a:latin typeface="Times New Roman" pitchFamily="18" charset="0"/>
                <a:cs typeface="Times New Roman" pitchFamily="18" charset="0"/>
              </a:rPr>
              <a:t>formulation of an Abstract Theory or</a:t>
            </a:r>
          </a:p>
          <a:p>
            <a:pPr marL="533400" indent="-479425" algn="just">
              <a:lnSpc>
                <a:spcPct val="85000"/>
              </a:lnSpc>
              <a:buClr>
                <a:srgbClr val="050813"/>
              </a:buClr>
              <a:defRPr/>
            </a:pPr>
            <a:r>
              <a:rPr lang="en-US" sz="2400" dirty="0">
                <a:latin typeface="Times New Roman" pitchFamily="18" charset="0"/>
                <a:cs typeface="Times New Roman" pitchFamily="18" charset="0"/>
              </a:rPr>
              <a:t>discovery of any living thing or </a:t>
            </a:r>
          </a:p>
          <a:p>
            <a:pPr marL="533400" indent="-479425" algn="just">
              <a:lnSpc>
                <a:spcPct val="85000"/>
              </a:lnSpc>
              <a:buClr>
                <a:srgbClr val="050813"/>
              </a:buClr>
              <a:defRPr/>
            </a:pPr>
            <a:r>
              <a:rPr lang="en-US" sz="2400" dirty="0">
                <a:latin typeface="Times New Roman" pitchFamily="18" charset="0"/>
                <a:cs typeface="Times New Roman" pitchFamily="18" charset="0"/>
              </a:rPr>
              <a:t>discovery of non–living substance  occurring in nature</a:t>
            </a:r>
            <a:endParaRPr lang="en-US" sz="800" i="1" dirty="0">
              <a:solidFill>
                <a:srgbClr val="000066"/>
              </a:solidFill>
              <a:latin typeface="Times New Roman" pitchFamily="18" charset="0"/>
              <a:cs typeface="Times New Roman" pitchFamily="18" charset="0"/>
            </a:endParaRPr>
          </a:p>
          <a:p>
            <a:pPr marL="533400" indent="-479425" algn="just">
              <a:lnSpc>
                <a:spcPct val="110000"/>
              </a:lnSpc>
              <a:spcBef>
                <a:spcPct val="25000"/>
              </a:spcBef>
              <a:buClr>
                <a:schemeClr val="bg2"/>
              </a:buClr>
              <a:buFontTx/>
              <a:buNone/>
              <a:defRPr/>
            </a:pPr>
            <a:r>
              <a:rPr lang="en-US" sz="3600" dirty="0">
                <a:solidFill>
                  <a:srgbClr val="A50021"/>
                </a:solidFill>
                <a:latin typeface="Times New Roman" pitchFamily="18" charset="0"/>
                <a:cs typeface="Times New Roman" pitchFamily="18" charset="0"/>
              </a:rPr>
              <a:t>Examples</a:t>
            </a:r>
          </a:p>
          <a:p>
            <a:pPr marL="1104900" lvl="1" indent="-457200">
              <a:lnSpc>
                <a:spcPct val="85000"/>
              </a:lnSpc>
              <a:buClr>
                <a:srgbClr val="993366"/>
              </a:buClr>
              <a:buFont typeface="Wingdings" pitchFamily="2" charset="2"/>
              <a:buBlip>
                <a:blip r:embed="rId2"/>
              </a:buBlip>
              <a:defRPr/>
            </a:pPr>
            <a:r>
              <a:rPr lang="en-US" sz="2400" dirty="0">
                <a:latin typeface="Times New Roman" pitchFamily="18" charset="0"/>
                <a:cs typeface="Times New Roman" pitchFamily="18" charset="0"/>
              </a:rPr>
              <a:t>Newton’s Laws </a:t>
            </a:r>
          </a:p>
          <a:p>
            <a:pPr marL="1104900" lvl="1" indent="-457200">
              <a:lnSpc>
                <a:spcPct val="85000"/>
              </a:lnSpc>
              <a:buClr>
                <a:srgbClr val="993366"/>
              </a:buClr>
              <a:buFont typeface="Wingdings" pitchFamily="2" charset="2"/>
              <a:buBlip>
                <a:blip r:embed="rId2"/>
              </a:buBlip>
              <a:defRPr/>
            </a:pPr>
            <a:r>
              <a:rPr lang="en-US" sz="2400" dirty="0">
                <a:latin typeface="Times New Roman" pitchFamily="18" charset="0"/>
                <a:cs typeface="Times New Roman" pitchFamily="18" charset="0"/>
              </a:rPr>
              <a:t>Superconducting Phenomenon as such </a:t>
            </a:r>
          </a:p>
          <a:p>
            <a:pPr marL="1104900" lvl="1" indent="-457200">
              <a:lnSpc>
                <a:spcPct val="85000"/>
              </a:lnSpc>
              <a:buClr>
                <a:srgbClr val="993366"/>
              </a:buClr>
              <a:buFont typeface="Wingdings" pitchFamily="2" charset="2"/>
              <a:buBlip>
                <a:blip r:embed="rId2"/>
              </a:buBlip>
              <a:defRPr/>
            </a:pPr>
            <a:r>
              <a:rPr lang="en-US" sz="2400" dirty="0">
                <a:latin typeface="Times New Roman" pitchFamily="18" charset="0"/>
                <a:cs typeface="Times New Roman" pitchFamily="18" charset="0"/>
              </a:rPr>
              <a:t>Property of certain material to withstand  mechanical shock</a:t>
            </a:r>
          </a:p>
          <a:p>
            <a:pPr marL="1104900" lvl="1" indent="-457200">
              <a:lnSpc>
                <a:spcPct val="85000"/>
              </a:lnSpc>
              <a:buClr>
                <a:srgbClr val="993366"/>
              </a:buClr>
              <a:buFont typeface="Wingdings" pitchFamily="2" charset="2"/>
              <a:buBlip>
                <a:blip r:embed="rId2"/>
              </a:buBlip>
              <a:defRPr/>
            </a:pPr>
            <a:r>
              <a:rPr lang="en-US" sz="2400" dirty="0">
                <a:latin typeface="Times New Roman" pitchFamily="18" charset="0"/>
                <a:cs typeface="Times New Roman" pitchFamily="18" charset="0"/>
              </a:rPr>
              <a:t>Discovery of micro-organism </a:t>
            </a:r>
          </a:p>
          <a:p>
            <a:pPr marL="1104900" lvl="1" indent="-457200">
              <a:lnSpc>
                <a:spcPct val="85000"/>
              </a:lnSpc>
              <a:buClr>
                <a:srgbClr val="993366"/>
              </a:buClr>
              <a:buFont typeface="Wingdings" pitchFamily="2" charset="2"/>
              <a:buBlip>
                <a:blip r:embed="rId2"/>
              </a:buBlip>
              <a:defRPr/>
            </a:pPr>
            <a:r>
              <a:rPr lang="en-US" sz="2400" dirty="0">
                <a:latin typeface="Times New Roman" pitchFamily="18" charset="0"/>
                <a:cs typeface="Times New Roman" pitchFamily="18" charset="0"/>
              </a:rPr>
              <a:t>Discovery of natural gas or a mineral</a:t>
            </a:r>
          </a:p>
        </p:txBody>
      </p:sp>
    </p:spTree>
  </p:cSld>
  <p:clrMapOvr>
    <a:masterClrMapping/>
  </p:clrMapOvr>
  <p:transition>
    <p:wipe/>
    <p:sndAc>
      <p:end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idx="4294967295"/>
          </p:nvPr>
        </p:nvSpPr>
        <p:spPr>
          <a:xfrm>
            <a:off x="304800" y="-152400"/>
            <a:ext cx="8839200" cy="990600"/>
          </a:xfrm>
          <a:prstGeom prst="rect">
            <a:avLst/>
          </a:prstGeom>
        </p:spPr>
        <p:txBody>
          <a:bodyPr/>
          <a:lstStyle/>
          <a:p>
            <a:pPr>
              <a:lnSpc>
                <a:spcPct val="50000"/>
              </a:lnSpc>
            </a:pPr>
            <a:r>
              <a:rPr lang="en-US" sz="3600" dirty="0">
                <a:latin typeface="Times New Roman" pitchFamily="18" charset="0"/>
                <a:cs typeface="Times New Roman" pitchFamily="18" charset="0"/>
              </a:rPr>
              <a:t>Checks and Balances</a:t>
            </a:r>
            <a:r>
              <a:rPr lang="en-US" sz="8000" dirty="0">
                <a:latin typeface="Times New Roman" pitchFamily="18" charset="0"/>
                <a:cs typeface="Times New Roman" pitchFamily="18" charset="0"/>
              </a:rPr>
              <a:t> </a:t>
            </a:r>
          </a:p>
        </p:txBody>
      </p:sp>
      <p:sp>
        <p:nvSpPr>
          <p:cNvPr id="76803" name="Rectangle 3" descr="Rectangle: Click to edit Master text styles&#10;Second level&#10;Third level&#10;Fourth level&#10;Fifth level"/>
          <p:cNvSpPr>
            <a:spLocks noGrp="1" noChangeArrowheads="1"/>
          </p:cNvSpPr>
          <p:nvPr>
            <p:ph type="body" idx="4294967295"/>
          </p:nvPr>
        </p:nvSpPr>
        <p:spPr>
          <a:xfrm>
            <a:off x="457200" y="990600"/>
            <a:ext cx="8305800" cy="4648200"/>
          </a:xfrm>
          <a:prstGeom prst="rect">
            <a:avLst/>
          </a:prstGeom>
        </p:spPr>
        <p:txBody>
          <a:bodyPr/>
          <a:lstStyle/>
          <a:p>
            <a:pPr marL="0" indent="0">
              <a:buFont typeface="Wingdings" pitchFamily="2" charset="2"/>
              <a:buNone/>
              <a:defRPr/>
            </a:pPr>
            <a:r>
              <a:rPr lang="en-US" sz="3600" dirty="0">
                <a:solidFill>
                  <a:srgbClr val="FF3300"/>
                </a:solidFill>
                <a:latin typeface="Times New Roman" pitchFamily="18" charset="0"/>
                <a:cs typeface="Times New Roman" pitchFamily="18" charset="0"/>
              </a:rPr>
              <a:t>Section 3(c)</a:t>
            </a:r>
          </a:p>
          <a:p>
            <a:pPr marL="0" indent="0">
              <a:buFont typeface="Wingdings" pitchFamily="2" charset="2"/>
              <a:buNone/>
              <a:defRPr/>
            </a:pPr>
            <a:r>
              <a:rPr lang="en-US" sz="3600" dirty="0">
                <a:latin typeface="Times New Roman" pitchFamily="18" charset="0"/>
                <a:cs typeface="Times New Roman" pitchFamily="18" charset="0"/>
              </a:rPr>
              <a:t>Excludes patents on</a:t>
            </a:r>
            <a:r>
              <a:rPr lang="en-US" sz="2800" dirty="0">
                <a:latin typeface="Times New Roman" pitchFamily="18" charset="0"/>
                <a:cs typeface="Times New Roman" pitchFamily="18" charset="0"/>
              </a:rPr>
              <a:t> </a:t>
            </a:r>
          </a:p>
          <a:p>
            <a:pPr marL="0" indent="0">
              <a:defRPr/>
            </a:pPr>
            <a:r>
              <a:rPr lang="en-US" sz="3600" dirty="0">
                <a:latin typeface="Times New Roman" pitchFamily="18" charset="0"/>
                <a:cs typeface="Times New Roman" pitchFamily="18" charset="0"/>
              </a:rPr>
              <a:t>Naturally occurring Micro-organisms</a:t>
            </a:r>
          </a:p>
          <a:p>
            <a:pPr marL="0" indent="0">
              <a:buFont typeface="Wingdings" pitchFamily="2" charset="2"/>
              <a:buNone/>
              <a:defRPr/>
            </a:pPr>
            <a:r>
              <a:rPr lang="en-US" sz="4000" i="1" dirty="0">
                <a:solidFill>
                  <a:srgbClr val="993366"/>
                </a:solidFill>
                <a:latin typeface="Times New Roman" pitchFamily="18" charset="0"/>
                <a:cs typeface="Times New Roman" pitchFamily="18" charset="0"/>
              </a:rPr>
              <a:t>Effect </a:t>
            </a:r>
          </a:p>
          <a:p>
            <a:pPr marL="0" indent="0">
              <a:buFont typeface="Wingdings" pitchFamily="2" charset="2"/>
              <a:buNone/>
              <a:defRPr/>
            </a:pPr>
            <a:r>
              <a:rPr lang="en-US" sz="2800" dirty="0">
                <a:latin typeface="Times New Roman" pitchFamily="18" charset="0"/>
                <a:cs typeface="Times New Roman" pitchFamily="18" charset="0"/>
              </a:rPr>
              <a:t>Genetically modified microorganisms (GMOs) are however,  patentable.</a:t>
            </a:r>
          </a:p>
        </p:txBody>
      </p:sp>
    </p:spTree>
  </p:cSld>
  <p:clrMapOvr>
    <a:masterClrMapping/>
  </p:clrMapOvr>
  <p:transition>
    <p:wipe/>
    <p:sndAc>
      <p:end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a:xfrm>
            <a:off x="914400" y="0"/>
            <a:ext cx="7543800" cy="609600"/>
          </a:xfrm>
          <a:prstGeom prst="rect">
            <a:avLst/>
          </a:prstGeom>
        </p:spPr>
        <p:txBody>
          <a:bodyPr/>
          <a:lstStyle/>
          <a:p>
            <a:r>
              <a:rPr lang="en-US" sz="4000" dirty="0">
                <a:latin typeface="Times New Roman" pitchFamily="18" charset="0"/>
                <a:cs typeface="Times New Roman" pitchFamily="18" charset="0"/>
              </a:rPr>
              <a:t>Section 3 exclusions</a:t>
            </a:r>
          </a:p>
        </p:txBody>
      </p:sp>
      <p:sp>
        <p:nvSpPr>
          <p:cNvPr id="141315" name="Rectangle 3" descr="Rectangle: Click to edit Master text styles&#10;Second level&#10;Third level&#10;Fourth level&#10;Fifth level"/>
          <p:cNvSpPr>
            <a:spLocks noGrp="1" noChangeArrowheads="1"/>
          </p:cNvSpPr>
          <p:nvPr>
            <p:ph type="body" idx="4294967295"/>
          </p:nvPr>
        </p:nvSpPr>
        <p:spPr>
          <a:xfrm>
            <a:off x="381000" y="990600"/>
            <a:ext cx="8382000" cy="5562600"/>
          </a:xfrm>
          <a:prstGeom prst="rect">
            <a:avLst/>
          </a:prstGeom>
        </p:spPr>
        <p:txBody>
          <a:bodyPr/>
          <a:lstStyle/>
          <a:p>
            <a:pPr marL="854075" indent="-679450">
              <a:buFont typeface="Wingdings" pitchFamily="2" charset="2"/>
              <a:buNone/>
              <a:defRPr/>
            </a:pPr>
            <a:r>
              <a:rPr lang="en-US" sz="4000" dirty="0">
                <a:solidFill>
                  <a:srgbClr val="FF3300"/>
                </a:solidFill>
                <a:latin typeface="Times New Roman" pitchFamily="18" charset="0"/>
                <a:cs typeface="Times New Roman" pitchFamily="18" charset="0"/>
              </a:rPr>
              <a:t>Section3 (d)</a:t>
            </a:r>
            <a:r>
              <a:rPr lang="en-US" sz="4400" dirty="0">
                <a:solidFill>
                  <a:srgbClr val="FF3300"/>
                </a:solidFill>
                <a:latin typeface="Times New Roman" pitchFamily="18" charset="0"/>
                <a:cs typeface="Times New Roman" pitchFamily="18" charset="0"/>
              </a:rPr>
              <a:t> </a:t>
            </a:r>
          </a:p>
          <a:p>
            <a:pPr marL="854075" indent="-679450" algn="just">
              <a:buFont typeface="Wingdings" pitchFamily="2" charset="2"/>
              <a:buBlip>
                <a:blip r:embed="rId2"/>
              </a:buBlip>
              <a:defRPr/>
            </a:pPr>
            <a:r>
              <a:rPr lang="en-US" dirty="0">
                <a:solidFill>
                  <a:srgbClr val="660066"/>
                </a:solidFill>
                <a:latin typeface="Times New Roman" pitchFamily="18" charset="0"/>
                <a:cs typeface="Times New Roman" pitchFamily="18" charset="0"/>
              </a:rPr>
              <a:t>	</a:t>
            </a:r>
            <a:r>
              <a:rPr lang="en-US" dirty="0">
                <a:latin typeface="Times New Roman" pitchFamily="18" charset="0"/>
                <a:cs typeface="Times New Roman" pitchFamily="18" charset="0"/>
              </a:rPr>
              <a:t>The  mere discovery of a new form of a 	known substance  which does not result 	in the enhancement of the known efficacy of that substance</a:t>
            </a:r>
          </a:p>
          <a:p>
            <a:pPr marL="854075" indent="-679450" algn="just">
              <a:buFont typeface="Wingdings" pitchFamily="2" charset="2"/>
              <a:buNone/>
              <a:defRPr/>
            </a:pPr>
            <a:endParaRPr lang="en-US" sz="2800" dirty="0">
              <a:latin typeface="Times New Roman" pitchFamily="18" charset="0"/>
              <a:cs typeface="Times New Roman" pitchFamily="18" charset="0"/>
            </a:endParaRPr>
          </a:p>
        </p:txBody>
      </p:sp>
    </p:spTree>
  </p:cSld>
  <p:clrMapOvr>
    <a:masterClrMapping/>
  </p:clrMapOvr>
  <p:transition>
    <p:wipe/>
    <p:sndAc>
      <p:end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990600" y="0"/>
            <a:ext cx="7772400" cy="609600"/>
          </a:xfrm>
          <a:prstGeom prst="rect">
            <a:avLst/>
          </a:prstGeom>
        </p:spPr>
        <p:txBody>
          <a:bodyPr/>
          <a:lstStyle/>
          <a:p>
            <a:r>
              <a:rPr lang="en-US" sz="3600" dirty="0">
                <a:solidFill>
                  <a:srgbClr val="993366"/>
                </a:solidFill>
                <a:latin typeface="Times New Roman" pitchFamily="18" charset="0"/>
                <a:cs typeface="Times New Roman" pitchFamily="18" charset="0"/>
              </a:rPr>
              <a:t>Section 3 exclusions</a:t>
            </a:r>
          </a:p>
        </p:txBody>
      </p:sp>
      <p:sp>
        <p:nvSpPr>
          <p:cNvPr id="113667" name="Rectangle 3" descr="Rectangle: Click to edit Master text styles&#10;Second level&#10;Third level&#10;Fourth level&#10;Fifth level"/>
          <p:cNvSpPr>
            <a:spLocks noGrp="1" noChangeArrowheads="1"/>
          </p:cNvSpPr>
          <p:nvPr>
            <p:ph type="body" idx="4294967295"/>
          </p:nvPr>
        </p:nvSpPr>
        <p:spPr>
          <a:xfrm>
            <a:off x="381000" y="609600"/>
            <a:ext cx="8153400" cy="5334000"/>
          </a:xfrm>
          <a:prstGeom prst="rect">
            <a:avLst/>
          </a:prstGeom>
        </p:spPr>
        <p:txBody>
          <a:bodyPr/>
          <a:lstStyle/>
          <a:p>
            <a:pPr>
              <a:lnSpc>
                <a:spcPct val="110000"/>
              </a:lnSpc>
              <a:buFont typeface="Wingdings" pitchFamily="2" charset="2"/>
              <a:buNone/>
              <a:defRPr/>
            </a:pPr>
            <a:r>
              <a:rPr lang="en-US" dirty="0">
                <a:effectLst>
                  <a:outerShdw blurRad="38100" dist="38100" dir="2700000" algn="tl">
                    <a:srgbClr val="C0C0C0"/>
                  </a:outerShdw>
                </a:effectLst>
                <a:latin typeface="Times New Roman" pitchFamily="18" charset="0"/>
                <a:cs typeface="Times New Roman" pitchFamily="18" charset="0"/>
              </a:rPr>
              <a:t>Section3 (d)</a:t>
            </a:r>
            <a:r>
              <a:rPr lang="en-US" sz="2800" dirty="0">
                <a:effectLst>
                  <a:outerShdw blurRad="38100" dist="38100" dir="2700000" algn="tl">
                    <a:srgbClr val="C0C0C0"/>
                  </a:outerShdw>
                </a:effectLst>
                <a:latin typeface="Times New Roman" pitchFamily="18" charset="0"/>
                <a:cs typeface="Times New Roman" pitchFamily="18" charset="0"/>
              </a:rPr>
              <a:t> </a:t>
            </a:r>
            <a:r>
              <a:rPr lang="en-US" sz="2800" i="1" u="sng" dirty="0">
                <a:latin typeface="Times New Roman" pitchFamily="18" charset="0"/>
                <a:cs typeface="Times New Roman" pitchFamily="18" charset="0"/>
              </a:rPr>
              <a:t>Explanation</a:t>
            </a:r>
            <a:endParaRPr lang="en-US" sz="2800" dirty="0">
              <a:latin typeface="Times New Roman" pitchFamily="18" charset="0"/>
              <a:cs typeface="Times New Roman" pitchFamily="18" charset="0"/>
            </a:endParaRPr>
          </a:p>
          <a:p>
            <a:pPr>
              <a:lnSpc>
                <a:spcPct val="110000"/>
              </a:lnSpc>
              <a:buFont typeface="Wingdings" pitchFamily="2" charset="2"/>
              <a:buNone/>
              <a:defRPr/>
            </a:pPr>
            <a:r>
              <a:rPr lang="en-US" sz="2800" i="1" u="sng" dirty="0">
                <a:latin typeface="Times New Roman" pitchFamily="18" charset="0"/>
                <a:cs typeface="Times New Roman" pitchFamily="18" charset="0"/>
              </a:rPr>
              <a:t>For the purposes of this clause,</a:t>
            </a:r>
          </a:p>
          <a:p>
            <a:pPr>
              <a:lnSpc>
                <a:spcPct val="80000"/>
              </a:lnSpc>
              <a:defRPr/>
            </a:pPr>
            <a:r>
              <a:rPr lang="en-US" sz="2400" dirty="0">
                <a:latin typeface="Times New Roman" pitchFamily="18" charset="0"/>
                <a:cs typeface="Times New Roman" pitchFamily="18" charset="0"/>
              </a:rPr>
              <a:t>salts, esters, ethers, polymorphs, </a:t>
            </a:r>
          </a:p>
          <a:p>
            <a:pPr>
              <a:lnSpc>
                <a:spcPct val="80000"/>
              </a:lnSpc>
              <a:defRPr/>
            </a:pPr>
            <a:r>
              <a:rPr lang="en-US" sz="2400" dirty="0">
                <a:latin typeface="Times New Roman" pitchFamily="18" charset="0"/>
                <a:cs typeface="Times New Roman" pitchFamily="18" charset="0"/>
              </a:rPr>
              <a:t>metabolites, pure form, particle size,</a:t>
            </a:r>
          </a:p>
          <a:p>
            <a:pPr>
              <a:lnSpc>
                <a:spcPct val="80000"/>
              </a:lnSpc>
              <a:defRPr/>
            </a:pPr>
            <a:r>
              <a:rPr lang="en-US" sz="2400" dirty="0">
                <a:latin typeface="Times New Roman" pitchFamily="18" charset="0"/>
                <a:cs typeface="Times New Roman" pitchFamily="18" charset="0"/>
              </a:rPr>
              <a:t>isomers, mixture of isomers, </a:t>
            </a:r>
          </a:p>
          <a:p>
            <a:pPr>
              <a:lnSpc>
                <a:spcPct val="80000"/>
              </a:lnSpc>
              <a:defRPr/>
            </a:pPr>
            <a:r>
              <a:rPr lang="en-US" sz="2400" dirty="0">
                <a:latin typeface="Times New Roman" pitchFamily="18" charset="0"/>
                <a:cs typeface="Times New Roman" pitchFamily="18" charset="0"/>
              </a:rPr>
              <a:t>complexes, combinations and other derivatives of known substances</a:t>
            </a:r>
            <a:r>
              <a:rPr lang="en-US" sz="2800" dirty="0">
                <a:latin typeface="Times New Roman" pitchFamily="18" charset="0"/>
                <a:cs typeface="Times New Roman" pitchFamily="18" charset="0"/>
              </a:rPr>
              <a:t> </a:t>
            </a:r>
          </a:p>
          <a:p>
            <a:pPr algn="just">
              <a:lnSpc>
                <a:spcPct val="110000"/>
              </a:lnSpc>
              <a:buFont typeface="Wingdings" pitchFamily="2" charset="2"/>
              <a:buNone/>
              <a:defRPr/>
            </a:pPr>
            <a:r>
              <a:rPr lang="en-US" sz="2800" dirty="0">
                <a:latin typeface="Times New Roman" pitchFamily="18" charset="0"/>
                <a:cs typeface="Times New Roman" pitchFamily="18" charset="0"/>
              </a:rPr>
              <a:t>	</a:t>
            </a:r>
            <a:r>
              <a:rPr lang="en-US" sz="2800" i="1" dirty="0">
                <a:latin typeface="Times New Roman" pitchFamily="18" charset="0"/>
                <a:cs typeface="Times New Roman" pitchFamily="18" charset="0"/>
              </a:rPr>
              <a:t>shall be considered to be the same substance, unless they differ significantly in properties with regard to </a:t>
            </a:r>
            <a:r>
              <a:rPr lang="en-US" sz="3600" i="1" dirty="0">
                <a:effectLst>
                  <a:outerShdw blurRad="38100" dist="38100" dir="2700000" algn="tl">
                    <a:srgbClr val="C0C0C0"/>
                  </a:outerShdw>
                </a:effectLst>
                <a:latin typeface="Times New Roman" pitchFamily="18" charset="0"/>
                <a:cs typeface="Times New Roman" pitchFamily="18" charset="0"/>
              </a:rPr>
              <a:t>efficacy</a:t>
            </a:r>
            <a:r>
              <a:rPr lang="en-US" sz="3600" dirty="0">
                <a:latin typeface="Times New Roman" pitchFamily="18" charset="0"/>
                <a:cs typeface="Times New Roman" pitchFamily="18" charset="0"/>
              </a:rPr>
              <a:t>.</a:t>
            </a:r>
            <a:r>
              <a:rPr lang="en-US" sz="4000" dirty="0">
                <a:latin typeface="Times New Roman" pitchFamily="18" charset="0"/>
                <a:cs typeface="Times New Roman" pitchFamily="18" charset="0"/>
              </a:rPr>
              <a:t> </a:t>
            </a:r>
          </a:p>
          <a:p>
            <a:pPr algn="just">
              <a:lnSpc>
                <a:spcPct val="110000"/>
              </a:lnSpc>
              <a:spcBef>
                <a:spcPct val="25000"/>
              </a:spcBef>
              <a:buClr>
                <a:schemeClr val="bg2"/>
              </a:buClr>
              <a:buFontTx/>
              <a:buNone/>
              <a:defRPr/>
            </a:pPr>
            <a:r>
              <a:rPr lang="en-US" dirty="0">
                <a:effectLst>
                  <a:outerShdw blurRad="38100" dist="38100" dir="2700000" algn="tl">
                    <a:srgbClr val="C0C0C0"/>
                  </a:outerShdw>
                </a:effectLst>
                <a:latin typeface="Times New Roman" pitchFamily="18" charset="0"/>
                <a:cs typeface="Times New Roman" pitchFamily="18" charset="0"/>
              </a:rPr>
              <a:t>Examples</a:t>
            </a:r>
            <a:endParaRPr lang="en-US" sz="2000" dirty="0">
              <a:latin typeface="Times New Roman" pitchFamily="18" charset="0"/>
              <a:cs typeface="Times New Roman" pitchFamily="18" charset="0"/>
            </a:endParaRPr>
          </a:p>
          <a:p>
            <a:pPr lvl="1">
              <a:lnSpc>
                <a:spcPct val="80000"/>
              </a:lnSpc>
              <a:defRPr/>
            </a:pPr>
            <a:r>
              <a:rPr lang="en-US" dirty="0">
                <a:latin typeface="Times New Roman" pitchFamily="18" charset="0"/>
                <a:cs typeface="Times New Roman" pitchFamily="18" charset="0"/>
              </a:rPr>
              <a:t>Crystalline forms of known substance</a:t>
            </a:r>
          </a:p>
        </p:txBody>
      </p:sp>
    </p:spTree>
  </p:cSld>
  <p:clrMapOvr>
    <a:masterClrMapping/>
  </p:clrMapOvr>
  <p:transition>
    <p:wipe/>
    <p:sndAc>
      <p:end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idx="4294967295"/>
          </p:nvPr>
        </p:nvSpPr>
        <p:spPr>
          <a:xfrm>
            <a:off x="685800" y="17206"/>
            <a:ext cx="7772400" cy="762000"/>
          </a:xfrm>
          <a:prstGeom prst="rect">
            <a:avLst/>
          </a:prstGeom>
        </p:spPr>
        <p:txBody>
          <a:bodyPr/>
          <a:lstStyle/>
          <a:p>
            <a:r>
              <a:rPr lang="en-US" sz="3600" dirty="0">
                <a:latin typeface="Times New Roman" pitchFamily="18" charset="0"/>
                <a:cs typeface="Times New Roman" pitchFamily="18" charset="0"/>
              </a:rPr>
              <a:t>Checks and Balances</a:t>
            </a:r>
          </a:p>
        </p:txBody>
      </p:sp>
      <p:sp>
        <p:nvSpPr>
          <p:cNvPr id="94211" name="Rectangle 3" descr="Rectangle: Click to edit Master text styles&#10;Second level&#10;Third level&#10;Fourth level&#10;Fifth level"/>
          <p:cNvSpPr>
            <a:spLocks noGrp="1" noChangeArrowheads="1"/>
          </p:cNvSpPr>
          <p:nvPr>
            <p:ph type="body" idx="4294967295"/>
          </p:nvPr>
        </p:nvSpPr>
        <p:spPr>
          <a:xfrm>
            <a:off x="457200" y="990600"/>
            <a:ext cx="7924800" cy="5029200"/>
          </a:xfrm>
          <a:prstGeom prst="rect">
            <a:avLst/>
          </a:prstGeom>
        </p:spPr>
        <p:txBody>
          <a:bodyPr/>
          <a:lstStyle/>
          <a:p>
            <a:pPr algn="just">
              <a:lnSpc>
                <a:spcPct val="90000"/>
              </a:lnSpc>
              <a:spcBef>
                <a:spcPct val="50000"/>
              </a:spcBef>
              <a:buClr>
                <a:schemeClr val="tx1"/>
              </a:buClr>
              <a:buFont typeface="Wingdings" pitchFamily="2" charset="2"/>
              <a:buNone/>
              <a:defRPr/>
            </a:pPr>
            <a:r>
              <a:rPr lang="en-US" dirty="0">
                <a:solidFill>
                  <a:srgbClr val="CC3300"/>
                </a:solidFill>
                <a:effectLst>
                  <a:outerShdw blurRad="38100" dist="38100" dir="2700000" algn="tl">
                    <a:srgbClr val="C0C0C0"/>
                  </a:outerShdw>
                </a:effectLst>
                <a:latin typeface="Times New Roman" pitchFamily="18" charset="0"/>
                <a:cs typeface="Times New Roman" pitchFamily="18" charset="0"/>
              </a:rPr>
              <a:t>Section 3 (d) Explanation </a:t>
            </a:r>
            <a:endParaRPr lang="en-US" sz="3000" dirty="0">
              <a:latin typeface="Times New Roman" pitchFamily="18" charset="0"/>
              <a:cs typeface="Times New Roman" pitchFamily="18" charset="0"/>
            </a:endParaRPr>
          </a:p>
          <a:p>
            <a:pPr algn="just">
              <a:lnSpc>
                <a:spcPct val="90000"/>
              </a:lnSpc>
              <a:spcBef>
                <a:spcPct val="50000"/>
              </a:spcBef>
              <a:buClr>
                <a:schemeClr val="tx1"/>
              </a:buClr>
              <a:buFont typeface="Wingdings" pitchFamily="2" charset="2"/>
              <a:buNone/>
              <a:defRPr/>
            </a:pPr>
            <a:r>
              <a:rPr lang="en-US" sz="3800" dirty="0">
                <a:solidFill>
                  <a:srgbClr val="993366"/>
                </a:solidFill>
                <a:latin typeface="Times New Roman" pitchFamily="18" charset="0"/>
                <a:cs typeface="Times New Roman" pitchFamily="18" charset="0"/>
              </a:rPr>
              <a:t>Effect</a:t>
            </a:r>
            <a:endParaRPr lang="en-US" sz="3000" dirty="0">
              <a:latin typeface="Times New Roman" pitchFamily="18" charset="0"/>
              <a:cs typeface="Times New Roman" pitchFamily="18" charset="0"/>
            </a:endParaRPr>
          </a:p>
          <a:p>
            <a:pPr algn="just">
              <a:lnSpc>
                <a:spcPct val="90000"/>
              </a:lnSpc>
              <a:spcBef>
                <a:spcPct val="50000"/>
              </a:spcBef>
              <a:buClr>
                <a:schemeClr val="tx1"/>
              </a:buClr>
              <a:buFont typeface="Wingdings" pitchFamily="2" charset="2"/>
              <a:buNone/>
              <a:defRPr/>
            </a:pPr>
            <a:r>
              <a:rPr lang="en-US" sz="3000" dirty="0">
                <a:latin typeface="Times New Roman" pitchFamily="18" charset="0"/>
                <a:cs typeface="Times New Roman" pitchFamily="18" charset="0"/>
              </a:rPr>
              <a:t>  </a:t>
            </a:r>
            <a:r>
              <a:rPr lang="en-AU" sz="2800" dirty="0">
                <a:latin typeface="Times New Roman" pitchFamily="18" charset="0"/>
                <a:cs typeface="Times New Roman" pitchFamily="18" charset="0"/>
              </a:rPr>
              <a:t>Salts, esters, ethers, polymorphs,</a:t>
            </a:r>
            <a:r>
              <a:rPr lang="en-US" sz="2800" dirty="0">
                <a:latin typeface="Times New Roman" pitchFamily="18" charset="0"/>
                <a:cs typeface="Times New Roman" pitchFamily="18" charset="0"/>
              </a:rPr>
              <a:t> </a:t>
            </a:r>
            <a:r>
              <a:rPr lang="en-AU" sz="2800" dirty="0">
                <a:latin typeface="Times New Roman" pitchFamily="18" charset="0"/>
                <a:cs typeface="Times New Roman" pitchFamily="18" charset="0"/>
              </a:rPr>
              <a:t>metabolite, pure forms, particle size, isomers,</a:t>
            </a:r>
            <a:r>
              <a:rPr lang="en-US" sz="2800" dirty="0">
                <a:latin typeface="Times New Roman" pitchFamily="18" charset="0"/>
                <a:cs typeface="Times New Roman" pitchFamily="18" charset="0"/>
              </a:rPr>
              <a:t> </a:t>
            </a:r>
            <a:r>
              <a:rPr lang="en-AU" sz="2800" dirty="0">
                <a:latin typeface="Times New Roman" pitchFamily="18" charset="0"/>
                <a:cs typeface="Times New Roman" pitchFamily="18" charset="0"/>
              </a:rPr>
              <a:t>complexes, combinations and derivatives of a</a:t>
            </a:r>
            <a:r>
              <a:rPr lang="en-US" sz="2800" dirty="0">
                <a:latin typeface="Times New Roman" pitchFamily="18" charset="0"/>
                <a:cs typeface="Times New Roman" pitchFamily="18" charset="0"/>
              </a:rPr>
              <a:t> </a:t>
            </a:r>
            <a:r>
              <a:rPr lang="en-AU" sz="2800" dirty="0">
                <a:latin typeface="Times New Roman" pitchFamily="18" charset="0"/>
                <a:cs typeface="Times New Roman" pitchFamily="18" charset="0"/>
              </a:rPr>
              <a:t>known substance with enhanced efficacy are patentable </a:t>
            </a:r>
            <a:endParaRPr lang="en-AU" sz="3400" dirty="0">
              <a:latin typeface="Times New Roman" pitchFamily="18" charset="0"/>
              <a:cs typeface="Times New Roman" pitchFamily="18" charset="0"/>
            </a:endParaRPr>
          </a:p>
        </p:txBody>
      </p:sp>
    </p:spTree>
  </p:cSld>
  <p:clrMapOvr>
    <a:masterClrMapping/>
  </p:clrMapOvr>
  <p:transition>
    <p:wipe/>
    <p:sndAc>
      <p:end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idx="4294967295"/>
          </p:nvPr>
        </p:nvSpPr>
        <p:spPr>
          <a:xfrm>
            <a:off x="914400" y="0"/>
            <a:ext cx="7543800" cy="609600"/>
          </a:xfrm>
          <a:prstGeom prst="rect">
            <a:avLst/>
          </a:prstGeom>
        </p:spPr>
        <p:txBody>
          <a:bodyPr/>
          <a:lstStyle/>
          <a:p>
            <a:r>
              <a:rPr lang="en-US" sz="4000" dirty="0">
                <a:latin typeface="Times New Roman" pitchFamily="18" charset="0"/>
                <a:cs typeface="Times New Roman" pitchFamily="18" charset="0"/>
              </a:rPr>
              <a:t>Section 3 exclusions</a:t>
            </a:r>
          </a:p>
        </p:txBody>
      </p:sp>
      <p:sp>
        <p:nvSpPr>
          <p:cNvPr id="148483" name="Rectangle 3" descr="Rectangle: Click to edit Master text styles&#10;Second level&#10;Third level&#10;Fourth level&#10;Fifth level"/>
          <p:cNvSpPr>
            <a:spLocks noGrp="1" noChangeArrowheads="1"/>
          </p:cNvSpPr>
          <p:nvPr>
            <p:ph type="body" idx="4294967295"/>
          </p:nvPr>
        </p:nvSpPr>
        <p:spPr>
          <a:xfrm>
            <a:off x="381000" y="914400"/>
            <a:ext cx="8382000" cy="5562600"/>
          </a:xfrm>
          <a:prstGeom prst="rect">
            <a:avLst/>
          </a:prstGeom>
        </p:spPr>
        <p:txBody>
          <a:bodyPr/>
          <a:lstStyle/>
          <a:p>
            <a:pPr marL="854075" indent="-679450">
              <a:lnSpc>
                <a:spcPct val="90000"/>
              </a:lnSpc>
              <a:buFont typeface="Wingdings" pitchFamily="2" charset="2"/>
              <a:buNone/>
              <a:defRPr/>
            </a:pPr>
            <a:r>
              <a:rPr lang="en-US" sz="3600" dirty="0">
                <a:solidFill>
                  <a:srgbClr val="FF3300"/>
                </a:solidFill>
                <a:latin typeface="Times New Roman" pitchFamily="18" charset="0"/>
                <a:cs typeface="Times New Roman" pitchFamily="18" charset="0"/>
              </a:rPr>
              <a:t>Section3 (d)</a:t>
            </a:r>
            <a:r>
              <a:rPr lang="en-US" sz="4000" dirty="0">
                <a:solidFill>
                  <a:srgbClr val="FF3300"/>
                </a:solidFill>
                <a:latin typeface="Times New Roman" pitchFamily="18" charset="0"/>
                <a:cs typeface="Times New Roman" pitchFamily="18" charset="0"/>
              </a:rPr>
              <a:t> </a:t>
            </a:r>
          </a:p>
          <a:p>
            <a:pPr marL="854075" indent="-679450" algn="just">
              <a:lnSpc>
                <a:spcPct val="90000"/>
              </a:lnSpc>
              <a:buFont typeface="Wingdings" pitchFamily="2" charset="2"/>
              <a:buBlip>
                <a:blip r:embed="rId2"/>
              </a:buBlip>
              <a:defRPr/>
            </a:pPr>
            <a:r>
              <a:rPr lang="en-US" dirty="0">
                <a:latin typeface="Times New Roman" pitchFamily="18" charset="0"/>
                <a:cs typeface="Times New Roman" pitchFamily="18" charset="0"/>
              </a:rPr>
              <a:t>Mere discovery of any new property or  new use for a known substance or of the mere use of a known process, machine or apparatus, </a:t>
            </a:r>
            <a:r>
              <a:rPr lang="en-US" i="1" dirty="0">
                <a:latin typeface="Times New Roman" pitchFamily="18" charset="0"/>
                <a:cs typeface="Times New Roman" pitchFamily="18" charset="0"/>
              </a:rPr>
              <a:t>unless such known process results in a new product or employs at least one new reactant</a:t>
            </a:r>
            <a:r>
              <a:rPr lang="en-US" dirty="0">
                <a:latin typeface="Times New Roman" pitchFamily="18" charset="0"/>
                <a:cs typeface="Times New Roman" pitchFamily="18" charset="0"/>
              </a:rPr>
              <a:t>.</a:t>
            </a:r>
            <a:r>
              <a:rPr lang="en-US" sz="2400" dirty="0">
                <a:latin typeface="Times New Roman" pitchFamily="18" charset="0"/>
                <a:cs typeface="Times New Roman" pitchFamily="18" charset="0"/>
              </a:rPr>
              <a:t>  </a:t>
            </a:r>
          </a:p>
          <a:p>
            <a:pPr marL="854075" indent="-679450" algn="just">
              <a:lnSpc>
                <a:spcPct val="90000"/>
              </a:lnSpc>
              <a:buFont typeface="Wingdings" pitchFamily="2" charset="2"/>
              <a:buNone/>
              <a:defRPr/>
            </a:pPr>
            <a:r>
              <a:rPr lang="en-US" sz="2400" dirty="0">
                <a:latin typeface="Times New Roman" pitchFamily="18" charset="0"/>
                <a:cs typeface="Times New Roman" pitchFamily="18" charset="0"/>
              </a:rPr>
              <a:t> </a:t>
            </a:r>
            <a:r>
              <a:rPr lang="en-US" sz="3600" dirty="0">
                <a:solidFill>
                  <a:schemeClr val="tx2"/>
                </a:solidFill>
                <a:latin typeface="Times New Roman" pitchFamily="18" charset="0"/>
                <a:cs typeface="Times New Roman" pitchFamily="18" charset="0"/>
              </a:rPr>
              <a:t>Examples</a:t>
            </a:r>
            <a:endParaRPr lang="en-US" sz="2400" dirty="0">
              <a:solidFill>
                <a:schemeClr val="tx2"/>
              </a:solidFill>
              <a:latin typeface="Times New Roman" pitchFamily="18" charset="0"/>
              <a:cs typeface="Times New Roman" pitchFamily="18" charset="0"/>
            </a:endParaRPr>
          </a:p>
          <a:p>
            <a:pPr marL="1368425" lvl="1">
              <a:lnSpc>
                <a:spcPct val="90000"/>
              </a:lnSpc>
              <a:defRPr/>
            </a:pPr>
            <a:r>
              <a:rPr lang="en-US" dirty="0">
                <a:solidFill>
                  <a:schemeClr val="tx2"/>
                </a:solidFill>
                <a:latin typeface="Times New Roman" pitchFamily="18" charset="0"/>
                <a:cs typeface="Times New Roman" pitchFamily="18" charset="0"/>
              </a:rPr>
              <a:t>New use of Aspirin for heart ailments,</a:t>
            </a:r>
          </a:p>
          <a:p>
            <a:pPr marL="1368425" lvl="1">
              <a:lnSpc>
                <a:spcPct val="90000"/>
              </a:lnSpc>
              <a:defRPr/>
            </a:pPr>
            <a:r>
              <a:rPr lang="en-US" dirty="0">
                <a:solidFill>
                  <a:schemeClr val="tx2"/>
                </a:solidFill>
                <a:latin typeface="Times New Roman" pitchFamily="18" charset="0"/>
                <a:cs typeface="Times New Roman" pitchFamily="18" charset="0"/>
              </a:rPr>
              <a:t> Mere new uses of </a:t>
            </a:r>
            <a:r>
              <a:rPr lang="en-US" dirty="0" err="1">
                <a:solidFill>
                  <a:schemeClr val="tx2"/>
                </a:solidFill>
                <a:latin typeface="Times New Roman" pitchFamily="18" charset="0"/>
                <a:cs typeface="Times New Roman" pitchFamily="18" charset="0"/>
              </a:rPr>
              <a:t>Neem</a:t>
            </a:r>
            <a:endParaRPr lang="en-US" dirty="0">
              <a:solidFill>
                <a:schemeClr val="tx2"/>
              </a:solidFill>
              <a:latin typeface="Times New Roman" pitchFamily="18" charset="0"/>
              <a:cs typeface="Times New Roman" pitchFamily="18" charset="0"/>
            </a:endParaRPr>
          </a:p>
        </p:txBody>
      </p:sp>
    </p:spTree>
  </p:cSld>
  <p:clrMapOvr>
    <a:masterClrMapping/>
  </p:clrMapOvr>
  <p:transition>
    <p:wipe/>
    <p:sndAc>
      <p:end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idx="4294967295"/>
          </p:nvPr>
        </p:nvSpPr>
        <p:spPr>
          <a:xfrm>
            <a:off x="914400" y="-76200"/>
            <a:ext cx="7340600" cy="457200"/>
          </a:xfrm>
          <a:prstGeom prst="rect">
            <a:avLst/>
          </a:prstGeom>
        </p:spPr>
        <p:txBody>
          <a:bodyPr/>
          <a:lstStyle/>
          <a:p>
            <a:r>
              <a:rPr lang="en-US" sz="4000" dirty="0">
                <a:latin typeface="Times New Roman" pitchFamily="18" charset="0"/>
                <a:cs typeface="Times New Roman" pitchFamily="18" charset="0"/>
              </a:rPr>
              <a:t>Section 3 exclusions</a:t>
            </a:r>
          </a:p>
        </p:txBody>
      </p:sp>
      <p:sp>
        <p:nvSpPr>
          <p:cNvPr id="114691" name="Rectangle 3" descr="Rectangle: Click to edit Master text styles&#10;Second level&#10;Third level&#10;Fourth level&#10;Fifth level"/>
          <p:cNvSpPr>
            <a:spLocks noGrp="1" noChangeArrowheads="1"/>
          </p:cNvSpPr>
          <p:nvPr>
            <p:ph type="body" idx="4294967295"/>
          </p:nvPr>
        </p:nvSpPr>
        <p:spPr>
          <a:xfrm>
            <a:off x="381000" y="685800"/>
            <a:ext cx="8153400" cy="5638800"/>
          </a:xfrm>
          <a:prstGeom prst="rect">
            <a:avLst/>
          </a:prstGeom>
        </p:spPr>
        <p:txBody>
          <a:bodyPr/>
          <a:lstStyle/>
          <a:p>
            <a:pPr>
              <a:lnSpc>
                <a:spcPct val="80000"/>
              </a:lnSpc>
              <a:spcBef>
                <a:spcPct val="0"/>
              </a:spcBef>
              <a:buFontTx/>
              <a:buNone/>
              <a:defRPr/>
            </a:pPr>
            <a:r>
              <a:rPr lang="en-US" sz="4000" dirty="0">
                <a:latin typeface="Times New Roman" pitchFamily="18" charset="0"/>
                <a:cs typeface="Times New Roman" pitchFamily="18" charset="0"/>
              </a:rPr>
              <a:t>Section 3(e)</a:t>
            </a:r>
            <a:endParaRPr lang="en-US" sz="1600" dirty="0">
              <a:latin typeface="Times New Roman" pitchFamily="18" charset="0"/>
              <a:cs typeface="Times New Roman" pitchFamily="18" charset="0"/>
            </a:endParaRPr>
          </a:p>
          <a:p>
            <a:pPr algn="ctr">
              <a:lnSpc>
                <a:spcPct val="80000"/>
              </a:lnSpc>
              <a:spcBef>
                <a:spcPct val="0"/>
              </a:spcBef>
              <a:buFontTx/>
              <a:buNone/>
              <a:defRPr/>
            </a:pPr>
            <a:endParaRPr lang="en-US" sz="2000" dirty="0">
              <a:latin typeface="Times New Roman" pitchFamily="18" charset="0"/>
              <a:cs typeface="Times New Roman" pitchFamily="18" charset="0"/>
            </a:endParaRPr>
          </a:p>
          <a:p>
            <a:pPr algn="just">
              <a:lnSpc>
                <a:spcPct val="80000"/>
              </a:lnSpc>
              <a:spcBef>
                <a:spcPct val="0"/>
              </a:spcBef>
              <a:buFontTx/>
              <a:buNone/>
              <a:defRPr/>
            </a:pPr>
            <a:r>
              <a:rPr lang="en-US" sz="1800" dirty="0">
                <a:latin typeface="Times New Roman" pitchFamily="18" charset="0"/>
                <a:cs typeface="Times New Roman" pitchFamily="18" charset="0"/>
              </a:rPr>
              <a:t>	</a:t>
            </a:r>
            <a:r>
              <a:rPr lang="en-US" sz="2800" dirty="0">
                <a:latin typeface="Times New Roman" pitchFamily="18" charset="0"/>
                <a:cs typeface="Times New Roman" pitchFamily="18" charset="0"/>
              </a:rPr>
              <a:t>Substance obtained by </a:t>
            </a:r>
            <a:r>
              <a:rPr lang="en-US" sz="3600" u="sng" dirty="0">
                <a:latin typeface="Times New Roman" pitchFamily="18" charset="0"/>
                <a:cs typeface="Times New Roman" pitchFamily="18" charset="0"/>
              </a:rPr>
              <a:t>mere admixture</a:t>
            </a:r>
            <a:r>
              <a:rPr lang="en-US" sz="2800" dirty="0">
                <a:latin typeface="Times New Roman" pitchFamily="18" charset="0"/>
                <a:cs typeface="Times New Roman" pitchFamily="18" charset="0"/>
              </a:rPr>
              <a:t> resulting only in the aggregation of the properties of the components thereof or a process for producing such substance</a:t>
            </a:r>
          </a:p>
          <a:p>
            <a:pPr>
              <a:lnSpc>
                <a:spcPct val="80000"/>
              </a:lnSpc>
              <a:buClr>
                <a:schemeClr val="bg2"/>
              </a:buClr>
              <a:buFont typeface="Wingdings" pitchFamily="2" charset="2"/>
              <a:buNone/>
              <a:defRPr/>
            </a:pPr>
            <a:r>
              <a:rPr lang="en-US" sz="1050" dirty="0">
                <a:latin typeface="Times New Roman" pitchFamily="18" charset="0"/>
                <a:cs typeface="Times New Roman" pitchFamily="18" charset="0"/>
              </a:rPr>
              <a:t>	</a:t>
            </a:r>
            <a:endParaRPr lang="en-US" sz="1000" dirty="0">
              <a:latin typeface="Times New Roman" pitchFamily="18" charset="0"/>
              <a:cs typeface="Times New Roman" pitchFamily="18" charset="0"/>
            </a:endParaRPr>
          </a:p>
          <a:p>
            <a:pPr>
              <a:lnSpc>
                <a:spcPct val="80000"/>
              </a:lnSpc>
              <a:buClr>
                <a:schemeClr val="bg2"/>
              </a:buClr>
              <a:buFont typeface="Wingdings" pitchFamily="2" charset="2"/>
              <a:buNone/>
              <a:defRPr/>
            </a:pPr>
            <a:r>
              <a:rPr lang="en-US" sz="900" dirty="0">
                <a:latin typeface="Times New Roman" pitchFamily="18" charset="0"/>
                <a:cs typeface="Times New Roman" pitchFamily="18" charset="0"/>
              </a:rPr>
              <a:t> </a:t>
            </a:r>
            <a:r>
              <a:rPr lang="en-US" sz="3600" dirty="0">
                <a:latin typeface="Times New Roman" pitchFamily="18" charset="0"/>
                <a:cs typeface="Times New Roman" pitchFamily="18" charset="0"/>
              </a:rPr>
              <a:t>Examples</a:t>
            </a:r>
            <a:endParaRPr lang="en-US" sz="2000" i="1" dirty="0">
              <a:latin typeface="Times New Roman" pitchFamily="18" charset="0"/>
              <a:cs typeface="Times New Roman" pitchFamily="18" charset="0"/>
            </a:endParaRPr>
          </a:p>
          <a:p>
            <a:pPr>
              <a:lnSpc>
                <a:spcPct val="80000"/>
              </a:lnSpc>
              <a:buClr>
                <a:schemeClr val="bg2"/>
              </a:buClr>
              <a:buFont typeface="Wingdings" pitchFamily="2" charset="2"/>
              <a:buNone/>
              <a:defRPr/>
            </a:pPr>
            <a:endParaRPr lang="en-US" sz="1000" dirty="0">
              <a:latin typeface="Times New Roman" pitchFamily="18" charset="0"/>
              <a:cs typeface="Times New Roman" pitchFamily="18" charset="0"/>
            </a:endParaRPr>
          </a:p>
          <a:p>
            <a:pPr lvl="1" algn="just">
              <a:lnSpc>
                <a:spcPct val="80000"/>
              </a:lnSpc>
              <a:spcBef>
                <a:spcPct val="25000"/>
              </a:spcBef>
              <a:buClr>
                <a:srgbClr val="993366"/>
              </a:buClr>
              <a:buFont typeface="Wingdings" pitchFamily="2" charset="2"/>
              <a:buChar char="Ø"/>
              <a:defRPr/>
            </a:pPr>
            <a:r>
              <a:rPr lang="en-US" sz="2400" dirty="0" err="1">
                <a:latin typeface="Times New Roman" pitchFamily="18" charset="0"/>
                <a:cs typeface="Times New Roman" pitchFamily="18" charset="0"/>
              </a:rPr>
              <a:t>Combiflam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Paracetamol</a:t>
            </a:r>
            <a:r>
              <a:rPr lang="en-US" sz="2400" dirty="0">
                <a:latin typeface="Times New Roman" pitchFamily="18" charset="0"/>
                <a:cs typeface="Times New Roman" pitchFamily="18" charset="0"/>
              </a:rPr>
              <a:t> (Antipyretic) + </a:t>
            </a:r>
            <a:r>
              <a:rPr lang="en-US" sz="2400" dirty="0" err="1">
                <a:latin typeface="Times New Roman" pitchFamily="18" charset="0"/>
                <a:cs typeface="Times New Roman" pitchFamily="18" charset="0"/>
              </a:rPr>
              <a:t>Brufen</a:t>
            </a:r>
            <a:r>
              <a:rPr lang="en-US" sz="2400" dirty="0">
                <a:latin typeface="Times New Roman" pitchFamily="18" charset="0"/>
                <a:cs typeface="Times New Roman" pitchFamily="18" charset="0"/>
              </a:rPr>
              <a:t> (analgesic)]</a:t>
            </a:r>
          </a:p>
          <a:p>
            <a:pPr lvl="1" algn="just">
              <a:lnSpc>
                <a:spcPct val="80000"/>
              </a:lnSpc>
              <a:spcBef>
                <a:spcPct val="25000"/>
              </a:spcBef>
              <a:buClr>
                <a:srgbClr val="993366"/>
              </a:buClr>
              <a:buFont typeface="Wingdings" pitchFamily="2" charset="2"/>
              <a:buChar char="Ø"/>
              <a:defRPr/>
            </a:pPr>
            <a:r>
              <a:rPr lang="en-US" sz="2400" dirty="0">
                <a:latin typeface="Times New Roman" pitchFamily="18" charset="0"/>
                <a:cs typeface="Times New Roman" pitchFamily="18" charset="0"/>
              </a:rPr>
              <a:t>Solution of sugar and color additives in water to form a soft drink </a:t>
            </a:r>
          </a:p>
          <a:p>
            <a:pPr lvl="1" algn="just">
              <a:lnSpc>
                <a:spcPct val="80000"/>
              </a:lnSpc>
              <a:spcBef>
                <a:spcPct val="25000"/>
              </a:spcBef>
              <a:buClr>
                <a:srgbClr val="993366"/>
              </a:buClr>
              <a:buFont typeface="Wingdings" pitchFamily="2" charset="2"/>
              <a:buNone/>
              <a:defRPr/>
            </a:pPr>
            <a:r>
              <a:rPr lang="en-US" i="1" dirty="0">
                <a:latin typeface="Times New Roman" pitchFamily="18" charset="0"/>
                <a:cs typeface="Times New Roman" pitchFamily="18" charset="0"/>
              </a:rPr>
              <a:t>However,</a:t>
            </a:r>
          </a:p>
          <a:p>
            <a:pPr algn="just">
              <a:lnSpc>
                <a:spcPct val="80000"/>
              </a:lnSpc>
              <a:spcBef>
                <a:spcPct val="25000"/>
              </a:spcBef>
              <a:buClr>
                <a:schemeClr val="bg2"/>
              </a:buClr>
              <a:buFont typeface="Wingdings" pitchFamily="2" charset="2"/>
              <a:buNone/>
              <a:defRPr/>
            </a:pPr>
            <a:r>
              <a:rPr lang="en-US" sz="1600" i="1" dirty="0">
                <a:latin typeface="Times New Roman" pitchFamily="18" charset="0"/>
                <a:cs typeface="Times New Roman" pitchFamily="18" charset="0"/>
              </a:rPr>
              <a:t>	</a:t>
            </a:r>
            <a:r>
              <a:rPr lang="en-US" sz="2400" i="1" dirty="0">
                <a:latin typeface="Times New Roman" pitchFamily="18" charset="0"/>
                <a:cs typeface="Times New Roman" pitchFamily="18" charset="0"/>
              </a:rPr>
              <a:t>A mixture resulting into synergistic properties    of  mixture of ingredients however, may be patentable   - Soap, Detergents, lubricants </a:t>
            </a:r>
            <a:r>
              <a:rPr lang="en-US" sz="2400" i="1" dirty="0" err="1">
                <a:latin typeface="Times New Roman" pitchFamily="18" charset="0"/>
                <a:cs typeface="Times New Roman" pitchFamily="18" charset="0"/>
              </a:rPr>
              <a:t>etc</a:t>
            </a:r>
            <a:r>
              <a:rPr lang="en-US" sz="2400" dirty="0">
                <a:latin typeface="Times New Roman" pitchFamily="18" charset="0"/>
                <a:cs typeface="Times New Roman" pitchFamily="18" charset="0"/>
              </a:rPr>
              <a:t> </a:t>
            </a:r>
          </a:p>
        </p:txBody>
      </p:sp>
    </p:spTree>
  </p:cSld>
  <p:clrMapOvr>
    <a:masterClrMapping/>
  </p:clrMapOvr>
  <p:transition>
    <p:wipe/>
    <p:sndAc>
      <p:end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685800" y="-19665"/>
            <a:ext cx="7772400" cy="762000"/>
          </a:xfrm>
          <a:prstGeom prst="rect">
            <a:avLst/>
          </a:prstGeom>
        </p:spPr>
        <p:txBody>
          <a:bodyPr/>
          <a:lstStyle/>
          <a:p>
            <a:r>
              <a:rPr lang="en-US" sz="3600" dirty="0">
                <a:latin typeface="Times New Roman" pitchFamily="18" charset="0"/>
                <a:cs typeface="Times New Roman" pitchFamily="18" charset="0"/>
              </a:rPr>
              <a:t>Checks and Balances</a:t>
            </a:r>
          </a:p>
        </p:txBody>
      </p:sp>
      <p:sp>
        <p:nvSpPr>
          <p:cNvPr id="95235" name="Rectangle 3" descr="Rectangle: Click to edit Master text styles&#10;Second level&#10;Third level&#10;Fourth level&#10;Fifth level"/>
          <p:cNvSpPr>
            <a:spLocks noGrp="1" noChangeArrowheads="1"/>
          </p:cNvSpPr>
          <p:nvPr>
            <p:ph type="body" idx="4294967295"/>
          </p:nvPr>
        </p:nvSpPr>
        <p:spPr>
          <a:xfrm>
            <a:off x="457200" y="914400"/>
            <a:ext cx="8153400" cy="5257800"/>
          </a:xfrm>
          <a:prstGeom prst="rect">
            <a:avLst/>
          </a:prstGeom>
        </p:spPr>
        <p:txBody>
          <a:bodyPr/>
          <a:lstStyle/>
          <a:p>
            <a:pPr marL="690563" indent="-569913" algn="just">
              <a:lnSpc>
                <a:spcPct val="110000"/>
              </a:lnSpc>
              <a:spcBef>
                <a:spcPct val="50000"/>
              </a:spcBef>
              <a:buClr>
                <a:schemeClr val="tx1"/>
              </a:buClr>
              <a:buFont typeface="Wingdings" pitchFamily="2" charset="2"/>
              <a:buNone/>
              <a:defRPr/>
            </a:pPr>
            <a:r>
              <a:rPr lang="en-US" sz="3000" dirty="0">
                <a:latin typeface="Times New Roman" pitchFamily="18" charset="0"/>
                <a:cs typeface="Times New Roman" pitchFamily="18" charset="0"/>
              </a:rPr>
              <a:t> </a:t>
            </a:r>
            <a:r>
              <a:rPr lang="en-US" dirty="0">
                <a:latin typeface="Times New Roman" pitchFamily="18" charset="0"/>
                <a:cs typeface="Times New Roman" pitchFamily="18" charset="0"/>
              </a:rPr>
              <a:t>Section 3 ( e )</a:t>
            </a:r>
            <a:endParaRPr lang="en-US" sz="3000" dirty="0">
              <a:latin typeface="Times New Roman" pitchFamily="18" charset="0"/>
              <a:cs typeface="Times New Roman" pitchFamily="18" charset="0"/>
            </a:endParaRPr>
          </a:p>
          <a:p>
            <a:pPr marL="690563" indent="-569913" algn="just">
              <a:lnSpc>
                <a:spcPct val="80000"/>
              </a:lnSpc>
              <a:spcBef>
                <a:spcPct val="50000"/>
              </a:spcBef>
              <a:buClr>
                <a:schemeClr val="tx1"/>
              </a:buClr>
              <a:buFont typeface="Wingdings" pitchFamily="2" charset="2"/>
              <a:buNone/>
              <a:defRPr/>
            </a:pPr>
            <a:r>
              <a:rPr lang="en-US" sz="3800" dirty="0">
                <a:latin typeface="Times New Roman" pitchFamily="18" charset="0"/>
                <a:cs typeface="Times New Roman" pitchFamily="18" charset="0"/>
              </a:rPr>
              <a:t>Effect 	</a:t>
            </a:r>
            <a:endParaRPr lang="en-US" sz="3000" dirty="0">
              <a:latin typeface="Times New Roman" pitchFamily="18" charset="0"/>
              <a:cs typeface="Times New Roman" pitchFamily="18" charset="0"/>
            </a:endParaRPr>
          </a:p>
          <a:p>
            <a:pPr marL="690563" indent="-569913" algn="just">
              <a:lnSpc>
                <a:spcPct val="80000"/>
              </a:lnSpc>
              <a:spcBef>
                <a:spcPct val="50000"/>
              </a:spcBef>
              <a:buClr>
                <a:schemeClr val="tx1"/>
              </a:buClr>
              <a:buFont typeface="Wingdings" pitchFamily="2" charset="2"/>
              <a:buChar char="Ø"/>
              <a:defRPr/>
            </a:pPr>
            <a:r>
              <a:rPr lang="en-US" sz="2800" dirty="0">
                <a:latin typeface="Times New Roman" pitchFamily="18" charset="0"/>
                <a:cs typeface="Times New Roman" pitchFamily="18" charset="0"/>
              </a:rPr>
              <a:t>Substance obtained by mere admixture resulting only in the aggregation of the properties of the components thereof or</a:t>
            </a:r>
            <a:r>
              <a:rPr lang="en-US" sz="3000" dirty="0">
                <a:latin typeface="Times New Roman" pitchFamily="18" charset="0"/>
                <a:cs typeface="Times New Roman" pitchFamily="18" charset="0"/>
              </a:rPr>
              <a:t> </a:t>
            </a:r>
          </a:p>
          <a:p>
            <a:pPr marL="690563" indent="-569913" algn="just">
              <a:lnSpc>
                <a:spcPct val="80000"/>
              </a:lnSpc>
              <a:spcBef>
                <a:spcPct val="50000"/>
              </a:spcBef>
              <a:buClr>
                <a:schemeClr val="tx1"/>
              </a:buClr>
              <a:buFont typeface="Wingdings" pitchFamily="2" charset="2"/>
              <a:buChar char="Ø"/>
              <a:defRPr/>
            </a:pPr>
            <a:r>
              <a:rPr lang="en-US" sz="2800" dirty="0">
                <a:latin typeface="Times New Roman" pitchFamily="18" charset="0"/>
                <a:cs typeface="Times New Roman" pitchFamily="18" charset="0"/>
              </a:rPr>
              <a:t>a process for producing such substance	</a:t>
            </a:r>
          </a:p>
          <a:p>
            <a:pPr marL="690563" indent="-569913" algn="just">
              <a:lnSpc>
                <a:spcPct val="80000"/>
              </a:lnSpc>
              <a:spcBef>
                <a:spcPct val="50000"/>
              </a:spcBef>
              <a:buClr>
                <a:schemeClr val="tx1"/>
              </a:buClr>
              <a:buFont typeface="Wingdings" pitchFamily="2" charset="2"/>
              <a:buNone/>
              <a:defRPr/>
            </a:pPr>
            <a:r>
              <a:rPr lang="en-US" sz="2800" dirty="0">
                <a:latin typeface="Times New Roman" pitchFamily="18" charset="0"/>
                <a:cs typeface="Times New Roman" pitchFamily="18" charset="0"/>
              </a:rPr>
              <a:t>	are not patentable </a:t>
            </a:r>
            <a:endParaRPr lang="en-US" sz="3600" dirty="0">
              <a:latin typeface="Times New Roman" pitchFamily="18" charset="0"/>
              <a:cs typeface="Times New Roman" pitchFamily="18" charset="0"/>
            </a:endParaRPr>
          </a:p>
          <a:p>
            <a:pPr marL="690563" indent="-569913" algn="just">
              <a:lnSpc>
                <a:spcPct val="80000"/>
              </a:lnSpc>
              <a:spcBef>
                <a:spcPct val="50000"/>
              </a:spcBef>
              <a:buClr>
                <a:schemeClr val="tx1"/>
              </a:buClr>
              <a:buFont typeface="Wingdings" pitchFamily="2" charset="2"/>
              <a:buNone/>
              <a:defRPr/>
            </a:pPr>
            <a:r>
              <a:rPr lang="en-US" sz="3600" dirty="0">
                <a:latin typeface="Times New Roman" pitchFamily="18" charset="0"/>
                <a:cs typeface="Times New Roman" pitchFamily="18" charset="0"/>
              </a:rPr>
              <a:t>However </a:t>
            </a:r>
          </a:p>
          <a:p>
            <a:pPr marL="690563" indent="-569913" algn="just">
              <a:lnSpc>
                <a:spcPct val="80000"/>
              </a:lnSpc>
              <a:spcBef>
                <a:spcPct val="50000"/>
              </a:spcBef>
              <a:buClr>
                <a:schemeClr val="tx1"/>
              </a:buClr>
              <a:buFont typeface="Wingdings" pitchFamily="2" charset="2"/>
              <a:buNone/>
              <a:defRPr/>
            </a:pPr>
            <a:r>
              <a:rPr lang="en-US" sz="2800" dirty="0">
                <a:latin typeface="Times New Roman" pitchFamily="18" charset="0"/>
                <a:cs typeface="Times New Roman" pitchFamily="18" charset="0"/>
              </a:rPr>
              <a:t>Synergistic formulations are patentable</a:t>
            </a:r>
          </a:p>
        </p:txBody>
      </p:sp>
    </p:spTree>
  </p:cSld>
  <p:clrMapOvr>
    <a:masterClrMapping/>
  </p:clrMapOvr>
  <p:transition>
    <p:wipe/>
    <p:sndAc>
      <p:end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a:xfrm>
            <a:off x="1295400" y="0"/>
            <a:ext cx="6748462" cy="533400"/>
          </a:xfrm>
          <a:prstGeom prst="rect">
            <a:avLst/>
          </a:prstGeom>
        </p:spPr>
        <p:txBody>
          <a:bodyPr/>
          <a:lstStyle/>
          <a:p>
            <a:r>
              <a:rPr lang="en-US" sz="4000" dirty="0">
                <a:solidFill>
                  <a:srgbClr val="993366"/>
                </a:solidFill>
                <a:latin typeface="Times New Roman" pitchFamily="18" charset="0"/>
                <a:cs typeface="Times New Roman" pitchFamily="18" charset="0"/>
              </a:rPr>
              <a:t>Section 3 exclusions</a:t>
            </a:r>
            <a:endParaRPr lang="en-US" sz="2000" dirty="0">
              <a:solidFill>
                <a:srgbClr val="993366"/>
              </a:solidFill>
              <a:latin typeface="Times New Roman" pitchFamily="18" charset="0"/>
              <a:cs typeface="Times New Roman" pitchFamily="18" charset="0"/>
            </a:endParaRPr>
          </a:p>
        </p:txBody>
      </p:sp>
      <p:sp>
        <p:nvSpPr>
          <p:cNvPr id="115715" name="Rectangle 3" descr="Rectangle: Click to edit Master text styles&#10;Second level&#10;Third level&#10;Fourth level&#10;Fifth level"/>
          <p:cNvSpPr>
            <a:spLocks noGrp="1" noChangeArrowheads="1"/>
          </p:cNvSpPr>
          <p:nvPr>
            <p:ph type="body" idx="4294967295"/>
          </p:nvPr>
        </p:nvSpPr>
        <p:spPr>
          <a:xfrm>
            <a:off x="381000" y="838200"/>
            <a:ext cx="8153400" cy="4953000"/>
          </a:xfrm>
          <a:prstGeom prst="rect">
            <a:avLst/>
          </a:prstGeom>
        </p:spPr>
        <p:txBody>
          <a:bodyPr/>
          <a:lstStyle/>
          <a:p>
            <a:pPr>
              <a:lnSpc>
                <a:spcPct val="80000"/>
              </a:lnSpc>
              <a:buClr>
                <a:schemeClr val="bg2"/>
              </a:buClr>
              <a:buFont typeface="Wingdings" pitchFamily="2" charset="2"/>
              <a:buNone/>
              <a:defRPr/>
            </a:pPr>
            <a:r>
              <a:rPr lang="en-US" sz="700" dirty="0">
                <a:latin typeface="Times New Roman" pitchFamily="18" charset="0"/>
                <a:cs typeface="Times New Roman" pitchFamily="18" charset="0"/>
              </a:rPr>
              <a:t>	</a:t>
            </a:r>
            <a:r>
              <a:rPr lang="en-US" sz="3600" dirty="0">
                <a:effectLst>
                  <a:outerShdw blurRad="38100" dist="38100" dir="2700000" algn="tl">
                    <a:srgbClr val="C0C0C0"/>
                  </a:outerShdw>
                </a:effectLst>
                <a:latin typeface="Times New Roman" pitchFamily="18" charset="0"/>
                <a:cs typeface="Times New Roman" pitchFamily="18" charset="0"/>
              </a:rPr>
              <a:t>Section 3 ( f )</a:t>
            </a:r>
            <a:r>
              <a:rPr lang="en-US" sz="1200" dirty="0">
                <a:latin typeface="Times New Roman" pitchFamily="18" charset="0"/>
                <a:cs typeface="Times New Roman" pitchFamily="18" charset="0"/>
              </a:rPr>
              <a:t>	</a:t>
            </a:r>
          </a:p>
          <a:p>
            <a:pPr algn="just">
              <a:lnSpc>
                <a:spcPts val="3600"/>
              </a:lnSpc>
              <a:buClr>
                <a:schemeClr val="bg2"/>
              </a:buClr>
              <a:buFont typeface="Wingdings" pitchFamily="2" charset="2"/>
              <a:buNone/>
              <a:defRPr/>
            </a:pPr>
            <a:r>
              <a:rPr lang="en-US" sz="700" dirty="0">
                <a:latin typeface="Times New Roman" pitchFamily="18" charset="0"/>
                <a:cs typeface="Times New Roman" pitchFamily="18" charset="0"/>
              </a:rPr>
              <a:t>	</a:t>
            </a:r>
            <a:r>
              <a:rPr lang="en-US" sz="2800" dirty="0">
                <a:latin typeface="Times New Roman" pitchFamily="18" charset="0"/>
                <a:cs typeface="Times New Roman" pitchFamily="18" charset="0"/>
              </a:rPr>
              <a:t>Mere arrangement or re-arrangement or   duplication of known devices, each</a:t>
            </a:r>
            <a:r>
              <a:rPr lang="en-US" sz="2000" dirty="0">
                <a:latin typeface="Times New Roman" pitchFamily="18" charset="0"/>
                <a:cs typeface="Times New Roman" pitchFamily="18" charset="0"/>
              </a:rPr>
              <a:t> </a:t>
            </a:r>
            <a:r>
              <a:rPr lang="en-US" sz="2800" dirty="0">
                <a:latin typeface="Times New Roman" pitchFamily="18" charset="0"/>
                <a:cs typeface="Times New Roman" pitchFamily="18" charset="0"/>
              </a:rPr>
              <a:t>functioning independently of one another  in a known way</a:t>
            </a:r>
            <a:r>
              <a:rPr lang="en-US" sz="1800" dirty="0">
                <a:latin typeface="Times New Roman" pitchFamily="18" charset="0"/>
                <a:cs typeface="Times New Roman" pitchFamily="18" charset="0"/>
              </a:rPr>
              <a:t> </a:t>
            </a:r>
          </a:p>
          <a:p>
            <a:pPr algn="just">
              <a:lnSpc>
                <a:spcPct val="80000"/>
              </a:lnSpc>
              <a:buClr>
                <a:schemeClr val="bg2"/>
              </a:buClr>
              <a:buFont typeface="Wingdings" pitchFamily="2" charset="2"/>
              <a:buNone/>
              <a:defRPr/>
            </a:pPr>
            <a:r>
              <a:rPr lang="en-US" sz="1600" dirty="0">
                <a:latin typeface="Times New Roman" pitchFamily="18" charset="0"/>
                <a:cs typeface="Times New Roman" pitchFamily="18" charset="0"/>
              </a:rPr>
              <a:t> </a:t>
            </a:r>
          </a:p>
          <a:p>
            <a:pPr algn="just">
              <a:lnSpc>
                <a:spcPct val="50000"/>
              </a:lnSpc>
              <a:buClr>
                <a:schemeClr val="bg2"/>
              </a:buClr>
              <a:buFont typeface="Wingdings" pitchFamily="2" charset="2"/>
              <a:buNone/>
              <a:defRPr/>
            </a:pPr>
            <a:r>
              <a:rPr lang="en-US" sz="3600" dirty="0">
                <a:effectLst>
                  <a:outerShdw blurRad="38100" dist="38100" dir="2700000" algn="tl">
                    <a:srgbClr val="C0C0C0"/>
                  </a:outerShdw>
                </a:effectLst>
                <a:latin typeface="Times New Roman" pitchFamily="18" charset="0"/>
                <a:cs typeface="Times New Roman" pitchFamily="18" charset="0"/>
              </a:rPr>
              <a:t>Examples</a:t>
            </a:r>
            <a:endParaRPr lang="en-US" sz="2000" i="1" dirty="0">
              <a:latin typeface="Times New Roman" pitchFamily="18" charset="0"/>
              <a:cs typeface="Times New Roman" pitchFamily="18" charset="0"/>
            </a:endParaRPr>
          </a:p>
          <a:p>
            <a:pPr lvl="2" algn="just">
              <a:lnSpc>
                <a:spcPts val="4200"/>
              </a:lnSpc>
              <a:buClr>
                <a:srgbClr val="660033"/>
              </a:buClr>
              <a:buFont typeface="Wingdings" pitchFamily="2" charset="2"/>
              <a:buChar char="§"/>
              <a:defRPr/>
            </a:pPr>
            <a:r>
              <a:rPr lang="en-US" sz="3200" dirty="0">
                <a:latin typeface="Times New Roman" pitchFamily="18" charset="0"/>
                <a:cs typeface="Times New Roman" pitchFamily="18" charset="0"/>
              </a:rPr>
              <a:t>A </a:t>
            </a:r>
            <a:r>
              <a:rPr lang="en-US" sz="2800" dirty="0">
                <a:latin typeface="Times New Roman" pitchFamily="18" charset="0"/>
                <a:cs typeface="Times New Roman" pitchFamily="18" charset="0"/>
              </a:rPr>
              <a:t>Bucket fitted with torch,</a:t>
            </a:r>
          </a:p>
          <a:p>
            <a:pPr lvl="2" algn="just">
              <a:lnSpc>
                <a:spcPts val="4200"/>
              </a:lnSpc>
              <a:buClr>
                <a:srgbClr val="660033"/>
              </a:buClr>
              <a:buFont typeface="Wingdings" pitchFamily="2" charset="2"/>
              <a:buChar char="§"/>
              <a:defRPr/>
            </a:pPr>
            <a:r>
              <a:rPr lang="en-US" sz="2800" dirty="0">
                <a:latin typeface="Times New Roman" pitchFamily="18" charset="0"/>
                <a:cs typeface="Times New Roman" pitchFamily="18" charset="0"/>
              </a:rPr>
              <a:t>An Umbrella with fan</a:t>
            </a:r>
          </a:p>
          <a:p>
            <a:pPr lvl="2" algn="just">
              <a:lnSpc>
                <a:spcPts val="4200"/>
              </a:lnSpc>
              <a:buClr>
                <a:srgbClr val="660033"/>
              </a:buClr>
              <a:buFont typeface="Wingdings" pitchFamily="2" charset="2"/>
              <a:buChar char="§"/>
              <a:defRPr/>
            </a:pPr>
            <a:r>
              <a:rPr lang="en-US" sz="2800" dirty="0">
                <a:latin typeface="Times New Roman" pitchFamily="18" charset="0"/>
                <a:cs typeface="Times New Roman" pitchFamily="18" charset="0"/>
              </a:rPr>
              <a:t>A Clock and radio in a single cabinet</a:t>
            </a:r>
          </a:p>
          <a:p>
            <a:pPr lvl="2" algn="just">
              <a:lnSpc>
                <a:spcPts val="4200"/>
              </a:lnSpc>
              <a:buClr>
                <a:srgbClr val="660033"/>
              </a:buClr>
              <a:buFont typeface="Wingdings" pitchFamily="2" charset="2"/>
              <a:buChar char="§"/>
              <a:defRPr/>
            </a:pPr>
            <a:r>
              <a:rPr lang="en-US" sz="2800" dirty="0">
                <a:latin typeface="Times New Roman" pitchFamily="18" charset="0"/>
                <a:cs typeface="Times New Roman" pitchFamily="18" charset="0"/>
              </a:rPr>
              <a:t>A flour-mill provided with sieving</a:t>
            </a:r>
            <a:endParaRPr lang="en-US" sz="1600" i="1" dirty="0">
              <a:latin typeface="Times New Roman" pitchFamily="18" charset="0"/>
              <a:cs typeface="Times New Roman" pitchFamily="18" charset="0"/>
            </a:endParaRPr>
          </a:p>
        </p:txBody>
      </p:sp>
    </p:spTree>
  </p:cSld>
  <p:clrMapOvr>
    <a:masterClrMapping/>
  </p:clrMapOvr>
  <p:transition>
    <p:wipe/>
    <p:sndAc>
      <p:end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ChangeArrowheads="1"/>
          </p:cNvSpPr>
          <p:nvPr/>
        </p:nvSpPr>
        <p:spPr bwMode="auto">
          <a:xfrm>
            <a:off x="533400" y="762000"/>
            <a:ext cx="8001000" cy="5365750"/>
          </a:xfrm>
          <a:prstGeom prst="rect">
            <a:avLst/>
          </a:prstGeom>
          <a:noFill/>
          <a:ln w="9525">
            <a:noFill/>
            <a:miter lim="800000"/>
            <a:headEnd/>
            <a:tailEnd/>
          </a:ln>
          <a:effectLst/>
        </p:spPr>
        <p:txBody>
          <a:bodyPr>
            <a:spAutoFit/>
          </a:bodyPr>
          <a:lstStyle/>
          <a:p>
            <a:pPr marL="169863" indent="-169863">
              <a:lnSpc>
                <a:spcPct val="90000"/>
              </a:lnSpc>
              <a:spcBef>
                <a:spcPct val="50000"/>
              </a:spcBef>
              <a:buClr>
                <a:schemeClr val="bg2"/>
              </a:buClr>
              <a:defRPr/>
            </a:pPr>
            <a:r>
              <a:rPr lang="en-US" sz="2800" dirty="0">
                <a:latin typeface="Times New Roman" pitchFamily="18" charset="0"/>
                <a:cs typeface="Times New Roman" pitchFamily="18" charset="0"/>
              </a:rPr>
              <a:t>	 </a:t>
            </a:r>
            <a:r>
              <a:rPr lang="en-US" sz="4000" dirty="0">
                <a:latin typeface="Times New Roman" pitchFamily="18" charset="0"/>
                <a:cs typeface="Times New Roman" pitchFamily="18" charset="0"/>
              </a:rPr>
              <a:t>Section 3(h)</a:t>
            </a:r>
            <a:r>
              <a:rPr lang="en-US" sz="3200" dirty="0">
                <a:latin typeface="Times New Roman" pitchFamily="18" charset="0"/>
                <a:cs typeface="Times New Roman" pitchFamily="18" charset="0"/>
              </a:rPr>
              <a:t> </a:t>
            </a:r>
            <a:r>
              <a:rPr lang="en-US" sz="2800" dirty="0">
                <a:latin typeface="Times New Roman" pitchFamily="18" charset="0"/>
                <a:cs typeface="Times New Roman" pitchFamily="18" charset="0"/>
              </a:rPr>
              <a:t>	</a:t>
            </a:r>
          </a:p>
          <a:p>
            <a:pPr marL="169863" indent="-169863">
              <a:lnSpc>
                <a:spcPct val="0"/>
              </a:lnSpc>
              <a:spcBef>
                <a:spcPct val="50000"/>
              </a:spcBef>
              <a:buClr>
                <a:schemeClr val="bg2"/>
              </a:buClr>
              <a:defRPr/>
            </a:pPr>
            <a:r>
              <a:rPr lang="en-US" sz="2800" dirty="0">
                <a:latin typeface="Times New Roman" pitchFamily="18" charset="0"/>
                <a:cs typeface="Times New Roman" pitchFamily="18" charset="0"/>
              </a:rPr>
              <a:t> </a:t>
            </a:r>
          </a:p>
          <a:p>
            <a:pPr marL="169863" indent="-169863">
              <a:lnSpc>
                <a:spcPct val="85000"/>
              </a:lnSpc>
              <a:spcBef>
                <a:spcPct val="50000"/>
              </a:spcBef>
              <a:buClr>
                <a:schemeClr val="bg2"/>
              </a:buClr>
              <a:defRPr/>
            </a:pPr>
            <a:r>
              <a:rPr lang="en-US" sz="3200" dirty="0">
                <a:latin typeface="Times New Roman" pitchFamily="18" charset="0"/>
                <a:cs typeface="Times New Roman" pitchFamily="18" charset="0"/>
              </a:rPr>
              <a:t>Method of Agriculture or Horticulture</a:t>
            </a:r>
            <a:endParaRPr lang="en-US" sz="2800" dirty="0">
              <a:latin typeface="Times New Roman" pitchFamily="18" charset="0"/>
              <a:cs typeface="Times New Roman" pitchFamily="18" charset="0"/>
            </a:endParaRPr>
          </a:p>
          <a:p>
            <a:pPr marL="169863" indent="-169863">
              <a:lnSpc>
                <a:spcPct val="5000"/>
              </a:lnSpc>
              <a:spcBef>
                <a:spcPct val="50000"/>
              </a:spcBef>
              <a:buClr>
                <a:schemeClr val="bg2"/>
              </a:buClr>
              <a:defRPr/>
            </a:pPr>
            <a:endParaRPr lang="en-US" sz="2800" dirty="0">
              <a:latin typeface="Times New Roman" pitchFamily="18" charset="0"/>
              <a:cs typeface="Times New Roman" pitchFamily="18" charset="0"/>
            </a:endParaRPr>
          </a:p>
          <a:p>
            <a:pPr marL="169863" indent="-169863">
              <a:lnSpc>
                <a:spcPct val="65000"/>
              </a:lnSpc>
              <a:spcBef>
                <a:spcPct val="50000"/>
              </a:spcBef>
              <a:buClr>
                <a:schemeClr val="bg2"/>
              </a:buClr>
              <a:defRPr/>
            </a:pPr>
            <a:r>
              <a:rPr lang="en-US" dirty="0">
                <a:latin typeface="Times New Roman" pitchFamily="18" charset="0"/>
                <a:cs typeface="Times New Roman" pitchFamily="18" charset="0"/>
              </a:rPr>
              <a:t>	</a:t>
            </a:r>
            <a:r>
              <a:rPr lang="en-US" sz="3600" dirty="0">
                <a:latin typeface="Times New Roman" pitchFamily="18" charset="0"/>
                <a:cs typeface="Times New Roman" pitchFamily="18" charset="0"/>
              </a:rPr>
              <a:t>Examples</a:t>
            </a:r>
            <a:endParaRPr lang="en-US" sz="1400" dirty="0">
              <a:latin typeface="Times New Roman" pitchFamily="18" charset="0"/>
              <a:cs typeface="Times New Roman" pitchFamily="18" charset="0"/>
            </a:endParaRPr>
          </a:p>
          <a:p>
            <a:pPr lvl="2" indent="-241300">
              <a:lnSpc>
                <a:spcPct val="65000"/>
              </a:lnSpc>
              <a:spcBef>
                <a:spcPct val="50000"/>
              </a:spcBef>
              <a:buClr>
                <a:schemeClr val="tx1"/>
              </a:buClr>
              <a:buSzPct val="115000"/>
              <a:buFont typeface="Wingdings" pitchFamily="2" charset="2"/>
              <a:buChar char="§"/>
              <a:defRPr/>
            </a:pPr>
            <a:r>
              <a:rPr lang="en-US" sz="2800" dirty="0">
                <a:latin typeface="Times New Roman" pitchFamily="18" charset="0"/>
                <a:cs typeface="Times New Roman" pitchFamily="18" charset="0"/>
              </a:rPr>
              <a:t>Cultivation of algae , </a:t>
            </a:r>
          </a:p>
          <a:p>
            <a:pPr lvl="2" indent="-241300">
              <a:lnSpc>
                <a:spcPct val="65000"/>
              </a:lnSpc>
              <a:spcBef>
                <a:spcPct val="50000"/>
              </a:spcBef>
              <a:buClr>
                <a:schemeClr val="tx1"/>
              </a:buClr>
              <a:buSzPct val="115000"/>
              <a:buFont typeface="Wingdings" pitchFamily="2" charset="2"/>
              <a:buChar char="§"/>
              <a:defRPr/>
            </a:pPr>
            <a:r>
              <a:rPr lang="en-US" sz="2800" dirty="0">
                <a:latin typeface="Times New Roman" pitchFamily="18" charset="0"/>
                <a:cs typeface="Times New Roman" pitchFamily="18" charset="0"/>
              </a:rPr>
              <a:t>Producing new form  of a known plant, </a:t>
            </a:r>
          </a:p>
          <a:p>
            <a:pPr lvl="2" indent="-241300">
              <a:lnSpc>
                <a:spcPct val="65000"/>
              </a:lnSpc>
              <a:spcBef>
                <a:spcPct val="50000"/>
              </a:spcBef>
              <a:buClr>
                <a:schemeClr val="tx1"/>
              </a:buClr>
              <a:buSzPct val="115000"/>
              <a:buFont typeface="Wingdings" pitchFamily="2" charset="2"/>
              <a:buChar char="§"/>
              <a:defRPr/>
            </a:pPr>
            <a:r>
              <a:rPr lang="en-US" sz="2800" dirty="0">
                <a:latin typeface="Times New Roman" pitchFamily="18" charset="0"/>
                <a:cs typeface="Times New Roman" pitchFamily="18" charset="0"/>
              </a:rPr>
              <a:t>Preparation</a:t>
            </a:r>
            <a:r>
              <a:rPr lang="en-US" dirty="0">
                <a:latin typeface="Times New Roman" pitchFamily="18" charset="0"/>
                <a:cs typeface="Times New Roman" pitchFamily="18" charset="0"/>
              </a:rPr>
              <a:t> of an improved soil</a:t>
            </a:r>
          </a:p>
          <a:p>
            <a:pPr marL="558800" lvl="1" indent="-274638">
              <a:lnSpc>
                <a:spcPct val="65000"/>
              </a:lnSpc>
              <a:spcBef>
                <a:spcPct val="50000"/>
              </a:spcBef>
              <a:defRPr/>
            </a:pPr>
            <a:r>
              <a:rPr lang="en-US" dirty="0">
                <a:latin typeface="Times New Roman" pitchFamily="18" charset="0"/>
                <a:cs typeface="Times New Roman" pitchFamily="18" charset="0"/>
              </a:rPr>
              <a:t>	       </a:t>
            </a:r>
          </a:p>
          <a:p>
            <a:pPr marL="558800" lvl="1" indent="-274638">
              <a:lnSpc>
                <a:spcPct val="25000"/>
              </a:lnSpc>
              <a:spcBef>
                <a:spcPct val="50000"/>
              </a:spcBef>
              <a:defRPr/>
            </a:pPr>
            <a:r>
              <a:rPr lang="en-US" sz="4000" i="1" dirty="0">
                <a:latin typeface="Times New Roman" pitchFamily="18" charset="0"/>
                <a:cs typeface="Times New Roman" pitchFamily="18" charset="0"/>
              </a:rPr>
              <a:t>However,</a:t>
            </a:r>
            <a:endParaRPr lang="en-US" sz="2800" dirty="0">
              <a:latin typeface="Times New Roman" pitchFamily="18" charset="0"/>
              <a:cs typeface="Times New Roman" pitchFamily="18" charset="0"/>
            </a:endParaRPr>
          </a:p>
          <a:p>
            <a:pPr marL="169863" indent="-169863">
              <a:lnSpc>
                <a:spcPct val="65000"/>
              </a:lnSpc>
              <a:spcBef>
                <a:spcPct val="50000"/>
              </a:spcBef>
              <a:defRPr/>
            </a:pPr>
            <a:r>
              <a:rPr lang="en-US" sz="2800" dirty="0">
                <a:latin typeface="Times New Roman" pitchFamily="18" charset="0"/>
                <a:cs typeface="Times New Roman" pitchFamily="18" charset="0"/>
              </a:rPr>
              <a:t>        Agricultural Equipment  are patentable</a:t>
            </a:r>
            <a:endParaRPr lang="en-US" dirty="0">
              <a:latin typeface="Times New Roman" pitchFamily="18" charset="0"/>
              <a:cs typeface="Times New Roman" pitchFamily="18" charset="0"/>
            </a:endParaRPr>
          </a:p>
        </p:txBody>
      </p:sp>
      <p:sp>
        <p:nvSpPr>
          <p:cNvPr id="116741" name="Rectangle 5"/>
          <p:cNvSpPr>
            <a:spLocks noChangeArrowheads="1"/>
          </p:cNvSpPr>
          <p:nvPr/>
        </p:nvSpPr>
        <p:spPr bwMode="auto">
          <a:xfrm>
            <a:off x="1333500" y="0"/>
            <a:ext cx="7010400" cy="646331"/>
          </a:xfrm>
          <a:prstGeom prst="rect">
            <a:avLst/>
          </a:prstGeom>
          <a:noFill/>
          <a:ln w="9525">
            <a:noFill/>
            <a:miter lim="800000"/>
            <a:headEnd/>
            <a:tailEnd/>
          </a:ln>
          <a:effectLst/>
        </p:spPr>
        <p:txBody>
          <a:bodyPr>
            <a:spAutoFit/>
          </a:bodyPr>
          <a:lstStyle/>
          <a:p>
            <a:pPr>
              <a:defRPr/>
            </a:pPr>
            <a:r>
              <a:rPr lang="en-US" sz="3600" dirty="0">
                <a:solidFill>
                  <a:schemeClr val="tx2"/>
                </a:solidFill>
                <a:latin typeface="Times New Roman" pitchFamily="18" charset="0"/>
                <a:cs typeface="Times New Roman" pitchFamily="18" charset="0"/>
              </a:rPr>
              <a:t>Section 3 exclusions</a:t>
            </a:r>
          </a:p>
        </p:txBody>
      </p:sp>
    </p:spTree>
  </p:cSld>
  <p:clrMapOvr>
    <a:masterClrMapping/>
  </p:clrMapOvr>
  <p:transition>
    <p:wipe/>
    <p:sndAc>
      <p:endSnd/>
    </p:sndAc>
  </p:transition>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7762" name="Rectangle 2" descr="Rectangle: Click to edit Master text styles&#10;Second level&#10;Third level&#10;Fourth level&#10;Fifth level"/>
          <p:cNvSpPr>
            <a:spLocks noGrp="1" noChangeArrowheads="1"/>
          </p:cNvSpPr>
          <p:nvPr>
            <p:ph type="body" idx="4294967295"/>
          </p:nvPr>
        </p:nvSpPr>
        <p:spPr>
          <a:xfrm>
            <a:off x="255258" y="540840"/>
            <a:ext cx="8736342" cy="4945559"/>
          </a:xfrm>
          <a:prstGeom prst="rect">
            <a:avLst/>
          </a:prstGeom>
        </p:spPr>
        <p:txBody>
          <a:bodyPr/>
          <a:lstStyle/>
          <a:p>
            <a:pPr marL="660400" indent="-660400">
              <a:lnSpc>
                <a:spcPct val="60000"/>
              </a:lnSpc>
              <a:spcBef>
                <a:spcPct val="50000"/>
              </a:spcBef>
              <a:buClr>
                <a:schemeClr val="accent1"/>
              </a:buClr>
              <a:buFont typeface="Wingdings" pitchFamily="2" charset="2"/>
              <a:buNone/>
              <a:defRPr/>
            </a:pPr>
            <a:endParaRPr lang="en-US" sz="700" b="1" dirty="0">
              <a:latin typeface="Times New Roman" pitchFamily="18" charset="0"/>
              <a:cs typeface="Times New Roman" pitchFamily="18" charset="0"/>
            </a:endParaRPr>
          </a:p>
          <a:p>
            <a:pPr marL="660400" indent="-660400">
              <a:lnSpc>
                <a:spcPct val="90000"/>
              </a:lnSpc>
              <a:spcBef>
                <a:spcPct val="0"/>
              </a:spcBef>
              <a:buFontTx/>
              <a:buNone/>
              <a:defRPr/>
            </a:pPr>
            <a:r>
              <a:rPr lang="en-US" dirty="0">
                <a:latin typeface="Times New Roman" pitchFamily="18" charset="0"/>
                <a:cs typeface="Times New Roman" pitchFamily="18" charset="0"/>
              </a:rPr>
              <a:t>Section 3(i)</a:t>
            </a:r>
            <a:r>
              <a:rPr lang="en-US" sz="2000" dirty="0">
                <a:latin typeface="Times New Roman" pitchFamily="18" charset="0"/>
                <a:cs typeface="Times New Roman" pitchFamily="18" charset="0"/>
              </a:rPr>
              <a:t> </a:t>
            </a:r>
          </a:p>
          <a:p>
            <a:pPr marL="660400" indent="-660400" algn="just">
              <a:lnSpc>
                <a:spcPct val="90000"/>
              </a:lnSpc>
              <a:spcBef>
                <a:spcPct val="0"/>
              </a:spcBef>
              <a:buFontTx/>
              <a:buNone/>
              <a:defRPr/>
            </a:pPr>
            <a:r>
              <a:rPr lang="en-US" sz="2400" dirty="0">
                <a:latin typeface="Times New Roman" pitchFamily="18" charset="0"/>
                <a:cs typeface="Times New Roman" pitchFamily="18" charset="0"/>
              </a:rPr>
              <a:t>	Any process for medicinal, surgical, curative, prophylactic, diagnostic, therapeutic or other treatment of human beings  </a:t>
            </a:r>
            <a:r>
              <a:rPr lang="en-US" sz="2800" i="1" dirty="0">
                <a:latin typeface="Times New Roman" pitchFamily="18" charset="0"/>
                <a:cs typeface="Times New Roman" pitchFamily="18" charset="0"/>
              </a:rPr>
              <a:t>or </a:t>
            </a:r>
            <a:r>
              <a:rPr lang="en-US" sz="2400" dirty="0">
                <a:latin typeface="Times New Roman" pitchFamily="18" charset="0"/>
                <a:cs typeface="Times New Roman" pitchFamily="18" charset="0"/>
              </a:rPr>
              <a:t>a similar treatment of animals to render them free of disease </a:t>
            </a:r>
            <a:r>
              <a:rPr lang="en-US" sz="2400" i="1" dirty="0">
                <a:latin typeface="Times New Roman" pitchFamily="18" charset="0"/>
                <a:cs typeface="Times New Roman" pitchFamily="18" charset="0"/>
              </a:rPr>
              <a:t>or</a:t>
            </a:r>
            <a:r>
              <a:rPr lang="en-US" sz="2800" i="1" dirty="0">
                <a:latin typeface="Times New Roman" pitchFamily="18" charset="0"/>
                <a:cs typeface="Times New Roman" pitchFamily="18" charset="0"/>
              </a:rPr>
              <a:t>  </a:t>
            </a:r>
            <a:r>
              <a:rPr lang="en-US" sz="2400" dirty="0">
                <a:latin typeface="Times New Roman" pitchFamily="18" charset="0"/>
                <a:cs typeface="Times New Roman" pitchFamily="18" charset="0"/>
              </a:rPr>
              <a:t>to increase their economic value or</a:t>
            </a:r>
            <a:r>
              <a:rPr lang="en-US" sz="2400" i="1" dirty="0">
                <a:latin typeface="Times New Roman" pitchFamily="18" charset="0"/>
                <a:cs typeface="Times New Roman" pitchFamily="18" charset="0"/>
              </a:rPr>
              <a:t> </a:t>
            </a:r>
            <a:r>
              <a:rPr lang="en-US" sz="2400" dirty="0">
                <a:latin typeface="Times New Roman" pitchFamily="18" charset="0"/>
                <a:cs typeface="Times New Roman" pitchFamily="18" charset="0"/>
              </a:rPr>
              <a:t> that of  their products</a:t>
            </a:r>
          </a:p>
          <a:p>
            <a:pPr marL="660400" indent="-660400" algn="just">
              <a:lnSpc>
                <a:spcPct val="90000"/>
              </a:lnSpc>
              <a:spcBef>
                <a:spcPct val="0"/>
              </a:spcBef>
              <a:buFontTx/>
              <a:buNone/>
              <a:defRPr/>
            </a:pPr>
            <a:r>
              <a:rPr lang="en-US" sz="2800" dirty="0">
                <a:latin typeface="Times New Roman" pitchFamily="18" charset="0"/>
                <a:cs typeface="Times New Roman" pitchFamily="18" charset="0"/>
              </a:rPr>
              <a:t>Examples</a:t>
            </a:r>
            <a:endParaRPr lang="en-US" sz="1600" dirty="0">
              <a:latin typeface="Times New Roman" pitchFamily="18" charset="0"/>
              <a:cs typeface="Times New Roman" pitchFamily="18" charset="0"/>
            </a:endParaRPr>
          </a:p>
          <a:p>
            <a:pPr marL="1409700" lvl="2" indent="-495300">
              <a:lnSpc>
                <a:spcPct val="50000"/>
              </a:lnSpc>
              <a:spcBef>
                <a:spcPct val="50000"/>
              </a:spcBef>
              <a:buClr>
                <a:schemeClr val="tx1"/>
              </a:buClr>
              <a:buSzPct val="110000"/>
              <a:buFont typeface="Wingdings" pitchFamily="2" charset="2"/>
              <a:buChar char="Ø"/>
              <a:defRPr/>
            </a:pPr>
            <a:r>
              <a:rPr lang="en-US" dirty="0">
                <a:latin typeface="Times New Roman" pitchFamily="18" charset="0"/>
                <a:cs typeface="Times New Roman" pitchFamily="18" charset="0"/>
              </a:rPr>
              <a:t>Removal of cancer tumor</a:t>
            </a:r>
          </a:p>
          <a:p>
            <a:pPr marL="1409700" lvl="2" indent="-495300">
              <a:lnSpc>
                <a:spcPct val="50000"/>
              </a:lnSpc>
              <a:spcBef>
                <a:spcPct val="50000"/>
              </a:spcBef>
              <a:buClr>
                <a:schemeClr val="tx1"/>
              </a:buClr>
              <a:buSzPct val="110000"/>
              <a:buFont typeface="Wingdings" pitchFamily="2" charset="2"/>
              <a:buChar char="Ø"/>
              <a:defRPr/>
            </a:pPr>
            <a:r>
              <a:rPr lang="en-US" dirty="0">
                <a:latin typeface="Times New Roman" pitchFamily="18" charset="0"/>
                <a:cs typeface="Times New Roman" pitchFamily="18" charset="0"/>
              </a:rPr>
              <a:t>Removal of dental plaque and carries</a:t>
            </a:r>
          </a:p>
          <a:p>
            <a:pPr marL="1409700" lvl="2" indent="-495300">
              <a:lnSpc>
                <a:spcPct val="50000"/>
              </a:lnSpc>
              <a:spcBef>
                <a:spcPct val="50000"/>
              </a:spcBef>
              <a:buClr>
                <a:schemeClr val="tx1"/>
              </a:buClr>
              <a:buSzPct val="110000"/>
              <a:buFont typeface="Wingdings" pitchFamily="2" charset="2"/>
              <a:buChar char="Ø"/>
              <a:defRPr/>
            </a:pPr>
            <a:r>
              <a:rPr lang="en-US" dirty="0">
                <a:latin typeface="Times New Roman" pitchFamily="18" charset="0"/>
                <a:cs typeface="Times New Roman" pitchFamily="18" charset="0"/>
              </a:rPr>
              <a:t>Surgical processes </a:t>
            </a:r>
          </a:p>
          <a:p>
            <a:pPr marL="1409700" lvl="2" indent="-495300">
              <a:lnSpc>
                <a:spcPct val="50000"/>
              </a:lnSpc>
              <a:spcBef>
                <a:spcPct val="50000"/>
              </a:spcBef>
              <a:buClr>
                <a:schemeClr val="tx1"/>
              </a:buClr>
              <a:buSzPct val="110000"/>
              <a:buFont typeface="Wingdings" pitchFamily="2" charset="2"/>
              <a:buChar char="Ø"/>
              <a:defRPr/>
            </a:pPr>
            <a:r>
              <a:rPr lang="en-US" dirty="0">
                <a:latin typeface="Times New Roman" pitchFamily="18" charset="0"/>
                <a:cs typeface="Times New Roman" pitchFamily="18" charset="0"/>
              </a:rPr>
              <a:t>Processes relating to  therapy </a:t>
            </a:r>
          </a:p>
          <a:p>
            <a:pPr marL="1409700" lvl="2" indent="-495300">
              <a:lnSpc>
                <a:spcPct val="50000"/>
              </a:lnSpc>
              <a:spcBef>
                <a:spcPct val="25000"/>
              </a:spcBef>
              <a:buClr>
                <a:schemeClr val="tx1"/>
              </a:buClr>
              <a:buSzPct val="110000"/>
              <a:buFont typeface="Wingdings" pitchFamily="2" charset="2"/>
              <a:buChar char="Ø"/>
              <a:defRPr/>
            </a:pPr>
            <a:r>
              <a:rPr lang="en-US" dirty="0">
                <a:latin typeface="Times New Roman" pitchFamily="18" charset="0"/>
                <a:cs typeface="Times New Roman" pitchFamily="18" charset="0"/>
              </a:rPr>
              <a:t>Method of vaccination, </a:t>
            </a:r>
          </a:p>
          <a:p>
            <a:pPr marL="1409700" lvl="2" indent="-495300">
              <a:lnSpc>
                <a:spcPct val="50000"/>
              </a:lnSpc>
              <a:spcBef>
                <a:spcPct val="25000"/>
              </a:spcBef>
              <a:buClr>
                <a:schemeClr val="tx1"/>
              </a:buClr>
              <a:buSzPct val="110000"/>
              <a:buFont typeface="Wingdings" pitchFamily="2" charset="2"/>
              <a:buChar char="Ø"/>
              <a:defRPr/>
            </a:pPr>
            <a:r>
              <a:rPr lang="en-US" dirty="0">
                <a:latin typeface="Times New Roman" pitchFamily="18" charset="0"/>
                <a:cs typeface="Times New Roman" pitchFamily="18" charset="0"/>
              </a:rPr>
              <a:t>Blood transfusion</a:t>
            </a:r>
          </a:p>
        </p:txBody>
      </p:sp>
      <p:sp>
        <p:nvSpPr>
          <p:cNvPr id="117765" name="Rectangle 5"/>
          <p:cNvSpPr>
            <a:spLocks noChangeArrowheads="1"/>
          </p:cNvSpPr>
          <p:nvPr/>
        </p:nvSpPr>
        <p:spPr bwMode="auto">
          <a:xfrm>
            <a:off x="2071670" y="-142900"/>
            <a:ext cx="3980577" cy="646331"/>
          </a:xfrm>
          <a:prstGeom prst="rect">
            <a:avLst/>
          </a:prstGeom>
          <a:noFill/>
          <a:ln w="9525">
            <a:noFill/>
            <a:miter lim="800000"/>
            <a:headEnd/>
            <a:tailEnd/>
          </a:ln>
          <a:effectLst/>
        </p:spPr>
        <p:txBody>
          <a:bodyPr wrap="none">
            <a:spAutoFit/>
          </a:bodyPr>
          <a:lstStyle/>
          <a:p>
            <a:pPr>
              <a:defRPr/>
            </a:pPr>
            <a:r>
              <a:rPr lang="en-US" sz="3600" dirty="0">
                <a:solidFill>
                  <a:schemeClr val="tx2"/>
                </a:solidFill>
                <a:latin typeface="Times New Roman" pitchFamily="18" charset="0"/>
                <a:cs typeface="Times New Roman" pitchFamily="18" charset="0"/>
              </a:rPr>
              <a:t>Section 3 exclusions</a:t>
            </a:r>
          </a:p>
        </p:txBody>
      </p:sp>
      <p:sp>
        <p:nvSpPr>
          <p:cNvPr id="34820" name="Rectangle 6"/>
          <p:cNvSpPr>
            <a:spLocks noChangeArrowheads="1"/>
          </p:cNvSpPr>
          <p:nvPr/>
        </p:nvSpPr>
        <p:spPr bwMode="auto">
          <a:xfrm>
            <a:off x="228599" y="4876800"/>
            <a:ext cx="8679807" cy="1588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60000"/>
              </a:lnSpc>
              <a:spcBef>
                <a:spcPct val="25000"/>
              </a:spcBef>
            </a:pPr>
            <a:r>
              <a:rPr lang="en-US" sz="3600" b="1" i="1" dirty="0">
                <a:latin typeface="Monotype Corsiva" pitchFamily="66" charset="0"/>
              </a:rPr>
              <a:t>However </a:t>
            </a:r>
            <a:r>
              <a:rPr lang="en-US" sz="3600" i="1" dirty="0">
                <a:latin typeface="Monotype Corsiva" pitchFamily="66" charset="0"/>
              </a:rPr>
              <a:t>,</a:t>
            </a:r>
            <a:endParaRPr lang="en-US" sz="2000" i="1" u="sng" dirty="0">
              <a:latin typeface="Times New Roman" pitchFamily="18" charset="0"/>
            </a:endParaRPr>
          </a:p>
          <a:p>
            <a:pPr>
              <a:lnSpc>
                <a:spcPct val="60000"/>
              </a:lnSpc>
              <a:spcBef>
                <a:spcPct val="25000"/>
              </a:spcBef>
              <a:buFont typeface="Wingdings" pitchFamily="2" charset="2"/>
              <a:buChar char="§"/>
            </a:pPr>
            <a:r>
              <a:rPr lang="en-US" sz="2400" dirty="0">
                <a:latin typeface="Book Antiqua" pitchFamily="18" charset="0"/>
              </a:rPr>
              <a:t>Treatment</a:t>
            </a:r>
            <a:r>
              <a:rPr lang="en-US" sz="2400" dirty="0">
                <a:latin typeface="Times New Roman" pitchFamily="18" charset="0"/>
              </a:rPr>
              <a:t> performed on tissues or fluids permanently removed from the body </a:t>
            </a:r>
          </a:p>
          <a:p>
            <a:pPr>
              <a:lnSpc>
                <a:spcPct val="60000"/>
              </a:lnSpc>
              <a:spcBef>
                <a:spcPct val="25000"/>
              </a:spcBef>
              <a:buFont typeface="Wingdings" pitchFamily="2" charset="2"/>
              <a:buChar char="§"/>
            </a:pPr>
            <a:r>
              <a:rPr lang="en-US" sz="2400" dirty="0" err="1">
                <a:latin typeface="Times New Roman" pitchFamily="18" charset="0"/>
              </a:rPr>
              <a:t>Surgical,therapeutic</a:t>
            </a:r>
            <a:r>
              <a:rPr lang="en-US" sz="2400" dirty="0">
                <a:latin typeface="Times New Roman" pitchFamily="18" charset="0"/>
              </a:rPr>
              <a:t> or diagnostic Apparatus or instruments</a:t>
            </a:r>
          </a:p>
          <a:p>
            <a:pPr>
              <a:lnSpc>
                <a:spcPct val="60000"/>
              </a:lnSpc>
              <a:spcBef>
                <a:spcPct val="25000"/>
              </a:spcBef>
              <a:buFont typeface="Wingdings" pitchFamily="2" charset="2"/>
              <a:buNone/>
            </a:pPr>
            <a:r>
              <a:rPr lang="en-US" sz="2000" b="1" dirty="0">
                <a:latin typeface="Times New Roman" pitchFamily="18" charset="0"/>
              </a:rPr>
              <a:t>are patentable</a:t>
            </a:r>
            <a:r>
              <a:rPr lang="en-US" sz="2400" dirty="0">
                <a:latin typeface="Times New Roman" pitchFamily="18" charset="0"/>
              </a:rPr>
              <a:t> </a:t>
            </a:r>
          </a:p>
        </p:txBody>
      </p:sp>
    </p:spTree>
  </p:cSld>
  <p:clrMapOvr>
    <a:masterClrMapping/>
  </p:clrMapOvr>
  <p:transition>
    <p:wipe/>
    <p:sndAc>
      <p:endSnd/>
    </p:sndAc>
  </p:transition>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p:cNvSpPr>
            <a:spLocks noGrp="1" noChangeArrowheads="1"/>
          </p:cNvSpPr>
          <p:nvPr>
            <p:ph type="title" idx="4294967295"/>
          </p:nvPr>
        </p:nvSpPr>
        <p:spPr>
          <a:xfrm>
            <a:off x="990600" y="0"/>
            <a:ext cx="7924800" cy="762000"/>
          </a:xfrm>
          <a:prstGeom prst="rect">
            <a:avLst/>
          </a:prstGeom>
        </p:spPr>
        <p:txBody>
          <a:bodyPr/>
          <a:lstStyle/>
          <a:p>
            <a:pPr algn="l"/>
            <a:r>
              <a:rPr lang="en-US" sz="2400" dirty="0">
                <a:solidFill>
                  <a:srgbClr val="FF0000"/>
                </a:solidFill>
                <a:latin typeface="Times New Roman" pitchFamily="18" charset="0"/>
                <a:cs typeface="Times New Roman" pitchFamily="18" charset="0"/>
              </a:rPr>
              <a:t>	 </a:t>
            </a:r>
            <a:r>
              <a:rPr lang="en-US" sz="4000" dirty="0">
                <a:solidFill>
                  <a:srgbClr val="993366"/>
                </a:solidFill>
                <a:latin typeface="Times New Roman" pitchFamily="18" charset="0"/>
                <a:cs typeface="Times New Roman" pitchFamily="18" charset="0"/>
              </a:rPr>
              <a:t>Section3 exclusions</a:t>
            </a:r>
            <a:r>
              <a:rPr lang="en-US" sz="2000" i="1" dirty="0">
                <a:solidFill>
                  <a:srgbClr val="993366"/>
                </a:solidFill>
                <a:latin typeface="Times New Roman" pitchFamily="18" charset="0"/>
                <a:cs typeface="Times New Roman" pitchFamily="18" charset="0"/>
              </a:rPr>
              <a:t> 	</a:t>
            </a:r>
            <a:endParaRPr lang="en-AU" sz="2000" i="1" dirty="0">
              <a:solidFill>
                <a:srgbClr val="993366"/>
              </a:solidFill>
              <a:latin typeface="Times New Roman" pitchFamily="18" charset="0"/>
              <a:cs typeface="Times New Roman" pitchFamily="18" charset="0"/>
            </a:endParaRPr>
          </a:p>
        </p:txBody>
      </p:sp>
      <p:sp>
        <p:nvSpPr>
          <p:cNvPr id="119811" name="Rectangle 3" descr="Rectangle: Click to edit Master text styles&#10;Second level&#10;Third level&#10;Fourth level&#10;Fifth level"/>
          <p:cNvSpPr>
            <a:spLocks noGrp="1" noChangeArrowheads="1"/>
          </p:cNvSpPr>
          <p:nvPr>
            <p:ph type="body" idx="4294967295"/>
          </p:nvPr>
        </p:nvSpPr>
        <p:spPr>
          <a:xfrm>
            <a:off x="533400" y="990600"/>
            <a:ext cx="8305800" cy="5181600"/>
          </a:xfrm>
          <a:prstGeom prst="rect">
            <a:avLst/>
          </a:prstGeom>
        </p:spPr>
        <p:txBody>
          <a:bodyPr/>
          <a:lstStyle/>
          <a:p>
            <a:pPr marL="533400" indent="-533400">
              <a:lnSpc>
                <a:spcPct val="90000"/>
              </a:lnSpc>
              <a:spcBef>
                <a:spcPct val="25000"/>
              </a:spcBef>
              <a:buClr>
                <a:srgbClr val="A50021"/>
              </a:buClr>
              <a:buFontTx/>
              <a:buNone/>
              <a:defRPr/>
            </a:pPr>
            <a:r>
              <a:rPr lang="en-US" sz="4000" dirty="0">
                <a:latin typeface="Times New Roman" pitchFamily="18" charset="0"/>
                <a:cs typeface="Times New Roman" pitchFamily="18" charset="0"/>
              </a:rPr>
              <a:t>Section 3(j)</a:t>
            </a:r>
            <a:endParaRPr lang="en-US" sz="2800" dirty="0">
              <a:latin typeface="Times New Roman" pitchFamily="18" charset="0"/>
              <a:cs typeface="Times New Roman" pitchFamily="18" charset="0"/>
            </a:endParaRPr>
          </a:p>
          <a:p>
            <a:pPr marL="533400" indent="-533400" algn="just">
              <a:lnSpc>
                <a:spcPct val="90000"/>
              </a:lnSpc>
              <a:spcBef>
                <a:spcPct val="25000"/>
              </a:spcBef>
              <a:buClr>
                <a:srgbClr val="A50021"/>
              </a:buClr>
              <a:buFontTx/>
              <a:buNone/>
              <a:defRPr/>
            </a:pPr>
            <a:r>
              <a:rPr lang="en-US" sz="2800" dirty="0">
                <a:latin typeface="Times New Roman" pitchFamily="18" charset="0"/>
                <a:cs typeface="Times New Roman" pitchFamily="18" charset="0"/>
              </a:rPr>
              <a:t>   	Plants &amp; animals in whole or any part thereof other than micro-organisms, but including seeds, varieties and species and essentially biological process for production or propagation of plants &amp; animals</a:t>
            </a:r>
          </a:p>
          <a:p>
            <a:pPr marL="533400" indent="-533400">
              <a:lnSpc>
                <a:spcPct val="90000"/>
              </a:lnSpc>
              <a:spcBef>
                <a:spcPct val="25000"/>
              </a:spcBef>
              <a:buClr>
                <a:srgbClr val="A50021"/>
              </a:buClr>
              <a:buFont typeface="Wingdings" pitchFamily="2" charset="2"/>
              <a:buNone/>
              <a:defRPr/>
            </a:pPr>
            <a:r>
              <a:rPr lang="en-US" sz="2800" dirty="0">
                <a:latin typeface="Times New Roman" pitchFamily="18" charset="0"/>
                <a:cs typeface="Times New Roman" pitchFamily="18" charset="0"/>
              </a:rPr>
              <a:t>   </a:t>
            </a:r>
            <a:r>
              <a:rPr lang="en-US" sz="2400" i="1" dirty="0">
                <a:latin typeface="Times New Roman" pitchFamily="18" charset="0"/>
                <a:cs typeface="Times New Roman" pitchFamily="18" charset="0"/>
              </a:rPr>
              <a:t>	</a:t>
            </a:r>
            <a:endParaRPr lang="en-US" sz="2400" i="1" u="sng" dirty="0">
              <a:latin typeface="Times New Roman" pitchFamily="18" charset="0"/>
              <a:cs typeface="Times New Roman" pitchFamily="18" charset="0"/>
            </a:endParaRPr>
          </a:p>
          <a:p>
            <a:pPr marL="533400" indent="-533400">
              <a:lnSpc>
                <a:spcPct val="90000"/>
              </a:lnSpc>
              <a:spcBef>
                <a:spcPct val="25000"/>
              </a:spcBef>
              <a:buClr>
                <a:srgbClr val="A50021"/>
              </a:buClr>
              <a:buFont typeface="Wingdings" pitchFamily="2" charset="2"/>
              <a:buNone/>
              <a:defRPr/>
            </a:pPr>
            <a:r>
              <a:rPr lang="en-US" sz="2400" i="1" dirty="0">
                <a:latin typeface="Times New Roman" pitchFamily="18" charset="0"/>
                <a:cs typeface="Times New Roman" pitchFamily="18" charset="0"/>
              </a:rPr>
              <a:t> 	</a:t>
            </a:r>
            <a:r>
              <a:rPr lang="en-US" sz="2800" dirty="0">
                <a:latin typeface="Times New Roman" pitchFamily="18" charset="0"/>
                <a:cs typeface="Times New Roman" pitchFamily="18" charset="0"/>
              </a:rPr>
              <a:t>	</a:t>
            </a:r>
            <a:r>
              <a:rPr lang="en-US" sz="2400" dirty="0">
                <a:latin typeface="Times New Roman" pitchFamily="18" charset="0"/>
                <a:cs typeface="Times New Roman" pitchFamily="18" charset="0"/>
              </a:rPr>
              <a:t>	</a:t>
            </a:r>
          </a:p>
        </p:txBody>
      </p:sp>
    </p:spTree>
  </p:cSld>
  <p:clrMapOvr>
    <a:masterClrMapping/>
  </p:clrMapOvr>
  <p:transition>
    <p:wipe/>
    <p:sndAc>
      <p:end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idx="4294967295"/>
          </p:nvPr>
        </p:nvSpPr>
        <p:spPr>
          <a:xfrm>
            <a:off x="825500" y="334963"/>
            <a:ext cx="7340600" cy="609600"/>
          </a:xfrm>
          <a:prstGeom prst="rect">
            <a:avLst/>
          </a:prstGeom>
        </p:spPr>
        <p:txBody>
          <a:bodyPr/>
          <a:lstStyle/>
          <a:p>
            <a:br>
              <a:rPr lang="en-US" sz="2800" i="1">
                <a:solidFill>
                  <a:srgbClr val="FF0000"/>
                </a:solidFill>
                <a:latin typeface="Arial Unicode MS" pitchFamily="34" charset="-128"/>
              </a:rPr>
            </a:br>
            <a:endParaRPr lang="en-US" sz="2800" i="1">
              <a:solidFill>
                <a:srgbClr val="FF0000"/>
              </a:solidFill>
              <a:latin typeface="Arial Unicode MS" pitchFamily="34" charset="-128"/>
            </a:endParaRPr>
          </a:p>
        </p:txBody>
      </p:sp>
      <p:sp>
        <p:nvSpPr>
          <p:cNvPr id="120835" name="Rectangle 3" descr="Rectangle: Click to edit Master text styles&#10;Second level&#10;Third level&#10;Fourth level&#10;Fifth level"/>
          <p:cNvSpPr>
            <a:spLocks noGrp="1" noChangeArrowheads="1"/>
          </p:cNvSpPr>
          <p:nvPr>
            <p:ph type="body" idx="4294967295"/>
          </p:nvPr>
        </p:nvSpPr>
        <p:spPr>
          <a:xfrm>
            <a:off x="381000" y="726256"/>
            <a:ext cx="8305800" cy="5750744"/>
          </a:xfrm>
          <a:prstGeom prst="rect">
            <a:avLst/>
          </a:prstGeom>
        </p:spPr>
        <p:txBody>
          <a:bodyPr/>
          <a:lstStyle/>
          <a:p>
            <a:pPr>
              <a:lnSpc>
                <a:spcPct val="80000"/>
              </a:lnSpc>
              <a:buFont typeface="Wingdings" pitchFamily="2" charset="2"/>
              <a:buNone/>
              <a:defRPr/>
            </a:pPr>
            <a:r>
              <a:rPr lang="en-US" sz="4000" dirty="0">
                <a:latin typeface="Times New Roman" pitchFamily="18" charset="0"/>
                <a:cs typeface="Times New Roman" pitchFamily="18" charset="0"/>
              </a:rPr>
              <a:t>Section 3(k)</a:t>
            </a:r>
            <a:r>
              <a:rPr lang="en-US" sz="2800" dirty="0">
                <a:latin typeface="Times New Roman" pitchFamily="18" charset="0"/>
                <a:cs typeface="Times New Roman" pitchFamily="18" charset="0"/>
              </a:rPr>
              <a:t> 	</a:t>
            </a:r>
          </a:p>
          <a:p>
            <a:pPr lvl="1">
              <a:lnSpc>
                <a:spcPct val="80000"/>
              </a:lnSpc>
              <a:buSzPct val="115000"/>
              <a:buFont typeface="Raavi" pitchFamily="2" charset="0"/>
              <a:buChar char="*"/>
              <a:defRPr/>
            </a:pPr>
            <a:r>
              <a:rPr lang="en-US" sz="2400" dirty="0">
                <a:latin typeface="Times New Roman" pitchFamily="18" charset="0"/>
                <a:cs typeface="Times New Roman" pitchFamily="18" charset="0"/>
              </a:rPr>
              <a:t>	mathematical method or </a:t>
            </a:r>
          </a:p>
          <a:p>
            <a:pPr lvl="1">
              <a:lnSpc>
                <a:spcPct val="80000"/>
              </a:lnSpc>
              <a:buSzPct val="115000"/>
              <a:buFont typeface="Raavi" pitchFamily="2" charset="0"/>
              <a:buChar char="*"/>
              <a:defRPr/>
            </a:pPr>
            <a:r>
              <a:rPr lang="en-US" sz="2400" dirty="0">
                <a:latin typeface="Times New Roman" pitchFamily="18" charset="0"/>
                <a:cs typeface="Times New Roman" pitchFamily="18" charset="0"/>
              </a:rPr>
              <a:t>	business method or  </a:t>
            </a:r>
          </a:p>
          <a:p>
            <a:pPr lvl="1">
              <a:lnSpc>
                <a:spcPct val="80000"/>
              </a:lnSpc>
              <a:buSzPct val="115000"/>
              <a:buFont typeface="Raavi" pitchFamily="2" charset="0"/>
              <a:buChar char="*"/>
              <a:defRPr/>
            </a:pPr>
            <a:r>
              <a:rPr lang="en-US" sz="2400" dirty="0">
                <a:latin typeface="Times New Roman" pitchFamily="18" charset="0"/>
                <a:cs typeface="Times New Roman" pitchFamily="18" charset="0"/>
              </a:rPr>
              <a:t>	algorithms or </a:t>
            </a:r>
          </a:p>
          <a:p>
            <a:pPr lvl="1">
              <a:lnSpc>
                <a:spcPct val="80000"/>
              </a:lnSpc>
              <a:buSzPct val="115000"/>
              <a:buFont typeface="Raavi" pitchFamily="2" charset="0"/>
              <a:buChar char="*"/>
              <a:defRPr/>
            </a:pPr>
            <a:r>
              <a:rPr lang="en-US" sz="2400" dirty="0">
                <a:latin typeface="Times New Roman" pitchFamily="18" charset="0"/>
                <a:cs typeface="Times New Roman" pitchFamily="18" charset="0"/>
              </a:rPr>
              <a:t>	computer </a:t>
            </a:r>
            <a:r>
              <a:rPr lang="en-US" sz="2400" dirty="0" err="1">
                <a:latin typeface="Times New Roman" pitchFamily="18" charset="0"/>
                <a:cs typeface="Times New Roman" pitchFamily="18" charset="0"/>
              </a:rPr>
              <a:t>programme</a:t>
            </a:r>
            <a:r>
              <a:rPr lang="en-US" sz="2400" dirty="0">
                <a:latin typeface="Times New Roman" pitchFamily="18" charset="0"/>
                <a:cs typeface="Times New Roman" pitchFamily="18" charset="0"/>
              </a:rPr>
              <a:t> </a:t>
            </a:r>
            <a:r>
              <a:rPr lang="en-US" sz="2400" b="1" i="1" dirty="0">
                <a:latin typeface="Times New Roman" pitchFamily="18" charset="0"/>
                <a:cs typeface="Times New Roman" pitchFamily="18" charset="0"/>
              </a:rPr>
              <a:t>per se</a:t>
            </a:r>
            <a:r>
              <a:rPr lang="en-US" dirty="0">
                <a:latin typeface="Times New Roman" pitchFamily="18" charset="0"/>
                <a:cs typeface="Times New Roman" pitchFamily="18" charset="0"/>
              </a:rPr>
              <a:t> </a:t>
            </a:r>
          </a:p>
          <a:p>
            <a:pPr>
              <a:lnSpc>
                <a:spcPct val="50000"/>
              </a:lnSpc>
              <a:buFont typeface="Wingdings" pitchFamily="2" charset="2"/>
              <a:buNone/>
              <a:defRPr/>
            </a:pPr>
            <a:r>
              <a:rPr lang="en-US" dirty="0">
                <a:latin typeface="Times New Roman" pitchFamily="18" charset="0"/>
                <a:cs typeface="Times New Roman" pitchFamily="18" charset="0"/>
              </a:rPr>
              <a:t>    </a:t>
            </a:r>
            <a:endParaRPr lang="en-US" sz="2800" u="sng" dirty="0">
              <a:latin typeface="Times New Roman" pitchFamily="18" charset="0"/>
              <a:cs typeface="Times New Roman" pitchFamily="18" charset="0"/>
            </a:endParaRPr>
          </a:p>
          <a:p>
            <a:pPr>
              <a:lnSpc>
                <a:spcPct val="80000"/>
              </a:lnSpc>
              <a:buFont typeface="Wingdings" pitchFamily="2" charset="2"/>
              <a:buNone/>
              <a:defRPr/>
            </a:pPr>
            <a:r>
              <a:rPr lang="en-US" sz="2400" b="1" i="1" dirty="0">
                <a:latin typeface="Times New Roman" pitchFamily="18" charset="0"/>
                <a:cs typeface="Times New Roman" pitchFamily="18" charset="0"/>
              </a:rPr>
              <a:t>	</a:t>
            </a:r>
            <a:r>
              <a:rPr lang="en-US" sz="3600" dirty="0">
                <a:latin typeface="Times New Roman" pitchFamily="18" charset="0"/>
                <a:cs typeface="Times New Roman" pitchFamily="18" charset="0"/>
              </a:rPr>
              <a:t>Examples</a:t>
            </a:r>
            <a:endParaRPr lang="en-US" sz="2400" i="1" dirty="0">
              <a:latin typeface="Times New Roman" pitchFamily="18" charset="0"/>
              <a:cs typeface="Times New Roman" pitchFamily="18" charset="0"/>
            </a:endParaRPr>
          </a:p>
          <a:p>
            <a:pPr lvl="1">
              <a:lnSpc>
                <a:spcPct val="90000"/>
              </a:lnSpc>
              <a:buClr>
                <a:srgbClr val="A50021"/>
              </a:buClr>
              <a:buSzPct val="115000"/>
              <a:defRPr/>
            </a:pPr>
            <a:r>
              <a:rPr lang="en-US" sz="2400" i="1" dirty="0">
                <a:latin typeface="Times New Roman" pitchFamily="18" charset="0"/>
                <a:cs typeface="Times New Roman" pitchFamily="18" charset="0"/>
              </a:rPr>
              <a:t>Computer program by itself  or as a record on a carrier</a:t>
            </a:r>
          </a:p>
          <a:p>
            <a:pPr lvl="1">
              <a:lnSpc>
                <a:spcPct val="90000"/>
              </a:lnSpc>
              <a:buClr>
                <a:srgbClr val="A50021"/>
              </a:buClr>
              <a:buSzPct val="115000"/>
              <a:buFont typeface="Wingdings" pitchFamily="2" charset="2"/>
              <a:buNone/>
              <a:defRPr/>
            </a:pPr>
            <a:r>
              <a:rPr lang="en-US" sz="3600" dirty="0">
                <a:latin typeface="Times New Roman" pitchFamily="18" charset="0"/>
                <a:cs typeface="Times New Roman" pitchFamily="18" charset="0"/>
              </a:rPr>
              <a:t>However </a:t>
            </a:r>
            <a:endParaRPr lang="en-US" sz="2000" dirty="0">
              <a:latin typeface="Times New Roman" pitchFamily="18" charset="0"/>
              <a:cs typeface="Times New Roman" pitchFamily="18" charset="0"/>
            </a:endParaRPr>
          </a:p>
          <a:p>
            <a:pPr lvl="1">
              <a:lnSpc>
                <a:spcPct val="90000"/>
              </a:lnSpc>
              <a:spcBef>
                <a:spcPct val="25000"/>
              </a:spcBef>
              <a:buClr>
                <a:srgbClr val="A50021"/>
              </a:buClr>
              <a:buSzPct val="115000"/>
              <a:defRPr/>
            </a:pPr>
            <a:r>
              <a:rPr lang="en-US" sz="2400" dirty="0">
                <a:latin typeface="Times New Roman" pitchFamily="18" charset="0"/>
                <a:cs typeface="Times New Roman" pitchFamily="18" charset="0"/>
              </a:rPr>
              <a:t>New calculating machine </a:t>
            </a:r>
          </a:p>
          <a:p>
            <a:pPr lvl="1">
              <a:lnSpc>
                <a:spcPct val="90000"/>
              </a:lnSpc>
              <a:spcBef>
                <a:spcPct val="25000"/>
              </a:spcBef>
              <a:buClr>
                <a:srgbClr val="A50021"/>
              </a:buClr>
              <a:buSzPct val="115000"/>
              <a:defRPr/>
            </a:pPr>
            <a:r>
              <a:rPr lang="en-US" sz="2400" dirty="0">
                <a:latin typeface="Times New Roman" pitchFamily="18" charset="0"/>
                <a:cs typeface="Times New Roman" pitchFamily="18" charset="0"/>
              </a:rPr>
              <a:t>combination of hardware and software  </a:t>
            </a:r>
          </a:p>
          <a:p>
            <a:pPr lvl="1">
              <a:lnSpc>
                <a:spcPct val="90000"/>
              </a:lnSpc>
              <a:spcBef>
                <a:spcPct val="25000"/>
              </a:spcBef>
              <a:buClr>
                <a:srgbClr val="A50021"/>
              </a:buClr>
              <a:buSzPct val="115000"/>
              <a:buFont typeface="Wingdings" pitchFamily="2" charset="2"/>
              <a:buNone/>
              <a:defRPr/>
            </a:pPr>
            <a:r>
              <a:rPr lang="en-US" sz="2400" b="1" dirty="0">
                <a:latin typeface="Times New Roman" pitchFamily="18" charset="0"/>
                <a:cs typeface="Times New Roman" pitchFamily="18" charset="0"/>
              </a:rPr>
              <a:t>is patentable</a:t>
            </a:r>
            <a:r>
              <a:rPr lang="en-US" sz="2000" dirty="0">
                <a:latin typeface="Times New Roman" pitchFamily="18" charset="0"/>
                <a:cs typeface="Times New Roman" pitchFamily="18" charset="0"/>
              </a:rPr>
              <a:t> </a:t>
            </a:r>
          </a:p>
        </p:txBody>
      </p:sp>
      <p:sp>
        <p:nvSpPr>
          <p:cNvPr id="38916" name="Rectangle 8"/>
          <p:cNvSpPr>
            <a:spLocks noChangeArrowheads="1"/>
          </p:cNvSpPr>
          <p:nvPr/>
        </p:nvSpPr>
        <p:spPr bwMode="auto">
          <a:xfrm>
            <a:off x="1600200" y="0"/>
            <a:ext cx="6934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4000" dirty="0">
                <a:solidFill>
                  <a:srgbClr val="993366"/>
                </a:solidFill>
                <a:latin typeface="Times New Roman" pitchFamily="18" charset="0"/>
                <a:cs typeface="Times New Roman" pitchFamily="18" charset="0"/>
              </a:rPr>
              <a:t>Section 3 exclusions</a:t>
            </a:r>
            <a:r>
              <a:rPr lang="en-US" sz="1400" b="1" i="1" dirty="0">
                <a:solidFill>
                  <a:srgbClr val="993366"/>
                </a:solidFill>
                <a:latin typeface="Times New Roman" pitchFamily="18" charset="0"/>
                <a:cs typeface="Times New Roman" pitchFamily="18" charset="0"/>
              </a:rPr>
              <a:t> 	</a:t>
            </a:r>
          </a:p>
        </p:txBody>
      </p:sp>
    </p:spTree>
  </p:cSld>
  <p:clrMapOvr>
    <a:masterClrMapping/>
  </p:clrMapOvr>
  <p:transition>
    <p:wipe/>
    <p:sndAc>
      <p:end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825500" y="334963"/>
            <a:ext cx="7340600" cy="609600"/>
          </a:xfrm>
          <a:prstGeom prst="rect">
            <a:avLst/>
          </a:prstGeom>
        </p:spPr>
        <p:txBody>
          <a:bodyPr/>
          <a:lstStyle/>
          <a:p>
            <a:br>
              <a:rPr lang="en-US" sz="2800" i="1">
                <a:solidFill>
                  <a:srgbClr val="FF0000"/>
                </a:solidFill>
                <a:latin typeface="Arial Unicode MS" pitchFamily="34" charset="-128"/>
              </a:rPr>
            </a:br>
            <a:endParaRPr lang="en-US" sz="2800" i="1">
              <a:solidFill>
                <a:srgbClr val="FF0000"/>
              </a:solidFill>
              <a:latin typeface="Arial Unicode MS" pitchFamily="34" charset="-128"/>
            </a:endParaRPr>
          </a:p>
        </p:txBody>
      </p:sp>
      <p:sp>
        <p:nvSpPr>
          <p:cNvPr id="154627" name="Rectangle 3" descr="Rectangle: Click to edit Master text styles&#10;Second level&#10;Third level&#10;Fourth level&#10;Fifth level"/>
          <p:cNvSpPr>
            <a:spLocks noGrp="1" noChangeArrowheads="1"/>
          </p:cNvSpPr>
          <p:nvPr>
            <p:ph type="body" idx="4294967295"/>
          </p:nvPr>
        </p:nvSpPr>
        <p:spPr>
          <a:xfrm>
            <a:off x="381000" y="990600"/>
            <a:ext cx="8534400" cy="5181600"/>
          </a:xfrm>
          <a:prstGeom prst="rect">
            <a:avLst/>
          </a:prstGeom>
        </p:spPr>
        <p:txBody>
          <a:bodyPr/>
          <a:lstStyle/>
          <a:p>
            <a:pPr>
              <a:lnSpc>
                <a:spcPct val="80000"/>
              </a:lnSpc>
              <a:buFont typeface="Wingdings" pitchFamily="2" charset="2"/>
              <a:buNone/>
              <a:defRPr/>
            </a:pPr>
            <a:r>
              <a:rPr lang="en-US" sz="4000" dirty="0">
                <a:latin typeface="Times New Roman" pitchFamily="18" charset="0"/>
                <a:cs typeface="Times New Roman" pitchFamily="18" charset="0"/>
              </a:rPr>
              <a:t>Section 3(l)</a:t>
            </a:r>
            <a:r>
              <a:rPr lang="en-US" sz="2800" dirty="0">
                <a:latin typeface="Times New Roman" pitchFamily="18" charset="0"/>
                <a:cs typeface="Times New Roman" pitchFamily="18" charset="0"/>
              </a:rPr>
              <a:t> </a:t>
            </a:r>
            <a:r>
              <a:rPr lang="en-US" sz="2800" dirty="0"/>
              <a:t>	</a:t>
            </a:r>
          </a:p>
          <a:p>
            <a:pPr>
              <a:lnSpc>
                <a:spcPct val="90000"/>
              </a:lnSpc>
              <a:spcBef>
                <a:spcPct val="25000"/>
              </a:spcBef>
              <a:buClr>
                <a:srgbClr val="A50021"/>
              </a:buClr>
              <a:buFont typeface="Wingdings" pitchFamily="2" charset="2"/>
              <a:buNone/>
              <a:defRPr/>
            </a:pPr>
            <a:r>
              <a:rPr lang="en-US" sz="2400" dirty="0"/>
              <a:t>	</a:t>
            </a:r>
            <a:r>
              <a:rPr lang="en-US" dirty="0">
                <a:latin typeface="Times New Roman" pitchFamily="18" charset="0"/>
                <a:cs typeface="Times New Roman" pitchFamily="18" charset="0"/>
              </a:rPr>
              <a:t>A literary, dramatic, musical or artistic work or any other aesthetic creation including cinematographic work and television productions  </a:t>
            </a:r>
          </a:p>
          <a:p>
            <a:pPr>
              <a:lnSpc>
                <a:spcPct val="20000"/>
              </a:lnSpc>
              <a:spcBef>
                <a:spcPct val="25000"/>
              </a:spcBef>
              <a:buClr>
                <a:srgbClr val="A50021"/>
              </a:buClr>
              <a:buFont typeface="Wingdings" pitchFamily="2" charset="2"/>
              <a:buNone/>
              <a:defRPr/>
            </a:pPr>
            <a:endParaRPr lang="en-US" sz="2800" dirty="0">
              <a:latin typeface="Times New Roman" pitchFamily="18" charset="0"/>
              <a:cs typeface="Times New Roman" pitchFamily="18" charset="0"/>
            </a:endParaRPr>
          </a:p>
          <a:p>
            <a:pPr>
              <a:lnSpc>
                <a:spcPct val="90000"/>
              </a:lnSpc>
              <a:spcBef>
                <a:spcPct val="25000"/>
              </a:spcBef>
              <a:buClr>
                <a:srgbClr val="A50021"/>
              </a:buClr>
              <a:buFont typeface="Wingdings" pitchFamily="2" charset="2"/>
              <a:buNone/>
              <a:defRPr/>
            </a:pPr>
            <a:r>
              <a:rPr lang="en-US" sz="2000" dirty="0"/>
              <a:t>	</a:t>
            </a:r>
            <a:r>
              <a:rPr lang="en-US" dirty="0">
                <a:latin typeface="Times New Roman" pitchFamily="18" charset="0"/>
                <a:cs typeface="Times New Roman" pitchFamily="18" charset="0"/>
              </a:rPr>
              <a:t>These subject-matters fall under the copyright protection</a:t>
            </a:r>
          </a:p>
          <a:p>
            <a:pPr>
              <a:lnSpc>
                <a:spcPct val="30000"/>
              </a:lnSpc>
              <a:spcBef>
                <a:spcPct val="25000"/>
              </a:spcBef>
              <a:buClr>
                <a:srgbClr val="A50021"/>
              </a:buClr>
              <a:buFont typeface="Wingdings" pitchFamily="2" charset="2"/>
              <a:buNone/>
              <a:defRPr/>
            </a:pPr>
            <a:endParaRPr lang="en-US" sz="2400" dirty="0"/>
          </a:p>
        </p:txBody>
      </p:sp>
      <p:sp>
        <p:nvSpPr>
          <p:cNvPr id="39940" name="Rectangle 4"/>
          <p:cNvSpPr>
            <a:spLocks noChangeArrowheads="1"/>
          </p:cNvSpPr>
          <p:nvPr/>
        </p:nvSpPr>
        <p:spPr bwMode="auto">
          <a:xfrm>
            <a:off x="1600200" y="0"/>
            <a:ext cx="6934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sz="4000" dirty="0">
                <a:latin typeface="Book Antiqua" pitchFamily="18" charset="0"/>
              </a:rPr>
              <a:t>Section 3 exclusions</a:t>
            </a:r>
            <a:r>
              <a:rPr lang="en-US" sz="1400" b="1" i="1" dirty="0">
                <a:latin typeface="Book Antiqua" pitchFamily="18" charset="0"/>
              </a:rPr>
              <a:t> </a:t>
            </a:r>
            <a:r>
              <a:rPr lang="en-US" sz="1400" b="1" i="1" dirty="0">
                <a:latin typeface="Arial Unicode MS" pitchFamily="34" charset="-128"/>
              </a:rPr>
              <a:t>	</a:t>
            </a:r>
          </a:p>
        </p:txBody>
      </p:sp>
    </p:spTree>
  </p:cSld>
  <p:clrMapOvr>
    <a:masterClrMapping/>
  </p:clrMapOvr>
  <p:transition>
    <p:wipe/>
    <p:sndAc>
      <p:end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825500" y="334963"/>
            <a:ext cx="7340600" cy="609600"/>
          </a:xfrm>
          <a:prstGeom prst="rect">
            <a:avLst/>
          </a:prstGeom>
        </p:spPr>
        <p:txBody>
          <a:bodyPr/>
          <a:lstStyle/>
          <a:p>
            <a:br>
              <a:rPr lang="en-US" sz="2800" i="1">
                <a:solidFill>
                  <a:srgbClr val="FF0000"/>
                </a:solidFill>
                <a:latin typeface="Arial Unicode MS" pitchFamily="34" charset="-128"/>
              </a:rPr>
            </a:br>
            <a:endParaRPr lang="en-US" sz="2800" i="1">
              <a:solidFill>
                <a:srgbClr val="FF0000"/>
              </a:solidFill>
              <a:latin typeface="Arial Unicode MS" pitchFamily="34" charset="-128"/>
            </a:endParaRPr>
          </a:p>
        </p:txBody>
      </p:sp>
      <p:sp>
        <p:nvSpPr>
          <p:cNvPr id="156675" name="Rectangle 3" descr="Rectangle: Click to edit Master text styles&#10;Second level&#10;Third level&#10;Fourth level&#10;Fifth level"/>
          <p:cNvSpPr>
            <a:spLocks noGrp="1" noChangeArrowheads="1"/>
          </p:cNvSpPr>
          <p:nvPr>
            <p:ph type="body" idx="4294967295"/>
          </p:nvPr>
        </p:nvSpPr>
        <p:spPr>
          <a:xfrm>
            <a:off x="304800" y="990600"/>
            <a:ext cx="7924800" cy="5181600"/>
          </a:xfrm>
          <a:prstGeom prst="rect">
            <a:avLst/>
          </a:prstGeom>
        </p:spPr>
        <p:txBody>
          <a:bodyPr/>
          <a:lstStyle/>
          <a:p>
            <a:pPr marL="53975" indent="-53975">
              <a:lnSpc>
                <a:spcPct val="80000"/>
              </a:lnSpc>
              <a:buFont typeface="Wingdings" pitchFamily="2" charset="2"/>
              <a:buNone/>
              <a:defRPr/>
            </a:pPr>
            <a:r>
              <a:rPr lang="en-US" sz="4000" dirty="0">
                <a:solidFill>
                  <a:srgbClr val="FF3300"/>
                </a:solidFill>
                <a:latin typeface="Times New Roman" pitchFamily="18" charset="0"/>
                <a:cs typeface="Times New Roman" pitchFamily="18" charset="0"/>
              </a:rPr>
              <a:t>Section 3(m)</a:t>
            </a:r>
            <a:r>
              <a:rPr lang="en-US" sz="2800" dirty="0">
                <a:latin typeface="Times New Roman" pitchFamily="18" charset="0"/>
                <a:cs typeface="Times New Roman" pitchFamily="18" charset="0"/>
              </a:rPr>
              <a:t> 	</a:t>
            </a:r>
          </a:p>
          <a:p>
            <a:pPr marL="53975" indent="-53975">
              <a:lnSpc>
                <a:spcPct val="80000"/>
              </a:lnSpc>
              <a:spcBef>
                <a:spcPct val="25000"/>
              </a:spcBef>
              <a:buClr>
                <a:srgbClr val="A50021"/>
              </a:buClr>
              <a:buFont typeface="Wingdings" pitchFamily="2" charset="2"/>
              <a:buNone/>
              <a:defRPr/>
            </a:pPr>
            <a:r>
              <a:rPr lang="en-US" sz="2400" dirty="0">
                <a:solidFill>
                  <a:srgbClr val="990099"/>
                </a:solidFill>
                <a:latin typeface="Times New Roman" pitchFamily="18" charset="0"/>
                <a:cs typeface="Times New Roman" pitchFamily="18" charset="0"/>
              </a:rPr>
              <a:t>	</a:t>
            </a:r>
            <a:r>
              <a:rPr lang="en-US" sz="2400" dirty="0">
                <a:latin typeface="Times New Roman" pitchFamily="18" charset="0"/>
                <a:cs typeface="Times New Roman" pitchFamily="18" charset="0"/>
              </a:rPr>
              <a:t>A mere scheme or rule or method of performing mental act or method of playing game</a:t>
            </a:r>
          </a:p>
          <a:p>
            <a:pPr marL="53975" indent="-53975">
              <a:lnSpc>
                <a:spcPct val="30000"/>
              </a:lnSpc>
              <a:buFont typeface="Wingdings" pitchFamily="2" charset="2"/>
              <a:buNone/>
              <a:defRPr/>
            </a:pPr>
            <a:r>
              <a:rPr lang="en-US" sz="2000" dirty="0">
                <a:solidFill>
                  <a:srgbClr val="000066"/>
                </a:solidFill>
                <a:latin typeface="Times New Roman" pitchFamily="18" charset="0"/>
                <a:cs typeface="Times New Roman" pitchFamily="18" charset="0"/>
              </a:rPr>
              <a:t> </a:t>
            </a:r>
          </a:p>
          <a:p>
            <a:pPr marL="53975" indent="-53975">
              <a:lnSpc>
                <a:spcPct val="80000"/>
              </a:lnSpc>
              <a:buFont typeface="Wingdings" pitchFamily="2" charset="2"/>
              <a:buNone/>
              <a:defRPr/>
            </a:pPr>
            <a:r>
              <a:rPr lang="en-US" sz="2400" i="1" dirty="0">
                <a:solidFill>
                  <a:srgbClr val="0E4E4E"/>
                </a:solidFill>
                <a:latin typeface="Times New Roman" pitchFamily="18" charset="0"/>
                <a:cs typeface="Times New Roman" pitchFamily="18" charset="0"/>
              </a:rPr>
              <a:t>	</a:t>
            </a:r>
            <a:r>
              <a:rPr lang="en-US" sz="3600" dirty="0">
                <a:solidFill>
                  <a:srgbClr val="A50021"/>
                </a:solidFill>
                <a:latin typeface="Times New Roman" pitchFamily="18" charset="0"/>
                <a:cs typeface="Times New Roman" pitchFamily="18" charset="0"/>
              </a:rPr>
              <a:t>Examples</a:t>
            </a:r>
            <a:endParaRPr lang="en-US" sz="2000" dirty="0">
              <a:solidFill>
                <a:srgbClr val="000066"/>
              </a:solidFill>
              <a:latin typeface="Times New Roman" pitchFamily="18" charset="0"/>
              <a:cs typeface="Times New Roman" pitchFamily="18" charset="0"/>
            </a:endParaRPr>
          </a:p>
          <a:p>
            <a:pPr marL="53975" indent="-53975">
              <a:lnSpc>
                <a:spcPct val="80000"/>
              </a:lnSpc>
              <a:buSzPct val="125000"/>
              <a:defRPr/>
            </a:pPr>
            <a:r>
              <a:rPr lang="en-US" sz="2400" dirty="0">
                <a:latin typeface="Times New Roman" pitchFamily="18" charset="0"/>
                <a:cs typeface="Times New Roman" pitchFamily="18" charset="0"/>
              </a:rPr>
              <a:t>Scheme for learning a language </a:t>
            </a:r>
          </a:p>
          <a:p>
            <a:pPr marL="53975" indent="-53975">
              <a:lnSpc>
                <a:spcPct val="80000"/>
              </a:lnSpc>
              <a:buSzPct val="125000"/>
              <a:defRPr/>
            </a:pPr>
            <a:r>
              <a:rPr lang="en-US" sz="2400" dirty="0">
                <a:latin typeface="Times New Roman" pitchFamily="18" charset="0"/>
                <a:cs typeface="Times New Roman" pitchFamily="18" charset="0"/>
              </a:rPr>
              <a:t>Method for solving a crossword puzzle,   </a:t>
            </a:r>
          </a:p>
          <a:p>
            <a:pPr marL="53975" indent="-53975">
              <a:lnSpc>
                <a:spcPct val="80000"/>
              </a:lnSpc>
              <a:buSzPct val="125000"/>
              <a:defRPr/>
            </a:pPr>
            <a:r>
              <a:rPr lang="en-US" sz="2400" dirty="0">
                <a:latin typeface="Times New Roman" pitchFamily="18" charset="0"/>
                <a:cs typeface="Times New Roman" pitchFamily="18" charset="0"/>
              </a:rPr>
              <a:t>Method of learning a language </a:t>
            </a:r>
          </a:p>
          <a:p>
            <a:pPr marL="53975" indent="-53975">
              <a:lnSpc>
                <a:spcPct val="80000"/>
              </a:lnSpc>
              <a:buSzPct val="125000"/>
              <a:defRPr/>
            </a:pPr>
            <a:r>
              <a:rPr lang="en-US" sz="2400" dirty="0">
                <a:latin typeface="Times New Roman" pitchFamily="18" charset="0"/>
                <a:cs typeface="Times New Roman" pitchFamily="18" charset="0"/>
              </a:rPr>
              <a:t>Method of teaching /learning </a:t>
            </a:r>
          </a:p>
          <a:p>
            <a:pPr marL="53975" indent="-53975">
              <a:lnSpc>
                <a:spcPct val="80000"/>
              </a:lnSpc>
              <a:buFont typeface="Wingdings" pitchFamily="2" charset="2"/>
              <a:buNone/>
              <a:defRPr/>
            </a:pPr>
            <a:endParaRPr lang="en-US" sz="2400" dirty="0">
              <a:solidFill>
                <a:schemeClr val="tx2"/>
              </a:solidFill>
              <a:latin typeface="Times New Roman" pitchFamily="18" charset="0"/>
              <a:cs typeface="Times New Roman" pitchFamily="18" charset="0"/>
            </a:endParaRPr>
          </a:p>
          <a:p>
            <a:pPr marL="53975" indent="-53975">
              <a:lnSpc>
                <a:spcPct val="80000"/>
              </a:lnSpc>
              <a:buFont typeface="Wingdings" pitchFamily="2" charset="2"/>
              <a:buNone/>
              <a:defRPr/>
            </a:pPr>
            <a:r>
              <a:rPr lang="en-US" sz="4000" i="1" dirty="0">
                <a:solidFill>
                  <a:schemeClr val="tx2"/>
                </a:solidFill>
                <a:latin typeface="Times New Roman" pitchFamily="18" charset="0"/>
                <a:cs typeface="Times New Roman" pitchFamily="18" charset="0"/>
              </a:rPr>
              <a:t>However,</a:t>
            </a:r>
            <a:endParaRPr lang="en-US" dirty="0">
              <a:solidFill>
                <a:schemeClr val="tx2"/>
              </a:solidFill>
              <a:latin typeface="Times New Roman" pitchFamily="18" charset="0"/>
              <a:cs typeface="Times New Roman" pitchFamily="18" charset="0"/>
            </a:endParaRPr>
          </a:p>
          <a:p>
            <a:pPr marL="53975" indent="-53975">
              <a:lnSpc>
                <a:spcPct val="80000"/>
              </a:lnSpc>
              <a:defRPr/>
            </a:pPr>
            <a:r>
              <a:rPr lang="en-US" sz="2400" dirty="0">
                <a:latin typeface="Times New Roman" pitchFamily="18" charset="0"/>
                <a:cs typeface="Times New Roman" pitchFamily="18" charset="0"/>
              </a:rPr>
              <a:t>Novel apparatus for playing game or carrying out a scheme</a:t>
            </a:r>
            <a:r>
              <a:rPr lang="en-US" sz="2400" i="1" dirty="0">
                <a:latin typeface="Times New Roman" pitchFamily="18" charset="0"/>
                <a:cs typeface="Times New Roman" pitchFamily="18" charset="0"/>
              </a:rPr>
              <a:t> is  patentable</a:t>
            </a:r>
            <a:r>
              <a:rPr lang="en-US" sz="2400" dirty="0">
                <a:latin typeface="Times New Roman" pitchFamily="18" charset="0"/>
                <a:cs typeface="Times New Roman" pitchFamily="18" charset="0"/>
              </a:rPr>
              <a:t> </a:t>
            </a:r>
            <a:endParaRPr lang="en-US" dirty="0">
              <a:latin typeface="Times New Roman" pitchFamily="18" charset="0"/>
              <a:cs typeface="Times New Roman" pitchFamily="18" charset="0"/>
            </a:endParaRPr>
          </a:p>
          <a:p>
            <a:pPr marL="53975" indent="-53975">
              <a:lnSpc>
                <a:spcPct val="30000"/>
              </a:lnSpc>
              <a:spcBef>
                <a:spcPct val="25000"/>
              </a:spcBef>
              <a:buClr>
                <a:srgbClr val="A50021"/>
              </a:buClr>
              <a:buFont typeface="Wingdings" pitchFamily="2" charset="2"/>
              <a:buNone/>
              <a:defRPr/>
            </a:pPr>
            <a:endParaRPr lang="en-US" sz="2400" dirty="0">
              <a:solidFill>
                <a:srgbClr val="800000"/>
              </a:solidFill>
              <a:latin typeface="Times New Roman" pitchFamily="18" charset="0"/>
              <a:cs typeface="Times New Roman" pitchFamily="18" charset="0"/>
            </a:endParaRPr>
          </a:p>
        </p:txBody>
      </p:sp>
      <p:sp>
        <p:nvSpPr>
          <p:cNvPr id="40964" name="Rectangle 4"/>
          <p:cNvSpPr>
            <a:spLocks noChangeArrowheads="1"/>
          </p:cNvSpPr>
          <p:nvPr/>
        </p:nvSpPr>
        <p:spPr bwMode="auto">
          <a:xfrm>
            <a:off x="1295400" y="0"/>
            <a:ext cx="69342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sz="3600" dirty="0">
                <a:solidFill>
                  <a:srgbClr val="993366"/>
                </a:solidFill>
                <a:latin typeface="Times New Roman" pitchFamily="18" charset="0"/>
                <a:cs typeface="Times New Roman" pitchFamily="18" charset="0"/>
              </a:rPr>
              <a:t>Section 3 exclusions</a:t>
            </a:r>
            <a:r>
              <a:rPr lang="en-US" sz="1200" b="1" i="1" dirty="0">
                <a:solidFill>
                  <a:srgbClr val="993366"/>
                </a:solidFill>
                <a:latin typeface="Times New Roman" pitchFamily="18" charset="0"/>
                <a:cs typeface="Times New Roman" pitchFamily="18" charset="0"/>
              </a:rPr>
              <a:t> 	</a:t>
            </a:r>
          </a:p>
        </p:txBody>
      </p:sp>
    </p:spTree>
  </p:cSld>
  <p:clrMapOvr>
    <a:masterClrMapping/>
  </p:clrMapOvr>
  <p:transition>
    <p:wipe/>
    <p:sndAc>
      <p:end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descr="Rectangle: Click to edit Master text styles&#10;Second level&#10;Third level&#10;Fourth level&#10;Fifth level"/>
          <p:cNvSpPr>
            <a:spLocks noGrp="1" noChangeArrowheads="1"/>
          </p:cNvSpPr>
          <p:nvPr>
            <p:ph type="body" idx="4294967295"/>
          </p:nvPr>
        </p:nvSpPr>
        <p:spPr>
          <a:xfrm>
            <a:off x="336755" y="814388"/>
            <a:ext cx="8305800" cy="5334000"/>
          </a:xfrm>
          <a:prstGeom prst="rect">
            <a:avLst/>
          </a:prstGeom>
        </p:spPr>
        <p:txBody>
          <a:bodyPr/>
          <a:lstStyle/>
          <a:p>
            <a:pPr marL="350838" indent="-350838">
              <a:buClr>
                <a:srgbClr val="FF0000"/>
              </a:buClr>
              <a:buFont typeface="Wingdings" pitchFamily="2" charset="2"/>
              <a:buNone/>
              <a:defRPr/>
            </a:pPr>
            <a:r>
              <a:rPr lang="en-US" sz="3600" dirty="0">
                <a:latin typeface="Times New Roman" pitchFamily="18" charset="0"/>
                <a:cs typeface="Times New Roman" pitchFamily="18" charset="0"/>
              </a:rPr>
              <a:t>Section 3 (n)</a:t>
            </a:r>
          </a:p>
          <a:p>
            <a:pPr marL="350838" indent="-350838">
              <a:buClr>
                <a:srgbClr val="FF0000"/>
              </a:buClr>
              <a:buFont typeface="Wingdings" pitchFamily="2" charset="2"/>
              <a:buNone/>
              <a:defRPr/>
            </a:pPr>
            <a:r>
              <a:rPr lang="en-US" dirty="0">
                <a:latin typeface="Times New Roman" pitchFamily="18" charset="0"/>
                <a:cs typeface="Times New Roman" pitchFamily="18" charset="0"/>
              </a:rPr>
              <a:t>Presentation of information</a:t>
            </a:r>
            <a:r>
              <a:rPr lang="en-US" sz="2400" dirty="0">
                <a:latin typeface="Times New Roman" pitchFamily="18" charset="0"/>
                <a:cs typeface="Times New Roman" pitchFamily="18" charset="0"/>
              </a:rPr>
              <a:t> </a:t>
            </a:r>
          </a:p>
          <a:p>
            <a:pPr marL="350838" indent="-350838">
              <a:lnSpc>
                <a:spcPct val="80000"/>
              </a:lnSpc>
              <a:buClr>
                <a:srgbClr val="FF0000"/>
              </a:buClr>
              <a:buFont typeface="Wingdings" pitchFamily="2" charset="2"/>
              <a:buNone/>
              <a:defRPr/>
            </a:pPr>
            <a:r>
              <a:rPr lang="en-US" sz="2400" i="1" dirty="0">
                <a:latin typeface="Times New Roman" pitchFamily="18" charset="0"/>
                <a:cs typeface="Times New Roman" pitchFamily="18" charset="0"/>
              </a:rPr>
              <a:t>	</a:t>
            </a:r>
            <a:r>
              <a:rPr lang="en-US" sz="3600" dirty="0">
                <a:effectLst>
                  <a:outerShdw blurRad="38100" dist="38100" dir="2700000" algn="tl">
                    <a:srgbClr val="C0C0C0"/>
                  </a:outerShdw>
                </a:effectLst>
                <a:latin typeface="Times New Roman" pitchFamily="18" charset="0"/>
                <a:cs typeface="Times New Roman" pitchFamily="18" charset="0"/>
              </a:rPr>
              <a:t>Examples</a:t>
            </a:r>
          </a:p>
          <a:p>
            <a:pPr marL="350838" indent="-350838" algn="just">
              <a:buClr>
                <a:srgbClr val="FF0000"/>
              </a:buClr>
              <a:buFont typeface="Wingdings" pitchFamily="2" charset="2"/>
              <a:buChar char="Ø"/>
              <a:defRPr/>
            </a:pPr>
            <a:r>
              <a:rPr lang="en-US" sz="2800" dirty="0">
                <a:latin typeface="Times New Roman" pitchFamily="18" charset="0"/>
                <a:cs typeface="Times New Roman" pitchFamily="18" charset="0"/>
              </a:rPr>
              <a:t>Any manner or method of expressing  information  whether by</a:t>
            </a:r>
            <a:r>
              <a:rPr lang="en-US" sz="2800" i="1" dirty="0">
                <a:latin typeface="Times New Roman" pitchFamily="18" charset="0"/>
                <a:cs typeface="Times New Roman" pitchFamily="18" charset="0"/>
              </a:rPr>
              <a:t> </a:t>
            </a:r>
          </a:p>
          <a:p>
            <a:pPr marL="739775" lvl="1" indent="-57150" algn="just">
              <a:buClr>
                <a:srgbClr val="FF0000"/>
              </a:buClr>
              <a:buSzPct val="115000"/>
              <a:buFont typeface="Wingdings" pitchFamily="2" charset="2"/>
              <a:buChar char="Ø"/>
              <a:defRPr/>
            </a:pPr>
            <a:r>
              <a:rPr lang="en-US" sz="2400" i="1" dirty="0">
                <a:latin typeface="Times New Roman" pitchFamily="18" charset="0"/>
                <a:cs typeface="Times New Roman" pitchFamily="18" charset="0"/>
              </a:rPr>
              <a:t>spoken words </a:t>
            </a:r>
          </a:p>
          <a:p>
            <a:pPr marL="739775" lvl="1" indent="-57150" algn="just">
              <a:buClr>
                <a:srgbClr val="FF0000"/>
              </a:buClr>
              <a:buSzPct val="115000"/>
              <a:buFont typeface="Wingdings" pitchFamily="2" charset="2"/>
              <a:buChar char="Ø"/>
              <a:defRPr/>
            </a:pPr>
            <a:r>
              <a:rPr lang="en-US" sz="2400" i="1" dirty="0">
                <a:latin typeface="Times New Roman" pitchFamily="18" charset="0"/>
                <a:cs typeface="Times New Roman" pitchFamily="18" charset="0"/>
              </a:rPr>
              <a:t>Visual display</a:t>
            </a:r>
          </a:p>
          <a:p>
            <a:pPr marL="739775" lvl="1" indent="-57150" algn="just">
              <a:buClr>
                <a:srgbClr val="FF0000"/>
              </a:buClr>
              <a:buSzPct val="115000"/>
              <a:buFont typeface="Wingdings" pitchFamily="2" charset="2"/>
              <a:buChar char="Ø"/>
              <a:defRPr/>
            </a:pPr>
            <a:r>
              <a:rPr lang="en-US" sz="2400" i="1" dirty="0">
                <a:latin typeface="Times New Roman" pitchFamily="18" charset="0"/>
                <a:cs typeface="Times New Roman" pitchFamily="18" charset="0"/>
              </a:rPr>
              <a:t>symbols</a:t>
            </a:r>
          </a:p>
          <a:p>
            <a:pPr marL="739775" lvl="1" indent="-57150" algn="just">
              <a:buClr>
                <a:srgbClr val="FF0000"/>
              </a:buClr>
              <a:buSzPct val="115000"/>
              <a:buFont typeface="Wingdings" pitchFamily="2" charset="2"/>
              <a:buChar char="Ø"/>
              <a:defRPr/>
            </a:pPr>
            <a:r>
              <a:rPr lang="en-US" sz="2400" i="1" dirty="0">
                <a:latin typeface="Times New Roman" pitchFamily="18" charset="0"/>
                <a:cs typeface="Times New Roman" pitchFamily="18" charset="0"/>
              </a:rPr>
              <a:t>diagrams </a:t>
            </a:r>
          </a:p>
          <a:p>
            <a:pPr marL="350838" indent="-350838" algn="just">
              <a:buClr>
                <a:srgbClr val="FF0000"/>
              </a:buClr>
              <a:buSzPct val="115000"/>
              <a:buFont typeface="Wingdings" pitchFamily="2" charset="2"/>
              <a:buChar char="Ø"/>
              <a:defRPr/>
            </a:pPr>
            <a:r>
              <a:rPr lang="en-US" dirty="0">
                <a:latin typeface="Times New Roman" pitchFamily="18" charset="0"/>
                <a:cs typeface="Times New Roman" pitchFamily="18" charset="0"/>
              </a:rPr>
              <a:t>Information recorded on a carrier</a:t>
            </a:r>
            <a:r>
              <a:rPr lang="en-US" sz="2400" i="1" dirty="0">
                <a:latin typeface="Times New Roman" pitchFamily="18" charset="0"/>
                <a:cs typeface="Times New Roman" pitchFamily="18" charset="0"/>
              </a:rPr>
              <a:t> </a:t>
            </a:r>
          </a:p>
          <a:p>
            <a:pPr marL="350838" indent="-350838">
              <a:defRPr/>
            </a:pPr>
            <a:endParaRPr lang="en-US" sz="2400" i="1" dirty="0">
              <a:latin typeface="Times New Roman" pitchFamily="18" charset="0"/>
              <a:cs typeface="Times New Roman" pitchFamily="18" charset="0"/>
            </a:endParaRPr>
          </a:p>
        </p:txBody>
      </p:sp>
      <p:sp>
        <p:nvSpPr>
          <p:cNvPr id="122885" name="Rectangle 5"/>
          <p:cNvSpPr>
            <a:spLocks noChangeArrowheads="1"/>
          </p:cNvSpPr>
          <p:nvPr/>
        </p:nvSpPr>
        <p:spPr bwMode="auto">
          <a:xfrm>
            <a:off x="1206910" y="-174804"/>
            <a:ext cx="7467600" cy="830263"/>
          </a:xfrm>
          <a:prstGeom prst="rect">
            <a:avLst/>
          </a:prstGeom>
          <a:noFill/>
          <a:ln w="9525">
            <a:noFill/>
            <a:miter lim="800000"/>
            <a:headEnd/>
            <a:tailEnd/>
          </a:ln>
          <a:effectLst/>
        </p:spPr>
        <p:txBody>
          <a:bodyPr>
            <a:spAutoFit/>
          </a:bodyPr>
          <a:lstStyle/>
          <a:p>
            <a:pPr algn="ctr">
              <a:defRPr/>
            </a:pPr>
            <a:r>
              <a:rPr lang="en-US" sz="4800" dirty="0">
                <a:solidFill>
                  <a:srgbClr val="993366"/>
                </a:solidFill>
                <a:latin typeface="Times New Roman" pitchFamily="18" charset="0"/>
                <a:cs typeface="Times New Roman" pitchFamily="18" charset="0"/>
              </a:rPr>
              <a:t>Section</a:t>
            </a:r>
            <a:r>
              <a:rPr lang="en-US" sz="4400" dirty="0">
                <a:solidFill>
                  <a:srgbClr val="993366"/>
                </a:solidFill>
                <a:latin typeface="Times New Roman" pitchFamily="18" charset="0"/>
                <a:cs typeface="Times New Roman" pitchFamily="18" charset="0"/>
              </a:rPr>
              <a:t> 3 exclusions</a:t>
            </a:r>
          </a:p>
        </p:txBody>
      </p:sp>
      <p:sp>
        <p:nvSpPr>
          <p:cNvPr id="4" name="Rectangle 3"/>
          <p:cNvSpPr/>
          <p:nvPr/>
        </p:nvSpPr>
        <p:spPr>
          <a:xfrm>
            <a:off x="4659313" y="44450"/>
            <a:ext cx="3570287" cy="769938"/>
          </a:xfrm>
          <a:prstGeom prst="rect">
            <a:avLst/>
          </a:prstGeom>
        </p:spPr>
        <p:txBody>
          <a:bodyPr>
            <a:spAutoFit/>
          </a:bodyPr>
          <a:lstStyle/>
          <a:p>
            <a:pPr>
              <a:defRPr/>
            </a:pPr>
            <a:endParaRPr lang="en-US" sz="4400" dirty="0">
              <a:solidFill>
                <a:srgbClr val="993366"/>
              </a:solidFill>
              <a:effectLst>
                <a:outerShdw blurRad="38100" dist="38100" dir="2700000" algn="tl">
                  <a:srgbClr val="C0C0C0"/>
                </a:outerShdw>
              </a:effectLst>
            </a:endParaRPr>
          </a:p>
        </p:txBody>
      </p:sp>
    </p:spTree>
  </p:cSld>
  <p:clrMapOvr>
    <a:masterClrMapping/>
  </p:clrMapOvr>
  <p:transition>
    <p:wipe/>
    <p:sndAc>
      <p:end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descr="Rectangle: Click to edit Master text styles&#10;Second level&#10;Third level&#10;Fourth level&#10;Fifth level"/>
          <p:cNvSpPr>
            <a:spLocks noGrp="1" noChangeArrowheads="1"/>
          </p:cNvSpPr>
          <p:nvPr>
            <p:ph type="body" idx="4294967295"/>
          </p:nvPr>
        </p:nvSpPr>
        <p:spPr>
          <a:xfrm>
            <a:off x="533400" y="914400"/>
            <a:ext cx="7924800" cy="5334000"/>
          </a:xfrm>
          <a:prstGeom prst="rect">
            <a:avLst/>
          </a:prstGeom>
        </p:spPr>
        <p:txBody>
          <a:bodyPr/>
          <a:lstStyle/>
          <a:p>
            <a:pPr>
              <a:buClr>
                <a:srgbClr val="FF0000"/>
              </a:buClr>
              <a:buFont typeface="Wingdings" pitchFamily="2" charset="2"/>
              <a:buNone/>
              <a:defRPr/>
            </a:pPr>
            <a:r>
              <a:rPr lang="en-US" sz="3600" b="1" dirty="0">
                <a:latin typeface="Times New Roman" pitchFamily="18" charset="0"/>
                <a:cs typeface="Times New Roman" pitchFamily="18" charset="0"/>
              </a:rPr>
              <a:t>Section 3 (o)</a:t>
            </a:r>
          </a:p>
          <a:p>
            <a:pPr>
              <a:buClr>
                <a:srgbClr val="FF0000"/>
              </a:buClr>
              <a:buFont typeface="Wingdings" pitchFamily="2" charset="2"/>
              <a:buNone/>
              <a:defRPr/>
            </a:pPr>
            <a:r>
              <a:rPr lang="en-US" sz="3600" dirty="0">
                <a:latin typeface="Times New Roman" pitchFamily="18" charset="0"/>
                <a:cs typeface="Times New Roman" pitchFamily="18" charset="0"/>
              </a:rPr>
              <a:t>Topography of integrated circuits</a:t>
            </a:r>
            <a:r>
              <a:rPr lang="en-US" sz="4000" dirty="0">
                <a:latin typeface="Times New Roman" pitchFamily="18" charset="0"/>
                <a:cs typeface="Times New Roman" pitchFamily="18" charset="0"/>
              </a:rPr>
              <a:t>.</a:t>
            </a:r>
          </a:p>
          <a:p>
            <a:pPr>
              <a:lnSpc>
                <a:spcPct val="80000"/>
              </a:lnSpc>
              <a:buClr>
                <a:srgbClr val="FF0000"/>
              </a:buClr>
              <a:buFont typeface="Wingdings" pitchFamily="2" charset="2"/>
              <a:buNone/>
              <a:defRPr/>
            </a:pPr>
            <a:endParaRPr lang="en-US" sz="4800" dirty="0">
              <a:latin typeface="Times New Roman" pitchFamily="18" charset="0"/>
              <a:cs typeface="Times New Roman" pitchFamily="18" charset="0"/>
            </a:endParaRPr>
          </a:p>
          <a:p>
            <a:pPr>
              <a:lnSpc>
                <a:spcPct val="80000"/>
              </a:lnSpc>
              <a:buClr>
                <a:srgbClr val="FF0000"/>
              </a:buClr>
              <a:buFont typeface="Wingdings" pitchFamily="2" charset="2"/>
              <a:buNone/>
              <a:defRPr/>
            </a:pPr>
            <a:r>
              <a:rPr lang="en-US" sz="4000" dirty="0">
                <a:latin typeface="Times New Roman" pitchFamily="18" charset="0"/>
                <a:cs typeface="Times New Roman" pitchFamily="18" charset="0"/>
              </a:rPr>
              <a:t>Examples</a:t>
            </a:r>
          </a:p>
          <a:p>
            <a:pPr>
              <a:buClr>
                <a:srgbClr val="FF0000"/>
              </a:buClr>
              <a:buFont typeface="Wingdings" pitchFamily="2" charset="2"/>
              <a:buNone/>
              <a:defRPr/>
            </a:pPr>
            <a:r>
              <a:rPr lang="en-US" dirty="0">
                <a:latin typeface="Times New Roman" pitchFamily="18" charset="0"/>
                <a:cs typeface="Times New Roman" pitchFamily="18" charset="0"/>
              </a:rPr>
              <a:t>	Mask works - circuits layout</a:t>
            </a:r>
          </a:p>
          <a:p>
            <a:pPr>
              <a:buClr>
                <a:srgbClr val="FF0000"/>
              </a:buClr>
              <a:buFont typeface="Wingdings" pitchFamily="2" charset="2"/>
              <a:buNone/>
              <a:defRPr/>
            </a:pPr>
            <a:endParaRPr lang="en-US" sz="4400" dirty="0">
              <a:latin typeface="Times New Roman" pitchFamily="18" charset="0"/>
              <a:cs typeface="Times New Roman" pitchFamily="18" charset="0"/>
            </a:endParaRPr>
          </a:p>
          <a:p>
            <a:pPr>
              <a:defRPr/>
            </a:pPr>
            <a:endParaRPr lang="en-US" i="1" dirty="0">
              <a:latin typeface="Times New Roman" pitchFamily="18" charset="0"/>
              <a:cs typeface="Times New Roman" pitchFamily="18" charset="0"/>
            </a:endParaRPr>
          </a:p>
        </p:txBody>
      </p:sp>
      <p:sp>
        <p:nvSpPr>
          <p:cNvPr id="143363" name="Rectangle 3"/>
          <p:cNvSpPr>
            <a:spLocks noChangeArrowheads="1"/>
          </p:cNvSpPr>
          <p:nvPr/>
        </p:nvSpPr>
        <p:spPr bwMode="auto">
          <a:xfrm>
            <a:off x="1851486" y="-228600"/>
            <a:ext cx="4977645" cy="830997"/>
          </a:xfrm>
          <a:prstGeom prst="rect">
            <a:avLst/>
          </a:prstGeom>
          <a:noFill/>
          <a:ln w="9525">
            <a:noFill/>
            <a:miter lim="800000"/>
            <a:headEnd/>
            <a:tailEnd/>
          </a:ln>
          <a:effectLst/>
        </p:spPr>
        <p:txBody>
          <a:bodyPr wrap="none">
            <a:spAutoFit/>
          </a:bodyPr>
          <a:lstStyle/>
          <a:p>
            <a:pPr>
              <a:defRPr/>
            </a:pPr>
            <a:r>
              <a:rPr lang="en-US" sz="4800" dirty="0">
                <a:solidFill>
                  <a:srgbClr val="993366"/>
                </a:solidFill>
                <a:latin typeface="Times New Roman" pitchFamily="18" charset="0"/>
                <a:cs typeface="Times New Roman" pitchFamily="18" charset="0"/>
              </a:rPr>
              <a:t>Section</a:t>
            </a:r>
            <a:r>
              <a:rPr lang="en-US" sz="4400" dirty="0">
                <a:solidFill>
                  <a:srgbClr val="993366"/>
                </a:solidFill>
                <a:latin typeface="Times New Roman" pitchFamily="18" charset="0"/>
                <a:cs typeface="Times New Roman" pitchFamily="18" charset="0"/>
              </a:rPr>
              <a:t> 3 exclusions</a:t>
            </a:r>
          </a:p>
        </p:txBody>
      </p:sp>
    </p:spTree>
  </p:cSld>
  <p:clrMapOvr>
    <a:masterClrMapping/>
  </p:clrMapOvr>
  <p:transition>
    <p:wipe/>
    <p:sndAc>
      <p:endSnd/>
    </p:sndAc>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descr="Rectangle: Click to edit Master text styles&#10;Second level&#10;Third level&#10;Fourth level&#10;Fifth level"/>
          <p:cNvSpPr>
            <a:spLocks noGrp="1" noChangeArrowheads="1"/>
          </p:cNvSpPr>
          <p:nvPr>
            <p:ph type="body" idx="4294967295"/>
          </p:nvPr>
        </p:nvSpPr>
        <p:spPr>
          <a:xfrm>
            <a:off x="228600" y="718180"/>
            <a:ext cx="8763000" cy="5715000"/>
          </a:xfrm>
          <a:prstGeom prst="rect">
            <a:avLst/>
          </a:prstGeom>
        </p:spPr>
        <p:txBody>
          <a:bodyPr/>
          <a:lstStyle/>
          <a:p>
            <a:pPr marL="42863" indent="7938">
              <a:lnSpc>
                <a:spcPct val="80000"/>
              </a:lnSpc>
              <a:buClr>
                <a:srgbClr val="FF0000"/>
              </a:buClr>
              <a:buFont typeface="Wingdings" pitchFamily="2" charset="2"/>
              <a:buNone/>
              <a:defRPr/>
            </a:pPr>
            <a:r>
              <a:rPr lang="en-US" sz="2800" b="1" dirty="0">
                <a:solidFill>
                  <a:srgbClr val="FF0000"/>
                </a:solidFill>
                <a:effectLst>
                  <a:outerShdw blurRad="38100" dist="38100" dir="2700000" algn="tl">
                    <a:srgbClr val="C0C0C0"/>
                  </a:outerShdw>
                </a:effectLst>
                <a:latin typeface="Times New Roman" pitchFamily="18" charset="0"/>
                <a:cs typeface="Times New Roman" pitchFamily="18" charset="0"/>
              </a:rPr>
              <a:t>Section 3 (p)</a:t>
            </a:r>
          </a:p>
          <a:p>
            <a:pPr marL="165100" lvl="1" indent="3175">
              <a:lnSpc>
                <a:spcPct val="80000"/>
              </a:lnSpc>
              <a:buClr>
                <a:srgbClr val="FF0000"/>
              </a:buClr>
              <a:buFont typeface="Wingdings" pitchFamily="2" charset="2"/>
              <a:buNone/>
              <a:defRPr/>
            </a:pPr>
            <a:r>
              <a:rPr lang="en-US" sz="2400" b="1" dirty="0">
                <a:latin typeface="Times New Roman" pitchFamily="18" charset="0"/>
                <a:cs typeface="Times New Roman" pitchFamily="18" charset="0"/>
              </a:rPr>
              <a:t>Inventions which are</a:t>
            </a:r>
            <a:r>
              <a:rPr lang="en-US" sz="2400" dirty="0">
                <a:solidFill>
                  <a:srgbClr val="800000"/>
                </a:solidFill>
                <a:latin typeface="Times New Roman" pitchFamily="18" charset="0"/>
                <a:cs typeface="Times New Roman" pitchFamily="18" charset="0"/>
              </a:rPr>
              <a:t> </a:t>
            </a:r>
            <a:endParaRPr lang="en-US" sz="2400" b="1" dirty="0">
              <a:latin typeface="Times New Roman" pitchFamily="18" charset="0"/>
              <a:cs typeface="Times New Roman" pitchFamily="18" charset="0"/>
            </a:endParaRPr>
          </a:p>
          <a:p>
            <a:pPr marL="165100" lvl="1" indent="3175" algn="just">
              <a:lnSpc>
                <a:spcPct val="90000"/>
              </a:lnSpc>
              <a:buClr>
                <a:srgbClr val="FF0000"/>
              </a:buClr>
              <a:buFont typeface="Wingdings" pitchFamily="2" charset="2"/>
              <a:buNone/>
              <a:defRPr/>
            </a:pPr>
            <a:r>
              <a:rPr lang="en-US" sz="2000" b="1" dirty="0">
                <a:latin typeface="Times New Roman" pitchFamily="18" charset="0"/>
                <a:cs typeface="Times New Roman" pitchFamily="18" charset="0"/>
              </a:rPr>
              <a:t>Traditional Knowledge or an aggregation or duplication of known properties of traditionally known component or components</a:t>
            </a:r>
          </a:p>
          <a:p>
            <a:pPr marL="42863" indent="7938">
              <a:lnSpc>
                <a:spcPct val="80000"/>
              </a:lnSpc>
              <a:buClr>
                <a:srgbClr val="FF0000"/>
              </a:buClr>
              <a:buFont typeface="Wingdings" pitchFamily="2" charset="2"/>
              <a:buNone/>
              <a:defRPr/>
            </a:pPr>
            <a:r>
              <a:rPr lang="en-US" dirty="0">
                <a:effectLst>
                  <a:outerShdw blurRad="38100" dist="38100" dir="2700000" algn="tl">
                    <a:srgbClr val="C0C0C0"/>
                  </a:outerShdw>
                </a:effectLst>
                <a:latin typeface="Times New Roman" pitchFamily="18" charset="0"/>
                <a:cs typeface="Times New Roman" pitchFamily="18" charset="0"/>
              </a:rPr>
              <a:t>Examples</a:t>
            </a:r>
            <a:endParaRPr lang="en-US" sz="1800" dirty="0">
              <a:latin typeface="Times New Roman" pitchFamily="18" charset="0"/>
              <a:cs typeface="Times New Roman" pitchFamily="18" charset="0"/>
            </a:endParaRPr>
          </a:p>
          <a:p>
            <a:pPr marL="165100" lvl="1" indent="3175" algn="just">
              <a:lnSpc>
                <a:spcPct val="80000"/>
              </a:lnSpc>
              <a:spcBef>
                <a:spcPct val="25000"/>
              </a:spcBef>
              <a:buClr>
                <a:srgbClr val="FF0000"/>
              </a:buClr>
              <a:buFont typeface="Wingdings" pitchFamily="2" charset="2"/>
              <a:buNone/>
              <a:defRPr/>
            </a:pPr>
            <a:r>
              <a:rPr lang="en-US" sz="2400" dirty="0">
                <a:latin typeface="Times New Roman" pitchFamily="18" charset="0"/>
                <a:cs typeface="Times New Roman" pitchFamily="18" charset="0"/>
              </a:rPr>
              <a:t>Traditional Knowledge already in public domain</a:t>
            </a:r>
          </a:p>
          <a:p>
            <a:pPr marL="165100" lvl="1" indent="3175" algn="just">
              <a:lnSpc>
                <a:spcPct val="80000"/>
              </a:lnSpc>
              <a:spcBef>
                <a:spcPct val="25000"/>
              </a:spcBef>
              <a:buClr>
                <a:srgbClr val="FF0000"/>
              </a:buClr>
              <a:buFont typeface="Wingdings" pitchFamily="2" charset="2"/>
              <a:buNone/>
              <a:defRPr/>
            </a:pPr>
            <a:r>
              <a:rPr lang="en-US" sz="2400" dirty="0">
                <a:latin typeface="Times New Roman" pitchFamily="18" charset="0"/>
                <a:cs typeface="Times New Roman" pitchFamily="18" charset="0"/>
              </a:rPr>
              <a:t>- Wound healing property of </a:t>
            </a:r>
            <a:r>
              <a:rPr lang="en-US" sz="2400" dirty="0" err="1">
                <a:latin typeface="Times New Roman" pitchFamily="18" charset="0"/>
                <a:cs typeface="Times New Roman" pitchFamily="18" charset="0"/>
              </a:rPr>
              <a:t>Haldi</a:t>
            </a:r>
            <a:r>
              <a:rPr lang="en-US" sz="2400" dirty="0">
                <a:latin typeface="Times New Roman" pitchFamily="18" charset="0"/>
                <a:cs typeface="Times New Roman" pitchFamily="18" charset="0"/>
              </a:rPr>
              <a:t> </a:t>
            </a:r>
            <a:endParaRPr lang="en-US" sz="2000" dirty="0">
              <a:latin typeface="Times New Roman" pitchFamily="18" charset="0"/>
              <a:cs typeface="Times New Roman" pitchFamily="18" charset="0"/>
            </a:endParaRPr>
          </a:p>
          <a:p>
            <a:pPr marL="165100" lvl="1" indent="3175" algn="just">
              <a:lnSpc>
                <a:spcPct val="80000"/>
              </a:lnSpc>
              <a:spcBef>
                <a:spcPct val="25000"/>
              </a:spcBef>
              <a:buClr>
                <a:srgbClr val="FF0000"/>
              </a:buClr>
              <a:buFont typeface="Wingdings" pitchFamily="2" charset="2"/>
              <a:buNone/>
              <a:defRPr/>
            </a:pPr>
            <a:r>
              <a:rPr lang="en-US" sz="3600" b="1" dirty="0">
                <a:solidFill>
                  <a:srgbClr val="993366"/>
                </a:solidFill>
                <a:latin typeface="Times New Roman" pitchFamily="18" charset="0"/>
                <a:cs typeface="Times New Roman" pitchFamily="18" charset="0"/>
              </a:rPr>
              <a:t>However,</a:t>
            </a:r>
            <a:r>
              <a:rPr lang="en-US" sz="2400" dirty="0">
                <a:solidFill>
                  <a:srgbClr val="993366"/>
                </a:solidFill>
                <a:latin typeface="Times New Roman" pitchFamily="18" charset="0"/>
                <a:cs typeface="Times New Roman" pitchFamily="18" charset="0"/>
              </a:rPr>
              <a:t> </a:t>
            </a:r>
          </a:p>
          <a:p>
            <a:pPr marL="165100" lvl="1" indent="3175" algn="just">
              <a:lnSpc>
                <a:spcPct val="80000"/>
              </a:lnSpc>
              <a:spcBef>
                <a:spcPct val="25000"/>
              </a:spcBef>
              <a:buClr>
                <a:srgbClr val="FF0000"/>
              </a:buClr>
              <a:buFont typeface="Wingdings" pitchFamily="2" charset="2"/>
              <a:buNone/>
              <a:defRPr/>
            </a:pPr>
            <a:r>
              <a:rPr lang="en-US" sz="2400" dirty="0">
                <a:solidFill>
                  <a:schemeClr val="tx2"/>
                </a:solidFill>
                <a:latin typeface="Times New Roman" pitchFamily="18" charset="0"/>
                <a:cs typeface="Times New Roman" pitchFamily="18" charset="0"/>
              </a:rPr>
              <a:t>Any value-addition using Traditional Knowledge leading to a new  process or product ,which is novel with inventive step and industrial applicability</a:t>
            </a:r>
            <a:r>
              <a:rPr lang="en-US" sz="2400" dirty="0">
                <a:solidFill>
                  <a:srgbClr val="423399"/>
                </a:solidFill>
                <a:latin typeface="Times New Roman" pitchFamily="18" charset="0"/>
                <a:cs typeface="Times New Roman" pitchFamily="18" charset="0"/>
              </a:rPr>
              <a:t>, </a:t>
            </a:r>
            <a:endParaRPr lang="en-US" sz="2400" dirty="0">
              <a:solidFill>
                <a:srgbClr val="FF0000"/>
              </a:solidFill>
              <a:latin typeface="Times New Roman" pitchFamily="18" charset="0"/>
              <a:cs typeface="Times New Roman" pitchFamily="18" charset="0"/>
            </a:endParaRPr>
          </a:p>
          <a:p>
            <a:pPr marL="165100" lvl="1" indent="3175" algn="just">
              <a:lnSpc>
                <a:spcPct val="80000"/>
              </a:lnSpc>
              <a:spcBef>
                <a:spcPct val="25000"/>
              </a:spcBef>
              <a:buClr>
                <a:srgbClr val="FF0000"/>
              </a:buClr>
              <a:buFont typeface="Marlett" pitchFamily="2" charset="2"/>
              <a:buChar char="g"/>
              <a:defRPr/>
            </a:pPr>
            <a:r>
              <a:rPr lang="en-US" sz="2400" dirty="0">
                <a:solidFill>
                  <a:schemeClr val="tx2"/>
                </a:solidFill>
                <a:latin typeface="Times New Roman" pitchFamily="18" charset="0"/>
                <a:cs typeface="Times New Roman" pitchFamily="18" charset="0"/>
              </a:rPr>
              <a:t>Extraction of </a:t>
            </a:r>
            <a:r>
              <a:rPr lang="en-US" sz="2400" dirty="0" err="1">
                <a:solidFill>
                  <a:schemeClr val="tx2"/>
                </a:solidFill>
                <a:latin typeface="Times New Roman" pitchFamily="18" charset="0"/>
                <a:cs typeface="Times New Roman" pitchFamily="18" charset="0"/>
              </a:rPr>
              <a:t>Azadirachtin</a:t>
            </a:r>
            <a:r>
              <a:rPr lang="en-US" sz="2400" dirty="0">
                <a:solidFill>
                  <a:schemeClr val="tx2"/>
                </a:solidFill>
                <a:latin typeface="Times New Roman" pitchFamily="18" charset="0"/>
                <a:cs typeface="Times New Roman" pitchFamily="18" charset="0"/>
              </a:rPr>
              <a:t> from </a:t>
            </a:r>
            <a:r>
              <a:rPr lang="en-US" sz="2400" dirty="0" err="1">
                <a:solidFill>
                  <a:schemeClr val="tx2"/>
                </a:solidFill>
                <a:latin typeface="Times New Roman" pitchFamily="18" charset="0"/>
                <a:cs typeface="Times New Roman" pitchFamily="18" charset="0"/>
              </a:rPr>
              <a:t>Neem</a:t>
            </a:r>
            <a:r>
              <a:rPr lang="en-US" sz="2400" dirty="0">
                <a:solidFill>
                  <a:srgbClr val="993366"/>
                </a:solidFill>
                <a:latin typeface="Times New Roman" pitchFamily="18" charset="0"/>
                <a:cs typeface="Times New Roman" pitchFamily="18" charset="0"/>
              </a:rPr>
              <a:t> </a:t>
            </a:r>
          </a:p>
          <a:p>
            <a:pPr marL="42863" indent="7938" algn="just">
              <a:lnSpc>
                <a:spcPct val="90000"/>
              </a:lnSpc>
              <a:buClr>
                <a:srgbClr val="FF0000"/>
              </a:buClr>
              <a:buFont typeface="Wingdings" pitchFamily="2" charset="2"/>
              <a:buNone/>
              <a:defRPr/>
            </a:pPr>
            <a:r>
              <a:rPr lang="en-US" sz="2800" dirty="0">
                <a:solidFill>
                  <a:schemeClr val="tx2"/>
                </a:solidFill>
                <a:latin typeface="Times New Roman" pitchFamily="18" charset="0"/>
                <a:cs typeface="Times New Roman" pitchFamily="18" charset="0"/>
              </a:rPr>
              <a:t>  can be</a:t>
            </a:r>
            <a:r>
              <a:rPr lang="en-US" sz="2800" i="1" dirty="0">
                <a:solidFill>
                  <a:schemeClr val="tx2"/>
                </a:solidFill>
                <a:latin typeface="Times New Roman" pitchFamily="18" charset="0"/>
                <a:cs typeface="Times New Roman" pitchFamily="18" charset="0"/>
              </a:rPr>
              <a:t> patented</a:t>
            </a:r>
          </a:p>
        </p:txBody>
      </p:sp>
      <p:sp>
        <p:nvSpPr>
          <p:cNvPr id="144387" name="Rectangle 3"/>
          <p:cNvSpPr>
            <a:spLocks noChangeArrowheads="1"/>
          </p:cNvSpPr>
          <p:nvPr/>
        </p:nvSpPr>
        <p:spPr bwMode="auto">
          <a:xfrm>
            <a:off x="1981200" y="5378"/>
            <a:ext cx="4134465" cy="707886"/>
          </a:xfrm>
          <a:prstGeom prst="rect">
            <a:avLst/>
          </a:prstGeom>
          <a:noFill/>
          <a:ln w="9525">
            <a:noFill/>
            <a:miter lim="800000"/>
            <a:headEnd/>
            <a:tailEnd/>
          </a:ln>
          <a:effectLst/>
        </p:spPr>
        <p:txBody>
          <a:bodyPr wrap="none">
            <a:spAutoFit/>
          </a:bodyPr>
          <a:lstStyle/>
          <a:p>
            <a:pPr>
              <a:defRPr/>
            </a:pPr>
            <a:r>
              <a:rPr lang="en-US" sz="4000" dirty="0">
                <a:solidFill>
                  <a:srgbClr val="993366"/>
                </a:solidFill>
                <a:latin typeface="Times New Roman" pitchFamily="18" charset="0"/>
                <a:cs typeface="Times New Roman" pitchFamily="18" charset="0"/>
              </a:rPr>
              <a:t>Section</a:t>
            </a:r>
            <a:r>
              <a:rPr lang="en-US" sz="3600" dirty="0">
                <a:solidFill>
                  <a:srgbClr val="993366"/>
                </a:solidFill>
                <a:latin typeface="Times New Roman" pitchFamily="18" charset="0"/>
                <a:cs typeface="Times New Roman" pitchFamily="18" charset="0"/>
              </a:rPr>
              <a:t> 3 exclusions</a:t>
            </a:r>
          </a:p>
        </p:txBody>
      </p:sp>
    </p:spTree>
  </p:cSld>
  <p:clrMapOvr>
    <a:masterClrMapping/>
  </p:clrMapOvr>
  <p:transition>
    <p:wipe/>
    <p:sndAc>
      <p:endSnd/>
    </p:sndAc>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609600" y="9144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endParaRPr lang="en-US" sz="2800" b="1" u="sng">
              <a:solidFill>
                <a:srgbClr val="981676"/>
              </a:solidFill>
            </a:endParaRPr>
          </a:p>
        </p:txBody>
      </p:sp>
      <p:sp>
        <p:nvSpPr>
          <p:cNvPr id="18435" name="Rectangle 3"/>
          <p:cNvSpPr>
            <a:spLocks noChangeArrowheads="1"/>
          </p:cNvSpPr>
          <p:nvPr/>
        </p:nvSpPr>
        <p:spPr bwMode="auto">
          <a:xfrm>
            <a:off x="199103" y="914400"/>
            <a:ext cx="8640097" cy="5334000"/>
          </a:xfrm>
          <a:prstGeom prst="rect">
            <a:avLst/>
          </a:prstGeom>
          <a:noFill/>
          <a:ln w="9525">
            <a:noFill/>
            <a:miter lim="800000"/>
            <a:headEnd/>
            <a:tailEnd/>
          </a:ln>
          <a:effectLst/>
        </p:spPr>
        <p:txBody>
          <a:bodyPr/>
          <a:lstStyle/>
          <a:p>
            <a:pPr marL="168275" indent="-168275" algn="just">
              <a:spcBef>
                <a:spcPct val="20000"/>
              </a:spcBef>
              <a:buSzPct val="90000"/>
              <a:defRPr/>
            </a:pPr>
            <a:r>
              <a:rPr lang="en-US" sz="4000" dirty="0">
                <a:solidFill>
                  <a:srgbClr val="FF3300"/>
                </a:solidFill>
                <a:effectLst>
                  <a:outerShdw blurRad="38100" dist="38100" dir="2700000" algn="tl">
                    <a:srgbClr val="C0C0C0"/>
                  </a:outerShdw>
                </a:effectLst>
                <a:latin typeface="Times New Roman" pitchFamily="18" charset="0"/>
                <a:cs typeface="Times New Roman" pitchFamily="18" charset="0"/>
              </a:rPr>
              <a:t>Section 4</a:t>
            </a:r>
            <a:endParaRPr lang="en-US" dirty="0">
              <a:solidFill>
                <a:srgbClr val="23238B"/>
              </a:solidFill>
              <a:latin typeface="Times New Roman" pitchFamily="18" charset="0"/>
              <a:cs typeface="Times New Roman" pitchFamily="18" charset="0"/>
            </a:endParaRPr>
          </a:p>
          <a:p>
            <a:pPr marL="168275" indent="-168275" algn="just">
              <a:spcBef>
                <a:spcPct val="20000"/>
              </a:spcBef>
              <a:buSzPct val="90000"/>
              <a:defRPr/>
            </a:pPr>
            <a:r>
              <a:rPr lang="en-US" dirty="0">
                <a:solidFill>
                  <a:srgbClr val="23238B"/>
                </a:solidFill>
                <a:latin typeface="Times New Roman" pitchFamily="18" charset="0"/>
                <a:cs typeface="Times New Roman" pitchFamily="18" charset="0"/>
              </a:rPr>
              <a:t>	</a:t>
            </a:r>
            <a:r>
              <a:rPr lang="en-US" sz="3200" dirty="0">
                <a:solidFill>
                  <a:srgbClr val="23238B"/>
                </a:solidFill>
                <a:latin typeface="Times New Roman" pitchFamily="18" charset="0"/>
                <a:cs typeface="Times New Roman" pitchFamily="18" charset="0"/>
              </a:rPr>
              <a:t>Inventions falling within 	Section 20(1) of the Atomic Energy Act, 1962  are not patentable</a:t>
            </a:r>
            <a:endParaRPr lang="en-US" sz="3200" dirty="0">
              <a:solidFill>
                <a:srgbClr val="234128"/>
              </a:solidFill>
              <a:latin typeface="Times New Roman" pitchFamily="18" charset="0"/>
              <a:cs typeface="Times New Roman" pitchFamily="18" charset="0"/>
            </a:endParaRPr>
          </a:p>
          <a:p>
            <a:pPr marL="168275" indent="-168275" algn="just">
              <a:spcBef>
                <a:spcPct val="20000"/>
              </a:spcBef>
              <a:buSzPct val="90000"/>
              <a:defRPr/>
            </a:pPr>
            <a:r>
              <a:rPr lang="en-US" sz="4000" i="1" dirty="0">
                <a:solidFill>
                  <a:srgbClr val="993366"/>
                </a:solidFill>
                <a:latin typeface="Times New Roman" pitchFamily="18" charset="0"/>
                <a:cs typeface="Times New Roman" pitchFamily="18" charset="0"/>
              </a:rPr>
              <a:t>Effect</a:t>
            </a:r>
            <a:endParaRPr lang="en-US" dirty="0">
              <a:solidFill>
                <a:srgbClr val="234128"/>
              </a:solidFill>
              <a:latin typeface="Times New Roman" pitchFamily="18" charset="0"/>
              <a:cs typeface="Times New Roman" pitchFamily="18" charset="0"/>
            </a:endParaRPr>
          </a:p>
          <a:p>
            <a:pPr marL="168275" indent="-168275" algn="just">
              <a:spcBef>
                <a:spcPct val="20000"/>
              </a:spcBef>
              <a:buSzPct val="90000"/>
              <a:defRPr/>
            </a:pPr>
            <a:r>
              <a:rPr lang="en-US" dirty="0">
                <a:solidFill>
                  <a:srgbClr val="234128"/>
                </a:solidFill>
                <a:latin typeface="Times New Roman" pitchFamily="18" charset="0"/>
                <a:cs typeface="Times New Roman" pitchFamily="18" charset="0"/>
              </a:rPr>
              <a:t>	</a:t>
            </a:r>
            <a:r>
              <a:rPr lang="en-US" sz="2800" dirty="0">
                <a:solidFill>
                  <a:schemeClr val="tx2"/>
                </a:solidFill>
                <a:latin typeface="Times New Roman" pitchFamily="18" charset="0"/>
                <a:cs typeface="Times New Roman" pitchFamily="18" charset="0"/>
              </a:rPr>
              <a:t>Inventions relating to compounds of Uranium, Beryllium, Thorium, Plutonium, Radium, Graphite, Lithium and more as notified by Central Govt. from time to time</a:t>
            </a:r>
            <a:r>
              <a:rPr lang="en-US" sz="2800" dirty="0">
                <a:solidFill>
                  <a:srgbClr val="993366"/>
                </a:solidFill>
                <a:latin typeface="Times New Roman" pitchFamily="18" charset="0"/>
                <a:cs typeface="Times New Roman" pitchFamily="18" charset="0"/>
              </a:rPr>
              <a:t>.</a:t>
            </a:r>
          </a:p>
        </p:txBody>
      </p:sp>
      <p:sp>
        <p:nvSpPr>
          <p:cNvPr id="18436" name="Rectangle 4"/>
          <p:cNvSpPr>
            <a:spLocks noChangeArrowheads="1"/>
          </p:cNvSpPr>
          <p:nvPr/>
        </p:nvSpPr>
        <p:spPr bwMode="auto">
          <a:xfrm>
            <a:off x="838200" y="-152400"/>
            <a:ext cx="7772400" cy="762000"/>
          </a:xfrm>
          <a:prstGeom prst="rect">
            <a:avLst/>
          </a:prstGeom>
          <a:noFill/>
          <a:ln w="9525">
            <a:noFill/>
            <a:miter lim="800000"/>
            <a:headEnd/>
            <a:tailEnd/>
          </a:ln>
          <a:effectLst/>
        </p:spPr>
        <p:txBody>
          <a:bodyPr anchor="b"/>
          <a:lstStyle/>
          <a:p>
            <a:pPr algn="ctr">
              <a:defRPr/>
            </a:pPr>
            <a:r>
              <a:rPr lang="en-US" sz="4000" dirty="0">
                <a:latin typeface="Times New Roman" pitchFamily="18" charset="0"/>
                <a:cs typeface="Times New Roman" pitchFamily="18" charset="0"/>
              </a:rPr>
              <a:t>Non Patentable inventions</a:t>
            </a:r>
          </a:p>
        </p:txBody>
      </p:sp>
    </p:spTree>
  </p:cSld>
  <p:clrMapOvr>
    <a:masterClrMapping/>
  </p:clrMapOvr>
  <p:transition>
    <p:wipe/>
    <p:sndAc>
      <p:endSnd/>
    </p:sndAc>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2568575"/>
            <a:ext cx="7772400" cy="1470025"/>
          </a:xfrm>
        </p:spPr>
        <p:txBody>
          <a:bodyPr/>
          <a:lstStyle/>
          <a:p>
            <a:pPr eaLnBrk="1" hangingPunct="1">
              <a:defRPr/>
            </a:pPr>
            <a:r>
              <a:rPr lang="en-US" dirty="0">
                <a:solidFill>
                  <a:srgbClr val="0000FF"/>
                </a:solidFill>
                <a:latin typeface="Times New Roman" pitchFamily="18" charset="0"/>
                <a:cs typeface="Times New Roman" pitchFamily="18" charset="0"/>
              </a:rPr>
              <a:t>Stages from filing to grant of a patent </a:t>
            </a:r>
          </a:p>
        </p:txBody>
      </p:sp>
    </p:spTree>
  </p:cSld>
  <p:clrMapOvr>
    <a:masterClrMapping/>
  </p:clrMapOvr>
  <p:transition>
    <p:wipe/>
    <p:sndAc>
      <p:endSnd/>
    </p:sndAc>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idx="4294967295"/>
          </p:nvPr>
        </p:nvSpPr>
        <p:spPr>
          <a:xfrm>
            <a:off x="457200" y="-14748"/>
            <a:ext cx="8229600" cy="852948"/>
          </a:xfrm>
          <a:prstGeom prst="rect">
            <a:avLst/>
          </a:prstGeom>
        </p:spPr>
        <p:txBody>
          <a:bodyPr/>
          <a:lstStyle/>
          <a:p>
            <a:pPr eaLnBrk="1" hangingPunct="1"/>
            <a:r>
              <a:rPr lang="en-US" sz="4000" dirty="0">
                <a:latin typeface="Times New Roman" pitchFamily="18" charset="0"/>
                <a:cs typeface="Times New Roman" pitchFamily="18" charset="0"/>
              </a:rPr>
              <a:t>Obtaining a patent</a:t>
            </a:r>
          </a:p>
        </p:txBody>
      </p:sp>
      <p:sp>
        <p:nvSpPr>
          <p:cNvPr id="47107" name="Rectangle 3"/>
          <p:cNvSpPr>
            <a:spLocks noGrp="1" noChangeArrowheads="1"/>
          </p:cNvSpPr>
          <p:nvPr>
            <p:ph type="body" idx="4294967295"/>
          </p:nvPr>
        </p:nvSpPr>
        <p:spPr>
          <a:xfrm>
            <a:off x="228600" y="1143000"/>
            <a:ext cx="8229600" cy="4525963"/>
          </a:xfrm>
          <a:prstGeom prst="rect">
            <a:avLst/>
          </a:prstGeom>
        </p:spPr>
        <p:txBody>
          <a:bodyPr/>
          <a:lstStyle/>
          <a:p>
            <a:pPr eaLnBrk="1" hangingPunct="1"/>
            <a:r>
              <a:rPr lang="en-US" sz="2800" dirty="0">
                <a:latin typeface="Times New Roman" pitchFamily="18" charset="0"/>
                <a:cs typeface="Times New Roman" pitchFamily="18" charset="0"/>
              </a:rPr>
              <a:t>File an application for patent</a:t>
            </a:r>
          </a:p>
          <a:p>
            <a:pPr lvl="1" algn="just" eaLnBrk="1" hangingPunct="1"/>
            <a:r>
              <a:rPr lang="en-US" sz="2400" dirty="0">
                <a:latin typeface="Times New Roman" pitchFamily="18" charset="0"/>
                <a:cs typeface="Times New Roman" pitchFamily="18" charset="0"/>
              </a:rPr>
              <a:t>With one of the patent offices based on territorial jurisdiction of the place of office or residence of the applicant /agent</a:t>
            </a:r>
          </a:p>
          <a:p>
            <a:pPr lvl="1" algn="just" eaLnBrk="1" hangingPunct="1"/>
            <a:r>
              <a:rPr lang="en-US" sz="2400" dirty="0">
                <a:latin typeface="Times New Roman" pitchFamily="18" charset="0"/>
                <a:cs typeface="Times New Roman" pitchFamily="18" charset="0"/>
              </a:rPr>
              <a:t>Pay the required fee</a:t>
            </a:r>
          </a:p>
          <a:p>
            <a:pPr algn="just" eaLnBrk="1" hangingPunct="1"/>
            <a:r>
              <a:rPr lang="en-US" sz="2800" dirty="0">
                <a:latin typeface="Times New Roman" pitchFamily="18" charset="0"/>
                <a:cs typeface="Times New Roman" pitchFamily="18" charset="0"/>
              </a:rPr>
              <a:t>Information concerning application form and details of fee available at </a:t>
            </a:r>
            <a:r>
              <a:rPr lang="en-US" sz="2800" dirty="0">
                <a:latin typeface="Times New Roman" pitchFamily="18" charset="0"/>
                <a:cs typeface="Times New Roman" pitchFamily="18" charset="0"/>
                <a:hlinkClick r:id="rId2"/>
              </a:rPr>
              <a:t>www.ipindia.nic.in</a:t>
            </a:r>
            <a:r>
              <a:rPr lang="en-US" sz="2800" dirty="0">
                <a:latin typeface="Times New Roman" pitchFamily="18" charset="0"/>
                <a:cs typeface="Times New Roman" pitchFamily="18" charset="0"/>
              </a:rPr>
              <a:t> </a:t>
            </a:r>
          </a:p>
          <a:p>
            <a:pPr algn="just" eaLnBrk="1" hangingPunct="1"/>
            <a:r>
              <a:rPr lang="en-US" sz="2800" dirty="0">
                <a:latin typeface="Times New Roman" pitchFamily="18" charset="0"/>
                <a:cs typeface="Times New Roman" pitchFamily="18" charset="0"/>
              </a:rPr>
              <a:t>Guidelines for applicants also available on this website </a:t>
            </a:r>
          </a:p>
        </p:txBody>
      </p:sp>
    </p:spTree>
  </p:cSld>
  <p:clrMapOvr>
    <a:masterClrMapping/>
  </p:clrMapOvr>
  <p:transition>
    <p:wipe/>
    <p:sndAc>
      <p:endSnd/>
    </p:sndAc>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idx="4294967295"/>
          </p:nvPr>
        </p:nvSpPr>
        <p:spPr>
          <a:xfrm>
            <a:off x="762000" y="0"/>
            <a:ext cx="7696200" cy="381000"/>
          </a:xfrm>
          <a:prstGeom prst="rect">
            <a:avLst/>
          </a:prstGeom>
        </p:spPr>
        <p:txBody>
          <a:bodyPr/>
          <a:lstStyle/>
          <a:p>
            <a:r>
              <a:rPr lang="en-US" sz="3200" dirty="0">
                <a:solidFill>
                  <a:srgbClr val="0000FF"/>
                </a:solidFill>
                <a:latin typeface="Times New Roman" pitchFamily="18" charset="0"/>
                <a:cs typeface="Times New Roman" pitchFamily="18" charset="0"/>
              </a:rPr>
              <a:t>Sufficiency of Disclosure</a:t>
            </a:r>
          </a:p>
        </p:txBody>
      </p:sp>
      <p:sp>
        <p:nvSpPr>
          <p:cNvPr id="49155" name="Rectangle 3"/>
          <p:cNvSpPr>
            <a:spLocks noGrp="1" noChangeArrowheads="1"/>
          </p:cNvSpPr>
          <p:nvPr>
            <p:ph type="body" idx="4294967295"/>
          </p:nvPr>
        </p:nvSpPr>
        <p:spPr>
          <a:xfrm>
            <a:off x="228600" y="762000"/>
            <a:ext cx="8686800" cy="5867400"/>
          </a:xfrm>
          <a:prstGeom prst="rect">
            <a:avLst/>
          </a:prstGeom>
        </p:spPr>
        <p:txBody>
          <a:bodyPr/>
          <a:lstStyle/>
          <a:p>
            <a:pPr>
              <a:lnSpc>
                <a:spcPct val="110000"/>
              </a:lnSpc>
            </a:pPr>
            <a:r>
              <a:rPr lang="en-US" sz="2800" dirty="0">
                <a:solidFill>
                  <a:srgbClr val="FF0000"/>
                </a:solidFill>
                <a:latin typeface="Times New Roman" pitchFamily="18" charset="0"/>
                <a:cs typeface="Times New Roman" pitchFamily="18" charset="0"/>
              </a:rPr>
              <a:t>Application must disclose the invention</a:t>
            </a:r>
          </a:p>
          <a:p>
            <a:pPr>
              <a:lnSpc>
                <a:spcPct val="110000"/>
              </a:lnSpc>
              <a:buFont typeface="Wingdings" pitchFamily="2" charset="2"/>
              <a:buChar char="ü"/>
            </a:pPr>
            <a:r>
              <a:rPr lang="en-US" sz="2800" dirty="0">
                <a:latin typeface="Times New Roman" pitchFamily="18" charset="0"/>
                <a:cs typeface="Times New Roman" pitchFamily="18" charset="0"/>
              </a:rPr>
              <a:t> as a whole,</a:t>
            </a:r>
          </a:p>
          <a:p>
            <a:pPr>
              <a:lnSpc>
                <a:spcPct val="110000"/>
              </a:lnSpc>
              <a:buFont typeface="Wingdings" pitchFamily="2" charset="2"/>
              <a:buChar char="ü"/>
            </a:pPr>
            <a:r>
              <a:rPr lang="en-US" sz="2800" dirty="0">
                <a:latin typeface="Times New Roman" pitchFamily="18" charset="0"/>
                <a:cs typeface="Times New Roman" pitchFamily="18" charset="0"/>
              </a:rPr>
              <a:t>in a sufficiently clear and complete manner,</a:t>
            </a:r>
          </a:p>
          <a:p>
            <a:pPr>
              <a:buFont typeface="Wingdings" pitchFamily="2" charset="2"/>
              <a:buChar char="ü"/>
            </a:pPr>
            <a:r>
              <a:rPr lang="en-US" sz="2800" dirty="0">
                <a:latin typeface="Times New Roman" pitchFamily="18" charset="0"/>
                <a:cs typeface="Times New Roman" pitchFamily="18" charset="0"/>
              </a:rPr>
              <a:t> t</a:t>
            </a:r>
            <a:r>
              <a:rPr lang="en-US" sz="2800" i="1" dirty="0">
                <a:latin typeface="Times New Roman" pitchFamily="18" charset="0"/>
                <a:cs typeface="Times New Roman" pitchFamily="18" charset="0"/>
              </a:rPr>
              <a:t>o enable the person skilled in the art, to whom the invention relates , to make and use the invention</a:t>
            </a:r>
          </a:p>
          <a:p>
            <a:pPr>
              <a:lnSpc>
                <a:spcPct val="30000"/>
              </a:lnSpc>
              <a:buFont typeface="Wingdings" pitchFamily="2" charset="2"/>
              <a:buNone/>
            </a:pPr>
            <a:endParaRPr lang="en-US" sz="2800" i="1" dirty="0">
              <a:latin typeface="Times New Roman" pitchFamily="18" charset="0"/>
              <a:cs typeface="Times New Roman" pitchFamily="18" charset="0"/>
            </a:endParaRPr>
          </a:p>
          <a:p>
            <a:pPr>
              <a:lnSpc>
                <a:spcPct val="0"/>
              </a:lnSpc>
              <a:buFont typeface="Wingdings" pitchFamily="2" charset="2"/>
              <a:buNone/>
            </a:pPr>
            <a:endParaRPr lang="en-US" sz="2800" b="1" i="1" dirty="0">
              <a:latin typeface="Times New Roman" pitchFamily="18" charset="0"/>
              <a:cs typeface="Times New Roman" pitchFamily="18" charset="0"/>
            </a:endParaRPr>
          </a:p>
          <a:p>
            <a:r>
              <a:rPr lang="en-US" sz="2400" i="1" dirty="0">
                <a:latin typeface="Times New Roman" pitchFamily="18" charset="0"/>
                <a:cs typeface="Times New Roman" pitchFamily="18" charset="0"/>
              </a:rPr>
              <a:t>The skilled person may use his common general knowledge to supplement the invention </a:t>
            </a:r>
          </a:p>
          <a:p>
            <a:r>
              <a:rPr lang="en-US" sz="2400" i="1" dirty="0">
                <a:latin typeface="Times New Roman" pitchFamily="18" charset="0"/>
                <a:cs typeface="Times New Roman" pitchFamily="18" charset="0"/>
              </a:rPr>
              <a:t>He is not expected to carry out comprehensive search to obtain further details</a:t>
            </a:r>
            <a:r>
              <a:rPr lang="en-US" sz="2400" b="1" i="1" dirty="0">
                <a:latin typeface="Times New Roman" pitchFamily="18" charset="0"/>
                <a:cs typeface="Times New Roman" pitchFamily="18" charset="0"/>
              </a:rPr>
              <a:t> and </a:t>
            </a:r>
          </a:p>
          <a:p>
            <a:r>
              <a:rPr lang="en-US" sz="2400" i="1" dirty="0">
                <a:latin typeface="Times New Roman" pitchFamily="18" charset="0"/>
                <a:cs typeface="Times New Roman" pitchFamily="18" charset="0"/>
              </a:rPr>
              <a:t>He should be able to reproduce the claimed step using information given in the application without any inventive efforts</a:t>
            </a:r>
          </a:p>
        </p:txBody>
      </p:sp>
    </p:spTree>
  </p:cSld>
  <p:clrMapOvr>
    <a:masterClrMapping/>
  </p:clrMapOvr>
  <p:transition>
    <p:wipe/>
    <p:sndAc>
      <p:endSnd/>
    </p:sndAc>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idx="4294967295"/>
          </p:nvPr>
        </p:nvSpPr>
        <p:spPr>
          <a:xfrm>
            <a:off x="457200" y="0"/>
            <a:ext cx="8229600" cy="1143000"/>
          </a:xfrm>
          <a:prstGeom prst="rect">
            <a:avLst/>
          </a:prstGeom>
        </p:spPr>
        <p:txBody>
          <a:bodyPr/>
          <a:lstStyle/>
          <a:p>
            <a:pPr eaLnBrk="1" hangingPunct="1"/>
            <a:r>
              <a:rPr lang="en-US" sz="3600" dirty="0">
                <a:latin typeface="Times New Roman" pitchFamily="18" charset="0"/>
                <a:cs typeface="Times New Roman" pitchFamily="18" charset="0"/>
              </a:rPr>
              <a:t>Formality Check</a:t>
            </a:r>
          </a:p>
        </p:txBody>
      </p:sp>
      <p:sp>
        <p:nvSpPr>
          <p:cNvPr id="50179" name="Rectangle 3"/>
          <p:cNvSpPr>
            <a:spLocks noGrp="1" noChangeArrowheads="1"/>
          </p:cNvSpPr>
          <p:nvPr>
            <p:ph type="body" idx="4294967295"/>
          </p:nvPr>
        </p:nvSpPr>
        <p:spPr>
          <a:xfrm>
            <a:off x="228600" y="1219200"/>
            <a:ext cx="8229600" cy="4525963"/>
          </a:xfrm>
          <a:prstGeom prst="rect">
            <a:avLst/>
          </a:prstGeom>
        </p:spPr>
        <p:txBody>
          <a:bodyPr/>
          <a:lstStyle/>
          <a:p>
            <a:pPr eaLnBrk="1" hangingPunct="1">
              <a:lnSpc>
                <a:spcPct val="90000"/>
              </a:lnSpc>
            </a:pPr>
            <a:r>
              <a:rPr lang="en-US" sz="2800" dirty="0">
                <a:latin typeface="Times New Roman" pitchFamily="18" charset="0"/>
                <a:cs typeface="Times New Roman" pitchFamily="18" charset="0"/>
              </a:rPr>
              <a:t>An Examiner checks the formal requirements before accepting the application and the fee – this is done immediately</a:t>
            </a:r>
          </a:p>
          <a:p>
            <a:pPr eaLnBrk="1" hangingPunct="1">
              <a:lnSpc>
                <a:spcPct val="90000"/>
              </a:lnSpc>
            </a:pPr>
            <a:r>
              <a:rPr lang="en-US" sz="2800" dirty="0">
                <a:latin typeface="Times New Roman" pitchFamily="18" charset="0"/>
                <a:cs typeface="Times New Roman" pitchFamily="18" charset="0"/>
              </a:rPr>
              <a:t>Issue of application number and the cash receipt – this is done the same day</a:t>
            </a:r>
          </a:p>
          <a:p>
            <a:pPr eaLnBrk="1" hangingPunct="1">
              <a:lnSpc>
                <a:spcPct val="90000"/>
              </a:lnSpc>
            </a:pPr>
            <a:r>
              <a:rPr lang="en-US" sz="2800" dirty="0">
                <a:latin typeface="Times New Roman" pitchFamily="18" charset="0"/>
                <a:cs typeface="Times New Roman" pitchFamily="18" charset="0"/>
              </a:rPr>
              <a:t>In case of receipt of application by post, cash receipt, application number is sent by post within 2-3 days</a:t>
            </a:r>
          </a:p>
        </p:txBody>
      </p:sp>
    </p:spTree>
  </p:cSld>
  <p:clrMapOvr>
    <a:masterClrMapping/>
  </p:clrMapOvr>
  <p:transition>
    <p:wipe/>
    <p:sndAc>
      <p:endSnd/>
    </p:sndAc>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idx="4294967295"/>
          </p:nvPr>
        </p:nvSpPr>
        <p:spPr>
          <a:xfrm>
            <a:off x="533400" y="-152400"/>
            <a:ext cx="8229600" cy="1143000"/>
          </a:xfrm>
          <a:prstGeom prst="rect">
            <a:avLst/>
          </a:prstGeom>
        </p:spPr>
        <p:txBody>
          <a:bodyPr/>
          <a:lstStyle/>
          <a:p>
            <a:pPr eaLnBrk="1" hangingPunct="1"/>
            <a:r>
              <a:rPr lang="en-US" sz="4000" dirty="0">
                <a:latin typeface="Times New Roman" pitchFamily="18" charset="0"/>
                <a:cs typeface="Times New Roman" pitchFamily="18" charset="0"/>
              </a:rPr>
              <a:t>Publication</a:t>
            </a:r>
          </a:p>
        </p:txBody>
      </p:sp>
      <p:sp>
        <p:nvSpPr>
          <p:cNvPr id="51203" name="Rectangle 3"/>
          <p:cNvSpPr>
            <a:spLocks noGrp="1" noChangeArrowheads="1"/>
          </p:cNvSpPr>
          <p:nvPr>
            <p:ph type="body" idx="4294967295"/>
          </p:nvPr>
        </p:nvSpPr>
        <p:spPr>
          <a:xfrm>
            <a:off x="228600" y="990600"/>
            <a:ext cx="8229600" cy="4525963"/>
          </a:xfrm>
          <a:prstGeom prst="rect">
            <a:avLst/>
          </a:prstGeom>
        </p:spPr>
        <p:txBody>
          <a:bodyPr/>
          <a:lstStyle/>
          <a:p>
            <a:pPr eaLnBrk="1" hangingPunct="1"/>
            <a:r>
              <a:rPr lang="en-US" sz="2800" dirty="0">
                <a:latin typeface="Times New Roman" pitchFamily="18" charset="0"/>
                <a:cs typeface="Times New Roman" pitchFamily="18" charset="0"/>
              </a:rPr>
              <a:t>Application is kept secret for a period of 18 months from the date of filing</a:t>
            </a:r>
          </a:p>
          <a:p>
            <a:pPr eaLnBrk="1" hangingPunct="1"/>
            <a:r>
              <a:rPr lang="en-US" sz="2800" dirty="0">
                <a:latin typeface="Times New Roman" pitchFamily="18" charset="0"/>
                <a:cs typeface="Times New Roman" pitchFamily="18" charset="0"/>
              </a:rPr>
              <a:t>In 19</a:t>
            </a:r>
            <a:r>
              <a:rPr lang="en-US" sz="2800" baseline="30000" dirty="0">
                <a:latin typeface="Times New Roman" pitchFamily="18" charset="0"/>
                <a:cs typeface="Times New Roman" pitchFamily="18" charset="0"/>
              </a:rPr>
              <a:t>th</a:t>
            </a:r>
            <a:r>
              <a:rPr lang="en-US" sz="2800" dirty="0">
                <a:latin typeface="Times New Roman" pitchFamily="18" charset="0"/>
                <a:cs typeface="Times New Roman" pitchFamily="18" charset="0"/>
              </a:rPr>
              <a:t> month, the application is published in the official journal – this journal is made available on the website weekly</a:t>
            </a:r>
          </a:p>
          <a:p>
            <a:pPr eaLnBrk="1" hangingPunct="1"/>
            <a:r>
              <a:rPr lang="en-US" sz="2800" dirty="0">
                <a:latin typeface="Times New Roman" pitchFamily="18" charset="0"/>
                <a:cs typeface="Times New Roman" pitchFamily="18" charset="0"/>
              </a:rPr>
              <a:t>Applicant has an option to get his application published before 18 months also</a:t>
            </a:r>
          </a:p>
          <a:p>
            <a:pPr eaLnBrk="1" hangingPunct="1"/>
            <a:r>
              <a:rPr lang="en-US" sz="2800" dirty="0">
                <a:latin typeface="Times New Roman" pitchFamily="18" charset="0"/>
                <a:cs typeface="Times New Roman" pitchFamily="18" charset="0"/>
              </a:rPr>
              <a:t>In that case, application is published within one month of the request</a:t>
            </a:r>
          </a:p>
          <a:p>
            <a:pPr eaLnBrk="1" hangingPunct="1"/>
            <a:endParaRPr lang="en-US" sz="2800" dirty="0">
              <a:latin typeface="Times New Roman" pitchFamily="18" charset="0"/>
              <a:cs typeface="Times New Roman" pitchFamily="18" charset="0"/>
            </a:endParaRPr>
          </a:p>
        </p:txBody>
      </p:sp>
    </p:spTree>
  </p:cSld>
  <p:clrMapOvr>
    <a:masterClrMapping/>
  </p:clrMapOvr>
  <p:transition>
    <p:wipe/>
    <p:sndAc>
      <p:endSnd/>
    </p:sndAc>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idx="4294967295"/>
          </p:nvPr>
        </p:nvSpPr>
        <p:spPr>
          <a:xfrm>
            <a:off x="533400" y="0"/>
            <a:ext cx="8229600" cy="1143000"/>
          </a:xfrm>
          <a:prstGeom prst="rect">
            <a:avLst/>
          </a:prstGeom>
        </p:spPr>
        <p:txBody>
          <a:bodyPr/>
          <a:lstStyle/>
          <a:p>
            <a:pPr eaLnBrk="1" hangingPunct="1"/>
            <a:r>
              <a:rPr lang="en-US" sz="3600" dirty="0">
                <a:latin typeface="Times New Roman" pitchFamily="18" charset="0"/>
                <a:cs typeface="Times New Roman" pitchFamily="18" charset="0"/>
              </a:rPr>
              <a:t>Request for Examination</a:t>
            </a:r>
          </a:p>
        </p:txBody>
      </p:sp>
      <p:sp>
        <p:nvSpPr>
          <p:cNvPr id="52227" name="Rectangle 3"/>
          <p:cNvSpPr>
            <a:spLocks noGrp="1" noChangeArrowheads="1"/>
          </p:cNvSpPr>
          <p:nvPr>
            <p:ph type="body" idx="4294967295"/>
          </p:nvPr>
        </p:nvSpPr>
        <p:spPr>
          <a:xfrm>
            <a:off x="381000" y="1219200"/>
            <a:ext cx="8229600" cy="4525963"/>
          </a:xfrm>
          <a:prstGeom prst="rect">
            <a:avLst/>
          </a:prstGeom>
        </p:spPr>
        <p:txBody>
          <a:bodyPr/>
          <a:lstStyle/>
          <a:p>
            <a:pPr eaLnBrk="1" hangingPunct="1"/>
            <a:r>
              <a:rPr lang="en-US" sz="2800" dirty="0">
                <a:latin typeface="Times New Roman" pitchFamily="18" charset="0"/>
                <a:cs typeface="Times New Roman" pitchFamily="18" charset="0"/>
              </a:rPr>
              <a:t>Application is examined on request</a:t>
            </a:r>
          </a:p>
          <a:p>
            <a:pPr eaLnBrk="1" hangingPunct="1"/>
            <a:r>
              <a:rPr lang="en-US" sz="2800" dirty="0">
                <a:latin typeface="Times New Roman" pitchFamily="18" charset="0"/>
                <a:cs typeface="Times New Roman" pitchFamily="18" charset="0"/>
              </a:rPr>
              <a:t>Request for examination can be made either by the applicant or by a third party</a:t>
            </a:r>
          </a:p>
          <a:p>
            <a:pPr eaLnBrk="1" hangingPunct="1"/>
            <a:r>
              <a:rPr lang="en-US" sz="2800" dirty="0">
                <a:latin typeface="Times New Roman" pitchFamily="18" charset="0"/>
                <a:cs typeface="Times New Roman" pitchFamily="18" charset="0"/>
              </a:rPr>
              <a:t>A period of 48 months, from the date of filing, is available for making request for examination</a:t>
            </a:r>
          </a:p>
        </p:txBody>
      </p:sp>
    </p:spTree>
  </p:cSld>
  <p:clrMapOvr>
    <a:masterClrMapping/>
  </p:clrMapOvr>
  <p:transition>
    <p:wipe/>
    <p:sndAc>
      <p:endSnd/>
    </p:sndAc>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idx="4294967295"/>
          </p:nvPr>
        </p:nvSpPr>
        <p:spPr>
          <a:xfrm>
            <a:off x="381000" y="-152400"/>
            <a:ext cx="8229600" cy="1143000"/>
          </a:xfrm>
          <a:prstGeom prst="rect">
            <a:avLst/>
          </a:prstGeom>
        </p:spPr>
        <p:txBody>
          <a:bodyPr/>
          <a:lstStyle/>
          <a:p>
            <a:pPr eaLnBrk="1" hangingPunct="1"/>
            <a:r>
              <a:rPr lang="en-US" sz="4000" dirty="0">
                <a:latin typeface="Times New Roman" pitchFamily="18" charset="0"/>
                <a:cs typeface="Times New Roman" pitchFamily="18" charset="0"/>
              </a:rPr>
              <a:t>Examination</a:t>
            </a:r>
          </a:p>
        </p:txBody>
      </p:sp>
      <p:sp>
        <p:nvSpPr>
          <p:cNvPr id="53251" name="Rectangle 3"/>
          <p:cNvSpPr>
            <a:spLocks noGrp="1" noChangeArrowheads="1"/>
          </p:cNvSpPr>
          <p:nvPr>
            <p:ph type="body" idx="4294967295"/>
          </p:nvPr>
        </p:nvSpPr>
        <p:spPr>
          <a:xfrm>
            <a:off x="228600" y="990600"/>
            <a:ext cx="8229600" cy="4525963"/>
          </a:xfrm>
          <a:prstGeom prst="rect">
            <a:avLst/>
          </a:prstGeom>
        </p:spPr>
        <p:txBody>
          <a:bodyPr/>
          <a:lstStyle/>
          <a:p>
            <a:pPr eaLnBrk="1" hangingPunct="1"/>
            <a:r>
              <a:rPr lang="en-US" sz="2800" dirty="0">
                <a:latin typeface="Times New Roman" pitchFamily="18" charset="0"/>
                <a:cs typeface="Times New Roman" pitchFamily="18" charset="0"/>
              </a:rPr>
              <a:t> Application is sent to an Examiner within 1 month from the date of request for examination</a:t>
            </a:r>
          </a:p>
          <a:p>
            <a:pPr eaLnBrk="1" hangingPunct="1"/>
            <a:r>
              <a:rPr lang="en-US" sz="2800" dirty="0">
                <a:latin typeface="Times New Roman" pitchFamily="18" charset="0"/>
                <a:cs typeface="Times New Roman" pitchFamily="18" charset="0"/>
              </a:rPr>
              <a:t>Examiner undertakes examination w.r.t.</a:t>
            </a:r>
          </a:p>
          <a:p>
            <a:pPr lvl="1" eaLnBrk="1" hangingPunct="1"/>
            <a:r>
              <a:rPr lang="en-US" sz="2400" dirty="0">
                <a:latin typeface="Times New Roman" pitchFamily="18" charset="0"/>
                <a:cs typeface="Times New Roman" pitchFamily="18" charset="0"/>
              </a:rPr>
              <a:t>whether the claimed invention is not prohibited for grant of patent </a:t>
            </a:r>
          </a:p>
          <a:p>
            <a:pPr lvl="1" eaLnBrk="1" hangingPunct="1"/>
            <a:r>
              <a:rPr lang="en-US" sz="2400" dirty="0">
                <a:latin typeface="Times New Roman" pitchFamily="18" charset="0"/>
                <a:cs typeface="Times New Roman" pitchFamily="18" charset="0"/>
              </a:rPr>
              <a:t>whether the invention meets the criteria of patentability</a:t>
            </a:r>
          </a:p>
          <a:p>
            <a:pPr lvl="1" eaLnBrk="1" hangingPunct="1">
              <a:buFontTx/>
              <a:buNone/>
            </a:pPr>
            <a:endParaRPr lang="en-US" sz="2400" dirty="0">
              <a:latin typeface="Times New Roman" pitchFamily="18" charset="0"/>
              <a:cs typeface="Times New Roman" pitchFamily="18" charset="0"/>
            </a:endParaRPr>
          </a:p>
        </p:txBody>
      </p:sp>
    </p:spTree>
  </p:cSld>
  <p:clrMapOvr>
    <a:masterClrMapping/>
  </p:clrMapOvr>
  <p:transition>
    <p:wipe/>
    <p:sndAc>
      <p:endSnd/>
    </p:sndAc>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idx="4294967295"/>
          </p:nvPr>
        </p:nvSpPr>
        <p:spPr>
          <a:xfrm>
            <a:off x="457200" y="-14748"/>
            <a:ext cx="8229600" cy="1143000"/>
          </a:xfrm>
          <a:prstGeom prst="rect">
            <a:avLst/>
          </a:prstGeom>
        </p:spPr>
        <p:txBody>
          <a:bodyPr/>
          <a:lstStyle/>
          <a:p>
            <a:pPr eaLnBrk="1" hangingPunct="1"/>
            <a:r>
              <a:rPr lang="en-US" sz="4000" dirty="0">
                <a:latin typeface="Times New Roman" pitchFamily="18" charset="0"/>
                <a:cs typeface="Times New Roman" pitchFamily="18" charset="0"/>
              </a:rPr>
              <a:t>Issue of FER</a:t>
            </a:r>
          </a:p>
        </p:txBody>
      </p:sp>
      <p:sp>
        <p:nvSpPr>
          <p:cNvPr id="54275" name="Rectangle 3"/>
          <p:cNvSpPr>
            <a:spLocks noGrp="1" noChangeArrowheads="1"/>
          </p:cNvSpPr>
          <p:nvPr>
            <p:ph type="body" idx="4294967295"/>
          </p:nvPr>
        </p:nvSpPr>
        <p:spPr>
          <a:xfrm>
            <a:off x="228600" y="990600"/>
            <a:ext cx="8229600" cy="4525963"/>
          </a:xfrm>
          <a:prstGeom prst="rect">
            <a:avLst/>
          </a:prstGeom>
        </p:spPr>
        <p:txBody>
          <a:bodyPr/>
          <a:lstStyle/>
          <a:p>
            <a:pPr eaLnBrk="1" hangingPunct="1"/>
            <a:r>
              <a:rPr lang="en-US" sz="2800" dirty="0">
                <a:latin typeface="Times New Roman" pitchFamily="18" charset="0"/>
                <a:cs typeface="Times New Roman" pitchFamily="18" charset="0"/>
              </a:rPr>
              <a:t>A period of 1 to 3 months is available to Examiner to submit the report to the Controller</a:t>
            </a:r>
          </a:p>
          <a:p>
            <a:pPr eaLnBrk="1" hangingPunct="1"/>
            <a:r>
              <a:rPr lang="en-US" sz="2800" dirty="0">
                <a:latin typeface="Times New Roman" pitchFamily="18" charset="0"/>
                <a:cs typeface="Times New Roman" pitchFamily="18" charset="0"/>
              </a:rPr>
              <a:t>1 month’s time available to Controller to vet  the Examiner’s report </a:t>
            </a:r>
          </a:p>
          <a:p>
            <a:pPr eaLnBrk="1" hangingPunct="1"/>
            <a:r>
              <a:rPr lang="en-US" sz="2800" dirty="0">
                <a:latin typeface="Times New Roman" pitchFamily="18" charset="0"/>
                <a:cs typeface="Times New Roman" pitchFamily="18" charset="0"/>
              </a:rPr>
              <a:t>First Examination Report (FER) containing gist of the objections is issued within 6 months from the date of filing of request</a:t>
            </a:r>
          </a:p>
        </p:txBody>
      </p:sp>
    </p:spTree>
  </p:cSld>
  <p:clrMapOvr>
    <a:masterClrMapping/>
  </p:clrMapOvr>
  <p:transition>
    <p:wipe/>
    <p:sndAc>
      <p:endSnd/>
    </p:sndAc>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idx="4294967295"/>
          </p:nvPr>
        </p:nvSpPr>
        <p:spPr>
          <a:xfrm>
            <a:off x="609600" y="0"/>
            <a:ext cx="8229600" cy="1143000"/>
          </a:xfrm>
          <a:prstGeom prst="rect">
            <a:avLst/>
          </a:prstGeom>
        </p:spPr>
        <p:txBody>
          <a:bodyPr/>
          <a:lstStyle/>
          <a:p>
            <a:pPr eaLnBrk="1" hangingPunct="1"/>
            <a:r>
              <a:rPr lang="en-US" sz="4000" dirty="0">
                <a:latin typeface="Times New Roman" pitchFamily="18" charset="0"/>
                <a:cs typeface="Times New Roman" pitchFamily="18" charset="0"/>
              </a:rPr>
              <a:t>Response from the Applicant</a:t>
            </a:r>
          </a:p>
        </p:txBody>
      </p:sp>
      <p:sp>
        <p:nvSpPr>
          <p:cNvPr id="55299" name="Rectangle 3"/>
          <p:cNvSpPr>
            <a:spLocks noGrp="1" noChangeArrowheads="1"/>
          </p:cNvSpPr>
          <p:nvPr>
            <p:ph type="body" idx="4294967295"/>
          </p:nvPr>
        </p:nvSpPr>
        <p:spPr>
          <a:xfrm>
            <a:off x="381000" y="1219200"/>
            <a:ext cx="8229600" cy="4525963"/>
          </a:xfrm>
          <a:prstGeom prst="rect">
            <a:avLst/>
          </a:prstGeom>
        </p:spPr>
        <p:txBody>
          <a:bodyPr/>
          <a:lstStyle/>
          <a:p>
            <a:pPr eaLnBrk="1" hangingPunct="1"/>
            <a:r>
              <a:rPr lang="en-US" sz="2800" dirty="0">
                <a:latin typeface="Times New Roman" pitchFamily="18" charset="0"/>
                <a:cs typeface="Times New Roman" pitchFamily="18" charset="0"/>
              </a:rPr>
              <a:t>12 months’ time, from the date of issue of FER, is available to the applicant to meet the objections </a:t>
            </a:r>
          </a:p>
          <a:p>
            <a:pPr eaLnBrk="1" hangingPunct="1">
              <a:buFontTx/>
              <a:buNone/>
            </a:pPr>
            <a:endParaRPr lang="en-US" sz="2800" dirty="0">
              <a:latin typeface="Times New Roman" pitchFamily="18" charset="0"/>
              <a:cs typeface="Times New Roman" pitchFamily="18" charset="0"/>
            </a:endParaRPr>
          </a:p>
          <a:p>
            <a:pPr eaLnBrk="1" hangingPunct="1"/>
            <a:r>
              <a:rPr lang="en-US" sz="2800" dirty="0">
                <a:latin typeface="Times New Roman" pitchFamily="18" charset="0"/>
                <a:cs typeface="Times New Roman" pitchFamily="18" charset="0"/>
              </a:rPr>
              <a:t>If objections are met, grant of patent is approved by the Controller – within a period of 1 month</a:t>
            </a:r>
          </a:p>
          <a:p>
            <a:pPr eaLnBrk="1" hangingPunct="1"/>
            <a:endParaRPr lang="en-US" sz="2800" dirty="0">
              <a:latin typeface="Times New Roman" pitchFamily="18" charset="0"/>
              <a:cs typeface="Times New Roman" pitchFamily="18" charset="0"/>
            </a:endParaRPr>
          </a:p>
        </p:txBody>
      </p:sp>
    </p:spTree>
  </p:cSld>
  <p:clrMapOvr>
    <a:masterClrMapping/>
  </p:clrMapOvr>
  <p:transition>
    <p:wipe/>
    <p:sndAc>
      <p:endSnd/>
    </p:sndAc>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idx="4294967295"/>
          </p:nvPr>
        </p:nvSpPr>
        <p:spPr>
          <a:xfrm>
            <a:off x="457200" y="838200"/>
            <a:ext cx="8229600" cy="1143000"/>
          </a:xfrm>
          <a:prstGeom prst="rect">
            <a:avLst/>
          </a:prstGeom>
        </p:spPr>
        <p:txBody>
          <a:bodyPr/>
          <a:lstStyle/>
          <a:p>
            <a:pPr eaLnBrk="1" hangingPunct="1"/>
            <a:r>
              <a:rPr lang="en-US" sz="4000" dirty="0">
                <a:latin typeface="Times New Roman" pitchFamily="18" charset="0"/>
                <a:cs typeface="Times New Roman" pitchFamily="18" charset="0"/>
              </a:rPr>
              <a:t>Pre-grant Opposition</a:t>
            </a:r>
          </a:p>
        </p:txBody>
      </p:sp>
      <p:sp>
        <p:nvSpPr>
          <p:cNvPr id="56323" name="Rectangle 3"/>
          <p:cNvSpPr>
            <a:spLocks noGrp="1" noChangeArrowheads="1"/>
          </p:cNvSpPr>
          <p:nvPr>
            <p:ph type="body" idx="4294967295"/>
          </p:nvPr>
        </p:nvSpPr>
        <p:spPr>
          <a:xfrm>
            <a:off x="457200" y="1600200"/>
            <a:ext cx="8229600" cy="4525963"/>
          </a:xfrm>
          <a:prstGeom prst="rect">
            <a:avLst/>
          </a:prstGeom>
        </p:spPr>
        <p:txBody>
          <a:bodyPr/>
          <a:lstStyle/>
          <a:p>
            <a:pPr eaLnBrk="1" hangingPunct="1"/>
            <a:endParaRPr lang="en-US" sz="2800" dirty="0">
              <a:latin typeface="Times New Roman" pitchFamily="18" charset="0"/>
              <a:cs typeface="Times New Roman" pitchFamily="18" charset="0"/>
            </a:endParaRPr>
          </a:p>
          <a:p>
            <a:pPr eaLnBrk="1" hangingPunct="1"/>
            <a:r>
              <a:rPr lang="en-US" sz="2800" dirty="0">
                <a:latin typeface="Times New Roman" pitchFamily="18" charset="0"/>
                <a:cs typeface="Times New Roman" pitchFamily="18" charset="0"/>
              </a:rPr>
              <a:t>After publication, an opposition can be filed within a period of 6 months</a:t>
            </a:r>
          </a:p>
          <a:p>
            <a:pPr eaLnBrk="1" hangingPunct="1">
              <a:buFontTx/>
              <a:buNone/>
            </a:pPr>
            <a:endParaRPr lang="en-US" sz="2800" dirty="0">
              <a:latin typeface="Times New Roman" pitchFamily="18" charset="0"/>
              <a:cs typeface="Times New Roman" pitchFamily="18" charset="0"/>
            </a:endParaRPr>
          </a:p>
          <a:p>
            <a:pPr eaLnBrk="1" hangingPunct="1"/>
            <a:r>
              <a:rPr lang="en-US" sz="2800" dirty="0">
                <a:latin typeface="Times New Roman" pitchFamily="18" charset="0"/>
                <a:cs typeface="Times New Roman" pitchFamily="18" charset="0"/>
              </a:rPr>
              <a:t>Opportunity of hearing the opponent is also available</a:t>
            </a:r>
          </a:p>
          <a:p>
            <a:pPr eaLnBrk="1" hangingPunct="1">
              <a:buFontTx/>
              <a:buNone/>
            </a:pPr>
            <a:endParaRPr lang="en-US" sz="2800" dirty="0">
              <a:latin typeface="Times New Roman" pitchFamily="18" charset="0"/>
              <a:cs typeface="Times New Roman" pitchFamily="18" charset="0"/>
            </a:endParaRPr>
          </a:p>
        </p:txBody>
      </p:sp>
    </p:spTree>
  </p:cSld>
  <p:clrMapOvr>
    <a:masterClrMapping/>
  </p:clrMapOvr>
  <p:transition>
    <p:wipe/>
    <p:sndAc>
      <p:endSnd/>
    </p:sndAc>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idx="4294967295"/>
          </p:nvPr>
        </p:nvSpPr>
        <p:spPr>
          <a:xfrm>
            <a:off x="457200" y="0"/>
            <a:ext cx="8229600" cy="1143000"/>
          </a:xfrm>
          <a:prstGeom prst="rect">
            <a:avLst/>
          </a:prstGeom>
        </p:spPr>
        <p:txBody>
          <a:bodyPr/>
          <a:lstStyle/>
          <a:p>
            <a:pPr eaLnBrk="1" hangingPunct="1"/>
            <a:r>
              <a:rPr lang="en-US" sz="4000" dirty="0">
                <a:latin typeface="Times New Roman" pitchFamily="18" charset="0"/>
                <a:cs typeface="Times New Roman" pitchFamily="18" charset="0"/>
              </a:rPr>
              <a:t>Grant of a Patent</a:t>
            </a:r>
          </a:p>
        </p:txBody>
      </p:sp>
      <p:sp>
        <p:nvSpPr>
          <p:cNvPr id="59395" name="Rectangle 3"/>
          <p:cNvSpPr>
            <a:spLocks noGrp="1" noChangeArrowheads="1"/>
          </p:cNvSpPr>
          <p:nvPr>
            <p:ph type="body" idx="4294967295"/>
          </p:nvPr>
        </p:nvSpPr>
        <p:spPr>
          <a:xfrm>
            <a:off x="457200" y="1600200"/>
            <a:ext cx="8229600" cy="4525963"/>
          </a:xfrm>
          <a:prstGeom prst="rect">
            <a:avLst/>
          </a:prstGeom>
        </p:spPr>
        <p:txBody>
          <a:bodyPr/>
          <a:lstStyle/>
          <a:p>
            <a:pPr eaLnBrk="1" hangingPunct="1"/>
            <a:r>
              <a:rPr lang="en-US" dirty="0">
                <a:latin typeface="Times New Roman" pitchFamily="18" charset="0"/>
                <a:cs typeface="Times New Roman" pitchFamily="18" charset="0"/>
              </a:rPr>
              <a:t>A certificate of patent is issued within 7 days</a:t>
            </a:r>
          </a:p>
          <a:p>
            <a:pPr eaLnBrk="1" hangingPunct="1">
              <a:buFontTx/>
              <a:buNone/>
            </a:pPr>
            <a:endParaRPr lang="en-US" dirty="0">
              <a:latin typeface="Times New Roman" pitchFamily="18" charset="0"/>
              <a:cs typeface="Times New Roman" pitchFamily="18" charset="0"/>
            </a:endParaRPr>
          </a:p>
          <a:p>
            <a:pPr eaLnBrk="1" hangingPunct="1"/>
            <a:r>
              <a:rPr lang="en-US" dirty="0">
                <a:latin typeface="Times New Roman" pitchFamily="18" charset="0"/>
                <a:cs typeface="Times New Roman" pitchFamily="18" charset="0"/>
              </a:rPr>
              <a:t>Grant of patent is published in the official journal</a:t>
            </a:r>
          </a:p>
        </p:txBody>
      </p:sp>
    </p:spTree>
  </p:cSld>
  <p:clrMapOvr>
    <a:masterClrMapping/>
  </p:clrMapOvr>
  <p:transition>
    <p:wipe/>
    <p:sndAc>
      <p:endSnd/>
    </p:sndAc>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idx="4294967295"/>
          </p:nvPr>
        </p:nvSpPr>
        <p:spPr>
          <a:xfrm>
            <a:off x="323056" y="-152400"/>
            <a:ext cx="8802687" cy="679450"/>
          </a:xfrm>
          <a:prstGeom prst="rect">
            <a:avLst/>
          </a:prstGeom>
          <a:ln>
            <a:solidFill>
              <a:srgbClr val="FFFFFF"/>
            </a:solidFill>
          </a:ln>
        </p:spPr>
        <p:txBody>
          <a:bodyPr/>
          <a:lstStyle/>
          <a:p>
            <a:pPr eaLnBrk="1" hangingPunct="1">
              <a:defRPr/>
            </a:pPr>
            <a:r>
              <a:rPr lang="en-US" sz="2800" dirty="0">
                <a:solidFill>
                  <a:schemeClr val="tx1"/>
                </a:solidFill>
                <a:latin typeface="Times New Roman" pitchFamily="18" charset="0"/>
                <a:cs typeface="Times New Roman" pitchFamily="18" charset="0"/>
              </a:rPr>
              <a:t>STAGES - FILING TO  GRANT OF PATENT</a:t>
            </a:r>
          </a:p>
        </p:txBody>
      </p:sp>
      <p:grpSp>
        <p:nvGrpSpPr>
          <p:cNvPr id="2" name="Group 1"/>
          <p:cNvGrpSpPr/>
          <p:nvPr/>
        </p:nvGrpSpPr>
        <p:grpSpPr>
          <a:xfrm>
            <a:off x="139700" y="914400"/>
            <a:ext cx="9004300" cy="5486400"/>
            <a:chOff x="139700" y="1143000"/>
            <a:chExt cx="9004300" cy="5486400"/>
          </a:xfrm>
        </p:grpSpPr>
        <p:sp>
          <p:nvSpPr>
            <p:cNvPr id="60419" name="Rectangle 3"/>
            <p:cNvSpPr>
              <a:spLocks noChangeArrowheads="1"/>
            </p:cNvSpPr>
            <p:nvPr/>
          </p:nvSpPr>
          <p:spPr bwMode="auto">
            <a:xfrm>
              <a:off x="762000" y="1905000"/>
              <a:ext cx="3505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sz="1600" b="1">
                  <a:latin typeface="Times New Roman" pitchFamily="18" charset="0"/>
                </a:rPr>
                <a:t>PUBLICATION OF APPLICATION</a:t>
              </a:r>
            </a:p>
          </p:txBody>
        </p:sp>
        <p:sp>
          <p:nvSpPr>
            <p:cNvPr id="60420" name="Rectangle 4"/>
            <p:cNvSpPr>
              <a:spLocks noChangeArrowheads="1"/>
            </p:cNvSpPr>
            <p:nvPr/>
          </p:nvSpPr>
          <p:spPr bwMode="auto">
            <a:xfrm>
              <a:off x="685800" y="2667000"/>
              <a:ext cx="3505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sz="1600" b="1">
                  <a:latin typeface="Times New Roman" pitchFamily="18" charset="0"/>
                </a:rPr>
                <a:t>REQUEST FOR EXAMINATION</a:t>
              </a:r>
            </a:p>
          </p:txBody>
        </p:sp>
        <p:sp>
          <p:nvSpPr>
            <p:cNvPr id="60421" name="Rectangle 5"/>
            <p:cNvSpPr>
              <a:spLocks noChangeArrowheads="1"/>
            </p:cNvSpPr>
            <p:nvPr/>
          </p:nvSpPr>
          <p:spPr bwMode="auto">
            <a:xfrm>
              <a:off x="685800" y="4191000"/>
              <a:ext cx="3505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sz="2000" b="1">
                  <a:latin typeface="Times New Roman" pitchFamily="18" charset="0"/>
                </a:rPr>
                <a:t>GRANT OF PATENT</a:t>
              </a:r>
            </a:p>
          </p:txBody>
        </p:sp>
        <p:sp>
          <p:nvSpPr>
            <p:cNvPr id="60422" name="Rectangle 6"/>
            <p:cNvSpPr>
              <a:spLocks noChangeArrowheads="1"/>
            </p:cNvSpPr>
            <p:nvPr/>
          </p:nvSpPr>
          <p:spPr bwMode="auto">
            <a:xfrm>
              <a:off x="5257800" y="3429000"/>
              <a:ext cx="3124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sz="1600" b="1">
                  <a:latin typeface="Times New Roman" pitchFamily="18" charset="0"/>
                </a:rPr>
                <a:t>3rd Party Representation</a:t>
              </a:r>
            </a:p>
          </p:txBody>
        </p:sp>
        <p:sp>
          <p:nvSpPr>
            <p:cNvPr id="60423" name="Rectangle 7"/>
            <p:cNvSpPr>
              <a:spLocks noChangeArrowheads="1"/>
            </p:cNvSpPr>
            <p:nvPr/>
          </p:nvSpPr>
          <p:spPr bwMode="auto">
            <a:xfrm>
              <a:off x="4876800" y="5943600"/>
              <a:ext cx="3505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sz="2000" b="1">
                  <a:latin typeface="Times New Roman" pitchFamily="18" charset="0"/>
                </a:rPr>
                <a:t>Revocation/Amendment</a:t>
              </a:r>
            </a:p>
          </p:txBody>
        </p:sp>
        <p:sp>
          <p:nvSpPr>
            <p:cNvPr id="60424" name="Rectangle 8"/>
            <p:cNvSpPr>
              <a:spLocks noChangeArrowheads="1"/>
            </p:cNvSpPr>
            <p:nvPr/>
          </p:nvSpPr>
          <p:spPr bwMode="auto">
            <a:xfrm>
              <a:off x="4800600" y="4572000"/>
              <a:ext cx="17526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sz="1600" b="1">
                  <a:latin typeface="Times New Roman" pitchFamily="18" charset="0"/>
                </a:rPr>
                <a:t>OPPOSITION</a:t>
              </a:r>
            </a:p>
          </p:txBody>
        </p:sp>
        <p:sp>
          <p:nvSpPr>
            <p:cNvPr id="60425" name="Line 9"/>
            <p:cNvSpPr>
              <a:spLocks noChangeShapeType="1"/>
            </p:cNvSpPr>
            <p:nvPr/>
          </p:nvSpPr>
          <p:spPr bwMode="auto">
            <a:xfrm>
              <a:off x="2362200" y="46482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60426" name="Line 10"/>
            <p:cNvSpPr>
              <a:spLocks noChangeShapeType="1"/>
            </p:cNvSpPr>
            <p:nvPr/>
          </p:nvSpPr>
          <p:spPr bwMode="auto">
            <a:xfrm>
              <a:off x="2286000" y="1600200"/>
              <a:ext cx="0" cy="20955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0427" name="Line 11"/>
            <p:cNvSpPr>
              <a:spLocks noChangeShapeType="1"/>
            </p:cNvSpPr>
            <p:nvPr/>
          </p:nvSpPr>
          <p:spPr bwMode="auto">
            <a:xfrm>
              <a:off x="2286000" y="2362200"/>
              <a:ext cx="0" cy="2286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0428" name="Line 12"/>
            <p:cNvSpPr>
              <a:spLocks noChangeShapeType="1"/>
            </p:cNvSpPr>
            <p:nvPr/>
          </p:nvSpPr>
          <p:spPr bwMode="auto">
            <a:xfrm>
              <a:off x="2286000" y="3124200"/>
              <a:ext cx="0" cy="2286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0429" name="Line 13"/>
            <p:cNvSpPr>
              <a:spLocks noChangeShapeType="1"/>
            </p:cNvSpPr>
            <p:nvPr/>
          </p:nvSpPr>
          <p:spPr bwMode="auto">
            <a:xfrm>
              <a:off x="2286000" y="3962400"/>
              <a:ext cx="0" cy="238125"/>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0430" name="Text Box 14"/>
            <p:cNvSpPr txBox="1">
              <a:spLocks noChangeArrowheads="1"/>
            </p:cNvSpPr>
            <p:nvPr/>
          </p:nvSpPr>
          <p:spPr bwMode="auto">
            <a:xfrm>
              <a:off x="4495800" y="1981200"/>
              <a:ext cx="34321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buFontTx/>
                <a:buChar char="•"/>
              </a:pPr>
              <a:r>
                <a:rPr lang="en-US" sz="1200" b="1">
                  <a:latin typeface="Times New Roman" pitchFamily="18" charset="0"/>
                </a:rPr>
                <a:t> PROMPTLY AFTER 18 MONTHS FROM P.D.</a:t>
              </a:r>
            </a:p>
          </p:txBody>
        </p:sp>
        <p:sp>
          <p:nvSpPr>
            <p:cNvPr id="60431" name="Text Box 15"/>
            <p:cNvSpPr txBox="1">
              <a:spLocks noChangeArrowheads="1"/>
            </p:cNvSpPr>
            <p:nvPr/>
          </p:nvSpPr>
          <p:spPr bwMode="auto">
            <a:xfrm>
              <a:off x="4495800" y="2743200"/>
              <a:ext cx="25987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buFontTx/>
                <a:buChar char="•"/>
              </a:pPr>
              <a:r>
                <a:rPr lang="en-US" sz="1200" b="1">
                  <a:solidFill>
                    <a:schemeClr val="tx2"/>
                  </a:solidFill>
                  <a:latin typeface="Times New Roman" pitchFamily="18" charset="0"/>
                </a:rPr>
                <a:t> </a:t>
              </a:r>
              <a:r>
                <a:rPr lang="en-US" sz="1200" b="1">
                  <a:latin typeface="Times New Roman" pitchFamily="18" charset="0"/>
                </a:rPr>
                <a:t>WITHIN 48 MONTHS FROM F.D</a:t>
              </a:r>
              <a:r>
                <a:rPr lang="en-US" sz="1000">
                  <a:solidFill>
                    <a:schemeClr val="tx2"/>
                  </a:solidFill>
                  <a:latin typeface="Times New Roman" pitchFamily="18" charset="0"/>
                </a:rPr>
                <a:t>.</a:t>
              </a:r>
            </a:p>
          </p:txBody>
        </p:sp>
        <p:sp>
          <p:nvSpPr>
            <p:cNvPr id="60432" name="Text Box 16"/>
            <p:cNvSpPr txBox="1">
              <a:spLocks noChangeArrowheads="1"/>
            </p:cNvSpPr>
            <p:nvPr/>
          </p:nvSpPr>
          <p:spPr bwMode="auto">
            <a:xfrm>
              <a:off x="4419600" y="3886200"/>
              <a:ext cx="434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buFontTx/>
                <a:buChar char="•"/>
              </a:pPr>
              <a:r>
                <a:rPr lang="en-US" sz="1200" b="1">
                  <a:latin typeface="Times New Roman" pitchFamily="18" charset="0"/>
                </a:rPr>
                <a:t> ALL OBJECTIONS TO BE COMPLIED    WITHIN 12 MONTHS</a:t>
              </a:r>
            </a:p>
          </p:txBody>
        </p:sp>
        <p:sp>
          <p:nvSpPr>
            <p:cNvPr id="60433" name="Text Box 17"/>
            <p:cNvSpPr txBox="1">
              <a:spLocks noChangeArrowheads="1"/>
            </p:cNvSpPr>
            <p:nvPr/>
          </p:nvSpPr>
          <p:spPr bwMode="auto">
            <a:xfrm>
              <a:off x="4284663" y="1219200"/>
              <a:ext cx="48593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buFontTx/>
                <a:buChar char="•"/>
              </a:pPr>
              <a:r>
                <a:rPr lang="en-US" sz="1400" b="1">
                  <a:solidFill>
                    <a:srgbClr val="B03D1E"/>
                  </a:solidFill>
                  <a:latin typeface="Times New Roman" pitchFamily="18" charset="0"/>
                </a:rPr>
                <a:t> IF P.S.IS FILED C.S. TO BE FILED WITHIN 12MONTHS</a:t>
              </a:r>
            </a:p>
          </p:txBody>
        </p:sp>
        <p:sp>
          <p:nvSpPr>
            <p:cNvPr id="60434" name="Text Box 18"/>
            <p:cNvSpPr txBox="1">
              <a:spLocks noChangeArrowheads="1"/>
            </p:cNvSpPr>
            <p:nvPr/>
          </p:nvSpPr>
          <p:spPr bwMode="auto">
            <a:xfrm>
              <a:off x="2667000" y="4800600"/>
              <a:ext cx="18589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buFontTx/>
                <a:buChar char="•"/>
              </a:pPr>
              <a:r>
                <a:rPr lang="en-US" sz="1200" b="1">
                  <a:latin typeface="Times New Roman" pitchFamily="18" charset="0"/>
                </a:rPr>
                <a:t> WITHIN  12  MONTHS</a:t>
              </a:r>
            </a:p>
          </p:txBody>
        </p:sp>
        <p:sp>
          <p:nvSpPr>
            <p:cNvPr id="60435" name="Rectangle 19"/>
            <p:cNvSpPr>
              <a:spLocks noChangeArrowheads="1"/>
            </p:cNvSpPr>
            <p:nvPr/>
          </p:nvSpPr>
          <p:spPr bwMode="auto">
            <a:xfrm>
              <a:off x="762000" y="1143000"/>
              <a:ext cx="3505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sz="1600" b="1" dirty="0">
                  <a:latin typeface="Times New Roman" pitchFamily="18" charset="0"/>
                </a:rPr>
                <a:t>FILING OF APPLICATION</a:t>
              </a:r>
            </a:p>
            <a:p>
              <a:pPr algn="ctr"/>
              <a:r>
                <a:rPr lang="en-US" sz="1600" b="1" dirty="0">
                  <a:latin typeface="Times New Roman" pitchFamily="18" charset="0"/>
                </a:rPr>
                <a:t>PROVNL. / COMPLETE</a:t>
              </a:r>
            </a:p>
          </p:txBody>
        </p:sp>
        <p:sp>
          <p:nvSpPr>
            <p:cNvPr id="60436" name="Line 20"/>
            <p:cNvSpPr>
              <a:spLocks noChangeShapeType="1"/>
            </p:cNvSpPr>
            <p:nvPr/>
          </p:nvSpPr>
          <p:spPr bwMode="auto">
            <a:xfrm>
              <a:off x="2362200" y="4800600"/>
              <a:ext cx="2362200"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60437" name="Line 21"/>
            <p:cNvSpPr>
              <a:spLocks noChangeShapeType="1"/>
            </p:cNvSpPr>
            <p:nvPr/>
          </p:nvSpPr>
          <p:spPr bwMode="auto">
            <a:xfrm flipV="1">
              <a:off x="4724400" y="4572000"/>
              <a:ext cx="76200" cy="228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438" name="Text Box 22"/>
            <p:cNvSpPr txBox="1">
              <a:spLocks noChangeArrowheads="1"/>
            </p:cNvSpPr>
            <p:nvPr/>
          </p:nvSpPr>
          <p:spPr bwMode="auto">
            <a:xfrm>
              <a:off x="1676400" y="5105400"/>
              <a:ext cx="1524000" cy="5159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lnSpc>
                  <a:spcPct val="60000"/>
                </a:lnSpc>
                <a:spcBef>
                  <a:spcPct val="50000"/>
                </a:spcBef>
                <a:buSzPct val="90000"/>
              </a:pPr>
              <a:r>
                <a:rPr lang="en-US" sz="1600" b="1">
                  <a:latin typeface="Tahoma" pitchFamily="34" charset="0"/>
                </a:rPr>
                <a:t>Decision of </a:t>
              </a:r>
            </a:p>
            <a:p>
              <a:pPr algn="ctr" eaLnBrk="1" hangingPunct="1">
                <a:lnSpc>
                  <a:spcPct val="60000"/>
                </a:lnSpc>
                <a:spcBef>
                  <a:spcPct val="50000"/>
                </a:spcBef>
                <a:buSzPct val="90000"/>
              </a:pPr>
              <a:r>
                <a:rPr lang="en-US" sz="1600" b="1">
                  <a:latin typeface="Tahoma" pitchFamily="34" charset="0"/>
                </a:rPr>
                <a:t>Controller</a:t>
              </a:r>
            </a:p>
          </p:txBody>
        </p:sp>
        <p:sp>
          <p:nvSpPr>
            <p:cNvPr id="60439" name="Line 23"/>
            <p:cNvSpPr>
              <a:spLocks noChangeShapeType="1"/>
            </p:cNvSpPr>
            <p:nvPr/>
          </p:nvSpPr>
          <p:spPr bwMode="auto">
            <a:xfrm>
              <a:off x="8001000" y="6019800"/>
              <a:ext cx="0" cy="3810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a:lstStyle/>
            <a:p>
              <a:endParaRPr lang="en-US"/>
            </a:p>
          </p:txBody>
        </p:sp>
        <p:sp>
          <p:nvSpPr>
            <p:cNvPr id="60440" name="Line 24"/>
            <p:cNvSpPr>
              <a:spLocks noChangeShapeType="1"/>
            </p:cNvSpPr>
            <p:nvPr/>
          </p:nvSpPr>
          <p:spPr bwMode="auto">
            <a:xfrm flipH="1">
              <a:off x="2438400" y="5638800"/>
              <a:ext cx="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0441" name="Rectangle 25"/>
            <p:cNvSpPr>
              <a:spLocks noChangeArrowheads="1"/>
            </p:cNvSpPr>
            <p:nvPr/>
          </p:nvSpPr>
          <p:spPr bwMode="auto">
            <a:xfrm>
              <a:off x="685800" y="3429000"/>
              <a:ext cx="3505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sz="1600" b="1">
                  <a:latin typeface="Times New Roman" pitchFamily="18" charset="0"/>
                </a:rPr>
                <a:t>EXAMINATION-ISSUE OF FER</a:t>
              </a:r>
            </a:p>
          </p:txBody>
        </p:sp>
        <p:sp>
          <p:nvSpPr>
            <p:cNvPr id="60442" name="Line 26"/>
            <p:cNvSpPr>
              <a:spLocks noChangeShapeType="1"/>
            </p:cNvSpPr>
            <p:nvPr/>
          </p:nvSpPr>
          <p:spPr bwMode="auto">
            <a:xfrm>
              <a:off x="4343400" y="3657600"/>
              <a:ext cx="762000"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60443" name="Line 27"/>
            <p:cNvSpPr>
              <a:spLocks noChangeShapeType="1"/>
            </p:cNvSpPr>
            <p:nvPr/>
          </p:nvSpPr>
          <p:spPr bwMode="auto">
            <a:xfrm flipH="1">
              <a:off x="1524000" y="5867400"/>
              <a:ext cx="838200" cy="0"/>
            </a:xfrm>
            <a:prstGeom prst="line">
              <a:avLst/>
            </a:prstGeom>
            <a:noFill/>
            <a:ln w="12700">
              <a:solidFill>
                <a:schemeClr val="tx1"/>
              </a:solidFill>
              <a:round/>
              <a:headEnd type="triangle" w="lg" len="lg"/>
              <a:tailEnd type="none" w="lg" len="lg"/>
            </a:ln>
            <a:extLst>
              <a:ext uri="{909E8E84-426E-40DD-AFC4-6F175D3DCCD1}">
                <a14:hiddenFill xmlns:a14="http://schemas.microsoft.com/office/drawing/2010/main">
                  <a:noFill/>
                </a14:hiddenFill>
              </a:ext>
            </a:extLst>
          </p:spPr>
          <p:txBody>
            <a:bodyPr wrap="none"/>
            <a:lstStyle/>
            <a:p>
              <a:endParaRPr lang="en-US"/>
            </a:p>
          </p:txBody>
        </p:sp>
        <p:sp>
          <p:nvSpPr>
            <p:cNvPr id="60444" name="Line 28"/>
            <p:cNvSpPr>
              <a:spLocks noChangeShapeType="1"/>
            </p:cNvSpPr>
            <p:nvPr/>
          </p:nvSpPr>
          <p:spPr bwMode="auto">
            <a:xfrm flipV="1">
              <a:off x="2362200" y="4038600"/>
              <a:ext cx="2209800"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60445" name="Text Box 29"/>
            <p:cNvSpPr txBox="1">
              <a:spLocks noChangeArrowheads="1"/>
            </p:cNvSpPr>
            <p:nvPr/>
          </p:nvSpPr>
          <p:spPr bwMode="auto">
            <a:xfrm>
              <a:off x="139700" y="5715000"/>
              <a:ext cx="1447800" cy="3460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buSzPct val="90000"/>
              </a:pPr>
              <a:r>
                <a:rPr lang="en-US" sz="1600" b="1">
                  <a:latin typeface="Tahoma" pitchFamily="34" charset="0"/>
                </a:rPr>
                <a:t>Appeal</a:t>
              </a:r>
            </a:p>
          </p:txBody>
        </p:sp>
        <p:sp>
          <p:nvSpPr>
            <p:cNvPr id="60446" name="Line 30"/>
            <p:cNvSpPr>
              <a:spLocks noChangeShapeType="1"/>
            </p:cNvSpPr>
            <p:nvPr/>
          </p:nvSpPr>
          <p:spPr bwMode="auto">
            <a:xfrm flipV="1">
              <a:off x="4343400" y="6248400"/>
              <a:ext cx="457200" cy="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71711" name="Rectangle 31"/>
            <p:cNvSpPr>
              <a:spLocks noChangeArrowheads="1"/>
            </p:cNvSpPr>
            <p:nvPr/>
          </p:nvSpPr>
          <p:spPr bwMode="auto">
            <a:xfrm>
              <a:off x="838200" y="6172200"/>
              <a:ext cx="3505200" cy="457200"/>
            </a:xfrm>
            <a:prstGeom prst="rect">
              <a:avLst/>
            </a:prstGeom>
            <a:noFill/>
            <a:ln w="9525">
              <a:solidFill>
                <a:schemeClr val="tx1"/>
              </a:solidFill>
              <a:miter lim="800000"/>
              <a:headEnd/>
              <a:tailEnd/>
            </a:ln>
            <a:effectLst/>
          </p:spPr>
          <p:txBody>
            <a:bodyPr wrap="none" anchor="ctr"/>
            <a:lstStyle/>
            <a:p>
              <a:pPr algn="ctr">
                <a:defRPr/>
              </a:pPr>
              <a:r>
                <a:rPr lang="en-AU" sz="2800" b="1">
                  <a:solidFill>
                    <a:srgbClr val="B03D1E"/>
                  </a:solidFill>
                  <a:effectLst>
                    <a:outerShdw blurRad="38100" dist="38100" dir="2700000" algn="tl">
                      <a:srgbClr val="C0C0C0"/>
                    </a:outerShdw>
                  </a:effectLst>
                  <a:latin typeface="Times New Roman" pitchFamily="18" charset="0"/>
                  <a:cs typeface="Times New Roman" pitchFamily="18" charset="0"/>
                </a:rPr>
                <a:t>Appellate </a:t>
              </a:r>
              <a:r>
                <a:rPr lang="en-US" sz="2800" b="1">
                  <a:solidFill>
                    <a:srgbClr val="B03D1E"/>
                  </a:solidFill>
                  <a:effectLst>
                    <a:outerShdw blurRad="38100" dist="38100" dir="2700000" algn="tl">
                      <a:srgbClr val="C0C0C0"/>
                    </a:outerShdw>
                  </a:effectLst>
                  <a:latin typeface="Times New Roman" pitchFamily="18" charset="0"/>
                </a:rPr>
                <a:t> Board</a:t>
              </a:r>
            </a:p>
          </p:txBody>
        </p:sp>
      </p:grpSp>
    </p:spTree>
  </p:cSld>
  <p:clrMapOvr>
    <a:masterClrMapping/>
  </p:clrMapOvr>
  <p:transition>
    <p:wipe/>
    <p:sndAc>
      <p:endSnd/>
    </p:sndAc>
  </p:transition>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29058" name="Rectangle 2"/>
          <p:cNvSpPr>
            <a:spLocks noGrp="1" noChangeArrowheads="1"/>
          </p:cNvSpPr>
          <p:nvPr>
            <p:ph type="title" idx="4294967295"/>
          </p:nvPr>
        </p:nvSpPr>
        <p:spPr>
          <a:xfrm>
            <a:off x="685800" y="0"/>
            <a:ext cx="8153400" cy="838200"/>
          </a:xfrm>
          <a:prstGeom prst="rect">
            <a:avLst/>
          </a:prstGeom>
        </p:spPr>
        <p:txBody>
          <a:bodyPr/>
          <a:lstStyle/>
          <a:p>
            <a:pPr>
              <a:defRPr/>
            </a:pPr>
            <a:r>
              <a:rPr lang="en-US" sz="3200" dirty="0">
                <a:latin typeface="Times New Roman" pitchFamily="18" charset="0"/>
                <a:cs typeface="Times New Roman" pitchFamily="18" charset="0"/>
              </a:rPr>
              <a:t>Benefits of patents to </a:t>
            </a:r>
            <a:r>
              <a:rPr lang="en-US" sz="3200" dirty="0" err="1">
                <a:latin typeface="Times New Roman" pitchFamily="18" charset="0"/>
                <a:cs typeface="Times New Roman" pitchFamily="18" charset="0"/>
              </a:rPr>
              <a:t>pantentee</a:t>
            </a:r>
            <a:r>
              <a:rPr lang="en-US" sz="3200" dirty="0">
                <a:latin typeface="Times New Roman" pitchFamily="18" charset="0"/>
                <a:cs typeface="Times New Roman" pitchFamily="18" charset="0"/>
              </a:rPr>
              <a:t> - i</a:t>
            </a:r>
          </a:p>
        </p:txBody>
      </p:sp>
      <p:sp>
        <p:nvSpPr>
          <p:cNvPr id="429059" name="Rectangle 3"/>
          <p:cNvSpPr>
            <a:spLocks noGrp="1" noChangeArrowheads="1"/>
          </p:cNvSpPr>
          <p:nvPr>
            <p:ph type="body" idx="4294967295"/>
          </p:nvPr>
        </p:nvSpPr>
        <p:spPr>
          <a:xfrm>
            <a:off x="152400" y="990600"/>
            <a:ext cx="8686800" cy="5867400"/>
          </a:xfrm>
          <a:prstGeom prst="rect">
            <a:avLst/>
          </a:prstGeom>
        </p:spPr>
        <p:txBody>
          <a:bodyPr/>
          <a:lstStyle/>
          <a:p>
            <a:pPr>
              <a:lnSpc>
                <a:spcPct val="90000"/>
              </a:lnSpc>
              <a:buClr>
                <a:srgbClr val="000066"/>
              </a:buClr>
            </a:pPr>
            <a:r>
              <a:rPr lang="en-US" sz="2800" dirty="0">
                <a:latin typeface="Times New Roman" pitchFamily="18" charset="0"/>
                <a:cs typeface="Times New Roman" pitchFamily="18" charset="0"/>
              </a:rPr>
              <a:t>Exclusive Right-</a:t>
            </a:r>
          </a:p>
          <a:p>
            <a:pPr algn="just">
              <a:lnSpc>
                <a:spcPct val="110000"/>
              </a:lnSpc>
              <a:buClr>
                <a:srgbClr val="000066"/>
              </a:buClr>
              <a:buFontTx/>
              <a:buNone/>
            </a:pPr>
            <a:r>
              <a:rPr lang="en-US" sz="2800" dirty="0">
                <a:latin typeface="Times New Roman" pitchFamily="18" charset="0"/>
                <a:cs typeface="Times New Roman" pitchFamily="18" charset="0"/>
              </a:rPr>
              <a:t>	 </a:t>
            </a:r>
            <a:r>
              <a:rPr lang="en-US" sz="2800" u="sng" dirty="0">
                <a:latin typeface="Times New Roman" pitchFamily="18" charset="0"/>
                <a:cs typeface="Times New Roman" pitchFamily="18" charset="0"/>
              </a:rPr>
              <a:t>to make, use, exercise, sell or </a:t>
            </a:r>
            <a:r>
              <a:rPr lang="en-US" sz="2800" dirty="0">
                <a:latin typeface="Times New Roman" pitchFamily="18" charset="0"/>
                <a:cs typeface="Times New Roman" pitchFamily="18" charset="0"/>
              </a:rPr>
              <a:t> </a:t>
            </a:r>
            <a:r>
              <a:rPr lang="en-US" sz="2800" u="sng" dirty="0">
                <a:latin typeface="Times New Roman" pitchFamily="18" charset="0"/>
                <a:cs typeface="Times New Roman" pitchFamily="18" charset="0"/>
              </a:rPr>
              <a:t>distribute</a:t>
            </a:r>
            <a:r>
              <a:rPr lang="en-US" sz="2800" dirty="0">
                <a:latin typeface="Times New Roman" pitchFamily="18" charset="0"/>
                <a:cs typeface="Times New Roman" pitchFamily="18" charset="0"/>
              </a:rPr>
              <a:t> an Invented Article or Process in India.</a:t>
            </a:r>
          </a:p>
          <a:p>
            <a:pPr algn="just">
              <a:lnSpc>
                <a:spcPct val="30000"/>
              </a:lnSpc>
              <a:buClr>
                <a:srgbClr val="000066"/>
              </a:buClr>
              <a:buFontTx/>
              <a:buNone/>
            </a:pPr>
            <a:endParaRPr lang="en-US" sz="2800" dirty="0">
              <a:latin typeface="Times New Roman" pitchFamily="18" charset="0"/>
              <a:cs typeface="Times New Roman" pitchFamily="18" charset="0"/>
            </a:endParaRPr>
          </a:p>
          <a:p>
            <a:pPr algn="just">
              <a:buClr>
                <a:srgbClr val="000066"/>
              </a:buClr>
            </a:pPr>
            <a:r>
              <a:rPr lang="en-US" sz="2800" dirty="0">
                <a:latin typeface="Times New Roman" pitchFamily="18" charset="0"/>
                <a:cs typeface="Times New Roman" pitchFamily="18" charset="0"/>
              </a:rPr>
              <a:t>Right can be shared , licensed or sold</a:t>
            </a:r>
          </a:p>
          <a:p>
            <a:pPr algn="just">
              <a:lnSpc>
                <a:spcPct val="50000"/>
              </a:lnSpc>
              <a:buClr>
                <a:srgbClr val="000066"/>
              </a:buClr>
              <a:buFontTx/>
              <a:buNone/>
            </a:pPr>
            <a:r>
              <a:rPr lang="en-US" sz="2800" dirty="0">
                <a:latin typeface="Times New Roman" pitchFamily="18" charset="0"/>
                <a:cs typeface="Times New Roman" pitchFamily="18" charset="0"/>
              </a:rPr>
              <a:t> </a:t>
            </a:r>
          </a:p>
          <a:p>
            <a:pPr algn="just">
              <a:lnSpc>
                <a:spcPct val="80000"/>
              </a:lnSpc>
              <a:buClr>
                <a:srgbClr val="000066"/>
              </a:buClr>
            </a:pPr>
            <a:r>
              <a:rPr lang="en-US" sz="2800" dirty="0">
                <a:latin typeface="Times New Roman" pitchFamily="18" charset="0"/>
                <a:cs typeface="Times New Roman" pitchFamily="18" charset="0"/>
              </a:rPr>
              <a:t>Right to initiate Legal Proceedings against  Infringement.</a:t>
            </a:r>
          </a:p>
          <a:p>
            <a:pPr algn="just">
              <a:lnSpc>
                <a:spcPct val="20000"/>
              </a:lnSpc>
              <a:buClr>
                <a:srgbClr val="000066"/>
              </a:buClr>
              <a:buFontTx/>
              <a:buNone/>
            </a:pPr>
            <a:endParaRPr lang="en-US" sz="2800" dirty="0">
              <a:latin typeface="Times New Roman" pitchFamily="18" charset="0"/>
              <a:cs typeface="Times New Roman" pitchFamily="18" charset="0"/>
            </a:endParaRPr>
          </a:p>
          <a:p>
            <a:pPr algn="just">
              <a:lnSpc>
                <a:spcPct val="20000"/>
              </a:lnSpc>
              <a:buClr>
                <a:srgbClr val="000066"/>
              </a:buClr>
              <a:buFontTx/>
              <a:buNone/>
            </a:pPr>
            <a:endParaRPr lang="en-US" sz="2800" dirty="0">
              <a:latin typeface="Times New Roman" pitchFamily="18" charset="0"/>
              <a:cs typeface="Times New Roman" pitchFamily="18" charset="0"/>
            </a:endParaRPr>
          </a:p>
          <a:p>
            <a:pPr algn="just">
              <a:lnSpc>
                <a:spcPct val="90000"/>
              </a:lnSpc>
              <a:buClr>
                <a:srgbClr val="000066"/>
              </a:buClr>
            </a:pPr>
            <a:r>
              <a:rPr lang="en-US" sz="2800" dirty="0">
                <a:latin typeface="Times New Roman" pitchFamily="18" charset="0"/>
                <a:cs typeface="Times New Roman" pitchFamily="18" charset="0"/>
              </a:rPr>
              <a:t>The Invention can be  commercially exploited without fear of copying, imitation or </a:t>
            </a:r>
            <a:r>
              <a:rPr lang="en-US" sz="2800" dirty="0" err="1">
                <a:latin typeface="Times New Roman" pitchFamily="18" charset="0"/>
                <a:cs typeface="Times New Roman" pitchFamily="18" charset="0"/>
              </a:rPr>
              <a:t>unauthorised</a:t>
            </a:r>
            <a:r>
              <a:rPr lang="en-US" sz="2800" dirty="0">
                <a:latin typeface="Times New Roman" pitchFamily="18" charset="0"/>
                <a:cs typeface="Times New Roman" pitchFamily="18" charset="0"/>
              </a:rPr>
              <a:t> use during  Term of Patent.</a:t>
            </a:r>
          </a:p>
        </p:txBody>
      </p:sp>
    </p:spTree>
  </p:cSld>
  <p:clrMapOvr>
    <a:masterClrMapping/>
  </p:clrMapOvr>
  <p:transition>
    <p:wipe/>
    <p:sndAc>
      <p:endSnd/>
    </p:sndAc>
  </p:transition>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082" name="Rectangle 2"/>
          <p:cNvSpPr>
            <a:spLocks noGrp="1" noChangeArrowheads="1"/>
          </p:cNvSpPr>
          <p:nvPr>
            <p:ph type="title" idx="4294967295"/>
          </p:nvPr>
        </p:nvSpPr>
        <p:spPr>
          <a:xfrm>
            <a:off x="533400" y="0"/>
            <a:ext cx="8035925" cy="457200"/>
          </a:xfrm>
          <a:prstGeom prst="rect">
            <a:avLst/>
          </a:prstGeom>
        </p:spPr>
        <p:txBody>
          <a:bodyPr/>
          <a:lstStyle/>
          <a:p>
            <a:pPr>
              <a:tabLst>
                <a:tab pos="57150" algn="l"/>
                <a:tab pos="571500" algn="l"/>
                <a:tab pos="628650" algn="l"/>
              </a:tabLst>
              <a:defRPr/>
            </a:pPr>
            <a:r>
              <a:rPr lang="en-US" sz="3600" dirty="0">
                <a:latin typeface="Times New Roman" pitchFamily="18" charset="0"/>
                <a:cs typeface="Times New Roman" pitchFamily="18" charset="0"/>
              </a:rPr>
              <a:t>Benefits of  patents- ii</a:t>
            </a:r>
          </a:p>
        </p:txBody>
      </p:sp>
      <p:sp>
        <p:nvSpPr>
          <p:cNvPr id="430083" name="Rectangle 3"/>
          <p:cNvSpPr>
            <a:spLocks noGrp="1" noChangeArrowheads="1"/>
          </p:cNvSpPr>
          <p:nvPr>
            <p:ph type="body" idx="4294967295"/>
          </p:nvPr>
        </p:nvSpPr>
        <p:spPr>
          <a:xfrm>
            <a:off x="0" y="914400"/>
            <a:ext cx="8915400" cy="5638800"/>
          </a:xfrm>
          <a:prstGeom prst="rect">
            <a:avLst/>
          </a:prstGeom>
        </p:spPr>
        <p:txBody>
          <a:bodyPr/>
          <a:lstStyle/>
          <a:p>
            <a:pPr marL="395288" indent="-381000">
              <a:lnSpc>
                <a:spcPct val="90000"/>
              </a:lnSpc>
              <a:buClr>
                <a:srgbClr val="660033"/>
              </a:buClr>
              <a:buFont typeface="Wingdings" pitchFamily="2" charset="2"/>
              <a:buChar char="Ø"/>
            </a:pPr>
            <a:r>
              <a:rPr lang="en-US" sz="2800" dirty="0">
                <a:latin typeface="Times New Roman" pitchFamily="18" charset="0"/>
                <a:cs typeface="Times New Roman" pitchFamily="18" charset="0"/>
              </a:rPr>
              <a:t>Published patent specifications: </a:t>
            </a:r>
            <a:r>
              <a:rPr lang="en-US" sz="2400" dirty="0">
                <a:latin typeface="Times New Roman" pitchFamily="18" charset="0"/>
                <a:cs typeface="Times New Roman" pitchFamily="18" charset="0"/>
              </a:rPr>
              <a:t>An ocean of scientific Knowledge and technological information</a:t>
            </a:r>
          </a:p>
          <a:p>
            <a:pPr marL="395288" indent="-381000">
              <a:lnSpc>
                <a:spcPct val="30000"/>
              </a:lnSpc>
              <a:buClr>
                <a:srgbClr val="660033"/>
              </a:buClr>
              <a:buFont typeface="Wingdings" pitchFamily="2" charset="2"/>
              <a:buNone/>
            </a:pPr>
            <a:endParaRPr lang="en-US" sz="2800" dirty="0">
              <a:latin typeface="Times New Roman" pitchFamily="18" charset="0"/>
              <a:cs typeface="Times New Roman" pitchFamily="18" charset="0"/>
            </a:endParaRPr>
          </a:p>
          <a:p>
            <a:pPr marL="395288" indent="-381000">
              <a:lnSpc>
                <a:spcPct val="90000"/>
              </a:lnSpc>
              <a:buClr>
                <a:srgbClr val="660033"/>
              </a:buClr>
              <a:buFont typeface="Wingdings" pitchFamily="2" charset="2"/>
              <a:buChar char="Ø"/>
            </a:pPr>
            <a:r>
              <a:rPr lang="en-US" sz="2800" i="1" dirty="0">
                <a:latin typeface="Times New Roman" pitchFamily="18" charset="0"/>
                <a:cs typeface="Times New Roman" pitchFamily="18" charset="0"/>
              </a:rPr>
              <a:t>Patented inventions</a:t>
            </a:r>
            <a:r>
              <a:rPr lang="en-US" sz="2400" i="1" dirty="0">
                <a:latin typeface="Times New Roman" pitchFamily="18" charset="0"/>
                <a:cs typeface="Times New Roman" pitchFamily="18" charset="0"/>
              </a:rPr>
              <a:t> - </a:t>
            </a:r>
            <a:r>
              <a:rPr lang="en-US" sz="2400" dirty="0">
                <a:latin typeface="Times New Roman" pitchFamily="18" charset="0"/>
                <a:cs typeface="Times New Roman" pitchFamily="18" charset="0"/>
              </a:rPr>
              <a:t>Open to public for </a:t>
            </a:r>
            <a:r>
              <a:rPr lang="en-US" sz="2800" dirty="0">
                <a:latin typeface="Times New Roman" pitchFamily="18" charset="0"/>
                <a:cs typeface="Times New Roman" pitchFamily="18" charset="0"/>
              </a:rPr>
              <a:t>free use</a:t>
            </a:r>
            <a:r>
              <a:rPr lang="en-US" sz="2400" dirty="0">
                <a:latin typeface="Times New Roman" pitchFamily="18" charset="0"/>
                <a:cs typeface="Times New Roman" pitchFamily="18" charset="0"/>
              </a:rPr>
              <a:t> after the term expires </a:t>
            </a:r>
            <a:r>
              <a:rPr lang="en-US" sz="2800" dirty="0">
                <a:latin typeface="Times New Roman" pitchFamily="18" charset="0"/>
                <a:cs typeface="Times New Roman" pitchFamily="18" charset="0"/>
              </a:rPr>
              <a:t>or</a:t>
            </a:r>
            <a:r>
              <a:rPr lang="en-US" sz="2400" dirty="0">
                <a:latin typeface="Times New Roman" pitchFamily="18" charset="0"/>
                <a:cs typeface="Times New Roman" pitchFamily="18" charset="0"/>
              </a:rPr>
              <a:t> ceases to be in force</a:t>
            </a:r>
          </a:p>
          <a:p>
            <a:pPr marL="395288" indent="-381000">
              <a:lnSpc>
                <a:spcPct val="0"/>
              </a:lnSpc>
              <a:buClr>
                <a:srgbClr val="660033"/>
              </a:buClr>
              <a:buFont typeface="Wingdings" pitchFamily="2" charset="2"/>
              <a:buNone/>
            </a:pPr>
            <a:endParaRPr lang="en-US" sz="2400" dirty="0">
              <a:latin typeface="Times New Roman" pitchFamily="18" charset="0"/>
              <a:cs typeface="Times New Roman" pitchFamily="18" charset="0"/>
            </a:endParaRPr>
          </a:p>
          <a:p>
            <a:pPr marL="395288" indent="-381000">
              <a:lnSpc>
                <a:spcPct val="0"/>
              </a:lnSpc>
              <a:buClr>
                <a:srgbClr val="660033"/>
              </a:buClr>
              <a:buFont typeface="Wingdings" pitchFamily="2" charset="2"/>
              <a:buNone/>
            </a:pPr>
            <a:r>
              <a:rPr lang="en-US" sz="2400" i="1" dirty="0">
                <a:latin typeface="Times New Roman" pitchFamily="18" charset="0"/>
                <a:cs typeface="Times New Roman" pitchFamily="18" charset="0"/>
              </a:rPr>
              <a:t> </a:t>
            </a:r>
            <a:endParaRPr lang="en-US" dirty="0">
              <a:latin typeface="Times New Roman" pitchFamily="18" charset="0"/>
              <a:cs typeface="Times New Roman" pitchFamily="18" charset="0"/>
            </a:endParaRPr>
          </a:p>
          <a:p>
            <a:pPr marL="395288" indent="-381000">
              <a:lnSpc>
                <a:spcPct val="90000"/>
              </a:lnSpc>
              <a:buClr>
                <a:srgbClr val="660033"/>
              </a:buClr>
              <a:buFont typeface="Wingdings" pitchFamily="2" charset="2"/>
              <a:buChar char="Ø"/>
            </a:pPr>
            <a:r>
              <a:rPr lang="en-US" sz="2800" dirty="0">
                <a:latin typeface="Times New Roman" pitchFamily="18" charset="0"/>
                <a:cs typeface="Times New Roman" pitchFamily="18" charset="0"/>
              </a:rPr>
              <a:t>Avoids duplication of Research and acts as a stepping Stone for further Research.</a:t>
            </a:r>
          </a:p>
          <a:p>
            <a:pPr marL="395288" indent="-381000">
              <a:lnSpc>
                <a:spcPct val="10000"/>
              </a:lnSpc>
              <a:buClr>
                <a:srgbClr val="660033"/>
              </a:buClr>
              <a:buFont typeface="Wingdings" pitchFamily="2" charset="2"/>
              <a:buNone/>
            </a:pPr>
            <a:endParaRPr lang="en-US" sz="2800" dirty="0">
              <a:latin typeface="Times New Roman" pitchFamily="18" charset="0"/>
              <a:cs typeface="Times New Roman" pitchFamily="18" charset="0"/>
            </a:endParaRPr>
          </a:p>
          <a:p>
            <a:pPr marL="395288" indent="-381000">
              <a:lnSpc>
                <a:spcPct val="0"/>
              </a:lnSpc>
              <a:buClr>
                <a:srgbClr val="660033"/>
              </a:buClr>
              <a:buFont typeface="Wingdings" pitchFamily="2" charset="2"/>
              <a:buNone/>
            </a:pPr>
            <a:endParaRPr lang="en-US" sz="2800" dirty="0">
              <a:latin typeface="Times New Roman" pitchFamily="18" charset="0"/>
              <a:cs typeface="Times New Roman" pitchFamily="18" charset="0"/>
            </a:endParaRPr>
          </a:p>
          <a:p>
            <a:pPr marL="395288" indent="-381000">
              <a:lnSpc>
                <a:spcPct val="60000"/>
              </a:lnSpc>
              <a:buClr>
                <a:srgbClr val="660033"/>
              </a:buClr>
              <a:buFont typeface="Wingdings" pitchFamily="2" charset="2"/>
              <a:buChar char="Ø"/>
            </a:pPr>
            <a:r>
              <a:rPr lang="en-US" sz="2800" dirty="0">
                <a:latin typeface="Times New Roman" pitchFamily="18" charset="0"/>
                <a:cs typeface="Times New Roman" pitchFamily="18" charset="0"/>
              </a:rPr>
              <a:t> </a:t>
            </a:r>
            <a:r>
              <a:rPr lang="en-US" dirty="0">
                <a:latin typeface="Times New Roman" pitchFamily="18" charset="0"/>
                <a:cs typeface="Times New Roman" pitchFamily="18" charset="0"/>
              </a:rPr>
              <a:t>“You need not reinvent the wheel”</a:t>
            </a:r>
          </a:p>
          <a:p>
            <a:pPr marL="395288" indent="-381000">
              <a:lnSpc>
                <a:spcPct val="20000"/>
              </a:lnSpc>
              <a:buClr>
                <a:srgbClr val="660033"/>
              </a:buClr>
              <a:buFont typeface="Wingdings" pitchFamily="2" charset="2"/>
              <a:buNone/>
            </a:pPr>
            <a:endParaRPr lang="en-US" dirty="0">
              <a:latin typeface="Times New Roman" pitchFamily="18" charset="0"/>
              <a:cs typeface="Times New Roman" pitchFamily="18" charset="0"/>
            </a:endParaRPr>
          </a:p>
          <a:p>
            <a:pPr marL="395288" indent="-381000">
              <a:lnSpc>
                <a:spcPct val="0"/>
              </a:lnSpc>
              <a:buClr>
                <a:srgbClr val="660033"/>
              </a:buClr>
              <a:buFont typeface="Wingdings" pitchFamily="2" charset="2"/>
              <a:buNone/>
            </a:pPr>
            <a:endParaRPr lang="en-US" dirty="0">
              <a:latin typeface="Times New Roman" pitchFamily="18" charset="0"/>
              <a:cs typeface="Times New Roman" pitchFamily="18" charset="0"/>
            </a:endParaRPr>
          </a:p>
          <a:p>
            <a:pPr marL="395288" indent="-381000">
              <a:lnSpc>
                <a:spcPct val="80000"/>
              </a:lnSpc>
              <a:buClr>
                <a:srgbClr val="660033"/>
              </a:buClr>
              <a:buFont typeface="Wingdings" pitchFamily="2" charset="2"/>
              <a:buChar char="Ø"/>
            </a:pPr>
            <a:r>
              <a:rPr lang="en-US" sz="2800" i="1" dirty="0">
                <a:latin typeface="Times New Roman" pitchFamily="18" charset="0"/>
                <a:cs typeface="Times New Roman" pitchFamily="18" charset="0"/>
              </a:rPr>
              <a:t>Patents give valuable guidance for-</a:t>
            </a:r>
          </a:p>
          <a:p>
            <a:pPr marL="1271588" lvl="1" indent="-533400">
              <a:lnSpc>
                <a:spcPct val="90000"/>
              </a:lnSpc>
              <a:buClr>
                <a:srgbClr val="660033"/>
              </a:buClr>
              <a:buFont typeface="Wingdings" pitchFamily="2" charset="2"/>
              <a:buChar char="ü"/>
            </a:pPr>
            <a:r>
              <a:rPr lang="en-US" sz="2400" i="1" dirty="0">
                <a:latin typeface="Times New Roman" pitchFamily="18" charset="0"/>
                <a:cs typeface="Times New Roman" pitchFamily="18" charset="0"/>
              </a:rPr>
              <a:t>Planning R &amp; D</a:t>
            </a:r>
          </a:p>
          <a:p>
            <a:pPr marL="1271588" lvl="1" indent="-533400">
              <a:lnSpc>
                <a:spcPct val="90000"/>
              </a:lnSpc>
              <a:buFont typeface="Wingdings" pitchFamily="2" charset="2"/>
              <a:buChar char="ü"/>
            </a:pPr>
            <a:r>
              <a:rPr lang="en-US" sz="2400" i="1" dirty="0">
                <a:latin typeface="Times New Roman" pitchFamily="18" charset="0"/>
                <a:cs typeface="Times New Roman" pitchFamily="18" charset="0"/>
              </a:rPr>
              <a:t>Planning strategic protection for IP- assets </a:t>
            </a:r>
          </a:p>
          <a:p>
            <a:pPr marL="1271588" lvl="1" indent="-533400">
              <a:lnSpc>
                <a:spcPct val="90000"/>
              </a:lnSpc>
              <a:buFont typeface="Wingdings" pitchFamily="2" charset="2"/>
              <a:buChar char="ü"/>
            </a:pPr>
            <a:r>
              <a:rPr lang="en-US" sz="2400" i="1" dirty="0">
                <a:latin typeface="Times New Roman" pitchFamily="18" charset="0"/>
                <a:cs typeface="Times New Roman" pitchFamily="18" charset="0"/>
              </a:rPr>
              <a:t>Forging strategic alliances</a:t>
            </a:r>
          </a:p>
          <a:p>
            <a:pPr marL="1271588" lvl="1" indent="-533400">
              <a:lnSpc>
                <a:spcPct val="90000"/>
              </a:lnSpc>
              <a:buFont typeface="Wingdings" pitchFamily="2" charset="2"/>
              <a:buChar char="ü"/>
            </a:pPr>
            <a:r>
              <a:rPr lang="en-US" sz="2400" i="1" dirty="0">
                <a:latin typeface="Times New Roman" pitchFamily="18" charset="0"/>
                <a:cs typeface="Times New Roman" pitchFamily="18" charset="0"/>
              </a:rPr>
              <a:t>Identifying possible collaborators /competitors</a:t>
            </a:r>
            <a:endParaRPr lang="en-US" sz="2400" dirty="0">
              <a:latin typeface="Times New Roman" pitchFamily="18" charset="0"/>
              <a:cs typeface="Times New Roman" pitchFamily="18" charset="0"/>
            </a:endParaRPr>
          </a:p>
        </p:txBody>
      </p:sp>
    </p:spTree>
  </p:cSld>
  <p:clrMapOvr>
    <a:masterClrMapping/>
  </p:clrMapOvr>
  <p:transition>
    <p:cover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2"/>
          <p:cNvSpPr>
            <a:spLocks noGrp="1" noChangeArrowheads="1"/>
          </p:cNvSpPr>
          <p:nvPr>
            <p:ph type="title" idx="4294967295"/>
          </p:nvPr>
        </p:nvSpPr>
        <p:spPr>
          <a:xfrm>
            <a:off x="685800" y="-152400"/>
            <a:ext cx="7772400" cy="304800"/>
          </a:xfrm>
          <a:prstGeom prst="rect">
            <a:avLst/>
          </a:prstGeom>
        </p:spPr>
        <p:txBody>
          <a:bodyPr/>
          <a:lstStyle/>
          <a:p>
            <a:pPr>
              <a:defRPr/>
            </a:pPr>
            <a:r>
              <a:rPr lang="en-US" sz="4000" dirty="0">
                <a:latin typeface="Times New Roman" pitchFamily="18" charset="0"/>
                <a:cs typeface="Times New Roman" pitchFamily="18" charset="0"/>
              </a:rPr>
              <a:t>Benefits of Patents</a:t>
            </a:r>
            <a:r>
              <a:rPr lang="en-US" sz="3600" dirty="0">
                <a:latin typeface="Times New Roman" pitchFamily="18" charset="0"/>
                <a:cs typeface="Times New Roman" pitchFamily="18" charset="0"/>
              </a:rPr>
              <a:t> III</a:t>
            </a:r>
          </a:p>
        </p:txBody>
      </p:sp>
      <p:sp>
        <p:nvSpPr>
          <p:cNvPr id="64515" name="Rectangle 3"/>
          <p:cNvSpPr>
            <a:spLocks noGrp="1" noChangeArrowheads="1"/>
          </p:cNvSpPr>
          <p:nvPr>
            <p:ph type="body" idx="4294967295"/>
          </p:nvPr>
        </p:nvSpPr>
        <p:spPr>
          <a:xfrm>
            <a:off x="228600" y="838200"/>
            <a:ext cx="8610600" cy="4953000"/>
          </a:xfrm>
          <a:prstGeom prst="rect">
            <a:avLst/>
          </a:prstGeom>
        </p:spPr>
        <p:txBody>
          <a:bodyPr/>
          <a:lstStyle/>
          <a:p>
            <a:pPr>
              <a:lnSpc>
                <a:spcPct val="90000"/>
              </a:lnSpc>
              <a:buClr>
                <a:srgbClr val="660033"/>
              </a:buClr>
            </a:pPr>
            <a:r>
              <a:rPr lang="en-US" sz="2800" dirty="0">
                <a:latin typeface="Times New Roman" pitchFamily="18" charset="0"/>
                <a:cs typeface="Times New Roman" pitchFamily="18" charset="0"/>
              </a:rPr>
              <a:t>Helps industry to improve existing technology to give cheaper and better products</a:t>
            </a:r>
          </a:p>
          <a:p>
            <a:pPr>
              <a:lnSpc>
                <a:spcPct val="20000"/>
              </a:lnSpc>
              <a:buClr>
                <a:srgbClr val="660033"/>
              </a:buClr>
              <a:buFontTx/>
              <a:buNone/>
            </a:pPr>
            <a:r>
              <a:rPr lang="en-US" sz="2800" dirty="0">
                <a:latin typeface="Times New Roman" pitchFamily="18" charset="0"/>
                <a:cs typeface="Times New Roman" pitchFamily="18" charset="0"/>
              </a:rPr>
              <a:t> </a:t>
            </a:r>
          </a:p>
          <a:p>
            <a:pPr>
              <a:lnSpc>
                <a:spcPct val="80000"/>
              </a:lnSpc>
              <a:buClr>
                <a:srgbClr val="660033"/>
              </a:buClr>
            </a:pPr>
            <a:r>
              <a:rPr lang="en-US" sz="2800" dirty="0">
                <a:latin typeface="Times New Roman" pitchFamily="18" charset="0"/>
                <a:cs typeface="Times New Roman" pitchFamily="18" charset="0"/>
              </a:rPr>
              <a:t>Identifies emerging technologies, research areas and business opportunities</a:t>
            </a:r>
          </a:p>
          <a:p>
            <a:pPr>
              <a:lnSpc>
                <a:spcPct val="30000"/>
              </a:lnSpc>
              <a:buClr>
                <a:srgbClr val="660033"/>
              </a:buClr>
              <a:buFont typeface="Wingdings" pitchFamily="2" charset="2"/>
              <a:buNone/>
            </a:pPr>
            <a:r>
              <a:rPr lang="en-US" sz="2800" dirty="0">
                <a:latin typeface="Times New Roman" pitchFamily="18" charset="0"/>
                <a:cs typeface="Times New Roman" pitchFamily="18" charset="0"/>
              </a:rPr>
              <a:t> </a:t>
            </a:r>
          </a:p>
          <a:p>
            <a:pPr>
              <a:lnSpc>
                <a:spcPct val="80000"/>
              </a:lnSpc>
              <a:buClr>
                <a:srgbClr val="990000"/>
              </a:buClr>
            </a:pPr>
            <a:r>
              <a:rPr lang="en-US" sz="2800" dirty="0">
                <a:latin typeface="Times New Roman" pitchFamily="18" charset="0"/>
                <a:cs typeface="Times New Roman" pitchFamily="18" charset="0"/>
              </a:rPr>
              <a:t>Patent Portfolio</a:t>
            </a:r>
            <a:r>
              <a:rPr lang="en-US" dirty="0">
                <a:latin typeface="Times New Roman" pitchFamily="18" charset="0"/>
                <a:cs typeface="Times New Roman" pitchFamily="18" charset="0"/>
              </a:rPr>
              <a:t>-</a:t>
            </a:r>
            <a:r>
              <a:rPr lang="en-US" sz="2800" dirty="0">
                <a:latin typeface="Times New Roman" pitchFamily="18" charset="0"/>
                <a:cs typeface="Times New Roman" pitchFamily="18" charset="0"/>
              </a:rPr>
              <a:t> Measure of Company’s Success</a:t>
            </a:r>
          </a:p>
          <a:p>
            <a:pPr>
              <a:lnSpc>
                <a:spcPct val="40000"/>
              </a:lnSpc>
              <a:buClr>
                <a:srgbClr val="990000"/>
              </a:buClr>
            </a:pPr>
            <a:endParaRPr lang="en-US" sz="2800" dirty="0">
              <a:latin typeface="Times New Roman" pitchFamily="18" charset="0"/>
              <a:cs typeface="Times New Roman" pitchFamily="18" charset="0"/>
            </a:endParaRPr>
          </a:p>
          <a:p>
            <a:pPr>
              <a:lnSpc>
                <a:spcPct val="80000"/>
              </a:lnSpc>
            </a:pPr>
            <a:r>
              <a:rPr lang="en-US" sz="2800" dirty="0">
                <a:latin typeface="Times New Roman" pitchFamily="18" charset="0"/>
                <a:cs typeface="Times New Roman" pitchFamily="18" charset="0"/>
              </a:rPr>
              <a:t>Tool for increasing negotiating power</a:t>
            </a:r>
          </a:p>
          <a:p>
            <a:pPr>
              <a:lnSpc>
                <a:spcPct val="20000"/>
              </a:lnSpc>
            </a:pPr>
            <a:endParaRPr lang="en-US" sz="2800" dirty="0">
              <a:latin typeface="Times New Roman" pitchFamily="18" charset="0"/>
              <a:cs typeface="Times New Roman" pitchFamily="18" charset="0"/>
            </a:endParaRPr>
          </a:p>
          <a:p>
            <a:pPr>
              <a:lnSpc>
                <a:spcPct val="80000"/>
              </a:lnSpc>
            </a:pPr>
            <a:r>
              <a:rPr lang="en-US" sz="2800" dirty="0">
                <a:latin typeface="Times New Roman" pitchFamily="18" charset="0"/>
                <a:cs typeface="Times New Roman" pitchFamily="18" charset="0"/>
              </a:rPr>
              <a:t>Establishes as  a Pre-eminent  Player in the market</a:t>
            </a:r>
          </a:p>
          <a:p>
            <a:pPr>
              <a:lnSpc>
                <a:spcPct val="40000"/>
              </a:lnSpc>
            </a:pPr>
            <a:endParaRPr lang="en-US" sz="2800" dirty="0">
              <a:latin typeface="Times New Roman" pitchFamily="18" charset="0"/>
              <a:cs typeface="Times New Roman" pitchFamily="18" charset="0"/>
            </a:endParaRPr>
          </a:p>
          <a:p>
            <a:pPr>
              <a:lnSpc>
                <a:spcPct val="80000"/>
              </a:lnSpc>
            </a:pPr>
            <a:r>
              <a:rPr lang="en-US" sz="2800" dirty="0">
                <a:latin typeface="Times New Roman" pitchFamily="18" charset="0"/>
                <a:cs typeface="Times New Roman" pitchFamily="18" charset="0"/>
              </a:rPr>
              <a:t>Patent - A Tool for International Trade </a:t>
            </a:r>
          </a:p>
          <a:p>
            <a:pPr>
              <a:lnSpc>
                <a:spcPct val="80000"/>
              </a:lnSpc>
              <a:buFontTx/>
              <a:buNone/>
            </a:pPr>
            <a:endParaRPr lang="en-US" sz="2800" dirty="0">
              <a:latin typeface="Times New Roman" pitchFamily="18" charset="0"/>
              <a:cs typeface="Times New Roman" pitchFamily="18" charset="0"/>
            </a:endParaRPr>
          </a:p>
        </p:txBody>
      </p:sp>
    </p:spTree>
  </p:cSld>
  <p:clrMapOvr>
    <a:masterClrMapping/>
  </p:clrMapOvr>
  <p:transition>
    <p:wipe/>
    <p:sndAc>
      <p:endSnd/>
    </p:sndAc>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idx="4294967295"/>
          </p:nvPr>
        </p:nvSpPr>
        <p:spPr>
          <a:xfrm>
            <a:off x="457200" y="0"/>
            <a:ext cx="8229600" cy="411162"/>
          </a:xfrm>
          <a:prstGeom prst="rect">
            <a:avLst/>
          </a:prstGeom>
        </p:spPr>
        <p:txBody>
          <a:bodyPr/>
          <a:lstStyle/>
          <a:p>
            <a:pPr eaLnBrk="1" hangingPunct="1"/>
            <a:r>
              <a:rPr lang="en-US" sz="3200" dirty="0">
                <a:latin typeface="Times New Roman" pitchFamily="18" charset="0"/>
                <a:cs typeface="Times New Roman" pitchFamily="18" charset="0"/>
              </a:rPr>
              <a:t>Safeguards for Users and Society in Patents Law</a:t>
            </a:r>
          </a:p>
        </p:txBody>
      </p:sp>
      <p:sp>
        <p:nvSpPr>
          <p:cNvPr id="65539" name="Rectangle 3"/>
          <p:cNvSpPr>
            <a:spLocks noGrp="1" noChangeArrowheads="1"/>
          </p:cNvSpPr>
          <p:nvPr>
            <p:ph type="body" idx="4294967295"/>
          </p:nvPr>
        </p:nvSpPr>
        <p:spPr>
          <a:xfrm>
            <a:off x="0" y="914400"/>
            <a:ext cx="8991600" cy="5562600"/>
          </a:xfrm>
          <a:prstGeom prst="rect">
            <a:avLst/>
          </a:prstGeom>
        </p:spPr>
        <p:txBody>
          <a:bodyPr/>
          <a:lstStyle/>
          <a:p>
            <a:pPr eaLnBrk="1" hangingPunct="1">
              <a:lnSpc>
                <a:spcPct val="80000"/>
              </a:lnSpc>
              <a:buFontTx/>
              <a:buNone/>
            </a:pPr>
            <a:endParaRPr lang="en-US" sz="300" dirty="0">
              <a:latin typeface="Times New Roman" pitchFamily="18" charset="0"/>
              <a:cs typeface="Times New Roman" pitchFamily="18" charset="0"/>
            </a:endParaRPr>
          </a:p>
          <a:p>
            <a:pPr eaLnBrk="1" hangingPunct="1">
              <a:lnSpc>
                <a:spcPct val="130000"/>
              </a:lnSpc>
            </a:pPr>
            <a:r>
              <a:rPr lang="en-US" sz="2400" dirty="0">
                <a:solidFill>
                  <a:srgbClr val="C00000"/>
                </a:solidFill>
                <a:latin typeface="Times New Roman" pitchFamily="18" charset="0"/>
                <a:cs typeface="Times New Roman" pitchFamily="18" charset="0"/>
              </a:rPr>
              <a:t>Concerns </a:t>
            </a:r>
            <a:r>
              <a:rPr lang="en-US" sz="2400" dirty="0">
                <a:latin typeface="Times New Roman" pitchFamily="18" charset="0"/>
                <a:cs typeface="Times New Roman" pitchFamily="18" charset="0"/>
              </a:rPr>
              <a:t>: Public health, national security and public interest </a:t>
            </a:r>
          </a:p>
          <a:p>
            <a:pPr eaLnBrk="1" hangingPunct="1">
              <a:lnSpc>
                <a:spcPct val="130000"/>
              </a:lnSpc>
            </a:pPr>
            <a:r>
              <a:rPr lang="en-US" sz="2400" dirty="0">
                <a:solidFill>
                  <a:srgbClr val="C00000"/>
                </a:solidFill>
                <a:latin typeface="Times New Roman" pitchFamily="18" charset="0"/>
                <a:cs typeface="Times New Roman" pitchFamily="18" charset="0"/>
              </a:rPr>
              <a:t>No ever greening</a:t>
            </a:r>
            <a:r>
              <a:rPr lang="en-US" sz="2400" dirty="0">
                <a:latin typeface="Times New Roman" pitchFamily="18" charset="0"/>
                <a:cs typeface="Times New Roman" pitchFamily="18" charset="0"/>
              </a:rPr>
              <a:t>: No patent for a new use of a known drug or substance (Section 3):</a:t>
            </a:r>
          </a:p>
          <a:p>
            <a:pPr eaLnBrk="1" hangingPunct="1">
              <a:lnSpc>
                <a:spcPct val="130000"/>
              </a:lnSpc>
            </a:pPr>
            <a:r>
              <a:rPr lang="en-US" sz="2400" dirty="0">
                <a:solidFill>
                  <a:srgbClr val="C00000"/>
                </a:solidFill>
                <a:latin typeface="Times New Roman" pitchFamily="18" charset="0"/>
                <a:cs typeface="Times New Roman" pitchFamily="18" charset="0"/>
              </a:rPr>
              <a:t>Compulsory </a:t>
            </a:r>
            <a:r>
              <a:rPr lang="en-US" sz="2400" dirty="0" err="1">
                <a:solidFill>
                  <a:srgbClr val="C00000"/>
                </a:solidFill>
                <a:latin typeface="Times New Roman" pitchFamily="18" charset="0"/>
                <a:cs typeface="Times New Roman" pitchFamily="18" charset="0"/>
              </a:rPr>
              <a:t>licences</a:t>
            </a:r>
            <a:r>
              <a:rPr lang="en-US" sz="2400" dirty="0">
                <a:solidFill>
                  <a:srgbClr val="C00000"/>
                </a:solidFill>
                <a:latin typeface="Times New Roman" pitchFamily="18" charset="0"/>
                <a:cs typeface="Times New Roman" pitchFamily="18" charset="0"/>
              </a:rPr>
              <a:t> </a:t>
            </a:r>
            <a:r>
              <a:rPr lang="en-US" sz="2000" dirty="0">
                <a:latin typeface="Times New Roman" pitchFamily="18" charset="0"/>
                <a:cs typeface="Times New Roman" pitchFamily="18" charset="0"/>
              </a:rPr>
              <a:t>(Section 84)</a:t>
            </a:r>
            <a:r>
              <a:rPr lang="en-US" sz="2400" dirty="0">
                <a:latin typeface="Times New Roman" pitchFamily="18" charset="0"/>
                <a:cs typeface="Times New Roman" pitchFamily="18" charset="0"/>
              </a:rPr>
              <a:t> : Availability of products at reasonable price ensured </a:t>
            </a:r>
          </a:p>
          <a:p>
            <a:pPr eaLnBrk="1" hangingPunct="1">
              <a:lnSpc>
                <a:spcPct val="130000"/>
              </a:lnSpc>
            </a:pPr>
            <a:r>
              <a:rPr lang="en-US" sz="2400" dirty="0">
                <a:solidFill>
                  <a:srgbClr val="C00000"/>
                </a:solidFill>
                <a:latin typeface="Times New Roman" pitchFamily="18" charset="0"/>
                <a:cs typeface="Times New Roman" pitchFamily="18" charset="0"/>
              </a:rPr>
              <a:t>Special Provision of Compulsory license during  national emergency</a:t>
            </a:r>
            <a:r>
              <a:rPr lang="en-US" sz="2400" dirty="0">
                <a:latin typeface="Times New Roman" pitchFamily="18" charset="0"/>
                <a:cs typeface="Times New Roman" pitchFamily="18" charset="0"/>
              </a:rPr>
              <a:t>, extreme urgency or public non-commercial use </a:t>
            </a:r>
            <a:r>
              <a:rPr lang="en-US" sz="2000" dirty="0">
                <a:latin typeface="Times New Roman" pitchFamily="18" charset="0"/>
                <a:cs typeface="Times New Roman" pitchFamily="18" charset="0"/>
              </a:rPr>
              <a:t>(section 92) </a:t>
            </a:r>
            <a:r>
              <a:rPr lang="en-US" sz="2400" dirty="0">
                <a:latin typeface="Times New Roman" pitchFamily="18" charset="0"/>
                <a:cs typeface="Times New Roman" pitchFamily="18" charset="0"/>
              </a:rPr>
              <a:t>to ensure availability of 	drugs at reasonable prices.</a:t>
            </a:r>
            <a:endParaRPr lang="en-US" sz="2000" dirty="0">
              <a:latin typeface="Times New Roman" pitchFamily="18" charset="0"/>
              <a:cs typeface="Times New Roman" pitchFamily="18" charset="0"/>
            </a:endParaRPr>
          </a:p>
        </p:txBody>
      </p:sp>
    </p:spTree>
  </p:cSld>
  <p:clrMapOvr>
    <a:masterClrMapping/>
  </p:clrMapOvr>
  <p:transition>
    <p:wipe/>
    <p:sndAc>
      <p:endSnd/>
    </p:sndAc>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idx="4294967295"/>
          </p:nvPr>
        </p:nvSpPr>
        <p:spPr>
          <a:xfrm>
            <a:off x="685800" y="0"/>
            <a:ext cx="8229600" cy="639762"/>
          </a:xfrm>
          <a:prstGeom prst="rect">
            <a:avLst/>
          </a:prstGeom>
        </p:spPr>
        <p:txBody>
          <a:bodyPr/>
          <a:lstStyle/>
          <a:p>
            <a:pPr eaLnBrk="1" hangingPunct="1"/>
            <a:r>
              <a:rPr lang="en-US" sz="2800" dirty="0">
                <a:latin typeface="Times New Roman" pitchFamily="18" charset="0"/>
                <a:cs typeface="Times New Roman" pitchFamily="18" charset="0"/>
              </a:rPr>
              <a:t>Safeguards for Users and Society in Patents Law(2)</a:t>
            </a:r>
            <a:endParaRPr lang="en-US" sz="2000" i="1" dirty="0">
              <a:latin typeface="Times New Roman" pitchFamily="18" charset="0"/>
              <a:cs typeface="Times New Roman" pitchFamily="18" charset="0"/>
            </a:endParaRPr>
          </a:p>
        </p:txBody>
      </p:sp>
      <p:sp>
        <p:nvSpPr>
          <p:cNvPr id="67587" name="Rectangle 3"/>
          <p:cNvSpPr>
            <a:spLocks noGrp="1" noChangeArrowheads="1"/>
          </p:cNvSpPr>
          <p:nvPr>
            <p:ph type="body" idx="4294967295"/>
          </p:nvPr>
        </p:nvSpPr>
        <p:spPr>
          <a:xfrm>
            <a:off x="27039" y="1066800"/>
            <a:ext cx="9144000" cy="4525963"/>
          </a:xfrm>
          <a:prstGeom prst="rect">
            <a:avLst/>
          </a:prstGeom>
        </p:spPr>
        <p:txBody>
          <a:bodyPr/>
          <a:lstStyle/>
          <a:p>
            <a:pPr eaLnBrk="1" hangingPunct="1">
              <a:spcBef>
                <a:spcPts val="1200"/>
              </a:spcBef>
            </a:pPr>
            <a:r>
              <a:rPr lang="en-US" sz="2400" b="1" dirty="0">
                <a:latin typeface="Times New Roman" pitchFamily="18" charset="0"/>
                <a:cs typeface="Times New Roman" pitchFamily="18" charset="0"/>
              </a:rPr>
              <a:t>Government use of Patents for  public  purpose</a:t>
            </a:r>
            <a:r>
              <a:rPr lang="en-US" sz="2400" dirty="0">
                <a:latin typeface="Times New Roman" pitchFamily="18" charset="0"/>
                <a:cs typeface="Times New Roman" pitchFamily="18" charset="0"/>
              </a:rPr>
              <a:t> : Compensation by mutual agreement between the Government and patent holder failing which by the High Court </a:t>
            </a:r>
            <a:r>
              <a:rPr lang="en-US" sz="2400" b="1" dirty="0">
                <a:latin typeface="Times New Roman" pitchFamily="18" charset="0"/>
                <a:cs typeface="Times New Roman" pitchFamily="18" charset="0"/>
              </a:rPr>
              <a:t>(Section 102)</a:t>
            </a:r>
            <a:endParaRPr lang="en-US" sz="2400" dirty="0">
              <a:latin typeface="Times New Roman" pitchFamily="18" charset="0"/>
              <a:cs typeface="Times New Roman" pitchFamily="18" charset="0"/>
            </a:endParaRPr>
          </a:p>
          <a:p>
            <a:pPr eaLnBrk="1" hangingPunct="1">
              <a:lnSpc>
                <a:spcPct val="90000"/>
              </a:lnSpc>
              <a:spcBef>
                <a:spcPts val="1200"/>
              </a:spcBef>
            </a:pPr>
            <a:r>
              <a:rPr lang="en-US" sz="2400" b="1" dirty="0">
                <a:latin typeface="Times New Roman" pitchFamily="18" charset="0"/>
                <a:cs typeface="Times New Roman" pitchFamily="18" charset="0"/>
              </a:rPr>
              <a:t>Revocation for Patent for non-working of the  patented invention </a:t>
            </a:r>
            <a:r>
              <a:rPr lang="en-US" sz="2400" dirty="0">
                <a:latin typeface="Times New Roman" pitchFamily="18" charset="0"/>
                <a:cs typeface="Times New Roman" pitchFamily="18" charset="0"/>
              </a:rPr>
              <a:t>; not being available to the public at reasonably affordable price </a:t>
            </a:r>
            <a:r>
              <a:rPr lang="en-US" sz="2400" b="1" dirty="0">
                <a:latin typeface="Times New Roman" pitchFamily="18" charset="0"/>
                <a:cs typeface="Times New Roman" pitchFamily="18" charset="0"/>
              </a:rPr>
              <a:t>(Section 85).</a:t>
            </a:r>
            <a:endParaRPr lang="en-US" sz="2400" dirty="0">
              <a:latin typeface="Times New Roman" pitchFamily="18" charset="0"/>
              <a:cs typeface="Times New Roman" pitchFamily="18" charset="0"/>
            </a:endParaRPr>
          </a:p>
          <a:p>
            <a:pPr eaLnBrk="1" hangingPunct="1">
              <a:lnSpc>
                <a:spcPct val="90000"/>
              </a:lnSpc>
              <a:spcBef>
                <a:spcPts val="1200"/>
              </a:spcBef>
            </a:pPr>
            <a:r>
              <a:rPr lang="en-US" sz="2400" b="1" dirty="0">
                <a:latin typeface="Times New Roman" pitchFamily="18" charset="0"/>
                <a:cs typeface="Times New Roman" pitchFamily="18" charset="0"/>
              </a:rPr>
              <a:t>Revocation of  Patent by the Government in public interest (Section 66)</a:t>
            </a:r>
            <a:endParaRPr lang="en-US" sz="2400" dirty="0">
              <a:latin typeface="Times New Roman" pitchFamily="18" charset="0"/>
              <a:cs typeface="Times New Roman" pitchFamily="18" charset="0"/>
            </a:endParaRPr>
          </a:p>
          <a:p>
            <a:pPr eaLnBrk="1" hangingPunct="1">
              <a:lnSpc>
                <a:spcPct val="90000"/>
              </a:lnSpc>
              <a:spcBef>
                <a:spcPts val="1200"/>
              </a:spcBef>
            </a:pPr>
            <a:r>
              <a:rPr lang="en-US" sz="2400" b="1" dirty="0" err="1">
                <a:latin typeface="Times New Roman" pitchFamily="18" charset="0"/>
                <a:cs typeface="Times New Roman" pitchFamily="18" charset="0"/>
              </a:rPr>
              <a:t>Bolar</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provison</a:t>
            </a:r>
            <a:r>
              <a:rPr lang="en-US" sz="2400" b="1" dirty="0">
                <a:latin typeface="Times New Roman" pitchFamily="18" charset="0"/>
                <a:cs typeface="Times New Roman" pitchFamily="18" charset="0"/>
              </a:rPr>
              <a:t> (Section 107). </a:t>
            </a:r>
            <a:r>
              <a:rPr lang="en-US" sz="2400" dirty="0">
                <a:latin typeface="Times New Roman" pitchFamily="18" charset="0"/>
                <a:cs typeface="Times New Roman" pitchFamily="18" charset="0"/>
              </a:rPr>
              <a:t>:  facilitates availability of generic version of the patented product at competitive prices immediately on expiry of the patent.</a:t>
            </a:r>
            <a:endParaRPr lang="en-US" sz="2400" b="1" dirty="0">
              <a:latin typeface="Times New Roman" pitchFamily="18" charset="0"/>
              <a:cs typeface="Times New Roman" pitchFamily="18" charset="0"/>
            </a:endParaRPr>
          </a:p>
          <a:p>
            <a:pPr eaLnBrk="1" hangingPunct="1">
              <a:lnSpc>
                <a:spcPct val="90000"/>
              </a:lnSpc>
              <a:spcBef>
                <a:spcPts val="1200"/>
              </a:spcBef>
            </a:pPr>
            <a:r>
              <a:rPr lang="en-US" sz="2400" dirty="0">
                <a:latin typeface="Times New Roman" pitchFamily="18" charset="0"/>
                <a:cs typeface="Times New Roman" pitchFamily="18" charset="0"/>
              </a:rPr>
              <a:t>Patent can be revoked in the interest of security of India (</a:t>
            </a:r>
            <a:r>
              <a:rPr lang="en-US" sz="2400" b="1" dirty="0">
                <a:latin typeface="Times New Roman" pitchFamily="18" charset="0"/>
                <a:cs typeface="Times New Roman" pitchFamily="18" charset="0"/>
              </a:rPr>
              <a:t>Section 157 A)</a:t>
            </a:r>
            <a:r>
              <a:rPr lang="en-US" sz="2400" dirty="0">
                <a:latin typeface="Times New Roman" pitchFamily="18" charset="0"/>
                <a:cs typeface="Times New Roman" pitchFamily="18" charset="0"/>
              </a:rPr>
              <a:t>.	 </a:t>
            </a:r>
          </a:p>
          <a:p>
            <a:pPr eaLnBrk="1" hangingPunct="1">
              <a:lnSpc>
                <a:spcPct val="80000"/>
              </a:lnSpc>
              <a:spcBef>
                <a:spcPts val="1200"/>
              </a:spcBef>
            </a:pPr>
            <a:endParaRPr lang="en-US" sz="800" dirty="0">
              <a:latin typeface="Times New Roman" pitchFamily="18" charset="0"/>
              <a:cs typeface="Times New Roman" pitchFamily="18" charset="0"/>
            </a:endParaRPr>
          </a:p>
        </p:txBody>
      </p:sp>
    </p:spTree>
  </p:cSld>
  <p:clrMapOvr>
    <a:masterClrMapping/>
  </p:clrMapOvr>
  <p:transition>
    <p:wipe/>
    <p:sndAc>
      <p:endSnd/>
    </p:sndAc>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9A82324F-CB34-408F-A405-09BD4432CEFC}" type="slidenum">
              <a:rPr lang="en-US" smtClean="0"/>
              <a:pPr>
                <a:defRPr/>
              </a:pPr>
              <a:t>59</a:t>
            </a:fld>
            <a:endParaRPr lang="en-US"/>
          </a:p>
        </p:txBody>
      </p:sp>
      <p:sp>
        <p:nvSpPr>
          <p:cNvPr id="5" name="Rectangle 4"/>
          <p:cNvSpPr/>
          <p:nvPr/>
        </p:nvSpPr>
        <p:spPr>
          <a:xfrm>
            <a:off x="3357554" y="0"/>
            <a:ext cx="3733714" cy="523220"/>
          </a:xfrm>
          <a:prstGeom prst="rect">
            <a:avLst/>
          </a:prstGeom>
        </p:spPr>
        <p:txBody>
          <a:bodyPr wrap="none">
            <a:spAutoFit/>
          </a:bodyPr>
          <a:lstStyle/>
          <a:p>
            <a:r>
              <a:rPr lang="en-US" sz="2800" dirty="0">
                <a:latin typeface="Bookman Old Style" pitchFamily="18" charset="0"/>
              </a:rPr>
              <a:t>Open-source license</a:t>
            </a:r>
          </a:p>
        </p:txBody>
      </p:sp>
      <p:sp>
        <p:nvSpPr>
          <p:cNvPr id="6" name="Rectangle 5"/>
          <p:cNvSpPr/>
          <p:nvPr/>
        </p:nvSpPr>
        <p:spPr>
          <a:xfrm>
            <a:off x="357158" y="785794"/>
            <a:ext cx="8572560" cy="2862322"/>
          </a:xfrm>
          <a:prstGeom prst="rect">
            <a:avLst/>
          </a:prstGeom>
        </p:spPr>
        <p:txBody>
          <a:bodyPr wrap="square">
            <a:spAutoFit/>
          </a:bodyPr>
          <a:lstStyle/>
          <a:p>
            <a:r>
              <a:rPr lang="en-IN" sz="2000" dirty="0">
                <a:latin typeface="Bookman Old Style" pitchFamily="18" charset="0"/>
              </a:rPr>
              <a:t>An open-source license is applicable for computer software that makes source code available to the user with relaxed or no restrictions on the code's use, modification, customization, or troubleshooting needs. Some open-source licenses stipulate that anyone who releases a modified open source program must also release and share the source code for that program alongside it without charging a licensing fee</a:t>
            </a:r>
            <a:r>
              <a:rPr lang="en-IN" dirty="0"/>
              <a:t>. </a:t>
            </a:r>
            <a:r>
              <a:rPr lang="en-IN" sz="2000" dirty="0">
                <a:latin typeface="Bookman Old Style" pitchFamily="18" charset="0"/>
              </a:rPr>
              <a:t>Open-source software is not so-called free software, although licensed software is mostly available free of charge.</a:t>
            </a:r>
            <a:endParaRPr lang="en-US" sz="2000" dirty="0">
              <a:latin typeface="Bookman Old Style" pitchFamily="18" charset="0"/>
            </a:endParaRPr>
          </a:p>
        </p:txBody>
      </p:sp>
      <p:sp>
        <p:nvSpPr>
          <p:cNvPr id="7" name="Rectangle 6"/>
          <p:cNvSpPr/>
          <p:nvPr/>
        </p:nvSpPr>
        <p:spPr>
          <a:xfrm>
            <a:off x="357158" y="3714752"/>
            <a:ext cx="8704627" cy="1631216"/>
          </a:xfrm>
          <a:prstGeom prst="rect">
            <a:avLst/>
          </a:prstGeom>
        </p:spPr>
        <p:txBody>
          <a:bodyPr wrap="none">
            <a:spAutoFit/>
          </a:bodyPr>
          <a:lstStyle/>
          <a:p>
            <a:pPr marL="514350" indent="-514350">
              <a:buAutoNum type="romanLcParenBoth"/>
            </a:pPr>
            <a:r>
              <a:rPr lang="en-IN" sz="2000" dirty="0">
                <a:latin typeface="Bookman Old Style" pitchFamily="18" charset="0"/>
              </a:rPr>
              <a:t>Freedom 0: the freedom to use the work; </a:t>
            </a:r>
          </a:p>
          <a:p>
            <a:pPr marL="514350" indent="-514350">
              <a:buAutoNum type="romanLcParenBoth"/>
            </a:pPr>
            <a:r>
              <a:rPr lang="en-IN" sz="2000" dirty="0">
                <a:latin typeface="Bookman Old Style" pitchFamily="18" charset="0"/>
              </a:rPr>
              <a:t>Freedom 1: the freedom to study the work;</a:t>
            </a:r>
          </a:p>
          <a:p>
            <a:r>
              <a:rPr lang="en-IN" sz="2000" dirty="0">
                <a:latin typeface="Bookman Old Style" pitchFamily="18" charset="0"/>
              </a:rPr>
              <a:t>(iii)  Freedom 2: the freedom to copy and share the work with others;</a:t>
            </a:r>
          </a:p>
          <a:p>
            <a:r>
              <a:rPr lang="en-IN" sz="2000" dirty="0">
                <a:latin typeface="Bookman Old Style" pitchFamily="18" charset="0"/>
              </a:rPr>
              <a:t>(iv)  Freedom 3: the freedom to modify the work and distribute</a:t>
            </a:r>
          </a:p>
          <a:p>
            <a:r>
              <a:rPr lang="en-IN" sz="2000" dirty="0">
                <a:latin typeface="Bookman Old Style" pitchFamily="18" charset="0"/>
              </a:rPr>
              <a:t>modified and, therefore, derivative works.</a:t>
            </a:r>
            <a:endParaRPr lang="en-US" sz="2000" dirty="0">
              <a:latin typeface="Bookman Old Style"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9A82324F-CB34-408F-A405-09BD4432CEFC}" type="slidenum">
              <a:rPr lang="en-US" smtClean="0"/>
              <a:pPr>
                <a:defRPr/>
              </a:pPr>
              <a:t>60</a:t>
            </a:fld>
            <a:endParaRPr lang="en-US"/>
          </a:p>
        </p:txBody>
      </p:sp>
      <p:sp>
        <p:nvSpPr>
          <p:cNvPr id="5" name="Rectangle 4"/>
          <p:cNvSpPr/>
          <p:nvPr/>
        </p:nvSpPr>
        <p:spPr>
          <a:xfrm>
            <a:off x="2357422" y="0"/>
            <a:ext cx="5668539" cy="523220"/>
          </a:xfrm>
          <a:prstGeom prst="rect">
            <a:avLst/>
          </a:prstGeom>
        </p:spPr>
        <p:txBody>
          <a:bodyPr wrap="none">
            <a:spAutoFit/>
          </a:bodyPr>
          <a:lstStyle/>
          <a:p>
            <a:r>
              <a:rPr lang="en-US" sz="2800" dirty="0" err="1">
                <a:latin typeface="Bookman Old Style" pitchFamily="18" charset="0"/>
              </a:rPr>
              <a:t>Copyleft</a:t>
            </a:r>
            <a:r>
              <a:rPr lang="en-US" sz="2800" dirty="0">
                <a:latin typeface="Bookman Old Style" pitchFamily="18" charset="0"/>
              </a:rPr>
              <a:t> and creative commons</a:t>
            </a:r>
          </a:p>
        </p:txBody>
      </p:sp>
      <p:sp>
        <p:nvSpPr>
          <p:cNvPr id="6" name="Rectangle 5"/>
          <p:cNvSpPr/>
          <p:nvPr/>
        </p:nvSpPr>
        <p:spPr>
          <a:xfrm>
            <a:off x="428596" y="714356"/>
            <a:ext cx="8429684" cy="3137141"/>
          </a:xfrm>
          <a:prstGeom prst="rect">
            <a:avLst/>
          </a:prstGeom>
        </p:spPr>
        <p:txBody>
          <a:bodyPr wrap="square">
            <a:spAutoFit/>
          </a:bodyPr>
          <a:lstStyle/>
          <a:p>
            <a:pPr algn="just">
              <a:lnSpc>
                <a:spcPts val="3000"/>
              </a:lnSpc>
            </a:pPr>
            <a:r>
              <a:rPr lang="en-US" sz="2000" dirty="0" err="1">
                <a:latin typeface="Bookman Old Style" pitchFamily="18" charset="0"/>
              </a:rPr>
              <a:t>Copyleft</a:t>
            </a:r>
            <a:r>
              <a:rPr lang="en-US" sz="2000" dirty="0">
                <a:latin typeface="Bookman Old Style" pitchFamily="18" charset="0"/>
              </a:rPr>
              <a:t> licenses are used </a:t>
            </a:r>
            <a:r>
              <a:rPr lang="en-IN" sz="2000" dirty="0">
                <a:latin typeface="Bookman Old Style" pitchFamily="18" charset="0"/>
              </a:rPr>
              <a:t>to maintain copyright conditions for creative works beyond computer software. It is a practice of granting the right to distribute and modify intellectual property in a broader sense freely, ranging from documents, art, scientific discoveries, and even certain patents. Shortly after that, a separate, unrelated initiative in the United States resulted in the Creative Commons license, available since 2001 in several different versions.</a:t>
            </a:r>
            <a:endParaRPr lang="en-US" sz="2000" dirty="0">
              <a:latin typeface="Bookman Old Style" pitchFamily="18" charset="0"/>
            </a:endParaRPr>
          </a:p>
        </p:txBody>
      </p:sp>
      <p:pic>
        <p:nvPicPr>
          <p:cNvPr id="1026" name="Picture 2"/>
          <p:cNvPicPr>
            <a:picLocks noChangeAspect="1" noChangeArrowheads="1"/>
          </p:cNvPicPr>
          <p:nvPr/>
        </p:nvPicPr>
        <p:blipFill>
          <a:blip r:embed="rId2"/>
          <a:srcRect/>
          <a:stretch>
            <a:fillRect/>
          </a:stretch>
        </p:blipFill>
        <p:spPr bwMode="auto">
          <a:xfrm>
            <a:off x="2714612" y="3786190"/>
            <a:ext cx="3838575" cy="1343025"/>
          </a:xfrm>
          <a:prstGeom prst="rect">
            <a:avLst/>
          </a:prstGeom>
          <a:noFill/>
          <a:ln w="9525">
            <a:noFill/>
            <a:miter lim="800000"/>
            <a:headEnd/>
            <a:tailEnd/>
          </a:ln>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9A82324F-CB34-408F-A405-09BD4432CEFC}" type="slidenum">
              <a:rPr lang="en-US" smtClean="0"/>
              <a:pPr>
                <a:defRPr/>
              </a:pPr>
              <a:t>61</a:t>
            </a:fld>
            <a:endParaRPr lang="en-US"/>
          </a:p>
        </p:txBody>
      </p:sp>
      <p:pic>
        <p:nvPicPr>
          <p:cNvPr id="2050" name="Picture 2"/>
          <p:cNvPicPr>
            <a:picLocks noChangeAspect="1" noChangeArrowheads="1"/>
          </p:cNvPicPr>
          <p:nvPr/>
        </p:nvPicPr>
        <p:blipFill>
          <a:blip r:embed="rId2"/>
          <a:srcRect/>
          <a:stretch>
            <a:fillRect/>
          </a:stretch>
        </p:blipFill>
        <p:spPr bwMode="auto">
          <a:xfrm>
            <a:off x="1543050" y="0"/>
            <a:ext cx="6057900" cy="693420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TotalTime>
  <Words>3311</Words>
  <Application>Microsoft Office PowerPoint</Application>
  <PresentationFormat>On-screen Show (4:3)</PresentationFormat>
  <Paragraphs>463</Paragraphs>
  <Slides>61</Slides>
  <Notes>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61</vt:i4>
      </vt:variant>
    </vt:vector>
  </HeadingPairs>
  <TitlesOfParts>
    <vt:vector size="73" baseType="lpstr">
      <vt:lpstr>Arial</vt:lpstr>
      <vt:lpstr>Arial Unicode MS</vt:lpstr>
      <vt:lpstr>Book Antiqua</vt:lpstr>
      <vt:lpstr>Bookman Old Style</vt:lpstr>
      <vt:lpstr>Calibri</vt:lpstr>
      <vt:lpstr>Marlett</vt:lpstr>
      <vt:lpstr>Monotype Corsiva</vt:lpstr>
      <vt:lpstr>Raavi</vt:lpstr>
      <vt:lpstr>Tahoma</vt:lpstr>
      <vt:lpstr>Times New Roman</vt:lpstr>
      <vt:lpstr>Wingdings</vt:lpstr>
      <vt:lpstr>Office Theme</vt:lpstr>
      <vt:lpstr>PowerPoint Presentation</vt:lpstr>
      <vt:lpstr>Intellectual property</vt:lpstr>
      <vt:lpstr>PowerPoint Presentation</vt:lpstr>
      <vt:lpstr>PowerPoint Presentation</vt:lpstr>
      <vt:lpstr>Intellectual property</vt:lpstr>
      <vt:lpstr>Intellectual property</vt:lpstr>
      <vt:lpstr>What is a Patent ?</vt:lpstr>
      <vt:lpstr>Patent Law - Salient Features</vt:lpstr>
      <vt:lpstr> Legislative Framework of IP Administration</vt:lpstr>
      <vt:lpstr>Areas</vt:lpstr>
      <vt:lpstr>PowerPoint Presentation</vt:lpstr>
      <vt:lpstr>Safeguards in the Patent Law</vt:lpstr>
      <vt:lpstr>Scope of Patentability Under  The Patents Act </vt:lpstr>
      <vt:lpstr>What is an Invention?</vt:lpstr>
      <vt:lpstr>Patentable subject matter</vt:lpstr>
      <vt:lpstr>“NEW” MEANS</vt:lpstr>
      <vt:lpstr>Inventive step</vt:lpstr>
      <vt:lpstr>Industrial application means</vt:lpstr>
      <vt:lpstr>Section 3 exclusions</vt:lpstr>
      <vt:lpstr>Section 3 exclusions</vt:lpstr>
      <vt:lpstr>Section 3 exclusions</vt:lpstr>
      <vt:lpstr>Checks and Balances </vt:lpstr>
      <vt:lpstr>Section 3 exclusions</vt:lpstr>
      <vt:lpstr>Checks and Balances </vt:lpstr>
      <vt:lpstr>Section 3 exclusions</vt:lpstr>
      <vt:lpstr>Section 3 exclusions</vt:lpstr>
      <vt:lpstr>Checks and Balances</vt:lpstr>
      <vt:lpstr>Section 3 exclusions</vt:lpstr>
      <vt:lpstr>Section 3 exclusions</vt:lpstr>
      <vt:lpstr>Checks and Balances</vt:lpstr>
      <vt:lpstr>Section 3 exclusions</vt:lpstr>
      <vt:lpstr>PowerPoint Presentation</vt:lpstr>
      <vt:lpstr>PowerPoint Presentation</vt:lpstr>
      <vt:lpstr>  Section3 exclusions  </vt:lpstr>
      <vt:lpstr> </vt:lpstr>
      <vt:lpstr> </vt:lpstr>
      <vt:lpstr> </vt:lpstr>
      <vt:lpstr>PowerPoint Presentation</vt:lpstr>
      <vt:lpstr>PowerPoint Presentation</vt:lpstr>
      <vt:lpstr>PowerPoint Presentation</vt:lpstr>
      <vt:lpstr>PowerPoint Presentation</vt:lpstr>
      <vt:lpstr>Stages from filing to grant of a patent </vt:lpstr>
      <vt:lpstr>Obtaining a patent</vt:lpstr>
      <vt:lpstr>Sufficiency of Disclosure</vt:lpstr>
      <vt:lpstr>Formality Check</vt:lpstr>
      <vt:lpstr>Publication</vt:lpstr>
      <vt:lpstr>Request for Examination</vt:lpstr>
      <vt:lpstr>Examination</vt:lpstr>
      <vt:lpstr>Issue of FER</vt:lpstr>
      <vt:lpstr>Response from the Applicant</vt:lpstr>
      <vt:lpstr>Pre-grant Opposition</vt:lpstr>
      <vt:lpstr>Grant of a Patent</vt:lpstr>
      <vt:lpstr>STAGES - FILING TO  GRANT OF PATENT</vt:lpstr>
      <vt:lpstr>Benefits of patents to pantentee - i</vt:lpstr>
      <vt:lpstr>Benefits of  patents- ii</vt:lpstr>
      <vt:lpstr>Benefits of Patents III</vt:lpstr>
      <vt:lpstr>Safeguards for Users and Society in Patents Law</vt:lpstr>
      <vt:lpstr>Safeguards for Users and Society in Patents Law(2)</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Proposal Project Writing</dc:title>
  <dc:creator>AKDatta</dc:creator>
  <cp:lastModifiedBy>madhura datta</cp:lastModifiedBy>
  <cp:revision>24</cp:revision>
  <dcterms:created xsi:type="dcterms:W3CDTF">2006-08-16T00:00:00Z</dcterms:created>
  <dcterms:modified xsi:type="dcterms:W3CDTF">2024-11-29T04:28:56Z</dcterms:modified>
</cp:coreProperties>
</file>