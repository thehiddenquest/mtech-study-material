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5" r:id="rId2"/>
    <p:sldId id="501" r:id="rId3"/>
    <p:sldId id="500" r:id="rId4"/>
    <p:sldId id="362" r:id="rId5"/>
    <p:sldId id="436" r:id="rId6"/>
    <p:sldId id="437" r:id="rId7"/>
    <p:sldId id="494" r:id="rId8"/>
    <p:sldId id="439" r:id="rId9"/>
    <p:sldId id="438" r:id="rId10"/>
    <p:sldId id="441" r:id="rId11"/>
    <p:sldId id="497" r:id="rId12"/>
    <p:sldId id="498" r:id="rId13"/>
    <p:sldId id="499" r:id="rId14"/>
    <p:sldId id="41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932" autoAdjust="0"/>
    <p:restoredTop sz="79589" autoAdjust="0"/>
  </p:normalViewPr>
  <p:slideViewPr>
    <p:cSldViewPr>
      <p:cViewPr varScale="1">
        <p:scale>
          <a:sx n="61" d="100"/>
          <a:sy n="61" d="100"/>
        </p:scale>
        <p:origin x="44" y="144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2/9/2026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2/9/2026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316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87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544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183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987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471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024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211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741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975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87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737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EA8AD8-FE0C-4A7E-A6D5-7DC9E6847441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05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2/9/2026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2/9/2026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2/9/2026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89446"/>
            <a:ext cx="119142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Introduction to Distributed Computing</a:t>
            </a:r>
            <a:endParaRPr lang="en-IN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304800" y="-603448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Lesion Plan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23392" y="1052736"/>
            <a:ext cx="5027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1. Distributed Computing Platforms    -     3 Lectures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623392" y="1700808"/>
            <a:ext cx="49178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. Introduction to Cloud Computing    -    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Lecture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623392" y="2267580"/>
            <a:ext cx="5098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 smtClean="0">
                <a:solidFill>
                  <a:srgbClr val="FF0000"/>
                </a:solidFill>
              </a:rPr>
              <a:t>. Virtualization Technologies                 -     2 Lectures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623392" y="2915652"/>
            <a:ext cx="6843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 smtClean="0">
                <a:solidFill>
                  <a:srgbClr val="FF0000"/>
                </a:solidFill>
              </a:rPr>
              <a:t>. Programming on Cloud Platforms (AWS, GCP, Azure)    -     3 Lectures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623392" y="4127925"/>
            <a:ext cx="5707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 smtClean="0">
                <a:solidFill>
                  <a:srgbClr val="FF0000"/>
                </a:solidFill>
              </a:rPr>
              <a:t>. Introduction to </a:t>
            </a:r>
            <a:r>
              <a:rPr lang="en-US" dirty="0" err="1" smtClean="0">
                <a:solidFill>
                  <a:srgbClr val="FF0000"/>
                </a:solidFill>
              </a:rPr>
              <a:t>BigData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dirty="0" err="1" smtClean="0">
                <a:solidFill>
                  <a:srgbClr val="FF0000"/>
                </a:solidFill>
              </a:rPr>
              <a:t>MapReduce</a:t>
            </a:r>
            <a:r>
              <a:rPr lang="en-US" dirty="0" smtClean="0">
                <a:solidFill>
                  <a:srgbClr val="FF0000"/>
                </a:solidFill>
              </a:rPr>
              <a:t>    -     2 Lectures</a:t>
            </a:r>
            <a:endParaRPr lang="en-IN" dirty="0"/>
          </a:p>
        </p:txBody>
      </p:sp>
      <p:sp>
        <p:nvSpPr>
          <p:cNvPr id="26" name="Rectangle 25"/>
          <p:cNvSpPr/>
          <p:nvPr/>
        </p:nvSpPr>
        <p:spPr>
          <a:xfrm>
            <a:off x="635371" y="3520315"/>
            <a:ext cx="4627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5. </a:t>
            </a:r>
            <a:r>
              <a:rPr lang="en-US" dirty="0" err="1" smtClean="0">
                <a:solidFill>
                  <a:srgbClr val="FF0000"/>
                </a:solidFill>
              </a:rPr>
              <a:t>Microservices</a:t>
            </a:r>
            <a:r>
              <a:rPr lang="en-US" dirty="0" smtClean="0">
                <a:solidFill>
                  <a:srgbClr val="FF0000"/>
                </a:solidFill>
              </a:rPr>
              <a:t> and Container     -    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Lectures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623392" y="4715852"/>
            <a:ext cx="3385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</a:t>
            </a:r>
            <a:r>
              <a:rPr lang="en-US" dirty="0" smtClean="0">
                <a:solidFill>
                  <a:srgbClr val="FF0000"/>
                </a:solidFill>
              </a:rPr>
              <a:t>. Cloud Security       -    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 smtClean="0">
                <a:solidFill>
                  <a:srgbClr val="FF0000"/>
                </a:solidFill>
              </a:rPr>
              <a:t> Lectures</a:t>
            </a:r>
            <a:endParaRPr lang="en-IN" dirty="0"/>
          </a:p>
        </p:txBody>
      </p:sp>
      <p:sp>
        <p:nvSpPr>
          <p:cNvPr id="28" name="Rectangle 27"/>
          <p:cNvSpPr/>
          <p:nvPr/>
        </p:nvSpPr>
        <p:spPr>
          <a:xfrm>
            <a:off x="623392" y="5219908"/>
            <a:ext cx="4260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 smtClean="0">
                <a:solidFill>
                  <a:srgbClr val="FF0000"/>
                </a:solidFill>
              </a:rPr>
              <a:t>. Research topics on Cloud    -     2 Lectures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4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660202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261" y="836712"/>
            <a:ext cx="3716702" cy="2230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10"/>
          <p:cNvGrpSpPr>
            <a:grpSpLocks/>
          </p:cNvGrpSpPr>
          <p:nvPr/>
        </p:nvGrpSpPr>
        <p:grpSpPr bwMode="auto">
          <a:xfrm>
            <a:off x="6910486" y="3176799"/>
            <a:ext cx="5090170" cy="1052716"/>
            <a:chOff x="285750" y="4143375"/>
            <a:chExt cx="7929563" cy="1500188"/>
          </a:xfrm>
        </p:grpSpPr>
        <p:sp>
          <p:nvSpPr>
            <p:cNvPr id="31" name="Rounded Rectangle 30"/>
            <p:cNvSpPr/>
            <p:nvPr/>
          </p:nvSpPr>
          <p:spPr>
            <a:xfrm>
              <a:off x="285750" y="4143375"/>
              <a:ext cx="7929563" cy="150018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2" name="TextBox 9"/>
            <p:cNvSpPr txBox="1">
              <a:spLocks noChangeArrowheads="1"/>
            </p:cNvSpPr>
            <p:nvPr/>
          </p:nvSpPr>
          <p:spPr bwMode="auto">
            <a:xfrm>
              <a:off x="428625" y="4246563"/>
              <a:ext cx="7500938" cy="12875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sz="1800" i="1" dirty="0">
                  <a:solidFill>
                    <a:schemeClr val="tx1"/>
                  </a:solidFill>
                </a:rPr>
                <a:t>“Cloud Computing is stupidity. It's worse than stupidity</a:t>
              </a:r>
              <a:r>
                <a:rPr lang="en-US" sz="1800" i="1" dirty="0" smtClean="0">
                  <a:solidFill>
                    <a:schemeClr val="tx1"/>
                  </a:solidFill>
                </a:rPr>
                <a:t>: </a:t>
              </a:r>
              <a:r>
                <a:rPr lang="en-US" sz="1800" i="1" dirty="0">
                  <a:solidFill>
                    <a:schemeClr val="tx1"/>
                  </a:solidFill>
                </a:rPr>
                <a:t>it's a marketing hype campaign.”</a:t>
              </a:r>
            </a:p>
          </p:txBody>
        </p:sp>
      </p:grpSp>
      <p:pic>
        <p:nvPicPr>
          <p:cNvPr id="34" name="Picture 33" descr="C:\Users\Sunirmal\Desktop\latex\latex\index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459" y="836712"/>
            <a:ext cx="3608765" cy="2177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" name="Group 14"/>
          <p:cNvGrpSpPr>
            <a:grpSpLocks/>
          </p:cNvGrpSpPr>
          <p:nvPr/>
        </p:nvGrpSpPr>
        <p:grpSpPr bwMode="auto">
          <a:xfrm>
            <a:off x="272387" y="3166640"/>
            <a:ext cx="5190777" cy="1052716"/>
            <a:chOff x="285751" y="4174502"/>
            <a:chExt cx="7929564" cy="1500188"/>
          </a:xfrm>
        </p:grpSpPr>
        <p:sp>
          <p:nvSpPr>
            <p:cNvPr id="36" name="Rounded Rectangle 35"/>
            <p:cNvSpPr/>
            <p:nvPr/>
          </p:nvSpPr>
          <p:spPr>
            <a:xfrm>
              <a:off x="285751" y="4174502"/>
              <a:ext cx="7929564" cy="150018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7" name="TextBox 9"/>
            <p:cNvSpPr txBox="1">
              <a:spLocks noChangeArrowheads="1"/>
            </p:cNvSpPr>
            <p:nvPr/>
          </p:nvSpPr>
          <p:spPr bwMode="auto">
            <a:xfrm>
              <a:off x="428625" y="4246563"/>
              <a:ext cx="7500938" cy="456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sz="1800" i="1" dirty="0">
                  <a:solidFill>
                    <a:schemeClr val="tx1"/>
                  </a:solidFill>
                </a:rPr>
                <a:t>“Computation may someday be organized as public utility.”</a:t>
              </a:r>
            </a:p>
          </p:txBody>
        </p:sp>
      </p:grpSp>
      <p:sp>
        <p:nvSpPr>
          <p:cNvPr id="44" name="TextBox 10"/>
          <p:cNvSpPr txBox="1">
            <a:spLocks noChangeArrowheads="1"/>
          </p:cNvSpPr>
          <p:nvPr/>
        </p:nvSpPr>
        <p:spPr bwMode="auto">
          <a:xfrm>
            <a:off x="7555029" y="4301924"/>
            <a:ext cx="444310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-- Richard Stallman, GNU Founder, 2008</a:t>
            </a:r>
          </a:p>
        </p:txBody>
      </p:sp>
      <p:sp>
        <p:nvSpPr>
          <p:cNvPr id="45" name="TextBox 10"/>
          <p:cNvSpPr txBox="1">
            <a:spLocks noChangeArrowheads="1"/>
          </p:cNvSpPr>
          <p:nvPr/>
        </p:nvSpPr>
        <p:spPr bwMode="auto">
          <a:xfrm>
            <a:off x="776443" y="4275719"/>
            <a:ext cx="48155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-- John McCarthy, Cognitive Scientist, 1961</a:t>
            </a: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731" y="4811644"/>
            <a:ext cx="2884264" cy="1721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" name="Group 22"/>
          <p:cNvGrpSpPr>
            <a:grpSpLocks/>
          </p:cNvGrpSpPr>
          <p:nvPr/>
        </p:nvGrpSpPr>
        <p:grpSpPr bwMode="auto">
          <a:xfrm>
            <a:off x="911424" y="4795614"/>
            <a:ext cx="4543846" cy="1801738"/>
            <a:chOff x="792" y="1800"/>
            <a:chExt cx="4514" cy="2180"/>
          </a:xfrm>
        </p:grpSpPr>
        <p:pic>
          <p:nvPicPr>
            <p:cNvPr id="22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" y="1883"/>
              <a:ext cx="420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" y="1800"/>
              <a:ext cx="37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7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" y="3370"/>
              <a:ext cx="294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8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9" y="3602"/>
              <a:ext cx="52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4" y="2565"/>
              <a:ext cx="40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7" name="Straight Arrow Connector 26"/>
            <p:cNvCxnSpPr/>
            <p:nvPr/>
          </p:nvCxnSpPr>
          <p:spPr>
            <a:xfrm>
              <a:off x="1259" y="2159"/>
              <a:ext cx="360" cy="224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rot="10800000" flipV="1">
              <a:off x="4302" y="2070"/>
              <a:ext cx="360" cy="315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10800000">
              <a:off x="4274" y="2656"/>
              <a:ext cx="629" cy="89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1117" y="3283"/>
              <a:ext cx="469" cy="305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rot="10800000">
              <a:off x="4257" y="3457"/>
              <a:ext cx="405" cy="323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itle 1"/>
          <p:cNvSpPr txBox="1">
            <a:spLocks/>
          </p:cNvSpPr>
          <p:nvPr/>
        </p:nvSpPr>
        <p:spPr>
          <a:xfrm>
            <a:off x="119336" y="-588194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 is a </a:t>
            </a:r>
            <a:r>
              <a:rPr lang="en-US" dirty="0" smtClean="0"/>
              <a:t>Cloud Computing?</a:t>
            </a:r>
            <a:endParaRPr lang="en-US" dirty="0"/>
          </a:p>
        </p:txBody>
      </p:sp>
      <p:sp>
        <p:nvSpPr>
          <p:cNvPr id="60" name="TextBox 10"/>
          <p:cNvSpPr txBox="1">
            <a:spLocks noChangeArrowheads="1"/>
          </p:cNvSpPr>
          <p:nvPr/>
        </p:nvSpPr>
        <p:spPr bwMode="auto">
          <a:xfrm>
            <a:off x="6240016" y="5481532"/>
            <a:ext cx="48155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 smtClean="0">
                <a:solidFill>
                  <a:srgbClr val="FF0000"/>
                </a:solidFill>
              </a:rPr>
              <a:t>The term Cloud is a metaphor for Internet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4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 is a Distributed Computing Platform?</a:t>
            </a:r>
            <a:endParaRPr lang="en-US" dirty="0"/>
          </a:p>
        </p:txBody>
      </p:sp>
      <p:pic>
        <p:nvPicPr>
          <p:cNvPr id="1026" name="Picture 2" descr="Tackling a New 'Gulliver's Travels' | Animation World Netwo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3366370"/>
            <a:ext cx="5447733" cy="302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775520" y="6309320"/>
            <a:ext cx="21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Gulliver’s Travel</a:t>
            </a:r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269" y="1440194"/>
            <a:ext cx="441007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00" y="1412776"/>
            <a:ext cx="4876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7055098" y="1412776"/>
            <a:ext cx="4081462" cy="3673475"/>
            <a:chOff x="7349011" y="1451276"/>
            <a:chExt cx="4081462" cy="3673475"/>
          </a:xfrm>
        </p:grpSpPr>
        <p:grpSp>
          <p:nvGrpSpPr>
            <p:cNvPr id="14" name="Group 26"/>
            <p:cNvGrpSpPr>
              <a:grpSpLocks/>
            </p:cNvGrpSpPr>
            <p:nvPr/>
          </p:nvGrpSpPr>
          <p:grpSpPr bwMode="auto">
            <a:xfrm>
              <a:off x="7349011" y="1451276"/>
              <a:ext cx="4081462" cy="3673475"/>
              <a:chOff x="2360110" y="2886059"/>
              <a:chExt cx="4081462" cy="3673475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4079372" y="2886059"/>
                <a:ext cx="533400" cy="609600"/>
              </a:xfrm>
              <a:prstGeom prst="ellipse">
                <a:avLst/>
              </a:prstGeom>
              <a:solidFill>
                <a:srgbClr val="FF0000">
                  <a:alpha val="48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2360110" y="5949934"/>
                <a:ext cx="533400" cy="609600"/>
              </a:xfrm>
              <a:prstGeom prst="ellipse">
                <a:avLst/>
              </a:prstGeom>
              <a:solidFill>
                <a:srgbClr val="FF0000">
                  <a:alpha val="48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5908172" y="5737209"/>
                <a:ext cx="533400" cy="609600"/>
              </a:xfrm>
              <a:prstGeom prst="ellipse">
                <a:avLst/>
              </a:prstGeom>
              <a:solidFill>
                <a:srgbClr val="FF0000">
                  <a:alpha val="48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en-US"/>
              </a:p>
            </p:txBody>
          </p:sp>
        </p:grpSp>
        <p:grpSp>
          <p:nvGrpSpPr>
            <p:cNvPr id="15" name="Group 30"/>
            <p:cNvGrpSpPr>
              <a:grpSpLocks/>
            </p:cNvGrpSpPr>
            <p:nvPr/>
          </p:nvGrpSpPr>
          <p:grpSpPr bwMode="auto">
            <a:xfrm>
              <a:off x="7804942" y="1969590"/>
              <a:ext cx="3327400" cy="2909888"/>
              <a:chOff x="2815395" y="3419460"/>
              <a:chExt cx="3327400" cy="290988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rot="5400000">
                <a:off x="2176426" y="4058429"/>
                <a:ext cx="2619375" cy="1341437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16200000" flipH="1">
                <a:off x="4195726" y="3774266"/>
                <a:ext cx="2273300" cy="1620838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10800000" flipV="1">
                <a:off x="2861432" y="6042010"/>
                <a:ext cx="3046413" cy="287338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152400" y="838200"/>
            <a:ext cx="11658600" cy="3067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A Distributed System is a Collection of SMALL </a:t>
            </a:r>
            <a:r>
              <a:rPr lang="en-US" dirty="0" smtClean="0">
                <a:solidFill>
                  <a:srgbClr val="3333FF"/>
                </a:solidFill>
              </a:rPr>
              <a:t>independent</a:t>
            </a:r>
            <a:r>
              <a:rPr lang="en-US" dirty="0" smtClean="0"/>
              <a:t> computers that appears to its users as a single BIG </a:t>
            </a:r>
            <a:r>
              <a:rPr lang="en-US" dirty="0" smtClean="0">
                <a:solidFill>
                  <a:srgbClr val="3333FF"/>
                </a:solidFill>
              </a:rPr>
              <a:t>coherent</a:t>
            </a:r>
            <a:r>
              <a:rPr lang="en-US" dirty="0" smtClean="0"/>
              <a:t> system.</a:t>
            </a:r>
          </a:p>
          <a:p>
            <a:pPr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>
                <a:solidFill>
                  <a:srgbClr val="FF0000"/>
                </a:solidFill>
              </a:rPr>
              <a:t>Properties</a:t>
            </a:r>
            <a:r>
              <a:rPr lang="en-US" dirty="0" smtClean="0"/>
              <a:t> of Distributed Algorithm: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Multiple Processes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err="1" smtClean="0">
                <a:latin typeface="Times New Roman" pitchFamily="18" charset="0"/>
              </a:rPr>
              <a:t>Interprocess</a:t>
            </a:r>
            <a:r>
              <a:rPr lang="en-US" sz="2000" i="1" dirty="0" smtClean="0">
                <a:latin typeface="Times New Roman" pitchFamily="18" charset="0"/>
              </a:rPr>
              <a:t> Communication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Disjoint Address Spaces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Collective Goal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sz="2000" i="1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en-US" dirty="0"/>
          </a:p>
        </p:txBody>
      </p:sp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7052294" y="1412776"/>
            <a:ext cx="4083050" cy="3673475"/>
            <a:chOff x="2165684" y="2819400"/>
            <a:chExt cx="4082716" cy="3673642"/>
          </a:xfrm>
        </p:grpSpPr>
        <p:sp>
          <p:nvSpPr>
            <p:cNvPr id="26" name="Oval 25"/>
            <p:cNvSpPr/>
            <p:nvPr/>
          </p:nvSpPr>
          <p:spPr>
            <a:xfrm>
              <a:off x="3886393" y="2819400"/>
              <a:ext cx="533356" cy="609628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165684" y="5883414"/>
              <a:ext cx="533356" cy="609628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715044" y="5670680"/>
              <a:ext cx="533356" cy="609628"/>
            </a:xfrm>
            <a:prstGeom prst="ellipse">
              <a:avLst/>
            </a:prstGeom>
            <a:solidFill>
              <a:srgbClr val="FF0000">
                <a:alpha val="48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781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 is a Distributed Computing Platform?</a:t>
            </a:r>
            <a:endParaRPr lang="en-US" dirty="0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152400" y="838200"/>
            <a:ext cx="11658600" cy="3067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itchFamily="2" charset="2"/>
              <a:buChar char="§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dirty="0" smtClean="0"/>
              <a:t>A Distributed System is a Collection of SMALL </a:t>
            </a:r>
            <a:r>
              <a:rPr lang="en-US" dirty="0" smtClean="0">
                <a:solidFill>
                  <a:srgbClr val="3333FF"/>
                </a:solidFill>
              </a:rPr>
              <a:t>independent</a:t>
            </a:r>
            <a:r>
              <a:rPr lang="en-US" dirty="0" smtClean="0"/>
              <a:t> computers that appears to its users as a single BIG </a:t>
            </a:r>
            <a:r>
              <a:rPr lang="en-US" dirty="0" smtClean="0">
                <a:solidFill>
                  <a:srgbClr val="3333FF"/>
                </a:solidFill>
              </a:rPr>
              <a:t>coherent</a:t>
            </a:r>
            <a:r>
              <a:rPr lang="en-US" dirty="0" smtClean="0"/>
              <a:t> system.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Multiple Processes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err="1" smtClean="0">
                <a:latin typeface="Times New Roman" pitchFamily="18" charset="0"/>
              </a:rPr>
              <a:t>Interprocess</a:t>
            </a:r>
            <a:r>
              <a:rPr lang="en-US" sz="2000" i="1" dirty="0" smtClean="0">
                <a:latin typeface="Times New Roman" pitchFamily="18" charset="0"/>
              </a:rPr>
              <a:t> Communication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Disjoint Address Spaces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sz="2000" i="1" dirty="0" smtClean="0">
                <a:latin typeface="Times New Roman" pitchFamily="18" charset="0"/>
              </a:rPr>
              <a:t>Collective Goal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sz="2000" i="1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en-US" dirty="0"/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416" y="2780928"/>
            <a:ext cx="8167688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Group 9"/>
          <p:cNvGrpSpPr>
            <a:grpSpLocks/>
          </p:cNvGrpSpPr>
          <p:nvPr/>
        </p:nvGrpSpPr>
        <p:grpSpPr bwMode="auto">
          <a:xfrm>
            <a:off x="10345216" y="4838328"/>
            <a:ext cx="1295400" cy="1514475"/>
            <a:chOff x="7848600" y="4419600"/>
            <a:chExt cx="1295400" cy="1514475"/>
          </a:xfrm>
        </p:grpSpPr>
        <p:pic>
          <p:nvPicPr>
            <p:cNvPr id="27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9575" y="5286375"/>
              <a:ext cx="1114425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cxnSp>
          <p:nvCxnSpPr>
            <p:cNvPr id="28" name="Straight Connector 27"/>
            <p:cNvCxnSpPr/>
            <p:nvPr/>
          </p:nvCxnSpPr>
          <p:spPr>
            <a:xfrm rot="16200000" flipH="1">
              <a:off x="7505700" y="4762500"/>
              <a:ext cx="1219200" cy="533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3125266" y="3438153"/>
            <a:ext cx="2628900" cy="1676400"/>
            <a:chOff x="3125266" y="3438153"/>
            <a:chExt cx="2628900" cy="1676400"/>
          </a:xfrm>
        </p:grpSpPr>
        <p:sp>
          <p:nvSpPr>
            <p:cNvPr id="29" name="Oval 28"/>
            <p:cNvSpPr/>
            <p:nvPr/>
          </p:nvSpPr>
          <p:spPr>
            <a:xfrm>
              <a:off x="3125266" y="3438153"/>
              <a:ext cx="1066800" cy="228600"/>
            </a:xfrm>
            <a:prstGeom prst="ellipse">
              <a:avLst/>
            </a:prstGeom>
            <a:solidFill>
              <a:srgbClr val="FF0000">
                <a:alpha val="33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4077766" y="4123953"/>
              <a:ext cx="1676400" cy="9906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5668441" y="5600328"/>
            <a:ext cx="2847975" cy="371475"/>
            <a:chOff x="5668441" y="5600328"/>
            <a:chExt cx="2847975" cy="371475"/>
          </a:xfrm>
        </p:grpSpPr>
        <p:sp>
          <p:nvSpPr>
            <p:cNvPr id="31" name="Oval 30"/>
            <p:cNvSpPr/>
            <p:nvPr/>
          </p:nvSpPr>
          <p:spPr>
            <a:xfrm>
              <a:off x="5668441" y="5743203"/>
              <a:ext cx="1066800" cy="228600"/>
            </a:xfrm>
            <a:prstGeom prst="ellipse">
              <a:avLst/>
            </a:prstGeom>
            <a:solidFill>
              <a:srgbClr val="FF0000">
                <a:alpha val="33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6763816" y="5600328"/>
              <a:ext cx="1752600" cy="158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5678182" y="1967612"/>
            <a:ext cx="3226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Routing Algorithm : An Example</a:t>
            </a:r>
            <a:endParaRPr lang="en-IN" dirty="0"/>
          </a:p>
        </p:txBody>
      </p:sp>
      <p:grpSp>
        <p:nvGrpSpPr>
          <p:cNvPr id="5" name="Group 4"/>
          <p:cNvGrpSpPr/>
          <p:nvPr/>
        </p:nvGrpSpPr>
        <p:grpSpPr>
          <a:xfrm>
            <a:off x="8566858" y="5419353"/>
            <a:ext cx="2159358" cy="561975"/>
            <a:chOff x="8566858" y="5419353"/>
            <a:chExt cx="2159358" cy="561975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10049941" y="5419353"/>
              <a:ext cx="676275" cy="56197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8566858" y="5752506"/>
              <a:ext cx="1066800" cy="228600"/>
            </a:xfrm>
            <a:prstGeom prst="ellipse">
              <a:avLst/>
            </a:prstGeom>
            <a:solidFill>
              <a:srgbClr val="FF0000">
                <a:alpha val="33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862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Transparency in Distributed Computing</a:t>
            </a:r>
            <a:endParaRPr lang="en-US" dirty="0"/>
          </a:p>
        </p:txBody>
      </p:sp>
      <p:grpSp>
        <p:nvGrpSpPr>
          <p:cNvPr id="102" name="Group 12"/>
          <p:cNvGrpSpPr>
            <a:grpSpLocks/>
          </p:cNvGrpSpPr>
          <p:nvPr/>
        </p:nvGrpSpPr>
        <p:grpSpPr bwMode="auto">
          <a:xfrm>
            <a:off x="1828800" y="4373563"/>
            <a:ext cx="1905000" cy="1219200"/>
            <a:chOff x="816" y="2592"/>
            <a:chExt cx="1200" cy="768"/>
          </a:xfrm>
        </p:grpSpPr>
        <p:sp>
          <p:nvSpPr>
            <p:cNvPr id="103" name="Oval 6"/>
            <p:cNvSpPr>
              <a:spLocks noChangeArrowheads="1"/>
            </p:cNvSpPr>
            <p:nvPr/>
          </p:nvSpPr>
          <p:spPr bwMode="auto">
            <a:xfrm>
              <a:off x="81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04" name="Text Box 8"/>
            <p:cNvSpPr txBox="1">
              <a:spLocks noChangeArrowheads="1"/>
            </p:cNvSpPr>
            <p:nvPr/>
          </p:nvSpPr>
          <p:spPr bwMode="auto">
            <a:xfrm>
              <a:off x="105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Client</a:t>
              </a:r>
            </a:p>
          </p:txBody>
        </p:sp>
      </p:grpSp>
      <p:grpSp>
        <p:nvGrpSpPr>
          <p:cNvPr id="105" name="Group 13"/>
          <p:cNvGrpSpPr>
            <a:grpSpLocks/>
          </p:cNvGrpSpPr>
          <p:nvPr/>
        </p:nvGrpSpPr>
        <p:grpSpPr bwMode="auto">
          <a:xfrm>
            <a:off x="6629400" y="4373563"/>
            <a:ext cx="1905000" cy="1219200"/>
            <a:chOff x="3936" y="2592"/>
            <a:chExt cx="1200" cy="768"/>
          </a:xfrm>
        </p:grpSpPr>
        <p:sp>
          <p:nvSpPr>
            <p:cNvPr id="106" name="Oval 5"/>
            <p:cNvSpPr>
              <a:spLocks noChangeArrowheads="1"/>
            </p:cNvSpPr>
            <p:nvPr/>
          </p:nvSpPr>
          <p:spPr bwMode="auto">
            <a:xfrm>
              <a:off x="393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07" name="Text Box 9"/>
            <p:cNvSpPr txBox="1">
              <a:spLocks noChangeArrowheads="1"/>
            </p:cNvSpPr>
            <p:nvPr/>
          </p:nvSpPr>
          <p:spPr bwMode="auto">
            <a:xfrm>
              <a:off x="417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Server</a:t>
              </a:r>
            </a:p>
          </p:txBody>
        </p:sp>
      </p:grpSp>
      <p:grpSp>
        <p:nvGrpSpPr>
          <p:cNvPr id="108" name="Group 11"/>
          <p:cNvGrpSpPr>
            <a:grpSpLocks/>
          </p:cNvGrpSpPr>
          <p:nvPr/>
        </p:nvGrpSpPr>
        <p:grpSpPr bwMode="auto">
          <a:xfrm>
            <a:off x="4191000" y="2163763"/>
            <a:ext cx="1905000" cy="1219200"/>
            <a:chOff x="2400" y="1200"/>
            <a:chExt cx="1200" cy="768"/>
          </a:xfrm>
        </p:grpSpPr>
        <p:sp>
          <p:nvSpPr>
            <p:cNvPr id="109" name="Oval 4"/>
            <p:cNvSpPr>
              <a:spLocks noChangeArrowheads="1"/>
            </p:cNvSpPr>
            <p:nvPr/>
          </p:nvSpPr>
          <p:spPr bwMode="auto">
            <a:xfrm>
              <a:off x="2400" y="1200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10" name="Text Box 10"/>
            <p:cNvSpPr txBox="1">
              <a:spLocks noChangeArrowheads="1"/>
            </p:cNvSpPr>
            <p:nvPr/>
          </p:nvSpPr>
          <p:spPr bwMode="auto">
            <a:xfrm>
              <a:off x="2448" y="1488"/>
              <a:ext cx="1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Naming Service</a:t>
              </a:r>
            </a:p>
          </p:txBody>
        </p:sp>
      </p:grpSp>
      <p:grpSp>
        <p:nvGrpSpPr>
          <p:cNvPr id="111" name="Group 19"/>
          <p:cNvGrpSpPr>
            <a:grpSpLocks/>
          </p:cNvGrpSpPr>
          <p:nvPr/>
        </p:nvGrpSpPr>
        <p:grpSpPr bwMode="auto">
          <a:xfrm>
            <a:off x="6705600" y="2316163"/>
            <a:ext cx="1981200" cy="1001712"/>
            <a:chOff x="3984" y="1296"/>
            <a:chExt cx="1248" cy="651"/>
          </a:xfrm>
        </p:grpSpPr>
        <p:grpSp>
          <p:nvGrpSpPr>
            <p:cNvPr id="112" name="Group 17"/>
            <p:cNvGrpSpPr>
              <a:grpSpLocks/>
            </p:cNvGrpSpPr>
            <p:nvPr/>
          </p:nvGrpSpPr>
          <p:grpSpPr bwMode="auto">
            <a:xfrm>
              <a:off x="3984" y="1296"/>
              <a:ext cx="1248" cy="651"/>
              <a:chOff x="4128" y="1392"/>
              <a:chExt cx="1248" cy="651"/>
            </a:xfrm>
          </p:grpSpPr>
          <p:sp>
            <p:nvSpPr>
              <p:cNvPr id="114" name="Text Box 14"/>
              <p:cNvSpPr txBox="1">
                <a:spLocks noChangeArrowheads="1"/>
              </p:cNvSpPr>
              <p:nvPr/>
            </p:nvSpPr>
            <p:spPr bwMode="auto">
              <a:xfrm>
                <a:off x="4128" y="1392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115" name="Text Box 15"/>
              <p:cNvSpPr txBox="1">
                <a:spLocks noChangeArrowheads="1"/>
              </p:cNvSpPr>
              <p:nvPr/>
            </p:nvSpPr>
            <p:spPr bwMode="auto">
              <a:xfrm>
                <a:off x="4128" y="1605"/>
                <a:ext cx="1248" cy="2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/>
                  <a:t>OtherName</a:t>
                </a:r>
              </a:p>
            </p:txBody>
          </p:sp>
          <p:sp>
            <p:nvSpPr>
              <p:cNvPr id="116" name="Text Box 16"/>
              <p:cNvSpPr txBox="1">
                <a:spLocks noChangeArrowheads="1"/>
              </p:cNvSpPr>
              <p:nvPr/>
            </p:nvSpPr>
            <p:spPr bwMode="auto">
              <a:xfrm>
                <a:off x="4128" y="1818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     ---</a:t>
                </a:r>
              </a:p>
            </p:txBody>
          </p:sp>
        </p:grpSp>
        <p:sp>
          <p:nvSpPr>
            <p:cNvPr id="113" name="Line 18"/>
            <p:cNvSpPr>
              <a:spLocks noChangeShapeType="1"/>
            </p:cNvSpPr>
            <p:nvPr/>
          </p:nvSpPr>
          <p:spPr bwMode="auto">
            <a:xfrm>
              <a:off x="4656" y="129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7" name="Text Box 21"/>
          <p:cNvSpPr txBox="1">
            <a:spLocks noChangeArrowheads="1"/>
          </p:cNvSpPr>
          <p:nvPr/>
        </p:nvSpPr>
        <p:spPr bwMode="auto">
          <a:xfrm>
            <a:off x="6689725" y="2147888"/>
            <a:ext cx="1082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sp>
        <p:nvSpPr>
          <p:cNvPr id="118" name="Text Box 22"/>
          <p:cNvSpPr txBox="1">
            <a:spLocks noChangeArrowheads="1"/>
          </p:cNvSpPr>
          <p:nvPr/>
        </p:nvSpPr>
        <p:spPr bwMode="auto">
          <a:xfrm>
            <a:off x="6705600" y="2316163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>
                <a:solidFill>
                  <a:srgbClr val="0070C0"/>
                </a:solidFill>
              </a:rPr>
              <a:t>MyName</a:t>
            </a:r>
          </a:p>
        </p:txBody>
      </p:sp>
      <p:sp>
        <p:nvSpPr>
          <p:cNvPr id="119" name="Text Box 27"/>
          <p:cNvSpPr txBox="1">
            <a:spLocks noChangeArrowheads="1"/>
          </p:cNvSpPr>
          <p:nvPr/>
        </p:nvSpPr>
        <p:spPr bwMode="auto">
          <a:xfrm>
            <a:off x="4022725" y="41290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grpSp>
        <p:nvGrpSpPr>
          <p:cNvPr id="120" name="Group 36"/>
          <p:cNvGrpSpPr>
            <a:grpSpLocks/>
          </p:cNvGrpSpPr>
          <p:nvPr/>
        </p:nvGrpSpPr>
        <p:grpSpPr bwMode="auto">
          <a:xfrm>
            <a:off x="8001000" y="2468563"/>
            <a:ext cx="914400" cy="3657600"/>
            <a:chOff x="4800" y="1392"/>
            <a:chExt cx="672" cy="2304"/>
          </a:xfrm>
        </p:grpSpPr>
        <p:sp>
          <p:nvSpPr>
            <p:cNvPr id="121" name="Line 29"/>
            <p:cNvSpPr>
              <a:spLocks noChangeShapeType="1"/>
            </p:cNvSpPr>
            <p:nvPr/>
          </p:nvSpPr>
          <p:spPr bwMode="auto">
            <a:xfrm>
              <a:off x="5472" y="1392"/>
              <a:ext cx="0" cy="2304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" name="Line 30"/>
            <p:cNvSpPr>
              <a:spLocks noChangeShapeType="1"/>
            </p:cNvSpPr>
            <p:nvPr/>
          </p:nvSpPr>
          <p:spPr bwMode="auto">
            <a:xfrm>
              <a:off x="4848" y="1392"/>
              <a:ext cx="624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Line 31"/>
            <p:cNvSpPr>
              <a:spLocks noChangeShapeType="1"/>
            </p:cNvSpPr>
            <p:nvPr/>
          </p:nvSpPr>
          <p:spPr bwMode="auto">
            <a:xfrm flipH="1">
              <a:off x="4800" y="3696"/>
              <a:ext cx="672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4" name="Group 41"/>
          <p:cNvGrpSpPr>
            <a:grpSpLocks/>
          </p:cNvGrpSpPr>
          <p:nvPr/>
        </p:nvGrpSpPr>
        <p:grpSpPr bwMode="auto">
          <a:xfrm>
            <a:off x="5867400" y="3230563"/>
            <a:ext cx="1676400" cy="1295400"/>
            <a:chOff x="3456" y="1872"/>
            <a:chExt cx="1056" cy="816"/>
          </a:xfrm>
        </p:grpSpPr>
        <p:sp>
          <p:nvSpPr>
            <p:cNvPr id="125" name="Line 20"/>
            <p:cNvSpPr>
              <a:spLocks noChangeShapeType="1"/>
            </p:cNvSpPr>
            <p:nvPr/>
          </p:nvSpPr>
          <p:spPr bwMode="auto">
            <a:xfrm flipH="1" flipV="1">
              <a:off x="3456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6" name="Text Box 33"/>
            <p:cNvSpPr txBox="1">
              <a:spLocks noChangeArrowheads="1"/>
            </p:cNvSpPr>
            <p:nvPr/>
          </p:nvSpPr>
          <p:spPr bwMode="auto">
            <a:xfrm>
              <a:off x="3648" y="209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Register with MyName</a:t>
              </a:r>
            </a:p>
          </p:txBody>
        </p:sp>
      </p:grpSp>
      <p:grpSp>
        <p:nvGrpSpPr>
          <p:cNvPr id="127" name="Group 43"/>
          <p:cNvGrpSpPr>
            <a:grpSpLocks/>
          </p:cNvGrpSpPr>
          <p:nvPr/>
        </p:nvGrpSpPr>
        <p:grpSpPr bwMode="auto">
          <a:xfrm>
            <a:off x="2667000" y="3230563"/>
            <a:ext cx="1828800" cy="1295400"/>
            <a:chOff x="1440" y="1872"/>
            <a:chExt cx="1152" cy="816"/>
          </a:xfrm>
        </p:grpSpPr>
        <p:sp>
          <p:nvSpPr>
            <p:cNvPr id="128" name="Line 38"/>
            <p:cNvSpPr>
              <a:spLocks noChangeShapeType="1"/>
            </p:cNvSpPr>
            <p:nvPr/>
          </p:nvSpPr>
          <p:spPr bwMode="auto">
            <a:xfrm flipV="1">
              <a:off x="1920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Text Box 39"/>
            <p:cNvSpPr txBox="1">
              <a:spLocks noChangeArrowheads="1"/>
            </p:cNvSpPr>
            <p:nvPr/>
          </p:nvSpPr>
          <p:spPr bwMode="auto">
            <a:xfrm>
              <a:off x="1440" y="211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Lookup for MyName</a:t>
              </a:r>
            </a:p>
          </p:txBody>
        </p:sp>
      </p:grpSp>
      <p:sp>
        <p:nvSpPr>
          <p:cNvPr id="130" name="Line 40"/>
          <p:cNvSpPr>
            <a:spLocks noChangeShapeType="1"/>
          </p:cNvSpPr>
          <p:nvPr/>
        </p:nvSpPr>
        <p:spPr bwMode="auto">
          <a:xfrm>
            <a:off x="3733800" y="4983163"/>
            <a:ext cx="35814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31" name="Group 45"/>
          <p:cNvGrpSpPr>
            <a:grpSpLocks/>
          </p:cNvGrpSpPr>
          <p:nvPr/>
        </p:nvGrpSpPr>
        <p:grpSpPr bwMode="auto">
          <a:xfrm>
            <a:off x="7086600" y="5897563"/>
            <a:ext cx="1219200" cy="808037"/>
            <a:chOff x="4224" y="3552"/>
            <a:chExt cx="768" cy="509"/>
          </a:xfrm>
        </p:grpSpPr>
        <p:sp>
          <p:nvSpPr>
            <p:cNvPr id="132" name="AutoShape 34"/>
            <p:cNvSpPr>
              <a:spLocks noChangeArrowheads="1"/>
            </p:cNvSpPr>
            <p:nvPr/>
          </p:nvSpPr>
          <p:spPr bwMode="auto">
            <a:xfrm>
              <a:off x="4368" y="3552"/>
              <a:ext cx="432" cy="288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33" name="Text Box 44"/>
            <p:cNvSpPr txBox="1">
              <a:spLocks noChangeArrowheads="1"/>
            </p:cNvSpPr>
            <p:nvPr/>
          </p:nvSpPr>
          <p:spPr bwMode="auto">
            <a:xfrm>
              <a:off x="4224" y="3888"/>
              <a:ext cx="76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Remote Object</a:t>
              </a:r>
            </a:p>
          </p:txBody>
        </p:sp>
      </p:grpSp>
      <p:grpSp>
        <p:nvGrpSpPr>
          <p:cNvPr id="134" name="Group 46"/>
          <p:cNvGrpSpPr>
            <a:grpSpLocks/>
          </p:cNvGrpSpPr>
          <p:nvPr/>
        </p:nvGrpSpPr>
        <p:grpSpPr bwMode="auto">
          <a:xfrm>
            <a:off x="7010400" y="5592763"/>
            <a:ext cx="914400" cy="381000"/>
            <a:chOff x="4176" y="3360"/>
            <a:chExt cx="576" cy="240"/>
          </a:xfrm>
        </p:grpSpPr>
        <p:sp>
          <p:nvSpPr>
            <p:cNvPr id="135" name="Line 47"/>
            <p:cNvSpPr>
              <a:spLocks noChangeShapeType="1"/>
            </p:cNvSpPr>
            <p:nvPr/>
          </p:nvSpPr>
          <p:spPr bwMode="auto">
            <a:xfrm>
              <a:off x="4560" y="33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6" name="Text Box 48"/>
            <p:cNvSpPr txBox="1">
              <a:spLocks noChangeArrowheads="1"/>
            </p:cNvSpPr>
            <p:nvPr/>
          </p:nvSpPr>
          <p:spPr bwMode="auto">
            <a:xfrm>
              <a:off x="4176" y="3379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Create</a:t>
              </a:r>
            </a:p>
          </p:txBody>
        </p:sp>
      </p:grpSp>
      <p:sp>
        <p:nvSpPr>
          <p:cNvPr id="137" name="TextBox 136"/>
          <p:cNvSpPr txBox="1">
            <a:spLocks noChangeArrowheads="1"/>
          </p:cNvSpPr>
          <p:nvPr/>
        </p:nvSpPr>
        <p:spPr bwMode="auto">
          <a:xfrm>
            <a:off x="1066800" y="2590800"/>
            <a:ext cx="2590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err="1">
                <a:solidFill>
                  <a:srgbClr val="0070C0"/>
                </a:solidFill>
              </a:rPr>
              <a:t>obref</a:t>
            </a:r>
            <a:r>
              <a:rPr lang="en-US" sz="1600" dirty="0">
                <a:solidFill>
                  <a:srgbClr val="0070C0"/>
                </a:solidFill>
              </a:rPr>
              <a:t> = lookup(“</a:t>
            </a:r>
            <a:r>
              <a:rPr lang="en-US" sz="1600" dirty="0" err="1">
                <a:solidFill>
                  <a:srgbClr val="0070C0"/>
                </a:solidFill>
              </a:rPr>
              <a:t>MyName</a:t>
            </a:r>
            <a:r>
              <a:rPr lang="en-US" sz="1600" dirty="0">
                <a:solidFill>
                  <a:srgbClr val="0070C0"/>
                </a:solidFill>
              </a:rPr>
              <a:t>”) </a:t>
            </a:r>
          </a:p>
        </p:txBody>
      </p:sp>
      <p:sp>
        <p:nvSpPr>
          <p:cNvPr id="138" name="TextBox 137"/>
          <p:cNvSpPr txBox="1">
            <a:spLocks noChangeArrowheads="1"/>
          </p:cNvSpPr>
          <p:nvPr/>
        </p:nvSpPr>
        <p:spPr bwMode="auto">
          <a:xfrm>
            <a:off x="1066800" y="2862263"/>
            <a:ext cx="2971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ret = </a:t>
            </a:r>
            <a:r>
              <a:rPr lang="en-US" sz="1600" dirty="0" err="1" smtClean="0">
                <a:solidFill>
                  <a:srgbClr val="0070C0"/>
                </a:solidFill>
              </a:rPr>
              <a:t>obref.method</a:t>
            </a:r>
            <a:r>
              <a:rPr lang="en-US" sz="1600" dirty="0" smtClean="0">
                <a:solidFill>
                  <a:srgbClr val="0070C0"/>
                </a:solidFill>
              </a:rPr>
              <a:t>(“</a:t>
            </a:r>
            <a:r>
              <a:rPr lang="en-US" sz="1600" dirty="0" err="1">
                <a:solidFill>
                  <a:srgbClr val="0070C0"/>
                </a:solidFill>
              </a:rPr>
              <a:t>param</a:t>
            </a:r>
            <a:r>
              <a:rPr lang="en-US" sz="1600" dirty="0">
                <a:solidFill>
                  <a:srgbClr val="0070C0"/>
                </a:solidFill>
              </a:rPr>
              <a:t>”)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5569" y="925904"/>
            <a:ext cx="30455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Location Transparency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593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30" grpId="0" animBg="1"/>
      <p:bldP spid="137" grpId="0"/>
      <p:bldP spid="138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Transparency in Distributed Computing</a:t>
            </a:r>
            <a:endParaRPr lang="en-US" dirty="0"/>
          </a:p>
        </p:txBody>
      </p:sp>
      <p:grpSp>
        <p:nvGrpSpPr>
          <p:cNvPr id="102" name="Group 12"/>
          <p:cNvGrpSpPr>
            <a:grpSpLocks/>
          </p:cNvGrpSpPr>
          <p:nvPr/>
        </p:nvGrpSpPr>
        <p:grpSpPr bwMode="auto">
          <a:xfrm>
            <a:off x="1828800" y="4373563"/>
            <a:ext cx="1905000" cy="1219200"/>
            <a:chOff x="816" y="2592"/>
            <a:chExt cx="1200" cy="768"/>
          </a:xfrm>
        </p:grpSpPr>
        <p:sp>
          <p:nvSpPr>
            <p:cNvPr id="103" name="Oval 6"/>
            <p:cNvSpPr>
              <a:spLocks noChangeArrowheads="1"/>
            </p:cNvSpPr>
            <p:nvPr/>
          </p:nvSpPr>
          <p:spPr bwMode="auto">
            <a:xfrm>
              <a:off x="81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04" name="Text Box 8"/>
            <p:cNvSpPr txBox="1">
              <a:spLocks noChangeArrowheads="1"/>
            </p:cNvSpPr>
            <p:nvPr/>
          </p:nvSpPr>
          <p:spPr bwMode="auto">
            <a:xfrm>
              <a:off x="105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Client</a:t>
              </a:r>
            </a:p>
          </p:txBody>
        </p:sp>
      </p:grpSp>
      <p:grpSp>
        <p:nvGrpSpPr>
          <p:cNvPr id="105" name="Group 13"/>
          <p:cNvGrpSpPr>
            <a:grpSpLocks/>
          </p:cNvGrpSpPr>
          <p:nvPr/>
        </p:nvGrpSpPr>
        <p:grpSpPr bwMode="auto">
          <a:xfrm>
            <a:off x="6629400" y="4373563"/>
            <a:ext cx="1905000" cy="1219200"/>
            <a:chOff x="3936" y="2592"/>
            <a:chExt cx="1200" cy="768"/>
          </a:xfrm>
        </p:grpSpPr>
        <p:sp>
          <p:nvSpPr>
            <p:cNvPr id="106" name="Oval 5"/>
            <p:cNvSpPr>
              <a:spLocks noChangeArrowheads="1"/>
            </p:cNvSpPr>
            <p:nvPr/>
          </p:nvSpPr>
          <p:spPr bwMode="auto">
            <a:xfrm>
              <a:off x="393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07" name="Text Box 9"/>
            <p:cNvSpPr txBox="1">
              <a:spLocks noChangeArrowheads="1"/>
            </p:cNvSpPr>
            <p:nvPr/>
          </p:nvSpPr>
          <p:spPr bwMode="auto">
            <a:xfrm>
              <a:off x="417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Server</a:t>
              </a:r>
            </a:p>
          </p:txBody>
        </p:sp>
      </p:grpSp>
      <p:grpSp>
        <p:nvGrpSpPr>
          <p:cNvPr id="108" name="Group 11"/>
          <p:cNvGrpSpPr>
            <a:grpSpLocks/>
          </p:cNvGrpSpPr>
          <p:nvPr/>
        </p:nvGrpSpPr>
        <p:grpSpPr bwMode="auto">
          <a:xfrm>
            <a:off x="4191000" y="2163763"/>
            <a:ext cx="1905000" cy="1219200"/>
            <a:chOff x="2400" y="1200"/>
            <a:chExt cx="1200" cy="768"/>
          </a:xfrm>
        </p:grpSpPr>
        <p:sp>
          <p:nvSpPr>
            <p:cNvPr id="109" name="Oval 4"/>
            <p:cNvSpPr>
              <a:spLocks noChangeArrowheads="1"/>
            </p:cNvSpPr>
            <p:nvPr/>
          </p:nvSpPr>
          <p:spPr bwMode="auto">
            <a:xfrm>
              <a:off x="2400" y="1200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10" name="Text Box 10"/>
            <p:cNvSpPr txBox="1">
              <a:spLocks noChangeArrowheads="1"/>
            </p:cNvSpPr>
            <p:nvPr/>
          </p:nvSpPr>
          <p:spPr bwMode="auto">
            <a:xfrm>
              <a:off x="2448" y="1488"/>
              <a:ext cx="1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Naming Service</a:t>
              </a:r>
            </a:p>
          </p:txBody>
        </p:sp>
      </p:grpSp>
      <p:grpSp>
        <p:nvGrpSpPr>
          <p:cNvPr id="111" name="Group 19"/>
          <p:cNvGrpSpPr>
            <a:grpSpLocks/>
          </p:cNvGrpSpPr>
          <p:nvPr/>
        </p:nvGrpSpPr>
        <p:grpSpPr bwMode="auto">
          <a:xfrm>
            <a:off x="6705600" y="2316163"/>
            <a:ext cx="1981200" cy="1001712"/>
            <a:chOff x="3984" y="1296"/>
            <a:chExt cx="1248" cy="651"/>
          </a:xfrm>
        </p:grpSpPr>
        <p:grpSp>
          <p:nvGrpSpPr>
            <p:cNvPr id="112" name="Group 17"/>
            <p:cNvGrpSpPr>
              <a:grpSpLocks/>
            </p:cNvGrpSpPr>
            <p:nvPr/>
          </p:nvGrpSpPr>
          <p:grpSpPr bwMode="auto">
            <a:xfrm>
              <a:off x="3984" y="1296"/>
              <a:ext cx="1248" cy="651"/>
              <a:chOff x="4128" y="1392"/>
              <a:chExt cx="1248" cy="651"/>
            </a:xfrm>
          </p:grpSpPr>
          <p:sp>
            <p:nvSpPr>
              <p:cNvPr id="114" name="Text Box 14"/>
              <p:cNvSpPr txBox="1">
                <a:spLocks noChangeArrowheads="1"/>
              </p:cNvSpPr>
              <p:nvPr/>
            </p:nvSpPr>
            <p:spPr bwMode="auto">
              <a:xfrm>
                <a:off x="4128" y="1392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115" name="Text Box 15"/>
              <p:cNvSpPr txBox="1">
                <a:spLocks noChangeArrowheads="1"/>
              </p:cNvSpPr>
              <p:nvPr/>
            </p:nvSpPr>
            <p:spPr bwMode="auto">
              <a:xfrm>
                <a:off x="4128" y="1605"/>
                <a:ext cx="1248" cy="2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/>
                  <a:t>OtherName</a:t>
                </a:r>
              </a:p>
            </p:txBody>
          </p:sp>
          <p:sp>
            <p:nvSpPr>
              <p:cNvPr id="116" name="Text Box 16"/>
              <p:cNvSpPr txBox="1">
                <a:spLocks noChangeArrowheads="1"/>
              </p:cNvSpPr>
              <p:nvPr/>
            </p:nvSpPr>
            <p:spPr bwMode="auto">
              <a:xfrm>
                <a:off x="4128" y="1818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     ---</a:t>
                </a:r>
              </a:p>
            </p:txBody>
          </p:sp>
        </p:grpSp>
        <p:sp>
          <p:nvSpPr>
            <p:cNvPr id="113" name="Line 18"/>
            <p:cNvSpPr>
              <a:spLocks noChangeShapeType="1"/>
            </p:cNvSpPr>
            <p:nvPr/>
          </p:nvSpPr>
          <p:spPr bwMode="auto">
            <a:xfrm>
              <a:off x="4656" y="129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7" name="Text Box 21"/>
          <p:cNvSpPr txBox="1">
            <a:spLocks noChangeArrowheads="1"/>
          </p:cNvSpPr>
          <p:nvPr/>
        </p:nvSpPr>
        <p:spPr bwMode="auto">
          <a:xfrm>
            <a:off x="6689725" y="2147888"/>
            <a:ext cx="1082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sp>
        <p:nvSpPr>
          <p:cNvPr id="118" name="Text Box 22"/>
          <p:cNvSpPr txBox="1">
            <a:spLocks noChangeArrowheads="1"/>
          </p:cNvSpPr>
          <p:nvPr/>
        </p:nvSpPr>
        <p:spPr bwMode="auto">
          <a:xfrm>
            <a:off x="6705600" y="2316163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>
                <a:solidFill>
                  <a:srgbClr val="0070C0"/>
                </a:solidFill>
              </a:rPr>
              <a:t>MyName</a:t>
            </a:r>
          </a:p>
        </p:txBody>
      </p:sp>
      <p:sp>
        <p:nvSpPr>
          <p:cNvPr id="119" name="Text Box 27"/>
          <p:cNvSpPr txBox="1">
            <a:spLocks noChangeArrowheads="1"/>
          </p:cNvSpPr>
          <p:nvPr/>
        </p:nvSpPr>
        <p:spPr bwMode="auto">
          <a:xfrm>
            <a:off x="4022725" y="41290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grpSp>
        <p:nvGrpSpPr>
          <p:cNvPr id="120" name="Group 36"/>
          <p:cNvGrpSpPr>
            <a:grpSpLocks/>
          </p:cNvGrpSpPr>
          <p:nvPr/>
        </p:nvGrpSpPr>
        <p:grpSpPr bwMode="auto">
          <a:xfrm>
            <a:off x="8001000" y="2468563"/>
            <a:ext cx="914400" cy="3657600"/>
            <a:chOff x="4800" y="1392"/>
            <a:chExt cx="672" cy="2304"/>
          </a:xfrm>
        </p:grpSpPr>
        <p:sp>
          <p:nvSpPr>
            <p:cNvPr id="121" name="Line 29"/>
            <p:cNvSpPr>
              <a:spLocks noChangeShapeType="1"/>
            </p:cNvSpPr>
            <p:nvPr/>
          </p:nvSpPr>
          <p:spPr bwMode="auto">
            <a:xfrm>
              <a:off x="5472" y="1392"/>
              <a:ext cx="0" cy="2304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" name="Line 30"/>
            <p:cNvSpPr>
              <a:spLocks noChangeShapeType="1"/>
            </p:cNvSpPr>
            <p:nvPr/>
          </p:nvSpPr>
          <p:spPr bwMode="auto">
            <a:xfrm>
              <a:off x="4848" y="1392"/>
              <a:ext cx="624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Line 31"/>
            <p:cNvSpPr>
              <a:spLocks noChangeShapeType="1"/>
            </p:cNvSpPr>
            <p:nvPr/>
          </p:nvSpPr>
          <p:spPr bwMode="auto">
            <a:xfrm flipH="1">
              <a:off x="4800" y="3696"/>
              <a:ext cx="672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4" name="Group 41"/>
          <p:cNvGrpSpPr>
            <a:grpSpLocks/>
          </p:cNvGrpSpPr>
          <p:nvPr/>
        </p:nvGrpSpPr>
        <p:grpSpPr bwMode="auto">
          <a:xfrm>
            <a:off x="5867400" y="3230563"/>
            <a:ext cx="1676400" cy="1295400"/>
            <a:chOff x="3456" y="1872"/>
            <a:chExt cx="1056" cy="816"/>
          </a:xfrm>
        </p:grpSpPr>
        <p:sp>
          <p:nvSpPr>
            <p:cNvPr id="125" name="Line 20"/>
            <p:cNvSpPr>
              <a:spLocks noChangeShapeType="1"/>
            </p:cNvSpPr>
            <p:nvPr/>
          </p:nvSpPr>
          <p:spPr bwMode="auto">
            <a:xfrm flipH="1" flipV="1">
              <a:off x="3456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6" name="Text Box 33"/>
            <p:cNvSpPr txBox="1">
              <a:spLocks noChangeArrowheads="1"/>
            </p:cNvSpPr>
            <p:nvPr/>
          </p:nvSpPr>
          <p:spPr bwMode="auto">
            <a:xfrm>
              <a:off x="3648" y="209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Register with MyName</a:t>
              </a:r>
            </a:p>
          </p:txBody>
        </p:sp>
      </p:grpSp>
      <p:grpSp>
        <p:nvGrpSpPr>
          <p:cNvPr id="127" name="Group 43"/>
          <p:cNvGrpSpPr>
            <a:grpSpLocks/>
          </p:cNvGrpSpPr>
          <p:nvPr/>
        </p:nvGrpSpPr>
        <p:grpSpPr bwMode="auto">
          <a:xfrm>
            <a:off x="2667000" y="3230563"/>
            <a:ext cx="1828800" cy="1295400"/>
            <a:chOff x="1440" y="1872"/>
            <a:chExt cx="1152" cy="816"/>
          </a:xfrm>
        </p:grpSpPr>
        <p:sp>
          <p:nvSpPr>
            <p:cNvPr id="128" name="Line 38"/>
            <p:cNvSpPr>
              <a:spLocks noChangeShapeType="1"/>
            </p:cNvSpPr>
            <p:nvPr/>
          </p:nvSpPr>
          <p:spPr bwMode="auto">
            <a:xfrm flipV="1">
              <a:off x="1920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Text Box 39"/>
            <p:cNvSpPr txBox="1">
              <a:spLocks noChangeArrowheads="1"/>
            </p:cNvSpPr>
            <p:nvPr/>
          </p:nvSpPr>
          <p:spPr bwMode="auto">
            <a:xfrm>
              <a:off x="1440" y="211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Lookup for MyName</a:t>
              </a:r>
            </a:p>
          </p:txBody>
        </p:sp>
      </p:grpSp>
      <p:sp>
        <p:nvSpPr>
          <p:cNvPr id="130" name="Line 40"/>
          <p:cNvSpPr>
            <a:spLocks noChangeShapeType="1"/>
          </p:cNvSpPr>
          <p:nvPr/>
        </p:nvSpPr>
        <p:spPr bwMode="auto">
          <a:xfrm>
            <a:off x="3733800" y="4983163"/>
            <a:ext cx="35814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31" name="Group 45"/>
          <p:cNvGrpSpPr>
            <a:grpSpLocks/>
          </p:cNvGrpSpPr>
          <p:nvPr/>
        </p:nvGrpSpPr>
        <p:grpSpPr bwMode="auto">
          <a:xfrm>
            <a:off x="7086600" y="5897563"/>
            <a:ext cx="1219200" cy="808037"/>
            <a:chOff x="4224" y="3552"/>
            <a:chExt cx="768" cy="509"/>
          </a:xfrm>
        </p:grpSpPr>
        <p:sp>
          <p:nvSpPr>
            <p:cNvPr id="132" name="AutoShape 34"/>
            <p:cNvSpPr>
              <a:spLocks noChangeArrowheads="1"/>
            </p:cNvSpPr>
            <p:nvPr/>
          </p:nvSpPr>
          <p:spPr bwMode="auto">
            <a:xfrm>
              <a:off x="4368" y="3552"/>
              <a:ext cx="432" cy="288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33" name="Text Box 44"/>
            <p:cNvSpPr txBox="1">
              <a:spLocks noChangeArrowheads="1"/>
            </p:cNvSpPr>
            <p:nvPr/>
          </p:nvSpPr>
          <p:spPr bwMode="auto">
            <a:xfrm>
              <a:off x="4224" y="3888"/>
              <a:ext cx="76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Remote Object</a:t>
              </a:r>
            </a:p>
          </p:txBody>
        </p:sp>
      </p:grpSp>
      <p:grpSp>
        <p:nvGrpSpPr>
          <p:cNvPr id="134" name="Group 46"/>
          <p:cNvGrpSpPr>
            <a:grpSpLocks/>
          </p:cNvGrpSpPr>
          <p:nvPr/>
        </p:nvGrpSpPr>
        <p:grpSpPr bwMode="auto">
          <a:xfrm>
            <a:off x="7010400" y="5592763"/>
            <a:ext cx="914400" cy="381000"/>
            <a:chOff x="4176" y="3360"/>
            <a:chExt cx="576" cy="240"/>
          </a:xfrm>
        </p:grpSpPr>
        <p:sp>
          <p:nvSpPr>
            <p:cNvPr id="135" name="Line 47"/>
            <p:cNvSpPr>
              <a:spLocks noChangeShapeType="1"/>
            </p:cNvSpPr>
            <p:nvPr/>
          </p:nvSpPr>
          <p:spPr bwMode="auto">
            <a:xfrm>
              <a:off x="4560" y="33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6" name="Text Box 48"/>
            <p:cNvSpPr txBox="1">
              <a:spLocks noChangeArrowheads="1"/>
            </p:cNvSpPr>
            <p:nvPr/>
          </p:nvSpPr>
          <p:spPr bwMode="auto">
            <a:xfrm>
              <a:off x="4176" y="3379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Create</a:t>
              </a:r>
            </a:p>
          </p:txBody>
        </p:sp>
      </p:grpSp>
      <p:sp>
        <p:nvSpPr>
          <p:cNvPr id="137" name="TextBox 136"/>
          <p:cNvSpPr txBox="1">
            <a:spLocks noChangeArrowheads="1"/>
          </p:cNvSpPr>
          <p:nvPr/>
        </p:nvSpPr>
        <p:spPr bwMode="auto">
          <a:xfrm>
            <a:off x="1066800" y="2590800"/>
            <a:ext cx="2590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err="1">
                <a:solidFill>
                  <a:srgbClr val="0070C0"/>
                </a:solidFill>
              </a:rPr>
              <a:t>obref</a:t>
            </a:r>
            <a:r>
              <a:rPr lang="en-US" sz="1600" dirty="0">
                <a:solidFill>
                  <a:srgbClr val="0070C0"/>
                </a:solidFill>
              </a:rPr>
              <a:t> = lookup(“</a:t>
            </a:r>
            <a:r>
              <a:rPr lang="en-US" sz="1600" dirty="0" err="1">
                <a:solidFill>
                  <a:srgbClr val="0070C0"/>
                </a:solidFill>
              </a:rPr>
              <a:t>MyName</a:t>
            </a:r>
            <a:r>
              <a:rPr lang="en-US" sz="1600" dirty="0">
                <a:solidFill>
                  <a:srgbClr val="0070C0"/>
                </a:solidFill>
              </a:rPr>
              <a:t>”) </a:t>
            </a:r>
          </a:p>
        </p:txBody>
      </p:sp>
      <p:sp>
        <p:nvSpPr>
          <p:cNvPr id="138" name="TextBox 137"/>
          <p:cNvSpPr txBox="1">
            <a:spLocks noChangeArrowheads="1"/>
          </p:cNvSpPr>
          <p:nvPr/>
        </p:nvSpPr>
        <p:spPr bwMode="auto">
          <a:xfrm>
            <a:off x="1066800" y="2862263"/>
            <a:ext cx="2971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ret = </a:t>
            </a:r>
            <a:r>
              <a:rPr lang="en-US" sz="1600" dirty="0" err="1" smtClean="0">
                <a:solidFill>
                  <a:srgbClr val="0070C0"/>
                </a:solidFill>
              </a:rPr>
              <a:t>obref.method</a:t>
            </a:r>
            <a:r>
              <a:rPr lang="en-US" sz="1600" dirty="0" smtClean="0">
                <a:solidFill>
                  <a:srgbClr val="0070C0"/>
                </a:solidFill>
              </a:rPr>
              <a:t>(“</a:t>
            </a:r>
            <a:r>
              <a:rPr lang="en-US" sz="1600" dirty="0" err="1">
                <a:solidFill>
                  <a:srgbClr val="0070C0"/>
                </a:solidFill>
              </a:rPr>
              <a:t>param</a:t>
            </a:r>
            <a:r>
              <a:rPr lang="en-US" sz="1600" dirty="0">
                <a:solidFill>
                  <a:srgbClr val="0070C0"/>
                </a:solidFill>
              </a:rPr>
              <a:t>”)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5569" y="925904"/>
            <a:ext cx="27970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Failure Transparency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2708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Transparency in Distributed Systems</a:t>
            </a:r>
            <a:endParaRPr lang="en-US" dirty="0"/>
          </a:p>
        </p:txBody>
      </p:sp>
      <p:grpSp>
        <p:nvGrpSpPr>
          <p:cNvPr id="139" name="Group 12"/>
          <p:cNvGrpSpPr>
            <a:grpSpLocks/>
          </p:cNvGrpSpPr>
          <p:nvPr/>
        </p:nvGrpSpPr>
        <p:grpSpPr bwMode="auto">
          <a:xfrm>
            <a:off x="1828800" y="4373563"/>
            <a:ext cx="1905000" cy="1219200"/>
            <a:chOff x="816" y="2592"/>
            <a:chExt cx="1200" cy="768"/>
          </a:xfrm>
        </p:grpSpPr>
        <p:sp>
          <p:nvSpPr>
            <p:cNvPr id="140" name="Oval 6"/>
            <p:cNvSpPr>
              <a:spLocks noChangeArrowheads="1"/>
            </p:cNvSpPr>
            <p:nvPr/>
          </p:nvSpPr>
          <p:spPr bwMode="auto">
            <a:xfrm>
              <a:off x="81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41" name="Text Box 8"/>
            <p:cNvSpPr txBox="1">
              <a:spLocks noChangeArrowheads="1"/>
            </p:cNvSpPr>
            <p:nvPr/>
          </p:nvSpPr>
          <p:spPr bwMode="auto">
            <a:xfrm>
              <a:off x="105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Client</a:t>
              </a:r>
            </a:p>
          </p:txBody>
        </p:sp>
      </p:grpSp>
      <p:grpSp>
        <p:nvGrpSpPr>
          <p:cNvPr id="142" name="Group 13"/>
          <p:cNvGrpSpPr>
            <a:grpSpLocks/>
          </p:cNvGrpSpPr>
          <p:nvPr/>
        </p:nvGrpSpPr>
        <p:grpSpPr bwMode="auto">
          <a:xfrm>
            <a:off x="6629400" y="4373563"/>
            <a:ext cx="1905000" cy="1219200"/>
            <a:chOff x="3936" y="2592"/>
            <a:chExt cx="1200" cy="768"/>
          </a:xfrm>
        </p:grpSpPr>
        <p:sp>
          <p:nvSpPr>
            <p:cNvPr id="143" name="Oval 5"/>
            <p:cNvSpPr>
              <a:spLocks noChangeArrowheads="1"/>
            </p:cNvSpPr>
            <p:nvPr/>
          </p:nvSpPr>
          <p:spPr bwMode="auto">
            <a:xfrm>
              <a:off x="393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44" name="Text Box 9"/>
            <p:cNvSpPr txBox="1">
              <a:spLocks noChangeArrowheads="1"/>
            </p:cNvSpPr>
            <p:nvPr/>
          </p:nvSpPr>
          <p:spPr bwMode="auto">
            <a:xfrm>
              <a:off x="417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Server</a:t>
              </a:r>
            </a:p>
          </p:txBody>
        </p:sp>
      </p:grpSp>
      <p:grpSp>
        <p:nvGrpSpPr>
          <p:cNvPr id="145" name="Group 11"/>
          <p:cNvGrpSpPr>
            <a:grpSpLocks/>
          </p:cNvGrpSpPr>
          <p:nvPr/>
        </p:nvGrpSpPr>
        <p:grpSpPr bwMode="auto">
          <a:xfrm>
            <a:off x="4191000" y="2163763"/>
            <a:ext cx="1905000" cy="1219200"/>
            <a:chOff x="2400" y="1200"/>
            <a:chExt cx="1200" cy="768"/>
          </a:xfrm>
        </p:grpSpPr>
        <p:sp>
          <p:nvSpPr>
            <p:cNvPr id="146" name="Oval 4"/>
            <p:cNvSpPr>
              <a:spLocks noChangeArrowheads="1"/>
            </p:cNvSpPr>
            <p:nvPr/>
          </p:nvSpPr>
          <p:spPr bwMode="auto">
            <a:xfrm>
              <a:off x="2400" y="1200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47" name="Text Box 10"/>
            <p:cNvSpPr txBox="1">
              <a:spLocks noChangeArrowheads="1"/>
            </p:cNvSpPr>
            <p:nvPr/>
          </p:nvSpPr>
          <p:spPr bwMode="auto">
            <a:xfrm>
              <a:off x="2448" y="1488"/>
              <a:ext cx="1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Naming Service</a:t>
              </a:r>
            </a:p>
          </p:txBody>
        </p:sp>
      </p:grpSp>
      <p:grpSp>
        <p:nvGrpSpPr>
          <p:cNvPr id="148" name="Group 19"/>
          <p:cNvGrpSpPr>
            <a:grpSpLocks/>
          </p:cNvGrpSpPr>
          <p:nvPr/>
        </p:nvGrpSpPr>
        <p:grpSpPr bwMode="auto">
          <a:xfrm>
            <a:off x="6705600" y="2316163"/>
            <a:ext cx="1981200" cy="1001712"/>
            <a:chOff x="3984" y="1296"/>
            <a:chExt cx="1248" cy="651"/>
          </a:xfrm>
        </p:grpSpPr>
        <p:grpSp>
          <p:nvGrpSpPr>
            <p:cNvPr id="149" name="Group 17"/>
            <p:cNvGrpSpPr>
              <a:grpSpLocks/>
            </p:cNvGrpSpPr>
            <p:nvPr/>
          </p:nvGrpSpPr>
          <p:grpSpPr bwMode="auto">
            <a:xfrm>
              <a:off x="3984" y="1296"/>
              <a:ext cx="1248" cy="651"/>
              <a:chOff x="4128" y="1392"/>
              <a:chExt cx="1248" cy="651"/>
            </a:xfrm>
          </p:grpSpPr>
          <p:sp>
            <p:nvSpPr>
              <p:cNvPr id="151" name="Text Box 14"/>
              <p:cNvSpPr txBox="1">
                <a:spLocks noChangeArrowheads="1"/>
              </p:cNvSpPr>
              <p:nvPr/>
            </p:nvSpPr>
            <p:spPr bwMode="auto">
              <a:xfrm>
                <a:off x="4128" y="1392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152" name="Text Box 15"/>
              <p:cNvSpPr txBox="1">
                <a:spLocks noChangeArrowheads="1"/>
              </p:cNvSpPr>
              <p:nvPr/>
            </p:nvSpPr>
            <p:spPr bwMode="auto">
              <a:xfrm>
                <a:off x="4128" y="1605"/>
                <a:ext cx="1248" cy="2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/>
                  <a:t>OtherName</a:t>
                </a:r>
              </a:p>
            </p:txBody>
          </p:sp>
          <p:sp>
            <p:nvSpPr>
              <p:cNvPr id="153" name="Text Box 16"/>
              <p:cNvSpPr txBox="1">
                <a:spLocks noChangeArrowheads="1"/>
              </p:cNvSpPr>
              <p:nvPr/>
            </p:nvSpPr>
            <p:spPr bwMode="auto">
              <a:xfrm>
                <a:off x="4128" y="1818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     ---</a:t>
                </a:r>
              </a:p>
            </p:txBody>
          </p:sp>
        </p:grpSp>
        <p:sp>
          <p:nvSpPr>
            <p:cNvPr id="150" name="Line 18"/>
            <p:cNvSpPr>
              <a:spLocks noChangeShapeType="1"/>
            </p:cNvSpPr>
            <p:nvPr/>
          </p:nvSpPr>
          <p:spPr bwMode="auto">
            <a:xfrm>
              <a:off x="4656" y="129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4" name="Text Box 21"/>
          <p:cNvSpPr txBox="1">
            <a:spLocks noChangeArrowheads="1"/>
          </p:cNvSpPr>
          <p:nvPr/>
        </p:nvSpPr>
        <p:spPr bwMode="auto">
          <a:xfrm>
            <a:off x="6689725" y="2147888"/>
            <a:ext cx="1082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sp>
        <p:nvSpPr>
          <p:cNvPr id="155" name="Text Box 22"/>
          <p:cNvSpPr txBox="1">
            <a:spLocks noChangeArrowheads="1"/>
          </p:cNvSpPr>
          <p:nvPr/>
        </p:nvSpPr>
        <p:spPr bwMode="auto">
          <a:xfrm>
            <a:off x="6705600" y="2316163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>
                <a:solidFill>
                  <a:srgbClr val="0070C0"/>
                </a:solidFill>
              </a:rPr>
              <a:t>MyName</a:t>
            </a:r>
          </a:p>
        </p:txBody>
      </p:sp>
      <p:sp>
        <p:nvSpPr>
          <p:cNvPr id="156" name="Text Box 27"/>
          <p:cNvSpPr txBox="1">
            <a:spLocks noChangeArrowheads="1"/>
          </p:cNvSpPr>
          <p:nvPr/>
        </p:nvSpPr>
        <p:spPr bwMode="auto">
          <a:xfrm>
            <a:off x="4022725" y="41290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grpSp>
        <p:nvGrpSpPr>
          <p:cNvPr id="157" name="Group 36"/>
          <p:cNvGrpSpPr>
            <a:grpSpLocks/>
          </p:cNvGrpSpPr>
          <p:nvPr/>
        </p:nvGrpSpPr>
        <p:grpSpPr bwMode="auto">
          <a:xfrm>
            <a:off x="8001000" y="2468563"/>
            <a:ext cx="914400" cy="3657600"/>
            <a:chOff x="4800" y="1392"/>
            <a:chExt cx="672" cy="2304"/>
          </a:xfrm>
        </p:grpSpPr>
        <p:sp>
          <p:nvSpPr>
            <p:cNvPr id="158" name="Line 29"/>
            <p:cNvSpPr>
              <a:spLocks noChangeShapeType="1"/>
            </p:cNvSpPr>
            <p:nvPr/>
          </p:nvSpPr>
          <p:spPr bwMode="auto">
            <a:xfrm>
              <a:off x="5472" y="1392"/>
              <a:ext cx="0" cy="2304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" name="Line 30"/>
            <p:cNvSpPr>
              <a:spLocks noChangeShapeType="1"/>
            </p:cNvSpPr>
            <p:nvPr/>
          </p:nvSpPr>
          <p:spPr bwMode="auto">
            <a:xfrm>
              <a:off x="4848" y="1392"/>
              <a:ext cx="624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0" name="Line 31"/>
            <p:cNvSpPr>
              <a:spLocks noChangeShapeType="1"/>
            </p:cNvSpPr>
            <p:nvPr/>
          </p:nvSpPr>
          <p:spPr bwMode="auto">
            <a:xfrm flipH="1">
              <a:off x="4800" y="3696"/>
              <a:ext cx="672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1" name="Group 41"/>
          <p:cNvGrpSpPr>
            <a:grpSpLocks/>
          </p:cNvGrpSpPr>
          <p:nvPr/>
        </p:nvGrpSpPr>
        <p:grpSpPr bwMode="auto">
          <a:xfrm>
            <a:off x="5867400" y="3230563"/>
            <a:ext cx="1676400" cy="1295400"/>
            <a:chOff x="3456" y="1872"/>
            <a:chExt cx="1056" cy="816"/>
          </a:xfrm>
        </p:grpSpPr>
        <p:sp>
          <p:nvSpPr>
            <p:cNvPr id="162" name="Line 20"/>
            <p:cNvSpPr>
              <a:spLocks noChangeShapeType="1"/>
            </p:cNvSpPr>
            <p:nvPr/>
          </p:nvSpPr>
          <p:spPr bwMode="auto">
            <a:xfrm flipH="1" flipV="1">
              <a:off x="3456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3" name="Text Box 33"/>
            <p:cNvSpPr txBox="1">
              <a:spLocks noChangeArrowheads="1"/>
            </p:cNvSpPr>
            <p:nvPr/>
          </p:nvSpPr>
          <p:spPr bwMode="auto">
            <a:xfrm>
              <a:off x="3648" y="209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Register with MyName</a:t>
              </a:r>
            </a:p>
          </p:txBody>
        </p:sp>
      </p:grpSp>
      <p:grpSp>
        <p:nvGrpSpPr>
          <p:cNvPr id="164" name="Group 43"/>
          <p:cNvGrpSpPr>
            <a:grpSpLocks/>
          </p:cNvGrpSpPr>
          <p:nvPr/>
        </p:nvGrpSpPr>
        <p:grpSpPr bwMode="auto">
          <a:xfrm>
            <a:off x="2667000" y="3230563"/>
            <a:ext cx="1828800" cy="1295400"/>
            <a:chOff x="1440" y="1872"/>
            <a:chExt cx="1152" cy="816"/>
          </a:xfrm>
        </p:grpSpPr>
        <p:sp>
          <p:nvSpPr>
            <p:cNvPr id="165" name="Line 38"/>
            <p:cNvSpPr>
              <a:spLocks noChangeShapeType="1"/>
            </p:cNvSpPr>
            <p:nvPr/>
          </p:nvSpPr>
          <p:spPr bwMode="auto">
            <a:xfrm flipV="1">
              <a:off x="1920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6" name="Text Box 39"/>
            <p:cNvSpPr txBox="1">
              <a:spLocks noChangeArrowheads="1"/>
            </p:cNvSpPr>
            <p:nvPr/>
          </p:nvSpPr>
          <p:spPr bwMode="auto">
            <a:xfrm>
              <a:off x="1440" y="211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Lookup for MyName</a:t>
              </a:r>
            </a:p>
          </p:txBody>
        </p:sp>
      </p:grpSp>
      <p:sp>
        <p:nvSpPr>
          <p:cNvPr id="167" name="Line 40"/>
          <p:cNvSpPr>
            <a:spLocks noChangeShapeType="1"/>
          </p:cNvSpPr>
          <p:nvPr/>
        </p:nvSpPr>
        <p:spPr bwMode="auto">
          <a:xfrm>
            <a:off x="3733800" y="4983163"/>
            <a:ext cx="358140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68" name="Group 45"/>
          <p:cNvGrpSpPr>
            <a:grpSpLocks/>
          </p:cNvGrpSpPr>
          <p:nvPr/>
        </p:nvGrpSpPr>
        <p:grpSpPr bwMode="auto">
          <a:xfrm>
            <a:off x="7086600" y="5897563"/>
            <a:ext cx="1219200" cy="808037"/>
            <a:chOff x="4224" y="3552"/>
            <a:chExt cx="768" cy="509"/>
          </a:xfrm>
        </p:grpSpPr>
        <p:sp>
          <p:nvSpPr>
            <p:cNvPr id="169" name="AutoShape 34"/>
            <p:cNvSpPr>
              <a:spLocks noChangeArrowheads="1"/>
            </p:cNvSpPr>
            <p:nvPr/>
          </p:nvSpPr>
          <p:spPr bwMode="auto">
            <a:xfrm>
              <a:off x="4368" y="3552"/>
              <a:ext cx="432" cy="288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70" name="Text Box 44"/>
            <p:cNvSpPr txBox="1">
              <a:spLocks noChangeArrowheads="1"/>
            </p:cNvSpPr>
            <p:nvPr/>
          </p:nvSpPr>
          <p:spPr bwMode="auto">
            <a:xfrm>
              <a:off x="4224" y="3888"/>
              <a:ext cx="76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Remote Object</a:t>
              </a:r>
            </a:p>
          </p:txBody>
        </p:sp>
      </p:grpSp>
      <p:grpSp>
        <p:nvGrpSpPr>
          <p:cNvPr id="171" name="Group 46"/>
          <p:cNvGrpSpPr>
            <a:grpSpLocks/>
          </p:cNvGrpSpPr>
          <p:nvPr/>
        </p:nvGrpSpPr>
        <p:grpSpPr bwMode="auto">
          <a:xfrm>
            <a:off x="7010400" y="5592763"/>
            <a:ext cx="914400" cy="381000"/>
            <a:chOff x="4176" y="3360"/>
            <a:chExt cx="576" cy="240"/>
          </a:xfrm>
        </p:grpSpPr>
        <p:sp>
          <p:nvSpPr>
            <p:cNvPr id="172" name="Line 47"/>
            <p:cNvSpPr>
              <a:spLocks noChangeShapeType="1"/>
            </p:cNvSpPr>
            <p:nvPr/>
          </p:nvSpPr>
          <p:spPr bwMode="auto">
            <a:xfrm>
              <a:off x="4560" y="33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3" name="Text Box 48"/>
            <p:cNvSpPr txBox="1">
              <a:spLocks noChangeArrowheads="1"/>
            </p:cNvSpPr>
            <p:nvPr/>
          </p:nvSpPr>
          <p:spPr bwMode="auto">
            <a:xfrm>
              <a:off x="4176" y="3379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Create</a:t>
              </a:r>
            </a:p>
          </p:txBody>
        </p:sp>
      </p:grpSp>
      <p:sp>
        <p:nvSpPr>
          <p:cNvPr id="174" name="TextBox 39"/>
          <p:cNvSpPr txBox="1">
            <a:spLocks noChangeArrowheads="1"/>
          </p:cNvSpPr>
          <p:nvPr/>
        </p:nvSpPr>
        <p:spPr bwMode="auto">
          <a:xfrm>
            <a:off x="1066800" y="2862263"/>
            <a:ext cx="2971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FF0000"/>
                </a:solidFill>
              </a:rPr>
              <a:t>ret = </a:t>
            </a:r>
            <a:r>
              <a:rPr lang="en-US" sz="1600" dirty="0" err="1" smtClean="0">
                <a:solidFill>
                  <a:srgbClr val="FF0000"/>
                </a:solidFill>
              </a:rPr>
              <a:t>obref.method</a:t>
            </a:r>
            <a:r>
              <a:rPr lang="en-US" sz="1600" dirty="0" smtClean="0">
                <a:solidFill>
                  <a:srgbClr val="FF0000"/>
                </a:solidFill>
              </a:rPr>
              <a:t>(“</a:t>
            </a:r>
            <a:r>
              <a:rPr lang="en-US" sz="1600" dirty="0" err="1">
                <a:solidFill>
                  <a:srgbClr val="FF0000"/>
                </a:solidFill>
              </a:rPr>
              <a:t>param</a:t>
            </a:r>
            <a:r>
              <a:rPr lang="en-US" sz="1600" dirty="0">
                <a:solidFill>
                  <a:srgbClr val="FF0000"/>
                </a:solidFill>
              </a:rPr>
              <a:t>”) </a:t>
            </a:r>
          </a:p>
        </p:txBody>
      </p:sp>
      <p:sp>
        <p:nvSpPr>
          <p:cNvPr id="175" name="TextBox 174"/>
          <p:cNvSpPr txBox="1">
            <a:spLocks noChangeArrowheads="1"/>
          </p:cNvSpPr>
          <p:nvPr/>
        </p:nvSpPr>
        <p:spPr bwMode="auto">
          <a:xfrm>
            <a:off x="591344" y="1858963"/>
            <a:ext cx="32004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success = false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while(!success)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     try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        </a:t>
            </a:r>
            <a:r>
              <a:rPr lang="en-US" sz="1600" dirty="0" err="1">
                <a:solidFill>
                  <a:srgbClr val="0070C0"/>
                </a:solidFill>
              </a:rPr>
              <a:t>obref</a:t>
            </a:r>
            <a:r>
              <a:rPr lang="en-US" sz="1600" dirty="0">
                <a:solidFill>
                  <a:srgbClr val="0070C0"/>
                </a:solidFill>
              </a:rPr>
              <a:t> = lookup(“</a:t>
            </a:r>
            <a:r>
              <a:rPr lang="en-US" sz="1600" dirty="0" err="1">
                <a:solidFill>
                  <a:srgbClr val="0070C0"/>
                </a:solidFill>
              </a:rPr>
              <a:t>MyName</a:t>
            </a:r>
            <a:r>
              <a:rPr lang="en-US" sz="1600" dirty="0" smtClean="0">
                <a:solidFill>
                  <a:srgbClr val="0070C0"/>
                </a:solidFill>
              </a:rPr>
              <a:t>”)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 dirty="0" smtClean="0">
              <a:solidFill>
                <a:srgbClr val="0070C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smtClean="0">
                <a:solidFill>
                  <a:srgbClr val="0070C0"/>
                </a:solidFill>
              </a:rPr>
              <a:t>        </a:t>
            </a:r>
            <a:r>
              <a:rPr lang="en-US" sz="1600" dirty="0">
                <a:solidFill>
                  <a:srgbClr val="0070C0"/>
                </a:solidFill>
              </a:rPr>
              <a:t>success = true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     } catch(Exception e)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smtClean="0">
                <a:solidFill>
                  <a:srgbClr val="0070C0"/>
                </a:solidFill>
              </a:rPr>
              <a:t>        delay(2000</a:t>
            </a:r>
            <a:r>
              <a:rPr lang="en-US" sz="1600" dirty="0">
                <a:solidFill>
                  <a:srgbClr val="0070C0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     </a:t>
            </a:r>
            <a:r>
              <a:rPr lang="en-US" sz="1600" dirty="0" smtClean="0">
                <a:solidFill>
                  <a:srgbClr val="0070C0"/>
                </a:solidFill>
              </a:rPr>
              <a:t>}</a:t>
            </a:r>
            <a:endParaRPr lang="en-US" sz="1600" dirty="0">
              <a:solidFill>
                <a:srgbClr val="0070C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}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5569" y="925904"/>
            <a:ext cx="27970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Failure Transparency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6229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1056168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Transparency in Distributed Systems</a:t>
            </a:r>
            <a:endParaRPr lang="en-US" dirty="0"/>
          </a:p>
        </p:txBody>
      </p:sp>
      <p:grpSp>
        <p:nvGrpSpPr>
          <p:cNvPr id="102" name="Group 12"/>
          <p:cNvGrpSpPr>
            <a:grpSpLocks/>
          </p:cNvGrpSpPr>
          <p:nvPr/>
        </p:nvGrpSpPr>
        <p:grpSpPr bwMode="auto">
          <a:xfrm>
            <a:off x="1828800" y="4373563"/>
            <a:ext cx="1905000" cy="1219200"/>
            <a:chOff x="816" y="2592"/>
            <a:chExt cx="1200" cy="768"/>
          </a:xfrm>
        </p:grpSpPr>
        <p:sp>
          <p:nvSpPr>
            <p:cNvPr id="103" name="Oval 6"/>
            <p:cNvSpPr>
              <a:spLocks noChangeArrowheads="1"/>
            </p:cNvSpPr>
            <p:nvPr/>
          </p:nvSpPr>
          <p:spPr bwMode="auto">
            <a:xfrm>
              <a:off x="81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04" name="Text Box 8"/>
            <p:cNvSpPr txBox="1">
              <a:spLocks noChangeArrowheads="1"/>
            </p:cNvSpPr>
            <p:nvPr/>
          </p:nvSpPr>
          <p:spPr bwMode="auto">
            <a:xfrm>
              <a:off x="105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Client</a:t>
              </a:r>
            </a:p>
          </p:txBody>
        </p:sp>
      </p:grpSp>
      <p:grpSp>
        <p:nvGrpSpPr>
          <p:cNvPr id="105" name="Group 13"/>
          <p:cNvGrpSpPr>
            <a:grpSpLocks/>
          </p:cNvGrpSpPr>
          <p:nvPr/>
        </p:nvGrpSpPr>
        <p:grpSpPr bwMode="auto">
          <a:xfrm>
            <a:off x="6934200" y="4373563"/>
            <a:ext cx="1905000" cy="1219200"/>
            <a:chOff x="3936" y="2592"/>
            <a:chExt cx="1200" cy="768"/>
          </a:xfrm>
        </p:grpSpPr>
        <p:sp>
          <p:nvSpPr>
            <p:cNvPr id="106" name="Oval 5"/>
            <p:cNvSpPr>
              <a:spLocks noChangeArrowheads="1"/>
            </p:cNvSpPr>
            <p:nvPr/>
          </p:nvSpPr>
          <p:spPr bwMode="auto">
            <a:xfrm>
              <a:off x="393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07" name="Text Box 9"/>
            <p:cNvSpPr txBox="1">
              <a:spLocks noChangeArrowheads="1"/>
            </p:cNvSpPr>
            <p:nvPr/>
          </p:nvSpPr>
          <p:spPr bwMode="auto">
            <a:xfrm>
              <a:off x="417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Server 1</a:t>
              </a:r>
            </a:p>
          </p:txBody>
        </p:sp>
      </p:grpSp>
      <p:grpSp>
        <p:nvGrpSpPr>
          <p:cNvPr id="108" name="Group 11"/>
          <p:cNvGrpSpPr>
            <a:grpSpLocks/>
          </p:cNvGrpSpPr>
          <p:nvPr/>
        </p:nvGrpSpPr>
        <p:grpSpPr bwMode="auto">
          <a:xfrm>
            <a:off x="4191000" y="2163763"/>
            <a:ext cx="1905000" cy="1219200"/>
            <a:chOff x="2400" y="1200"/>
            <a:chExt cx="1200" cy="768"/>
          </a:xfrm>
        </p:grpSpPr>
        <p:sp>
          <p:nvSpPr>
            <p:cNvPr id="109" name="Oval 4"/>
            <p:cNvSpPr>
              <a:spLocks noChangeArrowheads="1"/>
            </p:cNvSpPr>
            <p:nvPr/>
          </p:nvSpPr>
          <p:spPr bwMode="auto">
            <a:xfrm>
              <a:off x="2400" y="1200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10" name="Text Box 10"/>
            <p:cNvSpPr txBox="1">
              <a:spLocks noChangeArrowheads="1"/>
            </p:cNvSpPr>
            <p:nvPr/>
          </p:nvSpPr>
          <p:spPr bwMode="auto">
            <a:xfrm>
              <a:off x="2448" y="1488"/>
              <a:ext cx="11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Naming Service</a:t>
              </a:r>
            </a:p>
          </p:txBody>
        </p:sp>
      </p:grpSp>
      <p:grpSp>
        <p:nvGrpSpPr>
          <p:cNvPr id="111" name="Group 19"/>
          <p:cNvGrpSpPr>
            <a:grpSpLocks/>
          </p:cNvGrpSpPr>
          <p:nvPr/>
        </p:nvGrpSpPr>
        <p:grpSpPr bwMode="auto">
          <a:xfrm>
            <a:off x="6705600" y="2316163"/>
            <a:ext cx="1981200" cy="1001712"/>
            <a:chOff x="3984" y="1296"/>
            <a:chExt cx="1248" cy="651"/>
          </a:xfrm>
        </p:grpSpPr>
        <p:grpSp>
          <p:nvGrpSpPr>
            <p:cNvPr id="112" name="Group 17"/>
            <p:cNvGrpSpPr>
              <a:grpSpLocks/>
            </p:cNvGrpSpPr>
            <p:nvPr/>
          </p:nvGrpSpPr>
          <p:grpSpPr bwMode="auto">
            <a:xfrm>
              <a:off x="3984" y="1296"/>
              <a:ext cx="1248" cy="651"/>
              <a:chOff x="4128" y="1392"/>
              <a:chExt cx="1248" cy="651"/>
            </a:xfrm>
          </p:grpSpPr>
          <p:sp>
            <p:nvSpPr>
              <p:cNvPr id="114" name="Text Box 14"/>
              <p:cNvSpPr txBox="1">
                <a:spLocks noChangeArrowheads="1"/>
              </p:cNvSpPr>
              <p:nvPr/>
            </p:nvSpPr>
            <p:spPr bwMode="auto">
              <a:xfrm>
                <a:off x="4128" y="1392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115" name="Text Box 15"/>
              <p:cNvSpPr txBox="1">
                <a:spLocks noChangeArrowheads="1"/>
              </p:cNvSpPr>
              <p:nvPr/>
            </p:nvSpPr>
            <p:spPr bwMode="auto">
              <a:xfrm>
                <a:off x="4128" y="1605"/>
                <a:ext cx="1248" cy="20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/>
                  <a:t>OtherName</a:t>
                </a:r>
              </a:p>
            </p:txBody>
          </p:sp>
          <p:sp>
            <p:nvSpPr>
              <p:cNvPr id="116" name="Text Box 16"/>
              <p:cNvSpPr txBox="1">
                <a:spLocks noChangeArrowheads="1"/>
              </p:cNvSpPr>
              <p:nvPr/>
            </p:nvSpPr>
            <p:spPr bwMode="auto">
              <a:xfrm>
                <a:off x="4128" y="1818"/>
                <a:ext cx="1248" cy="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600"/>
                  <a:t>     ---</a:t>
                </a:r>
              </a:p>
            </p:txBody>
          </p:sp>
        </p:grpSp>
        <p:sp>
          <p:nvSpPr>
            <p:cNvPr id="113" name="Line 18"/>
            <p:cNvSpPr>
              <a:spLocks noChangeShapeType="1"/>
            </p:cNvSpPr>
            <p:nvPr/>
          </p:nvSpPr>
          <p:spPr bwMode="auto">
            <a:xfrm>
              <a:off x="4656" y="129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7" name="Text Box 21"/>
          <p:cNvSpPr txBox="1">
            <a:spLocks noChangeArrowheads="1"/>
          </p:cNvSpPr>
          <p:nvPr/>
        </p:nvSpPr>
        <p:spPr bwMode="auto">
          <a:xfrm>
            <a:off x="6689725" y="2147888"/>
            <a:ext cx="1082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sp>
        <p:nvSpPr>
          <p:cNvPr id="118" name="Text Box 22"/>
          <p:cNvSpPr txBox="1">
            <a:spLocks noChangeArrowheads="1"/>
          </p:cNvSpPr>
          <p:nvPr/>
        </p:nvSpPr>
        <p:spPr bwMode="auto">
          <a:xfrm>
            <a:off x="6705600" y="2316163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>
                <a:solidFill>
                  <a:srgbClr val="0070C0"/>
                </a:solidFill>
              </a:rPr>
              <a:t>MyName</a:t>
            </a:r>
          </a:p>
        </p:txBody>
      </p:sp>
      <p:sp>
        <p:nvSpPr>
          <p:cNvPr id="119" name="Text Box 27"/>
          <p:cNvSpPr txBox="1">
            <a:spLocks noChangeArrowheads="1"/>
          </p:cNvSpPr>
          <p:nvPr/>
        </p:nvSpPr>
        <p:spPr bwMode="auto">
          <a:xfrm>
            <a:off x="4022725" y="41290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/>
          </a:p>
        </p:txBody>
      </p:sp>
      <p:grpSp>
        <p:nvGrpSpPr>
          <p:cNvPr id="120" name="Group 41"/>
          <p:cNvGrpSpPr>
            <a:grpSpLocks/>
          </p:cNvGrpSpPr>
          <p:nvPr/>
        </p:nvGrpSpPr>
        <p:grpSpPr bwMode="auto">
          <a:xfrm>
            <a:off x="5867400" y="3184525"/>
            <a:ext cx="2286000" cy="1295400"/>
            <a:chOff x="3456" y="1872"/>
            <a:chExt cx="1056" cy="816"/>
          </a:xfrm>
        </p:grpSpPr>
        <p:sp>
          <p:nvSpPr>
            <p:cNvPr id="121" name="Line 20"/>
            <p:cNvSpPr>
              <a:spLocks noChangeShapeType="1"/>
            </p:cNvSpPr>
            <p:nvPr/>
          </p:nvSpPr>
          <p:spPr bwMode="auto">
            <a:xfrm flipH="1" flipV="1">
              <a:off x="3456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" name="Text Box 33"/>
            <p:cNvSpPr txBox="1">
              <a:spLocks noChangeArrowheads="1"/>
            </p:cNvSpPr>
            <p:nvPr/>
          </p:nvSpPr>
          <p:spPr bwMode="auto">
            <a:xfrm>
              <a:off x="3648" y="209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Register with MyName</a:t>
              </a:r>
            </a:p>
          </p:txBody>
        </p:sp>
      </p:grpSp>
      <p:grpSp>
        <p:nvGrpSpPr>
          <p:cNvPr id="123" name="Group 43"/>
          <p:cNvGrpSpPr>
            <a:grpSpLocks/>
          </p:cNvGrpSpPr>
          <p:nvPr/>
        </p:nvGrpSpPr>
        <p:grpSpPr bwMode="auto">
          <a:xfrm>
            <a:off x="2667000" y="3230563"/>
            <a:ext cx="1828800" cy="1295400"/>
            <a:chOff x="1440" y="1872"/>
            <a:chExt cx="1152" cy="816"/>
          </a:xfrm>
        </p:grpSpPr>
        <p:sp>
          <p:nvSpPr>
            <p:cNvPr id="124" name="Line 38"/>
            <p:cNvSpPr>
              <a:spLocks noChangeShapeType="1"/>
            </p:cNvSpPr>
            <p:nvPr/>
          </p:nvSpPr>
          <p:spPr bwMode="auto">
            <a:xfrm flipV="1">
              <a:off x="1920" y="1872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5" name="Text Box 39"/>
            <p:cNvSpPr txBox="1">
              <a:spLocks noChangeArrowheads="1"/>
            </p:cNvSpPr>
            <p:nvPr/>
          </p:nvSpPr>
          <p:spPr bwMode="auto">
            <a:xfrm>
              <a:off x="1440" y="2112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Lookup for MyName</a:t>
              </a:r>
            </a:p>
          </p:txBody>
        </p:sp>
      </p:grpSp>
      <p:sp>
        <p:nvSpPr>
          <p:cNvPr id="126" name="Line 40"/>
          <p:cNvSpPr>
            <a:spLocks noChangeShapeType="1"/>
          </p:cNvSpPr>
          <p:nvPr/>
        </p:nvSpPr>
        <p:spPr bwMode="auto">
          <a:xfrm>
            <a:off x="3733800" y="4983163"/>
            <a:ext cx="3810000" cy="11890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27" name="Group 45"/>
          <p:cNvGrpSpPr>
            <a:grpSpLocks/>
          </p:cNvGrpSpPr>
          <p:nvPr/>
        </p:nvGrpSpPr>
        <p:grpSpPr bwMode="auto">
          <a:xfrm>
            <a:off x="7391400" y="5897563"/>
            <a:ext cx="1219200" cy="808037"/>
            <a:chOff x="4224" y="3552"/>
            <a:chExt cx="768" cy="509"/>
          </a:xfrm>
        </p:grpSpPr>
        <p:sp>
          <p:nvSpPr>
            <p:cNvPr id="128" name="AutoShape 34"/>
            <p:cNvSpPr>
              <a:spLocks noChangeArrowheads="1"/>
            </p:cNvSpPr>
            <p:nvPr/>
          </p:nvSpPr>
          <p:spPr bwMode="auto">
            <a:xfrm>
              <a:off x="4368" y="3552"/>
              <a:ext cx="432" cy="288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29" name="Text Box 44"/>
            <p:cNvSpPr txBox="1">
              <a:spLocks noChangeArrowheads="1"/>
            </p:cNvSpPr>
            <p:nvPr/>
          </p:nvSpPr>
          <p:spPr bwMode="auto">
            <a:xfrm>
              <a:off x="4224" y="3888"/>
              <a:ext cx="76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Remote Object</a:t>
              </a:r>
            </a:p>
          </p:txBody>
        </p:sp>
      </p:grpSp>
      <p:grpSp>
        <p:nvGrpSpPr>
          <p:cNvPr id="130" name="Group 46"/>
          <p:cNvGrpSpPr>
            <a:grpSpLocks/>
          </p:cNvGrpSpPr>
          <p:nvPr/>
        </p:nvGrpSpPr>
        <p:grpSpPr bwMode="auto">
          <a:xfrm>
            <a:off x="7315200" y="5592763"/>
            <a:ext cx="914400" cy="381000"/>
            <a:chOff x="4176" y="3360"/>
            <a:chExt cx="576" cy="240"/>
          </a:xfrm>
        </p:grpSpPr>
        <p:sp>
          <p:nvSpPr>
            <p:cNvPr id="131" name="Line 47"/>
            <p:cNvSpPr>
              <a:spLocks noChangeShapeType="1"/>
            </p:cNvSpPr>
            <p:nvPr/>
          </p:nvSpPr>
          <p:spPr bwMode="auto">
            <a:xfrm>
              <a:off x="4560" y="33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2" name="Text Box 48"/>
            <p:cNvSpPr txBox="1">
              <a:spLocks noChangeArrowheads="1"/>
            </p:cNvSpPr>
            <p:nvPr/>
          </p:nvSpPr>
          <p:spPr bwMode="auto">
            <a:xfrm>
              <a:off x="4176" y="3379"/>
              <a:ext cx="57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Create</a:t>
              </a:r>
            </a:p>
          </p:txBody>
        </p:sp>
      </p:grpSp>
      <p:grpSp>
        <p:nvGrpSpPr>
          <p:cNvPr id="133" name="Group 13"/>
          <p:cNvGrpSpPr>
            <a:grpSpLocks/>
          </p:cNvGrpSpPr>
          <p:nvPr/>
        </p:nvGrpSpPr>
        <p:grpSpPr bwMode="auto">
          <a:xfrm>
            <a:off x="4876800" y="4297363"/>
            <a:ext cx="1905000" cy="1219200"/>
            <a:chOff x="3936" y="2592"/>
            <a:chExt cx="1200" cy="768"/>
          </a:xfrm>
        </p:grpSpPr>
        <p:sp>
          <p:nvSpPr>
            <p:cNvPr id="134" name="Oval 5"/>
            <p:cNvSpPr>
              <a:spLocks noChangeArrowheads="1"/>
            </p:cNvSpPr>
            <p:nvPr/>
          </p:nvSpPr>
          <p:spPr bwMode="auto">
            <a:xfrm>
              <a:off x="3936" y="2592"/>
              <a:ext cx="1200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IN" sz="1600"/>
            </a:p>
          </p:txBody>
        </p:sp>
        <p:sp>
          <p:nvSpPr>
            <p:cNvPr id="135" name="Text Box 9"/>
            <p:cNvSpPr txBox="1">
              <a:spLocks noChangeArrowheads="1"/>
            </p:cNvSpPr>
            <p:nvPr/>
          </p:nvSpPr>
          <p:spPr bwMode="auto">
            <a:xfrm>
              <a:off x="4176" y="2860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b="1"/>
                <a:t>Server 2</a:t>
              </a:r>
            </a:p>
          </p:txBody>
        </p:sp>
      </p:grpSp>
      <p:grpSp>
        <p:nvGrpSpPr>
          <p:cNvPr id="136" name="Group 36"/>
          <p:cNvGrpSpPr>
            <a:grpSpLocks/>
          </p:cNvGrpSpPr>
          <p:nvPr/>
        </p:nvGrpSpPr>
        <p:grpSpPr bwMode="auto">
          <a:xfrm>
            <a:off x="8229600" y="2468563"/>
            <a:ext cx="685800" cy="3657600"/>
            <a:chOff x="4800" y="1392"/>
            <a:chExt cx="672" cy="2304"/>
          </a:xfrm>
        </p:grpSpPr>
        <p:sp>
          <p:nvSpPr>
            <p:cNvPr id="137" name="Line 29"/>
            <p:cNvSpPr>
              <a:spLocks noChangeShapeType="1"/>
            </p:cNvSpPr>
            <p:nvPr/>
          </p:nvSpPr>
          <p:spPr bwMode="auto">
            <a:xfrm>
              <a:off x="5472" y="1392"/>
              <a:ext cx="0" cy="2304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Line 30"/>
            <p:cNvSpPr>
              <a:spLocks noChangeShapeType="1"/>
            </p:cNvSpPr>
            <p:nvPr/>
          </p:nvSpPr>
          <p:spPr bwMode="auto">
            <a:xfrm>
              <a:off x="4848" y="1392"/>
              <a:ext cx="624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9" name="Line 31"/>
            <p:cNvSpPr>
              <a:spLocks noChangeShapeType="1"/>
            </p:cNvSpPr>
            <p:nvPr/>
          </p:nvSpPr>
          <p:spPr bwMode="auto">
            <a:xfrm flipH="1">
              <a:off x="4800" y="3696"/>
              <a:ext cx="672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0" name="Group 62"/>
          <p:cNvGrpSpPr>
            <a:grpSpLocks/>
          </p:cNvGrpSpPr>
          <p:nvPr/>
        </p:nvGrpSpPr>
        <p:grpSpPr bwMode="auto">
          <a:xfrm>
            <a:off x="4800600" y="3382963"/>
            <a:ext cx="1870075" cy="914400"/>
            <a:chOff x="4800600" y="3383280"/>
            <a:chExt cx="1870364" cy="914400"/>
          </a:xfrm>
        </p:grpSpPr>
        <p:sp>
          <p:nvSpPr>
            <p:cNvPr id="141" name="Line 20"/>
            <p:cNvSpPr>
              <a:spLocks noChangeShapeType="1"/>
            </p:cNvSpPr>
            <p:nvPr/>
          </p:nvSpPr>
          <p:spPr bwMode="auto">
            <a:xfrm flipH="1" flipV="1">
              <a:off x="5334000" y="3383280"/>
              <a:ext cx="3810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2" name="Text Box 33"/>
            <p:cNvSpPr txBox="1">
              <a:spLocks noChangeArrowheads="1"/>
            </p:cNvSpPr>
            <p:nvPr/>
          </p:nvSpPr>
          <p:spPr bwMode="auto">
            <a:xfrm>
              <a:off x="4800600" y="3733800"/>
              <a:ext cx="1870364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200"/>
                <a:t>Register with MyName</a:t>
              </a:r>
            </a:p>
          </p:txBody>
        </p:sp>
      </p:grpSp>
      <p:grpSp>
        <p:nvGrpSpPr>
          <p:cNvPr id="143" name="Group 61"/>
          <p:cNvGrpSpPr>
            <a:grpSpLocks/>
          </p:cNvGrpSpPr>
          <p:nvPr/>
        </p:nvGrpSpPr>
        <p:grpSpPr bwMode="auto">
          <a:xfrm>
            <a:off x="5943600" y="2468563"/>
            <a:ext cx="2971800" cy="3657600"/>
            <a:chOff x="5943600" y="2468880"/>
            <a:chExt cx="2971800" cy="3657600"/>
          </a:xfrm>
        </p:grpSpPr>
        <p:sp>
          <p:nvSpPr>
            <p:cNvPr id="144" name="Line 29"/>
            <p:cNvSpPr>
              <a:spLocks noChangeShapeType="1"/>
            </p:cNvSpPr>
            <p:nvPr/>
          </p:nvSpPr>
          <p:spPr bwMode="auto">
            <a:xfrm>
              <a:off x="8915400" y="2468880"/>
              <a:ext cx="0" cy="36576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5" name="Line 30"/>
            <p:cNvSpPr>
              <a:spLocks noChangeShapeType="1"/>
            </p:cNvSpPr>
            <p:nvPr/>
          </p:nvSpPr>
          <p:spPr bwMode="auto">
            <a:xfrm>
              <a:off x="8278586" y="2468880"/>
              <a:ext cx="636814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6" name="Line 31"/>
            <p:cNvSpPr>
              <a:spLocks noChangeShapeType="1"/>
            </p:cNvSpPr>
            <p:nvPr/>
          </p:nvSpPr>
          <p:spPr bwMode="auto">
            <a:xfrm flipH="1" flipV="1">
              <a:off x="5943600" y="6080761"/>
              <a:ext cx="2971800" cy="45719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7" name="Line 40"/>
          <p:cNvSpPr>
            <a:spLocks noChangeShapeType="1"/>
          </p:cNvSpPr>
          <p:nvPr/>
        </p:nvSpPr>
        <p:spPr bwMode="auto">
          <a:xfrm>
            <a:off x="3763963" y="4999038"/>
            <a:ext cx="1646237" cy="10969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8" name="TextBox 71"/>
          <p:cNvSpPr txBox="1">
            <a:spLocks noChangeArrowheads="1"/>
          </p:cNvSpPr>
          <p:nvPr/>
        </p:nvSpPr>
        <p:spPr bwMode="auto">
          <a:xfrm>
            <a:off x="1066800" y="2862263"/>
            <a:ext cx="2971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FF0000"/>
                </a:solidFill>
              </a:rPr>
              <a:t>ret = </a:t>
            </a:r>
            <a:r>
              <a:rPr lang="en-US" sz="1600" dirty="0" err="1" smtClean="0">
                <a:solidFill>
                  <a:srgbClr val="FF0000"/>
                </a:solidFill>
              </a:rPr>
              <a:t>obref.method</a:t>
            </a:r>
            <a:r>
              <a:rPr lang="en-US" sz="1600" dirty="0" smtClean="0">
                <a:solidFill>
                  <a:srgbClr val="FF0000"/>
                </a:solidFill>
              </a:rPr>
              <a:t>(“</a:t>
            </a:r>
            <a:r>
              <a:rPr lang="en-US" sz="1600" dirty="0" err="1">
                <a:solidFill>
                  <a:srgbClr val="FF0000"/>
                </a:solidFill>
              </a:rPr>
              <a:t>param</a:t>
            </a:r>
            <a:r>
              <a:rPr lang="en-US" sz="1600" dirty="0">
                <a:solidFill>
                  <a:srgbClr val="FF0000"/>
                </a:solidFill>
              </a:rPr>
              <a:t>”) </a:t>
            </a:r>
          </a:p>
        </p:txBody>
      </p:sp>
      <p:sp>
        <p:nvSpPr>
          <p:cNvPr id="149" name="TextBox 72"/>
          <p:cNvSpPr txBox="1">
            <a:spLocks noChangeArrowheads="1"/>
          </p:cNvSpPr>
          <p:nvPr/>
        </p:nvSpPr>
        <p:spPr bwMode="auto">
          <a:xfrm>
            <a:off x="591344" y="1858963"/>
            <a:ext cx="32004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success = false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while(!success)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     try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        </a:t>
            </a:r>
            <a:r>
              <a:rPr lang="en-US" sz="1600" dirty="0" err="1">
                <a:solidFill>
                  <a:srgbClr val="0070C0"/>
                </a:solidFill>
              </a:rPr>
              <a:t>obref</a:t>
            </a:r>
            <a:r>
              <a:rPr lang="en-US" sz="1600" dirty="0">
                <a:solidFill>
                  <a:srgbClr val="0070C0"/>
                </a:solidFill>
              </a:rPr>
              <a:t> = lookup(“</a:t>
            </a:r>
            <a:r>
              <a:rPr lang="en-US" sz="1600" dirty="0" err="1">
                <a:solidFill>
                  <a:srgbClr val="0070C0"/>
                </a:solidFill>
              </a:rPr>
              <a:t>MyName</a:t>
            </a:r>
            <a:r>
              <a:rPr lang="en-US" sz="1600" dirty="0" smtClean="0">
                <a:solidFill>
                  <a:srgbClr val="0070C0"/>
                </a:solidFill>
              </a:rPr>
              <a:t>”)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600" dirty="0" smtClean="0">
              <a:solidFill>
                <a:srgbClr val="0070C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smtClean="0">
                <a:solidFill>
                  <a:srgbClr val="0070C0"/>
                </a:solidFill>
              </a:rPr>
              <a:t>        </a:t>
            </a:r>
            <a:r>
              <a:rPr lang="en-US" sz="1600" dirty="0">
                <a:solidFill>
                  <a:srgbClr val="0070C0"/>
                </a:solidFill>
              </a:rPr>
              <a:t>success = true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>
                <a:solidFill>
                  <a:srgbClr val="0070C0"/>
                </a:solidFill>
              </a:rPr>
              <a:t>     } catch(Exception e) {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sz="1600" dirty="0">
                <a:solidFill>
                  <a:srgbClr val="0070C0"/>
                </a:solidFill>
              </a:rPr>
              <a:t>         delay(2000</a:t>
            </a:r>
            <a:r>
              <a:rPr lang="en-US" sz="1600" dirty="0" smtClean="0">
                <a:solidFill>
                  <a:srgbClr val="0070C0"/>
                </a:solidFill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sz="1600" dirty="0" smtClean="0">
                <a:solidFill>
                  <a:srgbClr val="0070C0"/>
                </a:solidFill>
              </a:rPr>
              <a:t>  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1600" dirty="0" smtClean="0">
                <a:solidFill>
                  <a:srgbClr val="0070C0"/>
                </a:solidFill>
              </a:rPr>
              <a:t>} 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15569" y="925904"/>
            <a:ext cx="3287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Relocation Transparency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251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 L -0.1875 0.0011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47" grpId="0" animBg="1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1344200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Scalability in </a:t>
            </a:r>
            <a:r>
              <a:rPr lang="en-US" sz="3600" dirty="0"/>
              <a:t>Distributed Systems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360" y="980728"/>
            <a:ext cx="11665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scalable distributed system can adapt to changes in demand by </a:t>
            </a:r>
            <a:r>
              <a:rPr lang="en-US" sz="2400" dirty="0">
                <a:solidFill>
                  <a:srgbClr val="FF0000"/>
                </a:solidFill>
              </a:rPr>
              <a:t>expanding its 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IN" sz="2400" dirty="0">
                <a:solidFill>
                  <a:srgbClr val="FF0000"/>
                </a:solidFill>
              </a:rPr>
              <a:t>resources </a:t>
            </a:r>
            <a:r>
              <a:rPr lang="en-IN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or </a:t>
            </a:r>
            <a:r>
              <a:rPr lang="en-US" sz="2400" dirty="0">
                <a:solidFill>
                  <a:srgbClr val="FF0000"/>
                </a:solidFill>
              </a:rPr>
              <a:t>redistributing tasks </a:t>
            </a:r>
            <a:r>
              <a:rPr lang="en-US" sz="2400" dirty="0"/>
              <a:t>effectively.</a:t>
            </a:r>
            <a:endParaRPr lang="en-IN" sz="2400" dirty="0"/>
          </a:p>
        </p:txBody>
      </p:sp>
      <p:sp>
        <p:nvSpPr>
          <p:cNvPr id="11" name="Rectangle 10"/>
          <p:cNvSpPr/>
          <p:nvPr/>
        </p:nvSpPr>
        <p:spPr>
          <a:xfrm>
            <a:off x="335360" y="2016512"/>
            <a:ext cx="83529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dirty="0" smtClean="0"/>
              <a:t>Vertical </a:t>
            </a:r>
            <a:r>
              <a:rPr lang="en-US" sz="2000" b="1" dirty="0"/>
              <a:t>Scalability (Scale-Up</a:t>
            </a:r>
            <a:r>
              <a:rPr lang="en-US" sz="2000" b="1" dirty="0" smtClean="0"/>
              <a:t>)</a:t>
            </a:r>
            <a:r>
              <a:rPr lang="en-US" sz="2000" dirty="0" smtClean="0"/>
              <a:t>: 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 Increasing </a:t>
            </a:r>
            <a:r>
              <a:rPr lang="en-US" sz="2000" dirty="0"/>
              <a:t>the capacity of existing nodes by adding </a:t>
            </a:r>
            <a:r>
              <a:rPr lang="en-US" sz="2000" dirty="0" smtClean="0"/>
              <a:t>more resources</a:t>
            </a:r>
            <a:endParaRPr lang="en-US" sz="2000" dirty="0"/>
          </a:p>
        </p:txBody>
      </p:sp>
      <p:pic>
        <p:nvPicPr>
          <p:cNvPr id="3075" name="Picture 3" descr="Vertical Scaling and Horizontal Scaling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1589405"/>
            <a:ext cx="2924175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35360" y="3284984"/>
            <a:ext cx="83529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b="1" dirty="0"/>
              <a:t>Horizontal Scalability (Scale-Out</a:t>
            </a:r>
            <a:r>
              <a:rPr lang="en-US" sz="2000" b="1" dirty="0" smtClean="0"/>
              <a:t>):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     </a:t>
            </a:r>
            <a:r>
              <a:rPr lang="en-US" sz="2000" dirty="0" smtClean="0"/>
              <a:t>Adding </a:t>
            </a:r>
            <a:r>
              <a:rPr lang="en-US" sz="2000" dirty="0"/>
              <a:t>more </a:t>
            </a:r>
            <a:r>
              <a:rPr lang="en-US" sz="2000" dirty="0" smtClean="0"/>
              <a:t>nodes </a:t>
            </a:r>
            <a:r>
              <a:rPr lang="en-US" sz="2000" dirty="0"/>
              <a:t>to the system to handle increased demand.</a:t>
            </a:r>
          </a:p>
        </p:txBody>
      </p:sp>
      <p:pic>
        <p:nvPicPr>
          <p:cNvPr id="3077" name="Picture 5" descr="horizontal-scal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3933056"/>
            <a:ext cx="4804643" cy="255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8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1344200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Scalability in </a:t>
            </a:r>
            <a:r>
              <a:rPr lang="en-US" sz="3600" dirty="0"/>
              <a:t>Distributed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360" y="4660916"/>
            <a:ext cx="6096000" cy="13603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SzPct val="90000"/>
              <a:defRPr/>
            </a:pPr>
            <a:r>
              <a:rPr lang="en-US" sz="2800" kern="0" dirty="0" smtClean="0"/>
              <a:t>Distributed Hash Table</a:t>
            </a:r>
            <a:endParaRPr lang="en-US" sz="2800" kern="0" dirty="0" smtClean="0">
              <a:sym typeface="Wingdings" pitchFamily="2" charset="2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en-US" sz="2600" b="1" kern="0" dirty="0" smtClean="0">
                <a:solidFill>
                  <a:srgbClr val="D60093"/>
                </a:solidFill>
                <a:cs typeface="Courier New" pitchFamily="49" charset="0"/>
              </a:rPr>
              <a:t>insert</a:t>
            </a:r>
            <a:r>
              <a:rPr lang="en-US" sz="2600" b="1" kern="0" dirty="0" smtClean="0">
                <a:cs typeface="Courier New" pitchFamily="49" charset="0"/>
              </a:rPr>
              <a:t>(key, value)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/>
            </a:pPr>
            <a:r>
              <a:rPr lang="en-US" sz="2600" b="1" kern="0" dirty="0" smtClean="0">
                <a:cs typeface="Courier New" pitchFamily="49" charset="0"/>
              </a:rPr>
              <a:t>value </a:t>
            </a:r>
            <a:r>
              <a:rPr lang="en-US" sz="2600" b="1" kern="0" dirty="0">
                <a:cs typeface="Courier New" pitchFamily="49" charset="0"/>
              </a:rPr>
              <a:t>= </a:t>
            </a:r>
            <a:r>
              <a:rPr lang="en-US" sz="2600" b="1" kern="0" dirty="0">
                <a:solidFill>
                  <a:srgbClr val="0000FF"/>
                </a:solidFill>
                <a:cs typeface="Courier New" pitchFamily="49" charset="0"/>
              </a:rPr>
              <a:t>lookup</a:t>
            </a:r>
            <a:r>
              <a:rPr lang="en-US" sz="2600" b="1" kern="0" dirty="0">
                <a:cs typeface="Courier New" pitchFamily="49" charset="0"/>
              </a:rPr>
              <a:t>(key)</a:t>
            </a:r>
          </a:p>
        </p:txBody>
      </p:sp>
      <p:grpSp>
        <p:nvGrpSpPr>
          <p:cNvPr id="724" name="Group 723"/>
          <p:cNvGrpSpPr/>
          <p:nvPr/>
        </p:nvGrpSpPr>
        <p:grpSpPr>
          <a:xfrm>
            <a:off x="4369543" y="1124744"/>
            <a:ext cx="7631113" cy="4124325"/>
            <a:chOff x="304800" y="1752600"/>
            <a:chExt cx="7631113" cy="4124325"/>
          </a:xfrm>
        </p:grpSpPr>
        <p:grpSp>
          <p:nvGrpSpPr>
            <p:cNvPr id="725" name="Group 2"/>
            <p:cNvGrpSpPr>
              <a:grpSpLocks/>
            </p:cNvGrpSpPr>
            <p:nvPr/>
          </p:nvGrpSpPr>
          <p:grpSpPr bwMode="auto">
            <a:xfrm>
              <a:off x="5105400" y="5029200"/>
              <a:ext cx="468313" cy="609600"/>
              <a:chOff x="240" y="1392"/>
              <a:chExt cx="295" cy="384"/>
            </a:xfrm>
          </p:grpSpPr>
          <p:grpSp>
            <p:nvGrpSpPr>
              <p:cNvPr id="856" name="Group 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858" name="Rectangle 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859" name="AutoShape 5"/>
                <p:cNvCxnSpPr>
                  <a:cxnSpLocks noChangeShapeType="1"/>
                  <a:stCxn id="858" idx="0"/>
                  <a:endCxn id="858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0" name="AutoShape 6"/>
                <p:cNvCxnSpPr>
                  <a:cxnSpLocks noChangeShapeType="1"/>
                  <a:stCxn id="858" idx="1"/>
                  <a:endCxn id="858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61" name="Line 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62" name="Line 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63" name="Line 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64" name="Line 1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857" name="Text Box 1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pic>
          <p:nvPicPr>
            <p:cNvPr id="726" name="Picture 1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8194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" name="Picture 1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0" y="2971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" name="Picture 1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38100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9" name="Picture 1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47244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0" name="Picture 1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600" y="3733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1" name="Picture 1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50292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2" name="Picture 1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800" y="22860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3" name="Picture 1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0400" y="39624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4" name="Picture 2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21336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5" name="Line 21"/>
            <p:cNvSpPr>
              <a:spLocks noChangeShapeType="1"/>
            </p:cNvSpPr>
            <p:nvPr/>
          </p:nvSpPr>
          <p:spPr bwMode="auto">
            <a:xfrm>
              <a:off x="1905000" y="3276600"/>
              <a:ext cx="76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6" name="Line 22"/>
            <p:cNvSpPr>
              <a:spLocks noChangeShapeType="1"/>
            </p:cNvSpPr>
            <p:nvPr/>
          </p:nvSpPr>
          <p:spPr bwMode="auto">
            <a:xfrm flipV="1">
              <a:off x="2057400" y="2286000"/>
              <a:ext cx="1828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7" name="Line 23"/>
            <p:cNvSpPr>
              <a:spLocks noChangeShapeType="1"/>
            </p:cNvSpPr>
            <p:nvPr/>
          </p:nvSpPr>
          <p:spPr bwMode="auto">
            <a:xfrm flipH="1">
              <a:off x="3886200" y="2590800"/>
              <a:ext cx="1524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8" name="Line 24"/>
            <p:cNvSpPr>
              <a:spLocks noChangeShapeType="1"/>
            </p:cNvSpPr>
            <p:nvPr/>
          </p:nvSpPr>
          <p:spPr bwMode="auto">
            <a:xfrm>
              <a:off x="1905000" y="4267200"/>
              <a:ext cx="304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39" name="Line 25"/>
            <p:cNvSpPr>
              <a:spLocks noChangeShapeType="1"/>
            </p:cNvSpPr>
            <p:nvPr/>
          </p:nvSpPr>
          <p:spPr bwMode="auto">
            <a:xfrm flipH="1">
              <a:off x="2514600" y="4191000"/>
              <a:ext cx="1219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0" name="Line 26"/>
            <p:cNvSpPr>
              <a:spLocks noChangeShapeType="1"/>
            </p:cNvSpPr>
            <p:nvPr/>
          </p:nvSpPr>
          <p:spPr bwMode="auto">
            <a:xfrm>
              <a:off x="4267200" y="2286000"/>
              <a:ext cx="914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1" name="Line 27"/>
            <p:cNvSpPr>
              <a:spLocks noChangeShapeType="1"/>
            </p:cNvSpPr>
            <p:nvPr/>
          </p:nvSpPr>
          <p:spPr bwMode="auto">
            <a:xfrm flipV="1">
              <a:off x="4038600" y="3200400"/>
              <a:ext cx="1066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2" name="Line 28"/>
            <p:cNvSpPr>
              <a:spLocks noChangeShapeType="1"/>
            </p:cNvSpPr>
            <p:nvPr/>
          </p:nvSpPr>
          <p:spPr bwMode="auto">
            <a:xfrm flipH="1">
              <a:off x="4953000" y="3429000"/>
              <a:ext cx="3048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3" name="Line 29"/>
            <p:cNvSpPr>
              <a:spLocks noChangeShapeType="1"/>
            </p:cNvSpPr>
            <p:nvPr/>
          </p:nvSpPr>
          <p:spPr bwMode="auto">
            <a:xfrm flipV="1">
              <a:off x="2667000" y="4953000"/>
              <a:ext cx="2057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4" name="Line 30"/>
            <p:cNvSpPr>
              <a:spLocks noChangeShapeType="1"/>
            </p:cNvSpPr>
            <p:nvPr/>
          </p:nvSpPr>
          <p:spPr bwMode="auto">
            <a:xfrm>
              <a:off x="4038600" y="4114800"/>
              <a:ext cx="762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5" name="Line 31"/>
            <p:cNvSpPr>
              <a:spLocks noChangeShapeType="1"/>
            </p:cNvSpPr>
            <p:nvPr/>
          </p:nvSpPr>
          <p:spPr bwMode="auto">
            <a:xfrm>
              <a:off x="4267200" y="2209800"/>
              <a:ext cx="2133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6" name="Line 32"/>
            <p:cNvSpPr>
              <a:spLocks noChangeShapeType="1"/>
            </p:cNvSpPr>
            <p:nvPr/>
          </p:nvSpPr>
          <p:spPr bwMode="auto">
            <a:xfrm>
              <a:off x="6629400" y="2743200"/>
              <a:ext cx="5334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7" name="Line 33"/>
            <p:cNvSpPr>
              <a:spLocks noChangeShapeType="1"/>
            </p:cNvSpPr>
            <p:nvPr/>
          </p:nvSpPr>
          <p:spPr bwMode="auto">
            <a:xfrm>
              <a:off x="5486400" y="3352800"/>
              <a:ext cx="1524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8" name="Line 34"/>
            <p:cNvSpPr>
              <a:spLocks noChangeShapeType="1"/>
            </p:cNvSpPr>
            <p:nvPr/>
          </p:nvSpPr>
          <p:spPr bwMode="auto">
            <a:xfrm flipV="1">
              <a:off x="5105400" y="4267200"/>
              <a:ext cx="1905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49" name="Line 35"/>
            <p:cNvSpPr>
              <a:spLocks noChangeShapeType="1"/>
            </p:cNvSpPr>
            <p:nvPr/>
          </p:nvSpPr>
          <p:spPr bwMode="auto">
            <a:xfrm>
              <a:off x="2209800" y="3124200"/>
              <a:ext cx="1447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pic>
          <p:nvPicPr>
            <p:cNvPr id="750" name="Picture 3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51816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1" name="Picture 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4876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2" name="Line 38"/>
            <p:cNvSpPr>
              <a:spLocks noChangeShapeType="1"/>
            </p:cNvSpPr>
            <p:nvPr/>
          </p:nvSpPr>
          <p:spPr bwMode="auto">
            <a:xfrm flipH="1">
              <a:off x="1219200" y="4267200"/>
              <a:ext cx="609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53" name="Line 39"/>
            <p:cNvSpPr>
              <a:spLocks noChangeShapeType="1"/>
            </p:cNvSpPr>
            <p:nvPr/>
          </p:nvSpPr>
          <p:spPr bwMode="auto">
            <a:xfrm>
              <a:off x="1219200" y="5029200"/>
              <a:ext cx="914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54" name="Line 40"/>
            <p:cNvSpPr>
              <a:spLocks noChangeShapeType="1"/>
            </p:cNvSpPr>
            <p:nvPr/>
          </p:nvSpPr>
          <p:spPr bwMode="auto">
            <a:xfrm>
              <a:off x="7239000" y="4419600"/>
              <a:ext cx="762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55" name="Line 41"/>
            <p:cNvSpPr>
              <a:spLocks noChangeShapeType="1"/>
            </p:cNvSpPr>
            <p:nvPr/>
          </p:nvSpPr>
          <p:spPr bwMode="auto">
            <a:xfrm>
              <a:off x="5105400" y="4953000"/>
              <a:ext cx="1981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756" name="Group 42"/>
            <p:cNvGrpSpPr>
              <a:grpSpLocks/>
            </p:cNvGrpSpPr>
            <p:nvPr/>
          </p:nvGrpSpPr>
          <p:grpSpPr bwMode="auto">
            <a:xfrm>
              <a:off x="1295400" y="2438400"/>
              <a:ext cx="468313" cy="609600"/>
              <a:chOff x="240" y="1392"/>
              <a:chExt cx="295" cy="384"/>
            </a:xfrm>
          </p:grpSpPr>
          <p:grpSp>
            <p:nvGrpSpPr>
              <p:cNvPr id="847" name="Group 4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849" name="Rectangle 4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850" name="AutoShape 45"/>
                <p:cNvCxnSpPr>
                  <a:cxnSpLocks noChangeShapeType="1"/>
                  <a:stCxn id="849" idx="0"/>
                  <a:endCxn id="849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51" name="AutoShape 46"/>
                <p:cNvCxnSpPr>
                  <a:cxnSpLocks noChangeShapeType="1"/>
                  <a:stCxn id="849" idx="1"/>
                  <a:endCxn id="849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52" name="Line 4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53" name="Line 4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54" name="Line 4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55" name="Line 5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848" name="Text Box 5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57" name="Group 52"/>
            <p:cNvGrpSpPr>
              <a:grpSpLocks/>
            </p:cNvGrpSpPr>
            <p:nvPr/>
          </p:nvGrpSpPr>
          <p:grpSpPr bwMode="auto">
            <a:xfrm>
              <a:off x="3429000" y="1752600"/>
              <a:ext cx="468313" cy="609600"/>
              <a:chOff x="240" y="1392"/>
              <a:chExt cx="295" cy="384"/>
            </a:xfrm>
          </p:grpSpPr>
          <p:grpSp>
            <p:nvGrpSpPr>
              <p:cNvPr id="838" name="Group 5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840" name="Rectangle 5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841" name="AutoShape 55"/>
                <p:cNvCxnSpPr>
                  <a:cxnSpLocks noChangeShapeType="1"/>
                  <a:stCxn id="840" idx="0"/>
                  <a:endCxn id="840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42" name="AutoShape 56"/>
                <p:cNvCxnSpPr>
                  <a:cxnSpLocks noChangeShapeType="1"/>
                  <a:stCxn id="840" idx="1"/>
                  <a:endCxn id="840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43" name="Line 5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44" name="Line 5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45" name="Line 5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46" name="Line 6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839" name="Text Box 6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58" name="Group 62"/>
            <p:cNvGrpSpPr>
              <a:grpSpLocks/>
            </p:cNvGrpSpPr>
            <p:nvPr/>
          </p:nvGrpSpPr>
          <p:grpSpPr bwMode="auto">
            <a:xfrm>
              <a:off x="5486400" y="2667000"/>
              <a:ext cx="468313" cy="609600"/>
              <a:chOff x="240" y="1392"/>
              <a:chExt cx="295" cy="384"/>
            </a:xfrm>
          </p:grpSpPr>
          <p:grpSp>
            <p:nvGrpSpPr>
              <p:cNvPr id="829" name="Group 6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831" name="Rectangle 6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832" name="AutoShape 65"/>
                <p:cNvCxnSpPr>
                  <a:cxnSpLocks noChangeShapeType="1"/>
                  <a:stCxn id="831" idx="0"/>
                  <a:endCxn id="831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33" name="AutoShape 66"/>
                <p:cNvCxnSpPr>
                  <a:cxnSpLocks noChangeShapeType="1"/>
                  <a:stCxn id="831" idx="1"/>
                  <a:endCxn id="831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34" name="Line 6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35" name="Line 6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36" name="Line 6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37" name="Line 7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830" name="Text Box 7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59" name="Group 72"/>
            <p:cNvGrpSpPr>
              <a:grpSpLocks/>
            </p:cNvGrpSpPr>
            <p:nvPr/>
          </p:nvGrpSpPr>
          <p:grpSpPr bwMode="auto">
            <a:xfrm>
              <a:off x="7391400" y="3581400"/>
              <a:ext cx="468313" cy="609600"/>
              <a:chOff x="240" y="1392"/>
              <a:chExt cx="295" cy="384"/>
            </a:xfrm>
          </p:grpSpPr>
          <p:grpSp>
            <p:nvGrpSpPr>
              <p:cNvPr id="820" name="Group 7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822" name="Rectangle 7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823" name="AutoShape 75"/>
                <p:cNvCxnSpPr>
                  <a:cxnSpLocks noChangeShapeType="1"/>
                  <a:stCxn id="822" idx="0"/>
                  <a:endCxn id="822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24" name="AutoShape 76"/>
                <p:cNvCxnSpPr>
                  <a:cxnSpLocks noChangeShapeType="1"/>
                  <a:stCxn id="822" idx="1"/>
                  <a:endCxn id="822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25" name="Line 7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26" name="Line 7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27" name="Line 7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28" name="Line 8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821" name="Text Box 8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60" name="Group 82"/>
            <p:cNvGrpSpPr>
              <a:grpSpLocks/>
            </p:cNvGrpSpPr>
            <p:nvPr/>
          </p:nvGrpSpPr>
          <p:grpSpPr bwMode="auto">
            <a:xfrm>
              <a:off x="6781800" y="1905000"/>
              <a:ext cx="468313" cy="609600"/>
              <a:chOff x="240" y="1392"/>
              <a:chExt cx="295" cy="384"/>
            </a:xfrm>
          </p:grpSpPr>
          <p:grpSp>
            <p:nvGrpSpPr>
              <p:cNvPr id="811" name="Group 8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813" name="Rectangle 8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814" name="AutoShape 85"/>
                <p:cNvCxnSpPr>
                  <a:cxnSpLocks noChangeShapeType="1"/>
                  <a:stCxn id="813" idx="0"/>
                  <a:endCxn id="813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15" name="AutoShape 86"/>
                <p:cNvCxnSpPr>
                  <a:cxnSpLocks noChangeShapeType="1"/>
                  <a:stCxn id="813" idx="1"/>
                  <a:endCxn id="813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16" name="Line 8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17" name="Line 8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18" name="Line 8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19" name="Line 9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812" name="Text Box 9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61" name="Group 92"/>
            <p:cNvGrpSpPr>
              <a:grpSpLocks/>
            </p:cNvGrpSpPr>
            <p:nvPr/>
          </p:nvGrpSpPr>
          <p:grpSpPr bwMode="auto">
            <a:xfrm>
              <a:off x="2514600" y="5257800"/>
              <a:ext cx="468313" cy="619125"/>
              <a:chOff x="1584" y="3552"/>
              <a:chExt cx="295" cy="390"/>
            </a:xfrm>
          </p:grpSpPr>
          <p:grpSp>
            <p:nvGrpSpPr>
              <p:cNvPr id="802" name="Group 93"/>
              <p:cNvGrpSpPr>
                <a:grpSpLocks/>
              </p:cNvGrpSpPr>
              <p:nvPr/>
            </p:nvGrpSpPr>
            <p:grpSpPr bwMode="auto">
              <a:xfrm>
                <a:off x="1632" y="3696"/>
                <a:ext cx="198" cy="246"/>
                <a:chOff x="282" y="1530"/>
                <a:chExt cx="252" cy="300"/>
              </a:xfrm>
            </p:grpSpPr>
            <p:sp>
              <p:nvSpPr>
                <p:cNvPr id="804" name="Rectangle 9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805" name="AutoShape 95"/>
                <p:cNvCxnSpPr>
                  <a:cxnSpLocks noChangeShapeType="1"/>
                  <a:stCxn id="804" idx="0"/>
                  <a:endCxn id="804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06" name="AutoShape 96"/>
                <p:cNvCxnSpPr>
                  <a:cxnSpLocks noChangeShapeType="1"/>
                  <a:stCxn id="804" idx="1"/>
                  <a:endCxn id="804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07" name="Line 9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08" name="Line 9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09" name="Line 9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10" name="Line 10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803" name="Text Box 101"/>
              <p:cNvSpPr txBox="1">
                <a:spLocks noChangeArrowheads="1"/>
              </p:cNvSpPr>
              <p:nvPr/>
            </p:nvSpPr>
            <p:spPr bwMode="auto">
              <a:xfrm>
                <a:off x="1584" y="355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62" name="Group 102"/>
            <p:cNvGrpSpPr>
              <a:grpSpLocks/>
            </p:cNvGrpSpPr>
            <p:nvPr/>
          </p:nvGrpSpPr>
          <p:grpSpPr bwMode="auto">
            <a:xfrm>
              <a:off x="7467600" y="4876800"/>
              <a:ext cx="468313" cy="609600"/>
              <a:chOff x="240" y="1392"/>
              <a:chExt cx="295" cy="384"/>
            </a:xfrm>
          </p:grpSpPr>
          <p:grpSp>
            <p:nvGrpSpPr>
              <p:cNvPr id="793" name="Group 10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795" name="Rectangle 10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796" name="AutoShape 105"/>
                <p:cNvCxnSpPr>
                  <a:cxnSpLocks noChangeShapeType="1"/>
                  <a:stCxn id="795" idx="0"/>
                  <a:endCxn id="795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7" name="AutoShape 106"/>
                <p:cNvCxnSpPr>
                  <a:cxnSpLocks noChangeShapeType="1"/>
                  <a:stCxn id="795" idx="1"/>
                  <a:endCxn id="795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98" name="Line 10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99" name="Line 10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00" name="Line 10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801" name="Line 11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794" name="Text Box 11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63" name="Group 112"/>
            <p:cNvGrpSpPr>
              <a:grpSpLocks/>
            </p:cNvGrpSpPr>
            <p:nvPr/>
          </p:nvGrpSpPr>
          <p:grpSpPr bwMode="auto">
            <a:xfrm>
              <a:off x="304800" y="4419600"/>
              <a:ext cx="468313" cy="609600"/>
              <a:chOff x="240" y="1392"/>
              <a:chExt cx="295" cy="384"/>
            </a:xfrm>
          </p:grpSpPr>
          <p:grpSp>
            <p:nvGrpSpPr>
              <p:cNvPr id="784" name="Group 11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786" name="Rectangle 11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787" name="AutoShape 115"/>
                <p:cNvCxnSpPr>
                  <a:cxnSpLocks noChangeShapeType="1"/>
                  <a:stCxn id="786" idx="0"/>
                  <a:endCxn id="786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88" name="AutoShape 116"/>
                <p:cNvCxnSpPr>
                  <a:cxnSpLocks noChangeShapeType="1"/>
                  <a:stCxn id="786" idx="1"/>
                  <a:endCxn id="786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89" name="Line 11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90" name="Line 11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91" name="Line 11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92" name="Line 12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785" name="Text Box 12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64" name="Group 122"/>
            <p:cNvGrpSpPr>
              <a:grpSpLocks/>
            </p:cNvGrpSpPr>
            <p:nvPr/>
          </p:nvGrpSpPr>
          <p:grpSpPr bwMode="auto">
            <a:xfrm>
              <a:off x="3429000" y="3124200"/>
              <a:ext cx="468313" cy="609600"/>
              <a:chOff x="240" y="1392"/>
              <a:chExt cx="295" cy="384"/>
            </a:xfrm>
          </p:grpSpPr>
          <p:grpSp>
            <p:nvGrpSpPr>
              <p:cNvPr id="775" name="Group 12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777" name="Rectangle 12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778" name="AutoShape 125"/>
                <p:cNvCxnSpPr>
                  <a:cxnSpLocks noChangeShapeType="1"/>
                  <a:stCxn id="777" idx="0"/>
                  <a:endCxn id="777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79" name="AutoShape 126"/>
                <p:cNvCxnSpPr>
                  <a:cxnSpLocks noChangeShapeType="1"/>
                  <a:stCxn id="777" idx="1"/>
                  <a:endCxn id="777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80" name="Line 12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81" name="Line 12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82" name="Line 12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83" name="Line 13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776" name="Text Box 13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765" name="Group 132"/>
            <p:cNvGrpSpPr>
              <a:grpSpLocks/>
            </p:cNvGrpSpPr>
            <p:nvPr/>
          </p:nvGrpSpPr>
          <p:grpSpPr bwMode="auto">
            <a:xfrm>
              <a:off x="2133600" y="3657600"/>
              <a:ext cx="468313" cy="609600"/>
              <a:chOff x="240" y="1392"/>
              <a:chExt cx="295" cy="384"/>
            </a:xfrm>
          </p:grpSpPr>
          <p:grpSp>
            <p:nvGrpSpPr>
              <p:cNvPr id="766" name="Group 133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768" name="Rectangle 134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769" name="AutoShape 135"/>
                <p:cNvCxnSpPr>
                  <a:cxnSpLocks noChangeShapeType="1"/>
                  <a:stCxn id="768" idx="0"/>
                  <a:endCxn id="768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70" name="AutoShape 136"/>
                <p:cNvCxnSpPr>
                  <a:cxnSpLocks noChangeShapeType="1"/>
                  <a:stCxn id="768" idx="1"/>
                  <a:endCxn id="768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71" name="Line 137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72" name="Line 138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73" name="Line 139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774" name="Line 140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767" name="Text Box 141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</p:grpSp>
      <p:grpSp>
        <p:nvGrpSpPr>
          <p:cNvPr id="1293" name="Group 1292"/>
          <p:cNvGrpSpPr/>
          <p:nvPr/>
        </p:nvGrpSpPr>
        <p:grpSpPr>
          <a:xfrm>
            <a:off x="4367808" y="1124744"/>
            <a:ext cx="7813204" cy="4250770"/>
            <a:chOff x="304800" y="1752600"/>
            <a:chExt cx="7813204" cy="4250770"/>
          </a:xfrm>
        </p:grpSpPr>
        <p:pic>
          <p:nvPicPr>
            <p:cNvPr id="1294" name="Picture 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8194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5" name="Picture 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0" y="2971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6" name="Picture 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38100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7" name="Picture 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47244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8" name="Picture 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7600" y="3733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9" name="Picture 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50292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0" name="Picture 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800" y="22860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1" name="Picture 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0400" y="39624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2" name="Picture 1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21336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3" name="Line 11"/>
            <p:cNvSpPr>
              <a:spLocks noChangeShapeType="1"/>
            </p:cNvSpPr>
            <p:nvPr/>
          </p:nvSpPr>
          <p:spPr bwMode="auto">
            <a:xfrm>
              <a:off x="1905000" y="3276600"/>
              <a:ext cx="762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4" name="Line 12"/>
            <p:cNvSpPr>
              <a:spLocks noChangeShapeType="1"/>
            </p:cNvSpPr>
            <p:nvPr/>
          </p:nvSpPr>
          <p:spPr bwMode="auto">
            <a:xfrm flipV="1">
              <a:off x="2057400" y="2286000"/>
              <a:ext cx="18288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5" name="Line 13"/>
            <p:cNvSpPr>
              <a:spLocks noChangeShapeType="1"/>
            </p:cNvSpPr>
            <p:nvPr/>
          </p:nvSpPr>
          <p:spPr bwMode="auto">
            <a:xfrm flipH="1">
              <a:off x="3886200" y="2590800"/>
              <a:ext cx="1524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6" name="Line 14"/>
            <p:cNvSpPr>
              <a:spLocks noChangeShapeType="1"/>
            </p:cNvSpPr>
            <p:nvPr/>
          </p:nvSpPr>
          <p:spPr bwMode="auto">
            <a:xfrm>
              <a:off x="1905000" y="4267200"/>
              <a:ext cx="304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7" name="Line 15"/>
            <p:cNvSpPr>
              <a:spLocks noChangeShapeType="1"/>
            </p:cNvSpPr>
            <p:nvPr/>
          </p:nvSpPr>
          <p:spPr bwMode="auto">
            <a:xfrm flipH="1">
              <a:off x="2514600" y="4191000"/>
              <a:ext cx="1219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8" name="Line 16"/>
            <p:cNvSpPr>
              <a:spLocks noChangeShapeType="1"/>
            </p:cNvSpPr>
            <p:nvPr/>
          </p:nvSpPr>
          <p:spPr bwMode="auto">
            <a:xfrm>
              <a:off x="4267200" y="2286000"/>
              <a:ext cx="914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9" name="Line 17"/>
            <p:cNvSpPr>
              <a:spLocks noChangeShapeType="1"/>
            </p:cNvSpPr>
            <p:nvPr/>
          </p:nvSpPr>
          <p:spPr bwMode="auto">
            <a:xfrm flipV="1">
              <a:off x="4038600" y="3200400"/>
              <a:ext cx="10668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0" name="Line 18"/>
            <p:cNvSpPr>
              <a:spLocks noChangeShapeType="1"/>
            </p:cNvSpPr>
            <p:nvPr/>
          </p:nvSpPr>
          <p:spPr bwMode="auto">
            <a:xfrm flipH="1">
              <a:off x="4953000" y="3429000"/>
              <a:ext cx="3048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" name="Line 19"/>
            <p:cNvSpPr>
              <a:spLocks noChangeShapeType="1"/>
            </p:cNvSpPr>
            <p:nvPr/>
          </p:nvSpPr>
          <p:spPr bwMode="auto">
            <a:xfrm flipV="1">
              <a:off x="2667000" y="4953000"/>
              <a:ext cx="2057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2" name="Line 20"/>
            <p:cNvSpPr>
              <a:spLocks noChangeShapeType="1"/>
            </p:cNvSpPr>
            <p:nvPr/>
          </p:nvSpPr>
          <p:spPr bwMode="auto">
            <a:xfrm>
              <a:off x="4038600" y="4114800"/>
              <a:ext cx="762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3" name="Line 21"/>
            <p:cNvSpPr>
              <a:spLocks noChangeShapeType="1"/>
            </p:cNvSpPr>
            <p:nvPr/>
          </p:nvSpPr>
          <p:spPr bwMode="auto">
            <a:xfrm>
              <a:off x="4267200" y="2209800"/>
              <a:ext cx="2133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4" name="Line 22"/>
            <p:cNvSpPr>
              <a:spLocks noChangeShapeType="1"/>
            </p:cNvSpPr>
            <p:nvPr/>
          </p:nvSpPr>
          <p:spPr bwMode="auto">
            <a:xfrm>
              <a:off x="6629400" y="2743200"/>
              <a:ext cx="5334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5" name="Line 23"/>
            <p:cNvSpPr>
              <a:spLocks noChangeShapeType="1"/>
            </p:cNvSpPr>
            <p:nvPr/>
          </p:nvSpPr>
          <p:spPr bwMode="auto">
            <a:xfrm>
              <a:off x="5486400" y="3352800"/>
              <a:ext cx="1524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6" name="Line 24"/>
            <p:cNvSpPr>
              <a:spLocks noChangeShapeType="1"/>
            </p:cNvSpPr>
            <p:nvPr/>
          </p:nvSpPr>
          <p:spPr bwMode="auto">
            <a:xfrm flipV="1">
              <a:off x="5105400" y="4267200"/>
              <a:ext cx="19050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7" name="Line 25"/>
            <p:cNvSpPr>
              <a:spLocks noChangeShapeType="1"/>
            </p:cNvSpPr>
            <p:nvPr/>
          </p:nvSpPr>
          <p:spPr bwMode="auto">
            <a:xfrm>
              <a:off x="2209800" y="3124200"/>
              <a:ext cx="1447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pic>
          <p:nvPicPr>
            <p:cNvPr id="1318" name="Picture 2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51816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9" name="Picture 2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4876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0" name="Line 28"/>
            <p:cNvSpPr>
              <a:spLocks noChangeShapeType="1"/>
            </p:cNvSpPr>
            <p:nvPr/>
          </p:nvSpPr>
          <p:spPr bwMode="auto">
            <a:xfrm flipH="1">
              <a:off x="1219200" y="4267200"/>
              <a:ext cx="609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1" name="Line 29"/>
            <p:cNvSpPr>
              <a:spLocks noChangeShapeType="1"/>
            </p:cNvSpPr>
            <p:nvPr/>
          </p:nvSpPr>
          <p:spPr bwMode="auto">
            <a:xfrm>
              <a:off x="1219200" y="5029200"/>
              <a:ext cx="914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2" name="Line 30"/>
            <p:cNvSpPr>
              <a:spLocks noChangeShapeType="1"/>
            </p:cNvSpPr>
            <p:nvPr/>
          </p:nvSpPr>
          <p:spPr bwMode="auto">
            <a:xfrm>
              <a:off x="7239000" y="4419600"/>
              <a:ext cx="762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3" name="Line 31"/>
            <p:cNvSpPr>
              <a:spLocks noChangeShapeType="1"/>
            </p:cNvSpPr>
            <p:nvPr/>
          </p:nvSpPr>
          <p:spPr bwMode="auto">
            <a:xfrm>
              <a:off x="5105400" y="4953000"/>
              <a:ext cx="19812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4" name="Line 32"/>
            <p:cNvSpPr>
              <a:spLocks noChangeShapeType="1"/>
            </p:cNvSpPr>
            <p:nvPr/>
          </p:nvSpPr>
          <p:spPr bwMode="auto">
            <a:xfrm flipH="1" flipV="1">
              <a:off x="7162800" y="4419600"/>
              <a:ext cx="76200" cy="685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5" name="Line 33"/>
            <p:cNvSpPr>
              <a:spLocks noChangeShapeType="1"/>
            </p:cNvSpPr>
            <p:nvPr/>
          </p:nvSpPr>
          <p:spPr bwMode="auto">
            <a:xfrm flipH="1" flipV="1">
              <a:off x="5486400" y="3429000"/>
              <a:ext cx="1524000" cy="838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6" name="Line 34"/>
            <p:cNvSpPr>
              <a:spLocks noChangeShapeType="1"/>
            </p:cNvSpPr>
            <p:nvPr/>
          </p:nvSpPr>
          <p:spPr bwMode="auto">
            <a:xfrm flipH="1" flipV="1">
              <a:off x="4343400" y="2514600"/>
              <a:ext cx="762000" cy="6096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7" name="Text Box 35"/>
            <p:cNvSpPr txBox="1">
              <a:spLocks noChangeArrowheads="1"/>
            </p:cNvSpPr>
            <p:nvPr/>
          </p:nvSpPr>
          <p:spPr bwMode="auto">
            <a:xfrm>
              <a:off x="6771160" y="5634038"/>
              <a:ext cx="13468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1" dirty="0" smtClean="0">
                  <a:solidFill>
                    <a:srgbClr val="FF0000"/>
                  </a:solidFill>
                </a:rPr>
                <a:t>lookup(K</a:t>
              </a:r>
              <a:r>
                <a:rPr lang="en-US" sz="1800" b="1" baseline="-25000" dirty="0" smtClean="0">
                  <a:solidFill>
                    <a:srgbClr val="FF0000"/>
                  </a:solidFill>
                </a:rPr>
                <a:t>1</a:t>
              </a:r>
              <a:r>
                <a:rPr lang="en-US" sz="1800" b="1" dirty="0">
                  <a:solidFill>
                    <a:srgbClr val="FF0000"/>
                  </a:solidFill>
                </a:rPr>
                <a:t>)</a:t>
              </a:r>
            </a:p>
          </p:txBody>
        </p:sp>
        <p:grpSp>
          <p:nvGrpSpPr>
            <p:cNvPr id="1328" name="Group 36"/>
            <p:cNvGrpSpPr>
              <a:grpSpLocks/>
            </p:cNvGrpSpPr>
            <p:nvPr/>
          </p:nvGrpSpPr>
          <p:grpSpPr bwMode="auto">
            <a:xfrm>
              <a:off x="5105400" y="5029200"/>
              <a:ext cx="468313" cy="609600"/>
              <a:chOff x="240" y="1392"/>
              <a:chExt cx="295" cy="384"/>
            </a:xfrm>
          </p:grpSpPr>
          <p:grpSp>
            <p:nvGrpSpPr>
              <p:cNvPr id="1428" name="Group 3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430" name="Rectangle 3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431" name="AutoShape 39"/>
                <p:cNvCxnSpPr>
                  <a:cxnSpLocks noChangeShapeType="1"/>
                  <a:stCxn id="1430" idx="0"/>
                  <a:endCxn id="1430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32" name="AutoShape 40"/>
                <p:cNvCxnSpPr>
                  <a:cxnSpLocks noChangeShapeType="1"/>
                  <a:stCxn id="1430" idx="1"/>
                  <a:endCxn id="1430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433" name="Line 4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34" name="Line 4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35" name="Line 4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36" name="Line 4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429" name="Text Box 4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29" name="Group 46"/>
            <p:cNvGrpSpPr>
              <a:grpSpLocks/>
            </p:cNvGrpSpPr>
            <p:nvPr/>
          </p:nvGrpSpPr>
          <p:grpSpPr bwMode="auto">
            <a:xfrm>
              <a:off x="1295400" y="2438400"/>
              <a:ext cx="468313" cy="609600"/>
              <a:chOff x="240" y="1392"/>
              <a:chExt cx="295" cy="384"/>
            </a:xfrm>
          </p:grpSpPr>
          <p:grpSp>
            <p:nvGrpSpPr>
              <p:cNvPr id="1419" name="Group 4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421" name="Rectangle 4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422" name="AutoShape 49"/>
                <p:cNvCxnSpPr>
                  <a:cxnSpLocks noChangeShapeType="1"/>
                  <a:stCxn id="1421" idx="0"/>
                  <a:endCxn id="1421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23" name="AutoShape 50"/>
                <p:cNvCxnSpPr>
                  <a:cxnSpLocks noChangeShapeType="1"/>
                  <a:stCxn id="1421" idx="1"/>
                  <a:endCxn id="1421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424" name="Line 5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25" name="Line 5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26" name="Line 5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27" name="Line 5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420" name="Text Box 5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0" name="Group 56"/>
            <p:cNvGrpSpPr>
              <a:grpSpLocks/>
            </p:cNvGrpSpPr>
            <p:nvPr/>
          </p:nvGrpSpPr>
          <p:grpSpPr bwMode="auto">
            <a:xfrm>
              <a:off x="5486400" y="2667000"/>
              <a:ext cx="468313" cy="609600"/>
              <a:chOff x="240" y="1392"/>
              <a:chExt cx="295" cy="384"/>
            </a:xfrm>
          </p:grpSpPr>
          <p:grpSp>
            <p:nvGrpSpPr>
              <p:cNvPr id="1410" name="Group 5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412" name="Rectangle 5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413" name="AutoShape 59"/>
                <p:cNvCxnSpPr>
                  <a:cxnSpLocks noChangeShapeType="1"/>
                  <a:stCxn id="1412" idx="0"/>
                  <a:endCxn id="1412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14" name="AutoShape 60"/>
                <p:cNvCxnSpPr>
                  <a:cxnSpLocks noChangeShapeType="1"/>
                  <a:stCxn id="1412" idx="1"/>
                  <a:endCxn id="1412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415" name="Line 6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16" name="Line 6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17" name="Line 6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18" name="Line 6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411" name="Text Box 6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1" name="Group 66"/>
            <p:cNvGrpSpPr>
              <a:grpSpLocks/>
            </p:cNvGrpSpPr>
            <p:nvPr/>
          </p:nvGrpSpPr>
          <p:grpSpPr bwMode="auto">
            <a:xfrm>
              <a:off x="7391400" y="3581400"/>
              <a:ext cx="468313" cy="609600"/>
              <a:chOff x="240" y="1392"/>
              <a:chExt cx="295" cy="384"/>
            </a:xfrm>
          </p:grpSpPr>
          <p:grpSp>
            <p:nvGrpSpPr>
              <p:cNvPr id="1401" name="Group 6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403" name="Rectangle 6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404" name="AutoShape 69"/>
                <p:cNvCxnSpPr>
                  <a:cxnSpLocks noChangeShapeType="1"/>
                  <a:stCxn id="1403" idx="0"/>
                  <a:endCxn id="1403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05" name="AutoShape 70"/>
                <p:cNvCxnSpPr>
                  <a:cxnSpLocks noChangeShapeType="1"/>
                  <a:stCxn id="1403" idx="1"/>
                  <a:endCxn id="1403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406" name="Line 7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07" name="Line 7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08" name="Line 7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09" name="Line 7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402" name="Text Box 7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2" name="Group 76"/>
            <p:cNvGrpSpPr>
              <a:grpSpLocks/>
            </p:cNvGrpSpPr>
            <p:nvPr/>
          </p:nvGrpSpPr>
          <p:grpSpPr bwMode="auto">
            <a:xfrm>
              <a:off x="6781800" y="1905000"/>
              <a:ext cx="468313" cy="609600"/>
              <a:chOff x="240" y="1392"/>
              <a:chExt cx="295" cy="384"/>
            </a:xfrm>
          </p:grpSpPr>
          <p:grpSp>
            <p:nvGrpSpPr>
              <p:cNvPr id="1392" name="Group 7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394" name="Rectangle 7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395" name="AutoShape 79"/>
                <p:cNvCxnSpPr>
                  <a:cxnSpLocks noChangeShapeType="1"/>
                  <a:stCxn id="1394" idx="0"/>
                  <a:endCxn id="1394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96" name="AutoShape 80"/>
                <p:cNvCxnSpPr>
                  <a:cxnSpLocks noChangeShapeType="1"/>
                  <a:stCxn id="1394" idx="1"/>
                  <a:endCxn id="1394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397" name="Line 8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98" name="Line 8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99" name="Line 8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400" name="Line 8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393" name="Text Box 8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3" name="Group 86"/>
            <p:cNvGrpSpPr>
              <a:grpSpLocks/>
            </p:cNvGrpSpPr>
            <p:nvPr/>
          </p:nvGrpSpPr>
          <p:grpSpPr bwMode="auto">
            <a:xfrm>
              <a:off x="2514600" y="5257800"/>
              <a:ext cx="468313" cy="619125"/>
              <a:chOff x="1584" y="3552"/>
              <a:chExt cx="295" cy="390"/>
            </a:xfrm>
          </p:grpSpPr>
          <p:grpSp>
            <p:nvGrpSpPr>
              <p:cNvPr id="1383" name="Group 87"/>
              <p:cNvGrpSpPr>
                <a:grpSpLocks/>
              </p:cNvGrpSpPr>
              <p:nvPr/>
            </p:nvGrpSpPr>
            <p:grpSpPr bwMode="auto">
              <a:xfrm>
                <a:off x="1632" y="3696"/>
                <a:ext cx="198" cy="246"/>
                <a:chOff x="282" y="1530"/>
                <a:chExt cx="252" cy="300"/>
              </a:xfrm>
            </p:grpSpPr>
            <p:sp>
              <p:nvSpPr>
                <p:cNvPr id="1385" name="Rectangle 8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386" name="AutoShape 89"/>
                <p:cNvCxnSpPr>
                  <a:cxnSpLocks noChangeShapeType="1"/>
                  <a:stCxn id="1385" idx="0"/>
                  <a:endCxn id="1385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87" name="AutoShape 90"/>
                <p:cNvCxnSpPr>
                  <a:cxnSpLocks noChangeShapeType="1"/>
                  <a:stCxn id="1385" idx="1"/>
                  <a:endCxn id="1385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388" name="Line 9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89" name="Line 9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90" name="Line 9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91" name="Line 9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384" name="Text Box 95"/>
              <p:cNvSpPr txBox="1">
                <a:spLocks noChangeArrowheads="1"/>
              </p:cNvSpPr>
              <p:nvPr/>
            </p:nvSpPr>
            <p:spPr bwMode="auto">
              <a:xfrm>
                <a:off x="1584" y="355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4" name="Group 96"/>
            <p:cNvGrpSpPr>
              <a:grpSpLocks/>
            </p:cNvGrpSpPr>
            <p:nvPr/>
          </p:nvGrpSpPr>
          <p:grpSpPr bwMode="auto">
            <a:xfrm>
              <a:off x="7467600" y="4876800"/>
              <a:ext cx="468313" cy="609600"/>
              <a:chOff x="240" y="1392"/>
              <a:chExt cx="295" cy="384"/>
            </a:xfrm>
          </p:grpSpPr>
          <p:grpSp>
            <p:nvGrpSpPr>
              <p:cNvPr id="1374" name="Group 9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376" name="Rectangle 9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377" name="AutoShape 99"/>
                <p:cNvCxnSpPr>
                  <a:cxnSpLocks noChangeShapeType="1"/>
                  <a:stCxn id="1376" idx="0"/>
                  <a:endCxn id="1376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78" name="AutoShape 100"/>
                <p:cNvCxnSpPr>
                  <a:cxnSpLocks noChangeShapeType="1"/>
                  <a:stCxn id="1376" idx="1"/>
                  <a:endCxn id="1376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379" name="Line 10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80" name="Line 10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81" name="Line 10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82" name="Line 10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375" name="Text Box 10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5" name="Group 106"/>
            <p:cNvGrpSpPr>
              <a:grpSpLocks/>
            </p:cNvGrpSpPr>
            <p:nvPr/>
          </p:nvGrpSpPr>
          <p:grpSpPr bwMode="auto">
            <a:xfrm>
              <a:off x="304800" y="4419600"/>
              <a:ext cx="468313" cy="609600"/>
              <a:chOff x="240" y="1392"/>
              <a:chExt cx="295" cy="384"/>
            </a:xfrm>
          </p:grpSpPr>
          <p:grpSp>
            <p:nvGrpSpPr>
              <p:cNvPr id="1365" name="Group 10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367" name="Rectangle 10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368" name="AutoShape 109"/>
                <p:cNvCxnSpPr>
                  <a:cxnSpLocks noChangeShapeType="1"/>
                  <a:stCxn id="1367" idx="0"/>
                  <a:endCxn id="1367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69" name="AutoShape 110"/>
                <p:cNvCxnSpPr>
                  <a:cxnSpLocks noChangeShapeType="1"/>
                  <a:stCxn id="1367" idx="1"/>
                  <a:endCxn id="1367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370" name="Line 11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71" name="Line 11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72" name="Line 11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73" name="Line 11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366" name="Text Box 11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6" name="Group 116"/>
            <p:cNvGrpSpPr>
              <a:grpSpLocks/>
            </p:cNvGrpSpPr>
            <p:nvPr/>
          </p:nvGrpSpPr>
          <p:grpSpPr bwMode="auto">
            <a:xfrm>
              <a:off x="3429000" y="3124200"/>
              <a:ext cx="468313" cy="609600"/>
              <a:chOff x="240" y="1392"/>
              <a:chExt cx="295" cy="384"/>
            </a:xfrm>
          </p:grpSpPr>
          <p:grpSp>
            <p:nvGrpSpPr>
              <p:cNvPr id="1356" name="Group 11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358" name="Rectangle 11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359" name="AutoShape 119"/>
                <p:cNvCxnSpPr>
                  <a:cxnSpLocks noChangeShapeType="1"/>
                  <a:stCxn id="1358" idx="0"/>
                  <a:endCxn id="1358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60" name="AutoShape 120"/>
                <p:cNvCxnSpPr>
                  <a:cxnSpLocks noChangeShapeType="1"/>
                  <a:stCxn id="1358" idx="1"/>
                  <a:endCxn id="1358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361" name="Line 12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62" name="Line 12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63" name="Line 12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64" name="Line 12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357" name="Text Box 12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7" name="Group 126"/>
            <p:cNvGrpSpPr>
              <a:grpSpLocks/>
            </p:cNvGrpSpPr>
            <p:nvPr/>
          </p:nvGrpSpPr>
          <p:grpSpPr bwMode="auto">
            <a:xfrm>
              <a:off x="2133600" y="3657600"/>
              <a:ext cx="468313" cy="609600"/>
              <a:chOff x="240" y="1392"/>
              <a:chExt cx="295" cy="384"/>
            </a:xfrm>
          </p:grpSpPr>
          <p:grpSp>
            <p:nvGrpSpPr>
              <p:cNvPr id="1347" name="Group 127"/>
              <p:cNvGrpSpPr>
                <a:grpSpLocks/>
              </p:cNvGrpSpPr>
              <p:nvPr/>
            </p:nvGrpSpPr>
            <p:grpSpPr bwMode="auto">
              <a:xfrm>
                <a:off x="282" y="1530"/>
                <a:ext cx="198" cy="246"/>
                <a:chOff x="282" y="1530"/>
                <a:chExt cx="252" cy="300"/>
              </a:xfrm>
            </p:grpSpPr>
            <p:sp>
              <p:nvSpPr>
                <p:cNvPr id="1349" name="Rectangle 128"/>
                <p:cNvSpPr>
                  <a:spLocks noChangeArrowheads="1"/>
                </p:cNvSpPr>
                <p:nvPr/>
              </p:nvSpPr>
              <p:spPr bwMode="auto">
                <a:xfrm>
                  <a:off x="288" y="1536"/>
                  <a:ext cx="239" cy="28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350" name="AutoShape 129"/>
                <p:cNvCxnSpPr>
                  <a:cxnSpLocks noChangeShapeType="1"/>
                  <a:stCxn id="1349" idx="0"/>
                  <a:endCxn id="1349" idx="2"/>
                </p:cNvCxnSpPr>
                <p:nvPr/>
              </p:nvCxnSpPr>
              <p:spPr bwMode="auto">
                <a:xfrm>
                  <a:off x="408" y="1530"/>
                  <a:ext cx="0" cy="30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51" name="AutoShape 130"/>
                <p:cNvCxnSpPr>
                  <a:cxnSpLocks noChangeShapeType="1"/>
                  <a:stCxn id="1349" idx="1"/>
                  <a:endCxn id="1349" idx="3"/>
                </p:cNvCxnSpPr>
                <p:nvPr/>
              </p:nvCxnSpPr>
              <p:spPr bwMode="auto">
                <a:xfrm>
                  <a:off x="282" y="1680"/>
                  <a:ext cx="25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352" name="Line 131"/>
                <p:cNvSpPr>
                  <a:spLocks noChangeShapeType="1"/>
                </p:cNvSpPr>
                <p:nvPr/>
              </p:nvSpPr>
              <p:spPr bwMode="auto">
                <a:xfrm>
                  <a:off x="288" y="158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53" name="Line 132"/>
                <p:cNvSpPr>
                  <a:spLocks noChangeShapeType="1"/>
                </p:cNvSpPr>
                <p:nvPr/>
              </p:nvSpPr>
              <p:spPr bwMode="auto">
                <a:xfrm>
                  <a:off x="288" y="163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54" name="Line 133"/>
                <p:cNvSpPr>
                  <a:spLocks noChangeShapeType="1"/>
                </p:cNvSpPr>
                <p:nvPr/>
              </p:nvSpPr>
              <p:spPr bwMode="auto">
                <a:xfrm>
                  <a:off x="288" y="172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355" name="Line 134"/>
                <p:cNvSpPr>
                  <a:spLocks noChangeShapeType="1"/>
                </p:cNvSpPr>
                <p:nvPr/>
              </p:nvSpPr>
              <p:spPr bwMode="auto">
                <a:xfrm>
                  <a:off x="288" y="177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1348" name="Text Box 135"/>
              <p:cNvSpPr txBox="1">
                <a:spLocks noChangeArrowheads="1"/>
              </p:cNvSpPr>
              <p:nvPr/>
            </p:nvSpPr>
            <p:spPr bwMode="auto">
              <a:xfrm>
                <a:off x="240" y="1392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  <p:grpSp>
          <p:nvGrpSpPr>
            <p:cNvPr id="1338" name="Group 136"/>
            <p:cNvGrpSpPr>
              <a:grpSpLocks/>
            </p:cNvGrpSpPr>
            <p:nvPr/>
          </p:nvGrpSpPr>
          <p:grpSpPr bwMode="auto">
            <a:xfrm>
              <a:off x="3429000" y="1752600"/>
              <a:ext cx="468313" cy="609600"/>
              <a:chOff x="2160" y="1344"/>
              <a:chExt cx="295" cy="384"/>
            </a:xfrm>
          </p:grpSpPr>
          <p:sp>
            <p:nvSpPr>
              <p:cNvPr id="1339" name="Rectangle 137"/>
              <p:cNvSpPr>
                <a:spLocks noChangeArrowheads="1"/>
              </p:cNvSpPr>
              <p:nvPr/>
            </p:nvSpPr>
            <p:spPr bwMode="auto">
              <a:xfrm>
                <a:off x="2207" y="1487"/>
                <a:ext cx="188" cy="236"/>
              </a:xfrm>
              <a:prstGeom prst="rect">
                <a:avLst/>
              </a:prstGeom>
              <a:noFill/>
              <a:ln w="19050">
                <a:solidFill>
                  <a:srgbClr val="FF33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cxnSp>
            <p:nvCxnSpPr>
              <p:cNvPr id="1340" name="AutoShape 138"/>
              <p:cNvCxnSpPr>
                <a:cxnSpLocks noChangeShapeType="1"/>
                <a:stCxn id="1339" idx="0"/>
                <a:endCxn id="1339" idx="2"/>
              </p:cNvCxnSpPr>
              <p:nvPr/>
            </p:nvCxnSpPr>
            <p:spPr bwMode="auto">
              <a:xfrm>
                <a:off x="2301" y="1482"/>
                <a:ext cx="0" cy="246"/>
              </a:xfrm>
              <a:prstGeom prst="straightConnector1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41" name="AutoShape 139"/>
              <p:cNvCxnSpPr>
                <a:cxnSpLocks noChangeShapeType="1"/>
                <a:stCxn id="1339" idx="1"/>
                <a:endCxn id="1339" idx="3"/>
              </p:cNvCxnSpPr>
              <p:nvPr/>
            </p:nvCxnSpPr>
            <p:spPr bwMode="auto">
              <a:xfrm>
                <a:off x="2202" y="1605"/>
                <a:ext cx="198" cy="0"/>
              </a:xfrm>
              <a:prstGeom prst="straightConnector1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42" name="Line 140"/>
              <p:cNvSpPr>
                <a:spLocks noChangeShapeType="1"/>
              </p:cNvSpPr>
              <p:nvPr/>
            </p:nvSpPr>
            <p:spPr bwMode="auto">
              <a:xfrm>
                <a:off x="2207" y="1526"/>
                <a:ext cx="188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43" name="Line 141"/>
              <p:cNvSpPr>
                <a:spLocks noChangeShapeType="1"/>
              </p:cNvSpPr>
              <p:nvPr/>
            </p:nvSpPr>
            <p:spPr bwMode="auto">
              <a:xfrm>
                <a:off x="2207" y="1566"/>
                <a:ext cx="188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44" name="Line 142"/>
              <p:cNvSpPr>
                <a:spLocks noChangeShapeType="1"/>
              </p:cNvSpPr>
              <p:nvPr/>
            </p:nvSpPr>
            <p:spPr bwMode="auto">
              <a:xfrm>
                <a:off x="2207" y="1644"/>
                <a:ext cx="188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45" name="Line 143"/>
              <p:cNvSpPr>
                <a:spLocks noChangeShapeType="1"/>
              </p:cNvSpPr>
              <p:nvPr/>
            </p:nvSpPr>
            <p:spPr bwMode="auto">
              <a:xfrm>
                <a:off x="2207" y="1684"/>
                <a:ext cx="188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46" name="Text Box 144"/>
              <p:cNvSpPr txBox="1">
                <a:spLocks noChangeArrowheads="1"/>
              </p:cNvSpPr>
              <p:nvPr/>
            </p:nvSpPr>
            <p:spPr bwMode="auto">
              <a:xfrm>
                <a:off x="2160" y="1344"/>
                <a:ext cx="29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200">
                    <a:solidFill>
                      <a:schemeClr val="tx2"/>
                    </a:solidFill>
                    <a:latin typeface="Comic Sans MS" panose="030F0702030302020204" pitchFamily="66" charset="0"/>
                  </a:rPr>
                  <a:t>K  V</a:t>
                </a: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4293343" y="980728"/>
            <a:ext cx="7707313" cy="4276725"/>
            <a:chOff x="1701055" y="1600200"/>
            <a:chExt cx="7707313" cy="4276725"/>
          </a:xfrm>
        </p:grpSpPr>
        <p:grpSp>
          <p:nvGrpSpPr>
            <p:cNvPr id="1437" name="Group 1436"/>
            <p:cNvGrpSpPr/>
            <p:nvPr/>
          </p:nvGrpSpPr>
          <p:grpSpPr>
            <a:xfrm>
              <a:off x="1701055" y="1752600"/>
              <a:ext cx="7707313" cy="4124325"/>
              <a:chOff x="228600" y="1752600"/>
              <a:chExt cx="7707313" cy="4124325"/>
            </a:xfrm>
          </p:grpSpPr>
          <p:pic>
            <p:nvPicPr>
              <p:cNvPr id="1438" name="Picture 2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6400" y="28194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39" name="Picture 3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05400" y="29718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0" name="Picture 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6400" y="38100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1" name="Picture 5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4400" y="47244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2" name="Picture 6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57600" y="37338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3" name="Picture 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33600" y="50292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4" name="Picture 8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00800" y="22860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5" name="Picture 9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10400" y="39624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6" name="Picture 10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0000" y="21336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7" name="Line 11"/>
              <p:cNvSpPr>
                <a:spLocks noChangeShapeType="1"/>
              </p:cNvSpPr>
              <p:nvPr/>
            </p:nvSpPr>
            <p:spPr bwMode="auto">
              <a:xfrm>
                <a:off x="1905000" y="3276600"/>
                <a:ext cx="76200" cy="457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48" name="Line 12"/>
              <p:cNvSpPr>
                <a:spLocks noChangeShapeType="1"/>
              </p:cNvSpPr>
              <p:nvPr/>
            </p:nvSpPr>
            <p:spPr bwMode="auto">
              <a:xfrm flipV="1">
                <a:off x="2057400" y="2286000"/>
                <a:ext cx="182880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49" name="Line 13"/>
              <p:cNvSpPr>
                <a:spLocks noChangeShapeType="1"/>
              </p:cNvSpPr>
              <p:nvPr/>
            </p:nvSpPr>
            <p:spPr bwMode="auto">
              <a:xfrm flipH="1">
                <a:off x="3886200" y="2590800"/>
                <a:ext cx="152400" cy="1143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0" name="Line 14"/>
              <p:cNvSpPr>
                <a:spLocks noChangeShapeType="1"/>
              </p:cNvSpPr>
              <p:nvPr/>
            </p:nvSpPr>
            <p:spPr bwMode="auto">
              <a:xfrm>
                <a:off x="1905000" y="4267200"/>
                <a:ext cx="30480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1" name="Line 15"/>
              <p:cNvSpPr>
                <a:spLocks noChangeShapeType="1"/>
              </p:cNvSpPr>
              <p:nvPr/>
            </p:nvSpPr>
            <p:spPr bwMode="auto">
              <a:xfrm flipH="1">
                <a:off x="2514600" y="4191000"/>
                <a:ext cx="1219200" cy="838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2" name="Line 16"/>
              <p:cNvSpPr>
                <a:spLocks noChangeShapeType="1"/>
              </p:cNvSpPr>
              <p:nvPr/>
            </p:nvSpPr>
            <p:spPr bwMode="auto">
              <a:xfrm>
                <a:off x="4267200" y="2286000"/>
                <a:ext cx="91440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3" name="Line 17"/>
              <p:cNvSpPr>
                <a:spLocks noChangeShapeType="1"/>
              </p:cNvSpPr>
              <p:nvPr/>
            </p:nvSpPr>
            <p:spPr bwMode="auto">
              <a:xfrm flipV="1">
                <a:off x="4038600" y="3200400"/>
                <a:ext cx="10668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4" name="Line 18"/>
              <p:cNvSpPr>
                <a:spLocks noChangeShapeType="1"/>
              </p:cNvSpPr>
              <p:nvPr/>
            </p:nvSpPr>
            <p:spPr bwMode="auto">
              <a:xfrm flipH="1">
                <a:off x="4953000" y="3429000"/>
                <a:ext cx="304800" cy="1219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5" name="Line 19"/>
              <p:cNvSpPr>
                <a:spLocks noChangeShapeType="1"/>
              </p:cNvSpPr>
              <p:nvPr/>
            </p:nvSpPr>
            <p:spPr bwMode="auto">
              <a:xfrm flipV="1">
                <a:off x="2667000" y="4953000"/>
                <a:ext cx="20574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6" name="Line 20"/>
              <p:cNvSpPr>
                <a:spLocks noChangeShapeType="1"/>
              </p:cNvSpPr>
              <p:nvPr/>
            </p:nvSpPr>
            <p:spPr bwMode="auto">
              <a:xfrm>
                <a:off x="4038600" y="4114800"/>
                <a:ext cx="76200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7" name="Line 21"/>
              <p:cNvSpPr>
                <a:spLocks noChangeShapeType="1"/>
              </p:cNvSpPr>
              <p:nvPr/>
            </p:nvSpPr>
            <p:spPr bwMode="auto">
              <a:xfrm>
                <a:off x="4267200" y="2209800"/>
                <a:ext cx="21336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8" name="Line 22"/>
              <p:cNvSpPr>
                <a:spLocks noChangeShapeType="1"/>
              </p:cNvSpPr>
              <p:nvPr/>
            </p:nvSpPr>
            <p:spPr bwMode="auto">
              <a:xfrm>
                <a:off x="6629400" y="2743200"/>
                <a:ext cx="533400" cy="1219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59" name="Line 23"/>
              <p:cNvSpPr>
                <a:spLocks noChangeShapeType="1"/>
              </p:cNvSpPr>
              <p:nvPr/>
            </p:nvSpPr>
            <p:spPr bwMode="auto">
              <a:xfrm>
                <a:off x="5486400" y="3352800"/>
                <a:ext cx="1524000" cy="838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60" name="Line 24"/>
              <p:cNvSpPr>
                <a:spLocks noChangeShapeType="1"/>
              </p:cNvSpPr>
              <p:nvPr/>
            </p:nvSpPr>
            <p:spPr bwMode="auto">
              <a:xfrm flipV="1">
                <a:off x="5105400" y="4267200"/>
                <a:ext cx="190500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61" name="Line 25"/>
              <p:cNvSpPr>
                <a:spLocks noChangeShapeType="1"/>
              </p:cNvSpPr>
              <p:nvPr/>
            </p:nvSpPr>
            <p:spPr bwMode="auto">
              <a:xfrm>
                <a:off x="2209800" y="3124200"/>
                <a:ext cx="144780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pic>
            <p:nvPicPr>
              <p:cNvPr id="1462" name="Picture 26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86600" y="51816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63" name="Picture 2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00" y="48768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4" name="Line 28"/>
              <p:cNvSpPr>
                <a:spLocks noChangeShapeType="1"/>
              </p:cNvSpPr>
              <p:nvPr/>
            </p:nvSpPr>
            <p:spPr bwMode="auto">
              <a:xfrm flipH="1">
                <a:off x="1219200" y="4267200"/>
                <a:ext cx="609600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65" name="Line 29"/>
              <p:cNvSpPr>
                <a:spLocks noChangeShapeType="1"/>
              </p:cNvSpPr>
              <p:nvPr/>
            </p:nvSpPr>
            <p:spPr bwMode="auto">
              <a:xfrm>
                <a:off x="1219200" y="5029200"/>
                <a:ext cx="91440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66" name="Line 30"/>
              <p:cNvSpPr>
                <a:spLocks noChangeShapeType="1"/>
              </p:cNvSpPr>
              <p:nvPr/>
            </p:nvSpPr>
            <p:spPr bwMode="auto">
              <a:xfrm>
                <a:off x="7239000" y="4419600"/>
                <a:ext cx="7620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67" name="Line 31"/>
              <p:cNvSpPr>
                <a:spLocks noChangeShapeType="1"/>
              </p:cNvSpPr>
              <p:nvPr/>
            </p:nvSpPr>
            <p:spPr bwMode="auto">
              <a:xfrm>
                <a:off x="5105400" y="4953000"/>
                <a:ext cx="198120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68" name="Line 32"/>
              <p:cNvSpPr>
                <a:spLocks noChangeShapeType="1"/>
              </p:cNvSpPr>
              <p:nvPr/>
            </p:nvSpPr>
            <p:spPr bwMode="auto">
              <a:xfrm flipV="1">
                <a:off x="1066800" y="4267200"/>
                <a:ext cx="609600" cy="60960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69" name="Line 33"/>
              <p:cNvSpPr>
                <a:spLocks noChangeShapeType="1"/>
              </p:cNvSpPr>
              <p:nvPr/>
            </p:nvSpPr>
            <p:spPr bwMode="auto">
              <a:xfrm flipV="1">
                <a:off x="1828800" y="3276600"/>
                <a:ext cx="0" cy="45720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70" name="Line 34"/>
              <p:cNvSpPr>
                <a:spLocks noChangeShapeType="1"/>
              </p:cNvSpPr>
              <p:nvPr/>
            </p:nvSpPr>
            <p:spPr bwMode="auto">
              <a:xfrm flipV="1">
                <a:off x="2133600" y="2438400"/>
                <a:ext cx="1676400" cy="53340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71" name="Text Box 35"/>
              <p:cNvSpPr txBox="1">
                <a:spLocks noChangeArrowheads="1"/>
              </p:cNvSpPr>
              <p:nvPr/>
            </p:nvSpPr>
            <p:spPr bwMode="auto">
              <a:xfrm>
                <a:off x="228600" y="5348288"/>
                <a:ext cx="1531938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b="1">
                    <a:solidFill>
                      <a:srgbClr val="FF3300"/>
                    </a:solidFill>
                  </a:rPr>
                  <a:t>insert(K</a:t>
                </a:r>
                <a:r>
                  <a:rPr lang="en-US" sz="1800" b="1" baseline="-25000">
                    <a:solidFill>
                      <a:srgbClr val="FF3300"/>
                    </a:solidFill>
                  </a:rPr>
                  <a:t>1</a:t>
                </a:r>
                <a:r>
                  <a:rPr lang="en-US" sz="1800" b="1">
                    <a:solidFill>
                      <a:srgbClr val="FF3300"/>
                    </a:solidFill>
                  </a:rPr>
                  <a:t>,V</a:t>
                </a:r>
                <a:r>
                  <a:rPr lang="en-US" sz="1800" b="1" baseline="-25000">
                    <a:solidFill>
                      <a:srgbClr val="FF3300"/>
                    </a:solidFill>
                  </a:rPr>
                  <a:t>1</a:t>
                </a:r>
                <a:r>
                  <a:rPr lang="en-US" sz="1800" b="1">
                    <a:solidFill>
                      <a:srgbClr val="FF3300"/>
                    </a:solidFill>
                  </a:rPr>
                  <a:t>)</a:t>
                </a:r>
              </a:p>
            </p:txBody>
          </p:sp>
          <p:grpSp>
            <p:nvGrpSpPr>
              <p:cNvPr id="1472" name="Group 36"/>
              <p:cNvGrpSpPr>
                <a:grpSpLocks/>
              </p:cNvGrpSpPr>
              <p:nvPr/>
            </p:nvGrpSpPr>
            <p:grpSpPr bwMode="auto">
              <a:xfrm>
                <a:off x="5105400" y="5029200"/>
                <a:ext cx="468313" cy="609600"/>
                <a:chOff x="240" y="1392"/>
                <a:chExt cx="295" cy="384"/>
              </a:xfrm>
            </p:grpSpPr>
            <p:grpSp>
              <p:nvGrpSpPr>
                <p:cNvPr id="1572" name="Group 37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574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575" name="AutoShape 39"/>
                  <p:cNvCxnSpPr>
                    <a:cxnSpLocks noChangeShapeType="1"/>
                    <a:stCxn id="1574" idx="0"/>
                    <a:endCxn id="1574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76" name="AutoShape 40"/>
                  <p:cNvCxnSpPr>
                    <a:cxnSpLocks noChangeShapeType="1"/>
                    <a:stCxn id="1574" idx="1"/>
                    <a:endCxn id="1574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77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78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79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80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73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73" name="Group 46"/>
              <p:cNvGrpSpPr>
                <a:grpSpLocks/>
              </p:cNvGrpSpPr>
              <p:nvPr/>
            </p:nvGrpSpPr>
            <p:grpSpPr bwMode="auto">
              <a:xfrm>
                <a:off x="1295400" y="2438400"/>
                <a:ext cx="468313" cy="609600"/>
                <a:chOff x="240" y="1392"/>
                <a:chExt cx="295" cy="384"/>
              </a:xfrm>
            </p:grpSpPr>
            <p:grpSp>
              <p:nvGrpSpPr>
                <p:cNvPr id="1563" name="Group 47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565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566" name="AutoShape 49"/>
                  <p:cNvCxnSpPr>
                    <a:cxnSpLocks noChangeShapeType="1"/>
                    <a:stCxn id="1565" idx="0"/>
                    <a:endCxn id="1565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67" name="AutoShape 50"/>
                  <p:cNvCxnSpPr>
                    <a:cxnSpLocks noChangeShapeType="1"/>
                    <a:stCxn id="1565" idx="1"/>
                    <a:endCxn id="1565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68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69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70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71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64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74" name="Group 56"/>
              <p:cNvGrpSpPr>
                <a:grpSpLocks/>
              </p:cNvGrpSpPr>
              <p:nvPr/>
            </p:nvGrpSpPr>
            <p:grpSpPr bwMode="auto">
              <a:xfrm>
                <a:off x="3429000" y="1752600"/>
                <a:ext cx="468313" cy="609600"/>
                <a:chOff x="2160" y="1344"/>
                <a:chExt cx="295" cy="384"/>
              </a:xfrm>
            </p:grpSpPr>
            <p:sp>
              <p:nvSpPr>
                <p:cNvPr id="1555" name="Rectangle 57"/>
                <p:cNvSpPr>
                  <a:spLocks noChangeArrowheads="1"/>
                </p:cNvSpPr>
                <p:nvPr/>
              </p:nvSpPr>
              <p:spPr bwMode="auto">
                <a:xfrm>
                  <a:off x="2207" y="1487"/>
                  <a:ext cx="188" cy="236"/>
                </a:xfrm>
                <a:prstGeom prst="rect">
                  <a:avLst/>
                </a:prstGeom>
                <a:noFill/>
                <a:ln w="19050">
                  <a:solidFill>
                    <a:srgbClr val="FF33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sz="1600"/>
                </a:p>
              </p:txBody>
            </p:sp>
            <p:cxnSp>
              <p:nvCxnSpPr>
                <p:cNvPr id="1556" name="AutoShape 58"/>
                <p:cNvCxnSpPr>
                  <a:cxnSpLocks noChangeShapeType="1"/>
                  <a:stCxn id="1555" idx="0"/>
                  <a:endCxn id="1555" idx="2"/>
                </p:cNvCxnSpPr>
                <p:nvPr/>
              </p:nvCxnSpPr>
              <p:spPr bwMode="auto">
                <a:xfrm>
                  <a:off x="2301" y="1482"/>
                  <a:ext cx="0" cy="246"/>
                </a:xfrm>
                <a:prstGeom prst="straightConnector1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57" name="AutoShape 59"/>
                <p:cNvCxnSpPr>
                  <a:cxnSpLocks noChangeShapeType="1"/>
                  <a:stCxn id="1555" idx="1"/>
                  <a:endCxn id="1555" idx="3"/>
                </p:cNvCxnSpPr>
                <p:nvPr/>
              </p:nvCxnSpPr>
              <p:spPr bwMode="auto">
                <a:xfrm>
                  <a:off x="2202" y="1605"/>
                  <a:ext cx="198" cy="0"/>
                </a:xfrm>
                <a:prstGeom prst="straightConnector1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58" name="Line 60"/>
                <p:cNvSpPr>
                  <a:spLocks noChangeShapeType="1"/>
                </p:cNvSpPr>
                <p:nvPr/>
              </p:nvSpPr>
              <p:spPr bwMode="auto">
                <a:xfrm>
                  <a:off x="2207" y="1526"/>
                  <a:ext cx="188" cy="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559" name="Line 61"/>
                <p:cNvSpPr>
                  <a:spLocks noChangeShapeType="1"/>
                </p:cNvSpPr>
                <p:nvPr/>
              </p:nvSpPr>
              <p:spPr bwMode="auto">
                <a:xfrm>
                  <a:off x="2207" y="1566"/>
                  <a:ext cx="188" cy="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560" name="Line 62"/>
                <p:cNvSpPr>
                  <a:spLocks noChangeShapeType="1"/>
                </p:cNvSpPr>
                <p:nvPr/>
              </p:nvSpPr>
              <p:spPr bwMode="auto">
                <a:xfrm>
                  <a:off x="2207" y="1644"/>
                  <a:ext cx="188" cy="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561" name="Line 63"/>
                <p:cNvSpPr>
                  <a:spLocks noChangeShapeType="1"/>
                </p:cNvSpPr>
                <p:nvPr/>
              </p:nvSpPr>
              <p:spPr bwMode="auto">
                <a:xfrm>
                  <a:off x="2207" y="1684"/>
                  <a:ext cx="188" cy="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1562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2160" y="1344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75" name="Group 65"/>
              <p:cNvGrpSpPr>
                <a:grpSpLocks/>
              </p:cNvGrpSpPr>
              <p:nvPr/>
            </p:nvGrpSpPr>
            <p:grpSpPr bwMode="auto">
              <a:xfrm>
                <a:off x="5486400" y="2667000"/>
                <a:ext cx="468313" cy="609600"/>
                <a:chOff x="240" y="1392"/>
                <a:chExt cx="295" cy="384"/>
              </a:xfrm>
            </p:grpSpPr>
            <p:grpSp>
              <p:nvGrpSpPr>
                <p:cNvPr id="1546" name="Group 66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548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549" name="AutoShape 68"/>
                  <p:cNvCxnSpPr>
                    <a:cxnSpLocks noChangeShapeType="1"/>
                    <a:stCxn id="1548" idx="0"/>
                    <a:endCxn id="1548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50" name="AutoShape 69"/>
                  <p:cNvCxnSpPr>
                    <a:cxnSpLocks noChangeShapeType="1"/>
                    <a:stCxn id="1548" idx="1"/>
                    <a:endCxn id="1548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51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52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53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54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47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76" name="Group 75"/>
              <p:cNvGrpSpPr>
                <a:grpSpLocks/>
              </p:cNvGrpSpPr>
              <p:nvPr/>
            </p:nvGrpSpPr>
            <p:grpSpPr bwMode="auto">
              <a:xfrm>
                <a:off x="7391400" y="3581400"/>
                <a:ext cx="468313" cy="609600"/>
                <a:chOff x="240" y="1392"/>
                <a:chExt cx="295" cy="384"/>
              </a:xfrm>
            </p:grpSpPr>
            <p:grpSp>
              <p:nvGrpSpPr>
                <p:cNvPr id="1537" name="Group 76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539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540" name="AutoShape 78"/>
                  <p:cNvCxnSpPr>
                    <a:cxnSpLocks noChangeShapeType="1"/>
                    <a:stCxn id="1539" idx="0"/>
                    <a:endCxn id="1539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41" name="AutoShape 79"/>
                  <p:cNvCxnSpPr>
                    <a:cxnSpLocks noChangeShapeType="1"/>
                    <a:stCxn id="1539" idx="1"/>
                    <a:endCxn id="1539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42" name="Line 8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43" name="Line 8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44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45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38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77" name="Group 85"/>
              <p:cNvGrpSpPr>
                <a:grpSpLocks/>
              </p:cNvGrpSpPr>
              <p:nvPr/>
            </p:nvGrpSpPr>
            <p:grpSpPr bwMode="auto">
              <a:xfrm>
                <a:off x="6781800" y="1905000"/>
                <a:ext cx="468313" cy="609600"/>
                <a:chOff x="240" y="1392"/>
                <a:chExt cx="295" cy="384"/>
              </a:xfrm>
            </p:grpSpPr>
            <p:grpSp>
              <p:nvGrpSpPr>
                <p:cNvPr id="1528" name="Group 86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530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531" name="AutoShape 88"/>
                  <p:cNvCxnSpPr>
                    <a:cxnSpLocks noChangeShapeType="1"/>
                    <a:stCxn id="1530" idx="0"/>
                    <a:endCxn id="1530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32" name="AutoShape 89"/>
                  <p:cNvCxnSpPr>
                    <a:cxnSpLocks noChangeShapeType="1"/>
                    <a:stCxn id="1530" idx="1"/>
                    <a:endCxn id="1530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33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34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35" name="Line 9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36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29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78" name="Group 95"/>
              <p:cNvGrpSpPr>
                <a:grpSpLocks/>
              </p:cNvGrpSpPr>
              <p:nvPr/>
            </p:nvGrpSpPr>
            <p:grpSpPr bwMode="auto">
              <a:xfrm>
                <a:off x="2514600" y="5257800"/>
                <a:ext cx="468313" cy="619125"/>
                <a:chOff x="1584" y="3552"/>
                <a:chExt cx="295" cy="390"/>
              </a:xfrm>
            </p:grpSpPr>
            <p:grpSp>
              <p:nvGrpSpPr>
                <p:cNvPr id="1519" name="Group 96"/>
                <p:cNvGrpSpPr>
                  <a:grpSpLocks/>
                </p:cNvGrpSpPr>
                <p:nvPr/>
              </p:nvGrpSpPr>
              <p:grpSpPr bwMode="auto">
                <a:xfrm>
                  <a:off x="1632" y="3696"/>
                  <a:ext cx="198" cy="246"/>
                  <a:chOff x="282" y="1530"/>
                  <a:chExt cx="252" cy="300"/>
                </a:xfrm>
              </p:grpSpPr>
              <p:sp>
                <p:nvSpPr>
                  <p:cNvPr id="1521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522" name="AutoShape 98"/>
                  <p:cNvCxnSpPr>
                    <a:cxnSpLocks noChangeShapeType="1"/>
                    <a:stCxn id="1521" idx="0"/>
                    <a:endCxn id="1521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23" name="AutoShape 99"/>
                  <p:cNvCxnSpPr>
                    <a:cxnSpLocks noChangeShapeType="1"/>
                    <a:stCxn id="1521" idx="1"/>
                    <a:endCxn id="1521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24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25" name="Line 10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26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27" name="Line 10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20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1584" y="355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79" name="Group 105"/>
              <p:cNvGrpSpPr>
                <a:grpSpLocks/>
              </p:cNvGrpSpPr>
              <p:nvPr/>
            </p:nvGrpSpPr>
            <p:grpSpPr bwMode="auto">
              <a:xfrm>
                <a:off x="7467600" y="4876800"/>
                <a:ext cx="468313" cy="609600"/>
                <a:chOff x="240" y="1392"/>
                <a:chExt cx="295" cy="384"/>
              </a:xfrm>
            </p:grpSpPr>
            <p:grpSp>
              <p:nvGrpSpPr>
                <p:cNvPr id="1510" name="Group 106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512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513" name="AutoShape 108"/>
                  <p:cNvCxnSpPr>
                    <a:cxnSpLocks noChangeShapeType="1"/>
                    <a:stCxn id="1512" idx="0"/>
                    <a:endCxn id="1512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14" name="AutoShape 109"/>
                  <p:cNvCxnSpPr>
                    <a:cxnSpLocks noChangeShapeType="1"/>
                    <a:stCxn id="1512" idx="1"/>
                    <a:endCxn id="1512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15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16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17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18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11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80" name="Group 115"/>
              <p:cNvGrpSpPr>
                <a:grpSpLocks/>
              </p:cNvGrpSpPr>
              <p:nvPr/>
            </p:nvGrpSpPr>
            <p:grpSpPr bwMode="auto">
              <a:xfrm>
                <a:off x="304800" y="4419600"/>
                <a:ext cx="468313" cy="609600"/>
                <a:chOff x="240" y="1392"/>
                <a:chExt cx="295" cy="384"/>
              </a:xfrm>
            </p:grpSpPr>
            <p:grpSp>
              <p:nvGrpSpPr>
                <p:cNvPr id="1501" name="Group 116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503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504" name="AutoShape 118"/>
                  <p:cNvCxnSpPr>
                    <a:cxnSpLocks noChangeShapeType="1"/>
                    <a:stCxn id="1503" idx="0"/>
                    <a:endCxn id="1503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505" name="AutoShape 119"/>
                  <p:cNvCxnSpPr>
                    <a:cxnSpLocks noChangeShapeType="1"/>
                    <a:stCxn id="1503" idx="1"/>
                    <a:endCxn id="1503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506" name="Line 12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07" name="Line 12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08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09" name="Line 12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502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81" name="Group 125"/>
              <p:cNvGrpSpPr>
                <a:grpSpLocks/>
              </p:cNvGrpSpPr>
              <p:nvPr/>
            </p:nvGrpSpPr>
            <p:grpSpPr bwMode="auto">
              <a:xfrm>
                <a:off x="3429000" y="3124200"/>
                <a:ext cx="468313" cy="609600"/>
                <a:chOff x="240" y="1392"/>
                <a:chExt cx="295" cy="384"/>
              </a:xfrm>
            </p:grpSpPr>
            <p:grpSp>
              <p:nvGrpSpPr>
                <p:cNvPr id="1492" name="Group 126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49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495" name="AutoShape 128"/>
                  <p:cNvCxnSpPr>
                    <a:cxnSpLocks noChangeShapeType="1"/>
                    <a:stCxn id="1494" idx="0"/>
                    <a:endCxn id="1494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496" name="AutoShape 129"/>
                  <p:cNvCxnSpPr>
                    <a:cxnSpLocks noChangeShapeType="1"/>
                    <a:stCxn id="1494" idx="1"/>
                    <a:endCxn id="1494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497" name="Line 13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498" name="Line 13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499" name="Line 13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500" name="Line 13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493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  <p:grpSp>
            <p:nvGrpSpPr>
              <p:cNvPr id="1482" name="Group 135"/>
              <p:cNvGrpSpPr>
                <a:grpSpLocks/>
              </p:cNvGrpSpPr>
              <p:nvPr/>
            </p:nvGrpSpPr>
            <p:grpSpPr bwMode="auto">
              <a:xfrm>
                <a:off x="2133600" y="3657600"/>
                <a:ext cx="468313" cy="609600"/>
                <a:chOff x="240" y="1392"/>
                <a:chExt cx="295" cy="384"/>
              </a:xfrm>
            </p:grpSpPr>
            <p:grpSp>
              <p:nvGrpSpPr>
                <p:cNvPr id="1483" name="Group 136"/>
                <p:cNvGrpSpPr>
                  <a:grpSpLocks/>
                </p:cNvGrpSpPr>
                <p:nvPr/>
              </p:nvGrpSpPr>
              <p:grpSpPr bwMode="auto">
                <a:xfrm>
                  <a:off x="282" y="1530"/>
                  <a:ext cx="198" cy="246"/>
                  <a:chOff x="282" y="1530"/>
                  <a:chExt cx="252" cy="300"/>
                </a:xfrm>
              </p:grpSpPr>
              <p:sp>
                <p:nvSpPr>
                  <p:cNvPr id="1485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536"/>
                    <a:ext cx="239" cy="288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35921" dir="2700000" algn="ctr" rotWithShape="0">
                      <a:schemeClr val="bg2"/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75000"/>
                      <a:buFont typeface="Wingdings" panose="05000000000000000000" pitchFamily="2" charset="2"/>
                      <a:buChar char="n"/>
                      <a:defRPr sz="2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sz="1600"/>
                  </a:p>
                </p:txBody>
              </p:sp>
              <p:cxnSp>
                <p:nvCxnSpPr>
                  <p:cNvPr id="1486" name="AutoShape 138"/>
                  <p:cNvCxnSpPr>
                    <a:cxnSpLocks noChangeShapeType="1"/>
                    <a:stCxn id="1485" idx="0"/>
                    <a:endCxn id="1485" idx="2"/>
                  </p:cNvCxnSpPr>
                  <p:nvPr/>
                </p:nvCxnSpPr>
                <p:spPr bwMode="auto">
                  <a:xfrm>
                    <a:off x="408" y="1530"/>
                    <a:ext cx="0" cy="30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487" name="AutoShape 139"/>
                  <p:cNvCxnSpPr>
                    <a:cxnSpLocks noChangeShapeType="1"/>
                    <a:stCxn id="1485" idx="1"/>
                    <a:endCxn id="1485" idx="3"/>
                  </p:cNvCxnSpPr>
                  <p:nvPr/>
                </p:nvCxnSpPr>
                <p:spPr bwMode="auto">
                  <a:xfrm>
                    <a:off x="282" y="1680"/>
                    <a:ext cx="25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488" name="Line 140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58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489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63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490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28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  <p:sp>
                <p:nvSpPr>
                  <p:cNvPr id="1491" name="Line 143"/>
                  <p:cNvSpPr>
                    <a:spLocks noChangeShapeType="1"/>
                  </p:cNvSpPr>
                  <p:nvPr/>
                </p:nvSpPr>
                <p:spPr bwMode="auto">
                  <a:xfrm>
                    <a:off x="288" y="177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484" name="Text Box 144"/>
                <p:cNvSpPr txBox="1">
                  <a:spLocks noChangeArrowheads="1"/>
                </p:cNvSpPr>
                <p:nvPr/>
              </p:nvSpPr>
              <p:spPr bwMode="auto">
                <a:xfrm>
                  <a:off x="240" y="1392"/>
                  <a:ext cx="29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5000"/>
                    <a:buFont typeface="Wingdings" panose="05000000000000000000" pitchFamily="2" charset="2"/>
                    <a:buChar char="n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sz="1200">
                      <a:solidFill>
                        <a:schemeClr val="tx2"/>
                      </a:solidFill>
                      <a:latin typeface="Comic Sans MS" panose="030F0702030302020204" pitchFamily="66" charset="0"/>
                    </a:rPr>
                    <a:t>K  V</a:t>
                  </a:r>
                </a:p>
              </p:txBody>
            </p:sp>
          </p:grpSp>
        </p:grpSp>
        <p:sp>
          <p:nvSpPr>
            <p:cNvPr id="1581" name="Text Box 32"/>
            <p:cNvSpPr txBox="1">
              <a:spLocks noChangeArrowheads="1"/>
            </p:cNvSpPr>
            <p:nvPr/>
          </p:nvSpPr>
          <p:spPr bwMode="auto">
            <a:xfrm>
              <a:off x="3964635" y="1600200"/>
              <a:ext cx="8858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5000"/>
                <a:buFont typeface="Wingdings" panose="05000000000000000000" pitchFamily="2" charset="2"/>
                <a:buChar char="n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1" dirty="0">
                  <a:solidFill>
                    <a:srgbClr val="FF3300"/>
                  </a:solidFill>
                </a:rPr>
                <a:t>(K</a:t>
              </a:r>
              <a:r>
                <a:rPr lang="en-US" sz="1800" b="1" baseline="-25000" dirty="0">
                  <a:solidFill>
                    <a:srgbClr val="FF3300"/>
                  </a:solidFill>
                </a:rPr>
                <a:t>1</a:t>
              </a:r>
              <a:r>
                <a:rPr lang="en-US" sz="1800" b="1" dirty="0">
                  <a:solidFill>
                    <a:srgbClr val="FF3300"/>
                  </a:solidFill>
                </a:rPr>
                <a:t>,V</a:t>
              </a:r>
              <a:r>
                <a:rPr lang="en-US" sz="1800" b="1" baseline="-25000" dirty="0">
                  <a:solidFill>
                    <a:srgbClr val="FF3300"/>
                  </a:solidFill>
                </a:rPr>
                <a:t>1</a:t>
              </a:r>
              <a:r>
                <a:rPr lang="en-US" sz="1800" b="1" dirty="0">
                  <a:solidFill>
                    <a:srgbClr val="FF3300"/>
                  </a:solidFill>
                </a:rPr>
                <a:t>)</a:t>
              </a:r>
            </a:p>
          </p:txBody>
        </p:sp>
        <p:cxnSp>
          <p:nvCxnSpPr>
            <p:cNvPr id="1582" name="AutoShape 142"/>
            <p:cNvCxnSpPr>
              <a:cxnSpLocks noChangeShapeType="1"/>
              <a:stCxn id="1581" idx="2"/>
            </p:cNvCxnSpPr>
            <p:nvPr/>
          </p:nvCxnSpPr>
          <p:spPr bwMode="auto">
            <a:xfrm rot="16200000" flipH="1">
              <a:off x="4583760" y="1790700"/>
              <a:ext cx="204788" cy="5588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37" name="Rectangle 436"/>
          <p:cNvSpPr/>
          <p:nvPr/>
        </p:nvSpPr>
        <p:spPr>
          <a:xfrm>
            <a:off x="335360" y="6093296"/>
            <a:ext cx="108202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Scalable Hash Table : No. of hops to insert and lookup is independent of no. of nodes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4794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1344200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Scalability in </a:t>
            </a:r>
            <a:r>
              <a:rPr lang="en-US" sz="3600" dirty="0"/>
              <a:t>Distributed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032104" y="1310106"/>
            <a:ext cx="5010150" cy="3991102"/>
            <a:chOff x="7032104" y="1310106"/>
            <a:chExt cx="5010150" cy="3991102"/>
          </a:xfrm>
        </p:grpSpPr>
        <p:sp>
          <p:nvSpPr>
            <p:cNvPr id="2" name="Rectangle 1"/>
            <p:cNvSpPr/>
            <p:nvPr/>
          </p:nvSpPr>
          <p:spPr>
            <a:xfrm>
              <a:off x="7176120" y="1310106"/>
              <a:ext cx="405611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spcBef>
                  <a:spcPct val="20000"/>
                </a:spcBef>
                <a:buClr>
                  <a:schemeClr val="folHlink"/>
                </a:buClr>
                <a:buSzPct val="90000"/>
                <a:defRPr/>
              </a:pPr>
              <a:r>
                <a:rPr lang="de-DE" b="1" kern="0" dirty="0"/>
                <a:t>Finger </a:t>
              </a:r>
              <a:r>
                <a:rPr lang="de-DE" b="1" kern="0" dirty="0" smtClean="0"/>
                <a:t>table: </a:t>
              </a:r>
              <a:r>
                <a:rPr lang="de-DE" i="1" kern="0" dirty="0" smtClean="0"/>
                <a:t>finger[i</a:t>
              </a:r>
              <a:r>
                <a:rPr lang="de-DE" i="1" kern="0" dirty="0"/>
                <a:t>] = successor (n + 2</a:t>
              </a:r>
              <a:r>
                <a:rPr lang="de-DE" i="1" kern="0" baseline="30000" dirty="0"/>
                <a:t>i </a:t>
              </a:r>
              <a:r>
                <a:rPr lang="de-DE" i="1" kern="0" dirty="0"/>
                <a:t>)</a:t>
              </a:r>
            </a:p>
          </p:txBody>
        </p:sp>
        <p:pic>
          <p:nvPicPr>
            <p:cNvPr id="463" name="Picture 7" descr="find_successor_advanced_image_0"/>
            <p:cNvPicPr>
              <a:picLocks noGrp="1" noChangeAspect="1" noChangeArrowheads="1"/>
            </p:cNvPicPr>
            <p:nvPr>
              <p:ph sz="quarter" idx="4294967295"/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032104" y="1708695"/>
              <a:ext cx="5010150" cy="3592513"/>
            </a:xfrm>
            <a:prstGeom prst="rect">
              <a:avLst/>
            </a:prstGeom>
            <a:noFill/>
          </p:spPr>
        </p:pic>
      </p:grpSp>
      <p:grpSp>
        <p:nvGrpSpPr>
          <p:cNvPr id="6" name="Group 5"/>
          <p:cNvGrpSpPr/>
          <p:nvPr/>
        </p:nvGrpSpPr>
        <p:grpSpPr>
          <a:xfrm>
            <a:off x="119336" y="795893"/>
            <a:ext cx="4962525" cy="5873467"/>
            <a:chOff x="119336" y="795893"/>
            <a:chExt cx="4962525" cy="5873467"/>
          </a:xfrm>
        </p:grpSpPr>
        <p:sp>
          <p:nvSpPr>
            <p:cNvPr id="438" name="TextBox 437"/>
            <p:cNvSpPr txBox="1"/>
            <p:nvPr/>
          </p:nvSpPr>
          <p:spPr>
            <a:xfrm>
              <a:off x="1218593" y="3225031"/>
              <a:ext cx="2743200" cy="7080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b="1" i="1" dirty="0">
                  <a:latin typeface="+mj-lt"/>
                </a:rPr>
                <a:t>h(IP) </a:t>
              </a:r>
              <a:r>
                <a:rPr lang="en-US" b="1" i="1" dirty="0">
                  <a:latin typeface="+mj-lt"/>
                  <a:sym typeface="Wingdings" pitchFamily="2" charset="2"/>
                </a:rPr>
                <a:t> m-bit id</a:t>
              </a:r>
            </a:p>
            <a:p>
              <a:pPr eaLnBrk="1" hangingPunct="1">
                <a:defRPr/>
              </a:pPr>
              <a:endParaRPr lang="en-US" sz="800" b="1" i="1" dirty="0">
                <a:latin typeface="+mj-lt"/>
                <a:sym typeface="Wingdings" pitchFamily="2" charset="2"/>
              </a:endParaRPr>
            </a:p>
            <a:p>
              <a:pPr eaLnBrk="1" hangingPunct="1">
                <a:defRPr/>
              </a:pPr>
              <a:r>
                <a:rPr lang="en-US" b="1" i="1" dirty="0">
                  <a:latin typeface="+mj-lt"/>
                  <a:sym typeface="Wingdings" pitchFamily="2" charset="2"/>
                </a:rPr>
                <a:t>h(file name)  m-bit id</a:t>
              </a:r>
              <a:r>
                <a:rPr lang="en-US" b="1" i="1" dirty="0">
                  <a:latin typeface="+mj-lt"/>
                </a:rPr>
                <a:t> </a:t>
              </a:r>
            </a:p>
          </p:txBody>
        </p:sp>
        <p:pic>
          <p:nvPicPr>
            <p:cNvPr id="43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336" y="1252132"/>
              <a:ext cx="4962525" cy="1954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40" name="Group 439"/>
            <p:cNvGrpSpPr/>
            <p:nvPr/>
          </p:nvGrpSpPr>
          <p:grpSpPr>
            <a:xfrm>
              <a:off x="588790" y="3924900"/>
              <a:ext cx="3130946" cy="2744460"/>
              <a:chOff x="5507038" y="1584325"/>
              <a:chExt cx="3713162" cy="3216275"/>
            </a:xfrm>
          </p:grpSpPr>
          <p:sp>
            <p:nvSpPr>
              <p:cNvPr id="441" name="Oval 7"/>
              <p:cNvSpPr>
                <a:spLocks noChangeArrowheads="1"/>
              </p:cNvSpPr>
              <p:nvPr/>
            </p:nvSpPr>
            <p:spPr bwMode="auto">
              <a:xfrm>
                <a:off x="6259513" y="2057400"/>
                <a:ext cx="2286000" cy="2286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42" name="Rectangle 8"/>
              <p:cNvSpPr>
                <a:spLocks noChangeArrowheads="1"/>
              </p:cNvSpPr>
              <p:nvPr/>
            </p:nvSpPr>
            <p:spPr bwMode="auto">
              <a:xfrm>
                <a:off x="6488113" y="2362200"/>
                <a:ext cx="152400" cy="15240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43" name="Rectangle 9"/>
              <p:cNvSpPr>
                <a:spLocks noChangeArrowheads="1"/>
              </p:cNvSpPr>
              <p:nvPr/>
            </p:nvSpPr>
            <p:spPr bwMode="auto">
              <a:xfrm>
                <a:off x="6183313" y="3124200"/>
                <a:ext cx="152400" cy="1524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44" name="Rectangle 10"/>
              <p:cNvSpPr>
                <a:spLocks noChangeArrowheads="1"/>
              </p:cNvSpPr>
              <p:nvPr/>
            </p:nvSpPr>
            <p:spPr bwMode="auto">
              <a:xfrm>
                <a:off x="6488113" y="3886200"/>
                <a:ext cx="152400" cy="1524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45" name="Rectangle 11"/>
              <p:cNvSpPr>
                <a:spLocks noChangeArrowheads="1"/>
              </p:cNvSpPr>
              <p:nvPr/>
            </p:nvSpPr>
            <p:spPr bwMode="auto">
              <a:xfrm>
                <a:off x="7326313" y="4267200"/>
                <a:ext cx="152400" cy="15240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46" name="Rectangle 12"/>
              <p:cNvSpPr>
                <a:spLocks noChangeArrowheads="1"/>
              </p:cNvSpPr>
              <p:nvPr/>
            </p:nvSpPr>
            <p:spPr bwMode="auto">
              <a:xfrm>
                <a:off x="8164513" y="3886200"/>
                <a:ext cx="152400" cy="15240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47" name="Rectangle 13"/>
              <p:cNvSpPr>
                <a:spLocks noChangeArrowheads="1"/>
              </p:cNvSpPr>
              <p:nvPr/>
            </p:nvSpPr>
            <p:spPr bwMode="auto">
              <a:xfrm>
                <a:off x="8469313" y="3124200"/>
                <a:ext cx="152400" cy="152400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48" name="Rectangle 14"/>
              <p:cNvSpPr>
                <a:spLocks noChangeArrowheads="1"/>
              </p:cNvSpPr>
              <p:nvPr/>
            </p:nvSpPr>
            <p:spPr bwMode="auto">
              <a:xfrm>
                <a:off x="8164513" y="2362200"/>
                <a:ext cx="152400" cy="1524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49" name="Rectangle 15"/>
              <p:cNvSpPr>
                <a:spLocks noChangeArrowheads="1"/>
              </p:cNvSpPr>
              <p:nvPr/>
            </p:nvSpPr>
            <p:spPr bwMode="auto">
              <a:xfrm>
                <a:off x="7326313" y="1981200"/>
                <a:ext cx="152400" cy="15240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600"/>
              </a:p>
            </p:txBody>
          </p:sp>
          <p:sp>
            <p:nvSpPr>
              <p:cNvPr id="450" name="Text Box 16"/>
              <p:cNvSpPr txBox="1">
                <a:spLocks noChangeArrowheads="1"/>
              </p:cNvSpPr>
              <p:nvPr/>
            </p:nvSpPr>
            <p:spPr bwMode="auto">
              <a:xfrm>
                <a:off x="7097713" y="1584325"/>
                <a:ext cx="598487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latin typeface="Tahoma" panose="020B0604030504040204" pitchFamily="34" charset="0"/>
                  </a:rPr>
                  <a:t>000</a:t>
                </a: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" name="Text Box 17"/>
              <p:cNvSpPr txBox="1">
                <a:spLocks noChangeArrowheads="1"/>
              </p:cNvSpPr>
              <p:nvPr/>
            </p:nvSpPr>
            <p:spPr bwMode="auto">
              <a:xfrm>
                <a:off x="5954713" y="3946525"/>
                <a:ext cx="598487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latin typeface="Tahoma" panose="020B0604030504040204" pitchFamily="34" charset="0"/>
                  </a:rPr>
                  <a:t>101</a:t>
                </a: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" name="Text Box 18"/>
              <p:cNvSpPr txBox="1">
                <a:spLocks noChangeArrowheads="1"/>
              </p:cNvSpPr>
              <p:nvPr/>
            </p:nvSpPr>
            <p:spPr bwMode="auto">
              <a:xfrm>
                <a:off x="7097713" y="4403725"/>
                <a:ext cx="598487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latin typeface="Tahoma" panose="020B0604030504040204" pitchFamily="34" charset="0"/>
                  </a:rPr>
                  <a:t>100</a:t>
                </a: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3" name="Text Box 19"/>
              <p:cNvSpPr txBox="1">
                <a:spLocks noChangeArrowheads="1"/>
              </p:cNvSpPr>
              <p:nvPr/>
            </p:nvSpPr>
            <p:spPr bwMode="auto">
              <a:xfrm>
                <a:off x="8251825" y="3962400"/>
                <a:ext cx="598488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latin typeface="Tahoma" panose="020B0604030504040204" pitchFamily="34" charset="0"/>
                  </a:rPr>
                  <a:t>011</a:t>
                </a: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4" name="Text Box 20"/>
              <p:cNvSpPr txBox="1">
                <a:spLocks noChangeArrowheads="1"/>
              </p:cNvSpPr>
              <p:nvPr/>
            </p:nvSpPr>
            <p:spPr bwMode="auto">
              <a:xfrm>
                <a:off x="8621713" y="2971800"/>
                <a:ext cx="598487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latin typeface="Tahoma" panose="020B0604030504040204" pitchFamily="34" charset="0"/>
                  </a:rPr>
                  <a:t>010</a:t>
                </a: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5" name="Text Box 21"/>
              <p:cNvSpPr txBox="1">
                <a:spLocks noChangeArrowheads="1"/>
              </p:cNvSpPr>
              <p:nvPr/>
            </p:nvSpPr>
            <p:spPr bwMode="auto">
              <a:xfrm>
                <a:off x="8328025" y="2041525"/>
                <a:ext cx="598488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latin typeface="Tahoma" panose="020B0604030504040204" pitchFamily="34" charset="0"/>
                  </a:rPr>
                  <a:t>001</a:t>
                </a: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6" name="Text Box 22"/>
              <p:cNvSpPr txBox="1">
                <a:spLocks noChangeArrowheads="1"/>
              </p:cNvSpPr>
              <p:nvPr/>
            </p:nvSpPr>
            <p:spPr bwMode="auto">
              <a:xfrm>
                <a:off x="5573713" y="2971800"/>
                <a:ext cx="598487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latin typeface="Tahoma" panose="020B0604030504040204" pitchFamily="34" charset="0"/>
                  </a:rPr>
                  <a:t>110</a:t>
                </a: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7" name="Text Box 23"/>
              <p:cNvSpPr txBox="1">
                <a:spLocks noChangeArrowheads="1"/>
              </p:cNvSpPr>
              <p:nvPr/>
            </p:nvSpPr>
            <p:spPr bwMode="auto">
              <a:xfrm>
                <a:off x="6107113" y="1981200"/>
                <a:ext cx="598487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5000"/>
                  <a:buFont typeface="Wingdings" panose="05000000000000000000" pitchFamily="2" charset="2"/>
                  <a:buChar char="n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600">
                    <a:latin typeface="Tahoma" panose="020B0604030504040204" pitchFamily="34" charset="0"/>
                  </a:rPr>
                  <a:t>111</a:t>
                </a:r>
                <a:endParaRPr 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8" name="Arc 5"/>
              <p:cNvSpPr>
                <a:spLocks/>
              </p:cNvSpPr>
              <p:nvPr/>
            </p:nvSpPr>
            <p:spPr bwMode="auto">
              <a:xfrm rot="845190">
                <a:off x="5507038" y="2301875"/>
                <a:ext cx="646112" cy="1828800"/>
              </a:xfrm>
              <a:custGeom>
                <a:avLst/>
                <a:gdLst>
                  <a:gd name="T0" fmla="*/ 489263526 w 21600"/>
                  <a:gd name="T1" fmla="*/ 2147483646 h 35563"/>
                  <a:gd name="T2" fmla="*/ 143325170 w 21600"/>
                  <a:gd name="T3" fmla="*/ 0 h 35563"/>
                  <a:gd name="T4" fmla="*/ 579200791 w 21600"/>
                  <a:gd name="T5" fmla="*/ 1934442910 h 3556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5563"/>
                  <a:gd name="T11" fmla="*/ 21600 w 21600"/>
                  <a:gd name="T12" fmla="*/ 35563 h 355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5563" fill="none" extrusionOk="0">
                    <a:moveTo>
                      <a:pt x="18245" y="35563"/>
                    </a:moveTo>
                    <a:cubicBezTo>
                      <a:pt x="7740" y="33911"/>
                      <a:pt x="0" y="24859"/>
                      <a:pt x="0" y="14225"/>
                    </a:cubicBezTo>
                    <a:cubicBezTo>
                      <a:pt x="-1" y="8992"/>
                      <a:pt x="1899" y="3937"/>
                      <a:pt x="5345" y="0"/>
                    </a:cubicBezTo>
                  </a:path>
                  <a:path w="21600" h="35563" stroke="0" extrusionOk="0">
                    <a:moveTo>
                      <a:pt x="18245" y="35563"/>
                    </a:moveTo>
                    <a:cubicBezTo>
                      <a:pt x="7740" y="33911"/>
                      <a:pt x="0" y="24859"/>
                      <a:pt x="0" y="14225"/>
                    </a:cubicBezTo>
                    <a:cubicBezTo>
                      <a:pt x="-1" y="8992"/>
                      <a:pt x="1899" y="3937"/>
                      <a:pt x="5345" y="0"/>
                    </a:cubicBezTo>
                    <a:lnTo>
                      <a:pt x="21600" y="14225"/>
                    </a:lnTo>
                    <a:lnTo>
                      <a:pt x="18245" y="35563"/>
                    </a:lnTo>
                    <a:close/>
                  </a:path>
                </a:pathLst>
              </a:custGeom>
              <a:noFill/>
              <a:ln w="31750">
                <a:solidFill>
                  <a:srgbClr val="CC0099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1055440" y="795893"/>
              <a:ext cx="34120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</a:rPr>
                <a:t>Chord Distributed Hash Table</a:t>
              </a:r>
              <a:endParaRPr lang="en-IN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126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1344200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Scalability in </a:t>
            </a:r>
            <a:r>
              <a:rPr lang="en-US" sz="3600" dirty="0"/>
              <a:t>Distributed Systems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032104" y="1310106"/>
            <a:ext cx="5010150" cy="3991102"/>
            <a:chOff x="7032104" y="1310106"/>
            <a:chExt cx="5010150" cy="3991102"/>
          </a:xfrm>
        </p:grpSpPr>
        <p:sp>
          <p:nvSpPr>
            <p:cNvPr id="2" name="Rectangle 1"/>
            <p:cNvSpPr/>
            <p:nvPr/>
          </p:nvSpPr>
          <p:spPr>
            <a:xfrm>
              <a:off x="7176120" y="1310106"/>
              <a:ext cx="405611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spcBef>
                  <a:spcPct val="20000"/>
                </a:spcBef>
                <a:buClr>
                  <a:schemeClr val="folHlink"/>
                </a:buClr>
                <a:buSzPct val="90000"/>
                <a:defRPr/>
              </a:pPr>
              <a:r>
                <a:rPr lang="de-DE" b="1" kern="0" dirty="0"/>
                <a:t>Finger </a:t>
              </a:r>
              <a:r>
                <a:rPr lang="de-DE" b="1" kern="0" dirty="0" smtClean="0"/>
                <a:t>table: </a:t>
              </a:r>
              <a:r>
                <a:rPr lang="de-DE" i="1" kern="0" dirty="0" smtClean="0"/>
                <a:t>finger[i</a:t>
              </a:r>
              <a:r>
                <a:rPr lang="de-DE" i="1" kern="0" dirty="0"/>
                <a:t>] = successor (n + 2</a:t>
              </a:r>
              <a:r>
                <a:rPr lang="de-DE" i="1" kern="0" baseline="30000" dirty="0"/>
                <a:t>i </a:t>
              </a:r>
              <a:r>
                <a:rPr lang="de-DE" i="1" kern="0" dirty="0"/>
                <a:t>)</a:t>
              </a:r>
            </a:p>
          </p:txBody>
        </p:sp>
        <p:pic>
          <p:nvPicPr>
            <p:cNvPr id="463" name="Picture 7" descr="find_successor_advanced_image_0"/>
            <p:cNvPicPr>
              <a:picLocks noGrp="1" noChangeAspect="1" noChangeArrowheads="1"/>
            </p:cNvPicPr>
            <p:nvPr>
              <p:ph sz="quarter" idx="4294967295"/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032104" y="1708695"/>
              <a:ext cx="5010150" cy="3592513"/>
            </a:xfrm>
            <a:prstGeom prst="rect">
              <a:avLst/>
            </a:prstGeom>
            <a:noFill/>
          </p:spPr>
        </p:pic>
      </p:grpSp>
      <p:pic>
        <p:nvPicPr>
          <p:cNvPr id="30" name="Picture 6" descr="advanced_lookup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1196752"/>
            <a:ext cx="4527550" cy="3941763"/>
          </a:xfrm>
          <a:prstGeom prst="rect">
            <a:avLst/>
          </a:prstGeom>
          <a:noFill/>
        </p:spPr>
      </p:pic>
      <p:pic>
        <p:nvPicPr>
          <p:cNvPr id="31" name="Picture 7" descr="Finger table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849" y="1340768"/>
            <a:ext cx="1019175" cy="1514475"/>
          </a:xfrm>
          <a:prstGeom prst="rect">
            <a:avLst/>
          </a:prstGeom>
          <a:noFill/>
        </p:spPr>
      </p:pic>
      <p:pic>
        <p:nvPicPr>
          <p:cNvPr id="32" name="Picture 8" descr="Finger table_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4581128"/>
            <a:ext cx="1019175" cy="1514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680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Questions?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863752" y="2852936"/>
            <a:ext cx="414049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</a:rPr>
              <a:t>Thank  You</a:t>
            </a:r>
            <a:endParaRPr lang="en-IN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4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27799</TotalTime>
  <Words>695</Words>
  <Application>Microsoft Office PowerPoint</Application>
  <PresentationFormat>Widescreen</PresentationFormat>
  <Paragraphs>191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Comic Sans MS</vt:lpstr>
      <vt:lpstr>Corbel</vt:lpstr>
      <vt:lpstr>Courier New</vt:lpstr>
      <vt:lpstr>Euphemia</vt:lpstr>
      <vt:lpstr>Tahoma</vt:lpstr>
      <vt:lpstr>Times New Roman</vt:lpstr>
      <vt:lpstr>Wingdings</vt:lpstr>
      <vt:lpstr>Banded Design Blue 16x9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338</cp:revision>
  <dcterms:created xsi:type="dcterms:W3CDTF">2018-05-13T16:49:43Z</dcterms:created>
  <dcterms:modified xsi:type="dcterms:W3CDTF">2026-02-10T12:54:27Z</dcterms:modified>
</cp:coreProperties>
</file>