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varScale="1">
        <p:scale>
          <a:sx n="79" d="100"/>
          <a:sy n="79" d="100"/>
        </p:scale>
        <p:origin x="3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594AE-46CF-1D88-11A7-536D60814E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F566AB-7A0F-0710-DE8D-678764BD57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352746-53C0-C2C4-D0E7-B8628EDF67D6}"/>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5" name="Footer Placeholder 4">
            <a:extLst>
              <a:ext uri="{FF2B5EF4-FFF2-40B4-BE49-F238E27FC236}">
                <a16:creationId xmlns:a16="http://schemas.microsoft.com/office/drawing/2014/main" id="{0BB43DD7-CA22-D46D-CAE2-36E4B8D061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54BBF-EBCC-9715-735C-31692DD0DF74}"/>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3884931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4B9F1-FA73-2072-3DD0-D2C234DEEE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67AEE3-9900-03F0-B729-C9BF111E33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597E4-487C-A49F-1BE0-FF887306F621}"/>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5" name="Footer Placeholder 4">
            <a:extLst>
              <a:ext uri="{FF2B5EF4-FFF2-40B4-BE49-F238E27FC236}">
                <a16:creationId xmlns:a16="http://schemas.microsoft.com/office/drawing/2014/main" id="{5AC347AA-8B98-5C32-6CF3-EFA60A54B7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7CF245-5221-9208-A7A0-7C68FEF73DC3}"/>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2371026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70DF-A2C5-90C7-2C21-19F38DF285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3964BE-51DD-2C94-8E26-37F4B4648C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65A5C9-3423-0B5A-5FAC-5EF7CA665DCD}"/>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5" name="Footer Placeholder 4">
            <a:extLst>
              <a:ext uri="{FF2B5EF4-FFF2-40B4-BE49-F238E27FC236}">
                <a16:creationId xmlns:a16="http://schemas.microsoft.com/office/drawing/2014/main" id="{D9225225-A452-4BF6-EB8F-170D5DCC76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147D70-FB82-12F8-7ED3-AD81B9E0027B}"/>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60903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D796A-32B3-2BAA-E6BF-2C14EB28A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C189FD-BF32-8ACA-0B3E-9E4D81A261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0D1B23-993E-C2BC-4FA6-E765E21EA8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7DB75C-B56C-2E13-F689-656C44F8A287}"/>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6" name="Footer Placeholder 5">
            <a:extLst>
              <a:ext uri="{FF2B5EF4-FFF2-40B4-BE49-F238E27FC236}">
                <a16:creationId xmlns:a16="http://schemas.microsoft.com/office/drawing/2014/main" id="{21CACEC3-F453-3AD0-0911-C58B24F6B8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682B5-91AC-9512-8792-1856F3315D2B}"/>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1987234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A17A-A9ED-E0DD-8280-ED9962E09B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E42025-72E8-8F01-6E08-E3DCF54D98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C8C1CE-377E-3A49-06DD-69480AB0DD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2349F8-5E93-B1BB-6E74-30D363581F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7AFED8-AAE8-7930-E43D-87C646BB99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900D35-BC3B-EC4B-5DA8-FE0D41B12323}"/>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8" name="Footer Placeholder 7">
            <a:extLst>
              <a:ext uri="{FF2B5EF4-FFF2-40B4-BE49-F238E27FC236}">
                <a16:creationId xmlns:a16="http://schemas.microsoft.com/office/drawing/2014/main" id="{0D9877AD-7CED-675C-25F2-AB80BA8A73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B85703-0006-38A4-6CE5-C49C3EBFC77D}"/>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2355853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E2CF4-8999-F09F-F3F5-98044CA0F1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99766D-BFBF-4043-51B5-5F9C866A7451}"/>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4" name="Footer Placeholder 3">
            <a:extLst>
              <a:ext uri="{FF2B5EF4-FFF2-40B4-BE49-F238E27FC236}">
                <a16:creationId xmlns:a16="http://schemas.microsoft.com/office/drawing/2014/main" id="{27C58D80-FA06-4396-AA41-FD51DF4666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5FD4B6-D430-EA92-886F-833EE83F348B}"/>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22711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6F4B9D-6E18-C9B9-F7DC-550FBDA01644}"/>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3" name="Footer Placeholder 2">
            <a:extLst>
              <a:ext uri="{FF2B5EF4-FFF2-40B4-BE49-F238E27FC236}">
                <a16:creationId xmlns:a16="http://schemas.microsoft.com/office/drawing/2014/main" id="{5A23C377-B23D-9B1A-BED3-50648714D7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AC716D-DCED-C182-73CD-B643B4128532}"/>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2679247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778E3-6DA4-A994-63A3-5D6A03EFC0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121DD4-ED40-337B-6C02-0BA7B977AC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4AD7DC-1C6F-1D7D-2B64-C7C66C21C4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CD0781-5E34-C42A-47D4-2D767AA0E148}"/>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6" name="Footer Placeholder 5">
            <a:extLst>
              <a:ext uri="{FF2B5EF4-FFF2-40B4-BE49-F238E27FC236}">
                <a16:creationId xmlns:a16="http://schemas.microsoft.com/office/drawing/2014/main" id="{6583ACB9-42AF-DFAF-0F24-3A73070E43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487C1C-E2C5-19D8-3A9E-8909ABA92935}"/>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319940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6FCD1-8C17-032B-CE00-E7BBED4F91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2403A8-6F42-2C8D-4A69-35A804B903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1A34B8-CBAA-9B4B-9175-9CEFFDA79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8EEDD-FDA7-D033-4B56-74E7AB073DF9}"/>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6" name="Footer Placeholder 5">
            <a:extLst>
              <a:ext uri="{FF2B5EF4-FFF2-40B4-BE49-F238E27FC236}">
                <a16:creationId xmlns:a16="http://schemas.microsoft.com/office/drawing/2014/main" id="{179EE5B3-0ADA-5341-DBAC-3A273F4FC2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591CF8-C322-EF0D-2917-BBCF5DB74962}"/>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1512739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E6C36-5FB0-BF9F-A0CE-6C6FC8C1E2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94C03D-A2F9-EC4E-844B-51700A1247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BAD0C3-0C56-9434-FDAA-BD501A7FD176}"/>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5" name="Footer Placeholder 4">
            <a:extLst>
              <a:ext uri="{FF2B5EF4-FFF2-40B4-BE49-F238E27FC236}">
                <a16:creationId xmlns:a16="http://schemas.microsoft.com/office/drawing/2014/main" id="{77F77FC0-28D8-F5A4-B5E2-D0E6D6B65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D43BA5-9420-699B-1679-D912E6F9F896}"/>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2728025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3191FF-DB94-F399-CA52-0575FC5BAC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451FE8-3C7E-3D6A-E509-D26887E461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BA3F96-0C7C-AB02-F721-F10BFC679B72}"/>
              </a:ext>
            </a:extLst>
          </p:cNvPr>
          <p:cNvSpPr>
            <a:spLocks noGrp="1"/>
          </p:cNvSpPr>
          <p:nvPr>
            <p:ph type="dt" sz="half" idx="10"/>
          </p:nvPr>
        </p:nvSpPr>
        <p:spPr/>
        <p:txBody>
          <a:bodyPr/>
          <a:lstStyle/>
          <a:p>
            <a:fld id="{38A818CC-C522-4B6B-8287-33A2B4DB3AB6}" type="datetimeFigureOut">
              <a:rPr lang="en-US" smtClean="0"/>
              <a:t>7/30/2025</a:t>
            </a:fld>
            <a:endParaRPr lang="en-US"/>
          </a:p>
        </p:txBody>
      </p:sp>
      <p:sp>
        <p:nvSpPr>
          <p:cNvPr id="5" name="Footer Placeholder 4">
            <a:extLst>
              <a:ext uri="{FF2B5EF4-FFF2-40B4-BE49-F238E27FC236}">
                <a16:creationId xmlns:a16="http://schemas.microsoft.com/office/drawing/2014/main" id="{755890E5-6C11-289D-37AB-FD965FC95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B719B1-9CFB-26D5-CDDC-CBC7B615335B}"/>
              </a:ext>
            </a:extLst>
          </p:cNvPr>
          <p:cNvSpPr>
            <a:spLocks noGrp="1"/>
          </p:cNvSpPr>
          <p:nvPr>
            <p:ph type="sldNum" sz="quarter" idx="12"/>
          </p:nvPr>
        </p:nvSpPr>
        <p:spPr/>
        <p:txBody>
          <a:bodyPr/>
          <a:lstStyle/>
          <a:p>
            <a:fld id="{3FAC76B3-FEF2-413B-B20C-463A709EC7CB}" type="slidenum">
              <a:rPr lang="en-US" smtClean="0"/>
              <a:t>‹#›</a:t>
            </a:fld>
            <a:endParaRPr lang="en-US"/>
          </a:p>
        </p:txBody>
      </p:sp>
    </p:spTree>
    <p:extLst>
      <p:ext uri="{BB962C8B-B14F-4D97-AF65-F5344CB8AC3E}">
        <p14:creationId xmlns:p14="http://schemas.microsoft.com/office/powerpoint/2010/main" val="2882387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6272F-E0D3-440D-1C01-198D45C8EF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245522-4D91-C870-AC32-DB7597F74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FEEAE-48EF-5416-3F54-DAC64AC2CD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A818CC-C522-4B6B-8287-33A2B4DB3AB6}" type="datetimeFigureOut">
              <a:rPr lang="en-US" smtClean="0"/>
              <a:t>7/30/2025</a:t>
            </a:fld>
            <a:endParaRPr lang="en-US"/>
          </a:p>
        </p:txBody>
      </p:sp>
      <p:sp>
        <p:nvSpPr>
          <p:cNvPr id="5" name="Footer Placeholder 4">
            <a:extLst>
              <a:ext uri="{FF2B5EF4-FFF2-40B4-BE49-F238E27FC236}">
                <a16:creationId xmlns:a16="http://schemas.microsoft.com/office/drawing/2014/main" id="{1D5E7E6C-4258-D8B6-F398-8C07AAB8E3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26A69F4-EFE9-3FD5-D47D-3F31AD3A26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AC76B3-FEF2-413B-B20C-463A709EC7CB}" type="slidenum">
              <a:rPr lang="en-US" smtClean="0"/>
              <a:t>‹#›</a:t>
            </a:fld>
            <a:endParaRPr lang="en-US"/>
          </a:p>
        </p:txBody>
      </p:sp>
    </p:spTree>
    <p:extLst>
      <p:ext uri="{BB962C8B-B14F-4D97-AF65-F5344CB8AC3E}">
        <p14:creationId xmlns:p14="http://schemas.microsoft.com/office/powerpoint/2010/main" val="534214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4C5C3-4A09-6AFC-363E-FFD331DC4F54}"/>
              </a:ext>
            </a:extLst>
          </p:cNvPr>
          <p:cNvSpPr>
            <a:spLocks noGrp="1"/>
          </p:cNvSpPr>
          <p:nvPr>
            <p:ph type="ctrTitle"/>
          </p:nvPr>
        </p:nvSpPr>
        <p:spPr/>
        <p:txBody>
          <a:bodyPr/>
          <a:lstStyle/>
          <a:p>
            <a:r>
              <a:rPr lang="en-GB" dirty="0"/>
              <a:t>Definition of Machine Learning</a:t>
            </a:r>
            <a:endParaRPr lang="en-US" dirty="0"/>
          </a:p>
        </p:txBody>
      </p:sp>
      <p:sp>
        <p:nvSpPr>
          <p:cNvPr id="3" name="Subtitle 2">
            <a:extLst>
              <a:ext uri="{FF2B5EF4-FFF2-40B4-BE49-F238E27FC236}">
                <a16:creationId xmlns:a16="http://schemas.microsoft.com/office/drawing/2014/main" id="{868BCE3D-D702-7E78-7A12-05BD490FDA6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24416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03412-B3C1-79D4-0FE8-71654F75FD22}"/>
              </a:ext>
            </a:extLst>
          </p:cNvPr>
          <p:cNvSpPr txBox="1"/>
          <p:nvPr/>
        </p:nvSpPr>
        <p:spPr>
          <a:xfrm>
            <a:off x="426720" y="460522"/>
            <a:ext cx="10546080" cy="5262979"/>
          </a:xfrm>
          <a:prstGeom prst="rect">
            <a:avLst/>
          </a:prstGeom>
          <a:noFill/>
        </p:spPr>
        <p:txBody>
          <a:bodyPr wrap="square">
            <a:spAutoFit/>
          </a:bodyPr>
          <a:lstStyle/>
          <a:p>
            <a:pPr algn="just" rtl="0">
              <a:spcBef>
                <a:spcPts val="600"/>
              </a:spcBef>
              <a:buNone/>
            </a:pPr>
            <a:r>
              <a:rPr lang="en-GB" sz="2800" dirty="0">
                <a:latin typeface="Times New Roman" panose="02020603050405020304" pitchFamily="18" charset="0"/>
                <a:cs typeface="Times New Roman" panose="02020603050405020304" pitchFamily="18" charset="0"/>
              </a:rPr>
              <a:t>L</a:t>
            </a:r>
            <a:r>
              <a:rPr lang="en-GB" sz="2800" dirty="0">
                <a:effectLst/>
                <a:latin typeface="Times New Roman" panose="02020603050405020304" pitchFamily="18" charset="0"/>
                <a:cs typeface="Times New Roman" panose="02020603050405020304" pitchFamily="18" charset="0"/>
              </a:rPr>
              <a:t>earning, particularly in the context of machine learning, can be mathematically defined as the process of improving performance on a specific task with experience.</a:t>
            </a:r>
          </a:p>
          <a:p>
            <a:pPr rtl="0">
              <a:spcBef>
                <a:spcPts val="600"/>
              </a:spcBef>
              <a:buNone/>
            </a:pPr>
            <a:endParaRPr lang="en-GB" sz="2800" dirty="0">
              <a:effectLst/>
              <a:latin typeface="Times New Roman" panose="02020603050405020304" pitchFamily="18" charset="0"/>
              <a:cs typeface="Times New Roman" panose="02020603050405020304" pitchFamily="18" charset="0"/>
            </a:endParaRPr>
          </a:p>
          <a:p>
            <a:pPr algn="just" rtl="0">
              <a:spcBef>
                <a:spcPts val="600"/>
              </a:spcBef>
              <a:buNone/>
            </a:pPr>
            <a:r>
              <a:rPr lang="en-GB" sz="2800" dirty="0">
                <a:effectLst/>
                <a:latin typeface="Times New Roman" panose="02020603050405020304" pitchFamily="18" charset="0"/>
                <a:cs typeface="Times New Roman" panose="02020603050405020304" pitchFamily="18" charset="0"/>
              </a:rPr>
              <a:t>More formally, Tom M. Mitchell's widely cited definition provides a good mathematical framework:</a:t>
            </a:r>
          </a:p>
          <a:p>
            <a:pPr rtl="0">
              <a:spcBef>
                <a:spcPts val="600"/>
              </a:spcBef>
              <a:buNone/>
            </a:pPr>
            <a:endParaRPr lang="en-GB" sz="2800" dirty="0">
              <a:effectLst/>
              <a:latin typeface="Times New Roman" panose="02020603050405020304" pitchFamily="18" charset="0"/>
              <a:cs typeface="Times New Roman" panose="02020603050405020304" pitchFamily="18" charset="0"/>
            </a:endParaRPr>
          </a:p>
          <a:p>
            <a:pPr algn="just" rtl="0">
              <a:spcBef>
                <a:spcPts val="600"/>
              </a:spcBef>
              <a:buNone/>
            </a:pPr>
            <a:r>
              <a:rPr lang="en-GB" sz="2800" b="1" i="1" dirty="0">
                <a:effectLst/>
                <a:latin typeface="Times New Roman" panose="02020603050405020304" pitchFamily="18" charset="0"/>
                <a:cs typeface="Times New Roman" panose="02020603050405020304" pitchFamily="18" charset="0"/>
              </a:rPr>
              <a:t>"A computer program is said to learn from experience E with respect to some class of tasks T and performance measure P if its performance at tasks in T, as measured by P, improves with experience E."</a:t>
            </a:r>
          </a:p>
          <a:p>
            <a:pPr>
              <a:buNone/>
            </a:pPr>
            <a:br>
              <a:rPr lang="en-GB" b="0" i="0" dirty="0">
                <a:solidFill>
                  <a:srgbClr val="222222"/>
                </a:solidFill>
                <a:effectLst/>
                <a:latin typeface="Google Sans"/>
              </a:rPr>
            </a:br>
            <a:endParaRPr lang="en-US" dirty="0"/>
          </a:p>
        </p:txBody>
      </p:sp>
    </p:spTree>
    <p:extLst>
      <p:ext uri="{BB962C8B-B14F-4D97-AF65-F5344CB8AC3E}">
        <p14:creationId xmlns:p14="http://schemas.microsoft.com/office/powerpoint/2010/main" val="186385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9322C1-FBA3-B4AD-BCB8-0E5A87001B5E}"/>
              </a:ext>
            </a:extLst>
          </p:cNvPr>
          <p:cNvSpPr txBox="1"/>
          <p:nvPr/>
        </p:nvSpPr>
        <p:spPr>
          <a:xfrm>
            <a:off x="329184" y="322267"/>
            <a:ext cx="11618976" cy="6986528"/>
          </a:xfrm>
          <a:prstGeom prst="rect">
            <a:avLst/>
          </a:prstGeom>
          <a:noFill/>
        </p:spPr>
        <p:txBody>
          <a:bodyPr wrap="square">
            <a:spAutoFit/>
          </a:bodyPr>
          <a:lstStyle/>
          <a:p>
            <a:pPr algn="just" rtl="0">
              <a:spcBef>
                <a:spcPts val="600"/>
              </a:spcBef>
              <a:buNone/>
            </a:pPr>
            <a:r>
              <a:rPr lang="en-GB" sz="2400" dirty="0">
                <a:effectLst/>
                <a:latin typeface="Times New Roman" panose="02020603050405020304" pitchFamily="18" charset="0"/>
                <a:cs typeface="Times New Roman" panose="02020603050405020304" pitchFamily="18" charset="0"/>
              </a:rPr>
              <a:t>Let's break down these components mathematically:</a:t>
            </a:r>
          </a:p>
          <a:p>
            <a:pPr algn="just"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Task (T): </a:t>
            </a:r>
            <a:r>
              <a:rPr lang="en-GB" sz="2400" dirty="0">
                <a:effectLst/>
                <a:latin typeface="Times New Roman" panose="02020603050405020304" pitchFamily="18" charset="0"/>
                <a:cs typeface="Times New Roman" panose="02020603050405020304" pitchFamily="18" charset="0"/>
              </a:rPr>
              <a:t>This refers to the problem the learning system is trying to solve. Mathematically, a task can be represented by a function f: X \</a:t>
            </a:r>
            <a:r>
              <a:rPr lang="en-GB" sz="2400" dirty="0" err="1">
                <a:effectLst/>
                <a:latin typeface="Times New Roman" panose="02020603050405020304" pitchFamily="18" charset="0"/>
                <a:cs typeface="Times New Roman" panose="02020603050405020304" pitchFamily="18" charset="0"/>
              </a:rPr>
              <a:t>rightarrow</a:t>
            </a:r>
            <a:r>
              <a:rPr lang="en-GB" sz="2400" dirty="0">
                <a:effectLst/>
                <a:latin typeface="Times New Roman" panose="02020603050405020304" pitchFamily="18" charset="0"/>
                <a:cs typeface="Times New Roman" panose="02020603050405020304" pitchFamily="18" charset="0"/>
              </a:rPr>
              <a:t> Y, where X is the input space and Y is the output space. For example:</a:t>
            </a:r>
          </a:p>
          <a:p>
            <a:pPr algn="just"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Classification: </a:t>
            </a:r>
            <a:r>
              <a:rPr lang="en-GB" sz="2400" dirty="0">
                <a:effectLst/>
                <a:latin typeface="Times New Roman" panose="02020603050405020304" pitchFamily="18" charset="0"/>
                <a:cs typeface="Times New Roman" panose="02020603050405020304" pitchFamily="18" charset="0"/>
              </a:rPr>
              <a:t>Y might be a set of discrete labels (e.g., classifying emails as spam or not </a:t>
            </a:r>
            <a:r>
              <a:rPr lang="en-GB" sz="2400" dirty="0">
                <a:latin typeface="Times New Roman" panose="02020603050405020304" pitchFamily="18" charset="0"/>
                <a:cs typeface="Times New Roman" panose="02020603050405020304" pitchFamily="18" charset="0"/>
              </a:rPr>
              <a:t>   </a:t>
            </a:r>
          </a:p>
          <a:p>
            <a:pPr algn="just" rtl="0">
              <a:spcBef>
                <a:spcPts val="600"/>
              </a:spcBef>
              <a:buNone/>
            </a:pPr>
            <a:r>
              <a:rPr lang="en-GB" sz="2400" dirty="0">
                <a:effectLst/>
                <a:latin typeface="Times New Roman" panose="02020603050405020304" pitchFamily="18" charset="0"/>
                <a:cs typeface="Times New Roman" panose="02020603050405020304" pitchFamily="18" charset="0"/>
              </a:rPr>
              <a:t>                               spam).</a:t>
            </a:r>
          </a:p>
          <a:p>
            <a:pPr algn="just"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Regression:</a:t>
            </a:r>
            <a:r>
              <a:rPr lang="en-GB" sz="2400" dirty="0">
                <a:effectLst/>
                <a:latin typeface="Times New Roman" panose="02020603050405020304" pitchFamily="18" charset="0"/>
                <a:cs typeface="Times New Roman" panose="02020603050405020304" pitchFamily="18" charset="0"/>
              </a:rPr>
              <a:t> Y might be a continuous value (e.g., predicting house prices).</a:t>
            </a:r>
          </a:p>
          <a:p>
            <a:pPr algn="just"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Clustering:</a:t>
            </a:r>
            <a:r>
              <a:rPr lang="en-GB" sz="2400" dirty="0">
                <a:effectLst/>
                <a:latin typeface="Times New Roman" panose="02020603050405020304" pitchFamily="18" charset="0"/>
                <a:cs typeface="Times New Roman" panose="02020603050405020304" pitchFamily="18" charset="0"/>
              </a:rPr>
              <a:t> The task might be to group data points into subsets based on similarity.</a:t>
            </a:r>
          </a:p>
          <a:p>
            <a:pPr algn="just"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Experience (E): </a:t>
            </a:r>
            <a:r>
              <a:rPr lang="en-GB" sz="2400" dirty="0">
                <a:effectLst/>
                <a:latin typeface="Times New Roman" panose="02020603050405020304" pitchFamily="18" charset="0"/>
                <a:cs typeface="Times New Roman" panose="02020603050405020304" pitchFamily="18" charset="0"/>
              </a:rPr>
              <a:t>This refers to the data the learning system is exposed to. Mathematically, experience is often represented as a dataset D = \{(x_1, y_1), (x_2, y_2), \dots, (</a:t>
            </a:r>
            <a:r>
              <a:rPr lang="en-GB" sz="2400" dirty="0" err="1">
                <a:effectLst/>
                <a:latin typeface="Times New Roman" panose="02020603050405020304" pitchFamily="18" charset="0"/>
                <a:cs typeface="Times New Roman" panose="02020603050405020304" pitchFamily="18" charset="0"/>
              </a:rPr>
              <a:t>x_n</a:t>
            </a:r>
            <a:r>
              <a:rPr lang="en-GB" sz="2400" dirty="0">
                <a:effectLst/>
                <a:latin typeface="Times New Roman" panose="02020603050405020304" pitchFamily="18" charset="0"/>
                <a:cs typeface="Times New Roman" panose="02020603050405020304" pitchFamily="18" charset="0"/>
              </a:rPr>
              <a:t>, </a:t>
            </a:r>
            <a:r>
              <a:rPr lang="en-GB" sz="2400" dirty="0" err="1">
                <a:effectLst/>
                <a:latin typeface="Times New Roman" panose="02020603050405020304" pitchFamily="18" charset="0"/>
                <a:cs typeface="Times New Roman" panose="02020603050405020304" pitchFamily="18" charset="0"/>
              </a:rPr>
              <a:t>y_n</a:t>
            </a:r>
            <a:r>
              <a:rPr lang="en-GB" sz="2400" dirty="0">
                <a:effectLst/>
                <a:latin typeface="Times New Roman" panose="02020603050405020304" pitchFamily="18" charset="0"/>
                <a:cs typeface="Times New Roman" panose="02020603050405020304" pitchFamily="18" charset="0"/>
              </a:rPr>
              <a:t>)\}, where (</a:t>
            </a:r>
            <a:r>
              <a:rPr lang="en-GB" sz="2400" dirty="0" err="1">
                <a:effectLst/>
                <a:latin typeface="Times New Roman" panose="02020603050405020304" pitchFamily="18" charset="0"/>
                <a:cs typeface="Times New Roman" panose="02020603050405020304" pitchFamily="18" charset="0"/>
              </a:rPr>
              <a:t>x_i</a:t>
            </a:r>
            <a:r>
              <a:rPr lang="en-GB" sz="2400" dirty="0">
                <a:effectLst/>
                <a:latin typeface="Times New Roman" panose="02020603050405020304" pitchFamily="18" charset="0"/>
                <a:cs typeface="Times New Roman" panose="02020603050405020304" pitchFamily="18" charset="0"/>
              </a:rPr>
              <a:t>, </a:t>
            </a:r>
            <a:r>
              <a:rPr lang="en-GB" sz="2400" dirty="0" err="1">
                <a:effectLst/>
                <a:latin typeface="Times New Roman" panose="02020603050405020304" pitchFamily="18" charset="0"/>
                <a:cs typeface="Times New Roman" panose="02020603050405020304" pitchFamily="18" charset="0"/>
              </a:rPr>
              <a:t>y_i</a:t>
            </a:r>
            <a:r>
              <a:rPr lang="en-GB" sz="2400" dirty="0">
                <a:effectLst/>
                <a:latin typeface="Times New Roman" panose="02020603050405020304" pitchFamily="18" charset="0"/>
                <a:cs typeface="Times New Roman" panose="02020603050405020304" pitchFamily="18" charset="0"/>
              </a:rPr>
              <a:t>) are input-output pairs (for supervised learning) or simply inputs </a:t>
            </a:r>
            <a:r>
              <a:rPr lang="en-GB" sz="2400" dirty="0" err="1">
                <a:effectLst/>
                <a:latin typeface="Times New Roman" panose="02020603050405020304" pitchFamily="18" charset="0"/>
                <a:cs typeface="Times New Roman" panose="02020603050405020304" pitchFamily="18" charset="0"/>
              </a:rPr>
              <a:t>x_i</a:t>
            </a:r>
            <a:r>
              <a:rPr lang="en-GB" sz="2400" dirty="0">
                <a:effectLst/>
                <a:latin typeface="Times New Roman" panose="02020603050405020304" pitchFamily="18" charset="0"/>
                <a:cs typeface="Times New Roman" panose="02020603050405020304" pitchFamily="18" charset="0"/>
              </a:rPr>
              <a:t> (for unsupervised learning). The learning algorithm uses this data to adjust its internal parameters or model.</a:t>
            </a:r>
          </a:p>
          <a:p>
            <a:pPr algn="just"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Performance Measure (P): </a:t>
            </a:r>
            <a:r>
              <a:rPr lang="en-GB" sz="2400" dirty="0">
                <a:effectLst/>
                <a:latin typeface="Times New Roman" panose="02020603050405020304" pitchFamily="18" charset="0"/>
                <a:cs typeface="Times New Roman" panose="02020603050405020304" pitchFamily="18" charset="0"/>
              </a:rPr>
              <a:t>This is a quantitative metric used to evaluate how well the system is performing on the task. It's a function that maps the system's output to a real number, indicating its effectiveness. Examples include:</a:t>
            </a:r>
          </a:p>
          <a:p>
            <a:pPr algn="just" rtl="0">
              <a:spcBef>
                <a:spcPts val="600"/>
              </a:spcBef>
              <a:buNone/>
            </a:pPr>
            <a:r>
              <a:rPr lang="en-GB" sz="2400" dirty="0">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9609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766689-F9A2-5F37-BC42-542FDF70DD9D}"/>
              </a:ext>
            </a:extLst>
          </p:cNvPr>
          <p:cNvSpPr txBox="1"/>
          <p:nvPr/>
        </p:nvSpPr>
        <p:spPr>
          <a:xfrm>
            <a:off x="268224" y="590559"/>
            <a:ext cx="11411712" cy="3277820"/>
          </a:xfrm>
          <a:prstGeom prst="rect">
            <a:avLst/>
          </a:prstGeom>
          <a:noFill/>
        </p:spPr>
        <p:txBody>
          <a:bodyPr wrap="square">
            <a:spAutoFit/>
          </a:bodyPr>
          <a:lstStyle/>
          <a:p>
            <a:pPr rtl="0">
              <a:spcBef>
                <a:spcPts val="600"/>
              </a:spcBef>
              <a:buNone/>
            </a:pPr>
            <a:r>
              <a:rPr lang="en-GB" dirty="0">
                <a:effectLst/>
                <a:latin typeface="Arial" panose="020B0604020202020204" pitchFamily="34" charset="0"/>
              </a:rPr>
              <a:t> * </a:t>
            </a:r>
            <a:r>
              <a:rPr lang="en-GB" sz="2400" b="1" dirty="0">
                <a:effectLst/>
                <a:latin typeface="Times New Roman" panose="02020603050405020304" pitchFamily="18" charset="0"/>
                <a:cs typeface="Times New Roman" panose="02020603050405020304" pitchFamily="18" charset="0"/>
              </a:rPr>
              <a:t>Accuracy:</a:t>
            </a:r>
            <a:r>
              <a:rPr lang="en-GB" sz="2400" dirty="0">
                <a:effectLst/>
                <a:latin typeface="Times New Roman" panose="02020603050405020304" pitchFamily="18" charset="0"/>
                <a:cs typeface="Times New Roman" panose="02020603050405020304" pitchFamily="18" charset="0"/>
              </a:rPr>
              <a:t> For classification, the proportion of correctly classified instances.</a:t>
            </a:r>
          </a:p>
          <a:p>
            <a:pPr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Mean Squared Error (MSE): </a:t>
            </a:r>
            <a:r>
              <a:rPr lang="en-GB" sz="2400" dirty="0">
                <a:effectLst/>
                <a:latin typeface="Times New Roman" panose="02020603050405020304" pitchFamily="18" charset="0"/>
                <a:cs typeface="Times New Roman" panose="02020603050405020304" pitchFamily="18" charset="0"/>
              </a:rPr>
              <a:t>For regression, the average squared difference between predicted and actual values.</a:t>
            </a:r>
          </a:p>
          <a:p>
            <a:pPr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Precision, Recall, F1-score: </a:t>
            </a:r>
            <a:r>
              <a:rPr lang="en-GB" sz="2400" dirty="0">
                <a:effectLst/>
                <a:latin typeface="Times New Roman" panose="02020603050405020304" pitchFamily="18" charset="0"/>
                <a:cs typeface="Times New Roman" panose="02020603050405020304" pitchFamily="18" charset="0"/>
              </a:rPr>
              <a:t>For more nuanced evaluation in classification.</a:t>
            </a:r>
          </a:p>
          <a:p>
            <a:pPr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Loss function/Cost function</a:t>
            </a:r>
            <a:r>
              <a:rPr lang="en-GB" sz="2400" dirty="0">
                <a:effectLst/>
                <a:latin typeface="Times New Roman" panose="02020603050405020304" pitchFamily="18" charset="0"/>
                <a:cs typeface="Times New Roman" panose="02020603050405020304" pitchFamily="18" charset="0"/>
              </a:rPr>
              <a:t>: Many learning algorithms are designed to minimize a loss function, which quantifies the error or discrepancy between the model's predictions and the true values. The performance measure is often inversely related to the loss function (minimizing loss maximizes performance).</a:t>
            </a:r>
          </a:p>
        </p:txBody>
      </p:sp>
    </p:spTree>
    <p:extLst>
      <p:ext uri="{BB962C8B-B14F-4D97-AF65-F5344CB8AC3E}">
        <p14:creationId xmlns:p14="http://schemas.microsoft.com/office/powerpoint/2010/main" val="3538454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5F8FC1-F8C8-ABBA-E648-691BC23D643F}"/>
              </a:ext>
            </a:extLst>
          </p:cNvPr>
          <p:cNvSpPr txBox="1"/>
          <p:nvPr/>
        </p:nvSpPr>
        <p:spPr>
          <a:xfrm>
            <a:off x="377952" y="423532"/>
            <a:ext cx="11436096" cy="5724644"/>
          </a:xfrm>
          <a:prstGeom prst="rect">
            <a:avLst/>
          </a:prstGeom>
          <a:noFill/>
        </p:spPr>
        <p:txBody>
          <a:bodyPr wrap="square">
            <a:spAutoFit/>
          </a:bodyPr>
          <a:lstStyle/>
          <a:p>
            <a:pPr rtl="0">
              <a:spcBef>
                <a:spcPts val="600"/>
              </a:spcBef>
              <a:buNone/>
            </a:pPr>
            <a:r>
              <a:rPr lang="en-GB" sz="2400" dirty="0">
                <a:effectLst/>
                <a:latin typeface="Times New Roman" panose="02020603050405020304" pitchFamily="18" charset="0"/>
                <a:cs typeface="Times New Roman" panose="02020603050405020304" pitchFamily="18" charset="0"/>
              </a:rPr>
              <a:t>In essence, the mathematical definition of learning implies:</a:t>
            </a:r>
          </a:p>
          <a:p>
            <a:pPr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A model: </a:t>
            </a:r>
            <a:r>
              <a:rPr lang="en-GB" sz="2400" dirty="0">
                <a:effectLst/>
                <a:latin typeface="Times New Roman" panose="02020603050405020304" pitchFamily="18" charset="0"/>
                <a:cs typeface="Times New Roman" panose="02020603050405020304" pitchFamily="18" charset="0"/>
              </a:rPr>
              <a:t>A function h (often parameterized, e.g., h_\theta) that attempts to approximate the true underlying function f or relationship in the data.</a:t>
            </a:r>
          </a:p>
          <a:p>
            <a:pPr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An objective function (loss function): </a:t>
            </a:r>
            <a:r>
              <a:rPr lang="en-GB" sz="2400" dirty="0">
                <a:effectLst/>
                <a:latin typeface="Times New Roman" panose="02020603050405020304" pitchFamily="18" charset="0"/>
                <a:cs typeface="Times New Roman" panose="02020603050405020304" pitchFamily="18" charset="0"/>
              </a:rPr>
              <a:t>L(y, \hat{y}) that quantifies the discrepancy between the true output y and the model's predicted output \hat{y}.</a:t>
            </a:r>
          </a:p>
          <a:p>
            <a:pPr rtl="0">
              <a:spcBef>
                <a:spcPts val="600"/>
              </a:spcBef>
              <a:buNone/>
            </a:pPr>
            <a:r>
              <a:rPr lang="en-GB" sz="2400" dirty="0">
                <a:effectLst/>
                <a:latin typeface="Times New Roman" panose="02020603050405020304" pitchFamily="18" charset="0"/>
                <a:cs typeface="Times New Roman" panose="02020603050405020304" pitchFamily="18" charset="0"/>
              </a:rPr>
              <a:t> * </a:t>
            </a:r>
            <a:r>
              <a:rPr lang="en-GB" sz="2400" b="1" dirty="0">
                <a:effectLst/>
                <a:latin typeface="Times New Roman" panose="02020603050405020304" pitchFamily="18" charset="0"/>
                <a:cs typeface="Times New Roman" panose="02020603050405020304" pitchFamily="18" charset="0"/>
              </a:rPr>
              <a:t>An optimization process: </a:t>
            </a:r>
            <a:r>
              <a:rPr lang="en-GB" sz="2400" dirty="0">
                <a:effectLst/>
                <a:latin typeface="Times New Roman" panose="02020603050405020304" pitchFamily="18" charset="0"/>
                <a:cs typeface="Times New Roman" panose="02020603050405020304" pitchFamily="18" charset="0"/>
              </a:rPr>
              <a:t>An algorithm that uses the experience E to adjust the parameters of the model (e.g., \theta) such that the performance measure P improves, typically by minimizing the average loss over the experience.</a:t>
            </a:r>
          </a:p>
          <a:p>
            <a:pPr rtl="0">
              <a:spcBef>
                <a:spcPts val="600"/>
              </a:spcBef>
              <a:buNone/>
            </a:pPr>
            <a:endParaRPr lang="en-GB" sz="2400" dirty="0">
              <a:effectLst/>
              <a:latin typeface="Times New Roman" panose="02020603050405020304" pitchFamily="18" charset="0"/>
              <a:cs typeface="Times New Roman" panose="02020603050405020304" pitchFamily="18" charset="0"/>
            </a:endParaRPr>
          </a:p>
          <a:p>
            <a:pPr rtl="0">
              <a:spcBef>
                <a:spcPts val="600"/>
              </a:spcBef>
              <a:buNone/>
            </a:pPr>
            <a:r>
              <a:rPr lang="en-GB" sz="2400" dirty="0">
                <a:effectLst/>
                <a:latin typeface="Times New Roman" panose="02020603050405020304" pitchFamily="18" charset="0"/>
                <a:cs typeface="Times New Roman" panose="02020603050405020304" pitchFamily="18" charset="0"/>
              </a:rPr>
              <a:t>So, learning can be seen as finding a function h from a hypothesis space H that minimizes the expected risk (or a proxy for it, like empirical risk) on unseen data, by leveraging a finite set of training data.</a:t>
            </a:r>
          </a:p>
          <a:p>
            <a:pPr rtl="0">
              <a:spcBef>
                <a:spcPts val="600"/>
              </a:spcBef>
              <a:buNone/>
            </a:pPr>
            <a:r>
              <a:rPr lang="en-GB" sz="2400" dirty="0">
                <a:effectLst/>
                <a:latin typeface="Times New Roman" panose="02020603050405020304" pitchFamily="18" charset="0"/>
                <a:cs typeface="Times New Roman" panose="02020603050405020304" pitchFamily="18" charset="0"/>
              </a:rPr>
              <a:t>This mathematical framework allows for the rigorous analysis and development of various learning algorithms, forming the foundation of modern machine learning.</a:t>
            </a:r>
          </a:p>
        </p:txBody>
      </p:sp>
    </p:spTree>
    <p:extLst>
      <p:ext uri="{BB962C8B-B14F-4D97-AF65-F5344CB8AC3E}">
        <p14:creationId xmlns:p14="http://schemas.microsoft.com/office/powerpoint/2010/main" val="1628266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Words>
  <Application>Microsoft Office PowerPoint</Application>
  <PresentationFormat>Widescreen</PresentationFormat>
  <Paragraphs>27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Google Sans</vt:lpstr>
      <vt:lpstr>Times New Roman</vt:lpstr>
      <vt:lpstr>Office Theme</vt:lpstr>
      <vt:lpstr>Definition of Machine Learning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Sanjit Setua</dc:creator>
  <cp:lastModifiedBy>Sanjit Setua</cp:lastModifiedBy>
  <cp:revision>1</cp:revision>
  <dcterms:created xsi:type="dcterms:W3CDTF">2025-07-30T05:53:26Z</dcterms:created>
  <dcterms:modified xsi:type="dcterms:W3CDTF">2025-07-30T05:53:56Z</dcterms:modified>
</cp:coreProperties>
</file>