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9144000"/>
  <p:notesSz cx="6746875" cy="99139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70">
          <p15:clr>
            <a:srgbClr val="000000"/>
          </p15:clr>
        </p15:guide>
        <p15:guide id="2" pos="56">
          <p15:clr>
            <a:srgbClr val="000000"/>
          </p15:clr>
        </p15:guide>
      </p15:sldGuideLst>
    </p:ext>
    <p:ext uri="GoogleSlidesCustomDataVersion2">
      <go:slidesCustomData xmlns:go="http://customooxmlschemas.google.com/" r:id="rId38" roundtripDataSignature="AMtx7mi2jyrsXvT8UzT9dg/xhfNNMxHR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0" orient="horz"/>
        <p:guide pos="5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241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22700" y="0"/>
            <a:ext cx="29241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18638"/>
            <a:ext cx="29241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22700" y="9418638"/>
            <a:ext cx="29241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:notes"/>
          <p:cNvSpPr txBox="1"/>
          <p:nvPr>
            <p:ph idx="12" type="sldNum"/>
          </p:nvPr>
        </p:nvSpPr>
        <p:spPr>
          <a:xfrm>
            <a:off x="3822700" y="9418638"/>
            <a:ext cx="29241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" name="Google Shape;119;p1:notes"/>
          <p:cNvSpPr/>
          <p:nvPr>
            <p:ph idx="2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1:notes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/>
          <p:cNvSpPr txBox="1"/>
          <p:nvPr>
            <p:ph idx="12" type="sldNum"/>
          </p:nvPr>
        </p:nvSpPr>
        <p:spPr>
          <a:xfrm>
            <a:off x="3822700" y="9418638"/>
            <a:ext cx="29241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2:notes"/>
          <p:cNvSpPr/>
          <p:nvPr>
            <p:ph idx="2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2:notes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 txBox="1"/>
          <p:nvPr>
            <p:ph idx="12" type="sldNum"/>
          </p:nvPr>
        </p:nvSpPr>
        <p:spPr>
          <a:xfrm>
            <a:off x="3822700" y="9418638"/>
            <a:ext cx="29241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3:notes"/>
          <p:cNvSpPr/>
          <p:nvPr>
            <p:ph idx="2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3:notes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 txBox="1"/>
          <p:nvPr>
            <p:ph idx="12" type="sldNum"/>
          </p:nvPr>
        </p:nvSpPr>
        <p:spPr>
          <a:xfrm>
            <a:off x="3822700" y="9418638"/>
            <a:ext cx="29241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4:notes"/>
          <p:cNvSpPr/>
          <p:nvPr>
            <p:ph idx="2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4:notes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:notes"/>
          <p:cNvSpPr txBox="1"/>
          <p:nvPr>
            <p:ph idx="12" type="sldNum"/>
          </p:nvPr>
        </p:nvSpPr>
        <p:spPr>
          <a:xfrm>
            <a:off x="3822700" y="9418638"/>
            <a:ext cx="29241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" name="Google Shape;214;p5:notes"/>
          <p:cNvSpPr/>
          <p:nvPr>
            <p:ph idx="2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5:notes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:notes"/>
          <p:cNvSpPr txBox="1"/>
          <p:nvPr>
            <p:ph idx="12" type="sldNum"/>
          </p:nvPr>
        </p:nvSpPr>
        <p:spPr>
          <a:xfrm>
            <a:off x="3822700" y="9418638"/>
            <a:ext cx="29241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1" name="Google Shape;251;p6:notes"/>
          <p:cNvSpPr/>
          <p:nvPr>
            <p:ph idx="2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p6:notes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:notes"/>
          <p:cNvSpPr txBox="1"/>
          <p:nvPr>
            <p:ph idx="12" type="sldNum"/>
          </p:nvPr>
        </p:nvSpPr>
        <p:spPr>
          <a:xfrm>
            <a:off x="3822700" y="9418638"/>
            <a:ext cx="29241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2" name="Google Shape;272;p7:notes"/>
          <p:cNvSpPr/>
          <p:nvPr>
            <p:ph idx="2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p7:notes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8:notes"/>
          <p:cNvSpPr txBox="1"/>
          <p:nvPr>
            <p:ph idx="12" type="sldNum"/>
          </p:nvPr>
        </p:nvSpPr>
        <p:spPr>
          <a:xfrm>
            <a:off x="3822700" y="9418638"/>
            <a:ext cx="29241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0" name="Google Shape;290;p8:notes"/>
          <p:cNvSpPr/>
          <p:nvPr>
            <p:ph idx="2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p8:notes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:notes"/>
          <p:cNvSpPr txBox="1"/>
          <p:nvPr>
            <p:ph idx="12" type="sldNum"/>
          </p:nvPr>
        </p:nvSpPr>
        <p:spPr>
          <a:xfrm>
            <a:off x="3822700" y="9418638"/>
            <a:ext cx="29241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0" name="Google Shape;300;p9:notes"/>
          <p:cNvSpPr/>
          <p:nvPr>
            <p:ph idx="2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p9:notes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0:notes"/>
          <p:cNvSpPr txBox="1"/>
          <p:nvPr>
            <p:ph idx="12" type="sldNum"/>
          </p:nvPr>
        </p:nvSpPr>
        <p:spPr>
          <a:xfrm>
            <a:off x="3822700" y="9418638"/>
            <a:ext cx="29241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1" name="Google Shape;311;p10:notes"/>
          <p:cNvSpPr/>
          <p:nvPr>
            <p:ph idx="2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p10:notes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3:notes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3:notes"/>
          <p:cNvSpPr/>
          <p:nvPr>
            <p:ph idx="2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:notes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4:notes"/>
          <p:cNvSpPr/>
          <p:nvPr>
            <p:ph idx="2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5:notes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5:notes"/>
          <p:cNvSpPr/>
          <p:nvPr>
            <p:ph idx="2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6:notes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6:notes"/>
          <p:cNvSpPr/>
          <p:nvPr>
            <p:ph idx="2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7:notes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7:notes"/>
          <p:cNvSpPr/>
          <p:nvPr>
            <p:ph idx="2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8:notes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8:notes"/>
          <p:cNvSpPr/>
          <p:nvPr>
            <p:ph idx="2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9:notes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9:notes"/>
          <p:cNvSpPr/>
          <p:nvPr>
            <p:ph idx="2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20:notes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0:notes"/>
          <p:cNvSpPr/>
          <p:nvPr>
            <p:ph idx="2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21:notes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1:notes"/>
          <p:cNvSpPr/>
          <p:nvPr>
            <p:ph idx="2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22:notes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22:notes"/>
          <p:cNvSpPr/>
          <p:nvPr>
            <p:ph idx="2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23:notes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23:notes"/>
          <p:cNvSpPr/>
          <p:nvPr>
            <p:ph idx="2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24:notes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24:notes"/>
          <p:cNvSpPr/>
          <p:nvPr>
            <p:ph idx="2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25:notes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25:notes"/>
          <p:cNvSpPr/>
          <p:nvPr>
            <p:ph idx="2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26:notes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26:notes"/>
          <p:cNvSpPr/>
          <p:nvPr>
            <p:ph idx="2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7:notes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27:notes"/>
          <p:cNvSpPr/>
          <p:nvPr>
            <p:ph idx="2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28:notes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28:notes"/>
          <p:cNvSpPr/>
          <p:nvPr>
            <p:ph idx="2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29:notes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29:notes"/>
          <p:cNvSpPr/>
          <p:nvPr>
            <p:ph idx="2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30:notes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30:notes"/>
          <p:cNvSpPr/>
          <p:nvPr>
            <p:ph idx="2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31:notes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31:notes"/>
          <p:cNvSpPr/>
          <p:nvPr>
            <p:ph idx="2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32:notes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32:notes"/>
          <p:cNvSpPr/>
          <p:nvPr>
            <p:ph idx="2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33:notes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33:notes"/>
          <p:cNvSpPr/>
          <p:nvPr>
            <p:ph idx="2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34:notes"/>
          <p:cNvSpPr txBox="1"/>
          <p:nvPr>
            <p:ph idx="1" type="body"/>
          </p:nvPr>
        </p:nvSpPr>
        <p:spPr>
          <a:xfrm>
            <a:off x="900113" y="4708525"/>
            <a:ext cx="4946650" cy="44624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34:notes"/>
          <p:cNvSpPr/>
          <p:nvPr>
            <p:ph idx="2" type="sldImg"/>
          </p:nvPr>
        </p:nvSpPr>
        <p:spPr>
          <a:xfrm>
            <a:off x="895350" y="742950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 type="objOnly">
  <p:cSld name="OBJECT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7"/>
          <p:cNvSpPr txBox="1"/>
          <p:nvPr>
            <p:ph idx="1" type="body"/>
          </p:nvPr>
        </p:nvSpPr>
        <p:spPr>
          <a:xfrm>
            <a:off x="300038" y="152400"/>
            <a:ext cx="8643937" cy="627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3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 type="txAndTwoObj">
  <p:cSld name="TEXT_AND_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1"/>
          <p:cNvSpPr txBox="1"/>
          <p:nvPr>
            <p:ph type="title"/>
          </p:nvPr>
        </p:nvSpPr>
        <p:spPr>
          <a:xfrm>
            <a:off x="1371600" y="3810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1"/>
          <p:cNvSpPr txBox="1"/>
          <p:nvPr>
            <p:ph idx="1" type="body"/>
          </p:nvPr>
        </p:nvSpPr>
        <p:spPr>
          <a:xfrm>
            <a:off x="685800" y="1752600"/>
            <a:ext cx="38100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1"/>
          <p:cNvSpPr txBox="1"/>
          <p:nvPr>
            <p:ph idx="2" type="body"/>
          </p:nvPr>
        </p:nvSpPr>
        <p:spPr>
          <a:xfrm>
            <a:off x="4648200" y="1752600"/>
            <a:ext cx="38100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41"/>
          <p:cNvSpPr txBox="1"/>
          <p:nvPr>
            <p:ph idx="3" type="body"/>
          </p:nvPr>
        </p:nvSpPr>
        <p:spPr>
          <a:xfrm>
            <a:off x="4648200" y="4267200"/>
            <a:ext cx="38100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4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and Text" type="objAndTx">
  <p:cSld name="OBJECT_AND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2"/>
          <p:cNvSpPr txBox="1"/>
          <p:nvPr>
            <p:ph type="title"/>
          </p:nvPr>
        </p:nvSpPr>
        <p:spPr>
          <a:xfrm>
            <a:off x="1371600" y="3810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2"/>
          <p:cNvSpPr txBox="1"/>
          <p:nvPr>
            <p:ph idx="1" type="body"/>
          </p:nvPr>
        </p:nvSpPr>
        <p:spPr>
          <a:xfrm>
            <a:off x="685800" y="1752600"/>
            <a:ext cx="38100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42"/>
          <p:cNvSpPr txBox="1"/>
          <p:nvPr>
            <p:ph idx="2" type="body"/>
          </p:nvPr>
        </p:nvSpPr>
        <p:spPr>
          <a:xfrm>
            <a:off x="4648200" y="1752600"/>
            <a:ext cx="38100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4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3"/>
          <p:cNvSpPr txBox="1"/>
          <p:nvPr>
            <p:ph type="title"/>
          </p:nvPr>
        </p:nvSpPr>
        <p:spPr>
          <a:xfrm>
            <a:off x="1371600" y="3810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3"/>
          <p:cNvSpPr txBox="1"/>
          <p:nvPr>
            <p:ph idx="1" type="body"/>
          </p:nvPr>
        </p:nvSpPr>
        <p:spPr>
          <a:xfrm>
            <a:off x="685800" y="1752600"/>
            <a:ext cx="38100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43"/>
          <p:cNvSpPr txBox="1"/>
          <p:nvPr>
            <p:ph idx="2" type="body"/>
          </p:nvPr>
        </p:nvSpPr>
        <p:spPr>
          <a:xfrm>
            <a:off x="4648200" y="1752600"/>
            <a:ext cx="38100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4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over Content" type="txOverObj">
  <p:cSld name="TEXT_OVER_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4"/>
          <p:cNvSpPr txBox="1"/>
          <p:nvPr>
            <p:ph type="title"/>
          </p:nvPr>
        </p:nvSpPr>
        <p:spPr>
          <a:xfrm>
            <a:off x="1371600" y="3810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4"/>
          <p:cNvSpPr txBox="1"/>
          <p:nvPr>
            <p:ph idx="1" type="body"/>
          </p:nvPr>
        </p:nvSpPr>
        <p:spPr>
          <a:xfrm>
            <a:off x="685800" y="1752600"/>
            <a:ext cx="7772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44"/>
          <p:cNvSpPr txBox="1"/>
          <p:nvPr>
            <p:ph idx="2" type="body"/>
          </p:nvPr>
        </p:nvSpPr>
        <p:spPr>
          <a:xfrm>
            <a:off x="685800" y="4267200"/>
            <a:ext cx="7772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4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1" name="Google Shape;81;p4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2" name="Google Shape;82;p4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3" name="Google Shape;83;p4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4" name="Google Shape;84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94" name="Google Shape;94;p4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5" name="Google Shape;95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4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2" name="Google Shape;102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5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push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3" name="Google Shape;13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4" name="Google Shape;14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>
    <p:push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Relationship Id="rId4" Type="http://schemas.openxmlformats.org/officeDocument/2006/relationships/image" Target="../media/image3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7.png"/><Relationship Id="rId4" Type="http://schemas.openxmlformats.org/officeDocument/2006/relationships/image" Target="../media/image3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6.png"/><Relationship Id="rId4" Type="http://schemas.openxmlformats.org/officeDocument/2006/relationships/image" Target="../media/image3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Relationship Id="rId4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png"/><Relationship Id="rId4" Type="http://schemas.openxmlformats.org/officeDocument/2006/relationships/image" Target="../media/image28.png"/><Relationship Id="rId5" Type="http://schemas.openxmlformats.org/officeDocument/2006/relationships/image" Target="../media/image21.png"/><Relationship Id="rId6" Type="http://schemas.openxmlformats.org/officeDocument/2006/relationships/image" Target="../media/image2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Markov Process</a:t>
            </a:r>
            <a:endParaRPr/>
          </a:p>
        </p:txBody>
      </p:sp>
      <p:sp>
        <p:nvSpPr>
          <p:cNvPr id="123" name="Google Shape;123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1"/>
          <p:cNvSpPr txBox="1"/>
          <p:nvPr/>
        </p:nvSpPr>
        <p:spPr>
          <a:xfrm>
            <a:off x="522288" y="2173288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1"/>
          <p:cNvSpPr txBox="1"/>
          <p:nvPr/>
        </p:nvSpPr>
        <p:spPr>
          <a:xfrm>
            <a:off x="190500" y="1271588"/>
            <a:ext cx="8953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b="0" i="0" lang="en-US" sz="2400" u="none" cap="none" strike="noStrike">
                <a:solidFill>
                  <a:srgbClr val="9933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Markov Property: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state of the system at time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depends only on the state of the system at time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grpSp>
        <p:nvGrpSpPr>
          <p:cNvPr id="126" name="Google Shape;126;p1"/>
          <p:cNvGrpSpPr/>
          <p:nvPr/>
        </p:nvGrpSpPr>
        <p:grpSpPr>
          <a:xfrm>
            <a:off x="1225550" y="3235325"/>
            <a:ext cx="6089650" cy="528638"/>
            <a:chOff x="772" y="2190"/>
            <a:chExt cx="3836" cy="333"/>
          </a:xfrm>
        </p:grpSpPr>
        <p:sp>
          <p:nvSpPr>
            <p:cNvPr id="127" name="Google Shape;127;p1"/>
            <p:cNvSpPr/>
            <p:nvPr/>
          </p:nvSpPr>
          <p:spPr>
            <a:xfrm>
              <a:off x="772" y="2201"/>
              <a:ext cx="386" cy="320"/>
            </a:xfrm>
            <a:prstGeom prst="ellipse">
              <a:avLst/>
            </a:prstGeom>
            <a:solidFill>
              <a:srgbClr val="FF9966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0" baseline="-2500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128" name="Google Shape;128;p1"/>
            <p:cNvSpPr/>
            <p:nvPr/>
          </p:nvSpPr>
          <p:spPr>
            <a:xfrm>
              <a:off x="1640" y="2190"/>
              <a:ext cx="386" cy="320"/>
            </a:xfrm>
            <a:prstGeom prst="ellipse">
              <a:avLst/>
            </a:prstGeom>
            <a:solidFill>
              <a:srgbClr val="FF9966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0" baseline="-2500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2488" y="2199"/>
              <a:ext cx="386" cy="320"/>
            </a:xfrm>
            <a:prstGeom prst="ellipse">
              <a:avLst/>
            </a:prstGeom>
            <a:solidFill>
              <a:srgbClr val="FF9966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0" baseline="-2500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3343" y="2198"/>
              <a:ext cx="386" cy="320"/>
            </a:xfrm>
            <a:prstGeom prst="ellipse">
              <a:avLst/>
            </a:prstGeom>
            <a:solidFill>
              <a:srgbClr val="FF9966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0" baseline="-2500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/>
            </a:p>
          </p:txBody>
        </p:sp>
        <p:sp>
          <p:nvSpPr>
            <p:cNvPr id="131" name="Google Shape;131;p1"/>
            <p:cNvSpPr/>
            <p:nvPr/>
          </p:nvSpPr>
          <p:spPr>
            <a:xfrm>
              <a:off x="4222" y="2203"/>
              <a:ext cx="386" cy="320"/>
            </a:xfrm>
            <a:prstGeom prst="ellipse">
              <a:avLst/>
            </a:prstGeom>
            <a:solidFill>
              <a:srgbClr val="FF9966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0" baseline="-2500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/>
            </a:p>
          </p:txBody>
        </p:sp>
        <p:cxnSp>
          <p:nvCxnSpPr>
            <p:cNvPr id="132" name="Google Shape;132;p1"/>
            <p:cNvCxnSpPr>
              <a:stCxn id="127" idx="7"/>
              <a:endCxn id="128" idx="1"/>
            </p:cNvCxnSpPr>
            <p:nvPr/>
          </p:nvCxnSpPr>
          <p:spPr>
            <a:xfrm rot="10800000">
              <a:off x="1401" y="1948"/>
              <a:ext cx="0" cy="600"/>
            </a:xfrm>
            <a:prstGeom prst="curvedConnector3">
              <a:avLst>
                <a:gd fmla="val 20886736" name="adj1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3" name="Google Shape;133;p1"/>
            <p:cNvCxnSpPr>
              <a:stCxn id="128" idx="7"/>
              <a:endCxn id="129" idx="1"/>
            </p:cNvCxnSpPr>
            <p:nvPr/>
          </p:nvCxnSpPr>
          <p:spPr>
            <a:xfrm rot="10800000">
              <a:off x="2269" y="1937"/>
              <a:ext cx="0" cy="600"/>
            </a:xfrm>
            <a:prstGeom prst="curvedConnector3">
              <a:avLst>
                <a:gd fmla="val -25983404" name="adj1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4" name="Google Shape;134;p1"/>
            <p:cNvCxnSpPr>
              <a:stCxn id="129" idx="7"/>
              <a:endCxn id="130" idx="1"/>
            </p:cNvCxnSpPr>
            <p:nvPr/>
          </p:nvCxnSpPr>
          <p:spPr>
            <a:xfrm rot="10800000">
              <a:off x="3117" y="1946"/>
              <a:ext cx="0" cy="600"/>
            </a:xfrm>
            <a:prstGeom prst="curvedConnector3">
              <a:avLst>
                <a:gd fmla="val 208667272" name="adj1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5" name="Google Shape;135;p1"/>
            <p:cNvCxnSpPr>
              <a:stCxn id="130" idx="7"/>
              <a:endCxn id="131" idx="1"/>
            </p:cNvCxnSpPr>
            <p:nvPr/>
          </p:nvCxnSpPr>
          <p:spPr>
            <a:xfrm rot="10800000">
              <a:off x="3972" y="1945"/>
              <a:ext cx="0" cy="600"/>
            </a:xfrm>
            <a:prstGeom prst="curvedConnector3">
              <a:avLst>
                <a:gd fmla="val -41713616" name="adj1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136" name="Google Shape;13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475" y="2332038"/>
            <a:ext cx="8489950" cy="455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"/>
          <p:cNvSpPr txBox="1"/>
          <p:nvPr/>
        </p:nvSpPr>
        <p:spPr>
          <a:xfrm>
            <a:off x="190500" y="3929063"/>
            <a:ext cx="8953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b="0" i="0" lang="en-US" sz="2400" u="none" cap="none" strike="noStrike">
                <a:solidFill>
                  <a:srgbClr val="9933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Stationary Assumption: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Transition probabilities are independent of time (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)</a:t>
            </a:r>
            <a:endParaRPr/>
          </a:p>
        </p:txBody>
      </p:sp>
      <p:pic>
        <p:nvPicPr>
          <p:cNvPr id="138" name="Google Shape;13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5913" y="4746625"/>
            <a:ext cx="3413125" cy="506413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"/>
          <p:cNvSpPr txBox="1"/>
          <p:nvPr/>
        </p:nvSpPr>
        <p:spPr>
          <a:xfrm>
            <a:off x="2147888" y="5541963"/>
            <a:ext cx="4984750" cy="469900"/>
          </a:xfrm>
          <a:prstGeom prst="rect">
            <a:avLst/>
          </a:prstGeom>
          <a:solidFill>
            <a:srgbClr val="FFFF99"/>
          </a:solidFill>
          <a:ln cap="flat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  <a:t>Bounded memory transition model</a:t>
            </a:r>
            <a:endParaRPr/>
          </a:p>
        </p:txBody>
      </p:sp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p2"/>
          <p:cNvSpPr txBox="1"/>
          <p:nvPr/>
        </p:nvSpPr>
        <p:spPr>
          <a:xfrm>
            <a:off x="468313" y="1452563"/>
            <a:ext cx="8332787" cy="2682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9933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Weather:</a:t>
            </a:r>
            <a:endParaRPr/>
          </a:p>
          <a:p>
            <a:pPr indent="-12700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•"/>
            </a:pPr>
            <a:r>
              <a:rPr b="1"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raining today			40% rain tomorrow 	  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			60% no rain tomorrow	  </a:t>
            </a:r>
            <a:endParaRPr b="1"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2700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•"/>
            </a:pPr>
            <a:r>
              <a:rPr b="1"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not raining today		20% rain tomorrow	</a:t>
            </a:r>
            <a:endParaRPr b="1"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	</a:t>
            </a:r>
            <a:r>
              <a:rPr b="1"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	80% no rain tomorrow</a:t>
            </a:r>
            <a:endParaRPr b="1"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2"/>
          <p:cNvSpPr/>
          <p:nvPr/>
        </p:nvSpPr>
        <p:spPr>
          <a:xfrm>
            <a:off x="3008313" y="1954213"/>
            <a:ext cx="676275" cy="296862"/>
          </a:xfrm>
          <a:prstGeom prst="rightArrow">
            <a:avLst>
              <a:gd fmla="val 50000" name="adj1"/>
              <a:gd fmla="val 56952" name="adj2"/>
            </a:avLst>
          </a:prstGeom>
          <a:solidFill>
            <a:srgbClr val="00FF00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8" name="Google Shape;148;p2"/>
          <p:cNvSpPr/>
          <p:nvPr/>
        </p:nvSpPr>
        <p:spPr>
          <a:xfrm>
            <a:off x="3008313" y="2400300"/>
            <a:ext cx="676275" cy="296863"/>
          </a:xfrm>
          <a:prstGeom prst="rightArrow">
            <a:avLst>
              <a:gd fmla="val 50000" name="adj1"/>
              <a:gd fmla="val 56952" name="adj2"/>
            </a:avLst>
          </a:prstGeom>
          <a:solidFill>
            <a:srgbClr val="00FF00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9" name="Google Shape;149;p2"/>
          <p:cNvSpPr/>
          <p:nvPr/>
        </p:nvSpPr>
        <p:spPr>
          <a:xfrm>
            <a:off x="2995613" y="3349625"/>
            <a:ext cx="676275" cy="296863"/>
          </a:xfrm>
          <a:prstGeom prst="rightArrow">
            <a:avLst>
              <a:gd fmla="val 50000" name="adj1"/>
              <a:gd fmla="val 56952" name="adj2"/>
            </a:avLst>
          </a:prstGeom>
          <a:solidFill>
            <a:srgbClr val="00FF00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0" name="Google Shape;150;p2"/>
          <p:cNvSpPr/>
          <p:nvPr/>
        </p:nvSpPr>
        <p:spPr>
          <a:xfrm>
            <a:off x="3008313" y="3759200"/>
            <a:ext cx="676275" cy="296863"/>
          </a:xfrm>
          <a:prstGeom prst="rightArrow">
            <a:avLst>
              <a:gd fmla="val 50000" name="adj1"/>
              <a:gd fmla="val 56952" name="adj2"/>
            </a:avLst>
          </a:prstGeom>
          <a:solidFill>
            <a:srgbClr val="00FF00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455613" y="207963"/>
            <a:ext cx="841216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Markov Process</a:t>
            </a:r>
            <a:br>
              <a:rPr b="1" lang="en-US" sz="36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Simple Example</a:t>
            </a:r>
            <a:endParaRPr/>
          </a:p>
        </p:txBody>
      </p:sp>
      <p:grpSp>
        <p:nvGrpSpPr>
          <p:cNvPr id="152" name="Google Shape;152;p2"/>
          <p:cNvGrpSpPr/>
          <p:nvPr/>
        </p:nvGrpSpPr>
        <p:grpSpPr>
          <a:xfrm>
            <a:off x="2581275" y="4475163"/>
            <a:ext cx="3854450" cy="1984375"/>
            <a:chOff x="1646" y="3027"/>
            <a:chExt cx="1610" cy="910"/>
          </a:xfrm>
        </p:grpSpPr>
        <p:sp>
          <p:nvSpPr>
            <p:cNvPr id="153" name="Google Shape;153;p2"/>
            <p:cNvSpPr/>
            <p:nvPr/>
          </p:nvSpPr>
          <p:spPr>
            <a:xfrm>
              <a:off x="1707" y="3365"/>
              <a:ext cx="648" cy="252"/>
            </a:xfrm>
            <a:prstGeom prst="ellipse">
              <a:avLst/>
            </a:prstGeom>
            <a:solidFill>
              <a:srgbClr val="FFFF99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rain</a:t>
              </a: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2537" y="3379"/>
              <a:ext cx="626" cy="252"/>
            </a:xfrm>
            <a:prstGeom prst="ellipse">
              <a:avLst/>
            </a:prstGeom>
            <a:solidFill>
              <a:srgbClr val="FFFF99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 rain</a:t>
              </a:r>
              <a:endParaRPr/>
            </a:p>
          </p:txBody>
        </p:sp>
        <p:cxnSp>
          <p:nvCxnSpPr>
            <p:cNvPr id="155" name="Google Shape;155;p2"/>
            <p:cNvCxnSpPr>
              <a:stCxn id="153" idx="7"/>
              <a:endCxn id="154" idx="1"/>
            </p:cNvCxnSpPr>
            <p:nvPr/>
          </p:nvCxnSpPr>
          <p:spPr>
            <a:xfrm rot="10800000">
              <a:off x="2410" y="3252"/>
              <a:ext cx="0" cy="300"/>
            </a:xfrm>
            <a:prstGeom prst="curvedConnector3">
              <a:avLst>
                <a:gd fmla="val -17233988" name="adj1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6" name="Google Shape;156;p2"/>
            <p:cNvCxnSpPr>
              <a:stCxn id="154" idx="3"/>
              <a:endCxn id="153" idx="5"/>
            </p:cNvCxnSpPr>
            <p:nvPr/>
          </p:nvCxnSpPr>
          <p:spPr>
            <a:xfrm>
              <a:off x="2479" y="3444"/>
              <a:ext cx="0" cy="300"/>
            </a:xfrm>
            <a:prstGeom prst="curvedConnector3">
              <a:avLst>
                <a:gd fmla="val 18774991" name="adj1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7" name="Google Shape;157;p2"/>
            <p:cNvCxnSpPr>
              <a:stCxn id="154" idx="7"/>
              <a:endCxn id="154" idx="6"/>
            </p:cNvCxnSpPr>
            <p:nvPr/>
          </p:nvCxnSpPr>
          <p:spPr>
            <a:xfrm>
              <a:off x="3071" y="3416"/>
              <a:ext cx="0" cy="0"/>
            </a:xfrm>
            <a:prstGeom prst="curvedConnector4">
              <a:avLst>
                <a:gd fmla="val -2403220" name="adj1"/>
                <a:gd fmla="val -2501315" name="adj2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8" name="Google Shape;158;p2"/>
            <p:cNvCxnSpPr>
              <a:stCxn id="153" idx="1"/>
              <a:endCxn id="153" idx="2"/>
            </p:cNvCxnSpPr>
            <p:nvPr/>
          </p:nvCxnSpPr>
          <p:spPr>
            <a:xfrm>
              <a:off x="1802" y="3402"/>
              <a:ext cx="0" cy="0"/>
            </a:xfrm>
            <a:prstGeom prst="curvedConnector4">
              <a:avLst>
                <a:gd fmla="val -2388870" name="adj1"/>
                <a:gd fmla="val 1197615" name="adj2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9" name="Google Shape;159;p2"/>
            <p:cNvSpPr txBox="1"/>
            <p:nvPr/>
          </p:nvSpPr>
          <p:spPr>
            <a:xfrm>
              <a:off x="2284" y="3027"/>
              <a:ext cx="385" cy="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0.6</a:t>
              </a:r>
              <a:endParaRPr/>
            </a:p>
          </p:txBody>
        </p:sp>
        <p:sp>
          <p:nvSpPr>
            <p:cNvPr id="160" name="Google Shape;160;p2"/>
            <p:cNvSpPr txBox="1"/>
            <p:nvPr/>
          </p:nvSpPr>
          <p:spPr>
            <a:xfrm>
              <a:off x="1646" y="3076"/>
              <a:ext cx="326" cy="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0.4</a:t>
              </a:r>
              <a:endParaRPr/>
            </a:p>
          </p:txBody>
        </p:sp>
        <p:sp>
          <p:nvSpPr>
            <p:cNvPr id="161" name="Google Shape;161;p2"/>
            <p:cNvSpPr txBox="1"/>
            <p:nvPr/>
          </p:nvSpPr>
          <p:spPr>
            <a:xfrm>
              <a:off x="2913" y="3103"/>
              <a:ext cx="343" cy="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0.8</a:t>
              </a:r>
              <a:endParaRPr/>
            </a:p>
          </p:txBody>
        </p:sp>
        <p:sp>
          <p:nvSpPr>
            <p:cNvPr id="162" name="Google Shape;162;p2"/>
            <p:cNvSpPr txBox="1"/>
            <p:nvPr/>
          </p:nvSpPr>
          <p:spPr>
            <a:xfrm>
              <a:off x="2277" y="3769"/>
              <a:ext cx="376" cy="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0.2</a:t>
              </a:r>
              <a:endParaRPr/>
            </a:p>
          </p:txBody>
        </p:sp>
      </p:grpSp>
      <p:sp>
        <p:nvSpPr>
          <p:cNvPr id="163" name="Google Shape;163;p2"/>
          <p:cNvSpPr txBox="1"/>
          <p:nvPr/>
        </p:nvSpPr>
        <p:spPr>
          <a:xfrm>
            <a:off x="185738" y="4249738"/>
            <a:ext cx="2568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933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Stochastic FSM:</a:t>
            </a:r>
            <a:endParaRPr/>
          </a:p>
        </p:txBody>
      </p:sp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613" y="4706938"/>
            <a:ext cx="2832100" cy="134143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3"/>
          <p:cNvSpPr txBox="1"/>
          <p:nvPr/>
        </p:nvSpPr>
        <p:spPr>
          <a:xfrm>
            <a:off x="468313" y="1452563"/>
            <a:ext cx="8332787" cy="2682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9933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Weather:</a:t>
            </a:r>
            <a:endParaRPr/>
          </a:p>
          <a:p>
            <a:pPr indent="-12700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•"/>
            </a:pPr>
            <a:r>
              <a:rPr b="1"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raining today			40% rain tomorrow 	  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			60% no rain tomorrow	  </a:t>
            </a:r>
            <a:endParaRPr b="1"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2700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•"/>
            </a:pPr>
            <a:r>
              <a:rPr b="1"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not raining today		20% rain tomorrow	</a:t>
            </a:r>
            <a:endParaRPr b="1"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	</a:t>
            </a:r>
            <a:r>
              <a:rPr b="1"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	80% no rain tomorrow</a:t>
            </a:r>
            <a:endParaRPr b="1"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3008313" y="1954213"/>
            <a:ext cx="676275" cy="296862"/>
          </a:xfrm>
          <a:prstGeom prst="rightArrow">
            <a:avLst>
              <a:gd fmla="val 50000" name="adj1"/>
              <a:gd fmla="val 56952" name="adj2"/>
            </a:avLst>
          </a:prstGeom>
          <a:solidFill>
            <a:srgbClr val="00FF00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3008313" y="2400300"/>
            <a:ext cx="676275" cy="296863"/>
          </a:xfrm>
          <a:prstGeom prst="rightArrow">
            <a:avLst>
              <a:gd fmla="val 50000" name="adj1"/>
              <a:gd fmla="val 56952" name="adj2"/>
            </a:avLst>
          </a:prstGeom>
          <a:solidFill>
            <a:srgbClr val="00FF00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2995613" y="3349625"/>
            <a:ext cx="676275" cy="296863"/>
          </a:xfrm>
          <a:prstGeom prst="rightArrow">
            <a:avLst>
              <a:gd fmla="val 50000" name="adj1"/>
              <a:gd fmla="val 56952" name="adj2"/>
            </a:avLst>
          </a:prstGeom>
          <a:solidFill>
            <a:srgbClr val="00FF00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3008313" y="3759200"/>
            <a:ext cx="676275" cy="296863"/>
          </a:xfrm>
          <a:prstGeom prst="rightArrow">
            <a:avLst>
              <a:gd fmla="val 50000" name="adj1"/>
              <a:gd fmla="val 56952" name="adj2"/>
            </a:avLst>
          </a:prstGeom>
          <a:solidFill>
            <a:srgbClr val="00FF00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455613" y="207963"/>
            <a:ext cx="841216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Markov Process</a:t>
            </a:r>
            <a:br>
              <a:rPr b="1" lang="en-US" sz="36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Simple Example</a:t>
            </a:r>
            <a:endParaRPr/>
          </a:p>
        </p:txBody>
      </p:sp>
      <p:sp>
        <p:nvSpPr>
          <p:cNvPr id="177" name="Google Shape;177;p3"/>
          <p:cNvSpPr txBox="1"/>
          <p:nvPr/>
        </p:nvSpPr>
        <p:spPr>
          <a:xfrm>
            <a:off x="3770313" y="4692650"/>
            <a:ext cx="5027612" cy="131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Comic Sans MS"/>
              <a:buChar char="•"/>
            </a:pPr>
            <a:r>
              <a:rPr lang="en-US" sz="2000">
                <a:solidFill>
                  <a:srgbClr val="33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 Stochastic matrix: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Rows sum up to 1</a:t>
            </a:r>
            <a:endParaRPr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Comic Sans MS"/>
              <a:buChar char="•"/>
            </a:pPr>
            <a:r>
              <a:rPr lang="en-US" sz="2000">
                <a:solidFill>
                  <a:srgbClr val="33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 Double stochastic matrix: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Rows and columns sum up to 1</a:t>
            </a:r>
            <a:endParaRPr/>
          </a:p>
        </p:txBody>
      </p:sp>
      <p:sp>
        <p:nvSpPr>
          <p:cNvPr id="178" name="Google Shape;178;p3"/>
          <p:cNvSpPr txBox="1"/>
          <p:nvPr/>
        </p:nvSpPr>
        <p:spPr>
          <a:xfrm>
            <a:off x="376238" y="4310063"/>
            <a:ext cx="281781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9933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transition matrix: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4"/>
          <p:cNvSpPr txBox="1"/>
          <p:nvPr/>
        </p:nvSpPr>
        <p:spPr>
          <a:xfrm>
            <a:off x="246063" y="1390650"/>
            <a:ext cx="8872537" cy="2949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– </a:t>
            </a:r>
            <a:r>
              <a:rPr lang="en-US" sz="2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Gambler starts with $10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 </a:t>
            </a:r>
            <a:r>
              <a:rPr lang="en-US" sz="2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At each play we have one of the following:</a:t>
            </a:r>
            <a:endParaRPr/>
          </a:p>
          <a:p>
            <a:pPr indent="0" lvl="1" marL="45720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Gambler wins $1 with probability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/>
          </a:p>
          <a:p>
            <a:pPr indent="0" lvl="1" marL="45720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Gambler looses $1 with probability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– </a:t>
            </a:r>
            <a:r>
              <a:rPr lang="en-US" sz="2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Game ends when gambler goes broke, or gains a fortune of $100</a:t>
            </a:r>
            <a:endParaRPr/>
          </a:p>
          <a:p>
            <a:pPr indent="0" lvl="1" marL="45720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(Both 0 and 100 are absorbing states)</a:t>
            </a:r>
            <a:endParaRPr/>
          </a:p>
        </p:txBody>
      </p:sp>
      <p:grpSp>
        <p:nvGrpSpPr>
          <p:cNvPr id="186" name="Google Shape;186;p4"/>
          <p:cNvGrpSpPr/>
          <p:nvPr/>
        </p:nvGrpSpPr>
        <p:grpSpPr>
          <a:xfrm>
            <a:off x="1146175" y="3961729"/>
            <a:ext cx="6278563" cy="2586709"/>
            <a:chOff x="714" y="2600"/>
            <a:chExt cx="3955" cy="1629"/>
          </a:xfrm>
        </p:grpSpPr>
        <p:sp>
          <p:nvSpPr>
            <p:cNvPr id="187" name="Google Shape;187;p4"/>
            <p:cNvSpPr/>
            <p:nvPr/>
          </p:nvSpPr>
          <p:spPr>
            <a:xfrm>
              <a:off x="714" y="3127"/>
              <a:ext cx="268" cy="400"/>
            </a:xfrm>
            <a:prstGeom prst="ellipse">
              <a:avLst/>
            </a:prstGeom>
            <a:solidFill>
              <a:srgbClr val="FFFF00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/>
            </a:p>
          </p:txBody>
        </p:sp>
        <p:sp>
          <p:nvSpPr>
            <p:cNvPr id="188" name="Google Shape;188;p4"/>
            <p:cNvSpPr/>
            <p:nvPr/>
          </p:nvSpPr>
          <p:spPr>
            <a:xfrm>
              <a:off x="1341" y="3127"/>
              <a:ext cx="268" cy="400"/>
            </a:xfrm>
            <a:prstGeom prst="ellipse">
              <a:avLst/>
            </a:prstGeom>
            <a:solidFill>
              <a:srgbClr val="FFFF00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189" name="Google Shape;189;p4"/>
            <p:cNvSpPr/>
            <p:nvPr/>
          </p:nvSpPr>
          <p:spPr>
            <a:xfrm>
              <a:off x="1939" y="3157"/>
              <a:ext cx="268" cy="400"/>
            </a:xfrm>
            <a:prstGeom prst="ellipse">
              <a:avLst/>
            </a:prstGeom>
            <a:solidFill>
              <a:srgbClr val="FFFF00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190" name="Google Shape;190;p4"/>
            <p:cNvSpPr/>
            <p:nvPr/>
          </p:nvSpPr>
          <p:spPr>
            <a:xfrm>
              <a:off x="3402" y="3141"/>
              <a:ext cx="404" cy="400"/>
            </a:xfrm>
            <a:prstGeom prst="ellipse">
              <a:avLst/>
            </a:prstGeom>
            <a:solidFill>
              <a:srgbClr val="FFFF00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99</a:t>
              </a:r>
              <a:endParaRPr/>
            </a:p>
          </p:txBody>
        </p:sp>
        <p:sp>
          <p:nvSpPr>
            <p:cNvPr id="191" name="Google Shape;191;p4"/>
            <p:cNvSpPr/>
            <p:nvPr/>
          </p:nvSpPr>
          <p:spPr>
            <a:xfrm>
              <a:off x="4197" y="3169"/>
              <a:ext cx="472" cy="346"/>
            </a:xfrm>
            <a:prstGeom prst="ellipse">
              <a:avLst/>
            </a:prstGeom>
            <a:solidFill>
              <a:srgbClr val="FFFF00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100</a:t>
              </a:r>
              <a:endParaRPr/>
            </a:p>
          </p:txBody>
        </p:sp>
        <p:cxnSp>
          <p:nvCxnSpPr>
            <p:cNvPr id="192" name="Google Shape;192;p4"/>
            <p:cNvCxnSpPr>
              <a:stCxn id="188" idx="7"/>
              <a:endCxn id="189" idx="1"/>
            </p:cNvCxnSpPr>
            <p:nvPr/>
          </p:nvCxnSpPr>
          <p:spPr>
            <a:xfrm rot="10800000">
              <a:off x="1720" y="3036"/>
              <a:ext cx="0" cy="300"/>
            </a:xfrm>
            <a:prstGeom prst="curvedConnector3">
              <a:avLst>
                <a:gd fmla="val -10240401" name="adj1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3" name="Google Shape;193;p4"/>
            <p:cNvCxnSpPr>
              <a:stCxn id="189" idx="7"/>
            </p:cNvCxnSpPr>
            <p:nvPr/>
          </p:nvCxnSpPr>
          <p:spPr>
            <a:xfrm flipH="1" rot="-5400000">
              <a:off x="2168" y="3216"/>
              <a:ext cx="600" cy="600"/>
            </a:xfrm>
            <a:prstGeom prst="curvedConnector4">
              <a:avLst>
                <a:gd fmla="val -38770022" name="adj1"/>
                <a:gd fmla="val -365535" name="adj2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4" name="Google Shape;194;p4"/>
            <p:cNvCxnSpPr>
              <a:stCxn id="190" idx="7"/>
              <a:endCxn id="191" idx="1"/>
            </p:cNvCxnSpPr>
            <p:nvPr/>
          </p:nvCxnSpPr>
          <p:spPr>
            <a:xfrm rot="10800000">
              <a:off x="4047" y="2900"/>
              <a:ext cx="0" cy="600"/>
            </a:xfrm>
            <a:prstGeom prst="curvedConnector3">
              <a:avLst>
                <a:gd fmla="val -308661123" name="adj1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5" name="Google Shape;195;p4"/>
            <p:cNvCxnSpPr>
              <a:endCxn id="190" idx="1"/>
            </p:cNvCxnSpPr>
            <p:nvPr/>
          </p:nvCxnSpPr>
          <p:spPr>
            <a:xfrm flipH="1" rot="-5400000">
              <a:off x="2861" y="2600"/>
              <a:ext cx="600" cy="600"/>
            </a:xfrm>
            <a:prstGeom prst="curvedConnector4">
              <a:avLst>
                <a:gd fmla="val -675913" name="adj1"/>
                <a:gd fmla="val 14127780" name="adj2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6" name="Google Shape;196;p4"/>
            <p:cNvCxnSpPr>
              <a:stCxn id="189" idx="3"/>
              <a:endCxn id="188" idx="5"/>
            </p:cNvCxnSpPr>
            <p:nvPr/>
          </p:nvCxnSpPr>
          <p:spPr>
            <a:xfrm>
              <a:off x="1828" y="3348"/>
              <a:ext cx="0" cy="300"/>
            </a:xfrm>
            <a:prstGeom prst="curvedConnector3">
              <a:avLst>
                <a:gd fmla="val 11332227" name="adj1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7" name="Google Shape;197;p4"/>
            <p:cNvCxnSpPr>
              <a:stCxn id="188" idx="3"/>
              <a:endCxn id="187" idx="5"/>
            </p:cNvCxnSpPr>
            <p:nvPr/>
          </p:nvCxnSpPr>
          <p:spPr>
            <a:xfrm>
              <a:off x="1230" y="3318"/>
              <a:ext cx="0" cy="300"/>
            </a:xfrm>
            <a:prstGeom prst="curvedConnector3">
              <a:avLst>
                <a:gd fmla="val -336968698" name="adj1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8" name="Google Shape;198;p4"/>
            <p:cNvCxnSpPr>
              <a:stCxn id="190" idx="3"/>
            </p:cNvCxnSpPr>
            <p:nvPr/>
          </p:nvCxnSpPr>
          <p:spPr>
            <a:xfrm flipH="1" rot="-5400000">
              <a:off x="3461" y="3482"/>
              <a:ext cx="600" cy="600"/>
            </a:xfrm>
            <a:prstGeom prst="curvedConnector4">
              <a:avLst>
                <a:gd fmla="val -8903101" name="adj1"/>
                <a:gd fmla="val 951112" name="adj2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9" name="Google Shape;199;p4"/>
            <p:cNvCxnSpPr>
              <a:endCxn id="189" idx="5"/>
            </p:cNvCxnSpPr>
            <p:nvPr/>
          </p:nvCxnSpPr>
          <p:spPr>
            <a:xfrm rot="5400000">
              <a:off x="2168" y="2898"/>
              <a:ext cx="600" cy="600"/>
            </a:xfrm>
            <a:prstGeom prst="curvedConnector4">
              <a:avLst>
                <a:gd fmla="val 481481" name="adj1"/>
                <a:gd fmla="val -24183343" name="adj2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0" name="Google Shape;200;p4"/>
            <p:cNvSpPr txBox="1"/>
            <p:nvPr/>
          </p:nvSpPr>
          <p:spPr>
            <a:xfrm>
              <a:off x="1683" y="2782"/>
              <a:ext cx="149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/>
            </a:p>
          </p:txBody>
        </p:sp>
        <p:sp>
          <p:nvSpPr>
            <p:cNvPr id="201" name="Google Shape;201;p4"/>
            <p:cNvSpPr txBox="1"/>
            <p:nvPr/>
          </p:nvSpPr>
          <p:spPr>
            <a:xfrm>
              <a:off x="2280" y="2803"/>
              <a:ext cx="149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/>
            </a:p>
          </p:txBody>
        </p:sp>
        <p:sp>
          <p:nvSpPr>
            <p:cNvPr id="202" name="Google Shape;202;p4"/>
            <p:cNvSpPr txBox="1"/>
            <p:nvPr/>
          </p:nvSpPr>
          <p:spPr>
            <a:xfrm>
              <a:off x="3200" y="2796"/>
              <a:ext cx="149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/>
            </a:p>
          </p:txBody>
        </p:sp>
        <p:sp>
          <p:nvSpPr>
            <p:cNvPr id="203" name="Google Shape;203;p4"/>
            <p:cNvSpPr txBox="1"/>
            <p:nvPr/>
          </p:nvSpPr>
          <p:spPr>
            <a:xfrm>
              <a:off x="3994" y="2803"/>
              <a:ext cx="149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/>
            </a:p>
          </p:txBody>
        </p:sp>
        <p:sp>
          <p:nvSpPr>
            <p:cNvPr id="204" name="Google Shape;204;p4"/>
            <p:cNvSpPr txBox="1"/>
            <p:nvPr/>
          </p:nvSpPr>
          <p:spPr>
            <a:xfrm>
              <a:off x="979" y="3656"/>
              <a:ext cx="29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1-p</a:t>
              </a:r>
              <a:endParaRPr/>
            </a:p>
          </p:txBody>
        </p:sp>
        <p:sp>
          <p:nvSpPr>
            <p:cNvPr id="205" name="Google Shape;205;p4"/>
            <p:cNvSpPr txBox="1"/>
            <p:nvPr/>
          </p:nvSpPr>
          <p:spPr>
            <a:xfrm>
              <a:off x="1621" y="3692"/>
              <a:ext cx="29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1-p</a:t>
              </a:r>
              <a:endParaRPr/>
            </a:p>
          </p:txBody>
        </p:sp>
        <p:sp>
          <p:nvSpPr>
            <p:cNvPr id="206" name="Google Shape;206;p4"/>
            <p:cNvSpPr txBox="1"/>
            <p:nvPr/>
          </p:nvSpPr>
          <p:spPr>
            <a:xfrm>
              <a:off x="2197" y="3685"/>
              <a:ext cx="29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1-p</a:t>
              </a:r>
              <a:endParaRPr/>
            </a:p>
          </p:txBody>
        </p:sp>
        <p:sp>
          <p:nvSpPr>
            <p:cNvPr id="207" name="Google Shape;207;p4"/>
            <p:cNvSpPr txBox="1"/>
            <p:nvPr/>
          </p:nvSpPr>
          <p:spPr>
            <a:xfrm>
              <a:off x="3117" y="3670"/>
              <a:ext cx="29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1-p</a:t>
              </a:r>
              <a:endParaRPr/>
            </a:p>
          </p:txBody>
        </p:sp>
        <p:sp>
          <p:nvSpPr>
            <p:cNvPr id="208" name="Google Shape;208;p4"/>
            <p:cNvSpPr/>
            <p:nvPr/>
          </p:nvSpPr>
          <p:spPr>
            <a:xfrm>
              <a:off x="2521" y="3579"/>
              <a:ext cx="598" cy="650"/>
            </a:xfrm>
            <a:prstGeom prst="upArrowCallout">
              <a:avLst>
                <a:gd fmla="val 25000" name="adj1"/>
                <a:gd fmla="val 25000" name="adj2"/>
                <a:gd fmla="val 18116" name="adj3"/>
                <a:gd fmla="val 66667" name="adj4"/>
              </a:avLst>
            </a:prstGeom>
            <a:solidFill>
              <a:srgbClr val="FF9966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Start </a:t>
              </a:r>
              <a:r>
                <a:rPr lang="en-US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(10$)</a:t>
              </a:r>
              <a:endParaRPr/>
            </a:p>
          </p:txBody>
        </p:sp>
        <p:cxnSp>
          <p:nvCxnSpPr>
            <p:cNvPr id="209" name="Google Shape;209;p4"/>
            <p:cNvCxnSpPr>
              <a:stCxn id="187" idx="1"/>
              <a:endCxn id="187" idx="2"/>
            </p:cNvCxnSpPr>
            <p:nvPr/>
          </p:nvCxnSpPr>
          <p:spPr>
            <a:xfrm>
              <a:off x="753" y="3186"/>
              <a:ext cx="0" cy="0"/>
            </a:xfrm>
            <a:prstGeom prst="curvedConnector4">
              <a:avLst>
                <a:gd fmla="val -2061826" name="adj1"/>
                <a:gd fmla="val 1618385" name="adj2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0" name="Google Shape;210;p4"/>
            <p:cNvCxnSpPr>
              <a:stCxn id="191" idx="7"/>
              <a:endCxn id="191" idx="6"/>
            </p:cNvCxnSpPr>
            <p:nvPr/>
          </p:nvCxnSpPr>
          <p:spPr>
            <a:xfrm>
              <a:off x="4600" y="3220"/>
              <a:ext cx="0" cy="0"/>
            </a:xfrm>
            <a:prstGeom prst="curvedConnector4">
              <a:avLst>
                <a:gd fmla="val -2072222" name="adj1"/>
                <a:gd fmla="val -8133059" name="adj2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11" name="Google Shape;211;p4"/>
          <p:cNvSpPr/>
          <p:nvPr/>
        </p:nvSpPr>
        <p:spPr>
          <a:xfrm>
            <a:off x="455613" y="207963"/>
            <a:ext cx="841216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Markov Process</a:t>
            </a:r>
            <a:br>
              <a:rPr b="1" lang="en-US" sz="36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Gambler’s Example</a:t>
            </a:r>
            <a:endParaRPr/>
          </a:p>
        </p:txBody>
      </p:sp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7688" y="2897188"/>
            <a:ext cx="2551112" cy="37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" name="Google Shape;219;p5"/>
          <p:cNvSpPr txBox="1"/>
          <p:nvPr/>
        </p:nvSpPr>
        <p:spPr>
          <a:xfrm>
            <a:off x="246063" y="1390650"/>
            <a:ext cx="8872537" cy="2949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Char char="•"/>
            </a:pP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1" lang="en-US" sz="2400">
                <a:solidFill>
                  <a:srgbClr val="9933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Markov process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- described by a stochastic FSM</a:t>
            </a:r>
            <a:endParaRPr/>
          </a:p>
          <a:p>
            <a:pPr indent="-13970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mic Sans MS"/>
              <a:buChar char="•"/>
            </a:pPr>
            <a:r>
              <a:rPr lang="en-US" sz="2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1" lang="en-US" sz="2400">
                <a:solidFill>
                  <a:srgbClr val="9933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Markov chain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- a random walk on this graph 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					(distribution over paths)</a:t>
            </a:r>
            <a:endParaRPr/>
          </a:p>
          <a:p>
            <a:pPr indent="-12700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•"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Edge-weights give us </a:t>
            </a:r>
            <a:endParaRPr/>
          </a:p>
          <a:p>
            <a:pPr indent="-12700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•"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We can ask more complex questions, like </a:t>
            </a:r>
            <a:endParaRPr/>
          </a:p>
        </p:txBody>
      </p:sp>
      <p:sp>
        <p:nvSpPr>
          <p:cNvPr id="220" name="Google Shape;220;p5"/>
          <p:cNvSpPr/>
          <p:nvPr/>
        </p:nvSpPr>
        <p:spPr>
          <a:xfrm>
            <a:off x="455613" y="207963"/>
            <a:ext cx="841216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Markov Process</a:t>
            </a:r>
            <a:endParaRPr/>
          </a:p>
        </p:txBody>
      </p:sp>
      <p:grpSp>
        <p:nvGrpSpPr>
          <p:cNvPr id="221" name="Google Shape;221;p5"/>
          <p:cNvGrpSpPr/>
          <p:nvPr/>
        </p:nvGrpSpPr>
        <p:grpSpPr>
          <a:xfrm>
            <a:off x="5238750" y="3360738"/>
            <a:ext cx="2803525" cy="381000"/>
            <a:chOff x="3348" y="2373"/>
            <a:chExt cx="1766" cy="240"/>
          </a:xfrm>
        </p:grpSpPr>
        <p:pic>
          <p:nvPicPr>
            <p:cNvPr id="222" name="Google Shape;22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8" y="2373"/>
              <a:ext cx="1766" cy="2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" name="Google Shape;223;p5"/>
            <p:cNvSpPr/>
            <p:nvPr/>
          </p:nvSpPr>
          <p:spPr>
            <a:xfrm>
              <a:off x="3797" y="2481"/>
              <a:ext cx="141" cy="132"/>
            </a:xfrm>
            <a:prstGeom prst="ellipse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224" name="Google Shape;224;p5"/>
          <p:cNvGrpSpPr/>
          <p:nvPr/>
        </p:nvGrpSpPr>
        <p:grpSpPr>
          <a:xfrm>
            <a:off x="1146175" y="3682329"/>
            <a:ext cx="6278563" cy="2586709"/>
            <a:chOff x="714" y="2600"/>
            <a:chExt cx="3955" cy="1629"/>
          </a:xfrm>
        </p:grpSpPr>
        <p:sp>
          <p:nvSpPr>
            <p:cNvPr id="225" name="Google Shape;225;p5"/>
            <p:cNvSpPr/>
            <p:nvPr/>
          </p:nvSpPr>
          <p:spPr>
            <a:xfrm>
              <a:off x="714" y="3127"/>
              <a:ext cx="268" cy="400"/>
            </a:xfrm>
            <a:prstGeom prst="ellipse">
              <a:avLst/>
            </a:prstGeom>
            <a:solidFill>
              <a:srgbClr val="FFFF00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/>
            </a:p>
          </p:txBody>
        </p:sp>
        <p:sp>
          <p:nvSpPr>
            <p:cNvPr id="226" name="Google Shape;226;p5"/>
            <p:cNvSpPr/>
            <p:nvPr/>
          </p:nvSpPr>
          <p:spPr>
            <a:xfrm>
              <a:off x="1341" y="3127"/>
              <a:ext cx="268" cy="400"/>
            </a:xfrm>
            <a:prstGeom prst="ellipse">
              <a:avLst/>
            </a:prstGeom>
            <a:solidFill>
              <a:srgbClr val="FFFF00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227" name="Google Shape;227;p5"/>
            <p:cNvSpPr/>
            <p:nvPr/>
          </p:nvSpPr>
          <p:spPr>
            <a:xfrm>
              <a:off x="1939" y="3157"/>
              <a:ext cx="268" cy="400"/>
            </a:xfrm>
            <a:prstGeom prst="ellipse">
              <a:avLst/>
            </a:prstGeom>
            <a:solidFill>
              <a:srgbClr val="FFFF00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3402" y="3141"/>
              <a:ext cx="404" cy="400"/>
            </a:xfrm>
            <a:prstGeom prst="ellipse">
              <a:avLst/>
            </a:prstGeom>
            <a:solidFill>
              <a:srgbClr val="FFFF00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99</a:t>
              </a:r>
              <a:endParaRPr/>
            </a:p>
          </p:txBody>
        </p:sp>
        <p:sp>
          <p:nvSpPr>
            <p:cNvPr id="229" name="Google Shape;229;p5"/>
            <p:cNvSpPr/>
            <p:nvPr/>
          </p:nvSpPr>
          <p:spPr>
            <a:xfrm>
              <a:off x="4197" y="3169"/>
              <a:ext cx="472" cy="346"/>
            </a:xfrm>
            <a:prstGeom prst="ellipse">
              <a:avLst/>
            </a:prstGeom>
            <a:solidFill>
              <a:srgbClr val="FFFF00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100</a:t>
              </a:r>
              <a:endParaRPr/>
            </a:p>
          </p:txBody>
        </p:sp>
        <p:cxnSp>
          <p:nvCxnSpPr>
            <p:cNvPr id="230" name="Google Shape;230;p5"/>
            <p:cNvCxnSpPr>
              <a:stCxn id="226" idx="7"/>
              <a:endCxn id="227" idx="1"/>
            </p:cNvCxnSpPr>
            <p:nvPr/>
          </p:nvCxnSpPr>
          <p:spPr>
            <a:xfrm rot="10800000">
              <a:off x="1720" y="3036"/>
              <a:ext cx="0" cy="300"/>
            </a:xfrm>
            <a:prstGeom prst="curvedConnector3">
              <a:avLst>
                <a:gd fmla="val -9653735" name="adj1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1" name="Google Shape;231;p5"/>
            <p:cNvCxnSpPr>
              <a:stCxn id="227" idx="7"/>
            </p:cNvCxnSpPr>
            <p:nvPr/>
          </p:nvCxnSpPr>
          <p:spPr>
            <a:xfrm flipH="1" rot="-5400000">
              <a:off x="2168" y="3216"/>
              <a:ext cx="600" cy="600"/>
            </a:xfrm>
            <a:prstGeom prst="curvedConnector4">
              <a:avLst>
                <a:gd fmla="val -36570023" name="adj1"/>
                <a:gd fmla="val -365535" name="adj2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2" name="Google Shape;232;p5"/>
            <p:cNvCxnSpPr>
              <a:stCxn id="228" idx="7"/>
              <a:endCxn id="229" idx="1"/>
            </p:cNvCxnSpPr>
            <p:nvPr/>
          </p:nvCxnSpPr>
          <p:spPr>
            <a:xfrm rot="10800000">
              <a:off x="4047" y="2900"/>
              <a:ext cx="0" cy="600"/>
            </a:xfrm>
            <a:prstGeom prst="curvedConnector3">
              <a:avLst>
                <a:gd fmla="val -291061127" name="adj1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3" name="Google Shape;233;p5"/>
            <p:cNvCxnSpPr>
              <a:endCxn id="228" idx="1"/>
            </p:cNvCxnSpPr>
            <p:nvPr/>
          </p:nvCxnSpPr>
          <p:spPr>
            <a:xfrm flipH="1" rot="-5400000">
              <a:off x="2861" y="2600"/>
              <a:ext cx="600" cy="600"/>
            </a:xfrm>
            <a:prstGeom prst="curvedConnector4">
              <a:avLst>
                <a:gd fmla="val -675913" name="adj1"/>
                <a:gd fmla="val 13327780" name="adj2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4" name="Google Shape;234;p5"/>
            <p:cNvCxnSpPr>
              <a:stCxn id="227" idx="3"/>
              <a:endCxn id="226" idx="5"/>
            </p:cNvCxnSpPr>
            <p:nvPr/>
          </p:nvCxnSpPr>
          <p:spPr>
            <a:xfrm>
              <a:off x="1828" y="3348"/>
              <a:ext cx="0" cy="300"/>
            </a:xfrm>
            <a:prstGeom prst="curvedConnector3">
              <a:avLst>
                <a:gd fmla="val 10745560" name="adj1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5" name="Google Shape;235;p5"/>
            <p:cNvCxnSpPr>
              <a:stCxn id="226" idx="3"/>
              <a:endCxn id="225" idx="5"/>
            </p:cNvCxnSpPr>
            <p:nvPr/>
          </p:nvCxnSpPr>
          <p:spPr>
            <a:xfrm>
              <a:off x="1230" y="3318"/>
              <a:ext cx="0" cy="300"/>
            </a:xfrm>
            <a:prstGeom prst="curvedConnector3">
              <a:avLst>
                <a:gd fmla="val -319368701" name="adj1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6" name="Google Shape;236;p5"/>
            <p:cNvCxnSpPr>
              <a:stCxn id="228" idx="3"/>
            </p:cNvCxnSpPr>
            <p:nvPr/>
          </p:nvCxnSpPr>
          <p:spPr>
            <a:xfrm flipH="1" rot="-5400000">
              <a:off x="3461" y="3482"/>
              <a:ext cx="600" cy="600"/>
            </a:xfrm>
            <a:prstGeom prst="curvedConnector4">
              <a:avLst>
                <a:gd fmla="val -8439943" name="adj1"/>
                <a:gd fmla="val 951112" name="adj2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7" name="Google Shape;237;p5"/>
            <p:cNvCxnSpPr>
              <a:endCxn id="227" idx="5"/>
            </p:cNvCxnSpPr>
            <p:nvPr/>
          </p:nvCxnSpPr>
          <p:spPr>
            <a:xfrm rot="5400000">
              <a:off x="2168" y="2898"/>
              <a:ext cx="600" cy="600"/>
            </a:xfrm>
            <a:prstGeom prst="curvedConnector4">
              <a:avLst>
                <a:gd fmla="val 481481" name="adj1"/>
                <a:gd fmla="val -22926201" name="adj2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8" name="Google Shape;238;p5"/>
            <p:cNvSpPr txBox="1"/>
            <p:nvPr/>
          </p:nvSpPr>
          <p:spPr>
            <a:xfrm>
              <a:off x="1683" y="2782"/>
              <a:ext cx="149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/>
            </a:p>
          </p:txBody>
        </p:sp>
        <p:sp>
          <p:nvSpPr>
            <p:cNvPr id="239" name="Google Shape;239;p5"/>
            <p:cNvSpPr txBox="1"/>
            <p:nvPr/>
          </p:nvSpPr>
          <p:spPr>
            <a:xfrm>
              <a:off x="2280" y="2803"/>
              <a:ext cx="149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/>
            </a:p>
          </p:txBody>
        </p:sp>
        <p:sp>
          <p:nvSpPr>
            <p:cNvPr id="240" name="Google Shape;240;p5"/>
            <p:cNvSpPr txBox="1"/>
            <p:nvPr/>
          </p:nvSpPr>
          <p:spPr>
            <a:xfrm>
              <a:off x="3200" y="2796"/>
              <a:ext cx="149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/>
            </a:p>
          </p:txBody>
        </p:sp>
        <p:sp>
          <p:nvSpPr>
            <p:cNvPr id="241" name="Google Shape;241;p5"/>
            <p:cNvSpPr txBox="1"/>
            <p:nvPr/>
          </p:nvSpPr>
          <p:spPr>
            <a:xfrm>
              <a:off x="3994" y="2803"/>
              <a:ext cx="149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/>
            </a:p>
          </p:txBody>
        </p:sp>
        <p:sp>
          <p:nvSpPr>
            <p:cNvPr id="242" name="Google Shape;242;p5"/>
            <p:cNvSpPr txBox="1"/>
            <p:nvPr/>
          </p:nvSpPr>
          <p:spPr>
            <a:xfrm>
              <a:off x="979" y="3656"/>
              <a:ext cx="29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1-p</a:t>
              </a:r>
              <a:endParaRPr/>
            </a:p>
          </p:txBody>
        </p:sp>
        <p:sp>
          <p:nvSpPr>
            <p:cNvPr id="243" name="Google Shape;243;p5"/>
            <p:cNvSpPr txBox="1"/>
            <p:nvPr/>
          </p:nvSpPr>
          <p:spPr>
            <a:xfrm>
              <a:off x="1621" y="3692"/>
              <a:ext cx="29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1-p</a:t>
              </a:r>
              <a:endParaRPr/>
            </a:p>
          </p:txBody>
        </p:sp>
        <p:sp>
          <p:nvSpPr>
            <p:cNvPr id="244" name="Google Shape;244;p5"/>
            <p:cNvSpPr txBox="1"/>
            <p:nvPr/>
          </p:nvSpPr>
          <p:spPr>
            <a:xfrm>
              <a:off x="2197" y="3685"/>
              <a:ext cx="29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1-p</a:t>
              </a:r>
              <a:endParaRPr/>
            </a:p>
          </p:txBody>
        </p:sp>
        <p:sp>
          <p:nvSpPr>
            <p:cNvPr id="245" name="Google Shape;245;p5"/>
            <p:cNvSpPr txBox="1"/>
            <p:nvPr/>
          </p:nvSpPr>
          <p:spPr>
            <a:xfrm>
              <a:off x="3117" y="3670"/>
              <a:ext cx="29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1-p</a:t>
              </a:r>
              <a:endParaRPr/>
            </a:p>
          </p:txBody>
        </p:sp>
        <p:sp>
          <p:nvSpPr>
            <p:cNvPr id="246" name="Google Shape;246;p5"/>
            <p:cNvSpPr/>
            <p:nvPr/>
          </p:nvSpPr>
          <p:spPr>
            <a:xfrm>
              <a:off x="2521" y="3579"/>
              <a:ext cx="598" cy="650"/>
            </a:xfrm>
            <a:prstGeom prst="upArrowCallout">
              <a:avLst>
                <a:gd fmla="val 25000" name="adj1"/>
                <a:gd fmla="val 25000" name="adj2"/>
                <a:gd fmla="val 18116" name="adj3"/>
                <a:gd fmla="val 66667" name="adj4"/>
              </a:avLst>
            </a:prstGeom>
            <a:solidFill>
              <a:srgbClr val="FF9966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Start </a:t>
              </a:r>
              <a:r>
                <a:rPr lang="en-US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(10$)</a:t>
              </a:r>
              <a:endParaRPr/>
            </a:p>
          </p:txBody>
        </p:sp>
        <p:cxnSp>
          <p:nvCxnSpPr>
            <p:cNvPr id="247" name="Google Shape;247;p5"/>
            <p:cNvCxnSpPr>
              <a:stCxn id="225" idx="1"/>
              <a:endCxn id="225" idx="2"/>
            </p:cNvCxnSpPr>
            <p:nvPr/>
          </p:nvCxnSpPr>
          <p:spPr>
            <a:xfrm>
              <a:off x="753" y="3186"/>
              <a:ext cx="0" cy="0"/>
            </a:xfrm>
            <a:prstGeom prst="curvedConnector4">
              <a:avLst>
                <a:gd fmla="val -1943705" name="adj1"/>
                <a:gd fmla="val 1618385" name="adj2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48" name="Google Shape;248;p5"/>
            <p:cNvCxnSpPr>
              <a:stCxn id="229" idx="7"/>
              <a:endCxn id="229" idx="6"/>
            </p:cNvCxnSpPr>
            <p:nvPr/>
          </p:nvCxnSpPr>
          <p:spPr>
            <a:xfrm>
              <a:off x="4600" y="3220"/>
              <a:ext cx="0" cy="0"/>
            </a:xfrm>
            <a:prstGeom prst="curvedConnector4">
              <a:avLst>
                <a:gd fmla="val -1954101" name="adj1"/>
                <a:gd fmla="val -8133059" name="adj2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5" name="Google Shape;255;p6"/>
          <p:cNvSpPr txBox="1"/>
          <p:nvPr/>
        </p:nvSpPr>
        <p:spPr>
          <a:xfrm>
            <a:off x="500063" y="1317625"/>
            <a:ext cx="7896225" cy="2465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Char char="•"/>
            </a:pP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Given that a person’s last cola purchase was </a:t>
            </a:r>
            <a:r>
              <a:rPr lang="en-US" sz="2400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  <a:t>Coke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there is a </a:t>
            </a:r>
            <a:r>
              <a:rPr lang="en-US" sz="2400">
                <a:solidFill>
                  <a:srgbClr val="993300"/>
                </a:solidFill>
                <a:latin typeface="Comic Sans MS"/>
                <a:ea typeface="Comic Sans MS"/>
                <a:cs typeface="Comic Sans MS"/>
                <a:sym typeface="Comic Sans MS"/>
              </a:rPr>
              <a:t>90%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chance that his next cola purchase will also be </a:t>
            </a:r>
            <a:r>
              <a:rPr lang="en-US" sz="2400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  <a:t>Coke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/>
          </a:p>
          <a:p>
            <a:pPr indent="-15240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Char char="•"/>
            </a:pP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If a person’s last cola purchase was </a:t>
            </a:r>
            <a:r>
              <a:rPr lang="en-US" sz="2400">
                <a:solidFill>
                  <a:srgbClr val="33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Pepsi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there is an </a:t>
            </a:r>
            <a:r>
              <a:rPr lang="en-US" sz="2400">
                <a:solidFill>
                  <a:srgbClr val="993300"/>
                </a:solidFill>
                <a:latin typeface="Comic Sans MS"/>
                <a:ea typeface="Comic Sans MS"/>
                <a:cs typeface="Comic Sans MS"/>
                <a:sym typeface="Comic Sans MS"/>
              </a:rPr>
              <a:t>80%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chance that his next cola purchase will also be </a:t>
            </a:r>
            <a:r>
              <a:rPr lang="en-US" sz="2400">
                <a:solidFill>
                  <a:srgbClr val="33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Pepsi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/>
          </a:p>
        </p:txBody>
      </p:sp>
      <p:grpSp>
        <p:nvGrpSpPr>
          <p:cNvPr id="256" name="Google Shape;256;p6"/>
          <p:cNvGrpSpPr/>
          <p:nvPr/>
        </p:nvGrpSpPr>
        <p:grpSpPr>
          <a:xfrm>
            <a:off x="4121150" y="4168775"/>
            <a:ext cx="4132263" cy="1778000"/>
            <a:chOff x="469" y="2387"/>
            <a:chExt cx="2603" cy="1120"/>
          </a:xfrm>
        </p:grpSpPr>
        <p:sp>
          <p:nvSpPr>
            <p:cNvPr id="257" name="Google Shape;257;p6"/>
            <p:cNvSpPr/>
            <p:nvPr/>
          </p:nvSpPr>
          <p:spPr>
            <a:xfrm>
              <a:off x="763" y="2751"/>
              <a:ext cx="644" cy="400"/>
            </a:xfrm>
            <a:prstGeom prst="ellipse">
              <a:avLst/>
            </a:prstGeom>
            <a:solidFill>
              <a:srgbClr val="FFFF00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coke</a:t>
              </a:r>
              <a:endParaRPr/>
            </a:p>
          </p:txBody>
        </p:sp>
        <p:sp>
          <p:nvSpPr>
            <p:cNvPr id="258" name="Google Shape;258;p6"/>
            <p:cNvSpPr/>
            <p:nvPr/>
          </p:nvSpPr>
          <p:spPr>
            <a:xfrm>
              <a:off x="1975" y="2757"/>
              <a:ext cx="705" cy="400"/>
            </a:xfrm>
            <a:prstGeom prst="ellipse">
              <a:avLst/>
            </a:prstGeom>
            <a:solidFill>
              <a:srgbClr val="FFFF00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pepsi</a:t>
              </a:r>
              <a:endParaRPr/>
            </a:p>
          </p:txBody>
        </p:sp>
        <p:cxnSp>
          <p:nvCxnSpPr>
            <p:cNvPr id="259" name="Google Shape;259;p6"/>
            <p:cNvCxnSpPr>
              <a:stCxn id="257" idx="7"/>
              <a:endCxn id="258" idx="1"/>
            </p:cNvCxnSpPr>
            <p:nvPr/>
          </p:nvCxnSpPr>
          <p:spPr>
            <a:xfrm rot="10800000">
              <a:off x="1763" y="2360"/>
              <a:ext cx="0" cy="900"/>
            </a:xfrm>
            <a:prstGeom prst="curvedConnector3">
              <a:avLst>
                <a:gd fmla="val -50647635" name="adj1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0" name="Google Shape;260;p6"/>
            <p:cNvCxnSpPr>
              <a:stCxn id="258" idx="3"/>
              <a:endCxn id="257" idx="5"/>
            </p:cNvCxnSpPr>
            <p:nvPr/>
          </p:nvCxnSpPr>
          <p:spPr>
            <a:xfrm>
              <a:off x="1628" y="2648"/>
              <a:ext cx="0" cy="900"/>
            </a:xfrm>
            <a:prstGeom prst="curvedConnector3">
              <a:avLst>
                <a:gd fmla="val 55707016" name="adj1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1" name="Google Shape;261;p6"/>
            <p:cNvCxnSpPr>
              <a:stCxn id="258" idx="7"/>
              <a:endCxn id="258" idx="6"/>
            </p:cNvCxnSpPr>
            <p:nvPr/>
          </p:nvCxnSpPr>
          <p:spPr>
            <a:xfrm>
              <a:off x="2577" y="2816"/>
              <a:ext cx="0" cy="0"/>
            </a:xfrm>
            <a:prstGeom prst="curvedConnector4">
              <a:avLst>
                <a:gd fmla="val -2043862" name="adj1"/>
                <a:gd fmla="val -4236235" name="adj2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2" name="Google Shape;262;p6"/>
            <p:cNvCxnSpPr>
              <a:stCxn id="257" idx="1"/>
              <a:endCxn id="257" idx="2"/>
            </p:cNvCxnSpPr>
            <p:nvPr/>
          </p:nvCxnSpPr>
          <p:spPr>
            <a:xfrm>
              <a:off x="857" y="2810"/>
              <a:ext cx="0" cy="0"/>
            </a:xfrm>
            <a:prstGeom prst="curvedConnector4">
              <a:avLst>
                <a:gd fmla="val -2040173" name="adj1"/>
                <a:gd fmla="val 2924618" name="adj2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63" name="Google Shape;263;p6"/>
            <p:cNvSpPr txBox="1"/>
            <p:nvPr/>
          </p:nvSpPr>
          <p:spPr>
            <a:xfrm>
              <a:off x="1525" y="2387"/>
              <a:ext cx="31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0.1</a:t>
              </a:r>
              <a:endParaRPr/>
            </a:p>
          </p:txBody>
        </p:sp>
        <p:sp>
          <p:nvSpPr>
            <p:cNvPr id="264" name="Google Shape;264;p6"/>
            <p:cNvSpPr txBox="1"/>
            <p:nvPr/>
          </p:nvSpPr>
          <p:spPr>
            <a:xfrm>
              <a:off x="469" y="2446"/>
              <a:ext cx="31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0.9</a:t>
              </a:r>
              <a:endParaRPr/>
            </a:p>
          </p:txBody>
        </p:sp>
        <p:sp>
          <p:nvSpPr>
            <p:cNvPr id="265" name="Google Shape;265;p6"/>
            <p:cNvSpPr txBox="1"/>
            <p:nvPr/>
          </p:nvSpPr>
          <p:spPr>
            <a:xfrm>
              <a:off x="2758" y="2468"/>
              <a:ext cx="31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0.8</a:t>
              </a:r>
              <a:endParaRPr/>
            </a:p>
          </p:txBody>
        </p:sp>
        <p:sp>
          <p:nvSpPr>
            <p:cNvPr id="266" name="Google Shape;266;p6"/>
            <p:cNvSpPr txBox="1"/>
            <p:nvPr/>
          </p:nvSpPr>
          <p:spPr>
            <a:xfrm>
              <a:off x="1538" y="3276"/>
              <a:ext cx="31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0.2</a:t>
              </a:r>
              <a:endParaRPr/>
            </a:p>
          </p:txBody>
        </p:sp>
      </p:grpSp>
      <p:sp>
        <p:nvSpPr>
          <p:cNvPr id="267" name="Google Shape;267;p6"/>
          <p:cNvSpPr/>
          <p:nvPr/>
        </p:nvSpPr>
        <p:spPr>
          <a:xfrm>
            <a:off x="455613" y="207963"/>
            <a:ext cx="841216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Markov Process</a:t>
            </a:r>
            <a:br>
              <a:rPr b="1" lang="en-US" sz="36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Coke vs. Pepsi Example</a:t>
            </a:r>
            <a:endParaRPr/>
          </a:p>
        </p:txBody>
      </p:sp>
      <p:pic>
        <p:nvPicPr>
          <p:cNvPr id="268" name="Google Shape;26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788" y="4537075"/>
            <a:ext cx="2784475" cy="133667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6"/>
          <p:cNvSpPr txBox="1"/>
          <p:nvPr/>
        </p:nvSpPr>
        <p:spPr>
          <a:xfrm>
            <a:off x="469900" y="4076700"/>
            <a:ext cx="29130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933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transition matrix:</a:t>
            </a:r>
            <a:endParaRPr/>
          </a:p>
        </p:txBody>
      </p:sp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" name="Google Shape;276;p7"/>
          <p:cNvSpPr txBox="1"/>
          <p:nvPr/>
        </p:nvSpPr>
        <p:spPr>
          <a:xfrm>
            <a:off x="500063" y="1571625"/>
            <a:ext cx="7896225" cy="2559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Given that a person is currently a </a:t>
            </a:r>
            <a:r>
              <a:rPr lang="en-US" sz="2400">
                <a:solidFill>
                  <a:srgbClr val="33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Pepsi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purchaser, what is the probability that he will purchase </a:t>
            </a:r>
            <a:r>
              <a:rPr lang="en-US" sz="2400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  <a:t>Coke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two purchases from now?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</a:t>
            </a: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[ </a:t>
            </a:r>
            <a:r>
              <a:rPr lang="en-US" sz="2000">
                <a:solidFill>
                  <a:srgbClr val="33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Pepsi</a:t>
            </a: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🡪?🡪</a:t>
            </a:r>
            <a:r>
              <a:rPr lang="en-US" sz="2000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  <a:t>Coke </a:t>
            </a: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]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</a:t>
            </a: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[ </a:t>
            </a:r>
            <a:r>
              <a:rPr lang="en-US" sz="2000">
                <a:solidFill>
                  <a:srgbClr val="33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Pepsi</a:t>
            </a: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🡪</a:t>
            </a:r>
            <a:r>
              <a:rPr lang="en-US" sz="2000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  <a:t>Coke</a:t>
            </a: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🡪</a:t>
            </a:r>
            <a:r>
              <a:rPr lang="en-US" sz="2000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  <a:t>Coke </a:t>
            </a: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]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</a:t>
            </a: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[ </a:t>
            </a:r>
            <a:r>
              <a:rPr lang="en-US" sz="2000">
                <a:solidFill>
                  <a:srgbClr val="33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Pepsi</a:t>
            </a: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🡪 </a:t>
            </a:r>
            <a:r>
              <a:rPr lang="en-US" sz="2000">
                <a:solidFill>
                  <a:srgbClr val="33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Pepsi</a:t>
            </a: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🡪</a:t>
            </a:r>
            <a:r>
              <a:rPr lang="en-US" sz="2000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  <a:t>Coke </a:t>
            </a: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]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0.2  *    0.9             +                0.8    *     0.2            = 0.34   </a:t>
            </a:r>
            <a:endParaRPr/>
          </a:p>
        </p:txBody>
      </p:sp>
      <p:pic>
        <p:nvPicPr>
          <p:cNvPr id="277" name="Google Shape;27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6588" y="4273550"/>
            <a:ext cx="7686675" cy="133667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7"/>
          <p:cNvSpPr/>
          <p:nvPr/>
        </p:nvSpPr>
        <p:spPr>
          <a:xfrm>
            <a:off x="6022975" y="4921250"/>
            <a:ext cx="950913" cy="688975"/>
          </a:xfrm>
          <a:prstGeom prst="ellipse">
            <a:avLst/>
          </a:prstGeom>
          <a:noFill/>
          <a:ln cap="flat" cmpd="sng" w="254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455613" y="207963"/>
            <a:ext cx="841216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Markov Process</a:t>
            </a:r>
            <a:br>
              <a:rPr b="1" lang="en-US" sz="36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Coke vs. Pepsi Example </a:t>
            </a:r>
            <a:r>
              <a:rPr b="1" lang="en-US" sz="18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(cont)</a:t>
            </a:r>
            <a:endParaRPr/>
          </a:p>
        </p:txBody>
      </p:sp>
      <p:cxnSp>
        <p:nvCxnSpPr>
          <p:cNvPr id="280" name="Google Shape;280;p7"/>
          <p:cNvCxnSpPr/>
          <p:nvPr/>
        </p:nvCxnSpPr>
        <p:spPr>
          <a:xfrm flipH="1" rot="10800000">
            <a:off x="2609850" y="5722938"/>
            <a:ext cx="11113" cy="40798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1" name="Google Shape;281;p7"/>
          <p:cNvSpPr txBox="1"/>
          <p:nvPr/>
        </p:nvSpPr>
        <p:spPr>
          <a:xfrm>
            <a:off x="1960563" y="6116638"/>
            <a:ext cx="15462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Pepsi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🡪 ?</a:t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82" name="Google Shape;282;p7"/>
          <p:cNvSpPr/>
          <p:nvPr/>
        </p:nvSpPr>
        <p:spPr>
          <a:xfrm rot="5400000">
            <a:off x="2540794" y="4863307"/>
            <a:ext cx="149225" cy="1385887"/>
          </a:xfrm>
          <a:prstGeom prst="rightBrace">
            <a:avLst>
              <a:gd fmla="val 77394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4302125" y="4413250"/>
            <a:ext cx="88900" cy="1125538"/>
          </a:xfrm>
          <a:prstGeom prst="rightBrace">
            <a:avLst>
              <a:gd fmla="val 105506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84" name="Google Shape;284;p7"/>
          <p:cNvCxnSpPr/>
          <p:nvPr/>
        </p:nvCxnSpPr>
        <p:spPr>
          <a:xfrm>
            <a:off x="4449763" y="4970463"/>
            <a:ext cx="111125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7"/>
          <p:cNvCxnSpPr/>
          <p:nvPr/>
        </p:nvCxnSpPr>
        <p:spPr>
          <a:xfrm>
            <a:off x="4578350" y="4962525"/>
            <a:ext cx="0" cy="109855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6" name="Google Shape;286;p7"/>
          <p:cNvSpPr txBox="1"/>
          <p:nvPr/>
        </p:nvSpPr>
        <p:spPr>
          <a:xfrm>
            <a:off x="3733800" y="6099175"/>
            <a:ext cx="15001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? 🡪 </a:t>
            </a:r>
            <a:r>
              <a:rPr lang="en-US" sz="2400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  <a:t>Coke</a:t>
            </a:r>
            <a:endParaRPr sz="2400">
              <a:solidFill>
                <a:schemeClr val="hlink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87" name="Google Shape;28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400" y="4270375"/>
            <a:ext cx="2849563" cy="133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4" name="Google Shape;294;p8"/>
          <p:cNvSpPr txBox="1"/>
          <p:nvPr/>
        </p:nvSpPr>
        <p:spPr>
          <a:xfrm>
            <a:off x="500063" y="1571625"/>
            <a:ext cx="7896225" cy="11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Given that a person is currently a </a:t>
            </a:r>
            <a:r>
              <a:rPr lang="en-US" sz="2400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  <a:t>Coke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purchaser, what is the probability that he will purchase </a:t>
            </a:r>
            <a:r>
              <a:rPr lang="en-US" sz="2400">
                <a:solidFill>
                  <a:srgbClr val="33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Pepsi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1" lang="en-US" sz="2400">
                <a:solidFill>
                  <a:srgbClr val="9933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three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purchases from now?</a:t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455613" y="207963"/>
            <a:ext cx="841216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Markov Process</a:t>
            </a:r>
            <a:br>
              <a:rPr b="1" lang="en-US" sz="36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Coke vs. Pepsi Example </a:t>
            </a:r>
            <a:r>
              <a:rPr b="1" lang="en-US" sz="18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(cont)</a:t>
            </a:r>
            <a:endParaRPr/>
          </a:p>
        </p:txBody>
      </p:sp>
      <p:pic>
        <p:nvPicPr>
          <p:cNvPr id="296" name="Google Shape;2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263" y="3378200"/>
            <a:ext cx="8540750" cy="133667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8"/>
          <p:cNvSpPr/>
          <p:nvPr/>
        </p:nvSpPr>
        <p:spPr>
          <a:xfrm>
            <a:off x="7385050" y="3300413"/>
            <a:ext cx="1165225" cy="688975"/>
          </a:xfrm>
          <a:prstGeom prst="ellipse">
            <a:avLst/>
          </a:prstGeom>
          <a:noFill/>
          <a:ln cap="flat" cmpd="sng" w="254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Markov Process</a:t>
            </a:r>
            <a:br>
              <a:rPr lang="en-US"/>
            </a:br>
            <a:r>
              <a:rPr lang="en-US" sz="2400"/>
              <a:t>Coke vs. Pepsi Example </a:t>
            </a:r>
            <a:r>
              <a:rPr lang="en-US" sz="1800"/>
              <a:t>(cont)</a:t>
            </a:r>
            <a:endParaRPr/>
          </a:p>
        </p:txBody>
      </p:sp>
      <p:pic>
        <p:nvPicPr>
          <p:cNvPr id="304" name="Google Shape;30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2625" y="3074988"/>
            <a:ext cx="2033588" cy="976312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6" name="Google Shape;306;p9"/>
          <p:cNvSpPr txBox="1"/>
          <p:nvPr/>
        </p:nvSpPr>
        <p:spPr>
          <a:xfrm>
            <a:off x="398463" y="1546225"/>
            <a:ext cx="8577262" cy="131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•"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Assume each person makes one cola purchase per week</a:t>
            </a:r>
            <a:endParaRPr/>
          </a:p>
          <a:p>
            <a:pPr indent="-12700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•"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Suppose </a:t>
            </a:r>
            <a:r>
              <a:rPr lang="en-US" sz="2000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  <a:t>60%</a:t>
            </a: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of all people now drink </a:t>
            </a:r>
            <a:r>
              <a:rPr lang="en-US" sz="2000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  <a:t>Coke</a:t>
            </a: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and </a:t>
            </a:r>
            <a:r>
              <a:rPr lang="en-US" sz="2000">
                <a:solidFill>
                  <a:srgbClr val="33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40%</a:t>
            </a: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drink </a:t>
            </a:r>
            <a:r>
              <a:rPr lang="en-US" sz="2000">
                <a:solidFill>
                  <a:srgbClr val="33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Pepsi</a:t>
            </a:r>
            <a:endParaRPr/>
          </a:p>
          <a:p>
            <a:pPr indent="-12700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•"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 fraction of people will be drinking </a:t>
            </a:r>
            <a:r>
              <a:rPr lang="en-US" sz="2000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  <a:t>Coke</a:t>
            </a: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three weeks from now?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" name="Google Shape;30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4213" y="3082925"/>
            <a:ext cx="2828925" cy="969963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9"/>
          <p:cNvSpPr txBox="1"/>
          <p:nvPr/>
        </p:nvSpPr>
        <p:spPr>
          <a:xfrm>
            <a:off x="704850" y="4237038"/>
            <a:ext cx="6653213" cy="2136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Pr[</a:t>
            </a:r>
            <a:r>
              <a:rPr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US" sz="24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Coke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= 0.6 * 0.781  +  0.4 * 0.438  =  0.6438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baseline="-25000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 the distribution in week </a:t>
            </a:r>
            <a:r>
              <a:rPr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baseline="-2500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=(0.6,0.4)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- initial distribution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baseline="-2500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Q</a:t>
            </a:r>
            <a:r>
              <a:rPr baseline="-2500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* P</a:t>
            </a:r>
            <a:r>
              <a:rPr baseline="30000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(0.6438</a:t>
            </a:r>
            <a:r>
              <a:rPr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,0.3562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Markov Process</a:t>
            </a:r>
            <a:br>
              <a:rPr lang="en-US"/>
            </a:br>
            <a:r>
              <a:rPr lang="en-US" sz="2400"/>
              <a:t>Coke vs. Pepsi Example </a:t>
            </a:r>
            <a:r>
              <a:rPr lang="en-US" sz="1800"/>
              <a:t>(cont)</a:t>
            </a:r>
            <a:endParaRPr/>
          </a:p>
        </p:txBody>
      </p:sp>
      <p:pic>
        <p:nvPicPr>
          <p:cNvPr descr="tutorial5_simulation" id="315" name="Google Shape;315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325" y="1663700"/>
            <a:ext cx="6607175" cy="4954588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7" name="Google Shape;317;p10"/>
          <p:cNvSpPr txBox="1"/>
          <p:nvPr/>
        </p:nvSpPr>
        <p:spPr>
          <a:xfrm>
            <a:off x="398463" y="1228725"/>
            <a:ext cx="85772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Simulation: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8" name="Google Shape;318;p10"/>
          <p:cNvSpPr txBox="1"/>
          <p:nvPr/>
        </p:nvSpPr>
        <p:spPr>
          <a:xfrm>
            <a:off x="3565525" y="6210300"/>
            <a:ext cx="11652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 - </a:t>
            </a:r>
            <a:r>
              <a:rPr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/>
          </a:p>
        </p:txBody>
      </p:sp>
      <p:sp>
        <p:nvSpPr>
          <p:cNvPr id="319" name="Google Shape;319;p10"/>
          <p:cNvSpPr txBox="1"/>
          <p:nvPr/>
        </p:nvSpPr>
        <p:spPr>
          <a:xfrm rot="-5400000">
            <a:off x="421481" y="3733007"/>
            <a:ext cx="18684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Pr[</a:t>
            </a:r>
            <a:r>
              <a:rPr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US" sz="24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Coke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10"/>
          <p:cNvSpPr txBox="1"/>
          <p:nvPr/>
        </p:nvSpPr>
        <p:spPr>
          <a:xfrm>
            <a:off x="6554788" y="2019300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2/3</a:t>
            </a:r>
            <a:endParaRPr/>
          </a:p>
        </p:txBody>
      </p:sp>
      <p:pic>
        <p:nvPicPr>
          <p:cNvPr id="321" name="Google Shape;32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54438" y="2593975"/>
            <a:ext cx="2727325" cy="7159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10"/>
          <p:cNvGrpSpPr/>
          <p:nvPr/>
        </p:nvGrpSpPr>
        <p:grpSpPr>
          <a:xfrm>
            <a:off x="3589338" y="3195638"/>
            <a:ext cx="2871787" cy="806450"/>
            <a:chOff x="2261" y="2013"/>
            <a:chExt cx="1809" cy="508"/>
          </a:xfrm>
        </p:grpSpPr>
        <p:sp>
          <p:nvSpPr>
            <p:cNvPr id="323" name="Google Shape;323;p10"/>
            <p:cNvSpPr txBox="1"/>
            <p:nvPr/>
          </p:nvSpPr>
          <p:spPr>
            <a:xfrm>
              <a:off x="2261" y="2271"/>
              <a:ext cx="18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9933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stationary distribution</a:t>
              </a:r>
              <a:endParaRPr/>
            </a:p>
          </p:txBody>
        </p:sp>
        <p:cxnSp>
          <p:nvCxnSpPr>
            <p:cNvPr id="324" name="Google Shape;324;p10"/>
            <p:cNvCxnSpPr/>
            <p:nvPr/>
          </p:nvCxnSpPr>
          <p:spPr>
            <a:xfrm>
              <a:off x="2615" y="2017"/>
              <a:ext cx="444" cy="326"/>
            </a:xfrm>
            <a:prstGeom prst="straightConnector1">
              <a:avLst/>
            </a:prstGeom>
            <a:noFill/>
            <a:ln cap="flat" cmpd="sng" w="25400">
              <a:solidFill>
                <a:srgbClr val="9933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325" name="Google Shape;325;p10"/>
            <p:cNvCxnSpPr/>
            <p:nvPr/>
          </p:nvCxnSpPr>
          <p:spPr>
            <a:xfrm flipH="1">
              <a:off x="3350" y="2013"/>
              <a:ext cx="444" cy="318"/>
            </a:xfrm>
            <a:prstGeom prst="straightConnector1">
              <a:avLst/>
            </a:prstGeom>
            <a:noFill/>
            <a:ln cap="flat" cmpd="sng" w="25400">
              <a:solidFill>
                <a:srgbClr val="9933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</p:grpSp>
      <p:grpSp>
        <p:nvGrpSpPr>
          <p:cNvPr id="326" name="Google Shape;326;p10"/>
          <p:cNvGrpSpPr/>
          <p:nvPr/>
        </p:nvGrpSpPr>
        <p:grpSpPr>
          <a:xfrm>
            <a:off x="2767013" y="4670425"/>
            <a:ext cx="3562350" cy="1243013"/>
            <a:chOff x="469" y="2387"/>
            <a:chExt cx="2603" cy="1179"/>
          </a:xfrm>
        </p:grpSpPr>
        <p:sp>
          <p:nvSpPr>
            <p:cNvPr id="327" name="Google Shape;327;p10"/>
            <p:cNvSpPr/>
            <p:nvPr/>
          </p:nvSpPr>
          <p:spPr>
            <a:xfrm>
              <a:off x="764" y="2711"/>
              <a:ext cx="643" cy="480"/>
            </a:xfrm>
            <a:prstGeom prst="ellipse">
              <a:avLst/>
            </a:prstGeom>
            <a:solidFill>
              <a:srgbClr val="FFFF00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coke</a:t>
              </a:r>
              <a:endParaRPr/>
            </a:p>
          </p:txBody>
        </p:sp>
        <p:sp>
          <p:nvSpPr>
            <p:cNvPr id="328" name="Google Shape;328;p10"/>
            <p:cNvSpPr/>
            <p:nvPr/>
          </p:nvSpPr>
          <p:spPr>
            <a:xfrm>
              <a:off x="2002" y="2717"/>
              <a:ext cx="652" cy="480"/>
            </a:xfrm>
            <a:prstGeom prst="ellipse">
              <a:avLst/>
            </a:prstGeom>
            <a:solidFill>
              <a:srgbClr val="FFFF00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pepsi</a:t>
              </a:r>
              <a:endParaRPr/>
            </a:p>
          </p:txBody>
        </p:sp>
        <p:cxnSp>
          <p:nvCxnSpPr>
            <p:cNvPr id="329" name="Google Shape;329;p10"/>
            <p:cNvCxnSpPr>
              <a:stCxn id="327" idx="7"/>
              <a:endCxn id="328" idx="1"/>
            </p:cNvCxnSpPr>
            <p:nvPr/>
          </p:nvCxnSpPr>
          <p:spPr>
            <a:xfrm rot="10800000">
              <a:off x="1763" y="2331"/>
              <a:ext cx="0" cy="900"/>
            </a:xfrm>
            <a:prstGeom prst="curvedConnector3">
              <a:avLst>
                <a:gd fmla="val -80698900" name="adj1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30" name="Google Shape;330;p10"/>
            <p:cNvCxnSpPr>
              <a:stCxn id="328" idx="3"/>
              <a:endCxn id="327" idx="5"/>
            </p:cNvCxnSpPr>
            <p:nvPr/>
          </p:nvCxnSpPr>
          <p:spPr>
            <a:xfrm>
              <a:off x="1647" y="2677"/>
              <a:ext cx="0" cy="900"/>
            </a:xfrm>
            <a:prstGeom prst="curvedConnector3">
              <a:avLst>
                <a:gd fmla="val 85754596" name="adj1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31" name="Google Shape;331;p10"/>
            <p:cNvCxnSpPr>
              <a:stCxn id="328" idx="7"/>
              <a:endCxn id="328" idx="6"/>
            </p:cNvCxnSpPr>
            <p:nvPr/>
          </p:nvCxnSpPr>
          <p:spPr>
            <a:xfrm rot="5400000">
              <a:off x="2409" y="2937"/>
              <a:ext cx="300" cy="0"/>
            </a:xfrm>
            <a:prstGeom prst="curvedConnector4">
              <a:avLst>
                <a:gd fmla="val -3253978" name="adj1"/>
                <a:gd fmla="val -3718726" name="adj2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32" name="Google Shape;332;p10"/>
            <p:cNvCxnSpPr>
              <a:stCxn id="327" idx="1"/>
              <a:endCxn id="327" idx="2"/>
            </p:cNvCxnSpPr>
            <p:nvPr/>
          </p:nvCxnSpPr>
          <p:spPr>
            <a:xfrm rot="5400000">
              <a:off x="708" y="2931"/>
              <a:ext cx="300" cy="0"/>
            </a:xfrm>
            <a:prstGeom prst="curvedConnector4">
              <a:avLst>
                <a:gd fmla="val -3250291" name="adj1"/>
                <a:gd fmla="val 2361664" name="adj2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33" name="Google Shape;333;p10"/>
            <p:cNvSpPr txBox="1"/>
            <p:nvPr/>
          </p:nvSpPr>
          <p:spPr>
            <a:xfrm>
              <a:off x="1525" y="2387"/>
              <a:ext cx="314" cy="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0.1</a:t>
              </a:r>
              <a:endParaRPr/>
            </a:p>
          </p:txBody>
        </p:sp>
        <p:sp>
          <p:nvSpPr>
            <p:cNvPr id="334" name="Google Shape;334;p10"/>
            <p:cNvSpPr txBox="1"/>
            <p:nvPr/>
          </p:nvSpPr>
          <p:spPr>
            <a:xfrm>
              <a:off x="469" y="2446"/>
              <a:ext cx="314" cy="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0.9</a:t>
              </a:r>
              <a:endParaRPr/>
            </a:p>
          </p:txBody>
        </p:sp>
        <p:sp>
          <p:nvSpPr>
            <p:cNvPr id="335" name="Google Shape;335;p10"/>
            <p:cNvSpPr txBox="1"/>
            <p:nvPr/>
          </p:nvSpPr>
          <p:spPr>
            <a:xfrm>
              <a:off x="2758" y="2468"/>
              <a:ext cx="314" cy="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0.8</a:t>
              </a:r>
              <a:endParaRPr/>
            </a:p>
          </p:txBody>
        </p:sp>
        <p:sp>
          <p:nvSpPr>
            <p:cNvPr id="336" name="Google Shape;336;p10"/>
            <p:cNvSpPr txBox="1"/>
            <p:nvPr/>
          </p:nvSpPr>
          <p:spPr>
            <a:xfrm>
              <a:off x="1538" y="3277"/>
              <a:ext cx="314" cy="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0.2</a:t>
              </a:r>
              <a:endParaRPr/>
            </a:p>
          </p:txBody>
        </p:sp>
      </p:grpSp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3"/>
          <p:cNvSpPr txBox="1"/>
          <p:nvPr>
            <p:ph type="title"/>
          </p:nvPr>
        </p:nvSpPr>
        <p:spPr>
          <a:xfrm>
            <a:off x="1371600" y="3810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Monte Carlo principle</a:t>
            </a:r>
            <a:endParaRPr/>
          </a:p>
        </p:txBody>
      </p:sp>
      <p:sp>
        <p:nvSpPr>
          <p:cNvPr id="342" name="Google Shape;342;p13"/>
          <p:cNvSpPr txBox="1"/>
          <p:nvPr>
            <p:ph idx="1" type="body"/>
          </p:nvPr>
        </p:nvSpPr>
        <p:spPr>
          <a:xfrm>
            <a:off x="685800" y="1752600"/>
            <a:ext cx="44958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Consider the game of solitaire: what’s the chance of winning with a properly shuffled deck?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Hard to compute analytically because winning or losing depends on a complex procedure of reorganizing cards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Insight: why not just </a:t>
            </a:r>
            <a:r>
              <a:rPr i="1" lang="en-US" sz="2000"/>
              <a:t>play a few hands</a:t>
            </a:r>
            <a:r>
              <a:rPr lang="en-US" sz="2000"/>
              <a:t>, and see empirically how many do in fact win?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More generally, can approximate a probability density function using only samples from that density</a:t>
            </a:r>
            <a:endParaRPr/>
          </a:p>
        </p:txBody>
      </p:sp>
      <p:grpSp>
        <p:nvGrpSpPr>
          <p:cNvPr id="343" name="Google Shape;343;p13"/>
          <p:cNvGrpSpPr/>
          <p:nvPr/>
        </p:nvGrpSpPr>
        <p:grpSpPr>
          <a:xfrm>
            <a:off x="5334000" y="1757363"/>
            <a:ext cx="2916238" cy="1290637"/>
            <a:chOff x="3552" y="1296"/>
            <a:chExt cx="1464" cy="648"/>
          </a:xfrm>
        </p:grpSpPr>
        <p:pic>
          <p:nvPicPr>
            <p:cNvPr descr="4dcp_d1t[1]" id="344" name="Google Shape;344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552" y="1296"/>
              <a:ext cx="720" cy="6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13"/>
            <p:cNvSpPr/>
            <p:nvPr/>
          </p:nvSpPr>
          <p:spPr>
            <a:xfrm>
              <a:off x="4560" y="1440"/>
              <a:ext cx="192" cy="288"/>
            </a:xfrm>
            <a:prstGeom prst="rightArrow">
              <a:avLst>
                <a:gd fmla="val 50000" name="adj1"/>
                <a:gd fmla="val 60935" name="adj2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46" name="Google Shape;346;p13"/>
            <p:cNvSpPr txBox="1"/>
            <p:nvPr/>
          </p:nvSpPr>
          <p:spPr>
            <a:xfrm>
              <a:off x="4848" y="1440"/>
              <a:ext cx="168" cy="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?</a:t>
              </a:r>
              <a:endParaRPr/>
            </a:p>
          </p:txBody>
        </p:sp>
      </p:grpSp>
      <p:grpSp>
        <p:nvGrpSpPr>
          <p:cNvPr id="347" name="Google Shape;347;p13"/>
          <p:cNvGrpSpPr/>
          <p:nvPr/>
        </p:nvGrpSpPr>
        <p:grpSpPr>
          <a:xfrm>
            <a:off x="6107113" y="3238500"/>
            <a:ext cx="1938337" cy="606425"/>
            <a:chOff x="3847" y="2040"/>
            <a:chExt cx="1221" cy="382"/>
          </a:xfrm>
        </p:grpSpPr>
        <p:pic>
          <p:nvPicPr>
            <p:cNvPr descr="4dcp_d1t[1]" id="348" name="Google Shape;348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47" y="2040"/>
              <a:ext cx="424" cy="3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13"/>
            <p:cNvSpPr/>
            <p:nvPr/>
          </p:nvSpPr>
          <p:spPr>
            <a:xfrm>
              <a:off x="4441" y="2125"/>
              <a:ext cx="113" cy="170"/>
            </a:xfrm>
            <a:prstGeom prst="rightArrow">
              <a:avLst>
                <a:gd fmla="val 50000" name="adj1"/>
                <a:gd fmla="val 60935" name="adj2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50" name="Google Shape;350;p13"/>
            <p:cNvSpPr txBox="1"/>
            <p:nvPr/>
          </p:nvSpPr>
          <p:spPr>
            <a:xfrm>
              <a:off x="4611" y="2112"/>
              <a:ext cx="457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Lose</a:t>
              </a:r>
              <a:endParaRPr/>
            </a:p>
          </p:txBody>
        </p:sp>
      </p:grpSp>
      <p:grpSp>
        <p:nvGrpSpPr>
          <p:cNvPr id="351" name="Google Shape;351;p13"/>
          <p:cNvGrpSpPr/>
          <p:nvPr/>
        </p:nvGrpSpPr>
        <p:grpSpPr>
          <a:xfrm>
            <a:off x="6096000" y="3886200"/>
            <a:ext cx="1938338" cy="606425"/>
            <a:chOff x="3847" y="2040"/>
            <a:chExt cx="1221" cy="382"/>
          </a:xfrm>
        </p:grpSpPr>
        <p:pic>
          <p:nvPicPr>
            <p:cNvPr descr="4dcp_d1t[1]" id="352" name="Google Shape;352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47" y="2040"/>
              <a:ext cx="424" cy="3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13"/>
            <p:cNvSpPr/>
            <p:nvPr/>
          </p:nvSpPr>
          <p:spPr>
            <a:xfrm>
              <a:off x="4441" y="2125"/>
              <a:ext cx="113" cy="170"/>
            </a:xfrm>
            <a:prstGeom prst="rightArrow">
              <a:avLst>
                <a:gd fmla="val 50000" name="adj1"/>
                <a:gd fmla="val 60935" name="adj2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54" name="Google Shape;354;p13"/>
            <p:cNvSpPr txBox="1"/>
            <p:nvPr/>
          </p:nvSpPr>
          <p:spPr>
            <a:xfrm>
              <a:off x="4611" y="2112"/>
              <a:ext cx="457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Lose</a:t>
              </a:r>
              <a:endParaRPr/>
            </a:p>
          </p:txBody>
        </p:sp>
      </p:grpSp>
      <p:grpSp>
        <p:nvGrpSpPr>
          <p:cNvPr id="355" name="Google Shape;355;p13"/>
          <p:cNvGrpSpPr/>
          <p:nvPr/>
        </p:nvGrpSpPr>
        <p:grpSpPr>
          <a:xfrm>
            <a:off x="6096000" y="4498975"/>
            <a:ext cx="1828800" cy="606425"/>
            <a:chOff x="3847" y="2040"/>
            <a:chExt cx="1152" cy="382"/>
          </a:xfrm>
        </p:grpSpPr>
        <p:pic>
          <p:nvPicPr>
            <p:cNvPr descr="4dcp_d1t[1]" id="356" name="Google Shape;356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47" y="2040"/>
              <a:ext cx="424" cy="3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7" name="Google Shape;357;p13"/>
            <p:cNvSpPr/>
            <p:nvPr/>
          </p:nvSpPr>
          <p:spPr>
            <a:xfrm>
              <a:off x="4441" y="2125"/>
              <a:ext cx="113" cy="170"/>
            </a:xfrm>
            <a:prstGeom prst="rightArrow">
              <a:avLst>
                <a:gd fmla="val 50000" name="adj1"/>
                <a:gd fmla="val 60935" name="adj2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58" name="Google Shape;358;p13"/>
            <p:cNvSpPr txBox="1"/>
            <p:nvPr/>
          </p:nvSpPr>
          <p:spPr>
            <a:xfrm>
              <a:off x="4611" y="2112"/>
              <a:ext cx="38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Win</a:t>
              </a:r>
              <a:endParaRPr/>
            </a:p>
          </p:txBody>
        </p:sp>
      </p:grpSp>
      <p:grpSp>
        <p:nvGrpSpPr>
          <p:cNvPr id="359" name="Google Shape;359;p13"/>
          <p:cNvGrpSpPr/>
          <p:nvPr/>
        </p:nvGrpSpPr>
        <p:grpSpPr>
          <a:xfrm>
            <a:off x="6096000" y="5105400"/>
            <a:ext cx="1938338" cy="606425"/>
            <a:chOff x="3847" y="2040"/>
            <a:chExt cx="1221" cy="382"/>
          </a:xfrm>
        </p:grpSpPr>
        <p:pic>
          <p:nvPicPr>
            <p:cNvPr descr="4dcp_d1t[1]" id="360" name="Google Shape;36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47" y="2040"/>
              <a:ext cx="424" cy="3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1" name="Google Shape;361;p13"/>
            <p:cNvSpPr/>
            <p:nvPr/>
          </p:nvSpPr>
          <p:spPr>
            <a:xfrm>
              <a:off x="4441" y="2125"/>
              <a:ext cx="113" cy="170"/>
            </a:xfrm>
            <a:prstGeom prst="rightArrow">
              <a:avLst>
                <a:gd fmla="val 50000" name="adj1"/>
                <a:gd fmla="val 60935" name="adj2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62" name="Google Shape;362;p13"/>
            <p:cNvSpPr txBox="1"/>
            <p:nvPr/>
          </p:nvSpPr>
          <p:spPr>
            <a:xfrm>
              <a:off x="4611" y="2112"/>
              <a:ext cx="457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Lose</a:t>
              </a:r>
              <a:endParaRPr/>
            </a:p>
          </p:txBody>
        </p:sp>
      </p:grpSp>
      <p:sp>
        <p:nvSpPr>
          <p:cNvPr id="363" name="Google Shape;363;p13"/>
          <p:cNvSpPr txBox="1"/>
          <p:nvPr/>
        </p:nvSpPr>
        <p:spPr>
          <a:xfrm>
            <a:off x="5589588" y="6019800"/>
            <a:ext cx="29432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Chance of winning is 1 in 4!</a:t>
            </a:r>
            <a:endParaRPr/>
          </a:p>
        </p:txBody>
      </p:sp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4"/>
          <p:cNvSpPr txBox="1"/>
          <p:nvPr>
            <p:ph type="title"/>
          </p:nvPr>
        </p:nvSpPr>
        <p:spPr>
          <a:xfrm>
            <a:off x="1371600" y="3810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Monte Carlo principle</a:t>
            </a:r>
            <a:endParaRPr/>
          </a:p>
        </p:txBody>
      </p:sp>
      <p:sp>
        <p:nvSpPr>
          <p:cNvPr id="369" name="Google Shape;369;p14"/>
          <p:cNvSpPr txBox="1"/>
          <p:nvPr>
            <p:ph idx="1" type="body"/>
          </p:nvPr>
        </p:nvSpPr>
        <p:spPr>
          <a:xfrm>
            <a:off x="685800" y="1752600"/>
            <a:ext cx="80772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Given a very large set </a:t>
            </a:r>
            <a:r>
              <a:rPr i="1" lang="en-US" sz="2200"/>
              <a:t>X</a:t>
            </a:r>
            <a:r>
              <a:rPr lang="en-US" sz="2200"/>
              <a:t> and a distribution p(</a:t>
            </a:r>
            <a:r>
              <a:rPr i="1" lang="en-US" sz="2200"/>
              <a:t>x</a:t>
            </a:r>
            <a:r>
              <a:rPr lang="en-US" sz="2200"/>
              <a:t>) over it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We draw i.i.d. a set of N samples 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We can then approximate the distribution using these samples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</p:txBody>
      </p:sp>
      <p:pic>
        <p:nvPicPr>
          <p:cNvPr id="370" name="Google Shape;37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8400" y="5437188"/>
            <a:ext cx="2840038" cy="811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3213" y="5638800"/>
            <a:ext cx="990600" cy="519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2" name="Google Shape;372;p14"/>
          <p:cNvGrpSpPr/>
          <p:nvPr/>
        </p:nvGrpSpPr>
        <p:grpSpPr>
          <a:xfrm>
            <a:off x="1600200" y="3943350"/>
            <a:ext cx="5791200" cy="1143000"/>
            <a:chOff x="1008" y="3168"/>
            <a:chExt cx="3648" cy="720"/>
          </a:xfrm>
        </p:grpSpPr>
        <p:sp>
          <p:nvSpPr>
            <p:cNvPr id="373" name="Google Shape;373;p14"/>
            <p:cNvSpPr/>
            <p:nvPr/>
          </p:nvSpPr>
          <p:spPr>
            <a:xfrm>
              <a:off x="1217" y="3216"/>
              <a:ext cx="3199" cy="432"/>
            </a:xfrm>
            <a:custGeom>
              <a:rect b="b" l="l" r="r" t="t"/>
              <a:pathLst>
                <a:path extrusionOk="0" h="1875" w="2795">
                  <a:moveTo>
                    <a:pt x="847" y="273"/>
                  </a:moveTo>
                  <a:cubicBezTo>
                    <a:pt x="912" y="189"/>
                    <a:pt x="1086" y="203"/>
                    <a:pt x="1216" y="164"/>
                  </a:cubicBezTo>
                  <a:cubicBezTo>
                    <a:pt x="1346" y="125"/>
                    <a:pt x="1491" y="0"/>
                    <a:pt x="1630" y="39"/>
                  </a:cubicBezTo>
                  <a:cubicBezTo>
                    <a:pt x="1769" y="78"/>
                    <a:pt x="1980" y="289"/>
                    <a:pt x="2053" y="400"/>
                  </a:cubicBezTo>
                  <a:cubicBezTo>
                    <a:pt x="2126" y="511"/>
                    <a:pt x="1987" y="626"/>
                    <a:pt x="2068" y="707"/>
                  </a:cubicBezTo>
                  <a:cubicBezTo>
                    <a:pt x="2149" y="788"/>
                    <a:pt x="2418" y="829"/>
                    <a:pt x="2537" y="887"/>
                  </a:cubicBezTo>
                  <a:cubicBezTo>
                    <a:pt x="2656" y="945"/>
                    <a:pt x="2769" y="978"/>
                    <a:pt x="2782" y="1054"/>
                  </a:cubicBezTo>
                  <a:cubicBezTo>
                    <a:pt x="2795" y="1130"/>
                    <a:pt x="2682" y="1247"/>
                    <a:pt x="2613" y="1345"/>
                  </a:cubicBezTo>
                  <a:cubicBezTo>
                    <a:pt x="2544" y="1443"/>
                    <a:pt x="2496" y="1583"/>
                    <a:pt x="2368" y="1642"/>
                  </a:cubicBezTo>
                  <a:cubicBezTo>
                    <a:pt x="2240" y="1701"/>
                    <a:pt x="2029" y="1665"/>
                    <a:pt x="1845" y="1697"/>
                  </a:cubicBezTo>
                  <a:cubicBezTo>
                    <a:pt x="1661" y="1729"/>
                    <a:pt x="1401" y="1875"/>
                    <a:pt x="1262" y="1836"/>
                  </a:cubicBezTo>
                  <a:cubicBezTo>
                    <a:pt x="1123" y="1797"/>
                    <a:pt x="1123" y="1520"/>
                    <a:pt x="1008" y="1460"/>
                  </a:cubicBezTo>
                  <a:cubicBezTo>
                    <a:pt x="893" y="1400"/>
                    <a:pt x="704" y="1482"/>
                    <a:pt x="571" y="1475"/>
                  </a:cubicBezTo>
                  <a:cubicBezTo>
                    <a:pt x="438" y="1468"/>
                    <a:pt x="282" y="1468"/>
                    <a:pt x="210" y="1417"/>
                  </a:cubicBezTo>
                  <a:cubicBezTo>
                    <a:pt x="138" y="1366"/>
                    <a:pt x="161" y="1268"/>
                    <a:pt x="140" y="1168"/>
                  </a:cubicBezTo>
                  <a:cubicBezTo>
                    <a:pt x="119" y="1068"/>
                    <a:pt x="0" y="906"/>
                    <a:pt x="87" y="815"/>
                  </a:cubicBezTo>
                  <a:cubicBezTo>
                    <a:pt x="174" y="724"/>
                    <a:pt x="536" y="713"/>
                    <a:pt x="663" y="623"/>
                  </a:cubicBezTo>
                  <a:cubicBezTo>
                    <a:pt x="790" y="533"/>
                    <a:pt x="809" y="346"/>
                    <a:pt x="847" y="273"/>
                  </a:cubicBezTo>
                  <a:close/>
                </a:path>
              </a:pathLst>
            </a:custGeom>
            <a:solidFill>
              <a:srgbClr val="FFFF6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74" name="Google Shape;374;p14"/>
            <p:cNvSpPr txBox="1"/>
            <p:nvPr/>
          </p:nvSpPr>
          <p:spPr>
            <a:xfrm>
              <a:off x="2753" y="363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0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X</a:t>
              </a:r>
              <a:endParaRPr/>
            </a:p>
          </p:txBody>
        </p:sp>
        <p:cxnSp>
          <p:nvCxnSpPr>
            <p:cNvPr id="375" name="Google Shape;375;p14"/>
            <p:cNvCxnSpPr/>
            <p:nvPr/>
          </p:nvCxnSpPr>
          <p:spPr>
            <a:xfrm rot="10800000">
              <a:off x="1008" y="3456"/>
              <a:ext cx="364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6" name="Google Shape;376;p14"/>
            <p:cNvCxnSpPr/>
            <p:nvPr/>
          </p:nvCxnSpPr>
          <p:spPr>
            <a:xfrm flipH="1">
              <a:off x="2592" y="3168"/>
              <a:ext cx="576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77" name="Google Shape;377;p14"/>
          <p:cNvGrpSpPr/>
          <p:nvPr/>
        </p:nvGrpSpPr>
        <p:grpSpPr>
          <a:xfrm>
            <a:off x="2971800" y="4248150"/>
            <a:ext cx="3429000" cy="304800"/>
            <a:chOff x="1872" y="3360"/>
            <a:chExt cx="2160" cy="192"/>
          </a:xfrm>
        </p:grpSpPr>
        <p:sp>
          <p:nvSpPr>
            <p:cNvPr id="378" name="Google Shape;378;p14"/>
            <p:cNvSpPr/>
            <p:nvPr/>
          </p:nvSpPr>
          <p:spPr>
            <a:xfrm>
              <a:off x="2976" y="3504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79" name="Google Shape;379;p14"/>
            <p:cNvSpPr/>
            <p:nvPr/>
          </p:nvSpPr>
          <p:spPr>
            <a:xfrm>
              <a:off x="3024" y="3360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80" name="Google Shape;380;p14"/>
            <p:cNvSpPr/>
            <p:nvPr/>
          </p:nvSpPr>
          <p:spPr>
            <a:xfrm>
              <a:off x="3936" y="3504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81" name="Google Shape;381;p14"/>
            <p:cNvSpPr/>
            <p:nvPr/>
          </p:nvSpPr>
          <p:spPr>
            <a:xfrm>
              <a:off x="2256" y="3360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82" name="Google Shape;382;p14"/>
            <p:cNvSpPr/>
            <p:nvPr/>
          </p:nvSpPr>
          <p:spPr>
            <a:xfrm>
              <a:off x="3312" y="3456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83" name="Google Shape;383;p14"/>
            <p:cNvSpPr/>
            <p:nvPr/>
          </p:nvSpPr>
          <p:spPr>
            <a:xfrm>
              <a:off x="2160" y="3408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84" name="Google Shape;384;p14"/>
            <p:cNvSpPr/>
            <p:nvPr/>
          </p:nvSpPr>
          <p:spPr>
            <a:xfrm>
              <a:off x="3840" y="3456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85" name="Google Shape;385;p14"/>
            <p:cNvSpPr/>
            <p:nvPr/>
          </p:nvSpPr>
          <p:spPr>
            <a:xfrm>
              <a:off x="3120" y="3456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86" name="Google Shape;386;p14"/>
            <p:cNvSpPr/>
            <p:nvPr/>
          </p:nvSpPr>
          <p:spPr>
            <a:xfrm>
              <a:off x="2352" y="3408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87" name="Google Shape;387;p14"/>
            <p:cNvSpPr/>
            <p:nvPr/>
          </p:nvSpPr>
          <p:spPr>
            <a:xfrm>
              <a:off x="2928" y="3408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88" name="Google Shape;388;p14"/>
            <p:cNvSpPr/>
            <p:nvPr/>
          </p:nvSpPr>
          <p:spPr>
            <a:xfrm>
              <a:off x="3264" y="3360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89" name="Google Shape;389;p14"/>
            <p:cNvSpPr/>
            <p:nvPr/>
          </p:nvSpPr>
          <p:spPr>
            <a:xfrm>
              <a:off x="3984" y="3456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90" name="Google Shape;390;p14"/>
            <p:cNvSpPr/>
            <p:nvPr/>
          </p:nvSpPr>
          <p:spPr>
            <a:xfrm>
              <a:off x="3072" y="3456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91" name="Google Shape;391;p14"/>
            <p:cNvSpPr/>
            <p:nvPr/>
          </p:nvSpPr>
          <p:spPr>
            <a:xfrm>
              <a:off x="1872" y="3456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92" name="Google Shape;392;p14"/>
            <p:cNvSpPr/>
            <p:nvPr/>
          </p:nvSpPr>
          <p:spPr>
            <a:xfrm>
              <a:off x="3456" y="3408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393" name="Google Shape;393;p14"/>
          <p:cNvGrpSpPr/>
          <p:nvPr/>
        </p:nvGrpSpPr>
        <p:grpSpPr>
          <a:xfrm>
            <a:off x="1295400" y="3943350"/>
            <a:ext cx="6400800" cy="912813"/>
            <a:chOff x="816" y="3168"/>
            <a:chExt cx="4032" cy="575"/>
          </a:xfrm>
        </p:grpSpPr>
        <p:cxnSp>
          <p:nvCxnSpPr>
            <p:cNvPr id="394" name="Google Shape;394;p14"/>
            <p:cNvCxnSpPr/>
            <p:nvPr/>
          </p:nvCxnSpPr>
          <p:spPr>
            <a:xfrm flipH="1" rot="10800000">
              <a:off x="2400" y="3168"/>
              <a:ext cx="576" cy="5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" name="Google Shape;395;p14"/>
            <p:cNvCxnSpPr/>
            <p:nvPr/>
          </p:nvCxnSpPr>
          <p:spPr>
            <a:xfrm flipH="1" rot="10800000">
              <a:off x="2784" y="3168"/>
              <a:ext cx="576" cy="5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" name="Google Shape;396;p14"/>
            <p:cNvCxnSpPr/>
            <p:nvPr/>
          </p:nvCxnSpPr>
          <p:spPr>
            <a:xfrm flipH="1" rot="10800000">
              <a:off x="2976" y="3168"/>
              <a:ext cx="576" cy="5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" name="Google Shape;397;p14"/>
            <p:cNvCxnSpPr/>
            <p:nvPr/>
          </p:nvCxnSpPr>
          <p:spPr>
            <a:xfrm flipH="1" rot="10800000">
              <a:off x="3360" y="3168"/>
              <a:ext cx="576" cy="5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8" name="Google Shape;398;p14"/>
            <p:cNvCxnSpPr/>
            <p:nvPr/>
          </p:nvCxnSpPr>
          <p:spPr>
            <a:xfrm flipH="1" rot="10800000">
              <a:off x="3168" y="3168"/>
              <a:ext cx="576" cy="5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" name="Google Shape;399;p14"/>
            <p:cNvCxnSpPr/>
            <p:nvPr/>
          </p:nvCxnSpPr>
          <p:spPr>
            <a:xfrm flipH="1" rot="10800000">
              <a:off x="3552" y="3168"/>
              <a:ext cx="576" cy="5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" name="Google Shape;400;p14"/>
            <p:cNvCxnSpPr/>
            <p:nvPr/>
          </p:nvCxnSpPr>
          <p:spPr>
            <a:xfrm flipH="1" rot="10800000">
              <a:off x="3744" y="3168"/>
              <a:ext cx="576" cy="5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" name="Google Shape;401;p14"/>
            <p:cNvCxnSpPr/>
            <p:nvPr/>
          </p:nvCxnSpPr>
          <p:spPr>
            <a:xfrm flipH="1" rot="10800000">
              <a:off x="2208" y="3168"/>
              <a:ext cx="576" cy="5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2" name="Google Shape;402;p14"/>
            <p:cNvCxnSpPr/>
            <p:nvPr/>
          </p:nvCxnSpPr>
          <p:spPr>
            <a:xfrm flipH="1" rot="10800000">
              <a:off x="2016" y="3168"/>
              <a:ext cx="576" cy="5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3" name="Google Shape;403;p14"/>
            <p:cNvCxnSpPr/>
            <p:nvPr/>
          </p:nvCxnSpPr>
          <p:spPr>
            <a:xfrm flipH="1" rot="10800000">
              <a:off x="1824" y="3168"/>
              <a:ext cx="576" cy="5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4" name="Google Shape;404;p14"/>
            <p:cNvCxnSpPr/>
            <p:nvPr/>
          </p:nvCxnSpPr>
          <p:spPr>
            <a:xfrm flipH="1" rot="10800000">
              <a:off x="1632" y="3168"/>
              <a:ext cx="576" cy="5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5" name="Google Shape;405;p14"/>
            <p:cNvCxnSpPr/>
            <p:nvPr/>
          </p:nvCxnSpPr>
          <p:spPr>
            <a:xfrm flipH="1" rot="10800000">
              <a:off x="1440" y="3168"/>
              <a:ext cx="576" cy="5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6" name="Google Shape;406;p14"/>
            <p:cNvCxnSpPr/>
            <p:nvPr/>
          </p:nvCxnSpPr>
          <p:spPr>
            <a:xfrm flipH="1" rot="10800000">
              <a:off x="1248" y="3168"/>
              <a:ext cx="576" cy="5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7" name="Google Shape;407;p14"/>
            <p:cNvCxnSpPr/>
            <p:nvPr/>
          </p:nvCxnSpPr>
          <p:spPr>
            <a:xfrm>
              <a:off x="1104" y="3360"/>
              <a:ext cx="364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8" name="Google Shape;408;p14"/>
            <p:cNvCxnSpPr/>
            <p:nvPr/>
          </p:nvCxnSpPr>
          <p:spPr>
            <a:xfrm>
              <a:off x="1200" y="3264"/>
              <a:ext cx="364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9" name="Google Shape;409;p14"/>
            <p:cNvCxnSpPr/>
            <p:nvPr/>
          </p:nvCxnSpPr>
          <p:spPr>
            <a:xfrm>
              <a:off x="912" y="3552"/>
              <a:ext cx="364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0" name="Google Shape;410;p14"/>
            <p:cNvCxnSpPr/>
            <p:nvPr/>
          </p:nvCxnSpPr>
          <p:spPr>
            <a:xfrm>
              <a:off x="816" y="3648"/>
              <a:ext cx="364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11" name="Google Shape;411;p14"/>
          <p:cNvGrpSpPr/>
          <p:nvPr/>
        </p:nvGrpSpPr>
        <p:grpSpPr>
          <a:xfrm>
            <a:off x="2971800" y="3486150"/>
            <a:ext cx="3352800" cy="990600"/>
            <a:chOff x="1824" y="2928"/>
            <a:chExt cx="2112" cy="624"/>
          </a:xfrm>
        </p:grpSpPr>
        <p:sp>
          <p:nvSpPr>
            <p:cNvPr id="412" name="Google Shape;412;p14"/>
            <p:cNvSpPr/>
            <p:nvPr/>
          </p:nvSpPr>
          <p:spPr>
            <a:xfrm>
              <a:off x="2880" y="3024"/>
              <a:ext cx="192" cy="432"/>
            </a:xfrm>
            <a:prstGeom prst="rect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13" name="Google Shape;413;p14"/>
            <p:cNvSpPr/>
            <p:nvPr/>
          </p:nvSpPr>
          <p:spPr>
            <a:xfrm>
              <a:off x="3072" y="3264"/>
              <a:ext cx="192" cy="192"/>
            </a:xfrm>
            <a:prstGeom prst="rect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14" name="Google Shape;414;p14"/>
            <p:cNvSpPr/>
            <p:nvPr/>
          </p:nvSpPr>
          <p:spPr>
            <a:xfrm>
              <a:off x="2976" y="2928"/>
              <a:ext cx="192" cy="624"/>
            </a:xfrm>
            <a:prstGeom prst="rect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15" name="Google Shape;415;p14"/>
            <p:cNvSpPr/>
            <p:nvPr/>
          </p:nvSpPr>
          <p:spPr>
            <a:xfrm>
              <a:off x="3168" y="3360"/>
              <a:ext cx="192" cy="192"/>
            </a:xfrm>
            <a:prstGeom prst="rect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16" name="Google Shape;416;p14"/>
            <p:cNvSpPr/>
            <p:nvPr/>
          </p:nvSpPr>
          <p:spPr>
            <a:xfrm>
              <a:off x="3456" y="3264"/>
              <a:ext cx="192" cy="192"/>
            </a:xfrm>
            <a:prstGeom prst="rect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17" name="Google Shape;417;p14"/>
            <p:cNvSpPr/>
            <p:nvPr/>
          </p:nvSpPr>
          <p:spPr>
            <a:xfrm>
              <a:off x="3744" y="2928"/>
              <a:ext cx="192" cy="624"/>
            </a:xfrm>
            <a:prstGeom prst="rect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18" name="Google Shape;418;p14"/>
            <p:cNvSpPr/>
            <p:nvPr/>
          </p:nvSpPr>
          <p:spPr>
            <a:xfrm>
              <a:off x="2112" y="3024"/>
              <a:ext cx="192" cy="432"/>
            </a:xfrm>
            <a:prstGeom prst="rect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19" name="Google Shape;419;p14"/>
            <p:cNvSpPr/>
            <p:nvPr/>
          </p:nvSpPr>
          <p:spPr>
            <a:xfrm>
              <a:off x="2304" y="3264"/>
              <a:ext cx="192" cy="192"/>
            </a:xfrm>
            <a:prstGeom prst="rect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20" name="Google Shape;420;p14"/>
            <p:cNvSpPr/>
            <p:nvPr/>
          </p:nvSpPr>
          <p:spPr>
            <a:xfrm>
              <a:off x="1824" y="3360"/>
              <a:ext cx="192" cy="192"/>
            </a:xfrm>
            <a:prstGeom prst="rect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421" name="Google Shape;421;p14"/>
          <p:cNvGrpSpPr/>
          <p:nvPr/>
        </p:nvGrpSpPr>
        <p:grpSpPr>
          <a:xfrm>
            <a:off x="2133600" y="3455988"/>
            <a:ext cx="5357813" cy="976312"/>
            <a:chOff x="1344" y="2861"/>
            <a:chExt cx="3375" cy="615"/>
          </a:xfrm>
        </p:grpSpPr>
        <p:sp>
          <p:nvSpPr>
            <p:cNvPr id="422" name="Google Shape;422;p14"/>
            <p:cNvSpPr/>
            <p:nvPr/>
          </p:nvSpPr>
          <p:spPr>
            <a:xfrm>
              <a:off x="1344" y="2861"/>
              <a:ext cx="3024" cy="595"/>
            </a:xfrm>
            <a:custGeom>
              <a:rect b="b" l="l" r="r" t="t"/>
              <a:pathLst>
                <a:path extrusionOk="0" h="595" w="2390">
                  <a:moveTo>
                    <a:pt x="0" y="569"/>
                  </a:moveTo>
                  <a:cubicBezTo>
                    <a:pt x="168" y="545"/>
                    <a:pt x="336" y="521"/>
                    <a:pt x="432" y="473"/>
                  </a:cubicBezTo>
                  <a:cubicBezTo>
                    <a:pt x="528" y="425"/>
                    <a:pt x="512" y="329"/>
                    <a:pt x="576" y="281"/>
                  </a:cubicBezTo>
                  <a:cubicBezTo>
                    <a:pt x="640" y="233"/>
                    <a:pt x="760" y="153"/>
                    <a:pt x="816" y="185"/>
                  </a:cubicBezTo>
                  <a:cubicBezTo>
                    <a:pt x="872" y="217"/>
                    <a:pt x="872" y="417"/>
                    <a:pt x="912" y="473"/>
                  </a:cubicBezTo>
                  <a:cubicBezTo>
                    <a:pt x="952" y="529"/>
                    <a:pt x="998" y="545"/>
                    <a:pt x="1056" y="521"/>
                  </a:cubicBezTo>
                  <a:cubicBezTo>
                    <a:pt x="1114" y="497"/>
                    <a:pt x="1213" y="417"/>
                    <a:pt x="1261" y="331"/>
                  </a:cubicBezTo>
                  <a:cubicBezTo>
                    <a:pt x="1309" y="245"/>
                    <a:pt x="1300" y="16"/>
                    <a:pt x="1346" y="8"/>
                  </a:cubicBezTo>
                  <a:cubicBezTo>
                    <a:pt x="1392" y="0"/>
                    <a:pt x="1480" y="228"/>
                    <a:pt x="1536" y="281"/>
                  </a:cubicBezTo>
                  <a:cubicBezTo>
                    <a:pt x="1592" y="334"/>
                    <a:pt x="1640" y="299"/>
                    <a:pt x="1680" y="329"/>
                  </a:cubicBezTo>
                  <a:cubicBezTo>
                    <a:pt x="1720" y="359"/>
                    <a:pt x="1744" y="429"/>
                    <a:pt x="1776" y="461"/>
                  </a:cubicBezTo>
                  <a:cubicBezTo>
                    <a:pt x="1808" y="493"/>
                    <a:pt x="1816" y="575"/>
                    <a:pt x="1872" y="521"/>
                  </a:cubicBezTo>
                  <a:cubicBezTo>
                    <a:pt x="1928" y="467"/>
                    <a:pt x="2059" y="137"/>
                    <a:pt x="2112" y="137"/>
                  </a:cubicBezTo>
                  <a:cubicBezTo>
                    <a:pt x="2165" y="137"/>
                    <a:pt x="2145" y="451"/>
                    <a:pt x="2191" y="523"/>
                  </a:cubicBezTo>
                  <a:cubicBezTo>
                    <a:pt x="2237" y="595"/>
                    <a:pt x="2349" y="559"/>
                    <a:pt x="2390" y="569"/>
                  </a:cubicBezTo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23" name="Google Shape;423;p14"/>
            <p:cNvSpPr txBox="1"/>
            <p:nvPr/>
          </p:nvSpPr>
          <p:spPr>
            <a:xfrm>
              <a:off x="4368" y="3264"/>
              <a:ext cx="35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p(</a:t>
              </a:r>
              <a:r>
                <a:rPr i="1"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x</a:t>
              </a: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)</a:t>
              </a:r>
              <a:endParaRPr/>
            </a:p>
          </p:txBody>
        </p:sp>
      </p:grpSp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5"/>
          <p:cNvSpPr txBox="1"/>
          <p:nvPr>
            <p:ph type="title"/>
          </p:nvPr>
        </p:nvSpPr>
        <p:spPr>
          <a:xfrm>
            <a:off x="1371600" y="3810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Monte Carlo principle</a:t>
            </a:r>
            <a:endParaRPr/>
          </a:p>
        </p:txBody>
      </p:sp>
      <p:sp>
        <p:nvSpPr>
          <p:cNvPr id="429" name="Google Shape;429;p15"/>
          <p:cNvSpPr txBox="1"/>
          <p:nvPr>
            <p:ph idx="1" type="body"/>
          </p:nvPr>
        </p:nvSpPr>
        <p:spPr>
          <a:xfrm>
            <a:off x="685800" y="1752600"/>
            <a:ext cx="80772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We can also use these samples to compute expectations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And even use them to find a maximum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</p:txBody>
      </p:sp>
      <p:pic>
        <p:nvPicPr>
          <p:cNvPr id="430" name="Google Shape;4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4063" y="2819400"/>
            <a:ext cx="2979737" cy="665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8500" y="2667000"/>
            <a:ext cx="2611438" cy="82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5875" y="4953000"/>
            <a:ext cx="2320925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6"/>
          <p:cNvSpPr txBox="1"/>
          <p:nvPr>
            <p:ph type="title"/>
          </p:nvPr>
        </p:nvSpPr>
        <p:spPr>
          <a:xfrm>
            <a:off x="1371600" y="3810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Example: Bayes net inference</a:t>
            </a:r>
            <a:endParaRPr/>
          </a:p>
        </p:txBody>
      </p:sp>
      <p:sp>
        <p:nvSpPr>
          <p:cNvPr id="438" name="Google Shape;438;p16"/>
          <p:cNvSpPr txBox="1"/>
          <p:nvPr>
            <p:ph idx="2" type="body"/>
          </p:nvPr>
        </p:nvSpPr>
        <p:spPr>
          <a:xfrm>
            <a:off x="3657600" y="1752600"/>
            <a:ext cx="4800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Suppose we have a Bayesian network with variables </a:t>
            </a:r>
            <a:r>
              <a:rPr b="1" i="1" lang="en-US" sz="2200"/>
              <a:t>X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Our state space is the set of all possible assignments of values to variables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Computing the joint distribution is in the worst case NP-hard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However, note that you can draw a sample in time that is linear in the size of the network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Draw </a:t>
            </a:r>
            <a:r>
              <a:rPr i="1" lang="en-US" sz="2200"/>
              <a:t>N</a:t>
            </a:r>
            <a:r>
              <a:rPr lang="en-US" sz="2200"/>
              <a:t> samples, use them to approximate the joint</a:t>
            </a:r>
            <a:endParaRPr/>
          </a:p>
        </p:txBody>
      </p:sp>
      <p:grpSp>
        <p:nvGrpSpPr>
          <p:cNvPr id="439" name="Google Shape;439;p16"/>
          <p:cNvGrpSpPr/>
          <p:nvPr/>
        </p:nvGrpSpPr>
        <p:grpSpPr>
          <a:xfrm>
            <a:off x="762000" y="1828800"/>
            <a:ext cx="1981200" cy="3200400"/>
            <a:chOff x="480" y="1152"/>
            <a:chExt cx="1248" cy="2016"/>
          </a:xfrm>
        </p:grpSpPr>
        <p:sp>
          <p:nvSpPr>
            <p:cNvPr id="440" name="Google Shape;440;p16"/>
            <p:cNvSpPr/>
            <p:nvPr/>
          </p:nvSpPr>
          <p:spPr>
            <a:xfrm>
              <a:off x="480" y="1152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41" name="Google Shape;441;p16"/>
            <p:cNvSpPr/>
            <p:nvPr/>
          </p:nvSpPr>
          <p:spPr>
            <a:xfrm>
              <a:off x="576" y="1728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42" name="Google Shape;442;p16"/>
            <p:cNvSpPr/>
            <p:nvPr/>
          </p:nvSpPr>
          <p:spPr>
            <a:xfrm>
              <a:off x="960" y="1152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43" name="Google Shape;443;p16"/>
            <p:cNvSpPr/>
            <p:nvPr/>
          </p:nvSpPr>
          <p:spPr>
            <a:xfrm>
              <a:off x="1056" y="1728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44" name="Google Shape;444;p16"/>
            <p:cNvSpPr/>
            <p:nvPr/>
          </p:nvSpPr>
          <p:spPr>
            <a:xfrm>
              <a:off x="1440" y="1152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45" name="Google Shape;445;p16"/>
            <p:cNvSpPr/>
            <p:nvPr/>
          </p:nvSpPr>
          <p:spPr>
            <a:xfrm>
              <a:off x="528" y="2304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46" name="Google Shape;446;p16"/>
            <p:cNvSpPr/>
            <p:nvPr/>
          </p:nvSpPr>
          <p:spPr>
            <a:xfrm>
              <a:off x="1104" y="2304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47" name="Google Shape;447;p16"/>
            <p:cNvSpPr/>
            <p:nvPr/>
          </p:nvSpPr>
          <p:spPr>
            <a:xfrm>
              <a:off x="528" y="2880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48" name="Google Shape;448;p16"/>
            <p:cNvSpPr/>
            <p:nvPr/>
          </p:nvSpPr>
          <p:spPr>
            <a:xfrm>
              <a:off x="960" y="2880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449" name="Google Shape;449;p16"/>
            <p:cNvCxnSpPr>
              <a:stCxn id="440" idx="4"/>
              <a:endCxn id="441" idx="0"/>
            </p:cNvCxnSpPr>
            <p:nvPr/>
          </p:nvCxnSpPr>
          <p:spPr>
            <a:xfrm>
              <a:off x="624" y="1440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0" name="Google Shape;450;p16"/>
            <p:cNvCxnSpPr>
              <a:stCxn id="442" idx="4"/>
              <a:endCxn id="441" idx="0"/>
            </p:cNvCxnSpPr>
            <p:nvPr/>
          </p:nvCxnSpPr>
          <p:spPr>
            <a:xfrm flipH="1">
              <a:off x="804" y="1440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1" name="Google Shape;451;p16"/>
            <p:cNvCxnSpPr>
              <a:stCxn id="444" idx="4"/>
              <a:endCxn id="443" idx="0"/>
            </p:cNvCxnSpPr>
            <p:nvPr/>
          </p:nvCxnSpPr>
          <p:spPr>
            <a:xfrm flipH="1">
              <a:off x="1284" y="1440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2" name="Google Shape;452;p16"/>
            <p:cNvCxnSpPr>
              <a:stCxn id="444" idx="4"/>
              <a:endCxn id="441" idx="0"/>
            </p:cNvCxnSpPr>
            <p:nvPr/>
          </p:nvCxnSpPr>
          <p:spPr>
            <a:xfrm flipH="1">
              <a:off x="684" y="1440"/>
              <a:ext cx="9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3" name="Google Shape;453;p16"/>
            <p:cNvCxnSpPr>
              <a:stCxn id="441" idx="4"/>
              <a:endCxn id="445" idx="0"/>
            </p:cNvCxnSpPr>
            <p:nvPr/>
          </p:nvCxnSpPr>
          <p:spPr>
            <a:xfrm>
              <a:off x="720" y="2016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4" name="Google Shape;454;p16"/>
            <p:cNvCxnSpPr>
              <a:stCxn id="441" idx="4"/>
              <a:endCxn id="446" idx="0"/>
            </p:cNvCxnSpPr>
            <p:nvPr/>
          </p:nvCxnSpPr>
          <p:spPr>
            <a:xfrm>
              <a:off x="720" y="2016"/>
              <a:ext cx="6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5" name="Google Shape;455;p16"/>
            <p:cNvCxnSpPr>
              <a:stCxn id="443" idx="4"/>
              <a:endCxn id="447" idx="0"/>
            </p:cNvCxnSpPr>
            <p:nvPr/>
          </p:nvCxnSpPr>
          <p:spPr>
            <a:xfrm flipH="1">
              <a:off x="600" y="2016"/>
              <a:ext cx="600" cy="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6" name="Google Shape;456;p16"/>
            <p:cNvCxnSpPr>
              <a:stCxn id="444" idx="4"/>
              <a:endCxn id="446" idx="0"/>
            </p:cNvCxnSpPr>
            <p:nvPr/>
          </p:nvCxnSpPr>
          <p:spPr>
            <a:xfrm flipH="1">
              <a:off x="1284" y="1440"/>
              <a:ext cx="300" cy="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7" name="Google Shape;457;p16"/>
            <p:cNvCxnSpPr>
              <a:stCxn id="446" idx="4"/>
              <a:endCxn id="448" idx="0"/>
            </p:cNvCxnSpPr>
            <p:nvPr/>
          </p:nvCxnSpPr>
          <p:spPr>
            <a:xfrm>
              <a:off x="1248" y="2592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458" name="Google Shape;458;p16"/>
          <p:cNvSpPr txBox="1"/>
          <p:nvPr/>
        </p:nvSpPr>
        <p:spPr>
          <a:xfrm>
            <a:off x="212725" y="5192713"/>
            <a:ext cx="282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Sample 1: FTFTTTFFT</a:t>
            </a:r>
            <a:endParaRPr/>
          </a:p>
        </p:txBody>
      </p:sp>
      <p:sp>
        <p:nvSpPr>
          <p:cNvPr id="459" name="Google Shape;459;p16"/>
          <p:cNvSpPr/>
          <p:nvPr/>
        </p:nvSpPr>
        <p:spPr>
          <a:xfrm>
            <a:off x="914400" y="27432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</a:t>
            </a:r>
            <a:endParaRPr/>
          </a:p>
        </p:txBody>
      </p:sp>
      <p:sp>
        <p:nvSpPr>
          <p:cNvPr id="460" name="Google Shape;460;p16"/>
          <p:cNvSpPr/>
          <p:nvPr/>
        </p:nvSpPr>
        <p:spPr>
          <a:xfrm>
            <a:off x="1676400" y="27432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</a:t>
            </a:r>
            <a:endParaRPr/>
          </a:p>
        </p:txBody>
      </p:sp>
      <p:sp>
        <p:nvSpPr>
          <p:cNvPr id="461" name="Google Shape;461;p16"/>
          <p:cNvSpPr/>
          <p:nvPr/>
        </p:nvSpPr>
        <p:spPr>
          <a:xfrm>
            <a:off x="1524000" y="18288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</a:t>
            </a:r>
            <a:endParaRPr/>
          </a:p>
        </p:txBody>
      </p:sp>
      <p:sp>
        <p:nvSpPr>
          <p:cNvPr id="462" name="Google Shape;462;p16"/>
          <p:cNvSpPr/>
          <p:nvPr/>
        </p:nvSpPr>
        <p:spPr>
          <a:xfrm>
            <a:off x="762000" y="18288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endParaRPr/>
          </a:p>
        </p:txBody>
      </p:sp>
      <p:sp>
        <p:nvSpPr>
          <p:cNvPr id="463" name="Google Shape;463;p16"/>
          <p:cNvSpPr/>
          <p:nvPr/>
        </p:nvSpPr>
        <p:spPr>
          <a:xfrm>
            <a:off x="1752600" y="36576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endParaRPr/>
          </a:p>
        </p:txBody>
      </p:sp>
      <p:sp>
        <p:nvSpPr>
          <p:cNvPr id="464" name="Google Shape;464;p16"/>
          <p:cNvSpPr/>
          <p:nvPr/>
        </p:nvSpPr>
        <p:spPr>
          <a:xfrm>
            <a:off x="838200" y="45720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endParaRPr/>
          </a:p>
        </p:txBody>
      </p:sp>
      <p:sp>
        <p:nvSpPr>
          <p:cNvPr id="465" name="Google Shape;465;p16"/>
          <p:cNvSpPr/>
          <p:nvPr/>
        </p:nvSpPr>
        <p:spPr>
          <a:xfrm>
            <a:off x="1524000" y="45720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</a:t>
            </a:r>
            <a:endParaRPr/>
          </a:p>
        </p:txBody>
      </p:sp>
      <p:sp>
        <p:nvSpPr>
          <p:cNvPr id="466" name="Google Shape;466;p16"/>
          <p:cNvSpPr txBox="1"/>
          <p:nvPr/>
        </p:nvSpPr>
        <p:spPr>
          <a:xfrm>
            <a:off x="228600" y="5486400"/>
            <a:ext cx="27987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Sample 2: FTFFTTTFF</a:t>
            </a:r>
            <a:endParaRPr/>
          </a:p>
        </p:txBody>
      </p:sp>
      <p:sp>
        <p:nvSpPr>
          <p:cNvPr id="467" name="Google Shape;467;p16"/>
          <p:cNvSpPr/>
          <p:nvPr/>
        </p:nvSpPr>
        <p:spPr>
          <a:xfrm>
            <a:off x="2286000" y="18288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endParaRPr/>
          </a:p>
        </p:txBody>
      </p:sp>
      <p:sp>
        <p:nvSpPr>
          <p:cNvPr id="468" name="Google Shape;468;p16"/>
          <p:cNvSpPr/>
          <p:nvPr/>
        </p:nvSpPr>
        <p:spPr>
          <a:xfrm>
            <a:off x="838200" y="36576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</a:t>
            </a:r>
            <a:endParaRPr/>
          </a:p>
        </p:txBody>
      </p:sp>
      <p:grpSp>
        <p:nvGrpSpPr>
          <p:cNvPr id="469" name="Google Shape;469;p16"/>
          <p:cNvGrpSpPr/>
          <p:nvPr/>
        </p:nvGrpSpPr>
        <p:grpSpPr>
          <a:xfrm>
            <a:off x="762000" y="1828800"/>
            <a:ext cx="1981200" cy="3200400"/>
            <a:chOff x="2112" y="1152"/>
            <a:chExt cx="1248" cy="2016"/>
          </a:xfrm>
        </p:grpSpPr>
        <p:sp>
          <p:nvSpPr>
            <p:cNvPr id="470" name="Google Shape;470;p16"/>
            <p:cNvSpPr/>
            <p:nvPr/>
          </p:nvSpPr>
          <p:spPr>
            <a:xfrm>
              <a:off x="2208" y="1728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71" name="Google Shape;471;p16"/>
            <p:cNvSpPr/>
            <p:nvPr/>
          </p:nvSpPr>
          <p:spPr>
            <a:xfrm>
              <a:off x="2688" y="1728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2592" y="1152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2112" y="1152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74" name="Google Shape;474;p16"/>
            <p:cNvSpPr/>
            <p:nvPr/>
          </p:nvSpPr>
          <p:spPr>
            <a:xfrm>
              <a:off x="2736" y="2304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75" name="Google Shape;475;p16"/>
            <p:cNvSpPr/>
            <p:nvPr/>
          </p:nvSpPr>
          <p:spPr>
            <a:xfrm>
              <a:off x="2160" y="2880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76" name="Google Shape;476;p16"/>
            <p:cNvSpPr/>
            <p:nvPr/>
          </p:nvSpPr>
          <p:spPr>
            <a:xfrm>
              <a:off x="2592" y="2880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77" name="Google Shape;477;p16"/>
            <p:cNvSpPr/>
            <p:nvPr/>
          </p:nvSpPr>
          <p:spPr>
            <a:xfrm>
              <a:off x="3072" y="1152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78" name="Google Shape;478;p16"/>
            <p:cNvSpPr/>
            <p:nvPr/>
          </p:nvSpPr>
          <p:spPr>
            <a:xfrm>
              <a:off x="2160" y="2304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sp>
        <p:nvSpPr>
          <p:cNvPr id="479" name="Google Shape;479;p16"/>
          <p:cNvSpPr/>
          <p:nvPr/>
        </p:nvSpPr>
        <p:spPr>
          <a:xfrm>
            <a:off x="914400" y="27432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endParaRPr/>
          </a:p>
        </p:txBody>
      </p:sp>
      <p:sp>
        <p:nvSpPr>
          <p:cNvPr id="480" name="Google Shape;480;p16"/>
          <p:cNvSpPr/>
          <p:nvPr/>
        </p:nvSpPr>
        <p:spPr>
          <a:xfrm>
            <a:off x="1676400" y="27432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</a:t>
            </a:r>
            <a:endParaRPr/>
          </a:p>
        </p:txBody>
      </p:sp>
      <p:sp>
        <p:nvSpPr>
          <p:cNvPr id="481" name="Google Shape;481;p16"/>
          <p:cNvSpPr/>
          <p:nvPr/>
        </p:nvSpPr>
        <p:spPr>
          <a:xfrm>
            <a:off x="1524000" y="18288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</a:t>
            </a:r>
            <a:endParaRPr/>
          </a:p>
        </p:txBody>
      </p:sp>
      <p:sp>
        <p:nvSpPr>
          <p:cNvPr id="482" name="Google Shape;482;p16"/>
          <p:cNvSpPr/>
          <p:nvPr/>
        </p:nvSpPr>
        <p:spPr>
          <a:xfrm>
            <a:off x="762000" y="18288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endParaRPr/>
          </a:p>
        </p:txBody>
      </p:sp>
      <p:sp>
        <p:nvSpPr>
          <p:cNvPr id="483" name="Google Shape;483;p16"/>
          <p:cNvSpPr/>
          <p:nvPr/>
        </p:nvSpPr>
        <p:spPr>
          <a:xfrm>
            <a:off x="1752600" y="36576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</a:t>
            </a:r>
            <a:endParaRPr/>
          </a:p>
        </p:txBody>
      </p:sp>
      <p:sp>
        <p:nvSpPr>
          <p:cNvPr id="484" name="Google Shape;484;p16"/>
          <p:cNvSpPr/>
          <p:nvPr/>
        </p:nvSpPr>
        <p:spPr>
          <a:xfrm>
            <a:off x="838200" y="45720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endParaRPr/>
          </a:p>
        </p:txBody>
      </p:sp>
      <p:sp>
        <p:nvSpPr>
          <p:cNvPr id="485" name="Google Shape;485;p16"/>
          <p:cNvSpPr/>
          <p:nvPr/>
        </p:nvSpPr>
        <p:spPr>
          <a:xfrm>
            <a:off x="1524000" y="45720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endParaRPr/>
          </a:p>
        </p:txBody>
      </p:sp>
      <p:sp>
        <p:nvSpPr>
          <p:cNvPr id="486" name="Google Shape;486;p16"/>
          <p:cNvSpPr/>
          <p:nvPr/>
        </p:nvSpPr>
        <p:spPr>
          <a:xfrm>
            <a:off x="2286000" y="18288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endParaRPr/>
          </a:p>
        </p:txBody>
      </p:sp>
      <p:sp>
        <p:nvSpPr>
          <p:cNvPr id="487" name="Google Shape;487;p16"/>
          <p:cNvSpPr/>
          <p:nvPr/>
        </p:nvSpPr>
        <p:spPr>
          <a:xfrm>
            <a:off x="838200" y="36576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</a:t>
            </a:r>
            <a:endParaRPr/>
          </a:p>
        </p:txBody>
      </p:sp>
      <p:sp>
        <p:nvSpPr>
          <p:cNvPr id="488" name="Google Shape;488;p16"/>
          <p:cNvSpPr txBox="1"/>
          <p:nvPr/>
        </p:nvSpPr>
        <p:spPr>
          <a:xfrm>
            <a:off x="228600" y="5791200"/>
            <a:ext cx="6318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etc.</a:t>
            </a:r>
            <a:endParaRPr/>
          </a:p>
        </p:txBody>
      </p:sp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7"/>
          <p:cNvSpPr txBox="1"/>
          <p:nvPr>
            <p:ph type="title"/>
          </p:nvPr>
        </p:nvSpPr>
        <p:spPr>
          <a:xfrm>
            <a:off x="1371600" y="3810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Rejection sampling</a:t>
            </a:r>
            <a:endParaRPr/>
          </a:p>
        </p:txBody>
      </p:sp>
      <p:sp>
        <p:nvSpPr>
          <p:cNvPr id="494" name="Google Shape;494;p17"/>
          <p:cNvSpPr txBox="1"/>
          <p:nvPr>
            <p:ph idx="2" type="body"/>
          </p:nvPr>
        </p:nvSpPr>
        <p:spPr>
          <a:xfrm>
            <a:off x="3657600" y="1752600"/>
            <a:ext cx="4800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Suppose we have a Bayesian network with variables </a:t>
            </a:r>
            <a:r>
              <a:rPr b="1" i="1" lang="en-US" sz="2200"/>
              <a:t>X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We wish to condition on some evidence </a:t>
            </a:r>
            <a:r>
              <a:rPr b="1" i="1" lang="en-US" sz="2200"/>
              <a:t>Z</a:t>
            </a:r>
            <a:r>
              <a:rPr lang="en-US" sz="2200"/>
              <a:t></a:t>
            </a:r>
            <a:r>
              <a:rPr b="1" i="1" lang="en-US" sz="2200"/>
              <a:t>X </a:t>
            </a:r>
            <a:r>
              <a:rPr lang="en-US" sz="2200"/>
              <a:t>and compute the posterior over </a:t>
            </a:r>
            <a:r>
              <a:rPr b="1" i="1" lang="en-US" sz="2200"/>
              <a:t>Y</a:t>
            </a:r>
            <a:r>
              <a:rPr lang="en-US" sz="2200"/>
              <a:t>=</a:t>
            </a:r>
            <a:r>
              <a:rPr b="1" i="1" lang="en-US" sz="2200"/>
              <a:t>X</a:t>
            </a:r>
            <a:r>
              <a:rPr lang="en-US" sz="2200"/>
              <a:t>-</a:t>
            </a:r>
            <a:r>
              <a:rPr b="1" i="1" lang="en-US" sz="2200"/>
              <a:t>Z</a:t>
            </a:r>
            <a:endParaRPr b="1" sz="2200"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Draw samples, rejecting them when they contradict the evidence in </a:t>
            </a:r>
            <a:r>
              <a:rPr b="1" i="1" lang="en-US" sz="2200"/>
              <a:t>Z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Very inefficient if the evidence is itself improbable,  because we must reject a large number of samples</a:t>
            </a:r>
            <a:endParaRPr/>
          </a:p>
        </p:txBody>
      </p:sp>
      <p:grpSp>
        <p:nvGrpSpPr>
          <p:cNvPr id="495" name="Google Shape;495;p17"/>
          <p:cNvGrpSpPr/>
          <p:nvPr/>
        </p:nvGrpSpPr>
        <p:grpSpPr>
          <a:xfrm>
            <a:off x="762000" y="1828800"/>
            <a:ext cx="1981200" cy="3200400"/>
            <a:chOff x="480" y="1152"/>
            <a:chExt cx="1248" cy="2016"/>
          </a:xfrm>
        </p:grpSpPr>
        <p:sp>
          <p:nvSpPr>
            <p:cNvPr id="496" name="Google Shape;496;p17"/>
            <p:cNvSpPr/>
            <p:nvPr/>
          </p:nvSpPr>
          <p:spPr>
            <a:xfrm>
              <a:off x="480" y="1152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97" name="Google Shape;497;p17"/>
            <p:cNvSpPr/>
            <p:nvPr/>
          </p:nvSpPr>
          <p:spPr>
            <a:xfrm>
              <a:off x="576" y="1728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98" name="Google Shape;498;p17"/>
            <p:cNvSpPr/>
            <p:nvPr/>
          </p:nvSpPr>
          <p:spPr>
            <a:xfrm>
              <a:off x="960" y="1152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99" name="Google Shape;499;p17"/>
            <p:cNvSpPr/>
            <p:nvPr/>
          </p:nvSpPr>
          <p:spPr>
            <a:xfrm>
              <a:off x="1056" y="1728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500" name="Google Shape;500;p17"/>
            <p:cNvSpPr/>
            <p:nvPr/>
          </p:nvSpPr>
          <p:spPr>
            <a:xfrm>
              <a:off x="1440" y="1152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501" name="Google Shape;501;p17"/>
            <p:cNvSpPr/>
            <p:nvPr/>
          </p:nvSpPr>
          <p:spPr>
            <a:xfrm>
              <a:off x="528" y="2304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502" name="Google Shape;502;p17"/>
            <p:cNvSpPr/>
            <p:nvPr/>
          </p:nvSpPr>
          <p:spPr>
            <a:xfrm>
              <a:off x="1104" y="2304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503" name="Google Shape;503;p17"/>
            <p:cNvSpPr/>
            <p:nvPr/>
          </p:nvSpPr>
          <p:spPr>
            <a:xfrm>
              <a:off x="528" y="2880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504" name="Google Shape;504;p17"/>
            <p:cNvSpPr/>
            <p:nvPr/>
          </p:nvSpPr>
          <p:spPr>
            <a:xfrm>
              <a:off x="960" y="2880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505" name="Google Shape;505;p17"/>
            <p:cNvCxnSpPr>
              <a:stCxn id="496" idx="4"/>
              <a:endCxn id="497" idx="0"/>
            </p:cNvCxnSpPr>
            <p:nvPr/>
          </p:nvCxnSpPr>
          <p:spPr>
            <a:xfrm>
              <a:off x="624" y="1440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06" name="Google Shape;506;p17"/>
            <p:cNvCxnSpPr>
              <a:stCxn id="498" idx="4"/>
              <a:endCxn id="497" idx="0"/>
            </p:cNvCxnSpPr>
            <p:nvPr/>
          </p:nvCxnSpPr>
          <p:spPr>
            <a:xfrm flipH="1">
              <a:off x="804" y="1440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07" name="Google Shape;507;p17"/>
            <p:cNvCxnSpPr>
              <a:stCxn id="500" idx="4"/>
              <a:endCxn id="499" idx="0"/>
            </p:cNvCxnSpPr>
            <p:nvPr/>
          </p:nvCxnSpPr>
          <p:spPr>
            <a:xfrm flipH="1">
              <a:off x="1284" y="1440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08" name="Google Shape;508;p17"/>
            <p:cNvCxnSpPr>
              <a:stCxn id="500" idx="4"/>
              <a:endCxn id="497" idx="0"/>
            </p:cNvCxnSpPr>
            <p:nvPr/>
          </p:nvCxnSpPr>
          <p:spPr>
            <a:xfrm flipH="1">
              <a:off x="684" y="1440"/>
              <a:ext cx="9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09" name="Google Shape;509;p17"/>
            <p:cNvCxnSpPr>
              <a:stCxn id="497" idx="4"/>
              <a:endCxn id="501" idx="0"/>
            </p:cNvCxnSpPr>
            <p:nvPr/>
          </p:nvCxnSpPr>
          <p:spPr>
            <a:xfrm>
              <a:off x="720" y="2016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10" name="Google Shape;510;p17"/>
            <p:cNvCxnSpPr>
              <a:stCxn id="497" idx="4"/>
              <a:endCxn id="502" idx="0"/>
            </p:cNvCxnSpPr>
            <p:nvPr/>
          </p:nvCxnSpPr>
          <p:spPr>
            <a:xfrm>
              <a:off x="720" y="2016"/>
              <a:ext cx="6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11" name="Google Shape;511;p17"/>
            <p:cNvCxnSpPr>
              <a:stCxn id="499" idx="4"/>
              <a:endCxn id="503" idx="0"/>
            </p:cNvCxnSpPr>
            <p:nvPr/>
          </p:nvCxnSpPr>
          <p:spPr>
            <a:xfrm flipH="1">
              <a:off x="600" y="2016"/>
              <a:ext cx="600" cy="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12" name="Google Shape;512;p17"/>
            <p:cNvCxnSpPr>
              <a:stCxn id="500" idx="4"/>
              <a:endCxn id="502" idx="0"/>
            </p:cNvCxnSpPr>
            <p:nvPr/>
          </p:nvCxnSpPr>
          <p:spPr>
            <a:xfrm flipH="1">
              <a:off x="1284" y="1440"/>
              <a:ext cx="300" cy="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13" name="Google Shape;513;p17"/>
            <p:cNvCxnSpPr>
              <a:stCxn id="502" idx="4"/>
              <a:endCxn id="504" idx="0"/>
            </p:cNvCxnSpPr>
            <p:nvPr/>
          </p:nvCxnSpPr>
          <p:spPr>
            <a:xfrm>
              <a:off x="1248" y="2592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14" name="Google Shape;514;p17"/>
          <p:cNvGrpSpPr/>
          <p:nvPr/>
        </p:nvGrpSpPr>
        <p:grpSpPr>
          <a:xfrm>
            <a:off x="441325" y="2743200"/>
            <a:ext cx="2273300" cy="1371600"/>
            <a:chOff x="278" y="1728"/>
            <a:chExt cx="1432" cy="864"/>
          </a:xfrm>
        </p:grpSpPr>
        <p:grpSp>
          <p:nvGrpSpPr>
            <p:cNvPr id="515" name="Google Shape;515;p17"/>
            <p:cNvGrpSpPr/>
            <p:nvPr/>
          </p:nvGrpSpPr>
          <p:grpSpPr>
            <a:xfrm>
              <a:off x="576" y="1728"/>
              <a:ext cx="816" cy="864"/>
              <a:chOff x="576" y="1728"/>
              <a:chExt cx="816" cy="864"/>
            </a:xfrm>
          </p:grpSpPr>
          <p:sp>
            <p:nvSpPr>
              <p:cNvPr id="516" name="Google Shape;516;p17"/>
              <p:cNvSpPr/>
              <p:nvPr/>
            </p:nvSpPr>
            <p:spPr>
              <a:xfrm>
                <a:off x="576" y="1728"/>
                <a:ext cx="288" cy="288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517" name="Google Shape;517;p17"/>
              <p:cNvSpPr/>
              <p:nvPr/>
            </p:nvSpPr>
            <p:spPr>
              <a:xfrm>
                <a:off x="1104" y="2304"/>
                <a:ext cx="288" cy="288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sp>
          <p:nvSpPr>
            <p:cNvPr id="518" name="Google Shape;518;p17"/>
            <p:cNvSpPr txBox="1"/>
            <p:nvPr/>
          </p:nvSpPr>
          <p:spPr>
            <a:xfrm>
              <a:off x="278" y="1766"/>
              <a:ext cx="30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F=</a:t>
              </a:r>
              <a:endParaRPr/>
            </a:p>
          </p:txBody>
        </p:sp>
        <p:sp>
          <p:nvSpPr>
            <p:cNvPr id="519" name="Google Shape;519;p17"/>
            <p:cNvSpPr txBox="1"/>
            <p:nvPr/>
          </p:nvSpPr>
          <p:spPr>
            <a:xfrm>
              <a:off x="1392" y="2304"/>
              <a:ext cx="31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=T</a:t>
              </a:r>
              <a:endParaRPr/>
            </a:p>
          </p:txBody>
        </p:sp>
      </p:grpSp>
      <p:sp>
        <p:nvSpPr>
          <p:cNvPr id="520" name="Google Shape;520;p17"/>
          <p:cNvSpPr txBox="1"/>
          <p:nvPr/>
        </p:nvSpPr>
        <p:spPr>
          <a:xfrm>
            <a:off x="212725" y="5192713"/>
            <a:ext cx="35925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Sample 1: FTFTTTFFT </a:t>
            </a:r>
            <a:r>
              <a:rPr lang="en-US" sz="2000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  <a:t>reject</a:t>
            </a:r>
            <a:endParaRPr/>
          </a:p>
        </p:txBody>
      </p:sp>
      <p:sp>
        <p:nvSpPr>
          <p:cNvPr id="521" name="Google Shape;521;p17"/>
          <p:cNvSpPr/>
          <p:nvPr/>
        </p:nvSpPr>
        <p:spPr>
          <a:xfrm>
            <a:off x="914400" y="27432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</a:t>
            </a:r>
            <a:endParaRPr/>
          </a:p>
        </p:txBody>
      </p:sp>
      <p:sp>
        <p:nvSpPr>
          <p:cNvPr id="522" name="Google Shape;522;p17"/>
          <p:cNvSpPr/>
          <p:nvPr/>
        </p:nvSpPr>
        <p:spPr>
          <a:xfrm>
            <a:off x="1676400" y="27432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</a:t>
            </a:r>
            <a:endParaRPr/>
          </a:p>
        </p:txBody>
      </p:sp>
      <p:sp>
        <p:nvSpPr>
          <p:cNvPr id="523" name="Google Shape;523;p17"/>
          <p:cNvSpPr/>
          <p:nvPr/>
        </p:nvSpPr>
        <p:spPr>
          <a:xfrm>
            <a:off x="1524000" y="18288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</a:t>
            </a:r>
            <a:endParaRPr/>
          </a:p>
        </p:txBody>
      </p:sp>
      <p:sp>
        <p:nvSpPr>
          <p:cNvPr id="524" name="Google Shape;524;p17"/>
          <p:cNvSpPr/>
          <p:nvPr/>
        </p:nvSpPr>
        <p:spPr>
          <a:xfrm>
            <a:off x="762000" y="18288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endParaRPr/>
          </a:p>
        </p:txBody>
      </p:sp>
      <p:sp>
        <p:nvSpPr>
          <p:cNvPr id="525" name="Google Shape;525;p17"/>
          <p:cNvSpPr/>
          <p:nvPr/>
        </p:nvSpPr>
        <p:spPr>
          <a:xfrm>
            <a:off x="1752600" y="36576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endParaRPr/>
          </a:p>
        </p:txBody>
      </p:sp>
      <p:sp>
        <p:nvSpPr>
          <p:cNvPr id="526" name="Google Shape;526;p17"/>
          <p:cNvSpPr/>
          <p:nvPr/>
        </p:nvSpPr>
        <p:spPr>
          <a:xfrm>
            <a:off x="838200" y="45720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endParaRPr/>
          </a:p>
        </p:txBody>
      </p:sp>
      <p:sp>
        <p:nvSpPr>
          <p:cNvPr id="527" name="Google Shape;527;p17"/>
          <p:cNvSpPr/>
          <p:nvPr/>
        </p:nvSpPr>
        <p:spPr>
          <a:xfrm>
            <a:off x="1524000" y="45720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</a:t>
            </a:r>
            <a:endParaRPr/>
          </a:p>
        </p:txBody>
      </p:sp>
      <p:sp>
        <p:nvSpPr>
          <p:cNvPr id="528" name="Google Shape;528;p17"/>
          <p:cNvSpPr txBox="1"/>
          <p:nvPr/>
        </p:nvSpPr>
        <p:spPr>
          <a:xfrm>
            <a:off x="228600" y="5486400"/>
            <a:ext cx="36766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Sample 2: FTFFTTTFF </a:t>
            </a:r>
            <a:r>
              <a:rPr lang="en-US" sz="2000">
                <a:solidFill>
                  <a:srgbClr val="33CC33"/>
                </a:solidFill>
                <a:latin typeface="Comic Sans MS"/>
                <a:ea typeface="Comic Sans MS"/>
                <a:cs typeface="Comic Sans MS"/>
                <a:sym typeface="Comic Sans MS"/>
              </a:rPr>
              <a:t>accept</a:t>
            </a:r>
            <a:endParaRPr/>
          </a:p>
        </p:txBody>
      </p:sp>
      <p:sp>
        <p:nvSpPr>
          <p:cNvPr id="529" name="Google Shape;529;p17"/>
          <p:cNvSpPr/>
          <p:nvPr/>
        </p:nvSpPr>
        <p:spPr>
          <a:xfrm>
            <a:off x="2286000" y="18288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endParaRPr/>
          </a:p>
        </p:txBody>
      </p:sp>
      <p:sp>
        <p:nvSpPr>
          <p:cNvPr id="530" name="Google Shape;530;p17"/>
          <p:cNvSpPr/>
          <p:nvPr/>
        </p:nvSpPr>
        <p:spPr>
          <a:xfrm>
            <a:off x="838200" y="36576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</a:t>
            </a:r>
            <a:endParaRPr/>
          </a:p>
        </p:txBody>
      </p:sp>
      <p:grpSp>
        <p:nvGrpSpPr>
          <p:cNvPr id="531" name="Google Shape;531;p17"/>
          <p:cNvGrpSpPr/>
          <p:nvPr/>
        </p:nvGrpSpPr>
        <p:grpSpPr>
          <a:xfrm>
            <a:off x="762000" y="1828800"/>
            <a:ext cx="1981200" cy="3200400"/>
            <a:chOff x="2112" y="1152"/>
            <a:chExt cx="1248" cy="2016"/>
          </a:xfrm>
        </p:grpSpPr>
        <p:sp>
          <p:nvSpPr>
            <p:cNvPr id="532" name="Google Shape;532;p17"/>
            <p:cNvSpPr/>
            <p:nvPr/>
          </p:nvSpPr>
          <p:spPr>
            <a:xfrm>
              <a:off x="2208" y="1728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533" name="Google Shape;533;p17"/>
            <p:cNvSpPr/>
            <p:nvPr/>
          </p:nvSpPr>
          <p:spPr>
            <a:xfrm>
              <a:off x="2688" y="1728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534" name="Google Shape;534;p17"/>
            <p:cNvSpPr/>
            <p:nvPr/>
          </p:nvSpPr>
          <p:spPr>
            <a:xfrm>
              <a:off x="2592" y="1152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535" name="Google Shape;535;p17"/>
            <p:cNvSpPr/>
            <p:nvPr/>
          </p:nvSpPr>
          <p:spPr>
            <a:xfrm>
              <a:off x="2112" y="1152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536" name="Google Shape;536;p17"/>
            <p:cNvSpPr/>
            <p:nvPr/>
          </p:nvSpPr>
          <p:spPr>
            <a:xfrm>
              <a:off x="2736" y="2304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537" name="Google Shape;537;p17"/>
            <p:cNvSpPr/>
            <p:nvPr/>
          </p:nvSpPr>
          <p:spPr>
            <a:xfrm>
              <a:off x="2160" y="2880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538" name="Google Shape;538;p17"/>
            <p:cNvSpPr/>
            <p:nvPr/>
          </p:nvSpPr>
          <p:spPr>
            <a:xfrm>
              <a:off x="2592" y="2880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539" name="Google Shape;539;p17"/>
            <p:cNvSpPr/>
            <p:nvPr/>
          </p:nvSpPr>
          <p:spPr>
            <a:xfrm>
              <a:off x="3072" y="1152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540" name="Google Shape;540;p17"/>
            <p:cNvSpPr/>
            <p:nvPr/>
          </p:nvSpPr>
          <p:spPr>
            <a:xfrm>
              <a:off x="2160" y="2304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sp>
        <p:nvSpPr>
          <p:cNvPr id="541" name="Google Shape;541;p17"/>
          <p:cNvSpPr/>
          <p:nvPr/>
        </p:nvSpPr>
        <p:spPr>
          <a:xfrm>
            <a:off x="914400" y="27432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endParaRPr/>
          </a:p>
        </p:txBody>
      </p:sp>
      <p:sp>
        <p:nvSpPr>
          <p:cNvPr id="542" name="Google Shape;542;p17"/>
          <p:cNvSpPr/>
          <p:nvPr/>
        </p:nvSpPr>
        <p:spPr>
          <a:xfrm>
            <a:off x="1676400" y="27432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</a:t>
            </a:r>
            <a:endParaRPr/>
          </a:p>
        </p:txBody>
      </p:sp>
      <p:sp>
        <p:nvSpPr>
          <p:cNvPr id="543" name="Google Shape;543;p17"/>
          <p:cNvSpPr/>
          <p:nvPr/>
        </p:nvSpPr>
        <p:spPr>
          <a:xfrm>
            <a:off x="1524000" y="18288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</a:t>
            </a:r>
            <a:endParaRPr/>
          </a:p>
        </p:txBody>
      </p:sp>
      <p:sp>
        <p:nvSpPr>
          <p:cNvPr id="544" name="Google Shape;544;p17"/>
          <p:cNvSpPr/>
          <p:nvPr/>
        </p:nvSpPr>
        <p:spPr>
          <a:xfrm>
            <a:off x="762000" y="18288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endParaRPr/>
          </a:p>
        </p:txBody>
      </p:sp>
      <p:sp>
        <p:nvSpPr>
          <p:cNvPr id="545" name="Google Shape;545;p17"/>
          <p:cNvSpPr/>
          <p:nvPr/>
        </p:nvSpPr>
        <p:spPr>
          <a:xfrm>
            <a:off x="1752600" y="36576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</a:t>
            </a:r>
            <a:endParaRPr/>
          </a:p>
        </p:txBody>
      </p:sp>
      <p:sp>
        <p:nvSpPr>
          <p:cNvPr id="546" name="Google Shape;546;p17"/>
          <p:cNvSpPr/>
          <p:nvPr/>
        </p:nvSpPr>
        <p:spPr>
          <a:xfrm>
            <a:off x="838200" y="45720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endParaRPr/>
          </a:p>
        </p:txBody>
      </p:sp>
      <p:sp>
        <p:nvSpPr>
          <p:cNvPr id="547" name="Google Shape;547;p17"/>
          <p:cNvSpPr/>
          <p:nvPr/>
        </p:nvSpPr>
        <p:spPr>
          <a:xfrm>
            <a:off x="1524000" y="45720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endParaRPr/>
          </a:p>
        </p:txBody>
      </p:sp>
      <p:sp>
        <p:nvSpPr>
          <p:cNvPr id="548" name="Google Shape;548;p17"/>
          <p:cNvSpPr/>
          <p:nvPr/>
        </p:nvSpPr>
        <p:spPr>
          <a:xfrm>
            <a:off x="2286000" y="18288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endParaRPr/>
          </a:p>
        </p:txBody>
      </p:sp>
      <p:sp>
        <p:nvSpPr>
          <p:cNvPr id="549" name="Google Shape;549;p17"/>
          <p:cNvSpPr/>
          <p:nvPr/>
        </p:nvSpPr>
        <p:spPr>
          <a:xfrm>
            <a:off x="838200" y="36576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</a:t>
            </a:r>
            <a:endParaRPr/>
          </a:p>
        </p:txBody>
      </p:sp>
      <p:sp>
        <p:nvSpPr>
          <p:cNvPr id="550" name="Google Shape;550;p17"/>
          <p:cNvSpPr txBox="1"/>
          <p:nvPr/>
        </p:nvSpPr>
        <p:spPr>
          <a:xfrm>
            <a:off x="228600" y="5791200"/>
            <a:ext cx="6318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etc.</a:t>
            </a:r>
            <a:endParaRPr/>
          </a:p>
        </p:txBody>
      </p:sp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8"/>
          <p:cNvSpPr txBox="1"/>
          <p:nvPr>
            <p:ph type="title"/>
          </p:nvPr>
        </p:nvSpPr>
        <p:spPr>
          <a:xfrm>
            <a:off x="1371600" y="3810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Rejection sampling</a:t>
            </a:r>
            <a:endParaRPr/>
          </a:p>
        </p:txBody>
      </p:sp>
      <p:sp>
        <p:nvSpPr>
          <p:cNvPr id="556" name="Google Shape;556;p18"/>
          <p:cNvSpPr txBox="1"/>
          <p:nvPr>
            <p:ph idx="1" type="body"/>
          </p:nvPr>
        </p:nvSpPr>
        <p:spPr>
          <a:xfrm>
            <a:off x="685800" y="1752600"/>
            <a:ext cx="81534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More generally, we would like to sample from p(</a:t>
            </a:r>
            <a:r>
              <a:rPr i="1" lang="en-US" sz="2400"/>
              <a:t>x</a:t>
            </a:r>
            <a:r>
              <a:rPr lang="en-US" sz="2400"/>
              <a:t>), but it’s easier to sample from a </a:t>
            </a:r>
            <a:r>
              <a:rPr i="1" lang="en-US" sz="2400"/>
              <a:t>proposal distribution </a:t>
            </a:r>
            <a:r>
              <a:rPr lang="en-US" sz="2400"/>
              <a:t>q(</a:t>
            </a:r>
            <a:r>
              <a:rPr i="1" lang="en-US" sz="2400"/>
              <a:t>x</a:t>
            </a:r>
            <a:r>
              <a:rPr lang="en-US" sz="2400"/>
              <a:t>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q(</a:t>
            </a:r>
            <a:r>
              <a:rPr i="1" lang="en-US" sz="2400"/>
              <a:t>x</a:t>
            </a:r>
            <a:r>
              <a:rPr lang="en-US" sz="2400"/>
              <a:t>) satisfies p(</a:t>
            </a:r>
            <a:r>
              <a:rPr i="1" lang="en-US" sz="2400"/>
              <a:t>x</a:t>
            </a:r>
            <a:r>
              <a:rPr lang="en-US" sz="2400"/>
              <a:t>) ≤ </a:t>
            </a:r>
            <a:r>
              <a:rPr i="1" lang="en-US" sz="2400"/>
              <a:t>M </a:t>
            </a:r>
            <a:r>
              <a:rPr lang="en-US" sz="2400"/>
              <a:t>q(</a:t>
            </a:r>
            <a:r>
              <a:rPr i="1" lang="en-US" sz="2400"/>
              <a:t>x</a:t>
            </a:r>
            <a:r>
              <a:rPr lang="en-US" sz="2400"/>
              <a:t>) for some </a:t>
            </a:r>
            <a:r>
              <a:rPr i="1" lang="en-US" sz="2400"/>
              <a:t>M</a:t>
            </a:r>
            <a:r>
              <a:rPr lang="en-US" sz="2400"/>
              <a:t>&lt;∞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Procedure: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Sample </a:t>
            </a:r>
            <a:r>
              <a:rPr i="1" lang="en-US" sz="2000"/>
              <a:t>x</a:t>
            </a:r>
            <a:r>
              <a:rPr baseline="30000" lang="en-US" sz="2000"/>
              <a:t>(i)</a:t>
            </a:r>
            <a:r>
              <a:rPr lang="en-US" sz="2000"/>
              <a:t> from q(</a:t>
            </a:r>
            <a:r>
              <a:rPr i="1" lang="en-US" sz="2000"/>
              <a:t>x</a:t>
            </a:r>
            <a:r>
              <a:rPr lang="en-US" sz="2000"/>
              <a:t>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Accept with probability p(</a:t>
            </a:r>
            <a:r>
              <a:rPr i="1" lang="en-US" sz="2000"/>
              <a:t>x</a:t>
            </a:r>
            <a:r>
              <a:rPr baseline="30000" lang="en-US" sz="2000"/>
              <a:t>(i)</a:t>
            </a:r>
            <a:r>
              <a:rPr lang="en-US" sz="2000"/>
              <a:t>) / Mq(</a:t>
            </a:r>
            <a:r>
              <a:rPr i="1" lang="en-US" sz="2000"/>
              <a:t>x</a:t>
            </a:r>
            <a:r>
              <a:rPr baseline="30000" lang="en-US" sz="2000"/>
              <a:t>(i)</a:t>
            </a:r>
            <a:r>
              <a:rPr lang="en-US" sz="2000"/>
              <a:t>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Reject otherwise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accepted </a:t>
            </a:r>
            <a:r>
              <a:rPr i="1" lang="en-US" sz="2400"/>
              <a:t>x</a:t>
            </a:r>
            <a:r>
              <a:rPr baseline="30000" lang="en-US" sz="2400"/>
              <a:t>(i)</a:t>
            </a:r>
            <a:r>
              <a:rPr lang="en-US" sz="2400"/>
              <a:t> are sampled from p(</a:t>
            </a:r>
            <a:r>
              <a:rPr i="1" lang="en-US" sz="2400"/>
              <a:t>x</a:t>
            </a:r>
            <a:r>
              <a:rPr lang="en-US" sz="2400"/>
              <a:t>)!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Problem: if M is too large, we will rarely accept samples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In the Bayes network, if the evidence </a:t>
            </a:r>
            <a:r>
              <a:rPr b="1" i="1" lang="en-US" sz="2000"/>
              <a:t>Z</a:t>
            </a:r>
            <a:r>
              <a:rPr lang="en-US" sz="2000"/>
              <a:t> is very unlikely then we will reject almost all samples</a:t>
            </a:r>
            <a:endParaRPr/>
          </a:p>
        </p:txBody>
      </p:sp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Markov chain Monte Carlo</a:t>
            </a:r>
            <a:endParaRPr/>
          </a:p>
        </p:txBody>
      </p:sp>
      <p:sp>
        <p:nvSpPr>
          <p:cNvPr id="562" name="Google Shape;562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Recall again the set </a:t>
            </a:r>
            <a:r>
              <a:rPr i="1" lang="en-US"/>
              <a:t>X</a:t>
            </a:r>
            <a:r>
              <a:rPr lang="en-US"/>
              <a:t> and the distribution p(</a:t>
            </a:r>
            <a:r>
              <a:rPr i="1" lang="en-US"/>
              <a:t>x</a:t>
            </a:r>
            <a:r>
              <a:rPr lang="en-US"/>
              <a:t>) we wish to sample from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Suppose that it is hard to sample p(</a:t>
            </a:r>
            <a:r>
              <a:rPr i="1" lang="en-US"/>
              <a:t>x</a:t>
            </a:r>
            <a:r>
              <a:rPr lang="en-US"/>
              <a:t>) but that it is possible to “walk around” in </a:t>
            </a:r>
            <a:r>
              <a:rPr i="1" lang="en-US"/>
              <a:t>X</a:t>
            </a:r>
            <a:r>
              <a:rPr lang="en-US"/>
              <a:t> using only local state transitions</a:t>
            </a:r>
            <a:endParaRPr i="1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Insight: we can use a “random walk” to help us draw random samples from p(</a:t>
            </a:r>
            <a:r>
              <a:rPr i="1" lang="en-US"/>
              <a:t>x</a:t>
            </a:r>
            <a:r>
              <a:rPr lang="en-US"/>
              <a:t>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/>
          </a:p>
        </p:txBody>
      </p:sp>
      <p:grpSp>
        <p:nvGrpSpPr>
          <p:cNvPr id="563" name="Google Shape;563;p19"/>
          <p:cNvGrpSpPr/>
          <p:nvPr/>
        </p:nvGrpSpPr>
        <p:grpSpPr>
          <a:xfrm>
            <a:off x="1600200" y="5410200"/>
            <a:ext cx="5791200" cy="1143000"/>
            <a:chOff x="1008" y="3168"/>
            <a:chExt cx="3648" cy="720"/>
          </a:xfrm>
        </p:grpSpPr>
        <p:sp>
          <p:nvSpPr>
            <p:cNvPr id="564" name="Google Shape;564;p19"/>
            <p:cNvSpPr/>
            <p:nvPr/>
          </p:nvSpPr>
          <p:spPr>
            <a:xfrm>
              <a:off x="1217" y="3216"/>
              <a:ext cx="3199" cy="432"/>
            </a:xfrm>
            <a:custGeom>
              <a:rect b="b" l="l" r="r" t="t"/>
              <a:pathLst>
                <a:path extrusionOk="0" h="1875" w="2795">
                  <a:moveTo>
                    <a:pt x="847" y="273"/>
                  </a:moveTo>
                  <a:cubicBezTo>
                    <a:pt x="912" y="189"/>
                    <a:pt x="1086" y="203"/>
                    <a:pt x="1216" y="164"/>
                  </a:cubicBezTo>
                  <a:cubicBezTo>
                    <a:pt x="1346" y="125"/>
                    <a:pt x="1491" y="0"/>
                    <a:pt x="1630" y="39"/>
                  </a:cubicBezTo>
                  <a:cubicBezTo>
                    <a:pt x="1769" y="78"/>
                    <a:pt x="1980" y="289"/>
                    <a:pt x="2053" y="400"/>
                  </a:cubicBezTo>
                  <a:cubicBezTo>
                    <a:pt x="2126" y="511"/>
                    <a:pt x="1987" y="626"/>
                    <a:pt x="2068" y="707"/>
                  </a:cubicBezTo>
                  <a:cubicBezTo>
                    <a:pt x="2149" y="788"/>
                    <a:pt x="2418" y="829"/>
                    <a:pt x="2537" y="887"/>
                  </a:cubicBezTo>
                  <a:cubicBezTo>
                    <a:pt x="2656" y="945"/>
                    <a:pt x="2769" y="978"/>
                    <a:pt x="2782" y="1054"/>
                  </a:cubicBezTo>
                  <a:cubicBezTo>
                    <a:pt x="2795" y="1130"/>
                    <a:pt x="2682" y="1247"/>
                    <a:pt x="2613" y="1345"/>
                  </a:cubicBezTo>
                  <a:cubicBezTo>
                    <a:pt x="2544" y="1443"/>
                    <a:pt x="2496" y="1583"/>
                    <a:pt x="2368" y="1642"/>
                  </a:cubicBezTo>
                  <a:cubicBezTo>
                    <a:pt x="2240" y="1701"/>
                    <a:pt x="2029" y="1665"/>
                    <a:pt x="1845" y="1697"/>
                  </a:cubicBezTo>
                  <a:cubicBezTo>
                    <a:pt x="1661" y="1729"/>
                    <a:pt x="1401" y="1875"/>
                    <a:pt x="1262" y="1836"/>
                  </a:cubicBezTo>
                  <a:cubicBezTo>
                    <a:pt x="1123" y="1797"/>
                    <a:pt x="1123" y="1520"/>
                    <a:pt x="1008" y="1460"/>
                  </a:cubicBezTo>
                  <a:cubicBezTo>
                    <a:pt x="893" y="1400"/>
                    <a:pt x="704" y="1482"/>
                    <a:pt x="571" y="1475"/>
                  </a:cubicBezTo>
                  <a:cubicBezTo>
                    <a:pt x="438" y="1468"/>
                    <a:pt x="282" y="1468"/>
                    <a:pt x="210" y="1417"/>
                  </a:cubicBezTo>
                  <a:cubicBezTo>
                    <a:pt x="138" y="1366"/>
                    <a:pt x="161" y="1268"/>
                    <a:pt x="140" y="1168"/>
                  </a:cubicBezTo>
                  <a:cubicBezTo>
                    <a:pt x="119" y="1068"/>
                    <a:pt x="0" y="906"/>
                    <a:pt x="87" y="815"/>
                  </a:cubicBezTo>
                  <a:cubicBezTo>
                    <a:pt x="174" y="724"/>
                    <a:pt x="536" y="713"/>
                    <a:pt x="663" y="623"/>
                  </a:cubicBezTo>
                  <a:cubicBezTo>
                    <a:pt x="790" y="533"/>
                    <a:pt x="809" y="346"/>
                    <a:pt x="847" y="273"/>
                  </a:cubicBezTo>
                  <a:close/>
                </a:path>
              </a:pathLst>
            </a:custGeom>
            <a:solidFill>
              <a:srgbClr val="FFFF6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565" name="Google Shape;565;p19"/>
            <p:cNvSpPr txBox="1"/>
            <p:nvPr/>
          </p:nvSpPr>
          <p:spPr>
            <a:xfrm>
              <a:off x="2753" y="363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0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X</a:t>
              </a:r>
              <a:endParaRPr/>
            </a:p>
          </p:txBody>
        </p:sp>
        <p:cxnSp>
          <p:nvCxnSpPr>
            <p:cNvPr id="566" name="Google Shape;566;p19"/>
            <p:cNvCxnSpPr/>
            <p:nvPr/>
          </p:nvCxnSpPr>
          <p:spPr>
            <a:xfrm rot="10800000">
              <a:off x="1008" y="3456"/>
              <a:ext cx="364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" name="Google Shape;567;p19"/>
            <p:cNvCxnSpPr/>
            <p:nvPr/>
          </p:nvCxnSpPr>
          <p:spPr>
            <a:xfrm flipH="1">
              <a:off x="2592" y="3168"/>
              <a:ext cx="576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68" name="Google Shape;568;p19"/>
          <p:cNvGrpSpPr/>
          <p:nvPr/>
        </p:nvGrpSpPr>
        <p:grpSpPr>
          <a:xfrm>
            <a:off x="2133600" y="4922838"/>
            <a:ext cx="5357813" cy="976312"/>
            <a:chOff x="1344" y="2861"/>
            <a:chExt cx="3375" cy="615"/>
          </a:xfrm>
        </p:grpSpPr>
        <p:sp>
          <p:nvSpPr>
            <p:cNvPr id="569" name="Google Shape;569;p19"/>
            <p:cNvSpPr/>
            <p:nvPr/>
          </p:nvSpPr>
          <p:spPr>
            <a:xfrm>
              <a:off x="1344" y="2861"/>
              <a:ext cx="3024" cy="595"/>
            </a:xfrm>
            <a:custGeom>
              <a:rect b="b" l="l" r="r" t="t"/>
              <a:pathLst>
                <a:path extrusionOk="0" h="595" w="2390">
                  <a:moveTo>
                    <a:pt x="0" y="569"/>
                  </a:moveTo>
                  <a:cubicBezTo>
                    <a:pt x="168" y="545"/>
                    <a:pt x="336" y="521"/>
                    <a:pt x="432" y="473"/>
                  </a:cubicBezTo>
                  <a:cubicBezTo>
                    <a:pt x="528" y="425"/>
                    <a:pt x="512" y="329"/>
                    <a:pt x="576" y="281"/>
                  </a:cubicBezTo>
                  <a:cubicBezTo>
                    <a:pt x="640" y="233"/>
                    <a:pt x="760" y="153"/>
                    <a:pt x="816" y="185"/>
                  </a:cubicBezTo>
                  <a:cubicBezTo>
                    <a:pt x="872" y="217"/>
                    <a:pt x="872" y="417"/>
                    <a:pt x="912" y="473"/>
                  </a:cubicBezTo>
                  <a:cubicBezTo>
                    <a:pt x="952" y="529"/>
                    <a:pt x="998" y="545"/>
                    <a:pt x="1056" y="521"/>
                  </a:cubicBezTo>
                  <a:cubicBezTo>
                    <a:pt x="1114" y="497"/>
                    <a:pt x="1213" y="417"/>
                    <a:pt x="1261" y="331"/>
                  </a:cubicBezTo>
                  <a:cubicBezTo>
                    <a:pt x="1309" y="245"/>
                    <a:pt x="1300" y="16"/>
                    <a:pt x="1346" y="8"/>
                  </a:cubicBezTo>
                  <a:cubicBezTo>
                    <a:pt x="1392" y="0"/>
                    <a:pt x="1480" y="228"/>
                    <a:pt x="1536" y="281"/>
                  </a:cubicBezTo>
                  <a:cubicBezTo>
                    <a:pt x="1592" y="334"/>
                    <a:pt x="1640" y="299"/>
                    <a:pt x="1680" y="329"/>
                  </a:cubicBezTo>
                  <a:cubicBezTo>
                    <a:pt x="1720" y="359"/>
                    <a:pt x="1744" y="429"/>
                    <a:pt x="1776" y="461"/>
                  </a:cubicBezTo>
                  <a:cubicBezTo>
                    <a:pt x="1808" y="493"/>
                    <a:pt x="1816" y="575"/>
                    <a:pt x="1872" y="521"/>
                  </a:cubicBezTo>
                  <a:cubicBezTo>
                    <a:pt x="1928" y="467"/>
                    <a:pt x="2059" y="137"/>
                    <a:pt x="2112" y="137"/>
                  </a:cubicBezTo>
                  <a:cubicBezTo>
                    <a:pt x="2165" y="137"/>
                    <a:pt x="2145" y="451"/>
                    <a:pt x="2191" y="523"/>
                  </a:cubicBezTo>
                  <a:cubicBezTo>
                    <a:pt x="2237" y="595"/>
                    <a:pt x="2349" y="559"/>
                    <a:pt x="2390" y="569"/>
                  </a:cubicBezTo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570" name="Google Shape;570;p19"/>
            <p:cNvSpPr txBox="1"/>
            <p:nvPr/>
          </p:nvSpPr>
          <p:spPr>
            <a:xfrm>
              <a:off x="4368" y="3264"/>
              <a:ext cx="35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p(</a:t>
              </a:r>
              <a:r>
                <a:rPr i="1"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x</a:t>
              </a: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)</a:t>
              </a:r>
              <a:endParaRPr/>
            </a:p>
          </p:txBody>
        </p:sp>
      </p:grpSp>
      <p:grpSp>
        <p:nvGrpSpPr>
          <p:cNvPr id="571" name="Google Shape;571;p19"/>
          <p:cNvGrpSpPr/>
          <p:nvPr/>
        </p:nvGrpSpPr>
        <p:grpSpPr>
          <a:xfrm>
            <a:off x="4038600" y="5943600"/>
            <a:ext cx="203200" cy="76200"/>
            <a:chOff x="2544" y="3312"/>
            <a:chExt cx="128" cy="48"/>
          </a:xfrm>
        </p:grpSpPr>
        <p:sp>
          <p:nvSpPr>
            <p:cNvPr id="572" name="Google Shape;572;p19"/>
            <p:cNvSpPr/>
            <p:nvPr/>
          </p:nvSpPr>
          <p:spPr>
            <a:xfrm>
              <a:off x="2544" y="3312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573" name="Google Shape;573;p19"/>
            <p:cNvCxnSpPr/>
            <p:nvPr/>
          </p:nvCxnSpPr>
          <p:spPr>
            <a:xfrm>
              <a:off x="2576" y="3336"/>
              <a:ext cx="96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74" name="Google Shape;574;p19"/>
          <p:cNvGrpSpPr/>
          <p:nvPr/>
        </p:nvGrpSpPr>
        <p:grpSpPr>
          <a:xfrm rot="-2256990">
            <a:off x="4191000" y="5905500"/>
            <a:ext cx="203200" cy="76200"/>
            <a:chOff x="2544" y="3312"/>
            <a:chExt cx="128" cy="48"/>
          </a:xfrm>
        </p:grpSpPr>
        <p:sp>
          <p:nvSpPr>
            <p:cNvPr id="575" name="Google Shape;575;p19"/>
            <p:cNvSpPr/>
            <p:nvPr/>
          </p:nvSpPr>
          <p:spPr>
            <a:xfrm>
              <a:off x="2544" y="3312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576" name="Google Shape;576;p19"/>
            <p:cNvCxnSpPr/>
            <p:nvPr/>
          </p:nvCxnSpPr>
          <p:spPr>
            <a:xfrm>
              <a:off x="2576" y="3336"/>
              <a:ext cx="96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77" name="Google Shape;577;p19"/>
          <p:cNvGrpSpPr/>
          <p:nvPr/>
        </p:nvGrpSpPr>
        <p:grpSpPr>
          <a:xfrm>
            <a:off x="4343400" y="5842000"/>
            <a:ext cx="203200" cy="76200"/>
            <a:chOff x="2544" y="3312"/>
            <a:chExt cx="128" cy="48"/>
          </a:xfrm>
        </p:grpSpPr>
        <p:sp>
          <p:nvSpPr>
            <p:cNvPr id="578" name="Google Shape;578;p19"/>
            <p:cNvSpPr/>
            <p:nvPr/>
          </p:nvSpPr>
          <p:spPr>
            <a:xfrm>
              <a:off x="2544" y="3312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579" name="Google Shape;579;p19"/>
            <p:cNvCxnSpPr/>
            <p:nvPr/>
          </p:nvCxnSpPr>
          <p:spPr>
            <a:xfrm>
              <a:off x="2576" y="3336"/>
              <a:ext cx="96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80" name="Google Shape;580;p19"/>
          <p:cNvGrpSpPr/>
          <p:nvPr/>
        </p:nvGrpSpPr>
        <p:grpSpPr>
          <a:xfrm rot="-6229458">
            <a:off x="4432300" y="5778500"/>
            <a:ext cx="203200" cy="76200"/>
            <a:chOff x="2544" y="3312"/>
            <a:chExt cx="128" cy="48"/>
          </a:xfrm>
        </p:grpSpPr>
        <p:sp>
          <p:nvSpPr>
            <p:cNvPr id="581" name="Google Shape;581;p19"/>
            <p:cNvSpPr/>
            <p:nvPr/>
          </p:nvSpPr>
          <p:spPr>
            <a:xfrm>
              <a:off x="2544" y="3312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582" name="Google Shape;582;p19"/>
            <p:cNvCxnSpPr/>
            <p:nvPr/>
          </p:nvCxnSpPr>
          <p:spPr>
            <a:xfrm>
              <a:off x="2576" y="3336"/>
              <a:ext cx="96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83" name="Google Shape;583;p19"/>
          <p:cNvGrpSpPr/>
          <p:nvPr/>
        </p:nvGrpSpPr>
        <p:grpSpPr>
          <a:xfrm rot="-6229458">
            <a:off x="5051425" y="5654675"/>
            <a:ext cx="203200" cy="76200"/>
            <a:chOff x="2544" y="3312"/>
            <a:chExt cx="128" cy="48"/>
          </a:xfrm>
        </p:grpSpPr>
        <p:sp>
          <p:nvSpPr>
            <p:cNvPr id="584" name="Google Shape;584;p19"/>
            <p:cNvSpPr/>
            <p:nvPr/>
          </p:nvSpPr>
          <p:spPr>
            <a:xfrm>
              <a:off x="2544" y="3312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585" name="Google Shape;585;p19"/>
            <p:cNvCxnSpPr/>
            <p:nvPr/>
          </p:nvCxnSpPr>
          <p:spPr>
            <a:xfrm>
              <a:off x="2576" y="3336"/>
              <a:ext cx="96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86" name="Google Shape;586;p19"/>
          <p:cNvGrpSpPr/>
          <p:nvPr/>
        </p:nvGrpSpPr>
        <p:grpSpPr>
          <a:xfrm rot="6701245">
            <a:off x="4787900" y="5753100"/>
            <a:ext cx="203200" cy="76200"/>
            <a:chOff x="2544" y="3312"/>
            <a:chExt cx="128" cy="48"/>
          </a:xfrm>
        </p:grpSpPr>
        <p:sp>
          <p:nvSpPr>
            <p:cNvPr id="587" name="Google Shape;587;p19"/>
            <p:cNvSpPr/>
            <p:nvPr/>
          </p:nvSpPr>
          <p:spPr>
            <a:xfrm>
              <a:off x="2544" y="3312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588" name="Google Shape;588;p19"/>
            <p:cNvCxnSpPr/>
            <p:nvPr/>
          </p:nvCxnSpPr>
          <p:spPr>
            <a:xfrm>
              <a:off x="2576" y="3336"/>
              <a:ext cx="96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89" name="Google Shape;589;p19"/>
          <p:cNvGrpSpPr/>
          <p:nvPr/>
        </p:nvGrpSpPr>
        <p:grpSpPr>
          <a:xfrm>
            <a:off x="4483100" y="5689600"/>
            <a:ext cx="203200" cy="76200"/>
            <a:chOff x="2544" y="3312"/>
            <a:chExt cx="128" cy="48"/>
          </a:xfrm>
        </p:grpSpPr>
        <p:sp>
          <p:nvSpPr>
            <p:cNvPr id="590" name="Google Shape;590;p19"/>
            <p:cNvSpPr/>
            <p:nvPr/>
          </p:nvSpPr>
          <p:spPr>
            <a:xfrm>
              <a:off x="2544" y="3312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591" name="Google Shape;591;p19"/>
            <p:cNvCxnSpPr/>
            <p:nvPr/>
          </p:nvCxnSpPr>
          <p:spPr>
            <a:xfrm>
              <a:off x="2576" y="3336"/>
              <a:ext cx="96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92" name="Google Shape;592;p19"/>
          <p:cNvGrpSpPr/>
          <p:nvPr/>
        </p:nvGrpSpPr>
        <p:grpSpPr>
          <a:xfrm>
            <a:off x="4673600" y="5689600"/>
            <a:ext cx="203200" cy="76200"/>
            <a:chOff x="2544" y="3312"/>
            <a:chExt cx="128" cy="48"/>
          </a:xfrm>
        </p:grpSpPr>
        <p:sp>
          <p:nvSpPr>
            <p:cNvPr id="593" name="Google Shape;593;p19"/>
            <p:cNvSpPr/>
            <p:nvPr/>
          </p:nvSpPr>
          <p:spPr>
            <a:xfrm>
              <a:off x="2544" y="3312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594" name="Google Shape;594;p19"/>
            <p:cNvCxnSpPr/>
            <p:nvPr/>
          </p:nvCxnSpPr>
          <p:spPr>
            <a:xfrm>
              <a:off x="2576" y="3336"/>
              <a:ext cx="96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95" name="Google Shape;595;p19"/>
          <p:cNvGrpSpPr/>
          <p:nvPr/>
        </p:nvGrpSpPr>
        <p:grpSpPr>
          <a:xfrm>
            <a:off x="4826000" y="5842000"/>
            <a:ext cx="203200" cy="76200"/>
            <a:chOff x="2544" y="3312"/>
            <a:chExt cx="128" cy="48"/>
          </a:xfrm>
        </p:grpSpPr>
        <p:sp>
          <p:nvSpPr>
            <p:cNvPr id="596" name="Google Shape;596;p19"/>
            <p:cNvSpPr/>
            <p:nvPr/>
          </p:nvSpPr>
          <p:spPr>
            <a:xfrm>
              <a:off x="2544" y="3312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597" name="Google Shape;597;p19"/>
            <p:cNvCxnSpPr/>
            <p:nvPr/>
          </p:nvCxnSpPr>
          <p:spPr>
            <a:xfrm>
              <a:off x="2576" y="3336"/>
              <a:ext cx="96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98" name="Google Shape;598;p19"/>
          <p:cNvGrpSpPr/>
          <p:nvPr/>
        </p:nvGrpSpPr>
        <p:grpSpPr>
          <a:xfrm rot="6701245">
            <a:off x="4927600" y="5905500"/>
            <a:ext cx="203200" cy="76200"/>
            <a:chOff x="2544" y="3312"/>
            <a:chExt cx="128" cy="48"/>
          </a:xfrm>
        </p:grpSpPr>
        <p:sp>
          <p:nvSpPr>
            <p:cNvPr id="599" name="Google Shape;599;p19"/>
            <p:cNvSpPr/>
            <p:nvPr/>
          </p:nvSpPr>
          <p:spPr>
            <a:xfrm>
              <a:off x="2544" y="3312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600" name="Google Shape;600;p19"/>
            <p:cNvCxnSpPr/>
            <p:nvPr/>
          </p:nvCxnSpPr>
          <p:spPr>
            <a:xfrm>
              <a:off x="2576" y="3336"/>
              <a:ext cx="96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1" name="Google Shape;601;p19"/>
          <p:cNvGrpSpPr/>
          <p:nvPr/>
        </p:nvGrpSpPr>
        <p:grpSpPr>
          <a:xfrm flipH="1">
            <a:off x="4826000" y="5981700"/>
            <a:ext cx="203200" cy="76200"/>
            <a:chOff x="2544" y="3312"/>
            <a:chExt cx="128" cy="48"/>
          </a:xfrm>
        </p:grpSpPr>
        <p:sp>
          <p:nvSpPr>
            <p:cNvPr id="602" name="Google Shape;602;p19"/>
            <p:cNvSpPr/>
            <p:nvPr/>
          </p:nvSpPr>
          <p:spPr>
            <a:xfrm>
              <a:off x="2544" y="3312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603" name="Google Shape;603;p19"/>
            <p:cNvCxnSpPr/>
            <p:nvPr/>
          </p:nvCxnSpPr>
          <p:spPr>
            <a:xfrm>
              <a:off x="2576" y="3336"/>
              <a:ext cx="96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4" name="Google Shape;604;p19"/>
          <p:cNvGrpSpPr/>
          <p:nvPr/>
        </p:nvGrpSpPr>
        <p:grpSpPr>
          <a:xfrm rot="-6229458">
            <a:off x="4724400" y="5918200"/>
            <a:ext cx="203200" cy="76200"/>
            <a:chOff x="2544" y="3312"/>
            <a:chExt cx="128" cy="48"/>
          </a:xfrm>
        </p:grpSpPr>
        <p:sp>
          <p:nvSpPr>
            <p:cNvPr id="605" name="Google Shape;605;p19"/>
            <p:cNvSpPr/>
            <p:nvPr/>
          </p:nvSpPr>
          <p:spPr>
            <a:xfrm>
              <a:off x="2544" y="3312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606" name="Google Shape;606;p19"/>
            <p:cNvCxnSpPr/>
            <p:nvPr/>
          </p:nvCxnSpPr>
          <p:spPr>
            <a:xfrm>
              <a:off x="2576" y="3336"/>
              <a:ext cx="96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7" name="Google Shape;607;p19"/>
          <p:cNvGrpSpPr/>
          <p:nvPr/>
        </p:nvGrpSpPr>
        <p:grpSpPr>
          <a:xfrm rot="-8333275">
            <a:off x="4635500" y="5778500"/>
            <a:ext cx="203200" cy="76200"/>
            <a:chOff x="2544" y="3312"/>
            <a:chExt cx="128" cy="48"/>
          </a:xfrm>
        </p:grpSpPr>
        <p:sp>
          <p:nvSpPr>
            <p:cNvPr id="608" name="Google Shape;608;p19"/>
            <p:cNvSpPr/>
            <p:nvPr/>
          </p:nvSpPr>
          <p:spPr>
            <a:xfrm>
              <a:off x="2544" y="3312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609" name="Google Shape;609;p19"/>
            <p:cNvCxnSpPr/>
            <p:nvPr/>
          </p:nvCxnSpPr>
          <p:spPr>
            <a:xfrm>
              <a:off x="2576" y="3336"/>
              <a:ext cx="96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10" name="Google Shape;610;p19"/>
          <p:cNvGrpSpPr/>
          <p:nvPr/>
        </p:nvGrpSpPr>
        <p:grpSpPr>
          <a:xfrm>
            <a:off x="4648200" y="5727700"/>
            <a:ext cx="203200" cy="76200"/>
            <a:chOff x="2544" y="3312"/>
            <a:chExt cx="128" cy="48"/>
          </a:xfrm>
        </p:grpSpPr>
        <p:sp>
          <p:nvSpPr>
            <p:cNvPr id="611" name="Google Shape;611;p19"/>
            <p:cNvSpPr/>
            <p:nvPr/>
          </p:nvSpPr>
          <p:spPr>
            <a:xfrm>
              <a:off x="2544" y="3312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612" name="Google Shape;612;p19"/>
            <p:cNvCxnSpPr/>
            <p:nvPr/>
          </p:nvCxnSpPr>
          <p:spPr>
            <a:xfrm>
              <a:off x="2576" y="3336"/>
              <a:ext cx="96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13" name="Google Shape;613;p19"/>
          <p:cNvGrpSpPr/>
          <p:nvPr/>
        </p:nvGrpSpPr>
        <p:grpSpPr>
          <a:xfrm rot="-6229458">
            <a:off x="4711700" y="5664200"/>
            <a:ext cx="203200" cy="76200"/>
            <a:chOff x="2544" y="3312"/>
            <a:chExt cx="128" cy="48"/>
          </a:xfrm>
        </p:grpSpPr>
        <p:sp>
          <p:nvSpPr>
            <p:cNvPr id="614" name="Google Shape;614;p19"/>
            <p:cNvSpPr/>
            <p:nvPr/>
          </p:nvSpPr>
          <p:spPr>
            <a:xfrm>
              <a:off x="2544" y="3312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615" name="Google Shape;615;p19"/>
            <p:cNvCxnSpPr/>
            <p:nvPr/>
          </p:nvCxnSpPr>
          <p:spPr>
            <a:xfrm>
              <a:off x="2576" y="3336"/>
              <a:ext cx="96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16" name="Google Shape;616;p19"/>
          <p:cNvGrpSpPr/>
          <p:nvPr/>
        </p:nvGrpSpPr>
        <p:grpSpPr>
          <a:xfrm>
            <a:off x="4749800" y="5562600"/>
            <a:ext cx="203200" cy="76200"/>
            <a:chOff x="2544" y="3312"/>
            <a:chExt cx="128" cy="48"/>
          </a:xfrm>
        </p:grpSpPr>
        <p:sp>
          <p:nvSpPr>
            <p:cNvPr id="617" name="Google Shape;617;p19"/>
            <p:cNvSpPr/>
            <p:nvPr/>
          </p:nvSpPr>
          <p:spPr>
            <a:xfrm>
              <a:off x="2544" y="3312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618" name="Google Shape;618;p19"/>
            <p:cNvCxnSpPr/>
            <p:nvPr/>
          </p:nvCxnSpPr>
          <p:spPr>
            <a:xfrm>
              <a:off x="2576" y="3336"/>
              <a:ext cx="96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19" name="Google Shape;619;p19"/>
          <p:cNvGrpSpPr/>
          <p:nvPr/>
        </p:nvGrpSpPr>
        <p:grpSpPr>
          <a:xfrm rot="5400000">
            <a:off x="4889500" y="5626100"/>
            <a:ext cx="203200" cy="76200"/>
            <a:chOff x="2544" y="3312"/>
            <a:chExt cx="128" cy="48"/>
          </a:xfrm>
        </p:grpSpPr>
        <p:sp>
          <p:nvSpPr>
            <p:cNvPr id="620" name="Google Shape;620;p19"/>
            <p:cNvSpPr/>
            <p:nvPr/>
          </p:nvSpPr>
          <p:spPr>
            <a:xfrm>
              <a:off x="2544" y="3312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621" name="Google Shape;621;p19"/>
            <p:cNvCxnSpPr/>
            <p:nvPr/>
          </p:nvCxnSpPr>
          <p:spPr>
            <a:xfrm>
              <a:off x="2576" y="3336"/>
              <a:ext cx="96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22" name="Google Shape;622;p19"/>
          <p:cNvGrpSpPr/>
          <p:nvPr/>
        </p:nvGrpSpPr>
        <p:grpSpPr>
          <a:xfrm flipH="1" rot="-4862878">
            <a:off x="5003800" y="5607050"/>
            <a:ext cx="203200" cy="76200"/>
            <a:chOff x="2544" y="3312"/>
            <a:chExt cx="128" cy="48"/>
          </a:xfrm>
        </p:grpSpPr>
        <p:sp>
          <p:nvSpPr>
            <p:cNvPr id="623" name="Google Shape;623;p19"/>
            <p:cNvSpPr/>
            <p:nvPr/>
          </p:nvSpPr>
          <p:spPr>
            <a:xfrm>
              <a:off x="2544" y="3312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624" name="Google Shape;624;p19"/>
            <p:cNvCxnSpPr/>
            <p:nvPr/>
          </p:nvCxnSpPr>
          <p:spPr>
            <a:xfrm>
              <a:off x="2576" y="3336"/>
              <a:ext cx="96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25" name="Google Shape;625;p19"/>
          <p:cNvGrpSpPr/>
          <p:nvPr/>
        </p:nvGrpSpPr>
        <p:grpSpPr>
          <a:xfrm>
            <a:off x="4953000" y="5715000"/>
            <a:ext cx="203200" cy="76200"/>
            <a:chOff x="2544" y="3312"/>
            <a:chExt cx="128" cy="48"/>
          </a:xfrm>
        </p:grpSpPr>
        <p:sp>
          <p:nvSpPr>
            <p:cNvPr id="626" name="Google Shape;626;p19"/>
            <p:cNvSpPr/>
            <p:nvPr/>
          </p:nvSpPr>
          <p:spPr>
            <a:xfrm>
              <a:off x="2544" y="3312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627" name="Google Shape;627;p19"/>
            <p:cNvCxnSpPr/>
            <p:nvPr/>
          </p:nvCxnSpPr>
          <p:spPr>
            <a:xfrm>
              <a:off x="2576" y="3336"/>
              <a:ext cx="96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28" name="Google Shape;628;p19"/>
          <p:cNvGrpSpPr/>
          <p:nvPr/>
        </p:nvGrpSpPr>
        <p:grpSpPr>
          <a:xfrm rot="4065059">
            <a:off x="5008563" y="5778500"/>
            <a:ext cx="203200" cy="76200"/>
            <a:chOff x="2544" y="3312"/>
            <a:chExt cx="128" cy="48"/>
          </a:xfrm>
        </p:grpSpPr>
        <p:sp>
          <p:nvSpPr>
            <p:cNvPr id="629" name="Google Shape;629;p19"/>
            <p:cNvSpPr/>
            <p:nvPr/>
          </p:nvSpPr>
          <p:spPr>
            <a:xfrm>
              <a:off x="2544" y="3312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630" name="Google Shape;630;p19"/>
            <p:cNvCxnSpPr/>
            <p:nvPr/>
          </p:nvCxnSpPr>
          <p:spPr>
            <a:xfrm>
              <a:off x="2576" y="3336"/>
              <a:ext cx="96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31" name="Google Shape;631;p19"/>
          <p:cNvGrpSpPr/>
          <p:nvPr/>
        </p:nvGrpSpPr>
        <p:grpSpPr>
          <a:xfrm>
            <a:off x="5105400" y="5867400"/>
            <a:ext cx="203200" cy="76200"/>
            <a:chOff x="2544" y="3312"/>
            <a:chExt cx="128" cy="48"/>
          </a:xfrm>
        </p:grpSpPr>
        <p:sp>
          <p:nvSpPr>
            <p:cNvPr id="632" name="Google Shape;632;p19"/>
            <p:cNvSpPr/>
            <p:nvPr/>
          </p:nvSpPr>
          <p:spPr>
            <a:xfrm>
              <a:off x="2544" y="3312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633" name="Google Shape;633;p19"/>
            <p:cNvCxnSpPr/>
            <p:nvPr/>
          </p:nvCxnSpPr>
          <p:spPr>
            <a:xfrm>
              <a:off x="2576" y="3336"/>
              <a:ext cx="96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34" name="Google Shape;634;p19"/>
          <p:cNvGrpSpPr/>
          <p:nvPr/>
        </p:nvGrpSpPr>
        <p:grpSpPr>
          <a:xfrm>
            <a:off x="5257800" y="5867400"/>
            <a:ext cx="203200" cy="76200"/>
            <a:chOff x="2544" y="3312"/>
            <a:chExt cx="128" cy="48"/>
          </a:xfrm>
        </p:grpSpPr>
        <p:sp>
          <p:nvSpPr>
            <p:cNvPr id="635" name="Google Shape;635;p19"/>
            <p:cNvSpPr/>
            <p:nvPr/>
          </p:nvSpPr>
          <p:spPr>
            <a:xfrm>
              <a:off x="2544" y="3312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636" name="Google Shape;636;p19"/>
            <p:cNvCxnSpPr/>
            <p:nvPr/>
          </p:nvCxnSpPr>
          <p:spPr>
            <a:xfrm>
              <a:off x="2576" y="3336"/>
              <a:ext cx="96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37" name="Google Shape;637;p19"/>
          <p:cNvGrpSpPr/>
          <p:nvPr/>
        </p:nvGrpSpPr>
        <p:grpSpPr>
          <a:xfrm rot="-6229458">
            <a:off x="5346700" y="5803900"/>
            <a:ext cx="203200" cy="76200"/>
            <a:chOff x="2544" y="3312"/>
            <a:chExt cx="128" cy="48"/>
          </a:xfrm>
        </p:grpSpPr>
        <p:sp>
          <p:nvSpPr>
            <p:cNvPr id="638" name="Google Shape;638;p19"/>
            <p:cNvSpPr/>
            <p:nvPr/>
          </p:nvSpPr>
          <p:spPr>
            <a:xfrm>
              <a:off x="2544" y="3312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639" name="Google Shape;639;p19"/>
            <p:cNvCxnSpPr/>
            <p:nvPr/>
          </p:nvCxnSpPr>
          <p:spPr>
            <a:xfrm>
              <a:off x="2576" y="3336"/>
              <a:ext cx="96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40" name="Google Shape;640;p19"/>
          <p:cNvGrpSpPr/>
          <p:nvPr/>
        </p:nvGrpSpPr>
        <p:grpSpPr>
          <a:xfrm flipH="1">
            <a:off x="5257800" y="5715000"/>
            <a:ext cx="203200" cy="76200"/>
            <a:chOff x="2544" y="3312"/>
            <a:chExt cx="128" cy="48"/>
          </a:xfrm>
        </p:grpSpPr>
        <p:sp>
          <p:nvSpPr>
            <p:cNvPr id="641" name="Google Shape;641;p19"/>
            <p:cNvSpPr/>
            <p:nvPr/>
          </p:nvSpPr>
          <p:spPr>
            <a:xfrm>
              <a:off x="2544" y="3312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642" name="Google Shape;642;p19"/>
            <p:cNvCxnSpPr/>
            <p:nvPr/>
          </p:nvCxnSpPr>
          <p:spPr>
            <a:xfrm>
              <a:off x="2576" y="3336"/>
              <a:ext cx="96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43" name="Google Shape;643;p19"/>
          <p:cNvSpPr/>
          <p:nvPr/>
        </p:nvSpPr>
        <p:spPr>
          <a:xfrm>
            <a:off x="5233988" y="5715000"/>
            <a:ext cx="76200" cy="76200"/>
          </a:xfrm>
          <a:prstGeom prst="ellipse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644" name="Google Shape;644;p19"/>
          <p:cNvGrpSpPr/>
          <p:nvPr/>
        </p:nvGrpSpPr>
        <p:grpSpPr>
          <a:xfrm>
            <a:off x="3149600" y="5837238"/>
            <a:ext cx="203200" cy="76200"/>
            <a:chOff x="2544" y="3312"/>
            <a:chExt cx="128" cy="48"/>
          </a:xfrm>
        </p:grpSpPr>
        <p:sp>
          <p:nvSpPr>
            <p:cNvPr id="645" name="Google Shape;645;p19"/>
            <p:cNvSpPr/>
            <p:nvPr/>
          </p:nvSpPr>
          <p:spPr>
            <a:xfrm>
              <a:off x="2544" y="3312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646" name="Google Shape;646;p19"/>
            <p:cNvCxnSpPr/>
            <p:nvPr/>
          </p:nvCxnSpPr>
          <p:spPr>
            <a:xfrm>
              <a:off x="2576" y="3336"/>
              <a:ext cx="96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47" name="Google Shape;647;p19"/>
          <p:cNvGrpSpPr/>
          <p:nvPr/>
        </p:nvGrpSpPr>
        <p:grpSpPr>
          <a:xfrm rot="2265757">
            <a:off x="3302000" y="5884863"/>
            <a:ext cx="203200" cy="76200"/>
            <a:chOff x="2544" y="3312"/>
            <a:chExt cx="128" cy="48"/>
          </a:xfrm>
        </p:grpSpPr>
        <p:sp>
          <p:nvSpPr>
            <p:cNvPr id="648" name="Google Shape;648;p19"/>
            <p:cNvSpPr/>
            <p:nvPr/>
          </p:nvSpPr>
          <p:spPr>
            <a:xfrm>
              <a:off x="2544" y="3312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649" name="Google Shape;649;p19"/>
            <p:cNvCxnSpPr/>
            <p:nvPr/>
          </p:nvCxnSpPr>
          <p:spPr>
            <a:xfrm>
              <a:off x="2576" y="3336"/>
              <a:ext cx="96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50" name="Google Shape;650;p19"/>
          <p:cNvGrpSpPr/>
          <p:nvPr/>
        </p:nvGrpSpPr>
        <p:grpSpPr>
          <a:xfrm>
            <a:off x="3429000" y="5932488"/>
            <a:ext cx="203200" cy="76200"/>
            <a:chOff x="2544" y="3312"/>
            <a:chExt cx="128" cy="48"/>
          </a:xfrm>
        </p:grpSpPr>
        <p:sp>
          <p:nvSpPr>
            <p:cNvPr id="651" name="Google Shape;651;p19"/>
            <p:cNvSpPr/>
            <p:nvPr/>
          </p:nvSpPr>
          <p:spPr>
            <a:xfrm>
              <a:off x="2544" y="3312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652" name="Google Shape;652;p19"/>
            <p:cNvCxnSpPr/>
            <p:nvPr/>
          </p:nvCxnSpPr>
          <p:spPr>
            <a:xfrm>
              <a:off x="2576" y="3336"/>
              <a:ext cx="96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53" name="Google Shape;653;p19"/>
          <p:cNvGrpSpPr/>
          <p:nvPr/>
        </p:nvGrpSpPr>
        <p:grpSpPr>
          <a:xfrm rot="-6229458">
            <a:off x="3517900" y="5868988"/>
            <a:ext cx="203200" cy="76200"/>
            <a:chOff x="2544" y="3312"/>
            <a:chExt cx="128" cy="48"/>
          </a:xfrm>
        </p:grpSpPr>
        <p:sp>
          <p:nvSpPr>
            <p:cNvPr id="654" name="Google Shape;654;p19"/>
            <p:cNvSpPr/>
            <p:nvPr/>
          </p:nvSpPr>
          <p:spPr>
            <a:xfrm>
              <a:off x="2544" y="3312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655" name="Google Shape;655;p19"/>
            <p:cNvCxnSpPr/>
            <p:nvPr/>
          </p:nvCxnSpPr>
          <p:spPr>
            <a:xfrm>
              <a:off x="2576" y="3336"/>
              <a:ext cx="96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56" name="Google Shape;656;p19"/>
          <p:cNvGrpSpPr/>
          <p:nvPr/>
        </p:nvGrpSpPr>
        <p:grpSpPr>
          <a:xfrm>
            <a:off x="3559175" y="5773738"/>
            <a:ext cx="203200" cy="76200"/>
            <a:chOff x="2242" y="2840"/>
            <a:chExt cx="128" cy="48"/>
          </a:xfrm>
        </p:grpSpPr>
        <p:sp>
          <p:nvSpPr>
            <p:cNvPr id="657" name="Google Shape;657;p19"/>
            <p:cNvSpPr/>
            <p:nvPr/>
          </p:nvSpPr>
          <p:spPr>
            <a:xfrm flipH="1" rot="10800000">
              <a:off x="2242" y="2840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658" name="Google Shape;658;p19"/>
            <p:cNvCxnSpPr/>
            <p:nvPr/>
          </p:nvCxnSpPr>
          <p:spPr>
            <a:xfrm>
              <a:off x="2274" y="2864"/>
              <a:ext cx="96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59" name="Google Shape;659;p19"/>
          <p:cNvGrpSpPr/>
          <p:nvPr/>
        </p:nvGrpSpPr>
        <p:grpSpPr>
          <a:xfrm>
            <a:off x="3749675" y="5773738"/>
            <a:ext cx="203200" cy="76200"/>
            <a:chOff x="2362" y="2840"/>
            <a:chExt cx="128" cy="48"/>
          </a:xfrm>
        </p:grpSpPr>
        <p:sp>
          <p:nvSpPr>
            <p:cNvPr id="660" name="Google Shape;660;p19"/>
            <p:cNvSpPr/>
            <p:nvPr/>
          </p:nvSpPr>
          <p:spPr>
            <a:xfrm flipH="1" rot="10800000">
              <a:off x="2362" y="2840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661" name="Google Shape;661;p19"/>
            <p:cNvCxnSpPr/>
            <p:nvPr/>
          </p:nvCxnSpPr>
          <p:spPr>
            <a:xfrm>
              <a:off x="2394" y="2864"/>
              <a:ext cx="96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62" name="Google Shape;662;p19"/>
          <p:cNvGrpSpPr/>
          <p:nvPr/>
        </p:nvGrpSpPr>
        <p:grpSpPr>
          <a:xfrm>
            <a:off x="3876675" y="5938838"/>
            <a:ext cx="203200" cy="76200"/>
            <a:chOff x="2442" y="2944"/>
            <a:chExt cx="128" cy="48"/>
          </a:xfrm>
        </p:grpSpPr>
        <p:sp>
          <p:nvSpPr>
            <p:cNvPr id="663" name="Google Shape;663;p19"/>
            <p:cNvSpPr/>
            <p:nvPr/>
          </p:nvSpPr>
          <p:spPr>
            <a:xfrm flipH="1" rot="10800000">
              <a:off x="2442" y="2944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664" name="Google Shape;664;p19"/>
            <p:cNvCxnSpPr/>
            <p:nvPr/>
          </p:nvCxnSpPr>
          <p:spPr>
            <a:xfrm>
              <a:off x="2474" y="2968"/>
              <a:ext cx="96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65" name="Google Shape;665;p19"/>
          <p:cNvGrpSpPr/>
          <p:nvPr/>
        </p:nvGrpSpPr>
        <p:grpSpPr>
          <a:xfrm>
            <a:off x="3916300" y="5772088"/>
            <a:ext cx="92200" cy="205818"/>
            <a:chOff x="2467" y="2839"/>
            <a:chExt cx="58" cy="130"/>
          </a:xfrm>
        </p:grpSpPr>
        <p:sp>
          <p:nvSpPr>
            <p:cNvPr id="666" name="Google Shape;666;p19"/>
            <p:cNvSpPr/>
            <p:nvPr/>
          </p:nvSpPr>
          <p:spPr>
            <a:xfrm flipH="1" rot="-4570542">
              <a:off x="2472" y="2844"/>
              <a:ext cx="48" cy="48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667" name="Google Shape;667;p19"/>
            <p:cNvCxnSpPr/>
            <p:nvPr/>
          </p:nvCxnSpPr>
          <p:spPr>
            <a:xfrm rot="6229458">
              <a:off x="2435" y="2922"/>
              <a:ext cx="96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68" name="Google Shape;668;p19"/>
          <p:cNvGrpSpPr/>
          <p:nvPr/>
        </p:nvGrpSpPr>
        <p:grpSpPr>
          <a:xfrm>
            <a:off x="2971800" y="4953000"/>
            <a:ext cx="2438400" cy="990600"/>
            <a:chOff x="1872" y="1728"/>
            <a:chExt cx="1536" cy="624"/>
          </a:xfrm>
        </p:grpSpPr>
        <p:sp>
          <p:nvSpPr>
            <p:cNvPr id="669" name="Google Shape;669;p19"/>
            <p:cNvSpPr/>
            <p:nvPr/>
          </p:nvSpPr>
          <p:spPr>
            <a:xfrm>
              <a:off x="2928" y="1824"/>
              <a:ext cx="192" cy="432"/>
            </a:xfrm>
            <a:prstGeom prst="rect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670" name="Google Shape;670;p19"/>
            <p:cNvSpPr/>
            <p:nvPr/>
          </p:nvSpPr>
          <p:spPr>
            <a:xfrm>
              <a:off x="3120" y="2064"/>
              <a:ext cx="192" cy="192"/>
            </a:xfrm>
            <a:prstGeom prst="rect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671" name="Google Shape;671;p19"/>
            <p:cNvSpPr/>
            <p:nvPr/>
          </p:nvSpPr>
          <p:spPr>
            <a:xfrm>
              <a:off x="3024" y="1728"/>
              <a:ext cx="192" cy="624"/>
            </a:xfrm>
            <a:prstGeom prst="rect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672" name="Google Shape;672;p19"/>
            <p:cNvSpPr/>
            <p:nvPr/>
          </p:nvSpPr>
          <p:spPr>
            <a:xfrm>
              <a:off x="3216" y="2160"/>
              <a:ext cx="192" cy="192"/>
            </a:xfrm>
            <a:prstGeom prst="rect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673" name="Google Shape;673;p19"/>
            <p:cNvSpPr/>
            <p:nvPr/>
          </p:nvSpPr>
          <p:spPr>
            <a:xfrm>
              <a:off x="2160" y="2064"/>
              <a:ext cx="192" cy="192"/>
            </a:xfrm>
            <a:prstGeom prst="rect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674" name="Google Shape;674;p19"/>
            <p:cNvSpPr/>
            <p:nvPr/>
          </p:nvSpPr>
          <p:spPr>
            <a:xfrm>
              <a:off x="2352" y="2064"/>
              <a:ext cx="192" cy="192"/>
            </a:xfrm>
            <a:prstGeom prst="rect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675" name="Google Shape;675;p19"/>
            <p:cNvSpPr/>
            <p:nvPr/>
          </p:nvSpPr>
          <p:spPr>
            <a:xfrm>
              <a:off x="1872" y="2160"/>
              <a:ext cx="192" cy="192"/>
            </a:xfrm>
            <a:prstGeom prst="rect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676" name="Google Shape;676;p19"/>
            <p:cNvSpPr/>
            <p:nvPr/>
          </p:nvSpPr>
          <p:spPr>
            <a:xfrm>
              <a:off x="2448" y="2160"/>
              <a:ext cx="192" cy="192"/>
            </a:xfrm>
            <a:prstGeom prst="rect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677" name="Google Shape;677;p19"/>
            <p:cNvSpPr/>
            <p:nvPr/>
          </p:nvSpPr>
          <p:spPr>
            <a:xfrm>
              <a:off x="2736" y="2064"/>
              <a:ext cx="192" cy="192"/>
            </a:xfrm>
            <a:prstGeom prst="rect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678" name="Google Shape;678;p19"/>
            <p:cNvSpPr/>
            <p:nvPr/>
          </p:nvSpPr>
          <p:spPr>
            <a:xfrm>
              <a:off x="2160" y="2064"/>
              <a:ext cx="192" cy="192"/>
            </a:xfrm>
            <a:prstGeom prst="rect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679" name="Google Shape;679;p19"/>
            <p:cNvSpPr/>
            <p:nvPr/>
          </p:nvSpPr>
          <p:spPr>
            <a:xfrm>
              <a:off x="2448" y="2160"/>
              <a:ext cx="192" cy="192"/>
            </a:xfrm>
            <a:prstGeom prst="rect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680" name="Google Shape;680;p19"/>
            <p:cNvSpPr/>
            <p:nvPr/>
          </p:nvSpPr>
          <p:spPr>
            <a:xfrm>
              <a:off x="2640" y="2160"/>
              <a:ext cx="192" cy="192"/>
            </a:xfrm>
            <a:prstGeom prst="rect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681" name="Google Shape;681;p19"/>
            <p:cNvSpPr/>
            <p:nvPr/>
          </p:nvSpPr>
          <p:spPr>
            <a:xfrm>
              <a:off x="2064" y="2160"/>
              <a:ext cx="192" cy="192"/>
            </a:xfrm>
            <a:prstGeom prst="rect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0"/>
          <p:cNvSpPr txBox="1"/>
          <p:nvPr>
            <p:ph type="title"/>
          </p:nvPr>
        </p:nvSpPr>
        <p:spPr>
          <a:xfrm>
            <a:off x="1371600" y="3810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Markov chains</a:t>
            </a:r>
            <a:endParaRPr/>
          </a:p>
        </p:txBody>
      </p:sp>
      <p:sp>
        <p:nvSpPr>
          <p:cNvPr id="687" name="Google Shape;687;p20"/>
          <p:cNvSpPr txBox="1"/>
          <p:nvPr>
            <p:ph idx="1" type="body"/>
          </p:nvPr>
        </p:nvSpPr>
        <p:spPr>
          <a:xfrm>
            <a:off x="685800" y="1752600"/>
            <a:ext cx="8023225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Markov chain on a space </a:t>
            </a:r>
            <a:r>
              <a:rPr b="1" i="1" lang="en-US" sz="2200"/>
              <a:t>X</a:t>
            </a:r>
            <a:r>
              <a:rPr lang="en-US" sz="2200"/>
              <a:t> with transitions </a:t>
            </a:r>
            <a:r>
              <a:rPr b="1" i="1" lang="en-US" sz="2200"/>
              <a:t>T</a:t>
            </a:r>
            <a:r>
              <a:rPr lang="en-US" sz="2200"/>
              <a:t> is a random process (infinite sequence of random variables) 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/>
              <a:t>	(</a:t>
            </a:r>
            <a:r>
              <a:rPr i="1" lang="en-US" sz="2200"/>
              <a:t>x</a:t>
            </a:r>
            <a:r>
              <a:rPr baseline="30000" lang="en-US" sz="2200"/>
              <a:t>(0)</a:t>
            </a:r>
            <a:r>
              <a:rPr lang="en-US" sz="2200"/>
              <a:t>, </a:t>
            </a:r>
            <a:r>
              <a:rPr i="1" lang="en-US" sz="2200"/>
              <a:t>x</a:t>
            </a:r>
            <a:r>
              <a:rPr baseline="30000" lang="en-US" sz="2200"/>
              <a:t>(1)</a:t>
            </a:r>
            <a:r>
              <a:rPr lang="en-US" sz="2200"/>
              <a:t>,…</a:t>
            </a:r>
            <a:r>
              <a:rPr i="1" lang="en-US" sz="2200"/>
              <a:t>x</a:t>
            </a:r>
            <a:r>
              <a:rPr baseline="30000" lang="en-US" sz="2200"/>
              <a:t>(t)</a:t>
            </a:r>
            <a:r>
              <a:rPr lang="en-US" sz="2200"/>
              <a:t>,…) in </a:t>
            </a:r>
            <a:r>
              <a:rPr b="1" i="1" lang="en-US" sz="2200"/>
              <a:t>X</a:t>
            </a:r>
            <a:r>
              <a:rPr b="1" baseline="30000" i="1" lang="en-US" sz="2200"/>
              <a:t>∞</a:t>
            </a:r>
            <a:r>
              <a:rPr lang="en-US" sz="2200"/>
              <a:t> that satisfy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That is, the probability of being in a particular state at time </a:t>
            </a:r>
            <a:r>
              <a:rPr i="1" lang="en-US" sz="2200"/>
              <a:t>t</a:t>
            </a:r>
            <a:r>
              <a:rPr lang="en-US" sz="2200"/>
              <a:t> given the state history depends only on the state at time </a:t>
            </a:r>
            <a:r>
              <a:rPr i="1" lang="en-US" sz="2200"/>
              <a:t>t</a:t>
            </a:r>
            <a:r>
              <a:rPr lang="en-US" sz="2200"/>
              <a:t>-1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If the transition probabilities are fixed for all </a:t>
            </a:r>
            <a:r>
              <a:rPr i="1" lang="en-US" sz="2200"/>
              <a:t>t</a:t>
            </a:r>
            <a:r>
              <a:rPr lang="en-US" sz="2200"/>
              <a:t>, the chain is considered </a:t>
            </a:r>
            <a:r>
              <a:rPr i="1" lang="en-US" sz="2200"/>
              <a:t>homogeneous</a:t>
            </a:r>
            <a:r>
              <a:rPr lang="en-US" sz="2200"/>
              <a:t> </a:t>
            </a:r>
            <a:endParaRPr/>
          </a:p>
        </p:txBody>
      </p:sp>
      <p:pic>
        <p:nvPicPr>
          <p:cNvPr id="688" name="Google Shape;6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3300" y="2984500"/>
            <a:ext cx="4060825" cy="4429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9" name="Google Shape;689;p20"/>
          <p:cNvGrpSpPr/>
          <p:nvPr/>
        </p:nvGrpSpPr>
        <p:grpSpPr>
          <a:xfrm>
            <a:off x="2209800" y="5546725"/>
            <a:ext cx="1905000" cy="1066800"/>
            <a:chOff x="1008" y="3408"/>
            <a:chExt cx="1200" cy="672"/>
          </a:xfrm>
        </p:grpSpPr>
        <p:sp>
          <p:nvSpPr>
            <p:cNvPr id="690" name="Google Shape;690;p20"/>
            <p:cNvSpPr/>
            <p:nvPr/>
          </p:nvSpPr>
          <p:spPr>
            <a:xfrm>
              <a:off x="1392" y="3408"/>
              <a:ext cx="816" cy="672"/>
            </a:xfrm>
            <a:prstGeom prst="bracketPair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691" name="Google Shape;691;p20"/>
            <p:cNvSpPr txBox="1"/>
            <p:nvPr/>
          </p:nvSpPr>
          <p:spPr>
            <a:xfrm>
              <a:off x="1008" y="3648"/>
              <a:ext cx="27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T=</a:t>
              </a:r>
              <a:endParaRPr/>
            </a:p>
          </p:txBody>
        </p:sp>
        <p:sp>
          <p:nvSpPr>
            <p:cNvPr id="692" name="Google Shape;692;p20"/>
            <p:cNvSpPr txBox="1"/>
            <p:nvPr/>
          </p:nvSpPr>
          <p:spPr>
            <a:xfrm>
              <a:off x="1392" y="3436"/>
              <a:ext cx="33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0.7	</a:t>
              </a:r>
              <a:endParaRPr/>
            </a:p>
          </p:txBody>
        </p:sp>
        <p:sp>
          <p:nvSpPr>
            <p:cNvPr id="693" name="Google Shape;693;p20"/>
            <p:cNvSpPr txBox="1"/>
            <p:nvPr/>
          </p:nvSpPr>
          <p:spPr>
            <a:xfrm>
              <a:off x="1640" y="3436"/>
              <a:ext cx="319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0.3</a:t>
              </a:r>
              <a:endParaRPr/>
            </a:p>
          </p:txBody>
        </p:sp>
        <p:sp>
          <p:nvSpPr>
            <p:cNvPr id="694" name="Google Shape;694;p20"/>
            <p:cNvSpPr txBox="1"/>
            <p:nvPr/>
          </p:nvSpPr>
          <p:spPr>
            <a:xfrm>
              <a:off x="1940" y="3436"/>
              <a:ext cx="19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</a:t>
              </a:r>
              <a:endParaRPr/>
            </a:p>
          </p:txBody>
        </p:sp>
        <p:sp>
          <p:nvSpPr>
            <p:cNvPr id="695" name="Google Shape;695;p20"/>
            <p:cNvSpPr txBox="1"/>
            <p:nvPr/>
          </p:nvSpPr>
          <p:spPr>
            <a:xfrm>
              <a:off x="1398" y="3648"/>
              <a:ext cx="319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0.3</a:t>
              </a:r>
              <a:endParaRPr/>
            </a:p>
          </p:txBody>
        </p:sp>
        <p:sp>
          <p:nvSpPr>
            <p:cNvPr id="696" name="Google Shape;696;p20"/>
            <p:cNvSpPr txBox="1"/>
            <p:nvPr/>
          </p:nvSpPr>
          <p:spPr>
            <a:xfrm>
              <a:off x="1640" y="3648"/>
              <a:ext cx="319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0.4</a:t>
              </a:r>
              <a:endParaRPr/>
            </a:p>
          </p:txBody>
        </p:sp>
        <p:sp>
          <p:nvSpPr>
            <p:cNvPr id="697" name="Google Shape;697;p20"/>
            <p:cNvSpPr txBox="1"/>
            <p:nvPr/>
          </p:nvSpPr>
          <p:spPr>
            <a:xfrm>
              <a:off x="1880" y="3648"/>
              <a:ext cx="319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0.3</a:t>
              </a:r>
              <a:endParaRPr/>
            </a:p>
          </p:txBody>
        </p:sp>
        <p:sp>
          <p:nvSpPr>
            <p:cNvPr id="698" name="Google Shape;698;p20"/>
            <p:cNvSpPr txBox="1"/>
            <p:nvPr/>
          </p:nvSpPr>
          <p:spPr>
            <a:xfrm>
              <a:off x="1458" y="3868"/>
              <a:ext cx="19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</a:t>
              </a:r>
              <a:endParaRPr/>
            </a:p>
          </p:txBody>
        </p:sp>
        <p:sp>
          <p:nvSpPr>
            <p:cNvPr id="699" name="Google Shape;699;p20"/>
            <p:cNvSpPr txBox="1"/>
            <p:nvPr/>
          </p:nvSpPr>
          <p:spPr>
            <a:xfrm>
              <a:off x="1640" y="3868"/>
              <a:ext cx="319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0.3</a:t>
              </a:r>
              <a:endParaRPr/>
            </a:p>
          </p:txBody>
        </p:sp>
        <p:sp>
          <p:nvSpPr>
            <p:cNvPr id="700" name="Google Shape;700;p20"/>
            <p:cNvSpPr txBox="1"/>
            <p:nvPr/>
          </p:nvSpPr>
          <p:spPr>
            <a:xfrm>
              <a:off x="1880" y="3868"/>
              <a:ext cx="319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0.7</a:t>
              </a:r>
              <a:endParaRPr/>
            </a:p>
          </p:txBody>
        </p:sp>
      </p:grpSp>
      <p:grpSp>
        <p:nvGrpSpPr>
          <p:cNvPr id="701" name="Google Shape;701;p20"/>
          <p:cNvGrpSpPr/>
          <p:nvPr/>
        </p:nvGrpSpPr>
        <p:grpSpPr>
          <a:xfrm>
            <a:off x="4360863" y="5318125"/>
            <a:ext cx="2725737" cy="1598847"/>
            <a:chOff x="2747" y="3350"/>
            <a:chExt cx="1717" cy="1007"/>
          </a:xfrm>
        </p:grpSpPr>
        <p:sp>
          <p:nvSpPr>
            <p:cNvPr id="702" name="Google Shape;702;p20"/>
            <p:cNvSpPr/>
            <p:nvPr/>
          </p:nvSpPr>
          <p:spPr>
            <a:xfrm>
              <a:off x="3453" y="3542"/>
              <a:ext cx="240" cy="24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x</a:t>
              </a:r>
              <a:r>
                <a:rPr baseline="-25000" lang="en-US" sz="12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2</a:t>
              </a:r>
              <a:endParaRPr/>
            </a:p>
          </p:txBody>
        </p:sp>
        <p:sp>
          <p:nvSpPr>
            <p:cNvPr id="703" name="Google Shape;703;p20"/>
            <p:cNvSpPr/>
            <p:nvPr/>
          </p:nvSpPr>
          <p:spPr>
            <a:xfrm>
              <a:off x="3069" y="4022"/>
              <a:ext cx="240" cy="24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x</a:t>
              </a:r>
              <a:r>
                <a:rPr baseline="-25000" lang="en-US" sz="12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1</a:t>
              </a:r>
              <a:endParaRPr/>
            </a:p>
          </p:txBody>
        </p:sp>
        <p:sp>
          <p:nvSpPr>
            <p:cNvPr id="704" name="Google Shape;704;p20"/>
            <p:cNvSpPr/>
            <p:nvPr/>
          </p:nvSpPr>
          <p:spPr>
            <a:xfrm>
              <a:off x="3885" y="4022"/>
              <a:ext cx="240" cy="24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x</a:t>
              </a:r>
              <a:r>
                <a:rPr baseline="-25000" lang="en-US" sz="12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3</a:t>
              </a:r>
              <a:endParaRPr/>
            </a:p>
          </p:txBody>
        </p:sp>
        <p:cxnSp>
          <p:nvCxnSpPr>
            <p:cNvPr id="705" name="Google Shape;705;p20"/>
            <p:cNvCxnSpPr>
              <a:stCxn id="702" idx="1"/>
              <a:endCxn id="702" idx="7"/>
            </p:cNvCxnSpPr>
            <p:nvPr/>
          </p:nvCxnSpPr>
          <p:spPr>
            <a:xfrm rot="10800000">
              <a:off x="3638" y="3427"/>
              <a:ext cx="0" cy="300"/>
            </a:xfrm>
            <a:prstGeom prst="curvedConnector3">
              <a:avLst>
                <a:gd fmla="val -357535921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06" name="Google Shape;706;p20"/>
            <p:cNvCxnSpPr>
              <a:stCxn id="702" idx="6"/>
              <a:endCxn id="704" idx="0"/>
            </p:cNvCxnSpPr>
            <p:nvPr/>
          </p:nvCxnSpPr>
          <p:spPr>
            <a:xfrm>
              <a:off x="3693" y="3662"/>
              <a:ext cx="300" cy="300"/>
            </a:xfrm>
            <a:prstGeom prst="curvedConnector2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07" name="Google Shape;707;p20"/>
            <p:cNvCxnSpPr>
              <a:stCxn id="704" idx="2"/>
              <a:endCxn id="702" idx="5"/>
            </p:cNvCxnSpPr>
            <p:nvPr/>
          </p:nvCxnSpPr>
          <p:spPr>
            <a:xfrm rot="10800000">
              <a:off x="3585" y="3842"/>
              <a:ext cx="300" cy="300"/>
            </a:xfrm>
            <a:prstGeom prst="curvedConnector2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08" name="Google Shape;708;p20"/>
            <p:cNvCxnSpPr>
              <a:stCxn id="703" idx="0"/>
              <a:endCxn id="702" idx="2"/>
            </p:cNvCxnSpPr>
            <p:nvPr/>
          </p:nvCxnSpPr>
          <p:spPr>
            <a:xfrm rot="-5400000">
              <a:off x="3189" y="3722"/>
              <a:ext cx="300" cy="300"/>
            </a:xfrm>
            <a:prstGeom prst="curvedConnector2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09" name="Google Shape;709;p20"/>
            <p:cNvSpPr txBox="1"/>
            <p:nvPr/>
          </p:nvSpPr>
          <p:spPr>
            <a:xfrm>
              <a:off x="3634" y="3350"/>
              <a:ext cx="243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0.4</a:t>
              </a:r>
              <a:endParaRPr/>
            </a:p>
          </p:txBody>
        </p:sp>
        <p:sp>
          <p:nvSpPr>
            <p:cNvPr id="710" name="Google Shape;710;p20"/>
            <p:cNvSpPr txBox="1"/>
            <p:nvPr/>
          </p:nvSpPr>
          <p:spPr>
            <a:xfrm>
              <a:off x="3885" y="3638"/>
              <a:ext cx="243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0.3</a:t>
              </a:r>
              <a:endParaRPr/>
            </a:p>
          </p:txBody>
        </p:sp>
        <p:sp>
          <p:nvSpPr>
            <p:cNvPr id="711" name="Google Shape;711;p20"/>
            <p:cNvSpPr txBox="1"/>
            <p:nvPr/>
          </p:nvSpPr>
          <p:spPr>
            <a:xfrm>
              <a:off x="3453" y="3878"/>
              <a:ext cx="243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0.3</a:t>
              </a:r>
              <a:endParaRPr/>
            </a:p>
          </p:txBody>
        </p:sp>
        <p:sp>
          <p:nvSpPr>
            <p:cNvPr id="712" name="Google Shape;712;p20"/>
            <p:cNvSpPr txBox="1"/>
            <p:nvPr/>
          </p:nvSpPr>
          <p:spPr>
            <a:xfrm>
              <a:off x="3069" y="3686"/>
              <a:ext cx="243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0.3</a:t>
              </a:r>
              <a:endParaRPr/>
            </a:p>
          </p:txBody>
        </p:sp>
        <p:cxnSp>
          <p:nvCxnSpPr>
            <p:cNvPr id="713" name="Google Shape;713;p20"/>
            <p:cNvCxnSpPr>
              <a:stCxn id="703" idx="3"/>
              <a:endCxn id="703" idx="1"/>
            </p:cNvCxnSpPr>
            <p:nvPr/>
          </p:nvCxnSpPr>
          <p:spPr>
            <a:xfrm rot="-5400000">
              <a:off x="2954" y="4077"/>
              <a:ext cx="300" cy="0"/>
            </a:xfrm>
            <a:prstGeom prst="curvedConnector5">
              <a:avLst>
                <a:gd fmla="val 2484590" name="adj1"/>
                <a:gd fmla="val -310269956" name="adj2"/>
                <a:gd fmla="val 2484690" name="adj3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14" name="Google Shape;714;p20"/>
            <p:cNvCxnSpPr>
              <a:stCxn id="704" idx="7"/>
              <a:endCxn id="704" idx="5"/>
            </p:cNvCxnSpPr>
            <p:nvPr/>
          </p:nvCxnSpPr>
          <p:spPr>
            <a:xfrm rot="5400000">
              <a:off x="3940" y="4207"/>
              <a:ext cx="300" cy="0"/>
            </a:xfrm>
            <a:prstGeom prst="curvedConnector5">
              <a:avLst>
                <a:gd fmla="val -2384693" name="adj1"/>
                <a:gd fmla="val -408777798" name="adj2"/>
                <a:gd fmla="val -2384587" name="adj3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15" name="Google Shape;715;p20"/>
            <p:cNvSpPr txBox="1"/>
            <p:nvPr/>
          </p:nvSpPr>
          <p:spPr>
            <a:xfrm>
              <a:off x="2747" y="3888"/>
              <a:ext cx="243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0.7</a:t>
              </a:r>
              <a:endParaRPr/>
            </a:p>
          </p:txBody>
        </p:sp>
        <p:cxnSp>
          <p:nvCxnSpPr>
            <p:cNvPr id="716" name="Google Shape;716;p20"/>
            <p:cNvCxnSpPr>
              <a:stCxn id="702" idx="3"/>
              <a:endCxn id="703" idx="6"/>
            </p:cNvCxnSpPr>
            <p:nvPr/>
          </p:nvCxnSpPr>
          <p:spPr>
            <a:xfrm rot="5400000">
              <a:off x="3188" y="3747"/>
              <a:ext cx="300" cy="300"/>
            </a:xfrm>
            <a:prstGeom prst="curvedConnector2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17" name="Google Shape;717;p20"/>
            <p:cNvSpPr txBox="1"/>
            <p:nvPr/>
          </p:nvSpPr>
          <p:spPr>
            <a:xfrm>
              <a:off x="4221" y="3888"/>
              <a:ext cx="243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0.7</a:t>
              </a:r>
              <a:endParaRPr/>
            </a:p>
          </p:txBody>
        </p:sp>
        <p:sp>
          <p:nvSpPr>
            <p:cNvPr id="718" name="Google Shape;718;p20"/>
            <p:cNvSpPr txBox="1"/>
            <p:nvPr/>
          </p:nvSpPr>
          <p:spPr>
            <a:xfrm>
              <a:off x="3696" y="3878"/>
              <a:ext cx="243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0.3</a:t>
              </a:r>
              <a:endParaRPr/>
            </a:p>
          </p:txBody>
        </p:sp>
      </p:grpSp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21"/>
          <p:cNvSpPr txBox="1"/>
          <p:nvPr>
            <p:ph type="title"/>
          </p:nvPr>
        </p:nvSpPr>
        <p:spPr>
          <a:xfrm>
            <a:off x="1371600" y="3810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Markov Chains for sampling</a:t>
            </a:r>
            <a:endParaRPr/>
          </a:p>
        </p:txBody>
      </p:sp>
      <p:sp>
        <p:nvSpPr>
          <p:cNvPr id="724" name="Google Shape;724;p21"/>
          <p:cNvSpPr txBox="1"/>
          <p:nvPr>
            <p:ph idx="1" type="body"/>
          </p:nvPr>
        </p:nvSpPr>
        <p:spPr>
          <a:xfrm>
            <a:off x="685800" y="17526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In order for a Markov chain to useful for sampling p(</a:t>
            </a:r>
            <a:r>
              <a:rPr i="1" lang="en-US" sz="2200"/>
              <a:t>x</a:t>
            </a:r>
            <a:r>
              <a:rPr lang="en-US" sz="2200"/>
              <a:t>), we require that for any starting state </a:t>
            </a:r>
            <a:r>
              <a:rPr i="1" lang="en-US" sz="2200"/>
              <a:t>x</a:t>
            </a:r>
            <a:r>
              <a:rPr baseline="30000" lang="en-US" sz="2200"/>
              <a:t>(1)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Equivalently, the </a:t>
            </a:r>
            <a:r>
              <a:rPr b="1" lang="en-US" sz="2200"/>
              <a:t>stationary distribution </a:t>
            </a:r>
            <a:r>
              <a:rPr lang="en-US" sz="2200"/>
              <a:t>of the Markov chain must be p(</a:t>
            </a:r>
            <a:r>
              <a:rPr i="1" lang="en-US" sz="2200"/>
              <a:t>x</a:t>
            </a:r>
            <a:r>
              <a:rPr lang="en-US" sz="2200"/>
              <a:t>)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If this is the case, we can start in an arbitrary state, use the Markov chain to do a random walk for a while, and stop and output the current state x</a:t>
            </a:r>
            <a:r>
              <a:rPr baseline="30000" lang="en-US" sz="2200"/>
              <a:t>(t)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resulting state will be sampled from p(</a:t>
            </a:r>
            <a:r>
              <a:rPr i="1" lang="en-US" sz="2200"/>
              <a:t>x</a:t>
            </a:r>
            <a:r>
              <a:rPr lang="en-US" sz="2200"/>
              <a:t>)!</a:t>
            </a:r>
            <a:endParaRPr/>
          </a:p>
        </p:txBody>
      </p:sp>
      <p:pic>
        <p:nvPicPr>
          <p:cNvPr id="725" name="Google Shape;72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0375" y="2530475"/>
            <a:ext cx="1971675" cy="61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9088" y="4114800"/>
            <a:ext cx="2060575" cy="449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Stationary distribution</a:t>
            </a:r>
            <a:endParaRPr/>
          </a:p>
        </p:txBody>
      </p:sp>
      <p:sp>
        <p:nvSpPr>
          <p:cNvPr id="732" name="Google Shape;732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Consider the Markov chain given above: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stationary distribution is 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Some samples:</a:t>
            </a:r>
            <a:endParaRPr/>
          </a:p>
        </p:txBody>
      </p:sp>
      <p:grpSp>
        <p:nvGrpSpPr>
          <p:cNvPr id="733" name="Google Shape;733;p22"/>
          <p:cNvGrpSpPr/>
          <p:nvPr/>
        </p:nvGrpSpPr>
        <p:grpSpPr>
          <a:xfrm>
            <a:off x="3657600" y="2286000"/>
            <a:ext cx="1905000" cy="1066800"/>
            <a:chOff x="1008" y="3408"/>
            <a:chExt cx="1200" cy="672"/>
          </a:xfrm>
        </p:grpSpPr>
        <p:sp>
          <p:nvSpPr>
            <p:cNvPr id="734" name="Google Shape;734;p22"/>
            <p:cNvSpPr/>
            <p:nvPr/>
          </p:nvSpPr>
          <p:spPr>
            <a:xfrm>
              <a:off x="1392" y="3408"/>
              <a:ext cx="816" cy="672"/>
            </a:xfrm>
            <a:prstGeom prst="bracketPair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735" name="Google Shape;735;p22"/>
            <p:cNvSpPr txBox="1"/>
            <p:nvPr/>
          </p:nvSpPr>
          <p:spPr>
            <a:xfrm>
              <a:off x="1008" y="3648"/>
              <a:ext cx="27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T=</a:t>
              </a:r>
              <a:endParaRPr/>
            </a:p>
          </p:txBody>
        </p:sp>
        <p:sp>
          <p:nvSpPr>
            <p:cNvPr id="736" name="Google Shape;736;p22"/>
            <p:cNvSpPr txBox="1"/>
            <p:nvPr/>
          </p:nvSpPr>
          <p:spPr>
            <a:xfrm>
              <a:off x="1392" y="3436"/>
              <a:ext cx="33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0.7	</a:t>
              </a:r>
              <a:endParaRPr/>
            </a:p>
          </p:txBody>
        </p:sp>
        <p:sp>
          <p:nvSpPr>
            <p:cNvPr id="737" name="Google Shape;737;p22"/>
            <p:cNvSpPr txBox="1"/>
            <p:nvPr/>
          </p:nvSpPr>
          <p:spPr>
            <a:xfrm>
              <a:off x="1640" y="3436"/>
              <a:ext cx="319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0.3</a:t>
              </a:r>
              <a:endParaRPr/>
            </a:p>
          </p:txBody>
        </p:sp>
        <p:sp>
          <p:nvSpPr>
            <p:cNvPr id="738" name="Google Shape;738;p22"/>
            <p:cNvSpPr txBox="1"/>
            <p:nvPr/>
          </p:nvSpPr>
          <p:spPr>
            <a:xfrm>
              <a:off x="1940" y="3436"/>
              <a:ext cx="19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</a:t>
              </a:r>
              <a:endParaRPr/>
            </a:p>
          </p:txBody>
        </p:sp>
        <p:sp>
          <p:nvSpPr>
            <p:cNvPr id="739" name="Google Shape;739;p22"/>
            <p:cNvSpPr txBox="1"/>
            <p:nvPr/>
          </p:nvSpPr>
          <p:spPr>
            <a:xfrm>
              <a:off x="1398" y="3648"/>
              <a:ext cx="319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0.3</a:t>
              </a:r>
              <a:endParaRPr/>
            </a:p>
          </p:txBody>
        </p:sp>
        <p:sp>
          <p:nvSpPr>
            <p:cNvPr id="740" name="Google Shape;740;p22"/>
            <p:cNvSpPr txBox="1"/>
            <p:nvPr/>
          </p:nvSpPr>
          <p:spPr>
            <a:xfrm>
              <a:off x="1640" y="3648"/>
              <a:ext cx="319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0.4</a:t>
              </a:r>
              <a:endParaRPr/>
            </a:p>
          </p:txBody>
        </p:sp>
        <p:sp>
          <p:nvSpPr>
            <p:cNvPr id="741" name="Google Shape;741;p22"/>
            <p:cNvSpPr txBox="1"/>
            <p:nvPr/>
          </p:nvSpPr>
          <p:spPr>
            <a:xfrm>
              <a:off x="1880" y="3648"/>
              <a:ext cx="319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0.3</a:t>
              </a:r>
              <a:endParaRPr/>
            </a:p>
          </p:txBody>
        </p:sp>
        <p:sp>
          <p:nvSpPr>
            <p:cNvPr id="742" name="Google Shape;742;p22"/>
            <p:cNvSpPr txBox="1"/>
            <p:nvPr/>
          </p:nvSpPr>
          <p:spPr>
            <a:xfrm>
              <a:off x="1458" y="3868"/>
              <a:ext cx="19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</a:t>
              </a:r>
              <a:endParaRPr/>
            </a:p>
          </p:txBody>
        </p:sp>
        <p:sp>
          <p:nvSpPr>
            <p:cNvPr id="743" name="Google Shape;743;p22"/>
            <p:cNvSpPr txBox="1"/>
            <p:nvPr/>
          </p:nvSpPr>
          <p:spPr>
            <a:xfrm>
              <a:off x="1640" y="3868"/>
              <a:ext cx="319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0.3</a:t>
              </a:r>
              <a:endParaRPr/>
            </a:p>
          </p:txBody>
        </p:sp>
        <p:sp>
          <p:nvSpPr>
            <p:cNvPr id="744" name="Google Shape;744;p22"/>
            <p:cNvSpPr txBox="1"/>
            <p:nvPr/>
          </p:nvSpPr>
          <p:spPr>
            <a:xfrm>
              <a:off x="1880" y="3868"/>
              <a:ext cx="319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0.7</a:t>
              </a:r>
              <a:endParaRPr/>
            </a:p>
          </p:txBody>
        </p:sp>
      </p:grpSp>
      <p:grpSp>
        <p:nvGrpSpPr>
          <p:cNvPr id="745" name="Google Shape;745;p22"/>
          <p:cNvGrpSpPr/>
          <p:nvPr/>
        </p:nvGrpSpPr>
        <p:grpSpPr>
          <a:xfrm>
            <a:off x="5808663" y="2057400"/>
            <a:ext cx="2725737" cy="1598847"/>
            <a:chOff x="2843" y="1584"/>
            <a:chExt cx="1717" cy="1007"/>
          </a:xfrm>
        </p:grpSpPr>
        <p:sp>
          <p:nvSpPr>
            <p:cNvPr id="746" name="Google Shape;746;p22"/>
            <p:cNvSpPr/>
            <p:nvPr/>
          </p:nvSpPr>
          <p:spPr>
            <a:xfrm>
              <a:off x="3549" y="1776"/>
              <a:ext cx="240" cy="24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x</a:t>
              </a:r>
              <a:r>
                <a:rPr baseline="-25000" lang="en-US" sz="12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2</a:t>
              </a:r>
              <a:endParaRPr/>
            </a:p>
          </p:txBody>
        </p:sp>
        <p:sp>
          <p:nvSpPr>
            <p:cNvPr id="747" name="Google Shape;747;p22"/>
            <p:cNvSpPr/>
            <p:nvPr/>
          </p:nvSpPr>
          <p:spPr>
            <a:xfrm>
              <a:off x="3165" y="2256"/>
              <a:ext cx="240" cy="24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x</a:t>
              </a:r>
              <a:r>
                <a:rPr baseline="-25000" lang="en-US" sz="12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1</a:t>
              </a:r>
              <a:endParaRPr/>
            </a:p>
          </p:txBody>
        </p:sp>
        <p:sp>
          <p:nvSpPr>
            <p:cNvPr id="748" name="Google Shape;748;p22"/>
            <p:cNvSpPr/>
            <p:nvPr/>
          </p:nvSpPr>
          <p:spPr>
            <a:xfrm>
              <a:off x="3981" y="2256"/>
              <a:ext cx="240" cy="24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x</a:t>
              </a:r>
              <a:r>
                <a:rPr baseline="-25000" lang="en-US" sz="12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3</a:t>
              </a:r>
              <a:endParaRPr/>
            </a:p>
          </p:txBody>
        </p:sp>
        <p:cxnSp>
          <p:nvCxnSpPr>
            <p:cNvPr id="749" name="Google Shape;749;p22"/>
            <p:cNvCxnSpPr>
              <a:stCxn id="746" idx="1"/>
              <a:endCxn id="746" idx="7"/>
            </p:cNvCxnSpPr>
            <p:nvPr/>
          </p:nvCxnSpPr>
          <p:spPr>
            <a:xfrm rot="10800000">
              <a:off x="3734" y="1661"/>
              <a:ext cx="0" cy="300"/>
            </a:xfrm>
            <a:prstGeom prst="curvedConnector3">
              <a:avLst>
                <a:gd fmla="val -152247165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50" name="Google Shape;750;p22"/>
            <p:cNvCxnSpPr>
              <a:stCxn id="746" idx="6"/>
              <a:endCxn id="748" idx="0"/>
            </p:cNvCxnSpPr>
            <p:nvPr/>
          </p:nvCxnSpPr>
          <p:spPr>
            <a:xfrm>
              <a:off x="3789" y="1896"/>
              <a:ext cx="300" cy="300"/>
            </a:xfrm>
            <a:prstGeom prst="curvedConnector2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51" name="Google Shape;751;p22"/>
            <p:cNvCxnSpPr>
              <a:stCxn id="748" idx="2"/>
              <a:endCxn id="746" idx="5"/>
            </p:cNvCxnSpPr>
            <p:nvPr/>
          </p:nvCxnSpPr>
          <p:spPr>
            <a:xfrm rot="10800000">
              <a:off x="3681" y="2076"/>
              <a:ext cx="300" cy="300"/>
            </a:xfrm>
            <a:prstGeom prst="curvedConnector2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52" name="Google Shape;752;p22"/>
            <p:cNvCxnSpPr>
              <a:stCxn id="747" idx="0"/>
              <a:endCxn id="746" idx="2"/>
            </p:cNvCxnSpPr>
            <p:nvPr/>
          </p:nvCxnSpPr>
          <p:spPr>
            <a:xfrm rot="-5400000">
              <a:off x="3285" y="1956"/>
              <a:ext cx="300" cy="300"/>
            </a:xfrm>
            <a:prstGeom prst="curvedConnector2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53" name="Google Shape;753;p22"/>
            <p:cNvSpPr txBox="1"/>
            <p:nvPr/>
          </p:nvSpPr>
          <p:spPr>
            <a:xfrm>
              <a:off x="3730" y="1584"/>
              <a:ext cx="243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0.4</a:t>
              </a:r>
              <a:endParaRPr/>
            </a:p>
          </p:txBody>
        </p:sp>
        <p:sp>
          <p:nvSpPr>
            <p:cNvPr id="754" name="Google Shape;754;p22"/>
            <p:cNvSpPr txBox="1"/>
            <p:nvPr/>
          </p:nvSpPr>
          <p:spPr>
            <a:xfrm>
              <a:off x="3981" y="1872"/>
              <a:ext cx="243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0.3</a:t>
              </a:r>
              <a:endParaRPr/>
            </a:p>
          </p:txBody>
        </p:sp>
        <p:sp>
          <p:nvSpPr>
            <p:cNvPr id="755" name="Google Shape;755;p22"/>
            <p:cNvSpPr txBox="1"/>
            <p:nvPr/>
          </p:nvSpPr>
          <p:spPr>
            <a:xfrm>
              <a:off x="3549" y="2112"/>
              <a:ext cx="243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0.3</a:t>
              </a:r>
              <a:endParaRPr/>
            </a:p>
          </p:txBody>
        </p:sp>
        <p:sp>
          <p:nvSpPr>
            <p:cNvPr id="756" name="Google Shape;756;p22"/>
            <p:cNvSpPr txBox="1"/>
            <p:nvPr/>
          </p:nvSpPr>
          <p:spPr>
            <a:xfrm>
              <a:off x="3165" y="1920"/>
              <a:ext cx="243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0.3</a:t>
              </a:r>
              <a:endParaRPr/>
            </a:p>
          </p:txBody>
        </p:sp>
        <p:cxnSp>
          <p:nvCxnSpPr>
            <p:cNvPr id="757" name="Google Shape;757;p22"/>
            <p:cNvCxnSpPr>
              <a:stCxn id="747" idx="3"/>
              <a:endCxn id="747" idx="1"/>
            </p:cNvCxnSpPr>
            <p:nvPr/>
          </p:nvCxnSpPr>
          <p:spPr>
            <a:xfrm rot="-5400000">
              <a:off x="3050" y="2311"/>
              <a:ext cx="300" cy="0"/>
            </a:xfrm>
            <a:prstGeom prst="curvedConnector5">
              <a:avLst>
                <a:gd fmla="val 1277009" name="adj1"/>
                <a:gd fmla="val -401463925" name="adj2"/>
                <a:gd fmla="val 1277109" name="adj3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58" name="Google Shape;758;p22"/>
            <p:cNvCxnSpPr>
              <a:stCxn id="748" idx="7"/>
              <a:endCxn id="748" idx="5"/>
            </p:cNvCxnSpPr>
            <p:nvPr/>
          </p:nvCxnSpPr>
          <p:spPr>
            <a:xfrm rot="5400000">
              <a:off x="4036" y="2441"/>
              <a:ext cx="300" cy="0"/>
            </a:xfrm>
            <a:prstGeom prst="curvedConnector5">
              <a:avLst>
                <a:gd fmla="val -1177112" name="adj1"/>
                <a:gd fmla="val -499971768" name="adj2"/>
                <a:gd fmla="val -1177006" name="adj3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59" name="Google Shape;759;p22"/>
            <p:cNvSpPr txBox="1"/>
            <p:nvPr/>
          </p:nvSpPr>
          <p:spPr>
            <a:xfrm>
              <a:off x="2843" y="2122"/>
              <a:ext cx="243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0.7</a:t>
              </a:r>
              <a:endParaRPr/>
            </a:p>
          </p:txBody>
        </p:sp>
        <p:cxnSp>
          <p:nvCxnSpPr>
            <p:cNvPr id="760" name="Google Shape;760;p22"/>
            <p:cNvCxnSpPr>
              <a:stCxn id="746" idx="3"/>
              <a:endCxn id="747" idx="6"/>
            </p:cNvCxnSpPr>
            <p:nvPr/>
          </p:nvCxnSpPr>
          <p:spPr>
            <a:xfrm rot="5400000">
              <a:off x="3284" y="1981"/>
              <a:ext cx="300" cy="300"/>
            </a:xfrm>
            <a:prstGeom prst="curvedConnector2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61" name="Google Shape;761;p22"/>
            <p:cNvSpPr txBox="1"/>
            <p:nvPr/>
          </p:nvSpPr>
          <p:spPr>
            <a:xfrm>
              <a:off x="4317" y="2122"/>
              <a:ext cx="243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0.7</a:t>
              </a:r>
              <a:endParaRPr/>
            </a:p>
          </p:txBody>
        </p:sp>
        <p:sp>
          <p:nvSpPr>
            <p:cNvPr id="762" name="Google Shape;762;p22"/>
            <p:cNvSpPr txBox="1"/>
            <p:nvPr/>
          </p:nvSpPr>
          <p:spPr>
            <a:xfrm>
              <a:off x="3792" y="2112"/>
              <a:ext cx="243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0.3</a:t>
              </a:r>
              <a:endParaRPr/>
            </a:p>
          </p:txBody>
        </p:sp>
      </p:grpSp>
      <p:grpSp>
        <p:nvGrpSpPr>
          <p:cNvPr id="763" name="Google Shape;763;p22"/>
          <p:cNvGrpSpPr/>
          <p:nvPr/>
        </p:nvGrpSpPr>
        <p:grpSpPr>
          <a:xfrm>
            <a:off x="1828800" y="3810000"/>
            <a:ext cx="5149850" cy="1066800"/>
            <a:chOff x="1152" y="2976"/>
            <a:chExt cx="3244" cy="672"/>
          </a:xfrm>
        </p:grpSpPr>
        <p:sp>
          <p:nvSpPr>
            <p:cNvPr id="764" name="Google Shape;764;p22"/>
            <p:cNvSpPr/>
            <p:nvPr/>
          </p:nvSpPr>
          <p:spPr>
            <a:xfrm>
              <a:off x="1152" y="3024"/>
              <a:ext cx="1004" cy="240"/>
            </a:xfrm>
            <a:prstGeom prst="bracketPair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765" name="Google Shape;765;p22"/>
            <p:cNvSpPr txBox="1"/>
            <p:nvPr/>
          </p:nvSpPr>
          <p:spPr>
            <a:xfrm>
              <a:off x="1152" y="3052"/>
              <a:ext cx="40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0.33</a:t>
              </a:r>
              <a:endParaRPr/>
            </a:p>
          </p:txBody>
        </p:sp>
        <p:sp>
          <p:nvSpPr>
            <p:cNvPr id="766" name="Google Shape;766;p22"/>
            <p:cNvSpPr txBox="1"/>
            <p:nvPr/>
          </p:nvSpPr>
          <p:spPr>
            <a:xfrm>
              <a:off x="1472" y="3052"/>
              <a:ext cx="40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0.33</a:t>
              </a:r>
              <a:endParaRPr/>
            </a:p>
          </p:txBody>
        </p:sp>
        <p:sp>
          <p:nvSpPr>
            <p:cNvPr id="767" name="Google Shape;767;p22"/>
            <p:cNvSpPr txBox="1"/>
            <p:nvPr/>
          </p:nvSpPr>
          <p:spPr>
            <a:xfrm>
              <a:off x="1788" y="3052"/>
              <a:ext cx="40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0.33</a:t>
              </a:r>
              <a:endParaRPr/>
            </a:p>
          </p:txBody>
        </p:sp>
        <p:sp>
          <p:nvSpPr>
            <p:cNvPr id="768" name="Google Shape;768;p22"/>
            <p:cNvSpPr txBox="1"/>
            <p:nvPr/>
          </p:nvSpPr>
          <p:spPr>
            <a:xfrm>
              <a:off x="2156" y="3024"/>
              <a:ext cx="205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x</a:t>
              </a:r>
              <a:endParaRPr/>
            </a:p>
          </p:txBody>
        </p:sp>
        <p:sp>
          <p:nvSpPr>
            <p:cNvPr id="769" name="Google Shape;769;p22"/>
            <p:cNvSpPr txBox="1"/>
            <p:nvPr/>
          </p:nvSpPr>
          <p:spPr>
            <a:xfrm>
              <a:off x="3166" y="3024"/>
              <a:ext cx="20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=</a:t>
              </a:r>
              <a:endParaRPr/>
            </a:p>
          </p:txBody>
        </p:sp>
        <p:sp>
          <p:nvSpPr>
            <p:cNvPr id="770" name="Google Shape;770;p22"/>
            <p:cNvSpPr/>
            <p:nvPr/>
          </p:nvSpPr>
          <p:spPr>
            <a:xfrm>
              <a:off x="2349" y="2976"/>
              <a:ext cx="817" cy="672"/>
            </a:xfrm>
            <a:prstGeom prst="bracketPair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771" name="Google Shape;771;p22"/>
            <p:cNvSpPr txBox="1"/>
            <p:nvPr/>
          </p:nvSpPr>
          <p:spPr>
            <a:xfrm>
              <a:off x="2349" y="3004"/>
              <a:ext cx="33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0.7	</a:t>
              </a:r>
              <a:endParaRPr/>
            </a:p>
          </p:txBody>
        </p:sp>
        <p:sp>
          <p:nvSpPr>
            <p:cNvPr id="772" name="Google Shape;772;p22"/>
            <p:cNvSpPr txBox="1"/>
            <p:nvPr/>
          </p:nvSpPr>
          <p:spPr>
            <a:xfrm>
              <a:off x="2597" y="3004"/>
              <a:ext cx="32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0.3</a:t>
              </a:r>
              <a:endParaRPr/>
            </a:p>
          </p:txBody>
        </p:sp>
        <p:sp>
          <p:nvSpPr>
            <p:cNvPr id="773" name="Google Shape;773;p22"/>
            <p:cNvSpPr txBox="1"/>
            <p:nvPr/>
          </p:nvSpPr>
          <p:spPr>
            <a:xfrm>
              <a:off x="2898" y="3004"/>
              <a:ext cx="19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</a:t>
              </a:r>
              <a:endParaRPr/>
            </a:p>
          </p:txBody>
        </p:sp>
        <p:sp>
          <p:nvSpPr>
            <p:cNvPr id="774" name="Google Shape;774;p22"/>
            <p:cNvSpPr txBox="1"/>
            <p:nvPr/>
          </p:nvSpPr>
          <p:spPr>
            <a:xfrm>
              <a:off x="2355" y="3216"/>
              <a:ext cx="319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0.3</a:t>
              </a:r>
              <a:endParaRPr/>
            </a:p>
          </p:txBody>
        </p:sp>
        <p:sp>
          <p:nvSpPr>
            <p:cNvPr id="775" name="Google Shape;775;p22"/>
            <p:cNvSpPr txBox="1"/>
            <p:nvPr/>
          </p:nvSpPr>
          <p:spPr>
            <a:xfrm>
              <a:off x="2597" y="3216"/>
              <a:ext cx="32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0.4</a:t>
              </a:r>
              <a:endParaRPr/>
            </a:p>
          </p:txBody>
        </p:sp>
        <p:sp>
          <p:nvSpPr>
            <p:cNvPr id="776" name="Google Shape;776;p22"/>
            <p:cNvSpPr txBox="1"/>
            <p:nvPr/>
          </p:nvSpPr>
          <p:spPr>
            <a:xfrm>
              <a:off x="2838" y="3216"/>
              <a:ext cx="319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0.3</a:t>
              </a:r>
              <a:endParaRPr/>
            </a:p>
          </p:txBody>
        </p:sp>
        <p:sp>
          <p:nvSpPr>
            <p:cNvPr id="777" name="Google Shape;777;p22"/>
            <p:cNvSpPr txBox="1"/>
            <p:nvPr/>
          </p:nvSpPr>
          <p:spPr>
            <a:xfrm>
              <a:off x="2415" y="3436"/>
              <a:ext cx="19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</a:t>
              </a:r>
              <a:endParaRPr/>
            </a:p>
          </p:txBody>
        </p:sp>
        <p:sp>
          <p:nvSpPr>
            <p:cNvPr id="778" name="Google Shape;778;p22"/>
            <p:cNvSpPr txBox="1"/>
            <p:nvPr/>
          </p:nvSpPr>
          <p:spPr>
            <a:xfrm>
              <a:off x="2597" y="3436"/>
              <a:ext cx="32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0.3</a:t>
              </a:r>
              <a:endParaRPr/>
            </a:p>
          </p:txBody>
        </p:sp>
        <p:sp>
          <p:nvSpPr>
            <p:cNvPr id="779" name="Google Shape;779;p22"/>
            <p:cNvSpPr txBox="1"/>
            <p:nvPr/>
          </p:nvSpPr>
          <p:spPr>
            <a:xfrm>
              <a:off x="2838" y="3436"/>
              <a:ext cx="319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0.7</a:t>
              </a:r>
              <a:endParaRPr/>
            </a:p>
          </p:txBody>
        </p:sp>
        <p:sp>
          <p:nvSpPr>
            <p:cNvPr id="780" name="Google Shape;780;p22"/>
            <p:cNvSpPr/>
            <p:nvPr/>
          </p:nvSpPr>
          <p:spPr>
            <a:xfrm>
              <a:off x="3360" y="3024"/>
              <a:ext cx="1004" cy="240"/>
            </a:xfrm>
            <a:prstGeom prst="bracketPair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781" name="Google Shape;781;p22"/>
            <p:cNvSpPr txBox="1"/>
            <p:nvPr/>
          </p:nvSpPr>
          <p:spPr>
            <a:xfrm>
              <a:off x="3360" y="3052"/>
              <a:ext cx="40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0.33</a:t>
              </a:r>
              <a:endParaRPr/>
            </a:p>
          </p:txBody>
        </p:sp>
        <p:sp>
          <p:nvSpPr>
            <p:cNvPr id="782" name="Google Shape;782;p22"/>
            <p:cNvSpPr txBox="1"/>
            <p:nvPr/>
          </p:nvSpPr>
          <p:spPr>
            <a:xfrm>
              <a:off x="3680" y="3052"/>
              <a:ext cx="40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0.33</a:t>
              </a:r>
              <a:endParaRPr/>
            </a:p>
          </p:txBody>
        </p:sp>
        <p:sp>
          <p:nvSpPr>
            <p:cNvPr id="783" name="Google Shape;783;p22"/>
            <p:cNvSpPr txBox="1"/>
            <p:nvPr/>
          </p:nvSpPr>
          <p:spPr>
            <a:xfrm>
              <a:off x="3996" y="3052"/>
              <a:ext cx="40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0.33</a:t>
              </a:r>
              <a:endParaRPr/>
            </a:p>
          </p:txBody>
        </p:sp>
      </p:grpSp>
      <p:sp>
        <p:nvSpPr>
          <p:cNvPr id="784" name="Google Shape;784;p22"/>
          <p:cNvSpPr txBox="1"/>
          <p:nvPr/>
        </p:nvSpPr>
        <p:spPr>
          <a:xfrm>
            <a:off x="3505200" y="5046663"/>
            <a:ext cx="1862138" cy="1582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1,1,2,3,2,1,2,3,3,</a:t>
            </a:r>
            <a:r>
              <a:rPr b="1" lang="en-US" sz="1400">
                <a:solidFill>
                  <a:srgbClr val="CC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1,2,2,1,1,2,3,3,3,</a:t>
            </a:r>
            <a:r>
              <a:rPr b="1" lang="en-US" sz="1400">
                <a:solidFill>
                  <a:srgbClr val="CC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1,1,1,2,3,2,2,1,1,</a:t>
            </a:r>
            <a:r>
              <a:rPr b="1" lang="en-US" sz="1400">
                <a:solidFill>
                  <a:srgbClr val="CC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1,2,3,3,3,2,1,2,2,</a:t>
            </a:r>
            <a:r>
              <a:rPr b="1" lang="en-US" sz="1400">
                <a:solidFill>
                  <a:srgbClr val="CC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1,1,2,2,2,3,3,2,1,</a:t>
            </a:r>
            <a:r>
              <a:rPr b="1" lang="en-US" sz="1400">
                <a:solidFill>
                  <a:srgbClr val="CC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1,2,2,2,3,3,3,2,2,</a:t>
            </a:r>
            <a:r>
              <a:rPr b="1" lang="en-US" sz="1400">
                <a:solidFill>
                  <a:srgbClr val="CC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endParaRPr/>
          </a:p>
        </p:txBody>
      </p:sp>
      <p:sp>
        <p:nvSpPr>
          <p:cNvPr id="785" name="Google Shape;785;p22"/>
          <p:cNvSpPr txBox="1"/>
          <p:nvPr/>
        </p:nvSpPr>
        <p:spPr>
          <a:xfrm>
            <a:off x="5292725" y="4999038"/>
            <a:ext cx="2936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Empirical Distribution:</a:t>
            </a:r>
            <a:endParaRPr/>
          </a:p>
        </p:txBody>
      </p:sp>
      <p:grpSp>
        <p:nvGrpSpPr>
          <p:cNvPr id="786" name="Google Shape;786;p22"/>
          <p:cNvGrpSpPr/>
          <p:nvPr/>
        </p:nvGrpSpPr>
        <p:grpSpPr>
          <a:xfrm>
            <a:off x="6051550" y="5562600"/>
            <a:ext cx="1644650" cy="381000"/>
            <a:chOff x="3812" y="3504"/>
            <a:chExt cx="1036" cy="240"/>
          </a:xfrm>
        </p:grpSpPr>
        <p:sp>
          <p:nvSpPr>
            <p:cNvPr id="787" name="Google Shape;787;p22"/>
            <p:cNvSpPr/>
            <p:nvPr/>
          </p:nvSpPr>
          <p:spPr>
            <a:xfrm>
              <a:off x="3812" y="3504"/>
              <a:ext cx="1004" cy="240"/>
            </a:xfrm>
            <a:prstGeom prst="bracketPair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788" name="Google Shape;788;p22"/>
            <p:cNvSpPr txBox="1"/>
            <p:nvPr/>
          </p:nvSpPr>
          <p:spPr>
            <a:xfrm>
              <a:off x="3812" y="3532"/>
              <a:ext cx="40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0.33</a:t>
              </a:r>
              <a:endParaRPr/>
            </a:p>
          </p:txBody>
        </p:sp>
        <p:sp>
          <p:nvSpPr>
            <p:cNvPr id="789" name="Google Shape;789;p22"/>
            <p:cNvSpPr txBox="1"/>
            <p:nvPr/>
          </p:nvSpPr>
          <p:spPr>
            <a:xfrm>
              <a:off x="4132" y="3532"/>
              <a:ext cx="40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0.33</a:t>
              </a:r>
              <a:endParaRPr/>
            </a:p>
          </p:txBody>
        </p:sp>
        <p:sp>
          <p:nvSpPr>
            <p:cNvPr id="790" name="Google Shape;790;p22"/>
            <p:cNvSpPr txBox="1"/>
            <p:nvPr/>
          </p:nvSpPr>
          <p:spPr>
            <a:xfrm>
              <a:off x="4448" y="3532"/>
              <a:ext cx="40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0.33</a:t>
              </a:r>
              <a:endParaRPr/>
            </a:p>
          </p:txBody>
        </p:sp>
      </p:grpSp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Ergodicity</a:t>
            </a:r>
            <a:endParaRPr/>
          </a:p>
        </p:txBody>
      </p:sp>
      <p:sp>
        <p:nvSpPr>
          <p:cNvPr id="796" name="Google Shape;796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Claim: To ensure that the chain converges to a unique stationary distribution the following conditions are sufficient: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i="1" lang="en-US" sz="2000"/>
              <a:t>Irreducibility</a:t>
            </a:r>
            <a:r>
              <a:rPr lang="en-US" sz="2000"/>
              <a:t>: every state is eventually reachable from any start state; for all </a:t>
            </a:r>
            <a:r>
              <a:rPr i="1" lang="en-US" sz="2000"/>
              <a:t>x</a:t>
            </a:r>
            <a:r>
              <a:rPr lang="en-US" sz="2000"/>
              <a:t>, </a:t>
            </a:r>
            <a:r>
              <a:rPr i="1" lang="en-US" sz="2000"/>
              <a:t>y</a:t>
            </a:r>
            <a:r>
              <a:rPr lang="en-US" sz="2000"/>
              <a:t> in </a:t>
            </a:r>
            <a:r>
              <a:rPr b="1" i="1" lang="en-US" sz="2000"/>
              <a:t>X</a:t>
            </a:r>
            <a:r>
              <a:rPr lang="en-US" sz="2000"/>
              <a:t> there exists a </a:t>
            </a:r>
            <a:r>
              <a:rPr i="1" lang="en-US" sz="2000"/>
              <a:t>t</a:t>
            </a:r>
            <a:r>
              <a:rPr lang="en-US" sz="2000"/>
              <a:t> such that</a:t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i="1" lang="en-US" sz="2000"/>
              <a:t>Aperiodicity</a:t>
            </a:r>
            <a:r>
              <a:rPr lang="en-US" sz="2000"/>
              <a:t>: the chain doesn’t get caught in cycles; for all </a:t>
            </a:r>
            <a:r>
              <a:rPr i="1" lang="en-US" sz="2000"/>
              <a:t>x</a:t>
            </a:r>
            <a:r>
              <a:rPr lang="en-US" sz="2000"/>
              <a:t>, </a:t>
            </a:r>
            <a:r>
              <a:rPr i="1" lang="en-US" sz="2000"/>
              <a:t>y</a:t>
            </a:r>
            <a:r>
              <a:rPr lang="en-US" sz="2000"/>
              <a:t> in </a:t>
            </a:r>
            <a:r>
              <a:rPr b="1" i="1" lang="en-US" sz="2000"/>
              <a:t>X</a:t>
            </a:r>
            <a:r>
              <a:rPr lang="en-US" sz="2000"/>
              <a:t> it is the case that</a:t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process is </a:t>
            </a:r>
            <a:r>
              <a:rPr i="1" lang="en-US" sz="2200"/>
              <a:t>ergodic</a:t>
            </a:r>
            <a:r>
              <a:rPr lang="en-US" sz="2200"/>
              <a:t> if it is both irreducible and aperiodic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This claim is easy to prove, but involves eigenstuff!</a:t>
            </a:r>
            <a:endParaRPr/>
          </a:p>
        </p:txBody>
      </p:sp>
      <p:pic>
        <p:nvPicPr>
          <p:cNvPr id="797" name="Google Shape;7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7888" y="3543300"/>
            <a:ext cx="277177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3550" y="2571750"/>
            <a:ext cx="1387475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Markov Chains for sampling</a:t>
            </a:r>
            <a:endParaRPr/>
          </a:p>
        </p:txBody>
      </p:sp>
      <p:sp>
        <p:nvSpPr>
          <p:cNvPr id="804" name="Google Shape;804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Claim: To ensure that the stationary distribution of the Markov chain is p(x) it is sufficient for p and </a:t>
            </a:r>
            <a:r>
              <a:rPr i="1" lang="en-US"/>
              <a:t>T</a:t>
            </a:r>
            <a:r>
              <a:rPr lang="en-US"/>
              <a:t> to satisfy the </a:t>
            </a:r>
            <a:r>
              <a:rPr i="1" lang="en-US"/>
              <a:t>detailed balance</a:t>
            </a:r>
            <a:r>
              <a:rPr lang="en-US"/>
              <a:t> (</a:t>
            </a:r>
            <a:r>
              <a:rPr i="1" lang="en-US"/>
              <a:t>reversibility</a:t>
            </a:r>
            <a:r>
              <a:rPr lang="en-US"/>
              <a:t>) condition: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Proof: for all </a:t>
            </a:r>
            <a:r>
              <a:rPr i="1" lang="en-US"/>
              <a:t>y</a:t>
            </a:r>
            <a:r>
              <a:rPr lang="en-US"/>
              <a:t> we have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And thus p must be a stationary distribution of </a:t>
            </a:r>
            <a:r>
              <a:rPr i="1" lang="en-US"/>
              <a:t>T</a:t>
            </a:r>
            <a:endParaRPr/>
          </a:p>
        </p:txBody>
      </p:sp>
      <p:pic>
        <p:nvPicPr>
          <p:cNvPr id="805" name="Google Shape;80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5288" y="2678113"/>
            <a:ext cx="3527425" cy="449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413" y="3810000"/>
            <a:ext cx="9018587" cy="74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Metropolis algorithm</a:t>
            </a:r>
            <a:endParaRPr/>
          </a:p>
        </p:txBody>
      </p:sp>
      <p:sp>
        <p:nvSpPr>
          <p:cNvPr id="812" name="Google Shape;812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How to pick a suitable Markov chain for our distribution?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Suppose our distribution p(x) is easy to sample, and easy to compute </a:t>
            </a:r>
            <a:r>
              <a:rPr i="1" lang="en-US" sz="2000"/>
              <a:t>up to a normalization constant</a:t>
            </a:r>
            <a:r>
              <a:rPr lang="en-US" sz="2000"/>
              <a:t>, but hard to compute exactly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e.g. a Bayesian posterior P(M|D)∝P(D|M)P(M)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define a Markov chain with the following process: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Sample a candidate point x* from a </a:t>
            </a:r>
            <a:r>
              <a:rPr i="1" lang="en-US" sz="1800"/>
              <a:t>proposal distribution</a:t>
            </a:r>
            <a:r>
              <a:rPr lang="en-US" sz="1800"/>
              <a:t> q(x*|x</a:t>
            </a:r>
            <a:r>
              <a:rPr baseline="30000" lang="en-US" sz="1800"/>
              <a:t>(t)</a:t>
            </a:r>
            <a:r>
              <a:rPr lang="en-US" sz="1800"/>
              <a:t>) which is </a:t>
            </a:r>
            <a:r>
              <a:rPr i="1" lang="en-US" sz="1800"/>
              <a:t>symmetric</a:t>
            </a:r>
            <a:r>
              <a:rPr lang="en-US" sz="1800"/>
              <a:t>:</a:t>
            </a:r>
            <a:r>
              <a:rPr i="1" lang="en-US" sz="1800"/>
              <a:t> </a:t>
            </a:r>
            <a:r>
              <a:rPr lang="en-US" sz="1800"/>
              <a:t>q(x|y)=q(y|x)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Compute the </a:t>
            </a:r>
            <a:r>
              <a:rPr i="1" lang="en-US" sz="1800"/>
              <a:t>importance ratio</a:t>
            </a:r>
            <a:r>
              <a:rPr lang="en-US" sz="1800"/>
              <a:t> (this is easy since the normalization constants cancel)</a:t>
            </a:r>
            <a:endParaRPr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With probability min(</a:t>
            </a:r>
            <a:r>
              <a:rPr i="1" lang="en-US" sz="1800"/>
              <a:t>r</a:t>
            </a:r>
            <a:r>
              <a:rPr lang="en-US" sz="1800"/>
              <a:t>,1) transition to x*, otherwise stay in the same state</a:t>
            </a:r>
            <a:endParaRPr/>
          </a:p>
        </p:txBody>
      </p:sp>
      <p:pic>
        <p:nvPicPr>
          <p:cNvPr id="813" name="Google Shape;81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1563" y="4175125"/>
            <a:ext cx="1173162" cy="72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Metropolis intuition</a:t>
            </a:r>
            <a:endParaRPr/>
          </a:p>
        </p:txBody>
      </p:sp>
      <p:sp>
        <p:nvSpPr>
          <p:cNvPr id="819" name="Google Shape;819;p26"/>
          <p:cNvSpPr txBox="1"/>
          <p:nvPr>
            <p:ph idx="1" type="body"/>
          </p:nvPr>
        </p:nvSpPr>
        <p:spPr>
          <a:xfrm>
            <a:off x="685800" y="1752600"/>
            <a:ext cx="49530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Why does the Metropolis algorithm work?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Proposal distribution can propose anything it likes (as long as it can jump back with the same probability)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Proposal is always accepted if it’s jumping to a more likely state 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Proposal accepted with the importance ratio if it’s jumping to a less likely state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The acceptance policy, combined with the reversibility of the proposal distribution, makes sure that the algorithm explores states in proportion to p(</a:t>
            </a:r>
            <a:r>
              <a:rPr i="1" lang="en-US" sz="1800"/>
              <a:t>x</a:t>
            </a:r>
            <a:r>
              <a:rPr lang="en-US" sz="1800"/>
              <a:t>)!</a:t>
            </a:r>
            <a:endParaRPr/>
          </a:p>
        </p:txBody>
      </p:sp>
      <p:grpSp>
        <p:nvGrpSpPr>
          <p:cNvPr id="820" name="Google Shape;820;p26"/>
          <p:cNvGrpSpPr/>
          <p:nvPr/>
        </p:nvGrpSpPr>
        <p:grpSpPr>
          <a:xfrm>
            <a:off x="5867400" y="2667000"/>
            <a:ext cx="2971800" cy="1920875"/>
            <a:chOff x="3696" y="1680"/>
            <a:chExt cx="1872" cy="1210"/>
          </a:xfrm>
        </p:grpSpPr>
        <p:cxnSp>
          <p:nvCxnSpPr>
            <p:cNvPr id="821" name="Google Shape;821;p26"/>
            <p:cNvCxnSpPr/>
            <p:nvPr/>
          </p:nvCxnSpPr>
          <p:spPr>
            <a:xfrm>
              <a:off x="3696" y="2683"/>
              <a:ext cx="187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22" name="Google Shape;822;p26"/>
            <p:cNvSpPr/>
            <p:nvPr/>
          </p:nvSpPr>
          <p:spPr>
            <a:xfrm>
              <a:off x="3715" y="1680"/>
              <a:ext cx="1840" cy="974"/>
            </a:xfrm>
            <a:custGeom>
              <a:rect b="b" l="l" r="r" t="t"/>
              <a:pathLst>
                <a:path extrusionOk="0" h="775" w="1557">
                  <a:moveTo>
                    <a:pt x="0" y="768"/>
                  </a:moveTo>
                  <a:cubicBezTo>
                    <a:pt x="47" y="752"/>
                    <a:pt x="205" y="718"/>
                    <a:pt x="285" y="674"/>
                  </a:cubicBezTo>
                  <a:cubicBezTo>
                    <a:pt x="365" y="630"/>
                    <a:pt x="414" y="576"/>
                    <a:pt x="481" y="503"/>
                  </a:cubicBezTo>
                  <a:cubicBezTo>
                    <a:pt x="548" y="430"/>
                    <a:pt x="626" y="319"/>
                    <a:pt x="684" y="237"/>
                  </a:cubicBezTo>
                  <a:cubicBezTo>
                    <a:pt x="742" y="155"/>
                    <a:pt x="787" y="0"/>
                    <a:pt x="830" y="9"/>
                  </a:cubicBezTo>
                  <a:cubicBezTo>
                    <a:pt x="873" y="18"/>
                    <a:pt x="908" y="186"/>
                    <a:pt x="943" y="294"/>
                  </a:cubicBezTo>
                  <a:cubicBezTo>
                    <a:pt x="978" y="402"/>
                    <a:pt x="985" y="580"/>
                    <a:pt x="1040" y="654"/>
                  </a:cubicBezTo>
                  <a:cubicBezTo>
                    <a:pt x="1095" y="728"/>
                    <a:pt x="1187" y="717"/>
                    <a:pt x="1273" y="737"/>
                  </a:cubicBezTo>
                  <a:cubicBezTo>
                    <a:pt x="1359" y="757"/>
                    <a:pt x="1498" y="767"/>
                    <a:pt x="1557" y="7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823" name="Google Shape;823;p26"/>
            <p:cNvSpPr/>
            <p:nvPr/>
          </p:nvSpPr>
          <p:spPr>
            <a:xfrm>
              <a:off x="4320" y="2208"/>
              <a:ext cx="57" cy="6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824" name="Google Shape;824;p26"/>
            <p:cNvCxnSpPr/>
            <p:nvPr/>
          </p:nvCxnSpPr>
          <p:spPr>
            <a:xfrm>
              <a:off x="4348" y="2261"/>
              <a:ext cx="0" cy="437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825" name="Google Shape;825;p26"/>
            <p:cNvSpPr txBox="1"/>
            <p:nvPr/>
          </p:nvSpPr>
          <p:spPr>
            <a:xfrm>
              <a:off x="4272" y="2736"/>
              <a:ext cx="186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x</a:t>
              </a:r>
              <a:r>
                <a:rPr baseline="30000" lang="en-US" sz="10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</a:t>
              </a:r>
              <a:endParaRPr/>
            </a:p>
          </p:txBody>
        </p:sp>
      </p:grpSp>
      <p:grpSp>
        <p:nvGrpSpPr>
          <p:cNvPr id="826" name="Google Shape;826;p26"/>
          <p:cNvGrpSpPr/>
          <p:nvPr/>
        </p:nvGrpSpPr>
        <p:grpSpPr>
          <a:xfrm>
            <a:off x="6553200" y="2895600"/>
            <a:ext cx="914400" cy="1692275"/>
            <a:chOff x="4128" y="1824"/>
            <a:chExt cx="576" cy="1066"/>
          </a:xfrm>
        </p:grpSpPr>
        <p:cxnSp>
          <p:nvCxnSpPr>
            <p:cNvPr id="827" name="Google Shape;827;p26"/>
            <p:cNvCxnSpPr/>
            <p:nvPr/>
          </p:nvCxnSpPr>
          <p:spPr>
            <a:xfrm flipH="1" rot="10800000">
              <a:off x="4320" y="1867"/>
              <a:ext cx="163" cy="2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28" name="Google Shape;828;p26"/>
            <p:cNvCxnSpPr/>
            <p:nvPr/>
          </p:nvCxnSpPr>
          <p:spPr>
            <a:xfrm>
              <a:off x="4578" y="1878"/>
              <a:ext cx="0" cy="816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829" name="Google Shape;829;p26"/>
            <p:cNvSpPr txBox="1"/>
            <p:nvPr/>
          </p:nvSpPr>
          <p:spPr>
            <a:xfrm>
              <a:off x="4128" y="1824"/>
              <a:ext cx="327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r=1.0</a:t>
              </a:r>
              <a:endParaRPr/>
            </a:p>
          </p:txBody>
        </p:sp>
        <p:sp>
          <p:nvSpPr>
            <p:cNvPr id="830" name="Google Shape;830;p26"/>
            <p:cNvSpPr txBox="1"/>
            <p:nvPr/>
          </p:nvSpPr>
          <p:spPr>
            <a:xfrm>
              <a:off x="4500" y="2736"/>
              <a:ext cx="204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x*</a:t>
              </a:r>
              <a:endParaRPr baseline="30000" sz="1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831" name="Google Shape;831;p26"/>
            <p:cNvSpPr/>
            <p:nvPr/>
          </p:nvSpPr>
          <p:spPr>
            <a:xfrm>
              <a:off x="4551" y="1854"/>
              <a:ext cx="57" cy="6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832" name="Google Shape;832;p26"/>
          <p:cNvGrpSpPr/>
          <p:nvPr/>
        </p:nvGrpSpPr>
        <p:grpSpPr>
          <a:xfrm>
            <a:off x="5638800" y="3413125"/>
            <a:ext cx="1162050" cy="1174750"/>
            <a:chOff x="3552" y="2150"/>
            <a:chExt cx="732" cy="740"/>
          </a:xfrm>
        </p:grpSpPr>
        <p:cxnSp>
          <p:nvCxnSpPr>
            <p:cNvPr id="833" name="Google Shape;833;p26"/>
            <p:cNvCxnSpPr/>
            <p:nvPr/>
          </p:nvCxnSpPr>
          <p:spPr>
            <a:xfrm>
              <a:off x="4207" y="2376"/>
              <a:ext cx="0" cy="316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34" name="Google Shape;834;p26"/>
            <p:cNvCxnSpPr/>
            <p:nvPr/>
          </p:nvCxnSpPr>
          <p:spPr>
            <a:xfrm flipH="1">
              <a:off x="4175" y="2195"/>
              <a:ext cx="88" cy="11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35" name="Google Shape;835;p26"/>
            <p:cNvSpPr txBox="1"/>
            <p:nvPr/>
          </p:nvSpPr>
          <p:spPr>
            <a:xfrm>
              <a:off x="3552" y="2150"/>
              <a:ext cx="602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r=p(x*)/p(x</a:t>
              </a:r>
              <a:r>
                <a:rPr baseline="30000" lang="en-US" sz="10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</a:t>
              </a:r>
              <a:r>
                <a:rPr lang="en-US" sz="10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)</a:t>
              </a:r>
              <a:endParaRPr/>
            </a:p>
          </p:txBody>
        </p:sp>
        <p:sp>
          <p:nvSpPr>
            <p:cNvPr id="836" name="Google Shape;836;p26"/>
            <p:cNvSpPr txBox="1"/>
            <p:nvPr/>
          </p:nvSpPr>
          <p:spPr>
            <a:xfrm>
              <a:off x="4080" y="2736"/>
              <a:ext cx="204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x*</a:t>
              </a:r>
              <a:endParaRPr baseline="30000" sz="1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837" name="Google Shape;837;p26"/>
            <p:cNvSpPr/>
            <p:nvPr/>
          </p:nvSpPr>
          <p:spPr>
            <a:xfrm>
              <a:off x="4178" y="2361"/>
              <a:ext cx="57" cy="6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Metropolis convergence</a:t>
            </a:r>
            <a:endParaRPr/>
          </a:p>
        </p:txBody>
      </p:sp>
      <p:sp>
        <p:nvSpPr>
          <p:cNvPr id="843" name="Google Shape;843;p27"/>
          <p:cNvSpPr txBox="1"/>
          <p:nvPr>
            <p:ph idx="1" type="body"/>
          </p:nvPr>
        </p:nvSpPr>
        <p:spPr>
          <a:xfrm>
            <a:off x="254000" y="1346200"/>
            <a:ext cx="8643938" cy="5113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Claim: The Metropolis algorithm converges to the target distribution p(</a:t>
            </a:r>
            <a:r>
              <a:rPr i="1" lang="en-US"/>
              <a:t>x</a:t>
            </a:r>
            <a:r>
              <a:rPr lang="en-US"/>
              <a:t>).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Proof: It satisfies detailed balance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	For all </a:t>
            </a:r>
            <a:r>
              <a:rPr i="1" lang="en-US" sz="2400"/>
              <a:t>x</a:t>
            </a:r>
            <a:r>
              <a:rPr lang="en-US" sz="2400"/>
              <a:t>,</a:t>
            </a:r>
            <a:r>
              <a:rPr i="1" lang="en-US" sz="2400"/>
              <a:t>y</a:t>
            </a:r>
            <a:r>
              <a:rPr lang="en-US" sz="2400"/>
              <a:t> in </a:t>
            </a:r>
            <a:r>
              <a:rPr b="1" i="1" lang="en-US" sz="2400"/>
              <a:t>X</a:t>
            </a:r>
            <a:r>
              <a:rPr lang="en-US" sz="2400"/>
              <a:t>, wlog assuming p(</a:t>
            </a:r>
            <a:r>
              <a:rPr i="1" lang="en-US" sz="2400"/>
              <a:t>x</a:t>
            </a:r>
            <a:r>
              <a:rPr lang="en-US" sz="2400"/>
              <a:t>)&lt;p(</a:t>
            </a:r>
            <a:r>
              <a:rPr i="1" lang="en-US" sz="2400"/>
              <a:t>y</a:t>
            </a:r>
            <a:r>
              <a:rPr lang="en-US" sz="2400"/>
              <a:t>), then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1" lang="en-US"/>
              <a:t>Hence:</a:t>
            </a:r>
            <a:endParaRPr/>
          </a:p>
        </p:txBody>
      </p:sp>
      <p:pic>
        <p:nvPicPr>
          <p:cNvPr id="844" name="Google Shape;84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9113" y="5219700"/>
            <a:ext cx="5070475" cy="1281113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27"/>
          <p:cNvSpPr txBox="1"/>
          <p:nvPr/>
        </p:nvSpPr>
        <p:spPr>
          <a:xfrm>
            <a:off x="5697538" y="4886325"/>
            <a:ext cx="1444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q is symmetric</a:t>
            </a:r>
            <a:endParaRPr/>
          </a:p>
        </p:txBody>
      </p:sp>
      <p:pic>
        <p:nvPicPr>
          <p:cNvPr id="846" name="Google Shape;84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225" y="3398838"/>
            <a:ext cx="2855913" cy="1279525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27"/>
          <p:cNvSpPr txBox="1"/>
          <p:nvPr/>
        </p:nvSpPr>
        <p:spPr>
          <a:xfrm>
            <a:off x="3090863" y="3379788"/>
            <a:ext cx="569912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763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candidate is always accepted, since the r= 1</a:t>
            </a:r>
            <a:endParaRPr/>
          </a:p>
        </p:txBody>
      </p:sp>
      <p:sp>
        <p:nvSpPr>
          <p:cNvPr id="848" name="Google Shape;848;p27"/>
          <p:cNvSpPr txBox="1"/>
          <p:nvPr/>
        </p:nvSpPr>
        <p:spPr>
          <a:xfrm>
            <a:off x="3697288" y="4017963"/>
            <a:ext cx="42005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Since,  w generate x with prob q(x|y) and accept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with prob r = the ratio &lt; 1.</a:t>
            </a:r>
            <a:endParaRPr/>
          </a:p>
        </p:txBody>
      </p:sp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Metropolis-Hastings</a:t>
            </a:r>
            <a:endParaRPr/>
          </a:p>
        </p:txBody>
      </p:sp>
      <p:sp>
        <p:nvSpPr>
          <p:cNvPr id="854" name="Google Shape;854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symmetry requirement of the Metropolis proposal distribution can be hard to satisfy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Metropolis-Hastings is the natural generalization of the Metropolis algorithm, and the most popular MCMC algorithm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We define a Markov chain with the following process: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Sample a candidate point </a:t>
            </a:r>
            <a:r>
              <a:rPr i="1" lang="en-US" sz="1800"/>
              <a:t>x</a:t>
            </a:r>
            <a:r>
              <a:rPr lang="en-US" sz="1800"/>
              <a:t>* from a proposal distribution q(</a:t>
            </a:r>
            <a:r>
              <a:rPr i="1" lang="en-US" sz="1800"/>
              <a:t>x</a:t>
            </a:r>
            <a:r>
              <a:rPr lang="en-US" sz="1800"/>
              <a:t>*|</a:t>
            </a:r>
            <a:r>
              <a:rPr i="1" lang="en-US" sz="1800"/>
              <a:t>x</a:t>
            </a:r>
            <a:r>
              <a:rPr baseline="30000" lang="en-US" sz="1800"/>
              <a:t>(</a:t>
            </a:r>
            <a:r>
              <a:rPr baseline="30000" i="1" lang="en-US" sz="1800"/>
              <a:t>t</a:t>
            </a:r>
            <a:r>
              <a:rPr baseline="30000" lang="en-US" sz="1800"/>
              <a:t>)</a:t>
            </a:r>
            <a:r>
              <a:rPr lang="en-US" sz="1800"/>
              <a:t>) which is not necessarily symmetric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Compute the importance ratio:</a:t>
            </a:r>
            <a:endParaRPr i="1"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With probability min(</a:t>
            </a:r>
            <a:r>
              <a:rPr i="1" lang="en-US" sz="1800"/>
              <a:t>r</a:t>
            </a:r>
            <a:r>
              <a:rPr lang="en-US" sz="1800"/>
              <a:t>,1) transition to x*, otherwise stay in the same state </a:t>
            </a:r>
            <a:r>
              <a:rPr i="1" lang="en-US" sz="1800"/>
              <a:t>x</a:t>
            </a:r>
            <a:r>
              <a:rPr baseline="30000" i="1" lang="en-US" sz="1800"/>
              <a:t>(t)</a:t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pic>
        <p:nvPicPr>
          <p:cNvPr id="855" name="Google Shape;85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4538" y="4138613"/>
            <a:ext cx="2189162" cy="738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MH convergence</a:t>
            </a:r>
            <a:endParaRPr/>
          </a:p>
        </p:txBody>
      </p:sp>
      <p:sp>
        <p:nvSpPr>
          <p:cNvPr id="861" name="Google Shape;861;p29"/>
          <p:cNvSpPr txBox="1"/>
          <p:nvPr>
            <p:ph idx="1" type="body"/>
          </p:nvPr>
        </p:nvSpPr>
        <p:spPr>
          <a:xfrm>
            <a:off x="217488" y="1466850"/>
            <a:ext cx="8926512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Claim: The Metropolis-Hastings algorithm converges to the target distribution p(</a:t>
            </a:r>
            <a:r>
              <a:rPr i="1" lang="en-US"/>
              <a:t>x</a:t>
            </a:r>
            <a:r>
              <a:rPr lang="en-US"/>
              <a:t>).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Proof: It satisfies detailed balance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	For all </a:t>
            </a:r>
            <a:r>
              <a:rPr i="1" lang="en-US" sz="2400"/>
              <a:t>x</a:t>
            </a:r>
            <a:r>
              <a:rPr lang="en-US" sz="2400"/>
              <a:t>,</a:t>
            </a:r>
            <a:r>
              <a:rPr i="1" lang="en-US" sz="2400"/>
              <a:t>y</a:t>
            </a:r>
            <a:r>
              <a:rPr lang="en-US" sz="2400"/>
              <a:t> in </a:t>
            </a:r>
            <a:r>
              <a:rPr b="1" i="1" lang="en-US" sz="2400"/>
              <a:t>X</a:t>
            </a:r>
            <a:r>
              <a:rPr lang="en-US" sz="2400"/>
              <a:t>, wlog assume p(</a:t>
            </a:r>
            <a:r>
              <a:rPr i="1" lang="en-US" sz="2400"/>
              <a:t>x</a:t>
            </a:r>
            <a:r>
              <a:rPr lang="en-US" sz="2400"/>
              <a:t>)q(</a:t>
            </a:r>
            <a:r>
              <a:rPr i="1" lang="en-US" sz="2400"/>
              <a:t>y</a:t>
            </a:r>
            <a:r>
              <a:rPr lang="en-US" sz="2400"/>
              <a:t>|</a:t>
            </a:r>
            <a:r>
              <a:rPr i="1" lang="en-US" sz="2400"/>
              <a:t>x</a:t>
            </a:r>
            <a:r>
              <a:rPr lang="en-US" sz="2400"/>
              <a:t>)&lt;p(</a:t>
            </a:r>
            <a:r>
              <a:rPr i="1" lang="en-US" sz="2400"/>
              <a:t>y</a:t>
            </a:r>
            <a:r>
              <a:rPr lang="en-US" sz="2400"/>
              <a:t>)q(</a:t>
            </a:r>
            <a:r>
              <a:rPr i="1" lang="en-US" sz="2400"/>
              <a:t>x</a:t>
            </a:r>
            <a:r>
              <a:rPr lang="en-US" sz="2400"/>
              <a:t>|</a:t>
            </a:r>
            <a:r>
              <a:rPr i="1" lang="en-US" sz="2400"/>
              <a:t>y</a:t>
            </a:r>
            <a:r>
              <a:rPr lang="en-US" sz="2400"/>
              <a:t>), then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Hence: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i="1"/>
          </a:p>
        </p:txBody>
      </p:sp>
      <p:pic>
        <p:nvPicPr>
          <p:cNvPr id="862" name="Google Shape;86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8363" y="4962525"/>
            <a:ext cx="6638925" cy="1741488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29"/>
          <p:cNvSpPr txBox="1"/>
          <p:nvPr/>
        </p:nvSpPr>
        <p:spPr>
          <a:xfrm>
            <a:off x="2703513" y="3562350"/>
            <a:ext cx="5697537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763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candidate is always accepted, since r = 1</a:t>
            </a:r>
            <a:endParaRPr/>
          </a:p>
        </p:txBody>
      </p:sp>
      <p:sp>
        <p:nvSpPr>
          <p:cNvPr id="864" name="Google Shape;864;p29"/>
          <p:cNvSpPr txBox="1"/>
          <p:nvPr/>
        </p:nvSpPr>
        <p:spPr>
          <a:xfrm>
            <a:off x="4233863" y="4154488"/>
            <a:ext cx="42021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Since,  w generate x with prob q(x|y) and accept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with prob  r = the ratio &lt; 1.</a:t>
            </a:r>
            <a:endParaRPr/>
          </a:p>
        </p:txBody>
      </p:sp>
      <p:pic>
        <p:nvPicPr>
          <p:cNvPr id="865" name="Google Shape;86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3581400"/>
            <a:ext cx="3757613" cy="127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Gibbs sampling</a:t>
            </a:r>
            <a:endParaRPr/>
          </a:p>
        </p:txBody>
      </p:sp>
      <p:sp>
        <p:nvSpPr>
          <p:cNvPr id="871" name="Google Shape;871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A special case of Metropolis-Hastings which is applicable to state spaces in which we have a factored state space, and access to the full conditionals: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Perfect for Bayesian networks!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Idea: To transition from one state (variable assignment) to another,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Pick a variable,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Sample its value from the conditional distribution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That’s it!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We’ll show in a minute why this is an instance of MH and thus must be sampling from the full joint</a:t>
            </a:r>
            <a:endParaRPr/>
          </a:p>
        </p:txBody>
      </p:sp>
      <p:pic>
        <p:nvPicPr>
          <p:cNvPr id="872" name="Google Shape;87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7875" y="2263775"/>
            <a:ext cx="3670300" cy="5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Markov blanket</a:t>
            </a:r>
            <a:endParaRPr/>
          </a:p>
        </p:txBody>
      </p:sp>
      <p:sp>
        <p:nvSpPr>
          <p:cNvPr id="878" name="Google Shape;878;p31"/>
          <p:cNvSpPr txBox="1"/>
          <p:nvPr>
            <p:ph idx="1" type="body"/>
          </p:nvPr>
        </p:nvSpPr>
        <p:spPr>
          <a:xfrm>
            <a:off x="685800" y="1752600"/>
            <a:ext cx="38862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Recall that Bayesian networks encode a factored representation of the joint distribution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Variables are independent of their non-descendents given their parents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Variables are independent of </a:t>
            </a:r>
            <a:r>
              <a:rPr i="1" lang="en-US" sz="2000"/>
              <a:t>everything else in the network </a:t>
            </a:r>
            <a:r>
              <a:rPr lang="en-US" sz="2000"/>
              <a:t>given their </a:t>
            </a:r>
            <a:r>
              <a:rPr i="1" lang="en-US" sz="2000"/>
              <a:t>Markov blanket</a:t>
            </a:r>
            <a:r>
              <a:rPr lang="en-US" sz="2000"/>
              <a:t>!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So, to sample each node, we only need to condition its Markov blanket</a:t>
            </a:r>
            <a:endParaRPr/>
          </a:p>
        </p:txBody>
      </p:sp>
      <p:pic>
        <p:nvPicPr>
          <p:cNvPr id="879" name="Google Shape;87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6248400"/>
            <a:ext cx="1727200" cy="447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0" name="Google Shape;880;p31"/>
          <p:cNvGrpSpPr/>
          <p:nvPr/>
        </p:nvGrpSpPr>
        <p:grpSpPr>
          <a:xfrm>
            <a:off x="5029200" y="1600200"/>
            <a:ext cx="3276600" cy="4724400"/>
            <a:chOff x="3168" y="1008"/>
            <a:chExt cx="2064" cy="2976"/>
          </a:xfrm>
        </p:grpSpPr>
        <p:sp>
          <p:nvSpPr>
            <p:cNvPr id="881" name="Google Shape;881;p31"/>
            <p:cNvSpPr/>
            <p:nvPr/>
          </p:nvSpPr>
          <p:spPr>
            <a:xfrm>
              <a:off x="3792" y="1824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882" name="Google Shape;882;p31"/>
            <p:cNvSpPr/>
            <p:nvPr/>
          </p:nvSpPr>
          <p:spPr>
            <a:xfrm>
              <a:off x="4080" y="2352"/>
              <a:ext cx="288" cy="288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883" name="Google Shape;883;p31"/>
            <p:cNvSpPr/>
            <p:nvPr/>
          </p:nvSpPr>
          <p:spPr>
            <a:xfrm>
              <a:off x="4368" y="1824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884" name="Google Shape;884;p31"/>
            <p:cNvSpPr/>
            <p:nvPr/>
          </p:nvSpPr>
          <p:spPr>
            <a:xfrm>
              <a:off x="4656" y="2352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885" name="Google Shape;885;p31"/>
            <p:cNvSpPr/>
            <p:nvPr/>
          </p:nvSpPr>
          <p:spPr>
            <a:xfrm>
              <a:off x="3648" y="1008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886" name="Google Shape;886;p31"/>
            <p:cNvSpPr/>
            <p:nvPr/>
          </p:nvSpPr>
          <p:spPr>
            <a:xfrm>
              <a:off x="3802" y="2880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887" name="Google Shape;887;p31"/>
            <p:cNvSpPr/>
            <p:nvPr/>
          </p:nvSpPr>
          <p:spPr>
            <a:xfrm>
              <a:off x="4368" y="2880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888" name="Google Shape;888;p31"/>
            <p:cNvSpPr/>
            <p:nvPr/>
          </p:nvSpPr>
          <p:spPr>
            <a:xfrm>
              <a:off x="3648" y="3696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889" name="Google Shape;889;p31"/>
            <p:cNvSpPr/>
            <p:nvPr/>
          </p:nvSpPr>
          <p:spPr>
            <a:xfrm>
              <a:off x="4512" y="3696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890" name="Google Shape;890;p31"/>
            <p:cNvCxnSpPr>
              <a:stCxn id="881" idx="4"/>
              <a:endCxn id="882" idx="0"/>
            </p:cNvCxnSpPr>
            <p:nvPr/>
          </p:nvCxnSpPr>
          <p:spPr>
            <a:xfrm>
              <a:off x="3936" y="2112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91" name="Google Shape;891;p31"/>
            <p:cNvCxnSpPr>
              <a:stCxn id="883" idx="4"/>
              <a:endCxn id="882" idx="0"/>
            </p:cNvCxnSpPr>
            <p:nvPr/>
          </p:nvCxnSpPr>
          <p:spPr>
            <a:xfrm flipH="1">
              <a:off x="4212" y="2112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92" name="Google Shape;892;p31"/>
            <p:cNvCxnSpPr>
              <a:stCxn id="885" idx="4"/>
              <a:endCxn id="881" idx="0"/>
            </p:cNvCxnSpPr>
            <p:nvPr/>
          </p:nvCxnSpPr>
          <p:spPr>
            <a:xfrm>
              <a:off x="3792" y="1296"/>
              <a:ext cx="0" cy="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cxnSp>
          <p:nvCxnSpPr>
            <p:cNvPr id="893" name="Google Shape;893;p31"/>
            <p:cNvCxnSpPr>
              <a:stCxn id="882" idx="4"/>
              <a:endCxn id="886" idx="0"/>
            </p:cNvCxnSpPr>
            <p:nvPr/>
          </p:nvCxnSpPr>
          <p:spPr>
            <a:xfrm flipH="1">
              <a:off x="3924" y="2640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94" name="Google Shape;894;p31"/>
            <p:cNvCxnSpPr>
              <a:stCxn id="882" idx="4"/>
              <a:endCxn id="887" idx="0"/>
            </p:cNvCxnSpPr>
            <p:nvPr/>
          </p:nvCxnSpPr>
          <p:spPr>
            <a:xfrm>
              <a:off x="4224" y="2640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95" name="Google Shape;895;p31"/>
            <p:cNvCxnSpPr>
              <a:stCxn id="884" idx="4"/>
              <a:endCxn id="887" idx="0"/>
            </p:cNvCxnSpPr>
            <p:nvPr/>
          </p:nvCxnSpPr>
          <p:spPr>
            <a:xfrm flipH="1">
              <a:off x="4500" y="2640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96" name="Google Shape;896;p31"/>
            <p:cNvCxnSpPr>
              <a:stCxn id="887" idx="4"/>
              <a:endCxn id="889" idx="0"/>
            </p:cNvCxnSpPr>
            <p:nvPr/>
          </p:nvCxnSpPr>
          <p:spPr>
            <a:xfrm>
              <a:off x="4512" y="3168"/>
              <a:ext cx="0" cy="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sp>
          <p:nvSpPr>
            <p:cNvPr id="897" name="Google Shape;897;p31"/>
            <p:cNvSpPr/>
            <p:nvPr/>
          </p:nvSpPr>
          <p:spPr>
            <a:xfrm>
              <a:off x="4512" y="1008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898" name="Google Shape;898;p31"/>
            <p:cNvCxnSpPr>
              <a:stCxn id="897" idx="4"/>
              <a:endCxn id="883" idx="0"/>
            </p:cNvCxnSpPr>
            <p:nvPr/>
          </p:nvCxnSpPr>
          <p:spPr>
            <a:xfrm>
              <a:off x="4656" y="1296"/>
              <a:ext cx="0" cy="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sp>
          <p:nvSpPr>
            <p:cNvPr id="899" name="Google Shape;899;p31"/>
            <p:cNvSpPr/>
            <p:nvPr/>
          </p:nvSpPr>
          <p:spPr>
            <a:xfrm>
              <a:off x="3504" y="2352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900" name="Google Shape;900;p31"/>
            <p:cNvCxnSpPr>
              <a:stCxn id="899" idx="4"/>
              <a:endCxn id="886" idx="0"/>
            </p:cNvCxnSpPr>
            <p:nvPr/>
          </p:nvCxnSpPr>
          <p:spPr>
            <a:xfrm>
              <a:off x="3648" y="2640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01" name="Google Shape;901;p31"/>
            <p:cNvCxnSpPr>
              <a:stCxn id="886" idx="4"/>
              <a:endCxn id="888" idx="0"/>
            </p:cNvCxnSpPr>
            <p:nvPr/>
          </p:nvCxnSpPr>
          <p:spPr>
            <a:xfrm flipH="1">
              <a:off x="3646" y="3168"/>
              <a:ext cx="300" cy="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sp>
          <p:nvSpPr>
            <p:cNvPr id="902" name="Google Shape;902;p31"/>
            <p:cNvSpPr/>
            <p:nvPr/>
          </p:nvSpPr>
          <p:spPr>
            <a:xfrm>
              <a:off x="3216" y="1824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903" name="Google Shape;903;p31"/>
            <p:cNvSpPr/>
            <p:nvPr/>
          </p:nvSpPr>
          <p:spPr>
            <a:xfrm>
              <a:off x="4944" y="1824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904" name="Google Shape;904;p31"/>
            <p:cNvCxnSpPr>
              <a:stCxn id="903" idx="4"/>
              <a:endCxn id="884" idx="0"/>
            </p:cNvCxnSpPr>
            <p:nvPr/>
          </p:nvCxnSpPr>
          <p:spPr>
            <a:xfrm flipH="1">
              <a:off x="4788" y="2112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cxnSp>
          <p:nvCxnSpPr>
            <p:cNvPr id="905" name="Google Shape;905;p31"/>
            <p:cNvCxnSpPr>
              <a:stCxn id="902" idx="4"/>
              <a:endCxn id="899" idx="0"/>
            </p:cNvCxnSpPr>
            <p:nvPr/>
          </p:nvCxnSpPr>
          <p:spPr>
            <a:xfrm>
              <a:off x="3360" y="2112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sp>
          <p:nvSpPr>
            <p:cNvPr id="906" name="Google Shape;906;p31"/>
            <p:cNvSpPr/>
            <p:nvPr/>
          </p:nvSpPr>
          <p:spPr>
            <a:xfrm>
              <a:off x="3168" y="2880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907" name="Google Shape;907;p31"/>
            <p:cNvSpPr/>
            <p:nvPr/>
          </p:nvSpPr>
          <p:spPr>
            <a:xfrm>
              <a:off x="4896" y="2880"/>
              <a:ext cx="288" cy="288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908" name="Google Shape;908;p31"/>
            <p:cNvCxnSpPr>
              <a:stCxn id="899" idx="4"/>
              <a:endCxn id="906" idx="0"/>
            </p:cNvCxnSpPr>
            <p:nvPr/>
          </p:nvCxnSpPr>
          <p:spPr>
            <a:xfrm flipH="1">
              <a:off x="3348" y="2640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cxnSp>
          <p:nvCxnSpPr>
            <p:cNvPr id="909" name="Google Shape;909;p31"/>
            <p:cNvCxnSpPr>
              <a:stCxn id="884" idx="4"/>
              <a:endCxn id="907" idx="0"/>
            </p:cNvCxnSpPr>
            <p:nvPr/>
          </p:nvCxnSpPr>
          <p:spPr>
            <a:xfrm>
              <a:off x="4800" y="2640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10" name="Google Shape;910;p31"/>
          <p:cNvGrpSpPr/>
          <p:nvPr/>
        </p:nvGrpSpPr>
        <p:grpSpPr>
          <a:xfrm>
            <a:off x="6019800" y="2895600"/>
            <a:ext cx="1371600" cy="457200"/>
            <a:chOff x="6240" y="1824"/>
            <a:chExt cx="864" cy="288"/>
          </a:xfrm>
        </p:grpSpPr>
        <p:sp>
          <p:nvSpPr>
            <p:cNvPr id="911" name="Google Shape;911;p31"/>
            <p:cNvSpPr/>
            <p:nvPr/>
          </p:nvSpPr>
          <p:spPr>
            <a:xfrm>
              <a:off x="6240" y="1824"/>
              <a:ext cx="288" cy="288"/>
            </a:xfrm>
            <a:prstGeom prst="ellipse">
              <a:avLst/>
            </a:prstGeom>
            <a:solidFill>
              <a:srgbClr val="33CC3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912" name="Google Shape;912;p31"/>
            <p:cNvSpPr/>
            <p:nvPr/>
          </p:nvSpPr>
          <p:spPr>
            <a:xfrm>
              <a:off x="6816" y="1824"/>
              <a:ext cx="288" cy="288"/>
            </a:xfrm>
            <a:prstGeom prst="ellipse">
              <a:avLst/>
            </a:prstGeom>
            <a:solidFill>
              <a:srgbClr val="33CC3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913" name="Google Shape;913;p31"/>
          <p:cNvGrpSpPr/>
          <p:nvPr/>
        </p:nvGrpSpPr>
        <p:grpSpPr>
          <a:xfrm>
            <a:off x="5029200" y="1600200"/>
            <a:ext cx="3276600" cy="3429000"/>
            <a:chOff x="5616" y="1008"/>
            <a:chExt cx="2064" cy="2160"/>
          </a:xfrm>
        </p:grpSpPr>
        <p:sp>
          <p:nvSpPr>
            <p:cNvPr id="914" name="Google Shape;914;p31"/>
            <p:cNvSpPr/>
            <p:nvPr/>
          </p:nvSpPr>
          <p:spPr>
            <a:xfrm>
              <a:off x="7104" y="2352"/>
              <a:ext cx="288" cy="288"/>
            </a:xfrm>
            <a:prstGeom prst="ellipse">
              <a:avLst/>
            </a:prstGeom>
            <a:solidFill>
              <a:srgbClr val="CC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915" name="Google Shape;915;p31"/>
            <p:cNvSpPr/>
            <p:nvPr/>
          </p:nvSpPr>
          <p:spPr>
            <a:xfrm>
              <a:off x="6096" y="1008"/>
              <a:ext cx="288" cy="288"/>
            </a:xfrm>
            <a:prstGeom prst="ellipse">
              <a:avLst/>
            </a:prstGeom>
            <a:solidFill>
              <a:srgbClr val="CC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916" name="Google Shape;916;p31"/>
            <p:cNvSpPr/>
            <p:nvPr/>
          </p:nvSpPr>
          <p:spPr>
            <a:xfrm>
              <a:off x="6960" y="1008"/>
              <a:ext cx="288" cy="288"/>
            </a:xfrm>
            <a:prstGeom prst="ellipse">
              <a:avLst/>
            </a:prstGeom>
            <a:solidFill>
              <a:srgbClr val="CC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917" name="Google Shape;917;p31"/>
            <p:cNvSpPr/>
            <p:nvPr/>
          </p:nvSpPr>
          <p:spPr>
            <a:xfrm>
              <a:off x="5952" y="2352"/>
              <a:ext cx="288" cy="288"/>
            </a:xfrm>
            <a:prstGeom prst="ellipse">
              <a:avLst/>
            </a:prstGeom>
            <a:solidFill>
              <a:srgbClr val="CC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918" name="Google Shape;918;p31"/>
            <p:cNvSpPr/>
            <p:nvPr/>
          </p:nvSpPr>
          <p:spPr>
            <a:xfrm>
              <a:off x="5664" y="1824"/>
              <a:ext cx="288" cy="288"/>
            </a:xfrm>
            <a:prstGeom prst="ellipse">
              <a:avLst/>
            </a:prstGeom>
            <a:solidFill>
              <a:srgbClr val="CC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919" name="Google Shape;919;p31"/>
            <p:cNvSpPr/>
            <p:nvPr/>
          </p:nvSpPr>
          <p:spPr>
            <a:xfrm>
              <a:off x="7392" y="1824"/>
              <a:ext cx="288" cy="288"/>
            </a:xfrm>
            <a:prstGeom prst="ellipse">
              <a:avLst/>
            </a:prstGeom>
            <a:solidFill>
              <a:srgbClr val="CC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920" name="Google Shape;920;p31"/>
            <p:cNvSpPr/>
            <p:nvPr/>
          </p:nvSpPr>
          <p:spPr>
            <a:xfrm>
              <a:off x="5616" y="2880"/>
              <a:ext cx="288" cy="288"/>
            </a:xfrm>
            <a:prstGeom prst="ellipse">
              <a:avLst/>
            </a:prstGeom>
            <a:solidFill>
              <a:srgbClr val="CC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921" name="Google Shape;921;p31"/>
            <p:cNvSpPr/>
            <p:nvPr/>
          </p:nvSpPr>
          <p:spPr>
            <a:xfrm>
              <a:off x="7344" y="2880"/>
              <a:ext cx="288" cy="288"/>
            </a:xfrm>
            <a:prstGeom prst="ellipse">
              <a:avLst/>
            </a:prstGeom>
            <a:solidFill>
              <a:srgbClr val="CC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922" name="Google Shape;922;p31"/>
          <p:cNvGrpSpPr/>
          <p:nvPr/>
        </p:nvGrpSpPr>
        <p:grpSpPr>
          <a:xfrm>
            <a:off x="5562600" y="2895600"/>
            <a:ext cx="2286000" cy="2133600"/>
            <a:chOff x="720" y="1824"/>
            <a:chExt cx="1440" cy="1344"/>
          </a:xfrm>
        </p:grpSpPr>
        <p:sp>
          <p:nvSpPr>
            <p:cNvPr id="923" name="Google Shape;923;p31"/>
            <p:cNvSpPr/>
            <p:nvPr/>
          </p:nvSpPr>
          <p:spPr>
            <a:xfrm>
              <a:off x="1008" y="1824"/>
              <a:ext cx="288" cy="288"/>
            </a:xfrm>
            <a:prstGeom prst="ellipse">
              <a:avLst/>
            </a:prstGeom>
            <a:solidFill>
              <a:srgbClr val="33CC3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924" name="Google Shape;924;p31"/>
            <p:cNvSpPr/>
            <p:nvPr/>
          </p:nvSpPr>
          <p:spPr>
            <a:xfrm>
              <a:off x="1584" y="1824"/>
              <a:ext cx="288" cy="288"/>
            </a:xfrm>
            <a:prstGeom prst="ellipse">
              <a:avLst/>
            </a:prstGeom>
            <a:solidFill>
              <a:srgbClr val="33CC3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925" name="Google Shape;925;p31"/>
            <p:cNvSpPr/>
            <p:nvPr/>
          </p:nvSpPr>
          <p:spPr>
            <a:xfrm>
              <a:off x="1872" y="2352"/>
              <a:ext cx="288" cy="288"/>
            </a:xfrm>
            <a:prstGeom prst="ellipse">
              <a:avLst/>
            </a:prstGeom>
            <a:solidFill>
              <a:srgbClr val="33CC3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926" name="Google Shape;926;p31"/>
            <p:cNvSpPr/>
            <p:nvPr/>
          </p:nvSpPr>
          <p:spPr>
            <a:xfrm>
              <a:off x="1018" y="2880"/>
              <a:ext cx="288" cy="288"/>
            </a:xfrm>
            <a:prstGeom prst="ellipse">
              <a:avLst/>
            </a:prstGeom>
            <a:solidFill>
              <a:srgbClr val="33CC3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927" name="Google Shape;927;p31"/>
            <p:cNvSpPr/>
            <p:nvPr/>
          </p:nvSpPr>
          <p:spPr>
            <a:xfrm>
              <a:off x="1584" y="2880"/>
              <a:ext cx="288" cy="288"/>
            </a:xfrm>
            <a:prstGeom prst="ellipse">
              <a:avLst/>
            </a:prstGeom>
            <a:solidFill>
              <a:srgbClr val="33CC3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928" name="Google Shape;928;p31"/>
            <p:cNvSpPr/>
            <p:nvPr/>
          </p:nvSpPr>
          <p:spPr>
            <a:xfrm>
              <a:off x="720" y="2352"/>
              <a:ext cx="288" cy="288"/>
            </a:xfrm>
            <a:prstGeom prst="ellipse">
              <a:avLst/>
            </a:prstGeom>
            <a:solidFill>
              <a:srgbClr val="33CC3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929" name="Google Shape;929;p31"/>
          <p:cNvGrpSpPr/>
          <p:nvPr/>
        </p:nvGrpSpPr>
        <p:grpSpPr>
          <a:xfrm>
            <a:off x="5029200" y="1600200"/>
            <a:ext cx="3276600" cy="4724400"/>
            <a:chOff x="384" y="1008"/>
            <a:chExt cx="2064" cy="2976"/>
          </a:xfrm>
        </p:grpSpPr>
        <p:sp>
          <p:nvSpPr>
            <p:cNvPr id="930" name="Google Shape;930;p31"/>
            <p:cNvSpPr/>
            <p:nvPr/>
          </p:nvSpPr>
          <p:spPr>
            <a:xfrm>
              <a:off x="864" y="1008"/>
              <a:ext cx="288" cy="288"/>
            </a:xfrm>
            <a:prstGeom prst="ellipse">
              <a:avLst/>
            </a:prstGeom>
            <a:solidFill>
              <a:srgbClr val="CC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931" name="Google Shape;931;p31"/>
            <p:cNvSpPr/>
            <p:nvPr/>
          </p:nvSpPr>
          <p:spPr>
            <a:xfrm>
              <a:off x="864" y="3696"/>
              <a:ext cx="288" cy="288"/>
            </a:xfrm>
            <a:prstGeom prst="ellipse">
              <a:avLst/>
            </a:prstGeom>
            <a:solidFill>
              <a:srgbClr val="CC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932" name="Google Shape;932;p31"/>
            <p:cNvSpPr/>
            <p:nvPr/>
          </p:nvSpPr>
          <p:spPr>
            <a:xfrm>
              <a:off x="1728" y="3696"/>
              <a:ext cx="288" cy="288"/>
            </a:xfrm>
            <a:prstGeom prst="ellipse">
              <a:avLst/>
            </a:prstGeom>
            <a:solidFill>
              <a:srgbClr val="CC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933" name="Google Shape;933;p31"/>
            <p:cNvSpPr/>
            <p:nvPr/>
          </p:nvSpPr>
          <p:spPr>
            <a:xfrm>
              <a:off x="1728" y="1008"/>
              <a:ext cx="288" cy="288"/>
            </a:xfrm>
            <a:prstGeom prst="ellipse">
              <a:avLst/>
            </a:prstGeom>
            <a:solidFill>
              <a:srgbClr val="CC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934" name="Google Shape;934;p31"/>
            <p:cNvSpPr/>
            <p:nvPr/>
          </p:nvSpPr>
          <p:spPr>
            <a:xfrm>
              <a:off x="432" y="1824"/>
              <a:ext cx="288" cy="288"/>
            </a:xfrm>
            <a:prstGeom prst="ellipse">
              <a:avLst/>
            </a:prstGeom>
            <a:solidFill>
              <a:srgbClr val="CC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935" name="Google Shape;935;p31"/>
            <p:cNvSpPr/>
            <p:nvPr/>
          </p:nvSpPr>
          <p:spPr>
            <a:xfrm>
              <a:off x="2160" y="1824"/>
              <a:ext cx="288" cy="288"/>
            </a:xfrm>
            <a:prstGeom prst="ellipse">
              <a:avLst/>
            </a:prstGeom>
            <a:solidFill>
              <a:srgbClr val="CC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936" name="Google Shape;936;p31"/>
            <p:cNvSpPr/>
            <p:nvPr/>
          </p:nvSpPr>
          <p:spPr>
            <a:xfrm>
              <a:off x="384" y="2880"/>
              <a:ext cx="288" cy="288"/>
            </a:xfrm>
            <a:prstGeom prst="ellipse">
              <a:avLst/>
            </a:prstGeom>
            <a:solidFill>
              <a:srgbClr val="CC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937" name="Google Shape;937;p31"/>
            <p:cNvSpPr/>
            <p:nvPr/>
          </p:nvSpPr>
          <p:spPr>
            <a:xfrm>
              <a:off x="2112" y="2880"/>
              <a:ext cx="288" cy="288"/>
            </a:xfrm>
            <a:prstGeom prst="ellipse">
              <a:avLst/>
            </a:prstGeom>
            <a:solidFill>
              <a:srgbClr val="CC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Gibbs sampling</a:t>
            </a:r>
            <a:endParaRPr/>
          </a:p>
        </p:txBody>
      </p:sp>
      <p:sp>
        <p:nvSpPr>
          <p:cNvPr id="943" name="Google Shape;943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More formally, the proposal distribution is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importance ratio is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So we always accept!</a:t>
            </a:r>
            <a:endParaRPr/>
          </a:p>
        </p:txBody>
      </p:sp>
      <p:grpSp>
        <p:nvGrpSpPr>
          <p:cNvPr id="944" name="Google Shape;944;p32"/>
          <p:cNvGrpSpPr/>
          <p:nvPr/>
        </p:nvGrpSpPr>
        <p:grpSpPr>
          <a:xfrm>
            <a:off x="2743200" y="2209800"/>
            <a:ext cx="3851275" cy="714375"/>
            <a:chOff x="1728" y="1392"/>
            <a:chExt cx="2426" cy="450"/>
          </a:xfrm>
        </p:grpSpPr>
        <p:pic>
          <p:nvPicPr>
            <p:cNvPr id="945" name="Google Shape;945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28" y="1410"/>
              <a:ext cx="815" cy="2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6" name="Google Shape;946;p32"/>
            <p:cNvSpPr/>
            <p:nvPr/>
          </p:nvSpPr>
          <p:spPr>
            <a:xfrm>
              <a:off x="2592" y="1458"/>
              <a:ext cx="96" cy="384"/>
            </a:xfrm>
            <a:prstGeom prst="leftBrace">
              <a:avLst>
                <a:gd fmla="val 33333" name="adj1"/>
                <a:gd fmla="val 20088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pic>
          <p:nvPicPr>
            <p:cNvPr id="947" name="Google Shape;947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59" y="1392"/>
              <a:ext cx="708" cy="2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8" name="Google Shape;948;p32"/>
            <p:cNvSpPr txBox="1"/>
            <p:nvPr/>
          </p:nvSpPr>
          <p:spPr>
            <a:xfrm>
              <a:off x="3504" y="1440"/>
              <a:ext cx="650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if x*</a:t>
              </a:r>
              <a:r>
                <a:rPr baseline="-25000" lang="en-US" sz="14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-j</a:t>
              </a:r>
              <a:r>
                <a:rPr lang="en-US" sz="14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=x</a:t>
              </a:r>
              <a:r>
                <a:rPr baseline="30000" lang="en-US" sz="14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(t)</a:t>
              </a:r>
              <a:r>
                <a:rPr baseline="-25000" lang="en-US" sz="14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-j</a:t>
              </a:r>
              <a:endParaRPr/>
            </a:p>
          </p:txBody>
        </p:sp>
        <p:pic>
          <p:nvPicPr>
            <p:cNvPr id="949" name="Google Shape;949;p3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784" y="1655"/>
              <a:ext cx="134" cy="1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0" name="Google Shape;950;p32"/>
            <p:cNvSpPr txBox="1"/>
            <p:nvPr/>
          </p:nvSpPr>
          <p:spPr>
            <a:xfrm>
              <a:off x="3504" y="1643"/>
              <a:ext cx="642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otherwise</a:t>
              </a:r>
              <a:endParaRPr baseline="-25000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pic>
        <p:nvPicPr>
          <p:cNvPr id="951" name="Google Shape;951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27513" y="3228975"/>
            <a:ext cx="2782887" cy="3248025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32"/>
          <p:cNvSpPr txBox="1"/>
          <p:nvPr/>
        </p:nvSpPr>
        <p:spPr>
          <a:xfrm>
            <a:off x="7239000" y="4130675"/>
            <a:ext cx="1828800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763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Dfn of proposal distribution</a:t>
            </a:r>
            <a:endParaRPr baseline="-25000" sz="1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53" name="Google Shape;953;p32"/>
          <p:cNvSpPr txBox="1"/>
          <p:nvPr/>
        </p:nvSpPr>
        <p:spPr>
          <a:xfrm>
            <a:off x="7239000" y="4968875"/>
            <a:ext cx="1828800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763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Dfn of conditional probability</a:t>
            </a:r>
            <a:endParaRPr baseline="-25000" sz="1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54" name="Google Shape;954;p32"/>
          <p:cNvSpPr txBox="1"/>
          <p:nvPr/>
        </p:nvSpPr>
        <p:spPr>
          <a:xfrm>
            <a:off x="7239000" y="5715000"/>
            <a:ext cx="1828800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763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B/c we didn’t change other vars</a:t>
            </a:r>
            <a:endParaRPr baseline="-25000" sz="1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Practical issues</a:t>
            </a:r>
            <a:endParaRPr/>
          </a:p>
        </p:txBody>
      </p:sp>
      <p:sp>
        <p:nvSpPr>
          <p:cNvPr id="960" name="Google Shape;960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How many iterations?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How to know when to stop?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What’s a good proposal function?</a:t>
            </a:r>
            <a:endParaRPr/>
          </a:p>
        </p:txBody>
      </p:sp>
    </p:spTree>
  </p:cSld>
  <p:clrMapOvr>
    <a:masterClrMapping/>
  </p:clrMapOvr>
  <p:transition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Advanced Topics</a:t>
            </a:r>
            <a:endParaRPr/>
          </a:p>
        </p:txBody>
      </p:sp>
      <p:sp>
        <p:nvSpPr>
          <p:cNvPr id="966" name="Google Shape;966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Simulated annealing, for global optimization, is a form of MCMC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Mixtures of MCMC transition functions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Monte Carlo EM (stochastic E-step)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Reversible jump MCMC for model selection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Adaptive proposal distributions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1999-10-31T16:48:19Z</dcterms:created>
  <dc:creator>Ilan Gronau</dc:creator>
</cp:coreProperties>
</file>