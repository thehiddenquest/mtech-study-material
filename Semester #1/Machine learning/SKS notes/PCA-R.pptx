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F3C52-9BF4-6586-47F4-F81D6EB4A5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D47A1A-EE03-1F05-0F84-1C18B942C9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703718-0BF2-A39E-C1FE-A0CE44B73C5A}"/>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D489B84E-F13C-AB63-504E-4498B8ED2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9075F-380C-BA00-AD45-1754EE6CE48D}"/>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402544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3E87-A0FD-64A3-8544-561B08674D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13922C-C4CA-5CA8-7EF1-32997699B7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9881A-4A49-0429-D811-09665C47DB99}"/>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09A1ED64-6810-17A2-6767-E2727394F0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EC6FB-1B8E-7E09-8A6B-2FDA9CCF9BAE}"/>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125960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5CE2-980D-CEE2-AF30-DEF15A9CE6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37021B-A5DE-D204-5B24-D05E0BC3A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EC31F8-5701-26A5-1023-F413CBAFF04C}"/>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A4D34BA9-F20D-4410-7E17-76F337E0E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D003F2-BFD1-5A12-C26F-C1C36F1B6E3B}"/>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314403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93DD2-C2EF-4825-4CDC-DC9B8B8B3F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42D2D3-6219-2950-8960-726A39FC0F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96775A-07D0-9A9C-7D06-42C09FD059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95C29E-439F-18A4-ACAF-F04ADCBB4E6C}"/>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6" name="Footer Placeholder 5">
            <a:extLst>
              <a:ext uri="{FF2B5EF4-FFF2-40B4-BE49-F238E27FC236}">
                <a16:creationId xmlns:a16="http://schemas.microsoft.com/office/drawing/2014/main" id="{0F0CCB4D-7CD8-CE4D-1B5B-00AB89CB1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E9D63-9856-6F74-6517-3EB935A6F909}"/>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1993868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4E3D-5E79-BF00-3BCC-3E1E600F80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34A4B7-1E18-015F-B01E-67D10D7852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B2403A-1210-8334-08B8-4B9614D31E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8E4E32-C4EA-404B-BC8E-D52EB4F82B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5C142D-8E20-6B55-6E35-3970332E52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7A610D-9A90-BAEF-1185-39E15E4E201F}"/>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8" name="Footer Placeholder 7">
            <a:extLst>
              <a:ext uri="{FF2B5EF4-FFF2-40B4-BE49-F238E27FC236}">
                <a16:creationId xmlns:a16="http://schemas.microsoft.com/office/drawing/2014/main" id="{589D9CFB-6522-C172-3EE9-C6DDEED2E0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C98C97-BC68-83D5-0074-644ADF888F3B}"/>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3381660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E483E-8185-DBF1-1FF8-E14C5FC40D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3029F3-DDEA-60E9-0F29-98BF5AD5F591}"/>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4" name="Footer Placeholder 3">
            <a:extLst>
              <a:ext uri="{FF2B5EF4-FFF2-40B4-BE49-F238E27FC236}">
                <a16:creationId xmlns:a16="http://schemas.microsoft.com/office/drawing/2014/main" id="{9FC1D7E7-F94A-D7E2-D58E-8BCF6DC08D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625759-FDB5-83A4-C2A3-F3DD449854A7}"/>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541877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725BC8-EDDB-D2A9-49FA-F4C4C71BF8B6}"/>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3" name="Footer Placeholder 2">
            <a:extLst>
              <a:ext uri="{FF2B5EF4-FFF2-40B4-BE49-F238E27FC236}">
                <a16:creationId xmlns:a16="http://schemas.microsoft.com/office/drawing/2014/main" id="{516A9236-5461-3A75-110D-4FF5BAD23C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5D2733-3554-65E2-51BA-9300B9CAEE07}"/>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577315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07C9F-BA28-EA67-7B53-06E3A2A15A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A84854-5134-8E2F-79A4-2F5C693B88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558498-48E8-663A-B812-04BFD7BA0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BA0276-9104-2C97-466E-65D8CADD1DB3}"/>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6" name="Footer Placeholder 5">
            <a:extLst>
              <a:ext uri="{FF2B5EF4-FFF2-40B4-BE49-F238E27FC236}">
                <a16:creationId xmlns:a16="http://schemas.microsoft.com/office/drawing/2014/main" id="{A3204704-BACC-5554-6128-66E0569F8E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DADCE6-B6E4-07E2-CFB2-A1946FD2C3E0}"/>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3942064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CC76-9C0C-3394-946C-FB96C263FF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EEAABC-142C-1D4D-E0C5-0A7D660BB3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D51385-59A6-6DE3-9F50-CB582D400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321DD-B6A5-8468-93B5-2A6321F81002}"/>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6" name="Footer Placeholder 5">
            <a:extLst>
              <a:ext uri="{FF2B5EF4-FFF2-40B4-BE49-F238E27FC236}">
                <a16:creationId xmlns:a16="http://schemas.microsoft.com/office/drawing/2014/main" id="{2ABF44DF-4166-E8EA-B322-2A6C2EC277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3BF3A-A76A-3F9C-AE05-12BC5E41FCFE}"/>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3154264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77758-6FC1-0B09-4B07-7BD2B10038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D00582-2F58-7538-20B9-769EFAE2ED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C1DB5-EB82-1A36-08A0-03BAEAE239FA}"/>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991DFEA1-5CDD-16F2-1D3B-702658E5D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378AA-F59D-8B30-6EB6-3066C6060508}"/>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2743667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43B7E7-BA33-717E-DD3D-11D89C1354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349F37-415B-A543-691F-C87E979611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2C195-57D2-1CE0-EB63-C6E39E745D32}"/>
              </a:ext>
            </a:extLst>
          </p:cNvPr>
          <p:cNvSpPr>
            <a:spLocks noGrp="1"/>
          </p:cNvSpPr>
          <p:nvPr>
            <p:ph type="dt" sz="half" idx="10"/>
          </p:nvPr>
        </p:nvSpPr>
        <p:spPr/>
        <p:txBody>
          <a:body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D9207546-B944-6D84-7BFE-9C18368ED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1B090-A0E7-818E-C274-C13C27856F71}"/>
              </a:ext>
            </a:extLst>
          </p:cNvPr>
          <p:cNvSpPr>
            <a:spLocks noGrp="1"/>
          </p:cNvSpPr>
          <p:nvPr>
            <p:ph type="sldNum" sz="quarter" idx="12"/>
          </p:nvPr>
        </p:nvSpPr>
        <p:spPr/>
        <p:txBody>
          <a:bodyPr/>
          <a:lstStyle/>
          <a:p>
            <a:fld id="{2F0E98C1-57A5-4BE5-A5FE-642228C3A6B8}" type="slidenum">
              <a:rPr lang="en-US" smtClean="0"/>
              <a:t>‹#›</a:t>
            </a:fld>
            <a:endParaRPr lang="en-US"/>
          </a:p>
        </p:txBody>
      </p:sp>
    </p:spTree>
    <p:extLst>
      <p:ext uri="{BB962C8B-B14F-4D97-AF65-F5344CB8AC3E}">
        <p14:creationId xmlns:p14="http://schemas.microsoft.com/office/powerpoint/2010/main" val="678372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C7EFD1-9997-BF2F-D97C-13A9A1BDA9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4301DE-81BB-AC21-07DF-9888661648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B20743-AB04-75A0-4EFD-340BEBB2D6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AAB92-F167-4451-BD6B-C45BF11C810C}" type="datetimeFigureOut">
              <a:rPr lang="en-US" smtClean="0"/>
              <a:t>11/10/2025</a:t>
            </a:fld>
            <a:endParaRPr lang="en-US"/>
          </a:p>
        </p:txBody>
      </p:sp>
      <p:sp>
        <p:nvSpPr>
          <p:cNvPr id="5" name="Footer Placeholder 4">
            <a:extLst>
              <a:ext uri="{FF2B5EF4-FFF2-40B4-BE49-F238E27FC236}">
                <a16:creationId xmlns:a16="http://schemas.microsoft.com/office/drawing/2014/main" id="{F0541FD2-1190-9383-147F-6824AA9AA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FD7DFB-941F-EE53-D649-0F8F5B7CD1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E98C1-57A5-4BE5-A5FE-642228C3A6B8}" type="slidenum">
              <a:rPr lang="en-US" smtClean="0"/>
              <a:t>‹#›</a:t>
            </a:fld>
            <a:endParaRPr lang="en-US"/>
          </a:p>
        </p:txBody>
      </p:sp>
    </p:spTree>
    <p:extLst>
      <p:ext uri="{BB962C8B-B14F-4D97-AF65-F5344CB8AC3E}">
        <p14:creationId xmlns:p14="http://schemas.microsoft.com/office/powerpoint/2010/main" val="2118849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E975-9134-E4A7-8542-47F8A6FC8617}"/>
              </a:ext>
            </a:extLst>
          </p:cNvPr>
          <p:cNvSpPr>
            <a:spLocks noGrp="1"/>
          </p:cNvSpPr>
          <p:nvPr>
            <p:ph type="ctrTitle"/>
          </p:nvPr>
        </p:nvSpPr>
        <p:spPr/>
        <p:txBody>
          <a:bodyPr/>
          <a:lstStyle/>
          <a:p>
            <a:r>
              <a:rPr lang="en-GB" dirty="0"/>
              <a:t>PCA</a:t>
            </a:r>
            <a:endParaRPr lang="en-US" dirty="0"/>
          </a:p>
        </p:txBody>
      </p:sp>
      <p:sp>
        <p:nvSpPr>
          <p:cNvPr id="3" name="Subtitle 2">
            <a:extLst>
              <a:ext uri="{FF2B5EF4-FFF2-40B4-BE49-F238E27FC236}">
                <a16:creationId xmlns:a16="http://schemas.microsoft.com/office/drawing/2014/main" id="{EE34D15C-03B4-1681-40FB-E6C8540A23A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3570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2D53FF-D60F-83AE-9B48-3026BB93C80E}"/>
              </a:ext>
            </a:extLst>
          </p:cNvPr>
          <p:cNvSpPr txBox="1"/>
          <p:nvPr/>
        </p:nvSpPr>
        <p:spPr>
          <a:xfrm>
            <a:off x="483008" y="425329"/>
            <a:ext cx="11315701" cy="3763916"/>
          </a:xfrm>
          <a:prstGeom prst="rect">
            <a:avLst/>
          </a:prstGeom>
          <a:noFill/>
        </p:spPr>
        <p:txBody>
          <a:bodyPr wrap="square">
            <a:spAutoFit/>
          </a:bodyPr>
          <a:lstStyle/>
          <a:p>
            <a:pPr marL="0" marR="0" algn="just">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PCA (Principal Component Analysis)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is a dimensionality reduction technique that transforms data into a new coordinate system. The first coordinate (first principal component) accounts for the largest possible variance in the data, the second coordinate (second principal component) accounts for the second largest variance, and so on. It is commonly used for data visualization, noise reduction, and feature extraction.</a:t>
            </a:r>
          </a:p>
          <a:p>
            <a:pPr marL="0" marR="0" algn="just">
              <a:lnSpc>
                <a:spcPct val="115000"/>
              </a:lnSpc>
              <a:spcAft>
                <a:spcPts val="800"/>
              </a:spcAft>
              <a:buNone/>
            </a:pP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Aft>
                <a:spcPts val="800"/>
              </a:spcAft>
              <a:buNone/>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
        <p:nvSpPr>
          <p:cNvPr id="5" name="TextBox 4">
            <a:extLst>
              <a:ext uri="{FF2B5EF4-FFF2-40B4-BE49-F238E27FC236}">
                <a16:creationId xmlns:a16="http://schemas.microsoft.com/office/drawing/2014/main" id="{9E82595B-7854-49BF-9559-75CACC9CD7BA}"/>
              </a:ext>
            </a:extLst>
          </p:cNvPr>
          <p:cNvSpPr txBox="1"/>
          <p:nvPr/>
        </p:nvSpPr>
        <p:spPr>
          <a:xfrm>
            <a:off x="659990" y="2774097"/>
            <a:ext cx="11049002" cy="1010341"/>
          </a:xfrm>
          <a:prstGeom prst="rect">
            <a:avLst/>
          </a:prstGeom>
          <a:noFill/>
        </p:spPr>
        <p:txBody>
          <a:bodyPr wrap="square">
            <a:spAutoFit/>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It's used for:</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Data compression / Visualization / Noise reduction / Feature extraction</a:t>
            </a:r>
          </a:p>
        </p:txBody>
      </p:sp>
      <p:sp>
        <p:nvSpPr>
          <p:cNvPr id="7" name="TextBox 6">
            <a:extLst>
              <a:ext uri="{FF2B5EF4-FFF2-40B4-BE49-F238E27FC236}">
                <a16:creationId xmlns:a16="http://schemas.microsoft.com/office/drawing/2014/main" id="{7AE8844D-084E-C13B-3007-33223B1E9B1C}"/>
              </a:ext>
            </a:extLst>
          </p:cNvPr>
          <p:cNvSpPr txBox="1"/>
          <p:nvPr/>
        </p:nvSpPr>
        <p:spPr>
          <a:xfrm>
            <a:off x="659989" y="4189245"/>
            <a:ext cx="11138719" cy="1607171"/>
          </a:xfrm>
          <a:prstGeom prst="rect">
            <a:avLst/>
          </a:prstGeom>
          <a:noFill/>
        </p:spPr>
        <p:txBody>
          <a:bodyPr wrap="square">
            <a:spAutoFit/>
          </a:bodyPr>
          <a:lstStyle/>
          <a:p>
            <a:pPr marL="0" marR="0" algn="just">
              <a:lnSpc>
                <a:spcPts val="3000"/>
              </a:lnSpc>
              <a:spcBef>
                <a:spcPts val="2100"/>
              </a:spcBef>
              <a:spcAft>
                <a:spcPts val="1000"/>
              </a:spcAft>
              <a:buNone/>
            </a:pPr>
            <a:r>
              <a:rPr lang="en-US" sz="2400" b="1" i="1" spc="-10" dirty="0">
                <a:effectLst/>
                <a:latin typeface="Times New Roman" panose="02020603050405020304" pitchFamily="18" charset="0"/>
                <a:ea typeface="Times New Roman" panose="02020603050405020304" pitchFamily="18" charset="0"/>
                <a:cs typeface="Times New Roman" panose="02020603050405020304" pitchFamily="18" charset="0"/>
              </a:rPr>
              <a:t>Dimensionality Reduction</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means projecting data to a lower-dimensional space, which makes it easier for analyzing and visualizing data. However, the reduction of dimension requires a trade-off between accuracy (high dimensions) and interpretability (low dimensions).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00682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CCDB83-A052-CE1A-53CE-5634F66DDEF9}"/>
              </a:ext>
            </a:extLst>
          </p:cNvPr>
          <p:cNvSpPr txBox="1"/>
          <p:nvPr/>
        </p:nvSpPr>
        <p:spPr>
          <a:xfrm>
            <a:off x="1072945" y="822661"/>
            <a:ext cx="10165326" cy="2291718"/>
          </a:xfrm>
          <a:prstGeom prst="rect">
            <a:avLst/>
          </a:prstGeom>
          <a:noFill/>
        </p:spPr>
        <p:txBody>
          <a:bodyPr wrap="square">
            <a:spAutoFit/>
          </a:bodyPr>
          <a:lstStyle/>
          <a:p>
            <a:pPr marL="0" marR="0" algn="just">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What do we mean by components?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In PCA, "components" refer to the directions in the feature space along which the data has the maximum variance. Each component is a linear combination of the original features. The components are orthogonal (uncorrelated) and are ordered by the amount of variance they explain</a:t>
            </a:r>
            <a:endParaRPr lang="en-US" sz="2400" dirty="0"/>
          </a:p>
        </p:txBody>
      </p:sp>
    </p:spTree>
    <p:extLst>
      <p:ext uri="{BB962C8B-B14F-4D97-AF65-F5344CB8AC3E}">
        <p14:creationId xmlns:p14="http://schemas.microsoft.com/office/powerpoint/2010/main" val="8640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624387-207A-C37E-A0F8-E4FC82FAB9EE}"/>
              </a:ext>
            </a:extLst>
          </p:cNvPr>
          <p:cNvSpPr txBox="1"/>
          <p:nvPr/>
        </p:nvSpPr>
        <p:spPr>
          <a:xfrm>
            <a:off x="483010" y="359164"/>
            <a:ext cx="11241958" cy="5756256"/>
          </a:xfrm>
          <a:prstGeom prst="rect">
            <a:avLst/>
          </a:prstGeom>
          <a:noFill/>
        </p:spPr>
        <p:txBody>
          <a:bodyPr wrap="square">
            <a:spAutoFit/>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Key Concepts</a:t>
            </a:r>
          </a:p>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Principal Components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Direction vectors that capture the maximum variance in the data</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Orthogonal (perpendicular) to each other</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Ordered by the amount of variance they explain</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Linear combinations of original features</a:t>
            </a:r>
          </a:p>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Components refer to:</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New axes in the transformed space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Eigenvectors of the covariance matrix</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Directions of maximum variance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Building blocks that reconstruct the original data</a:t>
            </a:r>
          </a:p>
        </p:txBody>
      </p:sp>
    </p:spTree>
    <p:extLst>
      <p:ext uri="{BB962C8B-B14F-4D97-AF65-F5344CB8AC3E}">
        <p14:creationId xmlns:p14="http://schemas.microsoft.com/office/powerpoint/2010/main" val="4140757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863CAF-69A8-31CE-FEAB-9DF1079ED022}"/>
              </a:ext>
            </a:extLst>
          </p:cNvPr>
          <p:cNvSpPr txBox="1"/>
          <p:nvPr/>
        </p:nvSpPr>
        <p:spPr>
          <a:xfrm>
            <a:off x="453512" y="268496"/>
            <a:ext cx="11374693" cy="5668027"/>
          </a:xfrm>
          <a:prstGeom prst="rect">
            <a:avLst/>
          </a:prstGeom>
          <a:noFill/>
        </p:spPr>
        <p:txBody>
          <a:bodyPr wrap="square">
            <a:spAutoFit/>
          </a:bodyPr>
          <a:lstStyle/>
          <a:p>
            <a:pPr marL="0" marR="0">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Steps of PCA:</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Standardize the data</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If the features are on different scales, we standardize them to have mean 0 and variance 1.</a:t>
            </a:r>
          </a:p>
          <a:p>
            <a:pPr marL="342900" marR="0" lvl="0" indent="-342900">
              <a:lnSpc>
                <a:spcPct val="115000"/>
              </a:lnSpc>
              <a:spcAft>
                <a:spcPts val="800"/>
              </a:spcAft>
              <a:buFont typeface="+mj-lt"/>
              <a:buAutoNum type="arabicPeriod"/>
              <a:tabLst>
                <a:tab pos="457200" algn="l"/>
              </a:tabLs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Compute the covariance matrix</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This matrix captures the correlations between features.</a:t>
            </a:r>
          </a:p>
          <a:p>
            <a:pPr marL="342900" marR="0" lvl="0" indent="-342900">
              <a:lnSpc>
                <a:spcPct val="115000"/>
              </a:lnSpc>
              <a:spcAft>
                <a:spcPts val="800"/>
              </a:spcAft>
              <a:buFont typeface="+mj-lt"/>
              <a:buAutoNum type="arabicPeriod"/>
              <a:tabLst>
                <a:tab pos="457200" algn="l"/>
              </a:tabLs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Compute the eigenvalues and eigenvectors of the covariance matrix</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The eigenvectors represent the directions (components) and the eigenvalues represent the magnitude of the variance in those directions.</a:t>
            </a:r>
          </a:p>
          <a:p>
            <a:pPr marL="342900" marR="0" lvl="0" indent="-342900">
              <a:lnSpc>
                <a:spcPct val="115000"/>
              </a:lnSpc>
              <a:spcAft>
                <a:spcPts val="800"/>
              </a:spcAft>
              <a:buFont typeface="+mj-lt"/>
              <a:buAutoNum type="arabicPeriod"/>
              <a:tabLst>
                <a:tab pos="457200" algn="l"/>
              </a:tabLs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Sort the eigenvalues and their corresponding eigenvectors</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The eigenvector with the highest eigenvalue is the first principal component, the next is the second, and so on.</a:t>
            </a:r>
          </a:p>
          <a:p>
            <a:pPr marL="342900" marR="0" lvl="0" indent="-342900">
              <a:lnSpc>
                <a:spcPct val="115000"/>
              </a:lnSpc>
              <a:spcAft>
                <a:spcPts val="800"/>
              </a:spcAft>
              <a:buFont typeface="+mj-lt"/>
              <a:buAutoNum type="arabicPeriod"/>
              <a:tabLst>
                <a:tab pos="457200" algn="l"/>
              </a:tabLs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Project the data onto the new feature space</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Multiply the standardized data by the top k eigenvectors (components) to get the new k-dimensional representation.</a:t>
            </a:r>
          </a:p>
        </p:txBody>
      </p:sp>
    </p:spTree>
    <p:extLst>
      <p:ext uri="{BB962C8B-B14F-4D97-AF65-F5344CB8AC3E}">
        <p14:creationId xmlns:p14="http://schemas.microsoft.com/office/powerpoint/2010/main" val="3878972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376</Words>
  <Application>Microsoft Office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Symbol</vt:lpstr>
      <vt:lpstr>Times New Roman</vt:lpstr>
      <vt:lpstr>Office Theme</vt:lpstr>
      <vt:lpstr>PCA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Sanjit Setua</dc:creator>
  <cp:lastModifiedBy>Sanjit Setua</cp:lastModifiedBy>
  <cp:revision>5</cp:revision>
  <dcterms:created xsi:type="dcterms:W3CDTF">2025-11-10T01:32:48Z</dcterms:created>
  <dcterms:modified xsi:type="dcterms:W3CDTF">2025-11-10T04:52:54Z</dcterms:modified>
</cp:coreProperties>
</file>