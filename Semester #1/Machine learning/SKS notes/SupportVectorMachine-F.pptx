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6" r:id="rId1"/>
  </p:sldMasterIdLst>
  <p:notesMasterIdLst>
    <p:notesMasterId r:id="rId136"/>
  </p:notesMasterIdLst>
  <p:sldIdLst>
    <p:sldId id="387" r:id="rId2"/>
    <p:sldId id="257" r:id="rId3"/>
    <p:sldId id="258" r:id="rId4"/>
    <p:sldId id="388" r:id="rId5"/>
    <p:sldId id="38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9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157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EA6ED-7963-4D9E-A1CB-92AA9414EAB0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41450" y="260350"/>
            <a:ext cx="1727200" cy="129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44650"/>
            <a:ext cx="3689350" cy="1557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542BC-7152-48C6-9848-12E937FB1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18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047A4-D6F1-0D2C-BE49-F398AA9C8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263" y="566377"/>
            <a:ext cx="3457575" cy="1204854"/>
          </a:xfrm>
        </p:spPr>
        <p:txBody>
          <a:bodyPr anchor="b"/>
          <a:lstStyle>
            <a:lvl1pPr algn="ctr"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6F200-12CD-8D4A-9435-7C233E42E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263" y="1817695"/>
            <a:ext cx="3457575" cy="83554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67" indent="0" algn="ctr">
              <a:buNone/>
              <a:defRPr sz="756"/>
            </a:lvl2pPr>
            <a:lvl3pPr marL="345735" indent="0" algn="ctr">
              <a:buNone/>
              <a:defRPr sz="681"/>
            </a:lvl3pPr>
            <a:lvl4pPr marL="518602" indent="0" algn="ctr">
              <a:buNone/>
              <a:defRPr sz="605"/>
            </a:lvl4pPr>
            <a:lvl5pPr marL="691469" indent="0" algn="ctr">
              <a:buNone/>
              <a:defRPr sz="605"/>
            </a:lvl5pPr>
            <a:lvl6pPr marL="864337" indent="0" algn="ctr">
              <a:buNone/>
              <a:defRPr sz="605"/>
            </a:lvl6pPr>
            <a:lvl7pPr marL="1037204" indent="0" algn="ctr">
              <a:buNone/>
              <a:defRPr sz="605"/>
            </a:lvl7pPr>
            <a:lvl8pPr marL="1210071" indent="0" algn="ctr">
              <a:buNone/>
              <a:defRPr sz="605"/>
            </a:lvl8pPr>
            <a:lvl9pPr marL="1382939" indent="0" algn="ctr">
              <a:buNone/>
              <a:defRPr sz="605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5A601-990E-ABE8-9319-068ED4CB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221652C-553E-4039-93BC-51D666FF8814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9152B-DD0B-8939-65EA-C88CFA09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E25A-A7A7-80CC-8BA4-E0D48046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6839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2F94-0C92-835B-D244-D7CFFCE17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9666-D1F4-2934-4BB6-D5A1DE4E3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95C4-BFB8-CEAF-E683-3E5B81EA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83153C3-C386-46BA-B887-4E9CF13BFD5A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5E719-047E-6162-F01A-87BE2A47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05E6-E47E-9A63-9846-8ED4CF6F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30455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67B0-2D9A-D336-4C63-7924F2D2D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43" y="862785"/>
            <a:ext cx="3976211" cy="1439576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AB6A5-DCFA-43E9-972F-156778AED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543" y="2315979"/>
            <a:ext cx="3976211" cy="757039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1pPr>
            <a:lvl2pPr marL="17286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2pPr>
            <a:lvl3pPr marL="345735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3pPr>
            <a:lvl4pPr marL="518602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4pPr>
            <a:lvl5pPr marL="691469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5pPr>
            <a:lvl6pPr marL="864337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6pPr>
            <a:lvl7pPr marL="1037204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7pPr>
            <a:lvl8pPr marL="1210071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8pPr>
            <a:lvl9pPr marL="1382939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F9AA9-3A70-6384-6677-8DDCF31B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D9C30FC-BCC0-4C9C-A3E4-2B9FB3CFE2AD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24C5A-E3CC-7D07-9DC8-0BA3569A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D7875-85C8-AF8B-6C22-2234C82FA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8459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B4DD-30B6-E932-7852-837D4949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3C56B-AFE7-0ADE-5A45-1E0AB9A9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C2CD8DE-AA73-4C8F-A57F-B209CC1ECC6F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218A2-E5A9-38BC-0FD1-809E2B42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B4C23-7BC5-466D-FBD4-4200D4BF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2027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07CDF-C159-B808-0E51-B2658A8C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C852757-7694-4F49-ACB7-D9997AF73108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763FE-EC37-811B-0415-48E65B41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A132A-66AD-CBCB-21E6-6EE43B958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11991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45565"/>
            <a:ext cx="35718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1E3CFFD8-AD0F-4F97-B86B-8DFE0441745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  <p:extLst>
      <p:ext uri="{BB962C8B-B14F-4D97-AF65-F5344CB8AC3E}">
        <p14:creationId xmlns:p14="http://schemas.microsoft.com/office/powerpoint/2010/main" val="142104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89BC5-A7A6-7D84-4329-291EFCD6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45" y="184253"/>
            <a:ext cx="3976211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5EE04-92AA-56C3-61F0-5EFA1FACB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945" y="921265"/>
            <a:ext cx="3976211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9EE7-45D8-3190-A68F-8FD678D77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16944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fld id="{D948331E-BEDC-43A4-BC0B-BEFBBE2273E4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5948C-85C0-A9AC-9612-13E2C7C08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7096" y="3207603"/>
            <a:ext cx="155590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D888-449F-0606-CFED-7A45266AF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55883" y="3207603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‹#›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6991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2" r:id="rId4"/>
    <p:sldLayoutId id="2147483673" r:id="rId5"/>
    <p:sldLayoutId id="2147483678" r:id="rId6"/>
  </p:sldLayoutIdLst>
  <p:hf hdr="0"/>
  <p:txStyles>
    <p:titleStyle>
      <a:lvl1pPr algn="l" defTabSz="345735" rtl="0" eaLnBrk="1" latinLnBrk="0" hangingPunct="1">
        <a:lnSpc>
          <a:spcPct val="90000"/>
        </a:lnSpc>
        <a:spcBef>
          <a:spcPct val="0"/>
        </a:spcBef>
        <a:buNone/>
        <a:defRPr sz="16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34" indent="-86434" algn="l" defTabSz="345735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9" kern="1200">
          <a:solidFill>
            <a:schemeClr val="tx1"/>
          </a:solidFill>
          <a:latin typeface="+mn-lt"/>
          <a:ea typeface="+mn-ea"/>
          <a:cs typeface="+mn-cs"/>
        </a:defRPr>
      </a:lvl1pPr>
      <a:lvl2pPr marL="259301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16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5036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77903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950770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123638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96505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69372" indent="-86434" algn="l" defTabSz="345735" rtl="0" eaLnBrk="1" latinLnBrk="0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286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45735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18602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69146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64337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37204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10071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382939" algn="l" defTabSz="345735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27.xml"/><Relationship Id="rId4" Type="http://schemas.openxmlformats.org/officeDocument/2006/relationships/image" Target="../media/image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B3F2D-8256-E819-2285-D86CE68A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C852757-7694-4F49-ACB7-D9997AF73108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D70984-A7E4-A1CC-A88E-54D4C8B1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517C-003D-BF55-C971-FAC57930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1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76CE4-1623-2BCD-FFB3-184E80C5041F}"/>
              </a:ext>
            </a:extLst>
          </p:cNvPr>
          <p:cNvSpPr txBox="1"/>
          <p:nvPr/>
        </p:nvSpPr>
        <p:spPr>
          <a:xfrm>
            <a:off x="316944" y="815975"/>
            <a:ext cx="4293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312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2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825D66A-A416-4D25-88B0-F0E9819A18C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18020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49585"/>
            <a:ext cx="3121318" cy="744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Introduction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64800"/>
              </a:lnSpc>
            </a:pPr>
            <a:r>
              <a:rPr sz="1100" dirty="0">
                <a:latin typeface="Arial"/>
                <a:cs typeface="Arial"/>
              </a:rPr>
              <a:t>Concept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maximum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</a:t>
            </a:r>
            <a:r>
              <a:rPr lang="en-US" sz="1100" spc="-10" dirty="0">
                <a:latin typeface="Arial"/>
                <a:cs typeface="Arial"/>
              </a:rPr>
              <a:t> (MMH)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94258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70483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320901"/>
            <a:ext cx="134416" cy="1344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3481" y="131991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1219905"/>
            <a:ext cx="2416175" cy="92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0460">
              <a:lnSpc>
                <a:spcPct val="1469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Calculation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MMH </a:t>
            </a:r>
            <a:r>
              <a:rPr sz="1000" dirty="0">
                <a:latin typeface="Arial"/>
                <a:cs typeface="Arial"/>
              </a:rPr>
              <a:t>Learning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SVM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46900"/>
              </a:lnSpc>
            </a:pPr>
            <a:r>
              <a:rPr sz="1000" dirty="0">
                <a:latin typeface="Arial"/>
                <a:cs typeface="Arial"/>
              </a:rPr>
              <a:t>Classifying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test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sample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SVM </a:t>
            </a:r>
            <a:r>
              <a:rPr sz="1000" dirty="0">
                <a:latin typeface="Arial"/>
                <a:cs typeface="Arial"/>
              </a:rPr>
              <a:t>Classifying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multi-</a:t>
            </a:r>
            <a:r>
              <a:rPr sz="1000" dirty="0">
                <a:latin typeface="Arial"/>
                <a:cs typeface="Arial"/>
              </a:rPr>
              <a:t>class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544726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81" y="154374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768563"/>
            <a:ext cx="134416" cy="1344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23481" y="1766943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992388"/>
            <a:ext cx="134416" cy="13441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23481" y="1991403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557" y="2324811"/>
            <a:ext cx="76809" cy="7680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581" y="2621051"/>
            <a:ext cx="61874" cy="618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1581" y="2844876"/>
            <a:ext cx="61874" cy="618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581" y="3068713"/>
            <a:ext cx="61874" cy="6187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02932" y="2252915"/>
            <a:ext cx="1793875" cy="918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46900"/>
              </a:lnSpc>
              <a:spcBef>
                <a:spcPts val="430"/>
              </a:spcBef>
            </a:pPr>
            <a:r>
              <a:rPr sz="1000" dirty="0">
                <a:latin typeface="Arial"/>
                <a:cs typeface="Arial"/>
              </a:rPr>
              <a:t>Concept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non-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data </a:t>
            </a:r>
            <a:r>
              <a:rPr sz="1000" spc="-10" dirty="0">
                <a:latin typeface="Arial"/>
                <a:cs typeface="Arial"/>
              </a:rPr>
              <a:t>Soft-</a:t>
            </a:r>
            <a:r>
              <a:rPr sz="1000" dirty="0">
                <a:latin typeface="Arial"/>
                <a:cs typeface="Arial"/>
              </a:rPr>
              <a:t>margin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SVM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Arial"/>
                <a:cs typeface="Arial"/>
              </a:rPr>
              <a:t>Kernel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Trick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99185" y="1288235"/>
            <a:ext cx="30099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FF"/>
                </a:solidFill>
                <a:latin typeface="Arial"/>
                <a:cs typeface="Arial"/>
              </a:rPr>
              <a:t>Introduction</a:t>
            </a:r>
            <a:r>
              <a:rPr sz="245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245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36A05A5-51E2-4902-ADBB-27D13C4DA084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2D7E-3A65-71DA-5C4A-4271D27AE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C852757-7694-4F49-ACB7-D9997AF73108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774D3-E5D1-FDAC-4EE4-EEE5F3AB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6132C-B9A6-EC81-B31E-90BA6C08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4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F4F06-35BA-F5D9-CAB6-5962BEF041C9}"/>
              </a:ext>
            </a:extLst>
          </p:cNvPr>
          <p:cNvSpPr txBox="1"/>
          <p:nvPr/>
        </p:nvSpPr>
        <p:spPr>
          <a:xfrm>
            <a:off x="282296" y="92389"/>
            <a:ext cx="42325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Support Vector Machine?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supervised machine learning problem where we try to find a hyperplane that best separates the two classes.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get confused between SVM and logistic regression. Both the algorithms try to find the best hyperplane, but the main difference is logistic regression is a probabilistic approach whereas support vector machine is based on statistical approaches.</a:t>
            </a:r>
          </a:p>
        </p:txBody>
      </p:sp>
    </p:spTree>
    <p:extLst>
      <p:ext uri="{BB962C8B-B14F-4D97-AF65-F5344CB8AC3E}">
        <p14:creationId xmlns:p14="http://schemas.microsoft.com/office/powerpoint/2010/main" val="95035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B1115-FB4A-A8FD-6989-32E93D1B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C852757-7694-4F49-ACB7-D9997AF73108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AF54B-3075-85DA-7782-426AF58D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8E0C7-5F00-969B-1A11-61C3C3A8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5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A1A58-2209-A110-88B9-CD079144F15B}"/>
              </a:ext>
            </a:extLst>
          </p:cNvPr>
          <p:cNvSpPr txBox="1"/>
          <p:nvPr/>
        </p:nvSpPr>
        <p:spPr>
          <a:xfrm>
            <a:off x="316944" y="206375"/>
            <a:ext cx="4191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Now the question is which hyperplane does it select? There can be an infinite number of hyperplanes passing through a point and classifying the two classes perfectly. So, which one is the best?</a:t>
            </a:r>
          </a:p>
          <a:p>
            <a:endParaRPr lang="en-GB" dirty="0"/>
          </a:p>
          <a:p>
            <a:r>
              <a:rPr lang="en-GB" dirty="0"/>
              <a:t>SVM does this by finding the maximum margin between the hyperplanes that means maximum distances between the two classes.</a:t>
            </a:r>
          </a:p>
        </p:txBody>
      </p:sp>
    </p:spTree>
    <p:extLst>
      <p:ext uri="{BB962C8B-B14F-4D97-AF65-F5344CB8AC3E}">
        <p14:creationId xmlns:p14="http://schemas.microsoft.com/office/powerpoint/2010/main" val="276806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-61238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FDE0552-C723-449A-ACEE-6EDF3FA42D7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8049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3279" y="442989"/>
            <a:ext cx="4066540" cy="26468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received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considerable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attention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support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popularly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abbreviated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 dirty="0">
              <a:latin typeface="Arial"/>
              <a:cs typeface="Arial"/>
            </a:endParaRPr>
          </a:p>
          <a:p>
            <a:pPr marL="12700" marR="57150">
              <a:lnSpc>
                <a:spcPct val="102600"/>
              </a:lnSpc>
              <a:spcBef>
                <a:spcPts val="57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technique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roots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statistical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theory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(Vlamidir Vapnik,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1992).</a:t>
            </a:r>
            <a:endParaRPr sz="1100" dirty="0">
              <a:latin typeface="Arial"/>
              <a:cs typeface="Arial"/>
            </a:endParaRPr>
          </a:p>
          <a:p>
            <a:pPr marL="12700" marR="78740">
              <a:lnSpc>
                <a:spcPct val="102600"/>
              </a:lnSpc>
              <a:spcBef>
                <a:spcPts val="565"/>
              </a:spcBef>
            </a:pP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another.</a:t>
            </a:r>
            <a:endParaRPr sz="1100" dirty="0">
              <a:latin typeface="Arial"/>
              <a:cs typeface="Arial"/>
            </a:endParaRPr>
          </a:p>
          <a:p>
            <a:pPr marL="12700" marR="271780">
              <a:lnSpc>
                <a:spcPct val="102600"/>
              </a:lnSpc>
              <a:spcBef>
                <a:spcPts val="570"/>
              </a:spcBef>
            </a:pP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works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avoids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dimensionality</a:t>
            </a:r>
            <a:r>
              <a:rPr sz="1100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12700" marR="232410">
              <a:lnSpc>
                <a:spcPct val="102600"/>
              </a:lnSpc>
              <a:spcBef>
                <a:spcPts val="565"/>
              </a:spcBef>
            </a:pPr>
            <a:r>
              <a:rPr sz="1100" dirty="0">
                <a:latin typeface="Arial"/>
                <a:cs typeface="Arial"/>
              </a:rPr>
              <a:t>Although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1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time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extremely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slow,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however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accurate.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Further, </a:t>
            </a:r>
            <a:r>
              <a:rPr sz="1100" dirty="0">
                <a:latin typeface="Arial"/>
                <a:cs typeface="Arial"/>
              </a:rPr>
              <a:t>testing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unknown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fast.</a:t>
            </a:r>
            <a:endParaRPr sz="1100" dirty="0">
              <a:latin typeface="Arial"/>
              <a:cs typeface="Arial"/>
            </a:endParaRPr>
          </a:p>
          <a:p>
            <a:pPr marL="12700" marR="337185">
              <a:lnSpc>
                <a:spcPct val="102699"/>
              </a:lnSpc>
              <a:spcBef>
                <a:spcPts val="565"/>
              </a:spcBef>
            </a:pP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over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fitting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methods.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also </a:t>
            </a:r>
            <a:r>
              <a:rPr sz="1100" spc="-10" dirty="0">
                <a:latin typeface="Arial"/>
                <a:cs typeface="Arial"/>
              </a:rPr>
              <a:t>facilitates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classification.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9664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12799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01025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317165"/>
            <a:ext cx="76809" cy="768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905391"/>
            <a:ext cx="76809" cy="768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10845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5064" y="783188"/>
            <a:ext cx="20980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Decision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boundary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SVM.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200" y="1171397"/>
            <a:ext cx="1931669" cy="151637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D53E665-5F3C-4C51-BE24-7E235AF4E8E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B2B8500-39C8-4FBC-96D1-2EC3A5956E7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99514"/>
            <a:ext cx="2764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lecture,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1292440"/>
            <a:ext cx="134416" cy="1344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0106" y="1291442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255508"/>
            <a:ext cx="4067175" cy="1100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Maximum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concept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>
              <a:latin typeface="Arial"/>
              <a:cs typeface="Arial"/>
            </a:endParaRPr>
          </a:p>
          <a:p>
            <a:pPr marL="12700" marR="258445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Linear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technique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technique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10" dirty="0">
                <a:latin typeface="Arial"/>
                <a:cs typeface="Arial"/>
              </a:rPr>
              <a:t> non-separable.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1574469"/>
            <a:ext cx="134416" cy="1344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106" y="1573484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5" y="2028583"/>
            <a:ext cx="134416" cy="134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0106" y="2026963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76490" y="1323436"/>
            <a:ext cx="30556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b="1" dirty="0">
                <a:solidFill>
                  <a:srgbClr val="0000FF"/>
                </a:solidFill>
                <a:latin typeface="Arial"/>
                <a:cs typeface="Arial"/>
              </a:rPr>
              <a:t>Maximum</a:t>
            </a:r>
            <a:r>
              <a:rPr sz="17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0000FF"/>
                </a:solidFill>
                <a:latin typeface="Arial"/>
                <a:cs typeface="Arial"/>
              </a:rPr>
              <a:t>Margin</a:t>
            </a:r>
            <a:r>
              <a:rPr sz="17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0000FF"/>
                </a:solidFill>
                <a:latin typeface="Arial"/>
                <a:cs typeface="Arial"/>
              </a:rPr>
              <a:t>Hyperplane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FC42274-D1CC-45F1-B168-6F8EDA0705C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Hyperplane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197180" y="184253"/>
            <a:ext cx="3976211" cy="2936036"/>
          </a:xfrm>
          <a:prstGeom prst="rect">
            <a:avLst/>
          </a:prstGeom>
        </p:spPr>
        <p:txBody>
          <a:bodyPr vert="horz" wrap="square" lIns="0" tIns="729019" rIns="0" bIns="0" rtlCol="0">
            <a:spAutoFit/>
          </a:bodyPr>
          <a:lstStyle/>
          <a:p>
            <a:pPr marL="377825" marR="43180">
              <a:lnSpc>
                <a:spcPct val="102600"/>
              </a:lnSpc>
              <a:spcBef>
                <a:spcPts val="5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discussion,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shall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simplistic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</a:t>
            </a:r>
            <a:r>
              <a:rPr sz="2000" spc="-15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spc="-15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,....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i="1" spc="-15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2000" i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tuples,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37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6AE1052-7DA2-49F6-8300-DF0696C3213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2550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Maximum</a:t>
            </a:r>
            <a:r>
              <a:rPr sz="14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r>
              <a:rPr sz="14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Hyperplane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923" y="635360"/>
            <a:ext cx="3046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2:</a:t>
            </a:r>
            <a:r>
              <a:rPr sz="10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seperable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hyperplanes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305" y="1008346"/>
            <a:ext cx="2419343" cy="19126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4197AAF-5DAB-43EA-B0D0-33ADA6DD672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Hyperplane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contd...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852FFC2-DBB3-46E5-8417-05F7DD5688F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0161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29702"/>
            <a:ext cx="4079240" cy="13341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Figure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shows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plot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spc="-50" dirty="0">
                <a:latin typeface="Arial"/>
                <a:cs typeface="Arial"/>
              </a:rPr>
              <a:t>D.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Another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simplistic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assumption </a:t>
            </a:r>
            <a:r>
              <a:rPr sz="1100" dirty="0">
                <a:latin typeface="Arial"/>
                <a:cs typeface="Arial"/>
              </a:rPr>
              <a:t>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straight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+’s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reside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hyperplane.</a:t>
            </a:r>
            <a:endParaRPr sz="1100" dirty="0">
              <a:latin typeface="Arial"/>
              <a:cs typeface="Arial"/>
            </a:endParaRPr>
          </a:p>
          <a:p>
            <a:pPr marL="12700" marR="180340">
              <a:lnSpc>
                <a:spcPct val="102600"/>
              </a:lnSpc>
              <a:spcBef>
                <a:spcPts val="865"/>
              </a:spcBef>
            </a:pPr>
            <a:r>
              <a:rPr sz="1100" spc="-1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infinite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5" dirty="0">
                <a:latin typeface="Arial"/>
                <a:cs typeface="Arial"/>
              </a:rPr>
              <a:t> of </a:t>
            </a:r>
            <a:r>
              <a:rPr sz="1100" dirty="0">
                <a:latin typeface="Arial"/>
                <a:cs typeface="Arial"/>
              </a:rPr>
              <a:t>separating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drawn.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Therefore,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two </a:t>
            </a:r>
            <a:r>
              <a:rPr sz="1100" dirty="0">
                <a:latin typeface="Arial"/>
                <a:cs typeface="Arial"/>
              </a:rPr>
              <a:t>questions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arise: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599869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2200224"/>
            <a:ext cx="134416" cy="13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3481" y="219923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34" y="2171222"/>
            <a:ext cx="3668395" cy="553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Whether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hyperplanes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equivalent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classification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of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concerned?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hyperplane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best?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080" y="2575890"/>
            <a:ext cx="134416" cy="134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3481" y="2574904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Hyperplane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contd...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7217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00275"/>
            <a:ext cx="4028440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concerned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(with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data),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zero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  <a:p>
            <a:pPr marL="12700" marR="339090">
              <a:lnSpc>
                <a:spcPct val="102600"/>
              </a:lnSpc>
              <a:spcBef>
                <a:spcPts val="865"/>
              </a:spcBef>
            </a:pPr>
            <a:r>
              <a:rPr sz="1100" spc="-25" dirty="0">
                <a:latin typeface="Arial"/>
                <a:cs typeface="Arial"/>
              </a:rPr>
              <a:t>However,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guarantee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perform </a:t>
            </a:r>
            <a:r>
              <a:rPr sz="1100" dirty="0">
                <a:latin typeface="Arial"/>
                <a:cs typeface="Arial"/>
              </a:rPr>
              <a:t>equally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unseen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26285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E8D530-C06E-8040-6E63-D76C13F9436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8B8446B-4B98-4558-9F81-A2F6571C46CF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84A06D-9906-C6B9-7701-78935D00E50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3BACBA-5E46-A24B-58A5-6D16B616DC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13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Hyperplane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contd...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16944" y="518712"/>
            <a:ext cx="3976211" cy="2195814"/>
          </a:xfrm>
          <a:prstGeom prst="rect">
            <a:avLst/>
          </a:prstGeom>
        </p:spPr>
        <p:txBody>
          <a:bodyPr vert="horz" wrap="square" lIns="0" tIns="546901" rIns="0" bIns="0" rtlCol="0">
            <a:spAutoFit/>
          </a:bodyPr>
          <a:lstStyle/>
          <a:p>
            <a:pPr marL="378460" marR="358140">
              <a:lnSpc>
                <a:spcPct val="102600"/>
              </a:lnSpc>
              <a:spcBef>
                <a:spcPts val="55"/>
              </a:spcBef>
            </a:pPr>
            <a:r>
              <a:rPr dirty="0"/>
              <a:t>Thus,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good</a:t>
            </a:r>
            <a:r>
              <a:rPr spc="-35" dirty="0"/>
              <a:t> </a:t>
            </a:r>
            <a:r>
              <a:rPr dirty="0"/>
              <a:t>classifier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must</a:t>
            </a:r>
            <a:r>
              <a:rPr spc="-35" dirty="0"/>
              <a:t> </a:t>
            </a:r>
            <a:r>
              <a:rPr dirty="0"/>
              <a:t>choose</a:t>
            </a:r>
            <a:r>
              <a:rPr spc="-30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infinite </a:t>
            </a:r>
            <a:r>
              <a:rPr dirty="0"/>
              <a:t>number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hyperplanes,</a:t>
            </a:r>
            <a:r>
              <a:rPr spc="-20" dirty="0"/>
              <a:t> </a:t>
            </a:r>
            <a:r>
              <a:rPr dirty="0"/>
              <a:t>so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it</a:t>
            </a:r>
            <a:r>
              <a:rPr spc="-20" dirty="0"/>
              <a:t> </a:t>
            </a:r>
            <a:r>
              <a:rPr dirty="0"/>
              <a:t>performs</a:t>
            </a:r>
            <a:r>
              <a:rPr spc="-25" dirty="0"/>
              <a:t> </a:t>
            </a:r>
            <a:r>
              <a:rPr dirty="0"/>
              <a:t>better</a:t>
            </a:r>
            <a:r>
              <a:rPr spc="-25" dirty="0"/>
              <a:t> </a:t>
            </a:r>
            <a:r>
              <a:rPr dirty="0"/>
              <a:t>not</a:t>
            </a:r>
            <a:r>
              <a:rPr spc="-20" dirty="0"/>
              <a:t> </a:t>
            </a:r>
            <a:r>
              <a:rPr dirty="0"/>
              <a:t>only</a:t>
            </a:r>
            <a:r>
              <a:rPr spc="-25" dirty="0"/>
              <a:t> on </a:t>
            </a:r>
            <a:r>
              <a:rPr dirty="0"/>
              <a:t>training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but</a:t>
            </a:r>
            <a:r>
              <a:rPr spc="-35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well</a:t>
            </a:r>
            <a:r>
              <a:rPr spc="-30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test</a:t>
            </a:r>
            <a:r>
              <a:rPr spc="-30" dirty="0"/>
              <a:t> </a:t>
            </a:r>
            <a:r>
              <a:rPr spc="-10" dirty="0"/>
              <a:t>data.</a:t>
            </a:r>
          </a:p>
          <a:p>
            <a:pPr marL="378460" marR="30480">
              <a:lnSpc>
                <a:spcPct val="102600"/>
              </a:lnSpc>
              <a:spcBef>
                <a:spcPts val="865"/>
              </a:spcBef>
            </a:pPr>
            <a:r>
              <a:rPr spc="-75" dirty="0"/>
              <a:t>To</a:t>
            </a:r>
            <a:r>
              <a:rPr spc="-5" dirty="0"/>
              <a:t> </a:t>
            </a:r>
            <a:r>
              <a:rPr dirty="0"/>
              <a:t>illustrate</a:t>
            </a:r>
            <a:r>
              <a:rPr spc="-60" dirty="0"/>
              <a:t> </a:t>
            </a: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different</a:t>
            </a:r>
            <a:r>
              <a:rPr spc="-35" dirty="0"/>
              <a:t> </a:t>
            </a:r>
            <a:r>
              <a:rPr dirty="0"/>
              <a:t>choices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hyperplane</a:t>
            </a:r>
            <a:r>
              <a:rPr spc="-35" dirty="0"/>
              <a:t> </a:t>
            </a:r>
            <a:r>
              <a:rPr dirty="0"/>
              <a:t>influence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classification</a:t>
            </a:r>
            <a:r>
              <a:rPr spc="-45" dirty="0"/>
              <a:t> </a:t>
            </a:r>
            <a:r>
              <a:rPr spc="-10" dirty="0"/>
              <a:t>error,</a:t>
            </a:r>
            <a:r>
              <a:rPr spc="-40" dirty="0"/>
              <a:t> </a:t>
            </a:r>
            <a:r>
              <a:rPr dirty="0"/>
              <a:t>consider</a:t>
            </a:r>
            <a:r>
              <a:rPr spc="-40" dirty="0"/>
              <a:t> </a:t>
            </a:r>
            <a:r>
              <a:rPr dirty="0"/>
              <a:t>any</a:t>
            </a:r>
            <a:r>
              <a:rPr spc="-45" dirty="0"/>
              <a:t> </a:t>
            </a:r>
            <a:r>
              <a:rPr dirty="0"/>
              <a:t>arbitrary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dirty="0"/>
              <a:t>hyperplanes</a:t>
            </a:r>
            <a:r>
              <a:rPr spc="-45" dirty="0"/>
              <a:t> </a:t>
            </a:r>
            <a:r>
              <a:rPr i="1" dirty="0">
                <a:latin typeface="Arial"/>
                <a:cs typeface="Arial"/>
              </a:rPr>
              <a:t>H</a:t>
            </a:r>
            <a:r>
              <a:rPr sz="1200" baseline="-13888" dirty="0"/>
              <a:t>1</a:t>
            </a:r>
            <a:r>
              <a:rPr sz="1200" spc="127" baseline="-13888" dirty="0"/>
              <a:t> </a:t>
            </a:r>
            <a:r>
              <a:rPr sz="1100" spc="-25" dirty="0"/>
              <a:t>and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/>
              <a:t>2</a:t>
            </a:r>
            <a:r>
              <a:rPr sz="1200" spc="150" baseline="-13888" dirty="0"/>
              <a:t> </a:t>
            </a:r>
            <a:r>
              <a:rPr sz="1100" dirty="0"/>
              <a:t>as</a:t>
            </a:r>
            <a:r>
              <a:rPr sz="1100" spc="-25" dirty="0"/>
              <a:t> </a:t>
            </a:r>
            <a:r>
              <a:rPr sz="1100" dirty="0"/>
              <a:t>shown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25" dirty="0"/>
              <a:t> </a:t>
            </a:r>
            <a:r>
              <a:rPr sz="1100" dirty="0"/>
              <a:t>Fig.</a:t>
            </a:r>
            <a:r>
              <a:rPr sz="1100" spc="-25" dirty="0"/>
              <a:t> 3.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79159A4-16B4-4D56-AAF8-DAEDFFF294D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34046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60232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2550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Maximum</a:t>
            </a:r>
            <a:r>
              <a:rPr sz="14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Margin</a:t>
            </a:r>
            <a:r>
              <a:rPr sz="140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Hyperplane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8802" y="598784"/>
            <a:ext cx="3750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</a:rPr>
              <a:t>Figure</a:t>
            </a:r>
            <a:r>
              <a:rPr sz="1000" spc="-30" dirty="0">
                <a:solidFill>
                  <a:srgbClr val="3333B2"/>
                </a:solidFill>
              </a:rPr>
              <a:t> </a:t>
            </a:r>
            <a:r>
              <a:rPr sz="1000" dirty="0">
                <a:solidFill>
                  <a:srgbClr val="3333B2"/>
                </a:solidFill>
              </a:rPr>
              <a:t>3:</a:t>
            </a:r>
            <a:r>
              <a:rPr sz="1000" spc="30" dirty="0">
                <a:solidFill>
                  <a:srgbClr val="3333B2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Hyperplanes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with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decision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boundaries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and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their</a:t>
            </a:r>
            <a:r>
              <a:rPr sz="1000" spc="-30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margins.</a:t>
            </a:r>
            <a:endParaRPr sz="100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F4A9C86-4072-4D7F-9852-036BBB97DF0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734" y="952756"/>
            <a:ext cx="2423112" cy="204593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Hyperplane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contd...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290274" y="563007"/>
            <a:ext cx="3976211" cy="2195814"/>
          </a:xfrm>
          <a:prstGeom prst="rect">
            <a:avLst/>
          </a:prstGeom>
        </p:spPr>
        <p:txBody>
          <a:bodyPr vert="horz" wrap="square" lIns="0" tIns="114783" rIns="0" bIns="0" rtlCol="0">
            <a:spAutoFit/>
          </a:bodyPr>
          <a:lstStyle/>
          <a:p>
            <a:pPr marL="378460" marR="57150">
              <a:lnSpc>
                <a:spcPct val="102600"/>
              </a:lnSpc>
              <a:spcBef>
                <a:spcPts val="55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Fig.</a:t>
            </a:r>
            <a:r>
              <a:rPr spc="-30" dirty="0"/>
              <a:t> </a:t>
            </a:r>
            <a:r>
              <a:rPr dirty="0"/>
              <a:t>3,</a:t>
            </a:r>
            <a:r>
              <a:rPr spc="-30" dirty="0"/>
              <a:t> </a:t>
            </a:r>
            <a:r>
              <a:rPr dirty="0"/>
              <a:t>two</a:t>
            </a:r>
            <a:r>
              <a:rPr spc="-30" dirty="0"/>
              <a:t> </a:t>
            </a:r>
            <a:r>
              <a:rPr dirty="0"/>
              <a:t>hyperplanes</a:t>
            </a:r>
            <a:r>
              <a:rPr spc="-30" dirty="0"/>
              <a:t> </a:t>
            </a:r>
            <a:r>
              <a:rPr i="1" dirty="0">
                <a:latin typeface="Arial"/>
                <a:cs typeface="Arial"/>
              </a:rPr>
              <a:t>H</a:t>
            </a:r>
            <a:r>
              <a:rPr sz="1200" baseline="-13888" dirty="0"/>
              <a:t>1</a:t>
            </a:r>
            <a:r>
              <a:rPr sz="1200" spc="142" baseline="-13888" dirty="0"/>
              <a:t> </a:t>
            </a:r>
            <a:r>
              <a:rPr sz="1100" dirty="0"/>
              <a:t>and</a:t>
            </a:r>
            <a:r>
              <a:rPr sz="1100" spc="-30" dirty="0"/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/>
              <a:t>2</a:t>
            </a:r>
            <a:r>
              <a:rPr sz="1200" spc="150" baseline="-13888" dirty="0"/>
              <a:t> </a:t>
            </a:r>
            <a:r>
              <a:rPr sz="1100" spc="-10" dirty="0"/>
              <a:t>have</a:t>
            </a:r>
            <a:r>
              <a:rPr sz="1100" spc="-30" dirty="0"/>
              <a:t> </a:t>
            </a:r>
            <a:r>
              <a:rPr sz="1100" dirty="0"/>
              <a:t>their</a:t>
            </a:r>
            <a:r>
              <a:rPr sz="1100" spc="-30" dirty="0"/>
              <a:t> </a:t>
            </a:r>
            <a:r>
              <a:rPr sz="1100" dirty="0"/>
              <a:t>own</a:t>
            </a:r>
            <a:r>
              <a:rPr sz="1100" spc="-30" dirty="0"/>
              <a:t> </a:t>
            </a:r>
            <a:r>
              <a:rPr sz="1100" spc="-10" dirty="0"/>
              <a:t>boundaries </a:t>
            </a:r>
            <a:r>
              <a:rPr sz="1100" dirty="0"/>
              <a:t>called</a:t>
            </a:r>
            <a:r>
              <a:rPr sz="1100" spc="-20" dirty="0"/>
              <a:t> </a:t>
            </a:r>
            <a:r>
              <a:rPr sz="1100" dirty="0"/>
              <a:t>decision</a:t>
            </a:r>
            <a:r>
              <a:rPr sz="1100" spc="-15" dirty="0"/>
              <a:t> </a:t>
            </a:r>
            <a:r>
              <a:rPr sz="1100" spc="-10" dirty="0"/>
              <a:t>boundaries(denoted</a:t>
            </a:r>
            <a:r>
              <a:rPr sz="1100" spc="-15" dirty="0"/>
              <a:t> </a:t>
            </a:r>
            <a:r>
              <a:rPr sz="1100" dirty="0"/>
              <a:t>as</a:t>
            </a:r>
            <a:r>
              <a:rPr sz="1100" spc="-1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/>
              <a:t>11</a:t>
            </a:r>
            <a:r>
              <a:rPr sz="1200" spc="172" baseline="-13888" dirty="0"/>
              <a:t> </a:t>
            </a:r>
            <a:r>
              <a:rPr sz="1100" dirty="0"/>
              <a:t>and</a:t>
            </a:r>
            <a:r>
              <a:rPr sz="1100" spc="-1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/>
              <a:t>12</a:t>
            </a:r>
            <a:r>
              <a:rPr sz="1200" spc="165" baseline="-13888" dirty="0"/>
              <a:t> </a:t>
            </a:r>
            <a:r>
              <a:rPr sz="1100" dirty="0"/>
              <a:t>for</a:t>
            </a:r>
            <a:r>
              <a:rPr sz="1100" spc="-15" dirty="0"/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/>
              <a:t>1</a:t>
            </a:r>
            <a:r>
              <a:rPr sz="1200" spc="172" baseline="-13888" dirty="0"/>
              <a:t> </a:t>
            </a:r>
            <a:r>
              <a:rPr sz="1100" dirty="0"/>
              <a:t>and</a:t>
            </a:r>
            <a:r>
              <a:rPr sz="1100" spc="-20" dirty="0"/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3888" dirty="0"/>
              <a:t>21</a:t>
            </a:r>
            <a:r>
              <a:rPr sz="1200" baseline="-13888" dirty="0"/>
              <a:t> </a:t>
            </a:r>
            <a:r>
              <a:rPr sz="1100" dirty="0"/>
              <a:t>and</a:t>
            </a:r>
            <a:r>
              <a:rPr sz="1100" spc="-35" dirty="0"/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/>
              <a:t>22</a:t>
            </a:r>
            <a:r>
              <a:rPr sz="1200" spc="142" baseline="-13888" dirty="0"/>
              <a:t> </a:t>
            </a:r>
            <a:r>
              <a:rPr sz="1100" dirty="0"/>
              <a:t>for</a:t>
            </a:r>
            <a:r>
              <a:rPr sz="1100" spc="-30" dirty="0"/>
              <a:t> </a:t>
            </a:r>
            <a:r>
              <a:rPr sz="1100" i="1" spc="-20" dirty="0">
                <a:latin typeface="Arial"/>
                <a:cs typeface="Arial"/>
              </a:rPr>
              <a:t>H</a:t>
            </a:r>
            <a:r>
              <a:rPr sz="1200" spc="-30" baseline="-13888" dirty="0"/>
              <a:t>2</a:t>
            </a:r>
            <a:r>
              <a:rPr sz="1100" spc="-20" dirty="0"/>
              <a:t>).</a:t>
            </a:r>
            <a:endParaRPr sz="1100" dirty="0">
              <a:latin typeface="Arial"/>
              <a:cs typeface="Arial"/>
            </a:endParaRPr>
          </a:p>
          <a:p>
            <a:pPr marL="378460" marR="30480">
              <a:lnSpc>
                <a:spcPct val="102600"/>
              </a:lnSpc>
              <a:spcBef>
                <a:spcPts val="865"/>
              </a:spcBef>
            </a:pPr>
            <a:r>
              <a:rPr dirty="0"/>
              <a:t>A</a:t>
            </a:r>
            <a:r>
              <a:rPr spc="-25" dirty="0"/>
              <a:t> </a:t>
            </a:r>
            <a:r>
              <a:rPr dirty="0"/>
              <a:t>decision</a:t>
            </a:r>
            <a:r>
              <a:rPr spc="-25" dirty="0"/>
              <a:t> </a:t>
            </a:r>
            <a:r>
              <a:rPr dirty="0"/>
              <a:t>boundary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boundary</a:t>
            </a:r>
            <a:r>
              <a:rPr spc="-25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parallel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hyperplane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touches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closest</a:t>
            </a:r>
            <a:r>
              <a:rPr spc="-25" dirty="0"/>
              <a:t> </a:t>
            </a: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one</a:t>
            </a:r>
            <a:r>
              <a:rPr spc="-25" dirty="0"/>
              <a:t> </a:t>
            </a:r>
            <a:r>
              <a:rPr dirty="0"/>
              <a:t>side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hyperplane.</a:t>
            </a:r>
          </a:p>
          <a:p>
            <a:pPr marL="378460" marR="318770">
              <a:lnSpc>
                <a:spcPct val="102600"/>
              </a:lnSpc>
              <a:spcBef>
                <a:spcPts val="87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distance</a:t>
            </a:r>
            <a:r>
              <a:rPr spc="-35" dirty="0"/>
              <a:t> </a:t>
            </a:r>
            <a:r>
              <a:rPr dirty="0"/>
              <a:t>between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decision</a:t>
            </a:r>
            <a:r>
              <a:rPr spc="-35" dirty="0"/>
              <a:t> </a:t>
            </a:r>
            <a:r>
              <a:rPr dirty="0"/>
              <a:t>boundaries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dirty="0"/>
              <a:t>hyperplane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called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margin.</a:t>
            </a:r>
            <a:r>
              <a:rPr spc="30" dirty="0"/>
              <a:t> </a:t>
            </a:r>
            <a:r>
              <a:rPr dirty="0"/>
              <a:t>So,</a:t>
            </a:r>
            <a:r>
              <a:rPr spc="-35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classified</a:t>
            </a:r>
            <a:r>
              <a:rPr spc="-30" dirty="0"/>
              <a:t> </a:t>
            </a:r>
            <a:r>
              <a:rPr spc="-10" dirty="0"/>
              <a:t>using </a:t>
            </a:r>
            <a:r>
              <a:rPr dirty="0"/>
              <a:t>Hyperplane</a:t>
            </a:r>
            <a:r>
              <a:rPr spc="-20" dirty="0"/>
              <a:t> </a:t>
            </a:r>
            <a:r>
              <a:rPr i="1" dirty="0">
                <a:latin typeface="Arial"/>
                <a:cs typeface="Arial"/>
              </a:rPr>
              <a:t>H</a:t>
            </a:r>
            <a:r>
              <a:rPr sz="1200" baseline="-13888" dirty="0"/>
              <a:t>1</a:t>
            </a:r>
            <a:r>
              <a:rPr sz="1100" dirty="0"/>
              <a:t>,</a:t>
            </a:r>
            <a:r>
              <a:rPr sz="1100" spc="-20" dirty="0"/>
              <a:t> </a:t>
            </a:r>
            <a:r>
              <a:rPr sz="1100" dirty="0"/>
              <a:t>then</a:t>
            </a:r>
            <a:r>
              <a:rPr sz="1100" spc="-20" dirty="0"/>
              <a:t> </a:t>
            </a:r>
            <a:r>
              <a:rPr sz="1100" dirty="0"/>
              <a:t>it</a:t>
            </a:r>
            <a:r>
              <a:rPr sz="1100" spc="-20" dirty="0"/>
              <a:t> </a:t>
            </a:r>
            <a:r>
              <a:rPr sz="1100" dirty="0"/>
              <a:t>is</a:t>
            </a:r>
            <a:r>
              <a:rPr sz="1100" spc="-20" dirty="0"/>
              <a:t> </a:t>
            </a:r>
            <a:r>
              <a:rPr sz="1100" dirty="0"/>
              <a:t>with</a:t>
            </a:r>
            <a:r>
              <a:rPr sz="1100" spc="-20" dirty="0"/>
              <a:t> </a:t>
            </a:r>
            <a:r>
              <a:rPr sz="1100" dirty="0"/>
              <a:t>larger</a:t>
            </a:r>
            <a:r>
              <a:rPr sz="1100" spc="-20" dirty="0"/>
              <a:t> </a:t>
            </a:r>
            <a:r>
              <a:rPr sz="1100" dirty="0"/>
              <a:t>margin</a:t>
            </a:r>
            <a:r>
              <a:rPr sz="1100" spc="-20" dirty="0"/>
              <a:t> </a:t>
            </a:r>
            <a:r>
              <a:rPr sz="1100" dirty="0"/>
              <a:t>then</a:t>
            </a:r>
            <a:r>
              <a:rPr sz="1100" spc="-20" dirty="0"/>
              <a:t> </a:t>
            </a:r>
            <a:r>
              <a:rPr sz="1100" spc="-10" dirty="0"/>
              <a:t>using </a:t>
            </a:r>
            <a:r>
              <a:rPr sz="1100" dirty="0"/>
              <a:t>Hyperplane</a:t>
            </a:r>
            <a:r>
              <a:rPr sz="1100" spc="-35" dirty="0"/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3888" dirty="0"/>
              <a:t>2</a:t>
            </a:r>
            <a:r>
              <a:rPr sz="1100" spc="-25" dirty="0"/>
              <a:t>.</a:t>
            </a:r>
            <a:endParaRPr sz="1100" dirty="0">
              <a:latin typeface="Arial"/>
              <a:cs typeface="Arial"/>
            </a:endParaRPr>
          </a:p>
          <a:p>
            <a:pPr marL="378460" marR="173990">
              <a:lnSpc>
                <a:spcPct val="102600"/>
              </a:lnSpc>
              <a:spcBef>
                <a:spcPts val="86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margin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hyperplane</a:t>
            </a:r>
            <a:r>
              <a:rPr spc="-35" dirty="0"/>
              <a:t> </a:t>
            </a:r>
            <a:r>
              <a:rPr dirty="0"/>
              <a:t>implies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error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classifier.</a:t>
            </a:r>
            <a:r>
              <a:rPr spc="2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10" dirty="0"/>
              <a:t>other </a:t>
            </a:r>
            <a:r>
              <a:rPr dirty="0"/>
              <a:t>words,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larger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margin,</a:t>
            </a:r>
            <a:r>
              <a:rPr spc="-40" dirty="0"/>
              <a:t> </a:t>
            </a:r>
            <a:r>
              <a:rPr dirty="0"/>
              <a:t>lower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classification</a:t>
            </a:r>
            <a:r>
              <a:rPr spc="-35" dirty="0"/>
              <a:t> </a:t>
            </a:r>
            <a:r>
              <a:rPr spc="-10" dirty="0"/>
              <a:t>error.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66E99CF-F3C7-4284-BA56-447954DC672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01929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2811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82216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580475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20188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Maximum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Hyperplane</a:t>
            </a:r>
            <a:r>
              <a:rPr b="1" spc="1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contd...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B14E721-190F-469C-96BA-03D28FEAC39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2933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3754" y="574226"/>
            <a:ext cx="4069715" cy="25247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29565" algn="just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Arial"/>
                <a:cs typeface="Arial"/>
              </a:rPr>
              <a:t>Intuitively,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small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susceptible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fitting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weak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confidence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unseen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Thus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phase,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approach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maximum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margin.</a:t>
            </a:r>
            <a:endParaRPr sz="1100" dirty="0">
              <a:latin typeface="Arial"/>
              <a:cs typeface="Arial"/>
            </a:endParaRPr>
          </a:p>
          <a:p>
            <a:pPr marL="12700" marR="128905">
              <a:lnSpc>
                <a:spcPct val="102600"/>
              </a:lnSpc>
              <a:spcBef>
                <a:spcPts val="870"/>
              </a:spcBef>
            </a:pPr>
            <a:r>
              <a:rPr sz="1100" dirty="0">
                <a:latin typeface="Arial"/>
                <a:cs typeface="Arial"/>
              </a:rPr>
              <a:t>Such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maximum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margin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hyperplane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10" dirty="0">
                <a:latin typeface="Arial"/>
                <a:cs typeface="Arial"/>
              </a:rPr>
              <a:t>abbreviated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MMH.</a:t>
            </a:r>
            <a:endParaRPr sz="1100" dirty="0">
              <a:latin typeface="Arial"/>
              <a:cs typeface="Arial"/>
            </a:endParaRPr>
          </a:p>
          <a:p>
            <a:pPr marL="12700" marR="8255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its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side.</a:t>
            </a:r>
            <a:endParaRPr sz="1100" dirty="0">
              <a:latin typeface="Arial"/>
              <a:cs typeface="Arial"/>
            </a:endParaRPr>
          </a:p>
          <a:p>
            <a:pPr marL="12700" marR="697230">
              <a:lnSpc>
                <a:spcPct val="102600"/>
              </a:lnSpc>
              <a:spcBef>
                <a:spcPts val="865"/>
              </a:spcBef>
            </a:pPr>
            <a:r>
              <a:rPr sz="1100" spc="-10" dirty="0">
                <a:latin typeface="Arial"/>
                <a:cs typeface="Arial"/>
              </a:rPr>
              <a:t>Alternatively,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middle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boundaries.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55509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09623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63724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789910"/>
            <a:ext cx="76809" cy="7680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F79CB-C67D-BB86-CD7B-103F068F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C852757-7694-4F49-ACB7-D9997AF73108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45D98-8749-F53F-C986-2BE200875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34DB7-D21B-11C9-82D9-7E210995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18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  <p:pic>
        <p:nvPicPr>
          <p:cNvPr id="5" name="Picture 4" descr="Margins in Support Vector Machine">
            <a:extLst>
              <a:ext uri="{FF2B5EF4-FFF2-40B4-BE49-F238E27FC236}">
                <a16:creationId xmlns:a16="http://schemas.microsoft.com/office/drawing/2014/main" id="{B785787B-59F3-6507-2A77-8FC08C3E1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34975"/>
            <a:ext cx="419100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017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34122" y="1288235"/>
            <a:ext cx="17399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2450" b="1" spc="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5E7C414-7BB1-41C3-937E-2BC7AD4B61D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80" dirty="0"/>
              <a:t> </a:t>
            </a:r>
            <a:r>
              <a:rPr spc="-25" dirty="0"/>
              <a:t>SVM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F1D6535-A6A7-4EFD-994E-788CC8EF6D8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0444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32534"/>
            <a:ext cx="4035425" cy="14160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 marR="11811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words,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searches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maximum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margin.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 marR="151765">
              <a:lnSpc>
                <a:spcPct val="102699"/>
              </a:lnSpc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often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maximal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margin classifier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(MMC).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30540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056650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50" dirty="0"/>
              <a:t> </a:t>
            </a:r>
            <a:r>
              <a:rPr dirty="0"/>
              <a:t>MMH</a:t>
            </a:r>
            <a:r>
              <a:rPr spc="55" dirty="0"/>
              <a:t> </a:t>
            </a:r>
            <a:r>
              <a:rPr dirty="0"/>
              <a:t>for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Linear</a:t>
            </a:r>
            <a:r>
              <a:rPr spc="50" dirty="0"/>
              <a:t> </a:t>
            </a:r>
            <a:r>
              <a:rPr spc="-25" dirty="0"/>
              <a:t>SVM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33D02F0-C578-4C5A-A7EF-27A8AB887FE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2486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52956"/>
            <a:ext cx="4155440" cy="21145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mathematics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MMH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set.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63500" marR="54737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discussion,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classification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63500" marR="48768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denoted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spc="-15" baseline="-13888" dirty="0">
                <a:latin typeface="Arial"/>
                <a:cs typeface="Arial"/>
              </a:rPr>
              <a:t>2</a:t>
            </a:r>
            <a:r>
              <a:rPr sz="1100" spc="-10" dirty="0">
                <a:latin typeface="Arial"/>
                <a:cs typeface="Arial"/>
              </a:rPr>
              <a:t>.......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im</a:t>
            </a:r>
            <a:r>
              <a:rPr sz="1100" spc="-10" dirty="0">
                <a:latin typeface="Arial"/>
                <a:cs typeface="Arial"/>
              </a:rPr>
              <a:t>) </a:t>
            </a:r>
            <a:r>
              <a:rPr sz="1100" dirty="0">
                <a:latin typeface="Arial"/>
                <a:cs typeface="Arial"/>
              </a:rPr>
              <a:t>corresponds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27777" dirty="0">
                <a:latin typeface="Arial"/>
                <a:cs typeface="Arial"/>
              </a:rPr>
              <a:t>th</a:t>
            </a:r>
            <a:r>
              <a:rPr sz="1200" i="1" spc="17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(data</a:t>
            </a:r>
            <a:r>
              <a:rPr sz="1100" spc="-25" dirty="0">
                <a:latin typeface="Arial"/>
                <a:cs typeface="Arial"/>
              </a:rPr>
              <a:t> in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Arial"/>
                <a:cs typeface="Arial"/>
              </a:rPr>
              <a:t>-dimensional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62" baseline="-13888" dirty="0">
                <a:latin typeface="Arial"/>
                <a:cs typeface="Arial"/>
              </a:rPr>
              <a:t> </a:t>
            </a:r>
            <a:r>
              <a:rPr sz="1100" i="1" spc="-245" dirty="0">
                <a:latin typeface="Times New Roman"/>
                <a:cs typeface="Times New Roman"/>
              </a:rPr>
              <a:t>E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Arial"/>
                <a:cs typeface="Arial"/>
              </a:rPr>
              <a:t>[+,-</a:t>
            </a:r>
            <a:r>
              <a:rPr sz="1100" dirty="0">
                <a:latin typeface="Arial"/>
                <a:cs typeface="Arial"/>
              </a:rPr>
              <a:t>]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denotes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label.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63500" marR="36830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choice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is </a:t>
            </a:r>
            <a:r>
              <a:rPr sz="1100" spc="-10" dirty="0">
                <a:latin typeface="Arial"/>
                <a:cs typeface="Arial"/>
              </a:rPr>
              <a:t>arbitrary.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50962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1777072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75255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50" dirty="0"/>
              <a:t> </a:t>
            </a:r>
            <a:r>
              <a:rPr dirty="0"/>
              <a:t>MMH</a:t>
            </a:r>
            <a:r>
              <a:rPr spc="55" dirty="0"/>
              <a:t> </a:t>
            </a:r>
            <a:r>
              <a:rPr dirty="0"/>
              <a:t>for</a:t>
            </a:r>
            <a:r>
              <a:rPr spc="50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Linear</a:t>
            </a:r>
            <a:r>
              <a:rPr spc="50" dirty="0"/>
              <a:t> </a:t>
            </a:r>
            <a:r>
              <a:rPr spc="-25" dirty="0"/>
              <a:t>SVM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72F82BB-239A-4FAD-885D-915F2FEFB41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4574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7599" y="1136572"/>
            <a:ext cx="239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835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9745" y="106089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9745" y="1156181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2932" y="1073834"/>
            <a:ext cx="3813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06855" algn="l"/>
              </a:tabLst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Meiryo"/>
                <a:cs typeface="Meiryo"/>
              </a:rPr>
              <a:t>{</a:t>
            </a:r>
            <a:r>
              <a:rPr sz="1100" spc="-10" dirty="0">
                <a:latin typeface="Lucida Sans Unicode"/>
                <a:cs typeface="Lucida Sans Unicode"/>
              </a:rPr>
              <a:t>(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i="1" spc="-25" dirty="0">
                <a:latin typeface="Meiryo"/>
                <a:cs typeface="Meiryo"/>
              </a:rPr>
              <a:t>}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obtain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which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7878" y="1308644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3863" y="123296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3863" y="1328266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1245919"/>
            <a:ext cx="3909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19200" algn="l"/>
              </a:tabLst>
            </a:pPr>
            <a:r>
              <a:rPr sz="1100" dirty="0">
                <a:latin typeface="Arial"/>
                <a:cs typeface="Arial"/>
              </a:rPr>
              <a:t>separates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|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course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maximum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1417991"/>
            <a:ext cx="3994150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gap).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r>
              <a:rPr sz="1100" spc="-10" dirty="0">
                <a:latin typeface="Arial"/>
                <a:cs typeface="Arial"/>
              </a:rPr>
              <a:t>Before,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-dimension,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let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plane.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43925"/>
            <a:ext cx="76809" cy="768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Equation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hyperplane</a:t>
            </a:r>
            <a:r>
              <a:rPr spc="70" dirty="0"/>
              <a:t> </a:t>
            </a:r>
            <a:r>
              <a:rPr dirty="0"/>
              <a:t>in</a:t>
            </a:r>
            <a:r>
              <a:rPr spc="70" dirty="0"/>
              <a:t> </a:t>
            </a:r>
            <a:r>
              <a:rPr dirty="0"/>
              <a:t>2-</a:t>
            </a:r>
            <a:r>
              <a:rPr spc="-50" dirty="0"/>
              <a:t>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FF0CD08-45E7-41E3-BC90-FF045E8B5FC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97788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395971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82227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4032" y="625880"/>
            <a:ext cx="4147185" cy="1976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0965" marR="15621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),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, </a:t>
            </a:r>
            <a:r>
              <a:rPr sz="1100" spc="-10" dirty="0">
                <a:latin typeface="Arial"/>
                <a:cs typeface="Arial"/>
              </a:rPr>
              <a:t>respectively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plane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tabLst>
                <a:tab pos="16744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200" spc="89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9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	[e.g.,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by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0]</a:t>
            </a:r>
            <a:endParaRPr sz="1100">
              <a:latin typeface="Arial"/>
              <a:cs typeface="Arial"/>
            </a:endParaRPr>
          </a:p>
          <a:p>
            <a:pPr marL="100965" marR="68580" algn="just">
              <a:lnSpc>
                <a:spcPct val="102699"/>
              </a:lnSpc>
              <a:spcBef>
                <a:spcPts val="565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constants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slope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intercept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line.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lying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satisfies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8406" y="2754463"/>
            <a:ext cx="1428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1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95" baseline="-13888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7396" y="2754463"/>
            <a:ext cx="194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(1)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Equation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hyperplane</a:t>
            </a:r>
            <a:r>
              <a:rPr spc="70" dirty="0"/>
              <a:t> </a:t>
            </a:r>
            <a:r>
              <a:rPr dirty="0"/>
              <a:t>in</a:t>
            </a:r>
            <a:r>
              <a:rPr spc="70" dirty="0"/>
              <a:t> </a:t>
            </a:r>
            <a:r>
              <a:rPr dirty="0"/>
              <a:t>2-</a:t>
            </a:r>
            <a:r>
              <a:rPr spc="-50" dirty="0"/>
              <a:t>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A83D514-C327-4308-B30C-E732CD7F825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4592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74012"/>
            <a:ext cx="3390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Similarly,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lying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below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satisfies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532" y="1202103"/>
            <a:ext cx="3712210" cy="7061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388745">
              <a:lnSpc>
                <a:spcPct val="100000"/>
              </a:lnSpc>
              <a:spcBef>
                <a:spcPts val="785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1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95" baseline="-13888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&lt;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645"/>
              </a:spcBef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-dimensional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generalization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straight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spc="-25" dirty="0">
                <a:latin typeface="Arial"/>
                <a:cs typeface="Arial"/>
              </a:rPr>
              <a:t>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7396" y="1290166"/>
            <a:ext cx="194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(2)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616379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42490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2070581"/>
            <a:ext cx="399605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visualized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surface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3-</a:t>
            </a:r>
            <a:r>
              <a:rPr sz="1100" spc="-20" dirty="0">
                <a:latin typeface="Arial"/>
                <a:cs typeface="Arial"/>
              </a:rPr>
              <a:t>D,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easy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visualize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greater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3!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Equation</a:t>
            </a:r>
            <a:r>
              <a:rPr spc="50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3AC0D7C5-1B62-4D11-AD2A-5F254E6E747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56360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84451"/>
            <a:ext cx="3221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Euclidean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172" baseline="27777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7456" y="1500605"/>
            <a:ext cx="194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(3)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1412542"/>
            <a:ext cx="3959860" cy="7061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052195">
              <a:lnSpc>
                <a:spcPct val="100000"/>
              </a:lnSpc>
              <a:spcBef>
                <a:spcPts val="785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........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27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645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w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constant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(called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intercept,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positive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5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9A3388E-0543-4247-9948-9B36994EBA9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4592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874012"/>
            <a:ext cx="4168775" cy="1560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685289">
              <a:lnSpc>
                <a:spcPct val="100000"/>
              </a:lnSpc>
              <a:tabLst>
                <a:tab pos="3947795" algn="l"/>
              </a:tabLst>
            </a:pP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(4)</a:t>
            </a:r>
            <a:endParaRPr sz="1100">
              <a:latin typeface="Arial"/>
              <a:cs typeface="Arial"/>
            </a:endParaRPr>
          </a:p>
          <a:p>
            <a:pPr marL="63500" marR="182880">
              <a:lnSpc>
                <a:spcPct val="102600"/>
              </a:lnSpc>
              <a:spcBef>
                <a:spcPts val="650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=[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.......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Arial"/>
                <a:cs typeface="Arial"/>
              </a:rPr>
              <a:t>]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[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.......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Arial"/>
                <a:cs typeface="Arial"/>
              </a:rPr>
              <a:t>]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real </a:t>
            </a:r>
            <a:r>
              <a:rPr sz="1100" spc="-10" dirty="0">
                <a:latin typeface="Arial"/>
                <a:cs typeface="Arial"/>
              </a:rPr>
              <a:t>constant.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63500" marR="481330">
              <a:lnSpc>
                <a:spcPct val="102699"/>
              </a:lnSpc>
            </a:pPr>
            <a:r>
              <a:rPr sz="1100" dirty="0">
                <a:latin typeface="Arial"/>
                <a:cs typeface="Arial"/>
              </a:rPr>
              <a:t>Here,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be </a:t>
            </a:r>
            <a:r>
              <a:rPr sz="1100" spc="-10" dirty="0">
                <a:latin typeface="Arial"/>
                <a:cs typeface="Arial"/>
              </a:rPr>
              <a:t>evaluated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D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42490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5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93B50D0-045E-45F3-A39E-A86F54E9633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5045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678547"/>
            <a:ext cx="4180840" cy="21863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394335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two-</a:t>
            </a:r>
            <a:r>
              <a:rPr sz="1100" dirty="0">
                <a:latin typeface="Arial"/>
                <a:cs typeface="Arial"/>
              </a:rPr>
              <a:t>dimensional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two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4.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63500" marR="57785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below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respectively.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Verdana"/>
                <a:cs typeface="Verdana"/>
              </a:rPr>
              <a:t>+</a:t>
            </a:r>
            <a:r>
              <a:rPr sz="1200" spc="60" baseline="-10416" dirty="0">
                <a:latin typeface="Verdana"/>
                <a:cs typeface="Verdana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Meiryo"/>
                <a:cs typeface="Meiryo"/>
              </a:rPr>
              <a:t>−</a:t>
            </a:r>
            <a:r>
              <a:rPr sz="1200" i="1" spc="82" baseline="-10416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4.</a:t>
            </a:r>
            <a:endParaRPr sz="1100">
              <a:latin typeface="Arial"/>
              <a:cs typeface="Arial"/>
            </a:endParaRPr>
          </a:p>
          <a:p>
            <a:pPr marL="63500" marR="111125">
              <a:lnSpc>
                <a:spcPct val="102600"/>
              </a:lnSpc>
              <a:spcBef>
                <a:spcPts val="1435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Verdana"/>
                <a:cs typeface="Verdana"/>
              </a:rPr>
              <a:t>+</a:t>
            </a:r>
            <a:r>
              <a:rPr sz="1200" spc="52" baseline="-10416" dirty="0">
                <a:latin typeface="Verdana"/>
                <a:cs typeface="Verdana"/>
              </a:rPr>
              <a:t> </a:t>
            </a:r>
            <a:r>
              <a:rPr sz="1100" dirty="0">
                <a:latin typeface="Arial"/>
                <a:cs typeface="Arial"/>
              </a:rPr>
              <a:t>located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boundary,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as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876300">
              <a:lnSpc>
                <a:spcPct val="100000"/>
              </a:lnSpc>
              <a:spcBef>
                <a:spcPts val="5"/>
              </a:spcBef>
              <a:tabLst>
                <a:tab pos="2513965" algn="l"/>
                <a:tab pos="39477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Verdana"/>
                <a:cs typeface="Verdana"/>
              </a:rPr>
              <a:t>+</a:t>
            </a:r>
            <a:r>
              <a:rPr sz="1200" spc="52" baseline="-10416" dirty="0">
                <a:latin typeface="Verdana"/>
                <a:cs typeface="Verdan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K</a:t>
            </a:r>
            <a:r>
              <a:rPr sz="1100" i="1" dirty="0">
                <a:latin typeface="Arial"/>
                <a:cs typeface="Arial"/>
              </a:rPr>
              <a:t>	where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(5)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76566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802676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156701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1727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Finding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hyperplane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6748" y="487672"/>
            <a:ext cx="1974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4: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Computation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MMH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776542"/>
            <a:ext cx="4608195" cy="2679700"/>
            <a:chOff x="0" y="776542"/>
            <a:chExt cx="4608195" cy="26797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055" y="776542"/>
              <a:ext cx="3569589" cy="25134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xfrm>
            <a:off x="2048675" y="3331252"/>
            <a:ext cx="511187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80B16E6-E4FB-4427-98A3-5D283B3F68E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US" smtClean="0"/>
              <a:t>28</a:t>
            </a:fld>
            <a:r>
              <a:rPr lang="en-US" spc="-10"/>
              <a:t> </a:t>
            </a:r>
            <a:r>
              <a:rPr lang="en-US"/>
              <a:t>/</a:t>
            </a:r>
            <a:r>
              <a:rPr lang="en-US" spc="-10"/>
              <a:t> </a:t>
            </a:r>
            <a:r>
              <a:rPr lang="en-US" spc="-25"/>
              <a:t>131</a:t>
            </a:r>
            <a:endParaRPr lang="en-US"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Finding</a:t>
            </a:r>
            <a:r>
              <a:rPr spc="55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22646F8-BA7D-4CA4-8EC4-36B6AA0FD9A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29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85774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28317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9432" y="813878"/>
            <a:ext cx="4193540" cy="12065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23749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Similarly,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Meiryo"/>
                <a:cs typeface="Meiryo"/>
              </a:rPr>
              <a:t>−</a:t>
            </a:r>
            <a:r>
              <a:rPr sz="1200" i="1" spc="67" baseline="-10416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located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boundary,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853440">
              <a:lnSpc>
                <a:spcPct val="100000"/>
              </a:lnSpc>
              <a:tabLst>
                <a:tab pos="2526665" algn="l"/>
                <a:tab pos="39604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Meiryo"/>
                <a:cs typeface="Meiryo"/>
              </a:rPr>
              <a:t>−</a:t>
            </a:r>
            <a:r>
              <a:rPr sz="1200" i="1" spc="67" baseline="-10416" dirty="0">
                <a:latin typeface="Meiryo"/>
                <a:cs typeface="Meiryo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40" dirty="0">
                <a:latin typeface="Arial"/>
                <a:cs typeface="Arial"/>
              </a:rPr>
              <a:t> </a:t>
            </a:r>
            <a:r>
              <a:rPr sz="1200" i="1" spc="-75" baseline="31250" dirty="0">
                <a:latin typeface="Meiryo"/>
                <a:cs typeface="Meiryo"/>
              </a:rPr>
              <a:t>t</a:t>
            </a:r>
            <a:r>
              <a:rPr sz="1200" i="1" baseline="31250" dirty="0">
                <a:latin typeface="Meiryo"/>
                <a:cs typeface="Meiryo"/>
              </a:rPr>
              <a:t>	</a:t>
            </a:r>
            <a:r>
              <a:rPr sz="1100" i="1" dirty="0">
                <a:latin typeface="Arial"/>
                <a:cs typeface="Arial"/>
              </a:rPr>
              <a:t>where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200" i="1" baseline="31250" dirty="0">
                <a:latin typeface="Meiryo"/>
                <a:cs typeface="Meiryo"/>
              </a:rPr>
              <a:t>t</a:t>
            </a:r>
            <a:r>
              <a:rPr sz="1200" i="1" spc="75" baseline="31250" dirty="0">
                <a:latin typeface="Meiryo"/>
                <a:cs typeface="Meiryo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&lt;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(6)</a:t>
            </a:r>
            <a:endParaRPr sz="1100" dirty="0">
              <a:latin typeface="Arial"/>
              <a:cs typeface="Arial"/>
            </a:endParaRPr>
          </a:p>
          <a:p>
            <a:pPr marL="75565" marR="55244">
              <a:lnSpc>
                <a:spcPct val="102699"/>
              </a:lnSpc>
              <a:spcBef>
                <a:spcPts val="650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+’s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predict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7552" y="2363926"/>
            <a:ext cx="82326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lang="en-US" sz="1100" dirty="0">
                <a:latin typeface="Lucida Sans Unicode"/>
                <a:cs typeface="Lucida Sans Unicode"/>
              </a:rPr>
              <a:t>{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650" spc="232" baseline="78282" dirty="0">
                <a:latin typeface="Trebuchet MS"/>
                <a:cs typeface="Trebuchet MS"/>
              </a:rPr>
              <a:t> </a:t>
            </a:r>
            <a:r>
              <a:rPr sz="1650" spc="-75" baseline="35353" dirty="0">
                <a:latin typeface="Lucida Sans Unicode"/>
                <a:cs typeface="Lucida Sans Unicode"/>
              </a:rPr>
              <a:t>+</a:t>
            </a:r>
            <a:endParaRPr sz="1650" baseline="35353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0818" y="2277667"/>
            <a:ext cx="942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76450" y="2449740"/>
            <a:ext cx="12954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Meiryo"/>
                <a:cs typeface="Meiryo"/>
              </a:rPr>
              <a:t>−</a:t>
            </a:r>
            <a:r>
              <a:rPr sz="1100" i="1" spc="110" dirty="0">
                <a:latin typeface="Meiryo"/>
                <a:cs typeface="Meiryo"/>
              </a:rPr>
              <a:t> </a:t>
            </a:r>
            <a:r>
              <a:rPr lang="en-US" sz="1100" i="1" spc="110" dirty="0">
                <a:latin typeface="Meiryo"/>
                <a:cs typeface="Meiryo"/>
              </a:rPr>
              <a:t>  </a:t>
            </a:r>
            <a:r>
              <a:rPr sz="1100" i="1" spc="11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&lt;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Hyperplane</a:t>
            </a:r>
            <a:r>
              <a:rPr spc="120" dirty="0"/>
              <a:t> </a:t>
            </a:r>
            <a:r>
              <a:rPr dirty="0"/>
              <a:t>and</a:t>
            </a:r>
            <a:r>
              <a:rPr spc="114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3A8F717-410E-45DE-A6BF-9187218F398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02817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1348917"/>
            <a:ext cx="61874" cy="61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1796580"/>
            <a:ext cx="61874" cy="61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2244242"/>
            <a:ext cx="61874" cy="61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730909"/>
            <a:ext cx="4069715" cy="19196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can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interpreted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Arial"/>
              <a:cs typeface="Arial"/>
            </a:endParaRPr>
          </a:p>
          <a:p>
            <a:pPr marL="289560" marR="255904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Here,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represents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orientation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b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intercept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the </a:t>
            </a:r>
            <a:r>
              <a:rPr sz="1000" dirty="0">
                <a:latin typeface="Arial"/>
                <a:cs typeface="Arial"/>
              </a:rPr>
              <a:t>hyperplane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origin.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Arial"/>
              <a:cs typeface="Arial"/>
            </a:endParaRPr>
          </a:p>
          <a:p>
            <a:pPr marL="289560" marR="26924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If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both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scaled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(up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down)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dividing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non</a:t>
            </a:r>
            <a:r>
              <a:rPr sz="1000" spc="-20" dirty="0">
                <a:latin typeface="Arial"/>
                <a:cs typeface="Arial"/>
              </a:rPr>
              <a:t> zero </a:t>
            </a:r>
            <a:r>
              <a:rPr sz="1000" dirty="0">
                <a:latin typeface="Arial"/>
                <a:cs typeface="Arial"/>
              </a:rPr>
              <a:t>constant,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hyperplane.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Arial"/>
              <a:cs typeface="Arial"/>
            </a:endParaRPr>
          </a:p>
          <a:p>
            <a:pPr marL="289560" marR="61594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This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means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infinite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solutions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various </a:t>
            </a:r>
            <a:r>
              <a:rPr sz="1000" dirty="0">
                <a:latin typeface="Arial"/>
                <a:cs typeface="Arial"/>
              </a:rPr>
              <a:t>scaling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factors,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geometrical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representing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same </a:t>
            </a:r>
            <a:r>
              <a:rPr sz="1000" spc="-10" dirty="0">
                <a:latin typeface="Arial"/>
                <a:cs typeface="Arial"/>
              </a:rPr>
              <a:t>hyperplane.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Hyperplane</a:t>
            </a:r>
            <a:r>
              <a:rPr spc="120" dirty="0"/>
              <a:t> </a:t>
            </a:r>
            <a:r>
              <a:rPr dirty="0"/>
              <a:t>and</a:t>
            </a:r>
            <a:r>
              <a:rPr spc="114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5189859-4ACF-48C2-972B-23780B578E4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93216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491399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017509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71534"/>
            <a:ext cx="76809" cy="76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4032" y="721307"/>
            <a:ext cx="4095115" cy="19424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1600" marR="295910">
              <a:lnSpc>
                <a:spcPct val="102600"/>
              </a:lnSpc>
              <a:spcBef>
                <a:spcPts val="55"/>
              </a:spcBef>
            </a:pPr>
            <a:r>
              <a:rPr sz="1100" spc="-75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avoid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confusion,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Arial"/>
                <a:cs typeface="Arial"/>
              </a:rPr>
              <a:t>unique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 </a:t>
            </a:r>
            <a:r>
              <a:rPr sz="1100" dirty="0">
                <a:latin typeface="Arial"/>
                <a:cs typeface="Arial"/>
              </a:rPr>
              <a:t>adding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200" i="1" spc="82" baseline="27777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±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01600" marR="68580">
              <a:lnSpc>
                <a:spcPct val="102699"/>
              </a:lnSpc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200" i="1" spc="89" baseline="27777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±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 </a:t>
            </a:r>
            <a:r>
              <a:rPr sz="1100" dirty="0">
                <a:latin typeface="Arial"/>
                <a:cs typeface="Arial"/>
              </a:rPr>
              <a:t>parallel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clarity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notation,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Meiryo"/>
                <a:cs typeface="Meiryo"/>
              </a:rPr>
              <a:t>±</a:t>
            </a:r>
            <a:r>
              <a:rPr sz="1100" spc="-25" dirty="0">
                <a:latin typeface="Arial"/>
                <a:cs typeface="Arial"/>
              </a:rPr>
              <a:t>1.</a:t>
            </a:r>
            <a:endParaRPr sz="1100">
              <a:latin typeface="Arial"/>
              <a:cs typeface="Arial"/>
            </a:endParaRPr>
          </a:p>
          <a:p>
            <a:pPr marL="100965" marR="86995">
              <a:lnSpc>
                <a:spcPct val="102600"/>
              </a:lnSpc>
              <a:spcBef>
                <a:spcPts val="1435"/>
              </a:spcBef>
            </a:pPr>
            <a:r>
              <a:rPr sz="1100" dirty="0">
                <a:latin typeface="Arial"/>
                <a:cs typeface="Arial"/>
              </a:rPr>
              <a:t>Having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understating,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position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calculate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219" y="44341"/>
            <a:ext cx="3976211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/>
              <a:t>Calculating</a:t>
            </a:r>
            <a:r>
              <a:rPr sz="1400" b="1" spc="70" dirty="0"/>
              <a:t> </a:t>
            </a:r>
            <a:r>
              <a:rPr sz="1400" b="1" dirty="0"/>
              <a:t>Margin</a:t>
            </a:r>
            <a:r>
              <a:rPr sz="1400" b="1" spc="70" dirty="0"/>
              <a:t> </a:t>
            </a:r>
            <a:r>
              <a:rPr sz="1400" b="1" dirty="0"/>
              <a:t>of</a:t>
            </a:r>
            <a:r>
              <a:rPr sz="1400" b="1" spc="70" dirty="0"/>
              <a:t> </a:t>
            </a:r>
            <a:r>
              <a:rPr sz="1400" b="1" dirty="0"/>
              <a:t>a</a:t>
            </a:r>
            <a:r>
              <a:rPr sz="1400" b="1" spc="70" dirty="0"/>
              <a:t> </a:t>
            </a:r>
            <a:r>
              <a:rPr sz="1400" b="1" spc="-10" dirty="0"/>
              <a:t>Hyperplane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A3C71BA-95CF-4D69-AA0F-0F63D4BE1583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80491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061946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961" y="436687"/>
            <a:ext cx="4232275" cy="19456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88900" marR="11303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(refer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3)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</a:t>
            </a:r>
            <a:r>
              <a:rPr sz="1100" dirty="0">
                <a:latin typeface="Arial"/>
                <a:cs typeface="Arial"/>
              </a:rPr>
              <a:t>boundaries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respectively.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Thus,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1699260">
              <a:lnSpc>
                <a:spcPct val="100000"/>
              </a:lnSpc>
              <a:tabLst>
                <a:tab pos="39731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(7)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 dirty="0">
              <a:latin typeface="Arial"/>
              <a:cs typeface="Arial"/>
            </a:endParaRPr>
          </a:p>
          <a:p>
            <a:pPr marL="1645285">
              <a:lnSpc>
                <a:spcPct val="100000"/>
              </a:lnSpc>
              <a:tabLst>
                <a:tab pos="39731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(8)</a:t>
            </a:r>
            <a:endParaRPr sz="11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85"/>
              </a:spcBef>
            </a:pPr>
            <a:r>
              <a:rPr sz="1100" spc="-25" dirty="0">
                <a:latin typeface="Arial"/>
                <a:cs typeface="Arial"/>
              </a:rPr>
              <a:t>or</a:t>
            </a:r>
            <a:endParaRPr sz="1100" dirty="0">
              <a:latin typeface="Arial"/>
              <a:cs typeface="Arial"/>
            </a:endParaRPr>
          </a:p>
          <a:p>
            <a:pPr marL="1619885">
              <a:lnSpc>
                <a:spcPct val="100000"/>
              </a:lnSpc>
              <a:spcBef>
                <a:spcPts val="35"/>
              </a:spcBef>
              <a:tabLst>
                <a:tab pos="397319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7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3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5" dirty="0">
                <a:latin typeface="Arial"/>
                <a:cs typeface="Arial"/>
              </a:rPr>
              <a:t>(9)</a:t>
            </a:r>
            <a:endParaRPr sz="1100" dirty="0">
              <a:latin typeface="Arial"/>
              <a:cs typeface="Arial"/>
            </a:endParaRPr>
          </a:p>
          <a:p>
            <a:pPr marL="88265" marR="80645">
              <a:lnSpc>
                <a:spcPct val="102600"/>
              </a:lnSpc>
              <a:spcBef>
                <a:spcPts val="35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(.)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Thus </a:t>
            </a:r>
            <a:r>
              <a:rPr sz="1100" dirty="0">
                <a:latin typeface="Arial"/>
                <a:cs typeface="Arial"/>
              </a:rPr>
              <a:t>taking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magnitude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obtained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9881" y="2588449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37878" dirty="0">
                <a:latin typeface="Arial"/>
                <a:cs typeface="Arial"/>
              </a:rPr>
              <a:t>d</a:t>
            </a:r>
            <a:r>
              <a:rPr sz="1650" i="1" spc="135" baseline="-37878" dirty="0">
                <a:latin typeface="Arial"/>
                <a:cs typeface="Arial"/>
              </a:rPr>
              <a:t> </a:t>
            </a:r>
            <a:r>
              <a:rPr sz="1650" baseline="-37878" dirty="0">
                <a:latin typeface="Lucida Sans Unicode"/>
                <a:cs typeface="Lucida Sans Unicode"/>
              </a:rPr>
              <a:t>=</a:t>
            </a:r>
            <a:r>
              <a:rPr sz="1650" spc="97" baseline="-37878" dirty="0">
                <a:latin typeface="Lucida Sans Unicode"/>
                <a:cs typeface="Lucida Sans Unicode"/>
              </a:rPr>
              <a:t> </a:t>
            </a:r>
            <a:r>
              <a:rPr sz="1100" u="sng" spc="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6167" y="2771083"/>
            <a:ext cx="325075" cy="3500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82344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100" i="1" spc="-114" dirty="0">
                <a:latin typeface="Meiryo"/>
                <a:cs typeface="Meiryo"/>
              </a:rPr>
              <a:t>||</a:t>
            </a:r>
            <a:endParaRPr sz="1100" dirty="0">
              <a:latin typeface="Meiryo"/>
              <a:cs typeface="Meiry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0430" y="2682175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(10)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3041890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60" dirty="0">
                <a:latin typeface="Meiryo"/>
                <a:cs typeface="Meiryo"/>
              </a:rPr>
              <a:t>||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7134" y="2879863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65" dirty="0">
                <a:latin typeface="Trebuchet MS"/>
                <a:cs typeface="Trebuchet MS"/>
              </a:rPr>
              <a:t>J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59293" y="3031488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5716" y="3124960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5680" y="3041890"/>
            <a:ext cx="1536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2610" algn="l"/>
              </a:tabLst>
            </a:pPr>
            <a:r>
              <a:rPr sz="1100" i="1" spc="-85" dirty="0">
                <a:latin typeface="Arial"/>
                <a:cs typeface="Arial"/>
              </a:rPr>
              <a:t>W</a:t>
            </a:r>
            <a:r>
              <a:rPr sz="1100" i="1" spc="-85" dirty="0">
                <a:latin typeface="Meiryo"/>
                <a:cs typeface="Meiryo"/>
              </a:rPr>
              <a:t>||</a:t>
            </a:r>
            <a:r>
              <a:rPr sz="1100" i="1" spc="-50" dirty="0">
                <a:latin typeface="Meiryo"/>
                <a:cs typeface="Meiryo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05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.......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9768" y="303148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6192" y="3108463"/>
            <a:ext cx="109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6167" y="3041890"/>
            <a:ext cx="18357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3204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Arial"/>
                <a:cs typeface="Arial"/>
              </a:rPr>
              <a:t>-dimension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dirty="0"/>
              <a:t>Margin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46146E9-6FAB-4EC6-860A-72670747CCF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6583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444" y="764194"/>
            <a:ext cx="4300855" cy="6940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calculate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mathematically,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following.</a:t>
            </a:r>
            <a:endParaRPr sz="1100">
              <a:latin typeface="Arial"/>
              <a:cs typeface="Arial"/>
            </a:endParaRPr>
          </a:p>
          <a:p>
            <a:pPr marL="314960" marR="3048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parallel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5.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860" y="1577249"/>
            <a:ext cx="1683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9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0449" y="1577249"/>
            <a:ext cx="271780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(11)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spc="-20" dirty="0">
                <a:latin typeface="Arial"/>
                <a:cs typeface="Arial"/>
              </a:rPr>
              <a:t>(12)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0860" y="1888501"/>
            <a:ext cx="1683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9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14727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7532" y="2142819"/>
            <a:ext cx="405701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spc="-75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draw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perpendicular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draw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right-</a:t>
            </a:r>
            <a:r>
              <a:rPr sz="1100" dirty="0">
                <a:latin typeface="Arial"/>
                <a:cs typeface="Arial"/>
              </a:rPr>
              <a:t>angled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triangle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Fig.5.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Arial"/>
                <a:cs typeface="Arial"/>
              </a:rPr>
              <a:t>Calculating</a:t>
            </a:r>
            <a:r>
              <a:rPr b="1" spc="6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Margin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7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Hyperplane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6EAF2F4-744D-4186-A65A-0A9132F0054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7" name="Footer Placeholder 4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2923" y="744758"/>
            <a:ext cx="2122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5: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Detail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margin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calculation.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74043" y="1077865"/>
            <a:ext cx="2004060" cy="1537970"/>
            <a:chOff x="1374043" y="1077865"/>
            <a:chExt cx="2004060" cy="1537970"/>
          </a:xfrm>
        </p:grpSpPr>
        <p:sp>
          <p:nvSpPr>
            <p:cNvPr id="5" name="object 5"/>
            <p:cNvSpPr/>
            <p:nvPr/>
          </p:nvSpPr>
          <p:spPr>
            <a:xfrm>
              <a:off x="1376900" y="1080723"/>
              <a:ext cx="1998345" cy="1532255"/>
            </a:xfrm>
            <a:custGeom>
              <a:avLst/>
              <a:gdLst/>
              <a:ahLst/>
              <a:cxnLst/>
              <a:rect l="l" t="t" r="r" b="b"/>
              <a:pathLst>
                <a:path w="1998345" h="1532255">
                  <a:moveTo>
                    <a:pt x="0" y="0"/>
                  </a:moveTo>
                  <a:lnTo>
                    <a:pt x="0" y="1531808"/>
                  </a:lnTo>
                  <a:lnTo>
                    <a:pt x="1997996" y="1531808"/>
                  </a:lnTo>
                </a:path>
                <a:path w="1998345" h="1532255">
                  <a:moveTo>
                    <a:pt x="0" y="133216"/>
                  </a:moveTo>
                  <a:lnTo>
                    <a:pt x="1465223" y="1531808"/>
                  </a:lnTo>
                </a:path>
              </a:pathLst>
            </a:custGeom>
            <a:ln w="56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76900" y="1879929"/>
              <a:ext cx="1669414" cy="732790"/>
            </a:xfrm>
            <a:custGeom>
              <a:avLst/>
              <a:gdLst/>
              <a:ahLst/>
              <a:cxnLst/>
              <a:rect l="l" t="t" r="r" b="b"/>
              <a:pathLst>
                <a:path w="1669414" h="732789">
                  <a:moveTo>
                    <a:pt x="0" y="0"/>
                  </a:moveTo>
                  <a:lnTo>
                    <a:pt x="732602" y="732602"/>
                  </a:lnTo>
                  <a:lnTo>
                    <a:pt x="1087470" y="383015"/>
                  </a:lnTo>
                </a:path>
                <a:path w="1669414" h="732789">
                  <a:moveTo>
                    <a:pt x="1027981" y="441612"/>
                  </a:moveTo>
                  <a:lnTo>
                    <a:pt x="1097714" y="511326"/>
                  </a:lnTo>
                  <a:lnTo>
                    <a:pt x="1161761" y="451761"/>
                  </a:lnTo>
                </a:path>
                <a:path w="1669414" h="732789">
                  <a:moveTo>
                    <a:pt x="1665024" y="732602"/>
                  </a:moveTo>
                  <a:lnTo>
                    <a:pt x="1669043" y="682444"/>
                  </a:lnTo>
                  <a:lnTo>
                    <a:pt x="1665182" y="641023"/>
                  </a:lnTo>
                  <a:lnTo>
                    <a:pt x="1653922" y="608506"/>
                  </a:lnTo>
                  <a:lnTo>
                    <a:pt x="1635745" y="585057"/>
                  </a:lnTo>
                  <a:lnTo>
                    <a:pt x="1611133" y="570845"/>
                  </a:lnTo>
                  <a:lnTo>
                    <a:pt x="1580568" y="566034"/>
                  </a:lnTo>
                  <a:lnTo>
                    <a:pt x="1544531" y="570791"/>
                  </a:lnTo>
                  <a:lnTo>
                    <a:pt x="1503505" y="585283"/>
                  </a:lnTo>
                  <a:lnTo>
                    <a:pt x="1457971" y="609675"/>
                  </a:lnTo>
                  <a:lnTo>
                    <a:pt x="1408412" y="644134"/>
                  </a:lnTo>
                </a:path>
              </a:pathLst>
            </a:custGeom>
            <a:ln w="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64496" y="2509792"/>
              <a:ext cx="33655" cy="31115"/>
            </a:xfrm>
            <a:custGeom>
              <a:avLst/>
              <a:gdLst/>
              <a:ahLst/>
              <a:cxnLst/>
              <a:rect l="l" t="t" r="r" b="b"/>
              <a:pathLst>
                <a:path w="33655" h="31114">
                  <a:moveTo>
                    <a:pt x="14284" y="0"/>
                  </a:moveTo>
                  <a:lnTo>
                    <a:pt x="0" y="30900"/>
                  </a:lnTo>
                  <a:lnTo>
                    <a:pt x="33268" y="23791"/>
                  </a:lnTo>
                  <a:lnTo>
                    <a:pt x="142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58915" y="1806060"/>
              <a:ext cx="294640" cy="313055"/>
            </a:xfrm>
            <a:custGeom>
              <a:avLst/>
              <a:gdLst/>
              <a:ahLst/>
              <a:cxnLst/>
              <a:rect l="l" t="t" r="r" b="b"/>
              <a:pathLst>
                <a:path w="294639" h="313055">
                  <a:moveTo>
                    <a:pt x="0" y="312671"/>
                  </a:moveTo>
                  <a:lnTo>
                    <a:pt x="294016" y="0"/>
                  </a:lnTo>
                </a:path>
              </a:pathLst>
            </a:custGeom>
            <a:ln w="56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37957" y="1783791"/>
              <a:ext cx="336550" cy="357505"/>
            </a:xfrm>
            <a:custGeom>
              <a:avLst/>
              <a:gdLst/>
              <a:ahLst/>
              <a:cxnLst/>
              <a:rect l="l" t="t" r="r" b="b"/>
              <a:pathLst>
                <a:path w="336550" h="357505">
                  <a:moveTo>
                    <a:pt x="36690" y="343738"/>
                  </a:moveTo>
                  <a:lnTo>
                    <a:pt x="11226" y="319773"/>
                  </a:lnTo>
                  <a:lnTo>
                    <a:pt x="0" y="357225"/>
                  </a:lnTo>
                  <a:lnTo>
                    <a:pt x="36690" y="343738"/>
                  </a:lnTo>
                  <a:close/>
                </a:path>
                <a:path w="336550" h="357505">
                  <a:moveTo>
                    <a:pt x="335927" y="0"/>
                  </a:moveTo>
                  <a:lnTo>
                    <a:pt x="299224" y="13487"/>
                  </a:lnTo>
                  <a:lnTo>
                    <a:pt x="324700" y="37452"/>
                  </a:lnTo>
                  <a:lnTo>
                    <a:pt x="3359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 rot="2700000">
            <a:off x="1682496" y="1404039"/>
            <a:ext cx="112897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10" dirty="0">
                <a:latin typeface="Arial"/>
                <a:cs typeface="Arial"/>
              </a:rPr>
              <a:t>w</a:t>
            </a:r>
            <a:endParaRPr sz="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 rot="2700000">
            <a:off x="1721337" y="1468809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 rot="2700000">
            <a:off x="1745231" y="1462065"/>
            <a:ext cx="103740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5" dirty="0">
                <a:latin typeface="Arial"/>
                <a:cs typeface="Arial"/>
              </a:rPr>
              <a:t>x</a:t>
            </a:r>
            <a:endParaRPr sz="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700000">
            <a:off x="1772885" y="1520310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 rot="2700000">
            <a:off x="1815642" y="1562493"/>
            <a:ext cx="164024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-50" dirty="0">
                <a:latin typeface="Arial"/>
                <a:cs typeface="Arial"/>
              </a:rPr>
              <a:t>+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w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 rot="2700000">
            <a:off x="1905819" y="1653291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 rot="2700000">
            <a:off x="1929713" y="1646548"/>
            <a:ext cx="103740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5" dirty="0">
                <a:latin typeface="Arial"/>
                <a:cs typeface="Arial"/>
              </a:rPr>
              <a:t>x</a:t>
            </a:r>
            <a:endParaRPr sz="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 rot="2700000">
            <a:off x="1957367" y="1704793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 rot="2700000">
            <a:off x="2000683" y="1741435"/>
            <a:ext cx="151333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-50" dirty="0">
                <a:latin typeface="Arial"/>
                <a:cs typeface="Arial"/>
              </a:rPr>
              <a:t>–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 rot="2700000">
            <a:off x="2078743" y="1826168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700000">
            <a:off x="2123425" y="1869621"/>
            <a:ext cx="147118" cy="8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"/>
              </a:lnSpc>
            </a:pPr>
            <a:r>
              <a:rPr sz="650" spc="-50" dirty="0">
                <a:latin typeface="Arial"/>
                <a:cs typeface="Arial"/>
              </a:rPr>
              <a:t>=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 rot="2700000">
            <a:off x="1391088" y="2005041"/>
            <a:ext cx="112897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10" dirty="0">
                <a:latin typeface="Arial"/>
                <a:cs typeface="Arial"/>
              </a:rPr>
              <a:t>w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 rot="2700000">
            <a:off x="1429942" y="2069858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 rot="2700000">
            <a:off x="1453836" y="2063114"/>
            <a:ext cx="103740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5" dirty="0">
                <a:latin typeface="Arial"/>
                <a:cs typeface="Arial"/>
              </a:rPr>
              <a:t>x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2700000">
            <a:off x="1481467" y="2121359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2700000">
            <a:off x="1524243" y="2163544"/>
            <a:ext cx="164024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-50" dirty="0">
                <a:latin typeface="Arial"/>
                <a:cs typeface="Arial"/>
              </a:rPr>
              <a:t>+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w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2700000">
            <a:off x="1614434" y="2254341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 rot="2700000">
            <a:off x="1638328" y="2247597"/>
            <a:ext cx="103740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5" dirty="0">
                <a:latin typeface="Arial"/>
                <a:cs typeface="Arial"/>
              </a:rPr>
              <a:t>x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 rot="2700000">
            <a:off x="1665935" y="2305842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 rot="2700000">
            <a:off x="1709290" y="2342481"/>
            <a:ext cx="151333" cy="93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35"/>
              </a:lnSpc>
            </a:pPr>
            <a:r>
              <a:rPr sz="650" spc="-50" dirty="0">
                <a:latin typeface="Arial"/>
                <a:cs typeface="Arial"/>
              </a:rPr>
              <a:t>–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 rot="2700000">
            <a:off x="1787358" y="2427226"/>
            <a:ext cx="69007" cy="5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70"/>
              </a:lnSpc>
            </a:pPr>
            <a:r>
              <a:rPr sz="400" spc="1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 rot="2700000">
            <a:off x="1832039" y="2470670"/>
            <a:ext cx="147118" cy="84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"/>
              </a:lnSpc>
            </a:pPr>
            <a:r>
              <a:rPr sz="650" spc="-50" dirty="0">
                <a:latin typeface="Arial"/>
                <a:cs typeface="Arial"/>
              </a:rPr>
              <a:t>=</a:t>
            </a:r>
            <a:r>
              <a:rPr sz="650" spc="500" dirty="0">
                <a:latin typeface="Arial"/>
                <a:cs typeface="Arial"/>
              </a:rPr>
              <a:t> </a:t>
            </a:r>
            <a:r>
              <a:rPr sz="650" spc="-50" dirty="0"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15386" y="1073802"/>
            <a:ext cx="16319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975" spc="-37" baseline="8547" dirty="0">
                <a:latin typeface="Arial"/>
                <a:cs typeface="Arial"/>
              </a:rPr>
              <a:t>X</a:t>
            </a:r>
            <a:r>
              <a:rPr sz="400" spc="-2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226699" y="2685508"/>
            <a:ext cx="16319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975" spc="-37" baseline="8547" dirty="0">
                <a:latin typeface="Arial"/>
                <a:cs typeface="Arial"/>
              </a:rPr>
              <a:t>X</a:t>
            </a:r>
            <a:r>
              <a:rPr sz="400" spc="-2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7927" y="2591404"/>
            <a:ext cx="490220" cy="252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650" spc="10" dirty="0"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975" baseline="8547" dirty="0">
                <a:latin typeface="Arial"/>
                <a:cs typeface="Arial"/>
              </a:rPr>
              <a:t>(b</a:t>
            </a:r>
            <a:r>
              <a:rPr sz="400" dirty="0">
                <a:latin typeface="Arial"/>
                <a:cs typeface="Arial"/>
              </a:rPr>
              <a:t>1</a:t>
            </a:r>
            <a:r>
              <a:rPr sz="400" spc="80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/</a:t>
            </a:r>
            <a:r>
              <a:rPr sz="975" spc="22" baseline="8547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w</a:t>
            </a:r>
            <a:r>
              <a:rPr sz="400" dirty="0">
                <a:latin typeface="Arial"/>
                <a:cs typeface="Arial"/>
              </a:rPr>
              <a:t>1</a:t>
            </a:r>
            <a:r>
              <a:rPr sz="400" spc="85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,</a:t>
            </a:r>
            <a:r>
              <a:rPr sz="975" spc="22" baseline="8547" dirty="0">
                <a:latin typeface="Arial"/>
                <a:cs typeface="Arial"/>
              </a:rPr>
              <a:t> </a:t>
            </a:r>
            <a:r>
              <a:rPr sz="975" spc="-37" baseline="8547" dirty="0">
                <a:latin typeface="Arial"/>
                <a:cs typeface="Arial"/>
              </a:rPr>
              <a:t>0)</a:t>
            </a:r>
            <a:endParaRPr sz="975" baseline="8547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99535" y="1143723"/>
            <a:ext cx="16827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975" spc="-37" baseline="8547" dirty="0">
                <a:latin typeface="Arial"/>
                <a:cs typeface="Arial"/>
              </a:rPr>
              <a:t>H</a:t>
            </a:r>
            <a:r>
              <a:rPr sz="400" spc="-25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99535" y="1806376"/>
            <a:ext cx="16827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975" spc="-37" baseline="8547" dirty="0">
                <a:latin typeface="Arial"/>
                <a:cs typeface="Arial"/>
              </a:rPr>
              <a:t>H</a:t>
            </a:r>
            <a:r>
              <a:rPr sz="400" spc="-25" dirty="0">
                <a:latin typeface="Arial"/>
                <a:cs typeface="Arial"/>
              </a:rPr>
              <a:t>1</a:t>
            </a:r>
            <a:endParaRPr sz="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740289" y="1811357"/>
            <a:ext cx="7302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5" dirty="0"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52564" y="2154337"/>
            <a:ext cx="86995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10" dirty="0"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87964" y="2581415"/>
            <a:ext cx="481965" cy="252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650" spc="10" dirty="0"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975" baseline="8547" dirty="0">
                <a:latin typeface="Arial"/>
                <a:cs typeface="Arial"/>
              </a:rPr>
              <a:t>(b</a:t>
            </a:r>
            <a:r>
              <a:rPr sz="400" dirty="0">
                <a:latin typeface="Arial"/>
                <a:cs typeface="Arial"/>
              </a:rPr>
              <a:t>2</a:t>
            </a:r>
            <a:r>
              <a:rPr sz="400" spc="85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/</a:t>
            </a:r>
            <a:r>
              <a:rPr sz="975" spc="30" baseline="8547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w</a:t>
            </a:r>
            <a:r>
              <a:rPr sz="400" dirty="0">
                <a:latin typeface="Arial"/>
                <a:cs typeface="Arial"/>
              </a:rPr>
              <a:t>1</a:t>
            </a:r>
            <a:r>
              <a:rPr sz="400" spc="15" dirty="0">
                <a:latin typeface="Arial"/>
                <a:cs typeface="Arial"/>
              </a:rPr>
              <a:t> </a:t>
            </a:r>
            <a:r>
              <a:rPr sz="975" baseline="8547" dirty="0">
                <a:latin typeface="Arial"/>
                <a:cs typeface="Arial"/>
              </a:rPr>
              <a:t>,</a:t>
            </a:r>
            <a:r>
              <a:rPr sz="975" spc="22" baseline="8547" dirty="0">
                <a:latin typeface="Arial"/>
                <a:cs typeface="Arial"/>
              </a:rPr>
              <a:t> </a:t>
            </a:r>
            <a:r>
              <a:rPr sz="975" spc="-37" baseline="8547" dirty="0">
                <a:latin typeface="Arial"/>
                <a:cs typeface="Arial"/>
              </a:rPr>
              <a:t>0)</a:t>
            </a:r>
            <a:endParaRPr sz="975" baseline="8547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313" y="2459348"/>
            <a:ext cx="63469" cy="66598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dirty="0"/>
              <a:t>Margin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4D7849B8-94A8-4170-B27B-9ECAE3E3957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45909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2690" y="734909"/>
            <a:ext cx="598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8955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6792" y="580274"/>
            <a:ext cx="125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6817" y="64118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1392" y="769034"/>
            <a:ext cx="233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674000"/>
            <a:ext cx="3385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333750" algn="l"/>
              </a:tabLst>
            </a:pPr>
            <a:r>
              <a:rPr sz="1100" dirty="0">
                <a:latin typeface="Arial"/>
                <a:cs typeface="Arial"/>
              </a:rPr>
              <a:t>Being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parallel,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slope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4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tan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017244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77532" y="945335"/>
            <a:ext cx="4130040" cy="5403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triangle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ABC,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hypotenuse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perpendicular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H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R="1097915" algn="ctr">
              <a:lnSpc>
                <a:spcPct val="100000"/>
              </a:lnSpc>
              <a:spcBef>
                <a:spcPts val="65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459357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85632" y="1482482"/>
            <a:ext cx="210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AB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32" y="1387448"/>
            <a:ext cx="2776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642745" algn="l"/>
              </a:tabLst>
            </a:pPr>
            <a:r>
              <a:rPr sz="1100" dirty="0">
                <a:latin typeface="Arial"/>
                <a:cs typeface="Arial"/>
              </a:rPr>
              <a:t>Thus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sin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dirty="0">
                <a:latin typeface="Arial"/>
                <a:cs typeface="Arial"/>
              </a:rPr>
              <a:t>180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AC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AB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20" dirty="0">
                <a:latin typeface="Arial"/>
                <a:cs typeface="Arial"/>
              </a:rPr>
              <a:t>sin</a:t>
            </a:r>
            <a:r>
              <a:rPr sz="1100" i="1" spc="-20" dirty="0">
                <a:latin typeface="Times New Roman"/>
                <a:cs typeface="Times New Roman"/>
              </a:rPr>
              <a:t>θ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1692769"/>
            <a:ext cx="1102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12140" algn="l"/>
                <a:tab pos="981710" algn="l"/>
              </a:tabLst>
            </a:pPr>
            <a:r>
              <a:rPr sz="1100" i="1" dirty="0">
                <a:latin typeface="Arial"/>
                <a:cs typeface="Arial"/>
              </a:rPr>
              <a:t>AB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5332" y="1599043"/>
            <a:ext cx="1101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4650" algn="l"/>
                <a:tab pos="741045" algn="l"/>
              </a:tabLst>
            </a:pP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100" i="1" spc="235" dirty="0">
                <a:latin typeface="Arial"/>
                <a:cs typeface="Arial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−</a:t>
            </a:r>
            <a:r>
              <a:rPr sz="1100" i="1" u="sng" spc="50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 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2357" y="1659952"/>
            <a:ext cx="11645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650" algn="l"/>
                <a:tab pos="779145" algn="l"/>
                <a:tab pos="1088390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 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81339" y="1599043"/>
            <a:ext cx="2038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u="sng" spc="-13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5726" y="1787803"/>
            <a:ext cx="1179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12750" algn="l"/>
                <a:tab pos="972185" algn="l"/>
              </a:tabLst>
            </a:pP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23248" y="1599043"/>
            <a:ext cx="233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12504" y="1809381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>
                <a:moveTo>
                  <a:pt x="0" y="0"/>
                </a:moveTo>
                <a:lnTo>
                  <a:pt x="66029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074646" y="1692769"/>
            <a:ext cx="689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sin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50" dirty="0">
                <a:latin typeface="Lucida Sans Unicode"/>
                <a:cs typeface="Lucida Sans Unicode"/>
              </a:rPr>
              <a:t> </a:t>
            </a:r>
            <a:r>
              <a:rPr sz="1650" spc="772" baseline="2525" dirty="0">
                <a:latin typeface="Trebuchet MS"/>
                <a:cs typeface="Trebuchet MS"/>
              </a:rPr>
              <a:t>J</a:t>
            </a:r>
            <a:endParaRPr sz="1650" baseline="2525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51061" y="1837093"/>
            <a:ext cx="521970" cy="0"/>
          </a:xfrm>
          <a:custGeom>
            <a:avLst/>
            <a:gdLst/>
            <a:ahLst/>
            <a:cxnLst/>
            <a:rect l="l" t="t" r="r" b="b"/>
            <a:pathLst>
              <a:path w="521970">
                <a:moveTo>
                  <a:pt x="0" y="0"/>
                </a:moveTo>
                <a:lnTo>
                  <a:pt x="521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712961" y="1850642"/>
            <a:ext cx="591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w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9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w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spc="-75" baseline="27777" dirty="0">
                <a:latin typeface="Arial"/>
                <a:cs typeface="Arial"/>
              </a:rPr>
              <a:t>2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8386" y="1933713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00452" y="2017228"/>
            <a:ext cx="125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0477" y="207813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75052" y="2205988"/>
            <a:ext cx="233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1453" y="2110954"/>
            <a:ext cx="13271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29360" algn="l"/>
              </a:tabLst>
            </a:pPr>
            <a:r>
              <a:rPr sz="1100" dirty="0">
                <a:latin typeface="Arial"/>
                <a:cs typeface="Arial"/>
              </a:rPr>
              <a:t>(Since,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tan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25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549728"/>
            <a:ext cx="76809" cy="7680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316824" y="2384093"/>
            <a:ext cx="601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u="sng" spc="-4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</a:t>
            </a:r>
            <a:r>
              <a:rPr sz="1100" i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200" u="sng" spc="-60" baseline="-138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</a:t>
            </a:r>
            <a:r>
              <a:rPr sz="1200" u="sng" baseline="-138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5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−</a:t>
            </a:r>
            <a:r>
              <a:rPr sz="1100" i="1" u="sng" spc="-135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</a:t>
            </a:r>
            <a:r>
              <a:rPr sz="1200" u="sng" spc="-37" baseline="-138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932" y="2477819"/>
            <a:ext cx="10363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Hence,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AC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20" dirty="0">
                <a:latin typeface="Lucida Sans Unicode"/>
                <a:cs typeface="Lucida Sans Unicode"/>
              </a:rPr>
              <a:t> </a:t>
            </a:r>
            <a:r>
              <a:rPr sz="1650" spc="772" baseline="2525" dirty="0">
                <a:latin typeface="Trebuchet MS"/>
                <a:cs typeface="Trebuchet MS"/>
              </a:rPr>
              <a:t>J</a:t>
            </a:r>
            <a:endParaRPr sz="1650" baseline="2525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426095" y="2622131"/>
            <a:ext cx="521970" cy="0"/>
          </a:xfrm>
          <a:custGeom>
            <a:avLst/>
            <a:gdLst/>
            <a:ahLst/>
            <a:cxnLst/>
            <a:rect l="l" t="t" r="r" b="b"/>
            <a:pathLst>
              <a:path w="521969">
                <a:moveTo>
                  <a:pt x="0" y="0"/>
                </a:moveTo>
                <a:lnTo>
                  <a:pt x="52175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387995" y="2635680"/>
            <a:ext cx="391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24305" dirty="0">
                <a:latin typeface="Arial"/>
                <a:cs typeface="Arial"/>
              </a:rPr>
              <a:t>1</a:t>
            </a:r>
            <a:r>
              <a:rPr sz="1200" spc="232" baseline="-2430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+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58975" y="271876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01609" y="2477819"/>
            <a:ext cx="551180" cy="302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3180" algn="r">
              <a:lnSpc>
                <a:spcPts val="1095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R="102870" algn="r">
              <a:lnSpc>
                <a:spcPts val="1095"/>
              </a:lnSpc>
              <a:tabLst>
                <a:tab pos="231775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650" i="1" spc="-15" baseline="-20202" dirty="0">
                <a:latin typeface="Arial"/>
                <a:cs typeface="Arial"/>
              </a:rPr>
              <a:t>w</a:t>
            </a:r>
            <a:r>
              <a:rPr sz="1650" i="1" spc="-300" baseline="-20202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dirty="0"/>
              <a:t>Margin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1777EC9-DD22-4CB1-9A94-D48F144AB80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4665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74762"/>
            <a:ext cx="39916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generalized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parallel </a:t>
            </a:r>
            <a:r>
              <a:rPr sz="1100" dirty="0">
                <a:latin typeface="Arial"/>
                <a:cs typeface="Arial"/>
              </a:rPr>
              <a:t>margins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-dimensional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0691" y="1338223"/>
            <a:ext cx="1773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035050" algn="l"/>
              </a:tabLst>
            </a:pPr>
            <a:r>
              <a:rPr sz="1100" i="1" spc="-40" dirty="0">
                <a:latin typeface="Meiryo"/>
                <a:cs typeface="Meiryo"/>
              </a:rPr>
              <a:t>|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200" spc="-60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100" i="1" spc="-25" dirty="0">
                <a:latin typeface="Meiryo"/>
                <a:cs typeface="Meiryo"/>
              </a:rPr>
              <a:t>|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650" i="1" spc="-345" baseline="-37878" dirty="0">
                <a:latin typeface="Meiryo"/>
                <a:cs typeface="Meiryo"/>
              </a:rPr>
              <a:t>c::</a:t>
            </a:r>
            <a:r>
              <a:rPr sz="1650" i="1" spc="67" baseline="-37878" dirty="0">
                <a:latin typeface="Meiryo"/>
                <a:cs typeface="Meiryo"/>
              </a:rPr>
              <a:t> </a:t>
            </a:r>
            <a:r>
              <a:rPr sz="1100" i="1" spc="-40" dirty="0">
                <a:latin typeface="Meiryo"/>
                <a:cs typeface="Meiryo"/>
              </a:rPr>
              <a:t>|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200" spc="-60" baseline="-13888" dirty="0">
                <a:latin typeface="Arial"/>
                <a:cs typeface="Arial"/>
              </a:rPr>
              <a:t>2</a:t>
            </a:r>
            <a:r>
              <a:rPr sz="1200" spc="3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100" i="1" spc="-25" dirty="0">
                <a:latin typeface="Meiryo"/>
                <a:cs typeface="Meiryo"/>
              </a:rPr>
              <a:t>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5878" y="1548561"/>
            <a:ext cx="1337310" cy="0"/>
          </a:xfrm>
          <a:custGeom>
            <a:avLst/>
            <a:gdLst/>
            <a:ahLst/>
            <a:cxnLst/>
            <a:rect l="l" t="t" r="r" b="b"/>
            <a:pathLst>
              <a:path w="1337310">
                <a:moveTo>
                  <a:pt x="0" y="0"/>
                </a:moveTo>
                <a:lnTo>
                  <a:pt x="133681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2932" y="1431949"/>
            <a:ext cx="4546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55" dirty="0">
                <a:latin typeface="Lucida Sans Unicode"/>
                <a:cs typeface="Lucida Sans Unicode"/>
              </a:rPr>
              <a:t> </a:t>
            </a:r>
            <a:r>
              <a:rPr sz="1650" spc="772" baseline="2525" dirty="0">
                <a:latin typeface="Trebuchet MS"/>
                <a:cs typeface="Trebuchet MS"/>
              </a:rPr>
              <a:t>J</a:t>
            </a:r>
            <a:endParaRPr sz="1650" baseline="2525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4422" y="1576260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80">
                <a:moveTo>
                  <a:pt x="0" y="0"/>
                </a:moveTo>
                <a:lnTo>
                  <a:pt x="11982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45324" y="1579421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1748" y="1672893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722" y="1589810"/>
            <a:ext cx="1148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4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95" dirty="0">
                <a:latin typeface="Meiryo"/>
                <a:cs typeface="Meiryo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95" dirty="0">
                <a:latin typeface="Meiryo"/>
                <a:cs typeface="Meiryo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7382" y="15794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53806" y="165639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57780" y="1548561"/>
            <a:ext cx="525780" cy="0"/>
          </a:xfrm>
          <a:custGeom>
            <a:avLst/>
            <a:gdLst/>
            <a:ahLst/>
            <a:cxnLst/>
            <a:rect l="l" t="t" r="r" b="b"/>
            <a:pathLst>
              <a:path w="525780">
                <a:moveTo>
                  <a:pt x="0" y="0"/>
                </a:moveTo>
                <a:lnTo>
                  <a:pt x="52557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25230" y="1526983"/>
            <a:ext cx="391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latin typeface="Meiryo"/>
                <a:cs typeface="Meiryo"/>
              </a:rPr>
              <a:t>I</a:t>
            </a:r>
            <a:r>
              <a:rPr sz="1100" i="1" spc="-8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i="1" spc="45" dirty="0">
                <a:latin typeface="Meiryo"/>
                <a:cs typeface="Meiryo"/>
              </a:rPr>
              <a:t>I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6672" y="1839365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65" dirty="0">
                <a:latin typeface="Trebuchet MS"/>
                <a:cs typeface="Trebuchet MS"/>
              </a:rPr>
              <a:t>J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17916" y="1987842"/>
            <a:ext cx="1198880" cy="0"/>
          </a:xfrm>
          <a:custGeom>
            <a:avLst/>
            <a:gdLst/>
            <a:ahLst/>
            <a:cxnLst/>
            <a:rect l="l" t="t" r="r" b="b"/>
            <a:pathLst>
              <a:path w="1198880">
                <a:moveTo>
                  <a:pt x="0" y="0"/>
                </a:moveTo>
                <a:lnTo>
                  <a:pt x="11982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18818" y="199099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64359" y="199099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5241" y="2084475"/>
            <a:ext cx="4273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40876" y="199099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7299" y="206797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932" y="2001391"/>
            <a:ext cx="2364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14425" algn="l"/>
              </a:tabLst>
            </a:pPr>
            <a:r>
              <a:rPr sz="1100" dirty="0">
                <a:latin typeface="Arial"/>
                <a:cs typeface="Arial"/>
              </a:rPr>
              <a:t>where,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95" dirty="0">
                <a:latin typeface="Meiryo"/>
                <a:cs typeface="Meiryo"/>
              </a:rPr>
              <a:t>I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i="1" spc="-25" dirty="0">
                <a:latin typeface="Meiryo"/>
                <a:cs typeface="Meiryo"/>
              </a:rPr>
              <a:t>I</a:t>
            </a:r>
            <a:r>
              <a:rPr sz="1100" spc="-25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95" dirty="0">
                <a:latin typeface="Meiryo"/>
                <a:cs typeface="Meiryo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95" dirty="0">
                <a:latin typeface="Meiryo"/>
                <a:cs typeface="Meiryo"/>
              </a:rPr>
              <a:t> </a:t>
            </a:r>
            <a:r>
              <a:rPr sz="1100" i="1" spc="-90" dirty="0">
                <a:latin typeface="Meiryo"/>
                <a:cs typeface="Meiryo"/>
              </a:rPr>
              <a:t>·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29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53640"/>
            <a:ext cx="76809" cy="7680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02932" y="2381731"/>
            <a:ext cx="37293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literature,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famously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µ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W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dirty="0"/>
              <a:t>Margin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spc="-10" dirty="0"/>
              <a:t>Hyperplane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518BD6C-A79A-4CCA-A2FD-70040B58C9D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4404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72133"/>
            <a:ext cx="4001770" cy="746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phase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involves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estimating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2700" marR="45720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chosen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inequalities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satisfied.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026147"/>
            <a:ext cx="76809" cy="76809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21066" y="1489680"/>
          <a:ext cx="3280409" cy="690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R="351790" algn="r">
                        <a:lnSpc>
                          <a:spcPts val="126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i="1" spc="26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sz="1100" spc="-7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i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50" dirty="0">
                          <a:latin typeface="Meiryo"/>
                          <a:cs typeface="Meiryo"/>
                        </a:rPr>
                        <a:t>≥</a:t>
                      </a:r>
                      <a:r>
                        <a:rPr sz="1100" i="1" spc="-35" dirty="0">
                          <a:latin typeface="Meiryo"/>
                          <a:cs typeface="Meiryo"/>
                        </a:rPr>
                        <a:t> </a:t>
                      </a:r>
                      <a:r>
                        <a:rPr sz="1100" spc="-6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26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if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26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i="1" spc="254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1100" spc="-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26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(13)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R="35179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i="1" spc="26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sz="1100" spc="-7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1100" i="1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50" dirty="0">
                          <a:latin typeface="Meiryo"/>
                          <a:cs typeface="Meiryo"/>
                        </a:rPr>
                        <a:t>≤</a:t>
                      </a:r>
                      <a:r>
                        <a:rPr sz="1100" i="1" spc="-30" dirty="0">
                          <a:latin typeface="Meiryo"/>
                          <a:cs typeface="Meiryo"/>
                        </a:rPr>
                        <a:t> </a:t>
                      </a:r>
                      <a:r>
                        <a:rPr sz="1100" i="1" spc="-25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if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200" i="1" baseline="-13888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200" i="1" spc="254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1100" spc="-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i="1" spc="-25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(14)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223084"/>
            <a:ext cx="76809" cy="76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2151175"/>
            <a:ext cx="3982085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conditions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requirements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tuples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+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those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be </a:t>
            </a:r>
            <a:r>
              <a:rPr sz="1100" dirty="0">
                <a:latin typeface="Arial"/>
                <a:cs typeface="Arial"/>
              </a:rPr>
              <a:t>located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(also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see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4).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Learning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Linear</a:t>
            </a:r>
            <a:r>
              <a:rPr spc="65" dirty="0"/>
              <a:t> </a:t>
            </a:r>
            <a:r>
              <a:rPr spc="-25" dirty="0"/>
              <a:t>SVM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4623F0C-6C17-4A89-ACDE-D7A636D00AD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2340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832" y="651496"/>
            <a:ext cx="414274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Both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inequalities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summarized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tabLst>
                <a:tab pos="2522855" algn="l"/>
                <a:tab pos="3857625" algn="l"/>
              </a:tabLst>
            </a:pP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1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20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3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10" dirty="0">
                <a:latin typeface="Meiryo"/>
                <a:cs typeface="Meiryo"/>
              </a:rPr>
              <a:t> </a:t>
            </a:r>
            <a:r>
              <a:rPr sz="1100" spc="-50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i="1" spc="-325" dirty="0">
                <a:latin typeface="Meiryo"/>
                <a:cs typeface="Meiryo"/>
              </a:rPr>
              <a:t>∀</a:t>
            </a:r>
            <a:r>
              <a:rPr sz="1200" i="1" spc="-487" baseline="-13888" dirty="0">
                <a:latin typeface="Arial"/>
                <a:cs typeface="Arial"/>
              </a:rPr>
              <a:t>i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...,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(15)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321866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1249958"/>
            <a:ext cx="4065270" cy="15563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214629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support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vectors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 marR="227329">
              <a:lnSpc>
                <a:spcPct val="102600"/>
              </a:lnSpc>
              <a:spcBef>
                <a:spcPts val="580"/>
              </a:spcBef>
            </a:pPr>
            <a:r>
              <a:rPr sz="1100" spc="-10" dirty="0">
                <a:latin typeface="Arial"/>
                <a:cs typeface="Arial"/>
              </a:rPr>
              <a:t>Essentially,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difficult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information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classification.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58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approach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ts val="1275"/>
              </a:lnSpc>
              <a:spcBef>
                <a:spcPts val="61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problem,</a:t>
            </a:r>
            <a:endParaRPr sz="1100">
              <a:latin typeface="Arial"/>
              <a:cs typeface="Arial"/>
            </a:endParaRPr>
          </a:p>
          <a:p>
            <a:pPr marL="8255" algn="ctr">
              <a:lnSpc>
                <a:spcPts val="915"/>
              </a:lnSpc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39976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158085"/>
            <a:ext cx="76809" cy="768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576195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319045" y="2792971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>
                <a:moveTo>
                  <a:pt x="0" y="0"/>
                </a:moveTo>
                <a:lnTo>
                  <a:pt x="19055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06345" y="2763277"/>
            <a:ext cx="2165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Meiryo"/>
                <a:cs typeface="Meiryo"/>
              </a:rPr>
              <a:t>1</a:t>
            </a:r>
            <a:r>
              <a:rPr sz="800" i="1" spc="-50" dirty="0">
                <a:latin typeface="Arial"/>
                <a:cs typeface="Arial"/>
              </a:rPr>
              <a:t>w</a:t>
            </a:r>
            <a:r>
              <a:rPr sz="800" i="1" spc="-130" dirty="0">
                <a:latin typeface="Arial"/>
                <a:cs typeface="Arial"/>
              </a:rPr>
              <a:t> </a:t>
            </a:r>
            <a:r>
              <a:rPr sz="800" i="1" spc="-50" dirty="0">
                <a:latin typeface="Meiryo"/>
                <a:cs typeface="Meiryo"/>
              </a:rPr>
              <a:t>1</a:t>
            </a:r>
            <a:endParaRPr sz="800">
              <a:latin typeface="Meiryo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2676358"/>
            <a:ext cx="2173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21535" algn="l"/>
              </a:tabLst>
            </a:pP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maximize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µ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W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50" dirty="0">
                <a:latin typeface="Lucida Sans Unicode"/>
                <a:cs typeface="Lucida Sans Unicode"/>
              </a:rPr>
              <a:t> 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Searching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25" dirty="0"/>
              <a:t>MMH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D9FE995-A6AC-4396-8360-4AC1158160B5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39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0011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828216"/>
            <a:ext cx="4193540" cy="180911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2343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Maximizing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25" dirty="0">
                <a:latin typeface="Arial"/>
                <a:cs typeface="Arial"/>
              </a:rPr>
              <a:t> however, </a:t>
            </a:r>
            <a:r>
              <a:rPr sz="1100" spc="-10" dirty="0">
                <a:latin typeface="Arial"/>
                <a:cs typeface="Arial"/>
              </a:rPr>
              <a:t>equivalent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minimizing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objective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570990">
              <a:lnSpc>
                <a:spcPts val="1035"/>
              </a:lnSpc>
              <a:spcBef>
                <a:spcPts val="5"/>
              </a:spcBef>
              <a:tabLst>
                <a:tab pos="3870325" algn="l"/>
              </a:tabLst>
            </a:pPr>
            <a:r>
              <a:rPr sz="1100" i="1" spc="60" dirty="0">
                <a:latin typeface="Times New Roman"/>
                <a:cs typeface="Times New Roman"/>
              </a:rPr>
              <a:t>µ</a:t>
            </a:r>
            <a:r>
              <a:rPr sz="1200" spc="89" baseline="31250" dirty="0">
                <a:latin typeface="Verdana"/>
                <a:cs typeface="Verdana"/>
              </a:rPr>
              <a:t>‘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W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110" dirty="0">
                <a:latin typeface="Lucida Sans Unicode"/>
                <a:cs typeface="Lucida Sans Unicode"/>
              </a:rPr>
              <a:t> </a:t>
            </a:r>
            <a:r>
              <a:rPr sz="1650" i="1" u="sng" spc="-15" baseline="37878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650" i="1" u="sng" spc="-15" baseline="3787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650" i="1" u="sng" spc="-15" baseline="37878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650" i="1" baseline="37878" dirty="0">
                <a:latin typeface="Meiryo"/>
                <a:cs typeface="Meiryo"/>
              </a:rPr>
              <a:t>	</a:t>
            </a:r>
            <a:r>
              <a:rPr sz="1100" spc="-20" dirty="0">
                <a:latin typeface="Arial"/>
                <a:cs typeface="Arial"/>
              </a:rPr>
              <a:t>(16)</a:t>
            </a:r>
            <a:endParaRPr sz="1100">
              <a:latin typeface="Arial"/>
              <a:cs typeface="Arial"/>
            </a:endParaRPr>
          </a:p>
          <a:p>
            <a:pPr marL="2403475">
              <a:lnSpc>
                <a:spcPts val="1035"/>
              </a:lnSpc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63500" marR="309880">
              <a:lnSpc>
                <a:spcPct val="102600"/>
              </a:lnSpc>
              <a:spcBef>
                <a:spcPts val="19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nutshell,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R="5080" algn="ctr">
              <a:lnSpc>
                <a:spcPct val="100000"/>
              </a:lnSpc>
              <a:tabLst>
                <a:tab pos="727075" algn="l"/>
              </a:tabLst>
            </a:pPr>
            <a:r>
              <a:rPr sz="1100" i="1" spc="-10" dirty="0">
                <a:latin typeface="Arial"/>
                <a:cs typeface="Arial"/>
              </a:rPr>
              <a:t>minimize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60" dirty="0">
                <a:latin typeface="Times New Roman"/>
                <a:cs typeface="Times New Roman"/>
              </a:rPr>
              <a:t>µ</a:t>
            </a:r>
            <a:r>
              <a:rPr sz="1200" spc="89" baseline="31250" dirty="0">
                <a:latin typeface="Verdana"/>
                <a:cs typeface="Verdana"/>
              </a:rPr>
              <a:t>‘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W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638175">
              <a:lnSpc>
                <a:spcPct val="100000"/>
              </a:lnSpc>
              <a:spcBef>
                <a:spcPts val="685"/>
              </a:spcBef>
              <a:tabLst>
                <a:tab pos="1425575" algn="l"/>
                <a:tab pos="2688590" algn="l"/>
                <a:tab pos="3870325" algn="l"/>
              </a:tabLst>
            </a:pPr>
            <a:r>
              <a:rPr sz="1100" i="1" dirty="0">
                <a:latin typeface="Arial"/>
                <a:cs typeface="Arial"/>
              </a:rPr>
              <a:t>subject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to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2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3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3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1</a:t>
            </a:r>
            <a:r>
              <a:rPr sz="1100" i="1" spc="-25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Arial"/>
                <a:cs typeface="Arial"/>
              </a:rPr>
              <a:t>3</a:t>
            </a:r>
            <a:r>
              <a:rPr sz="1100" i="1" spc="-10" dirty="0">
                <a:latin typeface="Times New Roman"/>
                <a:cs typeface="Times New Roman"/>
              </a:rPr>
              <a:t>.....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(17)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46593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Searching</a:t>
            </a:r>
            <a:r>
              <a:rPr spc="60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spc="-25" dirty="0"/>
              <a:t>MMH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4883EDF7-EFFB-4E18-987D-88B474B6D72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9242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20520"/>
            <a:ext cx="4079240" cy="15881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popularly </a:t>
            </a:r>
            <a:r>
              <a:rPr sz="1100" dirty="0">
                <a:latin typeface="Arial"/>
                <a:cs typeface="Arial"/>
              </a:rPr>
              <a:t>known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convex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r>
              <a:rPr sz="1100" spc="-1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objective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quadratic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 marR="59055">
              <a:lnSpc>
                <a:spcPct val="102699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technique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convex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Lagrange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Multiplier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method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 marR="193675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First,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come </a:t>
            </a:r>
            <a:r>
              <a:rPr sz="1100" dirty="0">
                <a:latin typeface="Arial"/>
                <a:cs typeface="Arial"/>
              </a:rPr>
              <a:t>back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90611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16721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3B45762-6BB7-4EB7-A500-0E951726181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2265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50747"/>
            <a:ext cx="35902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 </a:t>
            </a:r>
            <a:r>
              <a:rPr sz="1100" dirty="0">
                <a:latin typeface="Arial"/>
                <a:cs typeface="Arial"/>
              </a:rPr>
              <a:t>depending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constraints.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122933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112194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634" y="1093932"/>
            <a:ext cx="3496310" cy="88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Equality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constraint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optimization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problem: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case,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form:</a:t>
            </a:r>
            <a:endParaRPr sz="1000">
              <a:latin typeface="Arial"/>
              <a:cs typeface="Arial"/>
            </a:endParaRPr>
          </a:p>
          <a:p>
            <a:pPr marL="356870" algn="ctr">
              <a:lnSpc>
                <a:spcPct val="100000"/>
              </a:lnSpc>
              <a:spcBef>
                <a:spcPts val="985"/>
              </a:spcBef>
            </a:pPr>
            <a:r>
              <a:rPr sz="1000" i="1" dirty="0">
                <a:latin typeface="Arial"/>
                <a:cs typeface="Arial"/>
              </a:rPr>
              <a:t>minimize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f</a:t>
            </a:r>
            <a:r>
              <a:rPr sz="1000" i="1" spc="-10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........,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d</a:t>
            </a:r>
            <a:r>
              <a:rPr sz="1050" i="1" spc="-60" baseline="-11904" dirty="0">
                <a:latin typeface="Arial"/>
                <a:cs typeface="Arial"/>
              </a:rPr>
              <a:t> </a:t>
            </a:r>
            <a:r>
              <a:rPr sz="1000" spc="5" dirty="0">
                <a:latin typeface="Lucida Sans Unicode"/>
                <a:cs typeface="Lucida Sans Unicode"/>
              </a:rPr>
              <a:t>)</a:t>
            </a:r>
            <a:endParaRPr sz="1000">
              <a:latin typeface="Lucida Sans Unicode"/>
              <a:cs typeface="Lucida Sans Unicode"/>
            </a:endParaRPr>
          </a:p>
          <a:p>
            <a:pPr marL="353060" algn="ctr">
              <a:lnSpc>
                <a:spcPct val="100000"/>
              </a:lnSpc>
              <a:spcBef>
                <a:spcPts val="994"/>
              </a:spcBef>
            </a:pPr>
            <a:r>
              <a:rPr sz="1000" i="1" dirty="0">
                <a:latin typeface="Arial"/>
                <a:cs typeface="Arial"/>
              </a:rPr>
              <a:t>subject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g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2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......,</a:t>
            </a:r>
            <a:r>
              <a:rPr sz="1000" i="1" spc="-7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2203234"/>
            <a:ext cx="134416" cy="1344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3481" y="2202235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634" y="2174232"/>
            <a:ext cx="3594735" cy="88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Arial"/>
                <a:cs typeface="Arial"/>
              </a:rPr>
              <a:t>Inequality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constraint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optimization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problem: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case,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form:</a:t>
            </a:r>
            <a:endParaRPr sz="1000">
              <a:latin typeface="Arial"/>
              <a:cs typeface="Arial"/>
            </a:endParaRPr>
          </a:p>
          <a:p>
            <a:pPr marL="258445" algn="ctr">
              <a:lnSpc>
                <a:spcPct val="100000"/>
              </a:lnSpc>
              <a:spcBef>
                <a:spcPts val="985"/>
              </a:spcBef>
            </a:pPr>
            <a:r>
              <a:rPr sz="1000" i="1" dirty="0">
                <a:latin typeface="Arial"/>
                <a:cs typeface="Arial"/>
              </a:rPr>
              <a:t>minimize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f</a:t>
            </a:r>
            <a:r>
              <a:rPr sz="1000" i="1" spc="-10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2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........,</a:t>
            </a:r>
            <a:r>
              <a:rPr sz="1000" i="1" spc="-3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d</a:t>
            </a:r>
            <a:r>
              <a:rPr sz="1050" i="1" spc="-60" baseline="-11904" dirty="0">
                <a:latin typeface="Arial"/>
                <a:cs typeface="Arial"/>
              </a:rPr>
              <a:t> </a:t>
            </a:r>
            <a:r>
              <a:rPr sz="1000" spc="5" dirty="0">
                <a:latin typeface="Lucida Sans Unicode"/>
                <a:cs typeface="Lucida Sans Unicode"/>
              </a:rPr>
              <a:t>)</a:t>
            </a:r>
            <a:endParaRPr sz="1000">
              <a:latin typeface="Lucida Sans Unicode"/>
              <a:cs typeface="Lucida Sans Unicode"/>
            </a:endParaRPr>
          </a:p>
          <a:p>
            <a:pPr marL="254635" algn="ctr">
              <a:lnSpc>
                <a:spcPct val="100000"/>
              </a:lnSpc>
              <a:spcBef>
                <a:spcPts val="994"/>
              </a:spcBef>
            </a:pPr>
            <a:r>
              <a:rPr sz="1000" i="1" dirty="0">
                <a:latin typeface="Arial"/>
                <a:cs typeface="Arial"/>
              </a:rPr>
              <a:t>subject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h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i="1" spc="-40" dirty="0">
                <a:latin typeface="Meiryo"/>
                <a:cs typeface="Meiryo"/>
              </a:rPr>
              <a:t>≤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11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1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6" name="Date Placeholder 3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EA22E3A-7307-4564-8114-5C34612F1BBD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38" name="Footer Placeholder 3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2457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376960"/>
            <a:ext cx="3231515" cy="4673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Equality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constraint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optimization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problem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solving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85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steps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involved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case: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942822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941837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034" y="913820"/>
            <a:ext cx="1887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Define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Lagrangian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10" dirty="0">
                <a:latin typeface="Arial"/>
                <a:cs typeface="Arial"/>
              </a:rPr>
              <a:t> follows: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3324" y="1176873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p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7805" y="1184089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24327" y="1496913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5452" y="1362661"/>
            <a:ext cx="1847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270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063" y="1304295"/>
            <a:ext cx="1551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18870" algn="l"/>
              </a:tabLst>
            </a:pPr>
            <a:r>
              <a:rPr sz="1000" spc="65" dirty="0">
                <a:latin typeface="Lucida Sans Unicode"/>
                <a:cs typeface="Lucida Sans Unicode"/>
              </a:rPr>
              <a:t>(</a:t>
            </a:r>
            <a:r>
              <a:rPr sz="1000" i="1" spc="65" dirty="0">
                <a:latin typeface="Arial"/>
                <a:cs typeface="Arial"/>
              </a:rPr>
              <a:t>X</a:t>
            </a:r>
            <a:r>
              <a:rPr sz="1000" i="1" spc="65" dirty="0">
                <a:latin typeface="Times New Roman"/>
                <a:cs typeface="Times New Roman"/>
              </a:rPr>
              <a:t>,</a:t>
            </a:r>
            <a:r>
              <a:rPr sz="1000" i="1" spc="-80" dirty="0">
                <a:latin typeface="Times New Roman"/>
                <a:cs typeface="Times New Roman"/>
              </a:rPr>
              <a:t> </a:t>
            </a:r>
            <a:r>
              <a:rPr sz="1000" i="1" spc="100" dirty="0">
                <a:latin typeface="Times New Roman"/>
                <a:cs typeface="Times New Roman"/>
              </a:rPr>
              <a:t>λ</a:t>
            </a:r>
            <a:r>
              <a:rPr sz="1000" spc="100" dirty="0">
                <a:latin typeface="Lucida Sans Unicode"/>
                <a:cs typeface="Lucida Sans Unicode"/>
              </a:rPr>
              <a:t>)</a:t>
            </a:r>
            <a:r>
              <a:rPr sz="1000" spc="-3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30" dirty="0">
                <a:latin typeface="Lucida Sans Unicode"/>
                <a:cs typeface="Lucida Sans Unicode"/>
              </a:rPr>
              <a:t> </a:t>
            </a:r>
            <a:r>
              <a:rPr sz="1000" i="1" spc="-10" dirty="0">
                <a:latin typeface="Arial"/>
                <a:cs typeface="Arial"/>
              </a:rPr>
              <a:t>f</a:t>
            </a:r>
            <a:r>
              <a:rPr sz="1000" i="1" spc="-14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85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+</a:t>
            </a:r>
            <a:r>
              <a:rPr sz="1000" dirty="0">
                <a:latin typeface="Lucida Sans Unicode"/>
                <a:cs typeface="Lucida Sans Unicode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4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g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5" dirty="0">
                <a:latin typeface="Lucida Sans Unicode"/>
                <a:cs typeface="Lucida Sans Unicode"/>
              </a:rPr>
              <a:t>)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1792" y="1304295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"/>
                <a:cs typeface="Arial"/>
              </a:rPr>
              <a:t>(18)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4634" y="1617337"/>
            <a:ext cx="350392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where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spc="60" dirty="0">
                <a:latin typeface="Times New Roman"/>
                <a:cs typeface="Times New Roman"/>
              </a:rPr>
              <a:t>λ</a:t>
            </a:r>
            <a:r>
              <a:rPr sz="1050" i="1" spc="89" baseline="27777" dirty="0">
                <a:latin typeface="Palatino Linotype"/>
                <a:cs typeface="Palatino Linotype"/>
              </a:rPr>
              <a:t>J</a:t>
            </a:r>
            <a:r>
              <a:rPr sz="1000" i="1" spc="60" dirty="0">
                <a:latin typeface="Arial"/>
                <a:cs typeface="Arial"/>
              </a:rPr>
              <a:t>s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dummy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called</a:t>
            </a:r>
            <a:r>
              <a:rPr sz="1000" spc="-10" dirty="0">
                <a:latin typeface="Arial"/>
                <a:cs typeface="Arial"/>
              </a:rPr>
              <a:t> Lagrangian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multipliers.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034" y="1664734"/>
            <a:ext cx="3597910" cy="3536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32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latin typeface="Arial"/>
                <a:cs typeface="Arial"/>
              </a:rPr>
              <a:t>Set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order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derivatives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Lagrangian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respect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870176"/>
            <a:ext cx="134416" cy="13441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481" y="186917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0005" y="2069277"/>
            <a:ext cx="45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634" y="1993003"/>
            <a:ext cx="2940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Lagrangian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multipliers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60" dirty="0">
                <a:latin typeface="Times New Roman"/>
                <a:cs typeface="Times New Roman"/>
              </a:rPr>
              <a:t>λ</a:t>
            </a:r>
            <a:r>
              <a:rPr sz="1050" i="1" spc="89" baseline="27777" dirty="0">
                <a:latin typeface="Palatino Linotype"/>
                <a:cs typeface="Palatino Linotype"/>
              </a:rPr>
              <a:t>J</a:t>
            </a:r>
            <a:r>
              <a:rPr sz="1000" i="1" spc="60" dirty="0">
                <a:latin typeface="Arial"/>
                <a:cs typeface="Arial"/>
              </a:rPr>
              <a:t>s</a:t>
            </a:r>
            <a:r>
              <a:rPr sz="1000" i="1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zero’s.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49297" y="2442083"/>
            <a:ext cx="158115" cy="0"/>
          </a:xfrm>
          <a:custGeom>
            <a:avLst/>
            <a:gdLst/>
            <a:ahLst/>
            <a:cxnLst/>
            <a:rect l="l" t="t" r="r" b="b"/>
            <a:pathLst>
              <a:path w="158114">
                <a:moveTo>
                  <a:pt x="0" y="0"/>
                </a:moveTo>
                <a:lnTo>
                  <a:pt x="15788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44814" y="2334493"/>
            <a:ext cx="1083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Arial"/>
                <a:cs typeface="Arial"/>
              </a:rPr>
              <a:t>d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48319" y="2776905"/>
            <a:ext cx="168910" cy="0"/>
          </a:xfrm>
          <a:custGeom>
            <a:avLst/>
            <a:gdLst/>
            <a:ahLst/>
            <a:cxnLst/>
            <a:rect l="l" t="t" r="r" b="b"/>
            <a:pathLst>
              <a:path w="168910">
                <a:moveTo>
                  <a:pt x="0" y="0"/>
                </a:moveTo>
                <a:lnTo>
                  <a:pt x="16842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910219" y="2228336"/>
            <a:ext cx="231140" cy="705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 marR="30480" indent="13970" algn="just">
              <a:lnSpc>
                <a:spcPct val="110900"/>
              </a:lnSpc>
              <a:spcBef>
                <a:spcPts val="125"/>
              </a:spcBef>
            </a:pPr>
            <a:r>
              <a:rPr sz="1000" i="1" spc="-25" dirty="0">
                <a:latin typeface="Times New Roman"/>
                <a:cs typeface="Times New Roman"/>
              </a:rPr>
              <a:t>δ</a:t>
            </a:r>
            <a:r>
              <a:rPr sz="1000" i="1" spc="-25" dirty="0">
                <a:latin typeface="Arial"/>
                <a:cs typeface="Arial"/>
              </a:rPr>
              <a:t>L </a:t>
            </a:r>
            <a:r>
              <a:rPr sz="1000" i="1" spc="-25" dirty="0">
                <a:latin typeface="Times New Roman"/>
                <a:cs typeface="Times New Roman"/>
              </a:rPr>
              <a:t>δ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50" i="1" spc="-37" baseline="-11904" dirty="0">
                <a:latin typeface="Arial"/>
                <a:cs typeface="Arial"/>
              </a:rPr>
              <a:t>i</a:t>
            </a:r>
            <a:r>
              <a:rPr sz="1050" i="1" spc="750" baseline="-11904" dirty="0">
                <a:latin typeface="Arial"/>
                <a:cs typeface="Arial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δ</a:t>
            </a:r>
            <a:r>
              <a:rPr sz="1000" i="1" spc="-25" dirty="0">
                <a:latin typeface="Arial"/>
                <a:cs typeface="Arial"/>
              </a:rPr>
              <a:t>L </a:t>
            </a:r>
            <a:r>
              <a:rPr sz="1000" i="1" spc="25" dirty="0">
                <a:latin typeface="Times New Roman"/>
                <a:cs typeface="Times New Roman"/>
              </a:rPr>
              <a:t>δλ</a:t>
            </a:r>
            <a:r>
              <a:rPr sz="1050" i="1" spc="37" baseline="-11904" dirty="0">
                <a:latin typeface="Arial"/>
                <a:cs typeface="Arial"/>
              </a:rPr>
              <a:t>i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4389" y="2669316"/>
            <a:ext cx="1083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12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......,</a:t>
            </a:r>
            <a:r>
              <a:rPr sz="1000" i="1" spc="-6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2965310"/>
            <a:ext cx="134416" cy="13441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23481" y="296368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0034" y="2936308"/>
            <a:ext cx="30873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Solve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Lucida Sans Unicode"/>
                <a:cs typeface="Lucida Sans Unicode"/>
              </a:rPr>
              <a:t>)</a:t>
            </a:r>
            <a:r>
              <a:rPr sz="1000" spc="-5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equations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optimal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value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of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62568" y="3164410"/>
            <a:ext cx="45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4634" y="3088137"/>
            <a:ext cx="15963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9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1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5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baseline="-11904" dirty="0">
                <a:latin typeface="Arial"/>
                <a:cs typeface="Arial"/>
              </a:rPr>
              <a:t>2</a:t>
            </a:r>
            <a:r>
              <a:rPr sz="1000" i="1" dirty="0">
                <a:latin typeface="Times New Roman"/>
                <a:cs typeface="Times New Roman"/>
              </a:rPr>
              <a:t>.......,</a:t>
            </a:r>
            <a:r>
              <a:rPr sz="1000" i="1" spc="-55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d</a:t>
            </a:r>
            <a:r>
              <a:rPr sz="1050" i="1" spc="-8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]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i="1" spc="30" dirty="0">
                <a:latin typeface="Times New Roman"/>
                <a:cs typeface="Times New Roman"/>
              </a:rPr>
              <a:t>λ</a:t>
            </a:r>
            <a:r>
              <a:rPr sz="1050" i="1" spc="44" baseline="27777" dirty="0">
                <a:latin typeface="Palatino Linotype"/>
                <a:cs typeface="Palatino Linotype"/>
              </a:rPr>
              <a:t>J</a:t>
            </a:r>
            <a:r>
              <a:rPr sz="1000" i="1" spc="30" dirty="0">
                <a:latin typeface="Arial"/>
                <a:cs typeface="Arial"/>
              </a:rPr>
              <a:t>s</a:t>
            </a:r>
            <a:r>
              <a:rPr sz="1000" spc="3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1C81CF1-E147-4B61-A2CC-5A4F9DB3F68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35048"/>
            <a:ext cx="3422650" cy="685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 Equality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38100" marR="1196340">
              <a:lnSpc>
                <a:spcPct val="102600"/>
              </a:lnSpc>
              <a:spcBef>
                <a:spcPts val="570"/>
              </a:spcBef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minimize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2</a:t>
            </a:r>
            <a:r>
              <a:rPr sz="1100" i="1" spc="-25" dirty="0">
                <a:latin typeface="Arial"/>
                <a:cs typeface="Arial"/>
              </a:rPr>
              <a:t>y </a:t>
            </a:r>
            <a:r>
              <a:rPr sz="1100" dirty="0">
                <a:latin typeface="Arial"/>
                <a:cs typeface="Arial"/>
              </a:rPr>
              <a:t>subject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89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97" baseline="27777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4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1313954"/>
            <a:ext cx="134416" cy="1344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40106" y="131296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1277021"/>
            <a:ext cx="27971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100" dirty="0">
                <a:latin typeface="Arial"/>
                <a:cs typeface="Arial"/>
              </a:rPr>
              <a:t>)=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+</a:t>
            </a:r>
            <a:r>
              <a:rPr sz="1100" i="1" spc="50" dirty="0">
                <a:latin typeface="Times New Roman"/>
                <a:cs typeface="Times New Roman"/>
              </a:rPr>
              <a:t>λ</a:t>
            </a:r>
            <a:r>
              <a:rPr sz="1100" spc="50" dirty="0">
                <a:latin typeface="Lucida Sans Unicode"/>
                <a:cs typeface="Lucida Sans Unicode"/>
              </a:rPr>
              <a:t>(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5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57" baseline="27777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00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4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5" y="1595983"/>
            <a:ext cx="134416" cy="1344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106" y="159499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122" y="1644153"/>
            <a:ext cx="1276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Source Serif 4"/>
                <a:cs typeface="Source Serif 4"/>
              </a:rPr>
              <a:t>δ</a:t>
            </a:r>
            <a:r>
              <a:rPr sz="800" i="1" spc="-2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639" y="1559050"/>
            <a:ext cx="1134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δ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i="1" spc="337" baseline="312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944" y="1747163"/>
            <a:ext cx="11353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δ</a:t>
            </a:r>
            <a:r>
              <a:rPr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200" i="1" spc="345" baseline="312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122" y="1832265"/>
            <a:ext cx="139700" cy="35687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 algn="just">
              <a:lnSpc>
                <a:spcPct val="86000"/>
              </a:lnSpc>
              <a:spcBef>
                <a:spcPts val="229"/>
              </a:spcBef>
            </a:pPr>
            <a:r>
              <a:rPr sz="800" i="1" spc="-25" dirty="0">
                <a:latin typeface="Source Serif 4"/>
                <a:cs typeface="Source Serif 4"/>
              </a:rPr>
              <a:t>δ</a:t>
            </a:r>
            <a:r>
              <a:rPr sz="800" i="1" spc="-25" dirty="0">
                <a:latin typeface="Arial"/>
                <a:cs typeface="Arial"/>
              </a:rPr>
              <a:t>y</a:t>
            </a:r>
            <a:r>
              <a:rPr sz="800" i="1" spc="500" dirty="0">
                <a:latin typeface="Arial"/>
                <a:cs typeface="Arial"/>
              </a:rPr>
              <a:t> 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δ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800" i="1" spc="500" dirty="0">
                <a:latin typeface="Arial"/>
                <a:cs typeface="Arial"/>
              </a:rPr>
              <a:t> </a:t>
            </a:r>
            <a:r>
              <a:rPr sz="800" i="1" spc="-25" dirty="0">
                <a:latin typeface="Source Serif 4"/>
                <a:cs typeface="Source Serif 4"/>
              </a:rPr>
              <a:t>δλ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514" y="1956929"/>
            <a:ext cx="1190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82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82" baseline="27777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4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2375966"/>
            <a:ext cx="134416" cy="13441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40106" y="237435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01972" y="232181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9854" y="2455646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257154" y="2359150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9478" y="2470785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46778" y="244421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2339033"/>
            <a:ext cx="4079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27804" algn="l"/>
              </a:tabLst>
            </a:pPr>
            <a:r>
              <a:rPr sz="1100" dirty="0">
                <a:latin typeface="Arial"/>
                <a:cs typeface="Arial"/>
              </a:rPr>
              <a:t>Solving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100" spc="75" dirty="0">
                <a:latin typeface="Arial"/>
                <a:cs typeface="Arial"/>
              </a:rPr>
              <a:t>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∓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3737" y="2562642"/>
            <a:ext cx="1714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4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3737" y="2599981"/>
            <a:ext cx="115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4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83361" y="268503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2932" y="2579864"/>
            <a:ext cx="1259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02615" algn="l"/>
              </a:tabLst>
            </a:pP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∓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±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53742" y="2589212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64119" y="2696476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626019" y="2411654"/>
            <a:ext cx="222250" cy="4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 marR="30480" indent="-45085">
              <a:lnSpc>
                <a:spcPct val="153700"/>
              </a:lnSpc>
              <a:spcBef>
                <a:spcPts val="100"/>
              </a:spcBef>
            </a:pPr>
            <a:r>
              <a:rPr sz="800" i="1" spc="75" dirty="0">
                <a:latin typeface="Meiryo"/>
                <a:cs typeface="Meiryo"/>
              </a:rPr>
              <a:t>√</a:t>
            </a:r>
            <a:r>
              <a:rPr sz="1200" spc="112" baseline="-45138" dirty="0">
                <a:latin typeface="Arial"/>
                <a:cs typeface="Arial"/>
              </a:rPr>
              <a:t>5 </a:t>
            </a:r>
            <a:r>
              <a:rPr sz="800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FF2D728-6A88-44DA-8CA1-556550B9F3A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64" name="Footer Placeholder 6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37945"/>
            <a:ext cx="3410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</a:t>
            </a:r>
            <a:r>
              <a:rPr sz="1100" b="1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1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Equality</a:t>
            </a: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48296"/>
            <a:ext cx="76809" cy="7680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86383" y="785749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96759" y="893000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8864" y="86149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7532" y="776400"/>
            <a:ext cx="9569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50" dirty="0">
                <a:latin typeface="Lucida Sans Unicode"/>
                <a:cs typeface="Lucida Sans Unicode"/>
              </a:rPr>
              <a:t> </a:t>
            </a:r>
            <a:r>
              <a:rPr sz="1200" i="1" spc="150" baseline="76388" dirty="0">
                <a:latin typeface="Meiryo"/>
                <a:cs typeface="Meiryo"/>
              </a:rPr>
              <a:t>√</a:t>
            </a:r>
            <a:r>
              <a:rPr sz="1200" spc="150" baseline="31250" dirty="0">
                <a:latin typeface="Arial"/>
                <a:cs typeface="Arial"/>
              </a:rPr>
              <a:t>5</a:t>
            </a:r>
            <a:r>
              <a:rPr sz="1200" spc="-157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717" y="94546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5599" y="1079296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2899" y="982788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5222" y="1094435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2522" y="106785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962684"/>
            <a:ext cx="6153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3245" algn="l"/>
              </a:tabLst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8542" y="116342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6437" y="1297254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93737" y="1200758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96061" y="1312392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83361" y="128582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932" y="1180641"/>
            <a:ext cx="61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4515" algn="l"/>
              </a:tabLst>
            </a:pP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1398611"/>
            <a:ext cx="1159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spc="60" dirty="0">
                <a:latin typeface="Arial"/>
                <a:cs typeface="Arial"/>
              </a:rPr>
              <a:t>y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λ</a:t>
            </a:r>
            <a:r>
              <a:rPr sz="1100" spc="-20" dirty="0">
                <a:latin typeface="Arial"/>
                <a:cs typeface="Arial"/>
              </a:rPr>
              <a:t>)=</a:t>
            </a:r>
            <a:r>
              <a:rPr sz="1100" i="1" spc="-20" dirty="0">
                <a:latin typeface="Meiryo"/>
                <a:cs typeface="Meiryo"/>
              </a:rPr>
              <a:t>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68919" y="1381377"/>
            <a:ext cx="1384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64944" y="1515211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52244" y="1418715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37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54568" y="1530362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41868" y="150378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52625"/>
            <a:ext cx="76809" cy="7680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749590" y="1678430"/>
            <a:ext cx="115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4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851914" y="1790065"/>
            <a:ext cx="56515" cy="0"/>
          </a:xfrm>
          <a:custGeom>
            <a:avLst/>
            <a:gdLst/>
            <a:ahLst/>
            <a:cxnLst/>
            <a:rect l="l" t="t" r="r" b="b"/>
            <a:pathLst>
              <a:path w="56514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39214" y="176348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762290" y="1897329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794395" y="186581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2932" y="1780716"/>
            <a:ext cx="1572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20190" algn="l"/>
              </a:tabLst>
            </a:pPr>
            <a:r>
              <a:rPr sz="1100" spc="-10" dirty="0">
                <a:latin typeface="Arial"/>
                <a:cs typeface="Arial"/>
              </a:rPr>
              <a:t>Similarly,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97839" y="2080844"/>
            <a:ext cx="146050" cy="20320"/>
            <a:chOff x="697839" y="2080844"/>
            <a:chExt cx="146050" cy="20320"/>
          </a:xfrm>
        </p:grpSpPr>
        <p:sp>
          <p:nvSpPr>
            <p:cNvPr id="35" name="object 35"/>
            <p:cNvSpPr/>
            <p:nvPr/>
          </p:nvSpPr>
          <p:spPr>
            <a:xfrm>
              <a:off x="697839" y="2083612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>
                  <a:moveTo>
                    <a:pt x="0" y="0"/>
                  </a:moveTo>
                  <a:lnTo>
                    <a:pt x="14589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463" y="2098751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5">
                  <a:moveTo>
                    <a:pt x="0" y="0"/>
                  </a:moveTo>
                  <a:lnTo>
                    <a:pt x="56273" y="0"/>
                  </a:lnTo>
                </a:path>
              </a:pathLst>
            </a:custGeom>
            <a:ln w="4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74763" y="207218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532" y="1967000"/>
            <a:ext cx="5581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200" i="1" baseline="10416" dirty="0">
                <a:latin typeface="Meiryo"/>
                <a:cs typeface="Meiryo"/>
              </a:rPr>
              <a:t>√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262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98677" y="2298801"/>
            <a:ext cx="146050" cy="20320"/>
            <a:chOff x="698677" y="2298801"/>
            <a:chExt cx="146050" cy="20320"/>
          </a:xfrm>
        </p:grpSpPr>
        <p:sp>
          <p:nvSpPr>
            <p:cNvPr id="40" name="object 40"/>
            <p:cNvSpPr/>
            <p:nvPr/>
          </p:nvSpPr>
          <p:spPr>
            <a:xfrm>
              <a:off x="698677" y="2301570"/>
              <a:ext cx="146050" cy="0"/>
            </a:xfrm>
            <a:custGeom>
              <a:avLst/>
              <a:gdLst/>
              <a:ahLst/>
              <a:cxnLst/>
              <a:rect l="l" t="t" r="r" b="b"/>
              <a:pathLst>
                <a:path w="146050">
                  <a:moveTo>
                    <a:pt x="0" y="0"/>
                  </a:moveTo>
                  <a:lnTo>
                    <a:pt x="145897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8301" y="2316721"/>
              <a:ext cx="56515" cy="0"/>
            </a:xfrm>
            <a:custGeom>
              <a:avLst/>
              <a:gdLst/>
              <a:ahLst/>
              <a:cxnLst/>
              <a:rect l="l" t="t" r="r" b="b"/>
              <a:pathLst>
                <a:path w="56515">
                  <a:moveTo>
                    <a:pt x="0" y="0"/>
                  </a:moveTo>
                  <a:lnTo>
                    <a:pt x="56273" y="0"/>
                  </a:lnTo>
                </a:path>
              </a:pathLst>
            </a:custGeom>
            <a:ln w="4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77532" y="2184970"/>
            <a:ext cx="5594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200" i="1" baseline="10416" dirty="0">
                <a:latin typeface="Meiryo"/>
                <a:cs typeface="Meiryo"/>
              </a:rPr>
              <a:t>√</a:t>
            </a:r>
            <a:r>
              <a:rPr sz="1200" baseline="31250" dirty="0">
                <a:latin typeface="Arial"/>
                <a:cs typeface="Arial"/>
              </a:rPr>
              <a:t>4</a:t>
            </a:r>
            <a:r>
              <a:rPr sz="1200" spc="262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,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457185" y="2519540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77532" y="2290139"/>
            <a:ext cx="1247140" cy="30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0209">
              <a:lnSpc>
                <a:spcPts val="919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  <a:p>
            <a:pPr marL="38100">
              <a:lnSpc>
                <a:spcPts val="1280"/>
              </a:lnSpc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i="1" spc="60" dirty="0">
                <a:latin typeface="Arial"/>
                <a:cs typeface="Arial"/>
              </a:rPr>
              <a:t>y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5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100" dirty="0">
                <a:latin typeface="Arial"/>
                <a:cs typeface="Arial"/>
              </a:rPr>
              <a:t>)=</a:t>
            </a:r>
            <a:r>
              <a:rPr sz="1100" spc="-170" dirty="0">
                <a:latin typeface="Arial"/>
                <a:cs typeface="Arial"/>
              </a:rPr>
              <a:t> </a:t>
            </a:r>
            <a:r>
              <a:rPr sz="1200" i="1" spc="-52" baseline="10416" dirty="0">
                <a:latin typeface="Meiryo"/>
                <a:cs typeface="Meiryo"/>
              </a:rPr>
              <a:t>√</a:t>
            </a:r>
            <a:r>
              <a:rPr sz="1200" spc="-52" baseline="31250" dirty="0">
                <a:latin typeface="Arial"/>
                <a:cs typeface="Arial"/>
              </a:rPr>
              <a:t>10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546809" y="2534678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34109" y="250809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7" name="object 4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778099"/>
            <a:ext cx="76809" cy="7680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402932" y="2706191"/>
            <a:ext cx="3079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minimum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05599" y="2994875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92899" y="2898380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95222" y="3010027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02932" y="2878276"/>
            <a:ext cx="10140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3245" algn="l"/>
              </a:tabLst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7717" y="2861042"/>
            <a:ext cx="69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5475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19059" y="2994875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9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406359" y="2898380"/>
            <a:ext cx="1028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50" dirty="0">
                <a:latin typeface="Meiryo"/>
                <a:cs typeface="Meiryo"/>
              </a:rPr>
              <a:t>√</a:t>
            </a:r>
            <a:endParaRPr sz="800">
              <a:latin typeface="Meiryo"/>
              <a:cs typeface="Meiry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508671" y="3010027"/>
            <a:ext cx="56515" cy="0"/>
          </a:xfrm>
          <a:custGeom>
            <a:avLst/>
            <a:gdLst/>
            <a:ahLst/>
            <a:cxnLst/>
            <a:rect l="l" t="t" r="r" b="b"/>
            <a:pathLst>
              <a:path w="56515">
                <a:moveTo>
                  <a:pt x="0" y="0"/>
                </a:moveTo>
                <a:lnTo>
                  <a:pt x="56273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882522" y="2983444"/>
            <a:ext cx="6953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5475" algn="l"/>
              </a:tabLst>
            </a:pPr>
            <a:r>
              <a:rPr sz="800" spc="-50" dirty="0">
                <a:latin typeface="Arial"/>
                <a:cs typeface="Arial"/>
              </a:rPr>
              <a:t>5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C63BA57-3C08-426A-AE0E-61A818D5F51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62888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16989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670990"/>
            <a:ext cx="3799204" cy="965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Inequality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constraint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optimization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problem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solving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116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quite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described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Lagrangian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7442" y="173579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6931" y="174882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30957" y="1943187"/>
            <a:ext cx="2012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10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8154" y="1880449"/>
            <a:ext cx="13887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4400" algn="l"/>
              </a:tabLst>
            </a:pPr>
            <a:r>
              <a:rPr sz="1100" i="1" dirty="0">
                <a:latin typeface="Arial"/>
                <a:cs typeface="Arial"/>
              </a:rPr>
              <a:t>L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f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+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418" y="1880449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(19)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2053615"/>
            <a:ext cx="4048125" cy="744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25425" algn="ctr">
              <a:lnSpc>
                <a:spcPct val="100000"/>
              </a:lnSpc>
              <a:spcBef>
                <a:spcPts val="38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35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addition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introduces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additional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constraints,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called </a:t>
            </a:r>
            <a:r>
              <a:rPr sz="1100" b="1" spc="-10" dirty="0">
                <a:latin typeface="Arial"/>
                <a:cs typeface="Arial"/>
              </a:rPr>
              <a:t>Karush-</a:t>
            </a:r>
            <a:r>
              <a:rPr sz="1100" b="1" spc="-20" dirty="0">
                <a:latin typeface="Arial"/>
                <a:cs typeface="Arial"/>
              </a:rPr>
              <a:t>Kuhn-Tucker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(KKT)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constraints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slide.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333625"/>
            <a:ext cx="76809" cy="768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B7F9BD4-CF82-4620-B976-B22C288D015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11148"/>
            <a:ext cx="3339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Inequality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constraint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optimization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problem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solving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1820" y="1178306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>
                <a:moveTo>
                  <a:pt x="0" y="0"/>
                </a:moveTo>
                <a:lnTo>
                  <a:pt x="17359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3720" y="945449"/>
            <a:ext cx="2349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4604">
              <a:lnSpc>
                <a:spcPct val="112599"/>
              </a:lnSpc>
              <a:spcBef>
                <a:spcPts val="10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L </a:t>
            </a: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i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6386" y="1061693"/>
            <a:ext cx="1184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......,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44" y="1524087"/>
            <a:ext cx="4147185" cy="1407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6540" algn="ctr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352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4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.......,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Arial"/>
              <a:cs typeface="Arial"/>
            </a:endParaRPr>
          </a:p>
          <a:p>
            <a:pPr marL="256540" algn="ctr">
              <a:lnSpc>
                <a:spcPct val="100000"/>
              </a:lnSpc>
            </a:pPr>
            <a:r>
              <a:rPr sz="1100" i="1" spc="-10" dirty="0">
                <a:latin typeface="Arial"/>
                <a:cs typeface="Arial"/>
              </a:rPr>
              <a:t>h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≤</a:t>
            </a:r>
            <a:r>
              <a:rPr sz="1100" i="1" spc="-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.......,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Arial"/>
              <a:cs typeface="Arial"/>
            </a:endParaRPr>
          </a:p>
          <a:p>
            <a:pPr marL="256540" algn="ctr">
              <a:lnSpc>
                <a:spcPct val="100000"/>
              </a:lnSpc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.......,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70"/>
              </a:spcBef>
            </a:pPr>
            <a:r>
              <a:rPr sz="1100" dirty="0">
                <a:latin typeface="Arial"/>
                <a:cs typeface="Arial"/>
              </a:rPr>
              <a:t>Solving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07C0D62-6C33-4CC2-8E66-F889E634ED5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744" y="620252"/>
            <a:ext cx="3530600" cy="9302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 Inequality</a:t>
            </a: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Minimize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12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3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200" spc="-37" baseline="27777" dirty="0">
                <a:latin typeface="Arial"/>
                <a:cs typeface="Arial"/>
              </a:rPr>
              <a:t>2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1530361"/>
            <a:ext cx="1292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subject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≤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2,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022335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44" y="1620695"/>
            <a:ext cx="3617595" cy="11099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 marL="353695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27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20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λ</a:t>
            </a:r>
            <a:r>
              <a:rPr sz="1200" spc="89" baseline="-13888" dirty="0">
                <a:latin typeface="Arial"/>
                <a:cs typeface="Arial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λ</a:t>
            </a:r>
            <a:r>
              <a:rPr sz="1200" spc="89" baseline="-13888" dirty="0">
                <a:latin typeface="Arial"/>
                <a:cs typeface="Arial"/>
              </a:rPr>
              <a:t>2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955"/>
              </a:spcBef>
            </a:pPr>
            <a:r>
              <a:rPr sz="1100" dirty="0">
                <a:latin typeface="Arial"/>
                <a:cs typeface="Arial"/>
              </a:rPr>
              <a:t>subject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KKT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constraints,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B31F23A-18FF-4846-ABFB-EB6E279A46C4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661173"/>
            <a:ext cx="3479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 Inequality</a:t>
            </a: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6654" y="1017992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6725" y="1228331"/>
            <a:ext cx="149225" cy="0"/>
          </a:xfrm>
          <a:custGeom>
            <a:avLst/>
            <a:gdLst/>
            <a:ahLst/>
            <a:cxnLst/>
            <a:rect l="l" t="t" r="r" b="b"/>
            <a:pathLst>
              <a:path w="149225">
                <a:moveTo>
                  <a:pt x="0" y="0"/>
                </a:moveTo>
                <a:lnTo>
                  <a:pt x="1491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98625" y="1111718"/>
            <a:ext cx="1826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37878" dirty="0">
                <a:latin typeface="Times New Roman"/>
                <a:cs typeface="Times New Roman"/>
              </a:rPr>
              <a:t>δ</a:t>
            </a:r>
            <a:r>
              <a:rPr sz="1650" i="1" baseline="-37878" dirty="0">
                <a:latin typeface="Arial"/>
                <a:cs typeface="Arial"/>
              </a:rPr>
              <a:t>x</a:t>
            </a:r>
            <a:r>
              <a:rPr sz="1650" i="1" spc="330" baseline="-3787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20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6235" y="1401748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35887" y="1612087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4">
                <a:moveTo>
                  <a:pt x="0" y="0"/>
                </a:moveTo>
                <a:lnTo>
                  <a:pt x="1499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97787" y="1495474"/>
            <a:ext cx="1828164" cy="1278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650" i="1" baseline="-37878" dirty="0">
                <a:latin typeface="Times New Roman"/>
                <a:cs typeface="Times New Roman"/>
              </a:rPr>
              <a:t>δ</a:t>
            </a:r>
            <a:r>
              <a:rPr sz="1650" i="1" baseline="-37878" dirty="0">
                <a:latin typeface="Arial"/>
                <a:cs typeface="Arial"/>
              </a:rPr>
              <a:t>y</a:t>
            </a:r>
            <a:r>
              <a:rPr sz="1650" i="1" spc="352" baseline="-3787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20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R="6985" algn="ctr">
              <a:lnSpc>
                <a:spcPct val="100000"/>
              </a:lnSpc>
              <a:spcBef>
                <a:spcPts val="1225"/>
              </a:spcBef>
            </a:pPr>
            <a:r>
              <a:rPr sz="1100" i="1" spc="60" dirty="0">
                <a:latin typeface="Times New Roman"/>
                <a:cs typeface="Times New Roman"/>
              </a:rPr>
              <a:t>λ</a:t>
            </a:r>
            <a:r>
              <a:rPr sz="1200" spc="89" baseline="-13888" dirty="0">
                <a:latin typeface="Arial"/>
                <a:cs typeface="Arial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R="6985" algn="ctr">
              <a:lnSpc>
                <a:spcPct val="100000"/>
              </a:lnSpc>
              <a:spcBef>
                <a:spcPts val="685"/>
              </a:spcBef>
            </a:pPr>
            <a:r>
              <a:rPr sz="1100" i="1" spc="60" dirty="0">
                <a:latin typeface="Times New Roman"/>
                <a:cs typeface="Times New Roman"/>
              </a:rPr>
              <a:t>λ</a:t>
            </a:r>
            <a:r>
              <a:rPr sz="1200" spc="89" baseline="-13888" dirty="0">
                <a:latin typeface="Arial"/>
                <a:cs typeface="Arial"/>
              </a:rPr>
              <a:t>2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R="6985" algn="ctr">
              <a:lnSpc>
                <a:spcPct val="100000"/>
              </a:lnSpc>
              <a:spcBef>
                <a:spcPts val="68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95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195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spc="-6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R="20320" algn="ctr">
              <a:lnSpc>
                <a:spcPct val="100000"/>
              </a:lnSpc>
              <a:spcBef>
                <a:spcPts val="685"/>
              </a:spcBef>
            </a:pP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≤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55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700"/>
              </a:spcBef>
            </a:pP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Example: Inequality</a:t>
            </a:r>
            <a:r>
              <a:rPr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</a:p>
          <a:p>
            <a:pPr marL="378460" marR="417830" indent="-277495">
              <a:lnSpc>
                <a:spcPts val="1950"/>
              </a:lnSpc>
              <a:spcBef>
                <a:spcPts val="145"/>
              </a:spcBef>
            </a:pPr>
            <a:r>
              <a:rPr spc="-75" dirty="0"/>
              <a:t>To</a:t>
            </a:r>
            <a:r>
              <a:rPr spc="-5" dirty="0"/>
              <a:t> </a:t>
            </a:r>
            <a:r>
              <a:rPr dirty="0"/>
              <a:t>solve</a:t>
            </a:r>
            <a:r>
              <a:rPr spc="-45" dirty="0"/>
              <a:t> </a:t>
            </a:r>
            <a:r>
              <a:rPr dirty="0"/>
              <a:t>KKT</a:t>
            </a:r>
            <a:r>
              <a:rPr spc="-25" dirty="0"/>
              <a:t> </a:t>
            </a:r>
            <a:r>
              <a:rPr spc="-10" dirty="0"/>
              <a:t>constraints,</a:t>
            </a:r>
            <a:r>
              <a:rPr spc="-25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spc="-10" dirty="0"/>
              <a:t>have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check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following</a:t>
            </a:r>
            <a:r>
              <a:rPr spc="-25" dirty="0"/>
              <a:t> </a:t>
            </a:r>
            <a:r>
              <a:rPr spc="-10" dirty="0"/>
              <a:t>tests: </a:t>
            </a:r>
            <a:r>
              <a:rPr dirty="0"/>
              <a:t>Case</a:t>
            </a:r>
            <a:r>
              <a:rPr spc="-25" dirty="0"/>
              <a:t> </a:t>
            </a:r>
            <a:r>
              <a:rPr dirty="0"/>
              <a:t>1:</a:t>
            </a:r>
            <a:r>
              <a:rPr spc="50" dirty="0"/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1</a:t>
            </a:r>
            <a:r>
              <a:rPr sz="1200" spc="172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/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172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50" dirty="0"/>
              <a:t>0</a:t>
            </a:r>
            <a:endParaRPr sz="1100">
              <a:latin typeface="Lucida Sans Unicode"/>
              <a:cs typeface="Lucida Sans Unicode"/>
            </a:endParaRPr>
          </a:p>
          <a:p>
            <a:pPr marL="1091565">
              <a:lnSpc>
                <a:spcPct val="100000"/>
              </a:lnSpc>
              <a:spcBef>
                <a:spcPts val="960"/>
              </a:spcBef>
            </a:pPr>
            <a:r>
              <a:rPr dirty="0"/>
              <a:t>2</a:t>
            </a:r>
            <a:r>
              <a:rPr dirty="0">
                <a:latin typeface="Lucida Sans Unicode"/>
                <a:cs typeface="Lucida Sans Unicode"/>
              </a:rPr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35" dirty="0">
                <a:latin typeface="Meiryo"/>
                <a:cs typeface="Meiryo"/>
              </a:rPr>
              <a:t> </a:t>
            </a:r>
            <a:r>
              <a:rPr dirty="0"/>
              <a:t>1</a:t>
            </a:r>
            <a:r>
              <a:rPr dirty="0">
                <a:latin typeface="Lucida Sans Unicode"/>
                <a:cs typeface="Lucida Sans Unicode"/>
              </a:rPr>
              <a:t>)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dirty="0"/>
              <a:t>0</a:t>
            </a:r>
            <a:r>
              <a:rPr spc="-20" dirty="0"/>
              <a:t> </a:t>
            </a:r>
            <a:r>
              <a:rPr i="1" spc="-190" dirty="0">
                <a:latin typeface="Meiryo"/>
                <a:cs typeface="Meiryo"/>
              </a:rPr>
              <a:t>|</a:t>
            </a:r>
            <a:r>
              <a:rPr i="1" spc="-85" dirty="0">
                <a:latin typeface="Meiryo"/>
                <a:cs typeface="Meiryo"/>
              </a:rPr>
              <a:t> </a:t>
            </a:r>
            <a:r>
              <a:rPr dirty="0"/>
              <a:t>2</a:t>
            </a:r>
            <a:r>
              <a:rPr dirty="0">
                <a:latin typeface="Lucida Sans Unicode"/>
                <a:cs typeface="Lucida Sans Unicode"/>
              </a:rPr>
              <a:t>(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30" dirty="0">
                <a:latin typeface="Meiryo"/>
                <a:cs typeface="Meiryo"/>
              </a:rPr>
              <a:t> </a:t>
            </a:r>
            <a:r>
              <a:rPr dirty="0"/>
              <a:t>3</a:t>
            </a:r>
            <a:r>
              <a:rPr dirty="0">
                <a:latin typeface="Lucida Sans Unicode"/>
                <a:cs typeface="Lucida Sans Unicode"/>
              </a:rPr>
              <a:t>)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dirty="0"/>
              <a:t>0 </a:t>
            </a:r>
            <a:r>
              <a:rPr i="1" dirty="0">
                <a:latin typeface="Meiryo"/>
                <a:cs typeface="Meiryo"/>
              </a:rPr>
              <a:t>⇒</a:t>
            </a:r>
            <a:r>
              <a:rPr i="1" spc="-70" dirty="0">
                <a:latin typeface="Meiryo"/>
                <a:cs typeface="Meiryo"/>
              </a:rPr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dirty="0"/>
              <a:t>1</a:t>
            </a:r>
            <a:r>
              <a:rPr i="1" dirty="0">
                <a:latin typeface="Times New Roman"/>
                <a:cs typeface="Times New Roman"/>
              </a:rPr>
              <a:t>,</a:t>
            </a:r>
            <a:r>
              <a:rPr i="1" spc="-90" dirty="0">
                <a:latin typeface="Times New Roman"/>
                <a:cs typeface="Times New Roman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110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40" dirty="0">
                <a:latin typeface="Lucida Sans Unicode"/>
                <a:cs typeface="Lucida Sans Unicode"/>
              </a:rPr>
              <a:t> </a:t>
            </a:r>
            <a:r>
              <a:rPr spc="-50" dirty="0"/>
              <a:t>3</a:t>
            </a:r>
          </a:p>
          <a:p>
            <a:pPr marL="378460" marR="93980">
              <a:lnSpc>
                <a:spcPct val="168200"/>
              </a:lnSpc>
              <a:spcBef>
                <a:spcPts val="234"/>
              </a:spcBef>
            </a:pPr>
            <a:r>
              <a:rPr dirty="0"/>
              <a:t>since,</a:t>
            </a:r>
            <a:r>
              <a:rPr spc="-50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90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55" dirty="0">
                <a:latin typeface="Lucida Sans Unicode"/>
                <a:cs typeface="Lucida Sans Unicode"/>
              </a:rPr>
              <a:t> </a:t>
            </a:r>
            <a:r>
              <a:rPr dirty="0"/>
              <a:t>4,</a:t>
            </a:r>
            <a:r>
              <a:rPr spc="-2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violates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9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≤</a:t>
            </a:r>
            <a:r>
              <a:rPr i="1" spc="-70" dirty="0">
                <a:latin typeface="Meiryo"/>
                <a:cs typeface="Meiryo"/>
              </a:rPr>
              <a:t> </a:t>
            </a:r>
            <a:r>
              <a:rPr dirty="0"/>
              <a:t>2;</a:t>
            </a:r>
            <a:r>
              <a:rPr spc="-2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feasible</a:t>
            </a:r>
            <a:r>
              <a:rPr spc="-15" dirty="0"/>
              <a:t> </a:t>
            </a:r>
            <a:r>
              <a:rPr spc="-10" dirty="0"/>
              <a:t>solution. </a:t>
            </a:r>
            <a:r>
              <a:rPr dirty="0"/>
              <a:t>Case</a:t>
            </a:r>
            <a:r>
              <a:rPr spc="-20" dirty="0"/>
              <a:t> </a:t>
            </a:r>
            <a:r>
              <a:rPr dirty="0"/>
              <a:t>2:</a:t>
            </a:r>
            <a:r>
              <a:rPr spc="55" dirty="0"/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1</a:t>
            </a:r>
            <a:r>
              <a:rPr sz="1200" spc="179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/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179" baseline="-13888" dirty="0"/>
              <a:t> </a:t>
            </a:r>
            <a:r>
              <a:rPr sz="1100" i="1" dirty="0">
                <a:latin typeface="Meiryo"/>
                <a:cs typeface="Meiryo"/>
              </a:rPr>
              <a:t>/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/>
              <a:t>0</a:t>
            </a:r>
            <a:r>
              <a:rPr sz="1100" spc="-10" dirty="0"/>
              <a:t> </a:t>
            </a:r>
            <a:r>
              <a:rPr sz="1100" dirty="0"/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/>
              <a:t>0</a:t>
            </a:r>
            <a:r>
              <a:rPr sz="1100" spc="-30" dirty="0"/>
              <a:t> </a:t>
            </a:r>
            <a:r>
              <a:rPr sz="1100" i="1" spc="-50" dirty="0">
                <a:latin typeface="Meiryo"/>
                <a:cs typeface="Meiryo"/>
              </a:rPr>
              <a:t>|</a:t>
            </a:r>
            <a:endParaRPr sz="1100">
              <a:latin typeface="Meiryo"/>
              <a:cs typeface="Meiryo"/>
            </a:endParaRP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/>
              <a:t>2</a:t>
            </a:r>
            <a:r>
              <a:rPr dirty="0">
                <a:latin typeface="Lucida Sans Unicode"/>
                <a:cs typeface="Lucida Sans Unicode"/>
              </a:rPr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5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25" dirty="0">
                <a:latin typeface="Meiryo"/>
                <a:cs typeface="Meiryo"/>
              </a:rPr>
              <a:t> </a:t>
            </a:r>
            <a:r>
              <a:rPr dirty="0"/>
              <a:t>1</a:t>
            </a:r>
            <a:r>
              <a:rPr dirty="0">
                <a:latin typeface="Lucida Sans Unicode"/>
                <a:cs typeface="Lucida Sans Unicode"/>
              </a:rPr>
              <a:t>)</a:t>
            </a:r>
            <a:r>
              <a:rPr spc="-90" dirty="0">
                <a:latin typeface="Lucida Sans Unicode"/>
                <a:cs typeface="Lucida Sans Unicode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209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25" dirty="0"/>
              <a:t>0</a:t>
            </a:r>
            <a:r>
              <a:rPr sz="1100" i="1" spc="-25" dirty="0">
                <a:latin typeface="Meiryo"/>
                <a:cs typeface="Meiryo"/>
              </a:rPr>
              <a:t>|</a:t>
            </a:r>
            <a:endParaRPr sz="1100">
              <a:latin typeface="Meiryo"/>
              <a:cs typeface="Meiryo"/>
            </a:endParaRP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/>
              <a:t>2</a:t>
            </a:r>
            <a:r>
              <a:rPr dirty="0">
                <a:latin typeface="Lucida Sans Unicode"/>
                <a:cs typeface="Lucida Sans Unicode"/>
              </a:rPr>
              <a:t>(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6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20" dirty="0">
                <a:latin typeface="Meiryo"/>
                <a:cs typeface="Meiryo"/>
              </a:rPr>
              <a:t> </a:t>
            </a:r>
            <a:r>
              <a:rPr dirty="0"/>
              <a:t>3</a:t>
            </a:r>
            <a:r>
              <a:rPr dirty="0">
                <a:latin typeface="Lucida Sans Unicode"/>
                <a:cs typeface="Lucida Sans Unicode"/>
              </a:rPr>
              <a:t>)</a:t>
            </a:r>
            <a:r>
              <a:rPr spc="-95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20" dirty="0">
                <a:latin typeface="Meiryo"/>
                <a:cs typeface="Meiryo"/>
              </a:rPr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209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-50" dirty="0"/>
              <a:t>0</a:t>
            </a:r>
            <a:endParaRPr sz="1100">
              <a:latin typeface="Lucida Sans Unicode"/>
              <a:cs typeface="Lucida Sans Unicode"/>
            </a:endParaRP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Meiryo"/>
                <a:cs typeface="Meiryo"/>
              </a:rPr>
              <a:t>⇒</a:t>
            </a:r>
            <a:r>
              <a:rPr i="1" spc="-95" dirty="0">
                <a:latin typeface="Meiryo"/>
                <a:cs typeface="Meiryo"/>
              </a:rPr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75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55" dirty="0">
                <a:latin typeface="Lucida Sans Unicode"/>
                <a:cs typeface="Lucida Sans Unicode"/>
              </a:rPr>
              <a:t> </a:t>
            </a:r>
            <a:r>
              <a:rPr dirty="0"/>
              <a:t>2</a:t>
            </a:r>
            <a:r>
              <a:rPr i="1" dirty="0">
                <a:latin typeface="Times New Roman"/>
                <a:cs typeface="Times New Roman"/>
              </a:rPr>
              <a:t>,</a:t>
            </a:r>
            <a:r>
              <a:rPr i="1" spc="-95" dirty="0">
                <a:latin typeface="Times New Roman"/>
                <a:cs typeface="Times New Roman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85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55" dirty="0">
                <a:latin typeface="Lucida Sans Unicode"/>
                <a:cs typeface="Lucida Sans Unicode"/>
              </a:rPr>
              <a:t> 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165" baseline="-13888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Meiryo"/>
                <a:cs typeface="Meiryo"/>
              </a:rPr>
              <a:t>−</a:t>
            </a:r>
            <a:r>
              <a:rPr sz="1100" spc="-25" dirty="0"/>
              <a:t>2</a:t>
            </a:r>
            <a:endParaRPr sz="1100">
              <a:latin typeface="Meiryo"/>
              <a:cs typeface="Meiryo"/>
            </a:endParaRP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/>
              <a:t>since,</a:t>
            </a:r>
            <a:r>
              <a:rPr spc="-4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90" dirty="0">
                <a:latin typeface="Arial"/>
                <a:cs typeface="Arial"/>
              </a:rPr>
              <a:t> </a:t>
            </a:r>
            <a:r>
              <a:rPr i="1" spc="-50" dirty="0">
                <a:latin typeface="Meiryo"/>
                <a:cs typeface="Meiryo"/>
              </a:rPr>
              <a:t>≤</a:t>
            </a:r>
            <a:r>
              <a:rPr i="1" spc="-70" dirty="0">
                <a:latin typeface="Meiryo"/>
                <a:cs typeface="Meiryo"/>
              </a:rPr>
              <a:t> </a:t>
            </a:r>
            <a:r>
              <a:rPr dirty="0"/>
              <a:t>4,</a:t>
            </a:r>
            <a:r>
              <a:rPr spc="-15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violates</a:t>
            </a:r>
            <a:r>
              <a:rPr spc="-15" dirty="0"/>
              <a:t> </a:t>
            </a:r>
            <a:r>
              <a:rPr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/>
              <a:t>2</a:t>
            </a:r>
            <a:r>
              <a:rPr sz="1200" spc="172" baseline="-13888" dirty="0"/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dirty="0"/>
              <a:t>0;</a:t>
            </a:r>
            <a:r>
              <a:rPr sz="1100" spc="-15" dirty="0"/>
              <a:t>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dirty="0"/>
              <a:t>not</a:t>
            </a:r>
            <a:r>
              <a:rPr sz="1100" spc="-15" dirty="0"/>
              <a:t> </a:t>
            </a:r>
            <a:r>
              <a:rPr sz="1100" dirty="0"/>
              <a:t>a</a:t>
            </a:r>
            <a:r>
              <a:rPr sz="1100" spc="-15" dirty="0"/>
              <a:t> </a:t>
            </a:r>
            <a:r>
              <a:rPr sz="1100" spc="-10" dirty="0"/>
              <a:t>feasible</a:t>
            </a:r>
            <a:r>
              <a:rPr sz="1100" spc="-15" dirty="0"/>
              <a:t> </a:t>
            </a:r>
            <a:r>
              <a:rPr sz="1100" spc="-10" dirty="0"/>
              <a:t>solution.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68F9C77-12AA-4623-900D-73E1F7A67675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49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64005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068537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Lagrange</a:t>
            </a:r>
            <a:r>
              <a:rPr spc="105" dirty="0"/>
              <a:t> </a:t>
            </a:r>
            <a:r>
              <a:rPr dirty="0"/>
              <a:t>Multiplier</a:t>
            </a:r>
            <a:r>
              <a:rPr spc="105" dirty="0"/>
              <a:t> </a:t>
            </a:r>
            <a:r>
              <a:rPr spc="-10" dirty="0"/>
              <a:t>Method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D27177E-B535-457A-861D-6663F3E5ABA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07719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78063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44" y="515834"/>
            <a:ext cx="3782695" cy="25146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 Inequality</a:t>
            </a:r>
            <a:r>
              <a:rPr sz="11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constraint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Case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3: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79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/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403860" marR="119380">
              <a:lnSpc>
                <a:spcPct val="168200"/>
              </a:lnSpc>
              <a:spcBef>
                <a:spcPts val="490"/>
              </a:spcBef>
            </a:pP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9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2;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feasible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solution.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4: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/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179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/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4038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403860" marR="1180465">
              <a:lnSpc>
                <a:spcPct val="102600"/>
              </a:lnSpc>
              <a:spcBef>
                <a:spcPts val="1355"/>
              </a:spcBef>
            </a:pP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9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1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spc="112" baseline="-13888" dirty="0">
                <a:latin typeface="Arial"/>
                <a:cs typeface="Arial"/>
              </a:rPr>
              <a:t>2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Meiryo"/>
                <a:cs typeface="Meiryo"/>
              </a:rPr>
              <a:t>−</a:t>
            </a:r>
            <a:r>
              <a:rPr sz="1100" spc="-25" dirty="0">
                <a:latin typeface="Arial"/>
                <a:cs typeface="Arial"/>
              </a:rPr>
              <a:t>2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feasible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solution.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LMM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Solve</a:t>
            </a:r>
            <a:r>
              <a:rPr spc="55" dirty="0"/>
              <a:t> </a:t>
            </a:r>
            <a:r>
              <a:rPr dirty="0"/>
              <a:t>Linear</a:t>
            </a:r>
            <a:r>
              <a:rPr spc="50" dirty="0"/>
              <a:t> </a:t>
            </a:r>
            <a:r>
              <a:rPr spc="-25" dirty="0"/>
              <a:t>SVM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211B599-4FAB-4298-9C15-05CD184C4B21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7565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03743"/>
            <a:ext cx="3803015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2385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inequality </a:t>
            </a:r>
            <a:r>
              <a:rPr sz="1100" dirty="0">
                <a:latin typeface="Arial"/>
                <a:cs typeface="Arial"/>
              </a:rPr>
              <a:t>constraint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as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329753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8237" y="1928493"/>
            <a:ext cx="248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5173" y="1834767"/>
            <a:ext cx="329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8881" y="182181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9813" y="2023527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7092" y="179264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15997" y="179688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0513" y="2138247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0035" y="1991231"/>
            <a:ext cx="5575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720" algn="l"/>
                <a:tab pos="52197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7453" y="1928493"/>
            <a:ext cx="1565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4015" algn="l"/>
              </a:tabLst>
            </a:pP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(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14" dirty="0">
                <a:latin typeface="Meiryo"/>
                <a:cs typeface="Meiryo"/>
              </a:rPr>
              <a:t> </a:t>
            </a:r>
            <a:r>
              <a:rPr sz="1100" spc="-50" dirty="0"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17569" y="1928493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10430" y="1928493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(20)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532" y="2316173"/>
            <a:ext cx="3818254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200" i="1" baseline="-24305" dirty="0">
                <a:latin typeface="Arial"/>
                <a:cs typeface="Arial"/>
              </a:rPr>
              <a:t>i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multipliers,</a:t>
            </a:r>
            <a:r>
              <a:rPr sz="1100" spc="-25" dirty="0">
                <a:latin typeface="Arial"/>
                <a:cs typeface="Arial"/>
              </a:rPr>
              <a:t> and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........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Lucida Sans Unicode"/>
                <a:cs typeface="Lucida Sans Unicode"/>
              </a:rPr>
              <a:t>]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parameters.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LMM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Solve</a:t>
            </a:r>
            <a:r>
              <a:rPr spc="55" dirty="0"/>
              <a:t> </a:t>
            </a:r>
            <a:r>
              <a:rPr dirty="0"/>
              <a:t>Linear</a:t>
            </a:r>
            <a:r>
              <a:rPr spc="50" dirty="0"/>
              <a:t> </a:t>
            </a:r>
            <a:r>
              <a:rPr spc="-25" dirty="0"/>
              <a:t>SVM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3621B31-E7E5-4CF1-BF86-9EA5A042976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9105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19162"/>
            <a:ext cx="1556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KKT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122" y="782077"/>
            <a:ext cx="149860" cy="2495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3335">
              <a:lnSpc>
                <a:spcPts val="810"/>
              </a:lnSpc>
              <a:spcBef>
                <a:spcPts val="250"/>
              </a:spcBef>
            </a:pP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δ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800" i="1" spc="500" dirty="0">
                <a:latin typeface="Arial"/>
                <a:cs typeface="Arial"/>
              </a:rPr>
              <a:t> </a:t>
            </a:r>
            <a:r>
              <a:rPr sz="800" i="1" spc="-25" dirty="0">
                <a:latin typeface="Source Serif 4"/>
                <a:cs typeface="Source Serif 4"/>
              </a:rPr>
              <a:t>δ</a:t>
            </a:r>
            <a:r>
              <a:rPr sz="800" i="1" spc="-25" dirty="0">
                <a:latin typeface="Arial"/>
                <a:cs typeface="Arial"/>
              </a:rPr>
              <a:t>w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170" y="799311"/>
            <a:ext cx="760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9448" y="695400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00" dirty="0">
                <a:latin typeface="Trebuchet MS"/>
                <a:cs typeface="Trebuchet MS"/>
              </a:rPr>
              <a:t>�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5689" y="772793"/>
            <a:ext cx="196850" cy="25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94"/>
              </a:lnSpc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0809" y="799311"/>
            <a:ext cx="4705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i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8122" y="1162226"/>
            <a:ext cx="134620" cy="24955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1270">
              <a:lnSpc>
                <a:spcPts val="810"/>
              </a:lnSpc>
              <a:spcBef>
                <a:spcPts val="250"/>
              </a:spcBef>
            </a:pP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δ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800" i="1" spc="500" dirty="0">
                <a:latin typeface="Arial"/>
                <a:cs typeface="Arial"/>
              </a:rPr>
              <a:t> </a:t>
            </a:r>
            <a:r>
              <a:rPr sz="800" i="1" spc="-25" dirty="0">
                <a:latin typeface="Source Serif 4"/>
                <a:cs typeface="Source Serif 4"/>
              </a:rPr>
              <a:t>δ</a:t>
            </a:r>
            <a:r>
              <a:rPr sz="800" i="1" spc="-25" dirty="0">
                <a:latin typeface="Arial"/>
                <a:cs typeface="Arial"/>
              </a:rPr>
              <a:t>b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282" y="1179460"/>
            <a:ext cx="4260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1067" y="1075549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00" dirty="0">
                <a:latin typeface="Trebuchet MS"/>
                <a:cs typeface="Trebuchet MS"/>
              </a:rPr>
              <a:t>�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7307" y="1152942"/>
            <a:ext cx="196850" cy="25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94"/>
              </a:lnSpc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2428" y="1179460"/>
            <a:ext cx="601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7532" y="1559609"/>
            <a:ext cx="4096385" cy="1685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.....</a:t>
            </a:r>
            <a:r>
              <a:rPr sz="1100" i="1" spc="-1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75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[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200" i="1" spc="-37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14" dirty="0">
                <a:latin typeface="Meiryo"/>
                <a:cs typeface="Meiryo"/>
              </a:rPr>
              <a:t> </a:t>
            </a:r>
            <a:r>
              <a:rPr sz="1100" spc="-20" dirty="0">
                <a:latin typeface="Arial"/>
                <a:cs typeface="Arial"/>
              </a:rPr>
              <a:t>1</a:t>
            </a:r>
            <a:r>
              <a:rPr sz="1100" spc="-20" dirty="0">
                <a:latin typeface="Lucida Sans Unicode"/>
                <a:cs typeface="Lucida Sans Unicode"/>
              </a:rPr>
              <a:t>]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.....</a:t>
            </a:r>
            <a:r>
              <a:rPr sz="1100" i="1" spc="-1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670"/>
              </a:spcBef>
            </a:pP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.....</a:t>
            </a:r>
            <a:r>
              <a:rPr sz="1100" i="1" spc="-1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1710"/>
              </a:spcBef>
            </a:pPr>
            <a:r>
              <a:rPr sz="1100" dirty="0">
                <a:latin typeface="Arial"/>
                <a:cs typeface="Arial"/>
              </a:rPr>
              <a:t>Solving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KKT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computationally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expensive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can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linear/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quadratic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technique </a:t>
            </a:r>
            <a:r>
              <a:rPr sz="1100" dirty="0">
                <a:latin typeface="Arial"/>
                <a:cs typeface="Arial"/>
              </a:rPr>
              <a:t>(or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numerical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technique).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781020"/>
            <a:ext cx="76809" cy="7680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LMM</a:t>
            </a:r>
            <a:r>
              <a:rPr spc="50" dirty="0"/>
              <a:t> </a:t>
            </a:r>
            <a:r>
              <a:rPr dirty="0"/>
              <a:t>to</a:t>
            </a:r>
            <a:r>
              <a:rPr spc="55" dirty="0"/>
              <a:t> </a:t>
            </a:r>
            <a:r>
              <a:rPr dirty="0"/>
              <a:t>Solve</a:t>
            </a:r>
            <a:r>
              <a:rPr spc="55" dirty="0"/>
              <a:t> </a:t>
            </a:r>
            <a:r>
              <a:rPr dirty="0"/>
              <a:t>Linear</a:t>
            </a:r>
            <a:r>
              <a:rPr spc="50" dirty="0"/>
              <a:t> </a:t>
            </a:r>
            <a:r>
              <a:rPr spc="-25" dirty="0"/>
              <a:t>SVM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045B4A5-5B00-4CAC-8CC3-D28B953C71E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1182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39913"/>
            <a:ext cx="3840479" cy="10420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feasible solutions.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Then,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determine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optimum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60" dirty="0">
                <a:latin typeface="Times New Roman"/>
                <a:cs typeface="Times New Roman"/>
              </a:rPr>
              <a:t>µ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W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Note: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65936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808086"/>
            <a:ext cx="134416" cy="13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3481" y="1807100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634" y="1779084"/>
            <a:ext cx="383794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Lagrangian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multiplier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24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must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zero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unless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instance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50" i="1" spc="-37" baseline="-11904" dirty="0">
                <a:latin typeface="Arial"/>
                <a:cs typeface="Arial"/>
              </a:rPr>
              <a:t>i</a:t>
            </a:r>
            <a:r>
              <a:rPr sz="1050" i="1" spc="75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satisfies the equation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y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09" baseline="-11904" dirty="0">
                <a:latin typeface="Arial"/>
                <a:cs typeface="Arial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Lucida Sans Unicode"/>
                <a:cs typeface="Lucida Sans Unicode"/>
              </a:rPr>
              <a:t>)</a:t>
            </a:r>
            <a:r>
              <a:rPr sz="1000" spc="-3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3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1.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Thus, the</a:t>
            </a:r>
            <a:r>
              <a:rPr sz="1000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training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tuples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i="1" spc="70" dirty="0">
                <a:solidFill>
                  <a:srgbClr val="0000FF"/>
                </a:solidFill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050" i="1" spc="247" baseline="-119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i="1" spc="90" dirty="0">
                <a:solidFill>
                  <a:srgbClr val="0000FF"/>
                </a:solidFill>
                <a:latin typeface="Times New Roman"/>
                <a:cs typeface="Times New Roman"/>
              </a:rPr>
              <a:t>&gt;</a:t>
            </a:r>
            <a:r>
              <a:rPr sz="1000" i="1" spc="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lie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hyperplane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margins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hence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sz="1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support vectors</a:t>
            </a:r>
            <a:r>
              <a:rPr sz="1000" spc="-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8100" marR="290830">
              <a:lnSpc>
                <a:spcPct val="100000"/>
              </a:lnSpc>
              <a:spcBef>
                <a:spcPts val="550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instances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hyperplane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margin have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50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Arial"/>
                <a:cs typeface="Arial"/>
              </a:rPr>
              <a:t>0.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2487409"/>
            <a:ext cx="134416" cy="134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3481" y="2486424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Classifying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test</a:t>
            </a:r>
            <a:r>
              <a:rPr spc="80" dirty="0"/>
              <a:t> </a:t>
            </a:r>
            <a:r>
              <a:rPr dirty="0"/>
              <a:t>sample</a:t>
            </a:r>
            <a:r>
              <a:rPr spc="75" dirty="0"/>
              <a:t> </a:t>
            </a:r>
            <a:r>
              <a:rPr dirty="0"/>
              <a:t>using</a:t>
            </a:r>
            <a:r>
              <a:rPr spc="75" dirty="0"/>
              <a:t> </a:t>
            </a:r>
            <a:r>
              <a:rPr dirty="0"/>
              <a:t>Linear</a:t>
            </a:r>
            <a:r>
              <a:rPr spc="80" dirty="0"/>
              <a:t> </a:t>
            </a:r>
            <a:r>
              <a:rPr spc="-25" dirty="0"/>
              <a:t>SVM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78B810D-9702-4950-A11D-78097CD9FA2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4202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670126"/>
            <a:ext cx="4083685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6667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principle,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obtain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machine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SVM).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865"/>
              </a:spcBef>
            </a:pPr>
            <a:r>
              <a:rPr sz="1100" spc="-20" dirty="0">
                <a:latin typeface="Arial"/>
                <a:cs typeface="Arial"/>
              </a:rPr>
              <a:t>Now,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tuple </a:t>
            </a:r>
            <a:r>
              <a:rPr sz="1100" dirty="0">
                <a:latin typeface="Arial"/>
                <a:cs typeface="Arial"/>
              </a:rPr>
              <a:t>say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196136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6532" y="158701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5438" y="1591257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9954" y="1932621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19476" y="1785606"/>
            <a:ext cx="338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4018" y="1722880"/>
            <a:ext cx="2438832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37005" algn="l"/>
              </a:tabLst>
            </a:pP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lang="en-GB" sz="1100" spc="-50" dirty="0">
                <a:latin typeface="Lucida Sans Unicode"/>
                <a:cs typeface="Lucida Sans Unicode"/>
              </a:rPr>
              <a:t>  </a:t>
            </a:r>
            <a:r>
              <a:rPr lang="en-IN" sz="1600" dirty="0">
                <a:latin typeface="Lucida Sans Unicode"/>
                <a:cs typeface="Lucida Sans Unicode"/>
              </a:rPr>
              <a:t>∑</a:t>
            </a:r>
            <a:r>
              <a:rPr lang="en-IN" sz="1100" dirty="0">
                <a:latin typeface="Lucida Sans Unicode"/>
                <a:cs typeface="Lucida Sans Unicode"/>
              </a:rPr>
              <a:t>  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418" y="1722880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(21)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2104147"/>
            <a:ext cx="588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2154" y="239486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1072" y="2399105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46579" y="2530715"/>
            <a:ext cx="955040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0230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lang="en-IN" sz="1100" dirty="0">
                <a:latin typeface="Lucida Sans Unicode"/>
                <a:cs typeface="Lucida Sans Unicode"/>
              </a:rPr>
              <a:t> </a:t>
            </a:r>
            <a:r>
              <a:rPr lang="en-IN" sz="1400" dirty="0">
                <a:latin typeface="Lucida Sans Unicode"/>
                <a:cs typeface="Lucida Sans Unicode"/>
              </a:rPr>
              <a:t>∑</a:t>
            </a:r>
            <a:r>
              <a:rPr lang="en-IN" sz="110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5575" y="2740468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5097" y="2593453"/>
            <a:ext cx="338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47718" y="12833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Classifying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test</a:t>
            </a:r>
            <a:r>
              <a:rPr spc="80" dirty="0"/>
              <a:t> </a:t>
            </a:r>
            <a:r>
              <a:rPr dirty="0"/>
              <a:t>sample</a:t>
            </a:r>
            <a:r>
              <a:rPr spc="75" dirty="0"/>
              <a:t> </a:t>
            </a:r>
            <a:r>
              <a:rPr dirty="0"/>
              <a:t>using</a:t>
            </a:r>
            <a:r>
              <a:rPr spc="75" dirty="0"/>
              <a:t> </a:t>
            </a:r>
            <a:r>
              <a:rPr dirty="0"/>
              <a:t>Linear</a:t>
            </a:r>
            <a:r>
              <a:rPr spc="80" dirty="0"/>
              <a:t> </a:t>
            </a:r>
            <a:r>
              <a:rPr spc="-25" dirty="0"/>
              <a:t>SVM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5305D82-8DFF-4453-91BA-7F77354B89D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4917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77276"/>
            <a:ext cx="407987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famously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“Representer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Theorem”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states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solution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always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combination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3324" y="178413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2229" y="1788374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6745" y="2129738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6267" y="1982735"/>
            <a:ext cx="338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239" y="1919997"/>
            <a:ext cx="262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810385" algn="l"/>
              </a:tabLst>
            </a:pPr>
            <a:r>
              <a:rPr sz="1100" i="1" dirty="0">
                <a:latin typeface="Arial"/>
                <a:cs typeface="Arial"/>
              </a:rPr>
              <a:t>Thus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146057"/>
            <a:ext cx="3976211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/>
              <a:t>Classifying</a:t>
            </a:r>
            <a:r>
              <a:rPr b="1" spc="75" dirty="0"/>
              <a:t> </a:t>
            </a:r>
            <a:r>
              <a:rPr b="1" dirty="0"/>
              <a:t>a</a:t>
            </a:r>
            <a:r>
              <a:rPr b="1" spc="75" dirty="0"/>
              <a:t> </a:t>
            </a:r>
            <a:r>
              <a:rPr b="1" dirty="0"/>
              <a:t>test</a:t>
            </a:r>
            <a:r>
              <a:rPr b="1" spc="80" dirty="0"/>
              <a:t> </a:t>
            </a:r>
            <a:r>
              <a:rPr b="1" dirty="0"/>
              <a:t>sample</a:t>
            </a:r>
            <a:r>
              <a:rPr b="1" spc="75" dirty="0"/>
              <a:t> </a:t>
            </a:r>
            <a:r>
              <a:rPr b="1" dirty="0"/>
              <a:t>using</a:t>
            </a:r>
            <a:r>
              <a:rPr b="1" spc="75" dirty="0"/>
              <a:t> </a:t>
            </a:r>
            <a:r>
              <a:rPr b="1" dirty="0"/>
              <a:t>Linear</a:t>
            </a:r>
            <a:r>
              <a:rPr b="1" spc="80" dirty="0"/>
              <a:t> </a:t>
            </a:r>
            <a:r>
              <a:rPr b="1" spc="-25" dirty="0"/>
              <a:t>SVM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D0253E4-308C-4350-AAF1-73F9488E89A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18096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44282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444" y="546200"/>
            <a:ext cx="4385945" cy="15824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1496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involves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,where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6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support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because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(</a:t>
            </a:r>
            <a:r>
              <a:rPr sz="1100" i="1" spc="70" dirty="0">
                <a:latin typeface="Times New Roman"/>
                <a:cs typeface="Times New Roman"/>
              </a:rPr>
              <a:t>λ</a:t>
            </a:r>
            <a:r>
              <a:rPr sz="1200" i="1" spc="104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except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vectors),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check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marR="71755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positive,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falls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 </a:t>
            </a:r>
            <a:r>
              <a:rPr sz="1100" dirty="0">
                <a:latin typeface="Arial"/>
                <a:cs typeface="Arial"/>
              </a:rPr>
              <a:t>predicts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belongs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sign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negative,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falls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 </a:t>
            </a:r>
            <a:r>
              <a:rPr sz="1100" dirty="0">
                <a:latin typeface="Arial"/>
                <a:cs typeface="Arial"/>
              </a:rPr>
              <a:t>prediction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100" b="1" spc="-10" dirty="0">
                <a:latin typeface="Arial"/>
                <a:cs typeface="Arial"/>
              </a:rPr>
              <a:t>Note: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705" y="2355634"/>
            <a:ext cx="134416" cy="13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0106" y="2354648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2318701"/>
            <a:ext cx="3953510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Once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complexity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the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characterized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vectors.</a:t>
            </a:r>
            <a:endParaRPr sz="1100">
              <a:latin typeface="Arial"/>
              <a:cs typeface="Arial"/>
            </a:endParaRPr>
          </a:p>
          <a:p>
            <a:pPr marL="12700" marR="262890">
              <a:lnSpc>
                <a:spcPct val="102699"/>
              </a:lnSpc>
              <a:spcBef>
                <a:spcPts val="865"/>
              </a:spcBef>
            </a:pPr>
            <a:r>
              <a:rPr sz="1100" spc="-10" dirty="0">
                <a:latin typeface="Arial"/>
                <a:cs typeface="Arial"/>
              </a:rPr>
              <a:t>Dimensionality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issue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unlike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 classifier.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705" y="2809748"/>
            <a:ext cx="134416" cy="134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0106" y="280874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557" y="-67113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Illustration</a:t>
            </a:r>
            <a:r>
              <a:rPr spc="65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dirty="0"/>
              <a:t>Linear</a:t>
            </a:r>
            <a:r>
              <a:rPr spc="65" dirty="0"/>
              <a:t> </a:t>
            </a:r>
            <a:r>
              <a:rPr spc="-25" dirty="0"/>
              <a:t>SVM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B46E844-2D31-435E-BE1D-B7984C45A5B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8497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5233" y="548523"/>
            <a:ext cx="4121785" cy="1689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training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8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 </a:t>
            </a:r>
            <a:r>
              <a:rPr sz="1100" spc="-25" dirty="0">
                <a:latin typeface="Arial"/>
                <a:cs typeface="Arial"/>
                <a:hlinkClick r:id="rId3" action="ppaction://hlinksldjump"/>
              </a:rPr>
              <a:t>1.</a:t>
            </a:r>
            <a:endParaRPr sz="1100" dirty="0">
              <a:latin typeface="Arial"/>
              <a:cs typeface="Arial"/>
            </a:endParaRPr>
          </a:p>
          <a:p>
            <a:pPr marL="50800" marR="6731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quadratic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KKT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constraints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obtain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23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which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Table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  <a:hlinkClick r:id="rId3" action="ppaction://hlinksldjump"/>
              </a:rPr>
              <a:t>1.</a:t>
            </a:r>
            <a:endParaRPr sz="11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case.</a:t>
            </a:r>
            <a:endParaRPr sz="1100" dirty="0">
              <a:latin typeface="Arial"/>
              <a:cs typeface="Arial"/>
            </a:endParaRPr>
          </a:p>
          <a:p>
            <a:pPr marL="50800" marR="17399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denote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determined </a:t>
            </a:r>
            <a:r>
              <a:rPr sz="1100" dirty="0">
                <a:latin typeface="Arial"/>
                <a:cs typeface="Arial"/>
              </a:rPr>
              <a:t>now.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2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2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 dirty="0">
              <a:latin typeface="Arial"/>
              <a:cs typeface="Arial"/>
            </a:endParaRPr>
          </a:p>
          <a:p>
            <a:pPr marL="398145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967092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21269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31302"/>
            <a:ext cx="76809" cy="76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2970" y="2205455"/>
            <a:ext cx="9550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880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932" y="2142717"/>
            <a:ext cx="2057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2930" algn="l"/>
                <a:tab pos="108648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47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65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52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90" dirty="0">
                <a:latin typeface="Meiryo"/>
                <a:cs typeface="Meiryo"/>
              </a:rPr>
              <a:t> 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90" dirty="0">
                <a:latin typeface="Meiryo"/>
                <a:cs typeface="Meiryo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4771" y="2352470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4882" y="2142717"/>
            <a:ext cx="1631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38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65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52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85" dirty="0">
                <a:latin typeface="Meiryo"/>
                <a:cs typeface="Meiryo"/>
              </a:rPr>
              <a:t> 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8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49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9417" y="2142717"/>
            <a:ext cx="403225" cy="9791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Meiryo"/>
                <a:cs typeface="Meiryo"/>
              </a:rPr>
              <a:t>−</a:t>
            </a:r>
            <a:r>
              <a:rPr sz="1100" spc="-10" dirty="0">
                <a:latin typeface="Arial"/>
                <a:cs typeface="Arial"/>
              </a:rPr>
              <a:t>6</a:t>
            </a:r>
            <a:r>
              <a:rPr sz="1100" i="1" spc="-10" dirty="0">
                <a:latin typeface="Times New Roman"/>
                <a:cs typeface="Times New Roman"/>
              </a:rPr>
              <a:t>.</a:t>
            </a:r>
            <a:r>
              <a:rPr sz="1100" spc="-10" dirty="0">
                <a:latin typeface="Arial"/>
                <a:cs typeface="Arial"/>
              </a:rPr>
              <a:t>64</a:t>
            </a:r>
            <a:endParaRPr sz="11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  <a:spcBef>
                <a:spcPts val="1045"/>
              </a:spcBef>
            </a:pPr>
            <a:r>
              <a:rPr sz="1100" spc="-20" dirty="0">
                <a:latin typeface="Arial"/>
                <a:cs typeface="Arial"/>
              </a:rPr>
              <a:t>(22)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i="1" spc="-10" dirty="0">
                <a:latin typeface="Meiryo"/>
                <a:cs typeface="Meiryo"/>
              </a:rPr>
              <a:t>−</a:t>
            </a:r>
            <a:r>
              <a:rPr sz="1100" spc="-10" dirty="0">
                <a:latin typeface="Arial"/>
                <a:cs typeface="Arial"/>
              </a:rPr>
              <a:t>9</a:t>
            </a:r>
            <a:r>
              <a:rPr sz="1100" i="1" spc="-10" dirty="0">
                <a:latin typeface="Times New Roman"/>
                <a:cs typeface="Times New Roman"/>
              </a:rPr>
              <a:t>.</a:t>
            </a:r>
            <a:r>
              <a:rPr sz="1100" spc="-10" dirty="0">
                <a:latin typeface="Arial"/>
                <a:cs typeface="Arial"/>
              </a:rPr>
              <a:t>32</a:t>
            </a:r>
            <a:endParaRPr sz="1100">
              <a:latin typeface="Arial"/>
              <a:cs typeface="Arial"/>
            </a:endParaRPr>
          </a:p>
          <a:p>
            <a:pPr marL="143510">
              <a:lnSpc>
                <a:spcPct val="100000"/>
              </a:lnSpc>
              <a:spcBef>
                <a:spcPts val="1045"/>
              </a:spcBef>
            </a:pPr>
            <a:r>
              <a:rPr sz="1100" spc="-20" dirty="0">
                <a:latin typeface="Arial"/>
                <a:cs typeface="Arial"/>
              </a:rPr>
              <a:t>(23)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0303" y="249825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2970" y="2692602"/>
            <a:ext cx="9550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388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932" y="2629864"/>
            <a:ext cx="2057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2930" algn="l"/>
                <a:tab pos="1086485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47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65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52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90" dirty="0">
                <a:latin typeface="Meiryo"/>
                <a:cs typeface="Meiryo"/>
              </a:rPr>
              <a:t> 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1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90" dirty="0">
                <a:latin typeface="Meiryo"/>
                <a:cs typeface="Meiryo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4771" y="2839617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34882" y="2629864"/>
            <a:ext cx="1631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47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65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52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85" dirty="0">
                <a:latin typeface="Meiryo"/>
                <a:cs typeface="Meiryo"/>
              </a:rPr>
              <a:t> 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8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61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6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1969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Illustration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SVM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355" y="786071"/>
            <a:ext cx="12515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Table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1:</a:t>
            </a:r>
            <a:r>
              <a:rPr sz="10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Training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Data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15859" y="1074597"/>
          <a:ext cx="1577974" cy="1712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37" baseline="-13888" dirty="0">
                          <a:latin typeface="Arial"/>
                          <a:cs typeface="Arial"/>
                        </a:rPr>
                        <a:t>1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200" spc="-37" baseline="-13888" dirty="0">
                          <a:latin typeface="Arial"/>
                          <a:cs typeface="Arial"/>
                        </a:rPr>
                        <a:t>2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285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1285"/>
                        </a:lnSpc>
                      </a:pPr>
                      <a:r>
                        <a:rPr sz="1100" i="1" spc="50" dirty="0"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200" i="1" spc="75" baseline="-13888" dirty="0">
                          <a:latin typeface="Arial"/>
                          <a:cs typeface="Arial"/>
                        </a:rPr>
                        <a:t>i</a:t>
                      </a:r>
                      <a:endParaRPr sz="1200" baseline="-13888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0.38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0.47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+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65.52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0.49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0.61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65.52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0.92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0.41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0.74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0.89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0.18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0.58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+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0.41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0.35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+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0.93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0.81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0.21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0.10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+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D3F4ACD-45E3-4832-A435-E53E3FB37B34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1969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Illustration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SVM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8031" y="615548"/>
            <a:ext cx="1772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6: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example.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086" y="992376"/>
            <a:ext cx="2175468" cy="198878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983BA47-B0CF-47DE-9A56-9C0F0FEB2F2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59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Illustration</a:t>
            </a:r>
            <a:r>
              <a:rPr spc="65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dirty="0"/>
              <a:t>Linear</a:t>
            </a:r>
            <a:r>
              <a:rPr spc="65" dirty="0"/>
              <a:t> </a:t>
            </a:r>
            <a:r>
              <a:rPr spc="-25" dirty="0"/>
              <a:t>SVM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6E65034-DD4E-40E4-A216-DE41E8C607B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16330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502954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8632" y="844421"/>
            <a:ext cx="4006215" cy="17786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0" marR="939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calculated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 </a:t>
            </a:r>
            <a:r>
              <a:rPr sz="1100" spc="-10" dirty="0">
                <a:latin typeface="Arial"/>
                <a:cs typeface="Arial"/>
              </a:rPr>
              <a:t>follows</a:t>
            </a:r>
            <a:endParaRPr sz="11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7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//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endParaRPr sz="1200" baseline="-13888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6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64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38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9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32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47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//using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product</a:t>
            </a:r>
            <a:endParaRPr sz="1100">
              <a:latin typeface="Arial"/>
              <a:cs typeface="Arial"/>
            </a:endParaRPr>
          </a:p>
          <a:p>
            <a:pPr marL="126364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7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spc="-20" dirty="0">
                <a:latin typeface="Arial"/>
                <a:cs typeface="Arial"/>
              </a:rPr>
              <a:t>93</a:t>
            </a:r>
            <a:endParaRPr sz="1100">
              <a:latin typeface="Arial"/>
              <a:cs typeface="Arial"/>
            </a:endParaRPr>
          </a:p>
          <a:p>
            <a:pPr marL="126364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7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//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support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endParaRPr sz="1200" baseline="-13888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6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64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48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9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32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611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//using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product</a:t>
            </a:r>
            <a:endParaRPr sz="110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7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spc="-20" dirty="0">
                <a:latin typeface="Arial"/>
                <a:cs typeface="Arial"/>
              </a:rPr>
              <a:t>93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L="1270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Averaging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spc="-20" dirty="0">
                <a:latin typeface="Arial"/>
                <a:cs typeface="Arial"/>
              </a:rPr>
              <a:t>7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spc="-20" dirty="0">
                <a:latin typeface="Arial"/>
                <a:cs typeface="Arial"/>
              </a:rPr>
              <a:t>93.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Illustration</a:t>
            </a:r>
            <a:r>
              <a:rPr spc="65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dirty="0"/>
              <a:t>Linear</a:t>
            </a:r>
            <a:r>
              <a:rPr spc="65" dirty="0"/>
              <a:t> </a:t>
            </a:r>
            <a:r>
              <a:rPr spc="-25" dirty="0"/>
              <a:t>SVM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344766" rIns="0" bIns="0" rtlCol="0">
            <a:spAutoFit/>
          </a:bodyPr>
          <a:lstStyle/>
          <a:p>
            <a:pPr marL="378460" marR="88900">
              <a:lnSpc>
                <a:spcPct val="125299"/>
              </a:lnSpc>
              <a:spcBef>
                <a:spcPts val="100"/>
              </a:spcBef>
            </a:pPr>
            <a:r>
              <a:rPr dirty="0"/>
              <a:t>Thus,</a:t>
            </a:r>
            <a:r>
              <a:rPr spc="-5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MMH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i="1" dirty="0">
                <a:latin typeface="Meiryo"/>
                <a:cs typeface="Meiryo"/>
              </a:rPr>
              <a:t>−</a:t>
            </a:r>
            <a:r>
              <a:rPr dirty="0"/>
              <a:t>6</a:t>
            </a:r>
            <a:r>
              <a:rPr i="1" dirty="0">
                <a:latin typeface="Times New Roman"/>
                <a:cs typeface="Times New Roman"/>
              </a:rPr>
              <a:t>.</a:t>
            </a:r>
            <a:r>
              <a:rPr dirty="0"/>
              <a:t>64</a:t>
            </a:r>
            <a:r>
              <a:rPr i="1" dirty="0">
                <a:latin typeface="Arial"/>
                <a:cs typeface="Arial"/>
              </a:rPr>
              <a:t>x</a:t>
            </a:r>
            <a:r>
              <a:rPr sz="1200" baseline="-13888" dirty="0"/>
              <a:t>1</a:t>
            </a:r>
            <a:r>
              <a:rPr sz="1200" spc="82" baseline="-13888" dirty="0"/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dirty="0"/>
              <a:t>9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/>
              <a:t>32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/>
              <a:t>2</a:t>
            </a:r>
            <a:r>
              <a:rPr sz="1200" spc="75" baseline="-13888" dirty="0"/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/>
              <a:t>7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/>
              <a:t>93</a:t>
            </a:r>
            <a:r>
              <a:rPr sz="1100" spc="-25" dirty="0"/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/>
              <a:t>0</a:t>
            </a:r>
            <a:r>
              <a:rPr sz="1100" spc="-20" dirty="0"/>
              <a:t> </a:t>
            </a:r>
            <a:r>
              <a:rPr sz="1100" dirty="0"/>
              <a:t>(also</a:t>
            </a:r>
            <a:r>
              <a:rPr sz="1100" spc="-25" dirty="0"/>
              <a:t> </a:t>
            </a:r>
            <a:r>
              <a:rPr sz="1100" dirty="0"/>
              <a:t>see</a:t>
            </a:r>
            <a:r>
              <a:rPr sz="1100" spc="-20" dirty="0"/>
              <a:t> </a:t>
            </a:r>
            <a:r>
              <a:rPr sz="1100" dirty="0"/>
              <a:t>Fig.</a:t>
            </a:r>
            <a:r>
              <a:rPr sz="1100" spc="-25" dirty="0"/>
              <a:t> 6). </a:t>
            </a:r>
            <a:r>
              <a:rPr sz="1100" dirty="0"/>
              <a:t>Suppose,</a:t>
            </a:r>
            <a:r>
              <a:rPr sz="1100" spc="-5" dirty="0"/>
              <a:t> </a:t>
            </a:r>
            <a:r>
              <a:rPr sz="1100" dirty="0"/>
              <a:t>test</a:t>
            </a:r>
            <a:r>
              <a:rPr sz="1100" spc="-5" dirty="0"/>
              <a:t> </a:t>
            </a:r>
            <a:r>
              <a:rPr sz="1100" dirty="0"/>
              <a:t>data is</a:t>
            </a:r>
            <a:r>
              <a:rPr sz="1100" spc="-5" dirty="0"/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dirty="0"/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/>
              <a:t>5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dirty="0"/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/>
              <a:t>5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/>
              <a:t>.</a:t>
            </a:r>
            <a:r>
              <a:rPr sz="1100" spc="65" dirty="0"/>
              <a:t> </a:t>
            </a:r>
            <a:r>
              <a:rPr sz="1100" spc="-10" dirty="0"/>
              <a:t>Therefore,</a:t>
            </a:r>
            <a:endParaRPr sz="1100">
              <a:latin typeface="Lucida Sans Unicode"/>
              <a:cs typeface="Lucida Sans Unicode"/>
            </a:endParaRP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Times New Roman"/>
                <a:cs typeface="Times New Roman"/>
              </a:rPr>
              <a:t>δ</a:t>
            </a:r>
            <a:r>
              <a:rPr dirty="0">
                <a:latin typeface="Lucida Sans Unicode"/>
                <a:cs typeface="Lucida Sans Unicode"/>
              </a:rPr>
              <a:t>(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-175" dirty="0">
                <a:latin typeface="Arial"/>
                <a:cs typeface="Arial"/>
              </a:rPr>
              <a:t> </a:t>
            </a:r>
            <a:r>
              <a:rPr spc="60" dirty="0">
                <a:latin typeface="Lucida Sans Unicode"/>
                <a:cs typeface="Lucida Sans Unicode"/>
              </a:rPr>
              <a:t>)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i="1" spc="50" dirty="0">
                <a:latin typeface="Arial"/>
                <a:cs typeface="Arial"/>
              </a:rPr>
              <a:t>W</a:t>
            </a:r>
            <a:r>
              <a:rPr i="1" spc="50" dirty="0">
                <a:latin typeface="Times New Roman"/>
                <a:cs typeface="Times New Roman"/>
              </a:rPr>
              <a:t>.</a:t>
            </a:r>
            <a:r>
              <a:rPr i="1" spc="50" dirty="0">
                <a:latin typeface="Arial"/>
                <a:cs typeface="Arial"/>
              </a:rPr>
              <a:t>X</a:t>
            </a:r>
            <a:r>
              <a:rPr i="1" spc="80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i="1" spc="-50" dirty="0">
                <a:latin typeface="Arial"/>
                <a:cs typeface="Arial"/>
              </a:rPr>
              <a:t>b</a:t>
            </a: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45" dirty="0">
                <a:latin typeface="Lucida Sans Unicode"/>
                <a:cs typeface="Lucida Sans Unicode"/>
              </a:rPr>
              <a:t> </a:t>
            </a:r>
            <a:r>
              <a:rPr i="1" spc="-10" dirty="0">
                <a:latin typeface="Meiryo"/>
                <a:cs typeface="Meiryo"/>
              </a:rPr>
              <a:t>−</a:t>
            </a:r>
            <a:r>
              <a:rPr spc="-10" dirty="0"/>
              <a:t>6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spc="-10" dirty="0"/>
              <a:t>64</a:t>
            </a:r>
            <a:r>
              <a:rPr spc="-60" dirty="0"/>
              <a:t> </a:t>
            </a:r>
            <a:r>
              <a:rPr i="1" spc="-50" dirty="0">
                <a:latin typeface="Meiryo"/>
                <a:cs typeface="Meiryo"/>
              </a:rPr>
              <a:t>×</a:t>
            </a:r>
            <a:r>
              <a:rPr i="1" spc="-135" dirty="0">
                <a:latin typeface="Meiryo"/>
                <a:cs typeface="Meiryo"/>
              </a:rPr>
              <a:t> </a:t>
            </a:r>
            <a:r>
              <a:rPr dirty="0"/>
              <a:t>0</a:t>
            </a:r>
            <a:r>
              <a:rPr i="1" dirty="0">
                <a:latin typeface="Times New Roman"/>
                <a:cs typeface="Times New Roman"/>
              </a:rPr>
              <a:t>.</a:t>
            </a:r>
            <a:r>
              <a:rPr dirty="0"/>
              <a:t>5</a:t>
            </a:r>
            <a:r>
              <a:rPr spc="-60" dirty="0"/>
              <a:t> </a:t>
            </a:r>
            <a:r>
              <a:rPr i="1" spc="-50" dirty="0">
                <a:latin typeface="Meiryo"/>
                <a:cs typeface="Meiryo"/>
              </a:rPr>
              <a:t>−</a:t>
            </a:r>
            <a:r>
              <a:rPr i="1" spc="-135" dirty="0">
                <a:latin typeface="Meiryo"/>
                <a:cs typeface="Meiryo"/>
              </a:rPr>
              <a:t> </a:t>
            </a:r>
            <a:r>
              <a:rPr dirty="0"/>
              <a:t>9</a:t>
            </a:r>
            <a:r>
              <a:rPr i="1" dirty="0">
                <a:latin typeface="Times New Roman"/>
                <a:cs typeface="Times New Roman"/>
              </a:rPr>
              <a:t>.</a:t>
            </a:r>
            <a:r>
              <a:rPr dirty="0"/>
              <a:t>32</a:t>
            </a:r>
            <a:r>
              <a:rPr spc="-60" dirty="0"/>
              <a:t> </a:t>
            </a:r>
            <a:r>
              <a:rPr i="1" spc="-50" dirty="0">
                <a:latin typeface="Meiryo"/>
                <a:cs typeface="Meiryo"/>
              </a:rPr>
              <a:t>×</a:t>
            </a:r>
            <a:r>
              <a:rPr i="1" spc="-130" dirty="0">
                <a:latin typeface="Meiryo"/>
                <a:cs typeface="Meiryo"/>
              </a:rPr>
              <a:t> </a:t>
            </a:r>
            <a:r>
              <a:rPr dirty="0"/>
              <a:t>0</a:t>
            </a:r>
            <a:r>
              <a:rPr i="1" dirty="0">
                <a:latin typeface="Times New Roman"/>
                <a:cs typeface="Times New Roman"/>
              </a:rPr>
              <a:t>.</a:t>
            </a:r>
            <a:r>
              <a:rPr dirty="0"/>
              <a:t>5</a:t>
            </a:r>
            <a:r>
              <a:rPr spc="-65" dirty="0"/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0" dirty="0">
                <a:latin typeface="Lucida Sans Unicode"/>
                <a:cs typeface="Lucida Sans Unicode"/>
              </a:rPr>
              <a:t> </a:t>
            </a:r>
            <a:r>
              <a:rPr spc="-20" dirty="0"/>
              <a:t>7</a:t>
            </a:r>
            <a:r>
              <a:rPr i="1" spc="-20" dirty="0">
                <a:latin typeface="Times New Roman"/>
                <a:cs typeface="Times New Roman"/>
              </a:rPr>
              <a:t>.</a:t>
            </a:r>
            <a:r>
              <a:rPr spc="-20" dirty="0"/>
              <a:t>93</a:t>
            </a: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i="1" spc="-10" dirty="0">
                <a:latin typeface="Meiryo"/>
                <a:cs typeface="Meiryo"/>
              </a:rPr>
              <a:t>−</a:t>
            </a:r>
            <a:r>
              <a:rPr spc="-10" dirty="0"/>
              <a:t>0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spc="-10" dirty="0"/>
              <a:t>05</a:t>
            </a:r>
          </a:p>
          <a:p>
            <a:pPr marL="378460">
              <a:lnSpc>
                <a:spcPct val="100000"/>
              </a:lnSpc>
              <a:spcBef>
                <a:spcPts val="35"/>
              </a:spcBef>
            </a:pP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80" dirty="0">
                <a:latin typeface="Lucida Sans Unicode"/>
                <a:cs typeface="Lucida Sans Unicode"/>
              </a:rPr>
              <a:t> </a:t>
            </a:r>
            <a:r>
              <a:rPr i="1" spc="-25" dirty="0">
                <a:latin typeface="Meiryo"/>
                <a:cs typeface="Meiryo"/>
              </a:rPr>
              <a:t>−</a:t>
            </a:r>
            <a:r>
              <a:rPr i="1" spc="-25" dirty="0">
                <a:latin typeface="Arial"/>
                <a:cs typeface="Arial"/>
              </a:rPr>
              <a:t>ve</a:t>
            </a:r>
          </a:p>
          <a:p>
            <a:pPr marL="378460" marR="17780">
              <a:lnSpc>
                <a:spcPct val="102600"/>
              </a:lnSpc>
              <a:spcBef>
                <a:spcPts val="1655"/>
              </a:spcBef>
            </a:pP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implies</a:t>
            </a:r>
            <a:r>
              <a:rPr spc="-3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test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falls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below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MMH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5" dirty="0"/>
              <a:t>SVM </a:t>
            </a:r>
            <a:r>
              <a:rPr dirty="0"/>
              <a:t>classifies</a:t>
            </a:r>
            <a:r>
              <a:rPr spc="-3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100" dirty="0">
                <a:latin typeface="Arial"/>
                <a:cs typeface="Arial"/>
              </a:rPr>
              <a:t> </a:t>
            </a:r>
            <a:r>
              <a:rPr dirty="0"/>
              <a:t>belongs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label</a:t>
            </a:r>
            <a:r>
              <a:rPr spc="-25" dirty="0"/>
              <a:t> </a:t>
            </a:r>
            <a:r>
              <a:rPr spc="-10" dirty="0"/>
              <a:t>-</a:t>
            </a:r>
            <a:r>
              <a:rPr spc="-50" dirty="0"/>
              <a:t>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43E16340-C4DB-437D-B2DB-61DB23AE2BC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69975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80007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50414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-44450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Classification</a:t>
            </a:r>
            <a:r>
              <a:rPr spc="120" dirty="0"/>
              <a:t> </a:t>
            </a:r>
            <a:r>
              <a:rPr dirty="0"/>
              <a:t>of</a:t>
            </a:r>
            <a:r>
              <a:rPr spc="125" dirty="0"/>
              <a:t> </a:t>
            </a:r>
            <a:r>
              <a:rPr dirty="0"/>
              <a:t>Multiple-class</a:t>
            </a:r>
            <a:r>
              <a:rPr spc="125" dirty="0"/>
              <a:t> </a:t>
            </a:r>
            <a:r>
              <a:rPr spc="-20" dirty="0"/>
              <a:t>Data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B243DD4-4855-4D46-843C-3965D855356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9626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24356"/>
            <a:ext cx="4051300" cy="2070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3022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limited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binary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only).</a:t>
            </a:r>
            <a:endParaRPr sz="1100">
              <a:latin typeface="Arial"/>
              <a:cs typeface="Arial"/>
            </a:endParaRPr>
          </a:p>
          <a:p>
            <a:pPr marL="12700" marR="56515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handle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10" dirty="0">
                <a:latin typeface="Arial"/>
                <a:cs typeface="Arial"/>
              </a:rPr>
              <a:t>dimension,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2.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Now,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generalized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-dimensional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classes.</a:t>
            </a:r>
            <a:endParaRPr sz="1100">
              <a:latin typeface="Arial"/>
              <a:cs typeface="Arial"/>
            </a:endParaRPr>
          </a:p>
          <a:p>
            <a:pPr marL="12700" marR="440055">
              <a:lnSpc>
                <a:spcPct val="102600"/>
              </a:lnSpc>
              <a:spcBef>
                <a:spcPts val="870"/>
              </a:spcBef>
            </a:pPr>
            <a:r>
              <a:rPr sz="1100" dirty="0">
                <a:latin typeface="Arial"/>
                <a:cs typeface="Arial"/>
              </a:rPr>
              <a:t>There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possibilities: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pairwise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linearly separable,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overlapping,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linearly separable.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extend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principle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strategies: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050366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76552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02725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2731020"/>
            <a:ext cx="134416" cy="1344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3481" y="2730022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0034" y="2666028"/>
            <a:ext cx="1788795" cy="40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32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One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versus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(OVO)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strategy </a:t>
            </a:r>
            <a:r>
              <a:rPr sz="1000" dirty="0">
                <a:latin typeface="Arial"/>
                <a:cs typeface="Arial"/>
              </a:rPr>
              <a:t>One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versus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(OVA)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strategy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080" y="2918841"/>
            <a:ext cx="134416" cy="1344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3481" y="2917855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0" dirty="0"/>
              <a:t> </a:t>
            </a:r>
            <a:r>
              <a:rPr dirty="0"/>
              <a:t>OVO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351C3F0B-17CB-45A2-9046-E34915BBC83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46556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74647"/>
            <a:ext cx="4079240" cy="645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OVO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strategy,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classes.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20" dirty="0">
                <a:latin typeface="Arial"/>
                <a:cs typeface="Arial"/>
              </a:rPr>
              <a:t> many </a:t>
            </a:r>
            <a:r>
              <a:rPr sz="1100" dirty="0">
                <a:latin typeface="Arial"/>
                <a:cs typeface="Arial"/>
              </a:rPr>
              <a:t>classifiers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possible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course,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redundant).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2858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82686"/>
            <a:ext cx="76809" cy="76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710777"/>
            <a:ext cx="35839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Also,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7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3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(namely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×</a:t>
            </a:r>
            <a:r>
              <a:rPr sz="1100" dirty="0">
                <a:latin typeface="Arial"/>
                <a:cs typeface="Arial"/>
              </a:rPr>
              <a:t>).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H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2064" y="1697836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1396" y="1782354"/>
            <a:ext cx="762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1882862"/>
            <a:ext cx="4079240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denotes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MMH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spc="-10" dirty="0">
                <a:latin typeface="Arial"/>
                <a:cs typeface="Arial"/>
              </a:rPr>
              <a:t>Similarly,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think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4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(namely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×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÷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more.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36800"/>
            <a:ext cx="76809" cy="7680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32797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Multi-Class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Classification:</a:t>
            </a:r>
            <a:r>
              <a:rPr sz="140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OVO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191" y="754232"/>
            <a:ext cx="2660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7:</a:t>
            </a:r>
            <a:r>
              <a:rPr sz="10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3-</a:t>
            </a:r>
            <a:r>
              <a:rPr sz="1000" dirty="0">
                <a:latin typeface="Arial"/>
                <a:cs typeface="Arial"/>
              </a:rPr>
              <a:t>pairwise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linearly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separable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classes.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9305" y="1096721"/>
            <a:ext cx="1775460" cy="158877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A1EABBD-0051-48B9-BAD3-059840AC4F9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0" dirty="0"/>
              <a:t> </a:t>
            </a:r>
            <a:r>
              <a:rPr dirty="0"/>
              <a:t>OVO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B0E84A1-8AE4-4B7E-AF0F-5EC2AEEE3F1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9753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125625"/>
            <a:ext cx="40792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OVO</a:t>
            </a:r>
            <a:r>
              <a:rPr sz="1100" spc="-20" dirty="0">
                <a:latin typeface="Arial"/>
                <a:cs typeface="Arial"/>
              </a:rPr>
              <a:t> strategy,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7532" y="1311057"/>
            <a:ext cx="392937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200" i="1" baseline="38194" dirty="0">
                <a:latin typeface="Arial"/>
                <a:cs typeface="Arial"/>
              </a:rPr>
              <a:t>j</a:t>
            </a:r>
            <a:r>
              <a:rPr sz="1200" i="1" spc="-157" baseline="38194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 MMH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27777" dirty="0">
                <a:latin typeface="Arial"/>
                <a:cs typeface="Arial"/>
              </a:rPr>
              <a:t>th</a:t>
            </a:r>
            <a:r>
              <a:rPr sz="1200" i="1" spc="209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200" i="1" baseline="27777" dirty="0">
                <a:latin typeface="Arial"/>
                <a:cs typeface="Arial"/>
              </a:rPr>
              <a:t>th</a:t>
            </a:r>
            <a:r>
              <a:rPr sz="1200" i="1" spc="209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 </a:t>
            </a:r>
            <a:r>
              <a:rPr sz="1100" spc="-25" dirty="0">
                <a:latin typeface="Arial"/>
                <a:cs typeface="Arial"/>
              </a:rPr>
              <a:t>for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395957"/>
            <a:ext cx="743585" cy="27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660">
              <a:lnSpc>
                <a:spcPts val="819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1180"/>
              </a:lnSpc>
            </a:pPr>
            <a:r>
              <a:rPr sz="1100" dirty="0">
                <a:latin typeface="Arial"/>
                <a:cs typeface="Arial"/>
              </a:rPr>
              <a:t>test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837067"/>
            <a:ext cx="76809" cy="76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56129" y="1733663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0884" y="1850071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1765171"/>
            <a:ext cx="3131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δ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00526" y="1765171"/>
            <a:ext cx="1035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8750" algn="l"/>
              </a:tabLst>
            </a:pPr>
            <a:r>
              <a:rPr sz="1100" i="1" spc="-50" dirty="0">
                <a:latin typeface="Meiryo"/>
                <a:cs typeface="Meiryo"/>
              </a:rPr>
              <a:t>/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),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932" y="1937244"/>
            <a:ext cx="35236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sign,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unambiguously,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i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5" dirty="0"/>
              <a:t> </a:t>
            </a:r>
            <a:r>
              <a:rPr spc="-20" dirty="0"/>
              <a:t>OVA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434087" rIns="0" bIns="0" rtlCol="0">
            <a:spAutoFit/>
          </a:bodyPr>
          <a:lstStyle/>
          <a:p>
            <a:pPr marL="378460" marR="30480">
              <a:lnSpc>
                <a:spcPct val="102600"/>
              </a:lnSpc>
              <a:spcBef>
                <a:spcPts val="55"/>
              </a:spcBef>
            </a:pPr>
            <a:r>
              <a:rPr spc="-35" dirty="0"/>
              <a:t>OVO </a:t>
            </a:r>
            <a:r>
              <a:rPr dirty="0"/>
              <a:t>strategy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useful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large</a:t>
            </a:r>
            <a:r>
              <a:rPr spc="-30" dirty="0"/>
              <a:t> </a:t>
            </a:r>
            <a:r>
              <a:rPr dirty="0"/>
              <a:t>number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classes,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computational</a:t>
            </a:r>
            <a:r>
              <a:rPr spc="-25" dirty="0"/>
              <a:t> </a:t>
            </a:r>
            <a:r>
              <a:rPr spc="-10" dirty="0"/>
              <a:t>complexity</a:t>
            </a:r>
            <a:r>
              <a:rPr spc="-20" dirty="0"/>
              <a:t> </a:t>
            </a:r>
            <a:r>
              <a:rPr dirty="0"/>
              <a:t>increases</a:t>
            </a:r>
            <a:r>
              <a:rPr spc="-20" dirty="0"/>
              <a:t> </a:t>
            </a:r>
            <a:r>
              <a:rPr spc="-10" dirty="0"/>
              <a:t>exponentially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number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classes.</a:t>
            </a:r>
          </a:p>
          <a:p>
            <a:pPr marL="378460" marR="220979">
              <a:lnSpc>
                <a:spcPct val="102600"/>
              </a:lnSpc>
              <a:spcBef>
                <a:spcPts val="865"/>
              </a:spcBef>
            </a:pPr>
            <a:r>
              <a:rPr dirty="0"/>
              <a:t>As</a:t>
            </a:r>
            <a:r>
              <a:rPr spc="-3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alternative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35" dirty="0"/>
              <a:t>OVO</a:t>
            </a:r>
            <a:r>
              <a:rPr spc="-25" dirty="0"/>
              <a:t> </a:t>
            </a:r>
            <a:r>
              <a:rPr spc="-20" dirty="0"/>
              <a:t>strategy,</a:t>
            </a:r>
            <a:r>
              <a:rPr spc="-30" dirty="0"/>
              <a:t> </a:t>
            </a:r>
            <a:r>
              <a:rPr spc="-25" dirty="0"/>
              <a:t>OVA(one </a:t>
            </a:r>
            <a:r>
              <a:rPr dirty="0"/>
              <a:t>versus</a:t>
            </a:r>
            <a:r>
              <a:rPr spc="-25" dirty="0"/>
              <a:t> </a:t>
            </a:r>
            <a:r>
              <a:rPr dirty="0"/>
              <a:t>all)</a:t>
            </a:r>
            <a:r>
              <a:rPr spc="-25" dirty="0"/>
              <a:t> </a:t>
            </a:r>
            <a:r>
              <a:rPr spc="-10" dirty="0"/>
              <a:t>strategy </a:t>
            </a:r>
            <a:r>
              <a:rPr dirty="0"/>
              <a:t>has</a:t>
            </a:r>
            <a:r>
              <a:rPr spc="-30" dirty="0"/>
              <a:t> </a:t>
            </a:r>
            <a:r>
              <a:rPr dirty="0"/>
              <a:t>been</a:t>
            </a:r>
            <a:r>
              <a:rPr spc="-25" dirty="0"/>
              <a:t> </a:t>
            </a:r>
            <a:r>
              <a:rPr spc="-10" dirty="0"/>
              <a:t>proposed.</a:t>
            </a:r>
          </a:p>
          <a:p>
            <a:pPr marL="378460" marR="40640">
              <a:lnSpc>
                <a:spcPct val="102600"/>
              </a:lnSpc>
              <a:spcBef>
                <a:spcPts val="870"/>
              </a:spcBef>
            </a:pP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approach,</a:t>
            </a:r>
            <a:r>
              <a:rPr spc="-30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choose</a:t>
            </a:r>
            <a:r>
              <a:rPr spc="-30" dirty="0"/>
              <a:t> </a:t>
            </a:r>
            <a:r>
              <a:rPr dirty="0"/>
              <a:t>any</a:t>
            </a:r>
            <a:r>
              <a:rPr spc="-35" dirty="0"/>
              <a:t> </a:t>
            </a:r>
            <a:r>
              <a:rPr dirty="0"/>
              <a:t>class</a:t>
            </a:r>
            <a:r>
              <a:rPr spc="-30" dirty="0"/>
              <a:t> </a:t>
            </a:r>
            <a:r>
              <a:rPr dirty="0"/>
              <a:t>say</a:t>
            </a:r>
            <a:r>
              <a:rPr spc="-35" dirty="0"/>
              <a:t> </a:t>
            </a:r>
            <a:r>
              <a:rPr i="1" dirty="0">
                <a:latin typeface="Arial"/>
                <a:cs typeface="Arial"/>
              </a:rPr>
              <a:t>C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40" baseline="-13888" dirty="0">
                <a:latin typeface="Arial"/>
                <a:cs typeface="Arial"/>
              </a:rPr>
              <a:t> </a:t>
            </a:r>
            <a:r>
              <a:rPr sz="1100" dirty="0"/>
              <a:t>and</a:t>
            </a:r>
            <a:r>
              <a:rPr sz="1100" spc="-35" dirty="0"/>
              <a:t> </a:t>
            </a:r>
            <a:r>
              <a:rPr sz="1100" dirty="0"/>
              <a:t>consider</a:t>
            </a:r>
            <a:r>
              <a:rPr sz="1100" spc="-30" dirty="0"/>
              <a:t> </a:t>
            </a:r>
            <a:r>
              <a:rPr sz="1100" dirty="0"/>
              <a:t>that</a:t>
            </a:r>
            <a:r>
              <a:rPr sz="1100" spc="-35" dirty="0"/>
              <a:t> </a:t>
            </a:r>
            <a:r>
              <a:rPr sz="1100" spc="-25" dirty="0"/>
              <a:t>all </a:t>
            </a:r>
            <a:r>
              <a:rPr sz="1100" dirty="0"/>
              <a:t>tuples</a:t>
            </a:r>
            <a:r>
              <a:rPr sz="1100" spc="-30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dirty="0"/>
              <a:t>other</a:t>
            </a:r>
            <a:r>
              <a:rPr sz="1100" spc="-30" dirty="0"/>
              <a:t> </a:t>
            </a:r>
            <a:r>
              <a:rPr sz="1100" dirty="0"/>
              <a:t>classes</a:t>
            </a:r>
            <a:r>
              <a:rPr sz="1100" spc="-25" dirty="0"/>
              <a:t> </a:t>
            </a:r>
            <a:r>
              <a:rPr sz="1100" dirty="0"/>
              <a:t>belong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25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dirty="0"/>
              <a:t>single</a:t>
            </a:r>
            <a:r>
              <a:rPr sz="1100" spc="-25" dirty="0"/>
              <a:t> </a:t>
            </a:r>
            <a:r>
              <a:rPr sz="1100" spc="-10" dirty="0"/>
              <a:t>class.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8280076-73D0-41D4-AE7E-69FAB43A621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21232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647418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01519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5" dirty="0"/>
              <a:t> </a:t>
            </a:r>
            <a:r>
              <a:rPr spc="-20" dirty="0"/>
              <a:t>OVA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A5FB9E9-9C42-40C5-8965-B46B36CFC37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2123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49323"/>
            <a:ext cx="4071620" cy="14446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therefore,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hyperplane.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2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remaining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MMH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process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repeated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E</a:t>
            </a:r>
            <a:r>
              <a:rPr sz="1100" spc="-50" dirty="0">
                <a:latin typeface="Lucida Sans Unicode"/>
                <a:cs typeface="Lucida Sans Unicode"/>
              </a:rPr>
              <a:t>[</a:t>
            </a:r>
            <a:r>
              <a:rPr sz="1100" i="1" spc="-50" dirty="0">
                <a:latin typeface="Arial"/>
                <a:cs typeface="Arial"/>
              </a:rPr>
              <a:t>C</a:t>
            </a:r>
            <a:r>
              <a:rPr sz="1200" spc="-75" baseline="-13888" dirty="0">
                <a:latin typeface="Arial"/>
                <a:cs typeface="Arial"/>
              </a:rPr>
              <a:t>1</a:t>
            </a:r>
            <a:r>
              <a:rPr sz="1100" i="1" spc="-5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.....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]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getting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latin typeface="Arial"/>
                <a:cs typeface="Arial"/>
              </a:rPr>
              <a:t>MMH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OVA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strategies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classifiers.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19490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73592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5" dirty="0"/>
              <a:t> </a:t>
            </a:r>
            <a:r>
              <a:rPr spc="-20" dirty="0"/>
              <a:t>OVA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B3CD250-7AA2-451B-8C9C-B7F21B24EF6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8206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910157"/>
            <a:ext cx="4168140" cy="15982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unseen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obtained.</a:t>
            </a:r>
            <a:endParaRPr sz="1100">
              <a:latin typeface="Arial"/>
              <a:cs typeface="Arial"/>
            </a:endParaRPr>
          </a:p>
          <a:p>
            <a:pPr marL="63500" marR="233045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MMH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maximum </a:t>
            </a:r>
            <a:r>
              <a:rPr sz="1100" dirty="0">
                <a:latin typeface="Arial"/>
                <a:cs typeface="Arial"/>
              </a:rPr>
              <a:t>magnitude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values.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"/>
              <a:cs typeface="Arial"/>
            </a:endParaRPr>
          </a:p>
          <a:p>
            <a:pPr marL="63500" marR="43180" indent="1369060">
              <a:lnSpc>
                <a:spcPct val="151700"/>
              </a:lnSpc>
              <a:tabLst>
                <a:tab pos="3870325" algn="l"/>
              </a:tabLst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Lucida Sans Unicode"/>
                <a:cs typeface="Lucida Sans Unicode"/>
              </a:rPr>
              <a:t> 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spc="-80" dirty="0">
                <a:latin typeface="Arial"/>
                <a:cs typeface="Arial"/>
              </a:rPr>
              <a:t>max</a:t>
            </a:r>
            <a:r>
              <a:rPr sz="1200" i="1" spc="-120" baseline="-13888" dirty="0">
                <a:latin typeface="Meiryo"/>
                <a:cs typeface="Meiryo"/>
              </a:rPr>
              <a:t>∀</a:t>
            </a:r>
            <a:r>
              <a:rPr sz="1200" i="1" spc="-120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spc="-60" dirty="0">
                <a:latin typeface="Meiryo"/>
                <a:cs typeface="Meiryo"/>
              </a:rPr>
              <a:t>{</a:t>
            </a:r>
            <a:r>
              <a:rPr sz="1100" i="1" spc="-60" dirty="0">
                <a:latin typeface="Times New Roman"/>
                <a:cs typeface="Times New Roman"/>
              </a:rPr>
              <a:t>δ</a:t>
            </a:r>
            <a:r>
              <a:rPr sz="1200" i="1" spc="-89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i="1" spc="-25" dirty="0">
                <a:latin typeface="Meiryo"/>
                <a:cs typeface="Meiryo"/>
              </a:rPr>
              <a:t>}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spc="-20" dirty="0">
                <a:latin typeface="Arial"/>
                <a:cs typeface="Arial"/>
              </a:rPr>
              <a:t>(24) </a:t>
            </a:r>
            <a:r>
              <a:rPr sz="1100" dirty="0">
                <a:latin typeface="Arial"/>
                <a:cs typeface="Arial"/>
              </a:rPr>
              <a:t>Thus,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64094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18195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88666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5" dirty="0"/>
              <a:t> </a:t>
            </a:r>
            <a:r>
              <a:rPr spc="-20" dirty="0"/>
              <a:t>OVA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20712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Note:</a:t>
            </a:r>
          </a:p>
          <a:p>
            <a:pPr marL="378460" marR="5080">
              <a:lnSpc>
                <a:spcPct val="102600"/>
              </a:lnSpc>
              <a:spcBef>
                <a:spcPts val="30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SVM</a:t>
            </a:r>
            <a:r>
              <a:rPr spc="-2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classify</a:t>
            </a:r>
            <a:r>
              <a:rPr spc="-20" dirty="0"/>
              <a:t> </a:t>
            </a:r>
            <a:r>
              <a:rPr spc="-10" dirty="0"/>
              <a:t>multi-</a:t>
            </a: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10" dirty="0"/>
              <a:t>fails,</a:t>
            </a:r>
            <a:r>
              <a:rPr spc="-20" dirty="0"/>
              <a:t> </a:t>
            </a:r>
            <a:r>
              <a:rPr dirty="0"/>
              <a:t>if</a:t>
            </a:r>
            <a:r>
              <a:rPr spc="-25" dirty="0"/>
              <a:t> all </a:t>
            </a:r>
            <a:r>
              <a:rPr dirty="0"/>
              <a:t>classes</a:t>
            </a:r>
            <a:r>
              <a:rPr spc="-3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linearly</a:t>
            </a:r>
            <a:r>
              <a:rPr spc="-25" dirty="0"/>
              <a:t> </a:t>
            </a:r>
            <a:r>
              <a:rPr spc="-10" dirty="0"/>
              <a:t>separable.</a:t>
            </a:r>
          </a:p>
          <a:p>
            <a:pPr marL="378460" marR="67945">
              <a:lnSpc>
                <a:spcPct val="102600"/>
              </a:lnSpc>
              <a:spcBef>
                <a:spcPts val="1150"/>
              </a:spcBef>
            </a:pPr>
            <a:r>
              <a:rPr dirty="0"/>
              <a:t>If</a:t>
            </a:r>
            <a:r>
              <a:rPr spc="-25" dirty="0"/>
              <a:t> </a:t>
            </a:r>
            <a:r>
              <a:rPr dirty="0"/>
              <a:t>one</a:t>
            </a:r>
            <a:r>
              <a:rPr spc="-25" dirty="0"/>
              <a:t> </a:t>
            </a: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linearly</a:t>
            </a:r>
            <a:r>
              <a:rPr spc="-25" dirty="0"/>
              <a:t> </a:t>
            </a:r>
            <a:r>
              <a:rPr spc="-10" dirty="0"/>
              <a:t>separable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remaining</a:t>
            </a:r>
            <a:r>
              <a:rPr spc="-25" dirty="0"/>
              <a:t> </a:t>
            </a:r>
            <a:r>
              <a:rPr dirty="0"/>
              <a:t>other</a:t>
            </a:r>
            <a:r>
              <a:rPr spc="-25" dirty="0"/>
              <a:t> </a:t>
            </a:r>
            <a:r>
              <a:rPr dirty="0"/>
              <a:t>classes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test</a:t>
            </a:r>
            <a:r>
              <a:rPr spc="-3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dirty="0"/>
              <a:t>belongs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particular</a:t>
            </a:r>
            <a:r>
              <a:rPr spc="-25" dirty="0"/>
              <a:t> </a:t>
            </a:r>
            <a:r>
              <a:rPr dirty="0"/>
              <a:t>class,</a:t>
            </a:r>
            <a:r>
              <a:rPr spc="-25" dirty="0"/>
              <a:t> </a:t>
            </a:r>
            <a:r>
              <a:rPr dirty="0"/>
              <a:t>then</a:t>
            </a:r>
            <a:r>
              <a:rPr spc="-25" dirty="0"/>
              <a:t> </a:t>
            </a:r>
            <a:r>
              <a:rPr dirty="0"/>
              <a:t>only</a:t>
            </a:r>
            <a:r>
              <a:rPr spc="-30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-10" dirty="0"/>
              <a:t>classifies accurately.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327C251A-90F2-4589-A8F7-A9445ACF04C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69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13395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803501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Multi-Class</a:t>
            </a:r>
            <a:r>
              <a:rPr spc="75" dirty="0"/>
              <a:t> </a:t>
            </a:r>
            <a:r>
              <a:rPr dirty="0"/>
              <a:t>Classification:</a:t>
            </a:r>
            <a:r>
              <a:rPr spc="195" dirty="0"/>
              <a:t> </a:t>
            </a:r>
            <a:r>
              <a:rPr spc="-20" dirty="0"/>
              <a:t>OVA</a:t>
            </a:r>
            <a:r>
              <a:rPr spc="8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32194" rIns="0" bIns="0" rtlCol="0">
            <a:spAutoFit/>
          </a:bodyPr>
          <a:lstStyle/>
          <a:p>
            <a:pPr marL="378460" marR="422909">
              <a:lnSpc>
                <a:spcPct val="102600"/>
              </a:lnSpc>
              <a:spcBef>
                <a:spcPts val="55"/>
              </a:spcBef>
            </a:pPr>
            <a:r>
              <a:rPr dirty="0"/>
              <a:t>Further,</a:t>
            </a:r>
            <a:r>
              <a:rPr spc="-35" dirty="0"/>
              <a:t> </a:t>
            </a:r>
            <a:r>
              <a:rPr dirty="0"/>
              <a:t>it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possible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have</a:t>
            </a:r>
            <a:r>
              <a:rPr spc="-35" dirty="0"/>
              <a:t> </a:t>
            </a:r>
            <a:r>
              <a:rPr dirty="0"/>
              <a:t>some</a:t>
            </a:r>
            <a:r>
              <a:rPr spc="-35" dirty="0"/>
              <a:t> </a:t>
            </a:r>
            <a:r>
              <a:rPr dirty="0"/>
              <a:t>tuples</a:t>
            </a:r>
            <a:r>
              <a:rPr spc="-35" dirty="0"/>
              <a:t> </a:t>
            </a:r>
            <a:r>
              <a:rPr dirty="0"/>
              <a:t>which</a:t>
            </a:r>
            <a:r>
              <a:rPr spc="-35" dirty="0"/>
              <a:t> </a:t>
            </a:r>
            <a:r>
              <a:rPr dirty="0"/>
              <a:t>cannot</a:t>
            </a:r>
            <a:r>
              <a:rPr spc="-35" dirty="0"/>
              <a:t> </a:t>
            </a:r>
            <a:r>
              <a:rPr spc="-25" dirty="0"/>
              <a:t>be </a:t>
            </a:r>
            <a:r>
              <a:rPr dirty="0"/>
              <a:t>classified</a:t>
            </a:r>
            <a:r>
              <a:rPr spc="-30" dirty="0"/>
              <a:t> </a:t>
            </a:r>
            <a:r>
              <a:rPr dirty="0"/>
              <a:t>none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SVMs</a:t>
            </a:r>
            <a:r>
              <a:rPr spc="-30" dirty="0"/>
              <a:t> </a:t>
            </a:r>
            <a:r>
              <a:rPr dirty="0"/>
              <a:t>(also</a:t>
            </a:r>
            <a:r>
              <a:rPr spc="-30" dirty="0"/>
              <a:t> </a:t>
            </a:r>
            <a:r>
              <a:rPr dirty="0"/>
              <a:t>see</a:t>
            </a:r>
            <a:r>
              <a:rPr spc="-30" dirty="0"/>
              <a:t> </a:t>
            </a:r>
            <a:r>
              <a:rPr spc="-10" dirty="0"/>
              <a:t>Fig.8).</a:t>
            </a:r>
          </a:p>
          <a:p>
            <a:pPr marL="378460" marR="5080">
              <a:lnSpc>
                <a:spcPct val="102600"/>
              </a:lnSpc>
              <a:spcBef>
                <a:spcPts val="865"/>
              </a:spcBef>
            </a:pPr>
            <a:r>
              <a:rPr dirty="0"/>
              <a:t>There</a:t>
            </a:r>
            <a:r>
              <a:rPr spc="-3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some</a:t>
            </a:r>
            <a:r>
              <a:rPr spc="-35" dirty="0"/>
              <a:t> </a:t>
            </a:r>
            <a:r>
              <a:rPr dirty="0"/>
              <a:t>tuples</a:t>
            </a:r>
            <a:r>
              <a:rPr spc="-30" dirty="0"/>
              <a:t> </a:t>
            </a:r>
            <a:r>
              <a:rPr dirty="0"/>
              <a:t>which</a:t>
            </a:r>
            <a:r>
              <a:rPr spc="-35" dirty="0"/>
              <a:t> </a:t>
            </a:r>
            <a:r>
              <a:rPr dirty="0"/>
              <a:t>cannot</a:t>
            </a:r>
            <a:r>
              <a:rPr spc="-3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classified</a:t>
            </a:r>
            <a:r>
              <a:rPr spc="-30" dirty="0"/>
              <a:t> </a:t>
            </a:r>
            <a:r>
              <a:rPr spc="-10" dirty="0"/>
              <a:t>unambiguously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neither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hyperplanes.</a:t>
            </a:r>
          </a:p>
          <a:p>
            <a:pPr marL="378460" marR="410845">
              <a:lnSpc>
                <a:spcPct val="102600"/>
              </a:lnSpc>
              <a:spcBef>
                <a:spcPts val="870"/>
              </a:spcBef>
            </a:pPr>
            <a:r>
              <a:rPr dirty="0"/>
              <a:t>All</a:t>
            </a:r>
            <a:r>
              <a:rPr spc="-30" dirty="0"/>
              <a:t> </a:t>
            </a:r>
            <a:r>
              <a:rPr dirty="0"/>
              <a:t>these</a:t>
            </a:r>
            <a:r>
              <a:rPr spc="-30" dirty="0"/>
              <a:t> </a:t>
            </a:r>
            <a:r>
              <a:rPr dirty="0"/>
              <a:t>tuples</a:t>
            </a:r>
            <a:r>
              <a:rPr spc="-30" dirty="0"/>
              <a:t> </a:t>
            </a:r>
            <a:r>
              <a:rPr dirty="0"/>
              <a:t>may</a:t>
            </a:r>
            <a:r>
              <a:rPr spc="-3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due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noise,</a:t>
            </a:r>
            <a:r>
              <a:rPr spc="-30" dirty="0"/>
              <a:t> </a:t>
            </a:r>
            <a:r>
              <a:rPr dirty="0"/>
              <a:t>errors</a:t>
            </a:r>
            <a:r>
              <a:rPr spc="-30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are</a:t>
            </a:r>
            <a:r>
              <a:rPr spc="-25" dirty="0"/>
              <a:t> not </a:t>
            </a:r>
            <a:r>
              <a:rPr dirty="0"/>
              <a:t>linearly</a:t>
            </a:r>
            <a:r>
              <a:rPr spc="-25" dirty="0"/>
              <a:t> </a:t>
            </a:r>
            <a:r>
              <a:rPr spc="-10" dirty="0"/>
              <a:t>separable.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0FF0E95-F73D-4172-9356-416639E55625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19327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73441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027542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32518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Multi-Class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Classification:</a:t>
            </a:r>
            <a:r>
              <a:rPr sz="140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OVA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572" y="726026"/>
            <a:ext cx="26593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8: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Unclassifiable </a:t>
            </a:r>
            <a:r>
              <a:rPr sz="1000" dirty="0">
                <a:latin typeface="Arial"/>
                <a:cs typeface="Arial"/>
              </a:rPr>
              <a:t>region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OVA</a:t>
            </a:r>
            <a:r>
              <a:rPr sz="1000" spc="-10" dirty="0">
                <a:latin typeface="Arial"/>
                <a:cs typeface="Arial"/>
              </a:rPr>
              <a:t> strategy.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123" y="1073178"/>
            <a:ext cx="2650617" cy="17110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3E76E50-2DBE-4F39-8D7D-82CEAB52412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5728" y="1288235"/>
            <a:ext cx="245681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FF"/>
                </a:solidFill>
                <a:latin typeface="Arial"/>
                <a:cs typeface="Arial"/>
              </a:rPr>
              <a:t>Non-Linear</a:t>
            </a:r>
            <a:r>
              <a:rPr sz="2450" b="1" spc="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6CFFB8A-4E1E-4734-9674-AB63BFA857C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140" dirty="0"/>
              <a:t> </a:t>
            </a:r>
            <a:r>
              <a:rPr spc="-25" dirty="0"/>
              <a:t>SVM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FF7D565-F091-42BD-BF17-B5B6C9BAB02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476222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66328"/>
            <a:ext cx="76809" cy="768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940319"/>
            <a:ext cx="3846829" cy="1318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SVM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classification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for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non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separable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805"/>
              </a:spcBef>
            </a:pPr>
            <a:r>
              <a:rPr sz="1100" dirty="0">
                <a:latin typeface="Arial"/>
                <a:cs typeface="Arial"/>
              </a:rPr>
              <a:t>Figure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9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views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linearly separable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separable.</a:t>
            </a:r>
            <a:endParaRPr sz="1100">
              <a:latin typeface="Arial"/>
              <a:cs typeface="Arial"/>
            </a:endParaRPr>
          </a:p>
          <a:p>
            <a:pPr marL="289560" marR="165735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general,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otherwise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33248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sz="14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4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Non-Linear</a:t>
            </a:r>
            <a:r>
              <a:rPr sz="14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Separable</a:t>
            </a:r>
            <a:r>
              <a:rPr sz="1400" b="1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6827" y="780140"/>
            <a:ext cx="20345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9: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Two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types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803" y="1244549"/>
            <a:ext cx="3604259" cy="148208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30EA804-C7F2-4E32-BDAF-577DEF24572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SVM</a:t>
            </a:r>
            <a:r>
              <a:rPr spc="70" dirty="0"/>
              <a:t> </a:t>
            </a:r>
            <a:r>
              <a:rPr dirty="0"/>
              <a:t>classification</a:t>
            </a:r>
            <a:r>
              <a:rPr spc="70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non</a:t>
            </a:r>
            <a:r>
              <a:rPr spc="75" dirty="0"/>
              <a:t> </a:t>
            </a:r>
            <a:r>
              <a:rPr dirty="0"/>
              <a:t>separable</a:t>
            </a:r>
            <a:r>
              <a:rPr spc="70" dirty="0"/>
              <a:t> </a:t>
            </a:r>
            <a:r>
              <a:rPr spc="-20" dirty="0"/>
              <a:t>data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6D949D6-E79A-46D3-A662-1A0138CC402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8461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12709"/>
            <a:ext cx="380301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Such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25" dirty="0">
                <a:latin typeface="Arial"/>
                <a:cs typeface="Arial"/>
              </a:rPr>
              <a:t> two </a:t>
            </a:r>
            <a:r>
              <a:rPr sz="1100" spc="-10" dirty="0">
                <a:latin typeface="Arial"/>
                <a:cs typeface="Arial"/>
              </a:rPr>
              <a:t>approaches.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412900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1411914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034" y="1311891"/>
            <a:ext cx="160782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Linear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soft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margin Non-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SVM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636737"/>
            <a:ext cx="134416" cy="1344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3481" y="163573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74951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903042"/>
            <a:ext cx="4071620" cy="6457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extension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classify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detail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later.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29065"/>
            <a:ext cx="76809" cy="768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65" dirty="0"/>
              <a:t> </a:t>
            </a:r>
            <a:r>
              <a:rPr dirty="0"/>
              <a:t>SVM</a:t>
            </a:r>
            <a:r>
              <a:rPr spc="65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Linearly</a:t>
            </a:r>
            <a:r>
              <a:rPr spc="65" dirty="0"/>
              <a:t> </a:t>
            </a:r>
            <a:r>
              <a:rPr dirty="0"/>
              <a:t>Not</a:t>
            </a:r>
            <a:r>
              <a:rPr spc="65" dirty="0"/>
              <a:t> </a:t>
            </a:r>
            <a:r>
              <a:rPr dirty="0"/>
              <a:t>Separable</a:t>
            </a:r>
            <a:r>
              <a:rPr spc="7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0050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28596"/>
            <a:ext cx="4079240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violating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separability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less,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them.</a:t>
            </a:r>
            <a:endParaRPr sz="1100">
              <a:latin typeface="Arial"/>
              <a:cs typeface="Arial"/>
            </a:endParaRPr>
          </a:p>
          <a:p>
            <a:pPr marL="12700" marR="10922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rational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behind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approach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understood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from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10.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54606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6670F4-8FF2-9BE6-8B54-D19F034B17D2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9A47EED-C2A7-4312-8857-14CBD6888127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D5C321-ECFB-46C2-8EBD-4ECA5699A2D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2126EE-70F7-5A59-EC48-1EA4CF3BC6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76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28188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65" dirty="0"/>
              <a:t> </a:t>
            </a:r>
            <a:r>
              <a:rPr dirty="0"/>
              <a:t>SVM</a:t>
            </a:r>
            <a:r>
              <a:rPr spc="65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Linearly</a:t>
            </a:r>
            <a:r>
              <a:rPr spc="65" dirty="0"/>
              <a:t> </a:t>
            </a:r>
            <a:r>
              <a:rPr dirty="0"/>
              <a:t>Not</a:t>
            </a:r>
            <a:r>
              <a:rPr spc="65" dirty="0"/>
              <a:t> </a:t>
            </a:r>
            <a:r>
              <a:rPr dirty="0"/>
              <a:t>Separable</a:t>
            </a:r>
            <a:r>
              <a:rPr spc="70" dirty="0"/>
              <a:t> </a:t>
            </a:r>
            <a:r>
              <a:rPr spc="-20" dirty="0"/>
              <a:t>Data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78DFC5A-EBB6-48A3-84BD-5085EB4B022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601" y="2933843"/>
            <a:ext cx="3752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10: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linearly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separable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data.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30" y="881503"/>
            <a:ext cx="4385360" cy="2018054"/>
            <a:chOff x="0" y="776834"/>
            <a:chExt cx="4608195" cy="2679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683" y="776834"/>
              <a:ext cx="3166109" cy="25984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2890" y="3331252"/>
            <a:ext cx="1210310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6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65" dirty="0"/>
              <a:t> </a:t>
            </a:r>
            <a:r>
              <a:rPr dirty="0"/>
              <a:t>SVM</a:t>
            </a:r>
            <a:r>
              <a:rPr spc="65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Linearly</a:t>
            </a:r>
            <a:r>
              <a:rPr spc="65" dirty="0"/>
              <a:t> </a:t>
            </a:r>
            <a:r>
              <a:rPr dirty="0"/>
              <a:t>Not</a:t>
            </a:r>
            <a:r>
              <a:rPr spc="65" dirty="0"/>
              <a:t> </a:t>
            </a:r>
            <a:r>
              <a:rPr dirty="0"/>
              <a:t>Separable</a:t>
            </a:r>
            <a:r>
              <a:rPr spc="70" dirty="0"/>
              <a:t> </a:t>
            </a:r>
            <a:r>
              <a:rPr spc="-20" dirty="0"/>
              <a:t>Data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FA7E675-AC34-4410-B89E-8E401E702F9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9085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132" y="818945"/>
            <a:ext cx="4138295" cy="1697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instances.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wrongly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63500" marR="26924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Also,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draw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another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could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 </a:t>
            </a:r>
            <a:r>
              <a:rPr sz="1100" spc="-10" dirty="0">
                <a:latin typeface="Arial"/>
                <a:cs typeface="Arial"/>
              </a:rPr>
              <a:t>correctly.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63500" marR="109220">
              <a:lnSpc>
                <a:spcPct val="102600"/>
              </a:lnSpc>
            </a:pPr>
            <a:r>
              <a:rPr sz="1100" spc="-25" dirty="0">
                <a:latin typeface="Arial"/>
                <a:cs typeface="Arial"/>
              </a:rPr>
              <a:t>However,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preferable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margin </a:t>
            </a:r>
            <a:r>
              <a:rPr sz="1100" dirty="0">
                <a:latin typeface="Arial"/>
                <a:cs typeface="Arial"/>
              </a:rPr>
              <a:t>compared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susceptible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over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fitting.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172883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1526908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225090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Linear</a:t>
            </a:r>
            <a:r>
              <a:rPr spc="65" dirty="0"/>
              <a:t> </a:t>
            </a:r>
            <a:r>
              <a:rPr dirty="0"/>
              <a:t>SVM</a:t>
            </a:r>
            <a:r>
              <a:rPr spc="65" dirty="0"/>
              <a:t> </a:t>
            </a:r>
            <a:r>
              <a:rPr dirty="0"/>
              <a:t>for</a:t>
            </a:r>
            <a:r>
              <a:rPr spc="70" dirty="0"/>
              <a:t> </a:t>
            </a:r>
            <a:r>
              <a:rPr dirty="0"/>
              <a:t>Linearly</a:t>
            </a:r>
            <a:r>
              <a:rPr spc="65" dirty="0"/>
              <a:t> </a:t>
            </a:r>
            <a:r>
              <a:rPr dirty="0"/>
              <a:t>Not</a:t>
            </a:r>
            <a:r>
              <a:rPr spc="65" dirty="0"/>
              <a:t> </a:t>
            </a:r>
            <a:r>
              <a:rPr dirty="0"/>
              <a:t>Separable</a:t>
            </a:r>
            <a:r>
              <a:rPr spc="70" dirty="0"/>
              <a:t> </a:t>
            </a:r>
            <a:r>
              <a:rPr spc="-20" dirty="0"/>
              <a:t>Data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D03912F-D9C4-40E0-A73C-548E624DE63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79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6777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95869"/>
            <a:ext cx="4030345" cy="2178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words,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refitted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tolerable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small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non-separable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2700" marR="130175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approach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refitting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soft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margin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approach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(hence,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Soft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Margin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1100" dirty="0">
                <a:latin typeface="Arial"/>
                <a:cs typeface="Arial"/>
              </a:rPr>
              <a:t>),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introduces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slack variables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inseparable cases.</a:t>
            </a:r>
            <a:endParaRPr sz="1100">
              <a:latin typeface="Arial"/>
              <a:cs typeface="Arial"/>
            </a:endParaRPr>
          </a:p>
          <a:p>
            <a:pPr marL="12700" marR="203835" algn="just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specifically,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boundaries)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situations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separable.</a:t>
            </a:r>
            <a:endParaRPr sz="1100">
              <a:latin typeface="Arial"/>
              <a:cs typeface="Arial"/>
            </a:endParaRPr>
          </a:p>
          <a:p>
            <a:pPr marL="12700" marR="265430" algn="just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concept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Soft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Margin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presented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 slides.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57884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20062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582240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0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spc="-25" dirty="0"/>
              <a:t>SVM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378537" rIns="0" bIns="0" rtlCol="0">
            <a:spAutoFit/>
          </a:bodyPr>
          <a:lstStyle/>
          <a:p>
            <a:pPr marL="378460" marR="223520">
              <a:lnSpc>
                <a:spcPct val="102600"/>
              </a:lnSpc>
              <a:spcBef>
                <a:spcPts val="55"/>
              </a:spcBef>
            </a:pPr>
            <a:r>
              <a:rPr dirty="0"/>
              <a:t>Recall</a:t>
            </a:r>
            <a:r>
              <a:rPr spc="-3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SVM,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determine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maximum </a:t>
            </a:r>
            <a:r>
              <a:rPr dirty="0"/>
              <a:t>margin</a:t>
            </a:r>
            <a:r>
              <a:rPr spc="-40" dirty="0"/>
              <a:t> </a:t>
            </a:r>
            <a:r>
              <a:rPr dirty="0"/>
              <a:t>hyperplane</a:t>
            </a:r>
            <a:r>
              <a:rPr spc="-20" dirty="0"/>
              <a:t> </a:t>
            </a:r>
            <a:r>
              <a:rPr i="1" spc="50" dirty="0">
                <a:latin typeface="Arial"/>
                <a:cs typeface="Arial"/>
              </a:rPr>
              <a:t>W</a:t>
            </a:r>
            <a:r>
              <a:rPr i="1" spc="50" dirty="0">
                <a:latin typeface="Times New Roman"/>
                <a:cs typeface="Times New Roman"/>
              </a:rPr>
              <a:t>.</a:t>
            </a:r>
            <a:r>
              <a:rPr i="1" spc="50" dirty="0">
                <a:latin typeface="Arial"/>
                <a:cs typeface="Arial"/>
              </a:rPr>
              <a:t>X</a:t>
            </a:r>
            <a:r>
              <a:rPr i="1" spc="45" dirty="0">
                <a:latin typeface="Arial"/>
                <a:cs typeface="Arial"/>
              </a:rPr>
              <a:t> </a:t>
            </a:r>
            <a:r>
              <a:rPr spc="-35" dirty="0">
                <a:latin typeface="Lucida Sans Unicode"/>
                <a:cs typeface="Lucida Sans Unicode"/>
              </a:rPr>
              <a:t>+</a:t>
            </a:r>
            <a:r>
              <a:rPr spc="-105" dirty="0">
                <a:latin typeface="Lucida Sans Unicode"/>
                <a:cs typeface="Lucida Sans Unicode"/>
              </a:rPr>
              <a:t> </a:t>
            </a:r>
            <a:r>
              <a:rPr i="1" dirty="0">
                <a:latin typeface="Arial"/>
                <a:cs typeface="Arial"/>
              </a:rPr>
              <a:t>b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dirty="0">
                <a:latin typeface="Lucida Sans Unicode"/>
                <a:cs typeface="Lucida Sans Unicode"/>
              </a:rPr>
              <a:t>=</a:t>
            </a:r>
            <a:r>
              <a:rPr spc="-60" dirty="0">
                <a:latin typeface="Lucida Sans Unicode"/>
                <a:cs typeface="Lucida Sans Unicode"/>
              </a:rPr>
              <a:t> </a:t>
            </a:r>
            <a:r>
              <a:rPr dirty="0"/>
              <a:t>0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following</a:t>
            </a:r>
            <a:r>
              <a:rPr spc="-25" dirty="0"/>
              <a:t> </a:t>
            </a:r>
            <a:r>
              <a:rPr spc="-10" dirty="0"/>
              <a:t>optimization:</a:t>
            </a:r>
          </a:p>
          <a:p>
            <a:pPr marL="340360">
              <a:lnSpc>
                <a:spcPct val="100000"/>
              </a:lnSpc>
              <a:spcBef>
                <a:spcPts val="45"/>
              </a:spcBef>
            </a:pPr>
            <a:endParaRPr sz="1550"/>
          </a:p>
          <a:p>
            <a:pPr marL="1915160">
              <a:lnSpc>
                <a:spcPts val="1035"/>
              </a:lnSpc>
              <a:spcBef>
                <a:spcPts val="5"/>
              </a:spcBef>
              <a:tabLst>
                <a:tab pos="4185285" algn="l"/>
              </a:tabLst>
            </a:pPr>
            <a:r>
              <a:rPr i="1" dirty="0">
                <a:latin typeface="Arial"/>
                <a:cs typeface="Arial"/>
              </a:rPr>
              <a:t>minimize</a:t>
            </a:r>
            <a:r>
              <a:rPr i="1" spc="80" dirty="0">
                <a:latin typeface="Arial"/>
                <a:cs typeface="Arial"/>
              </a:rPr>
              <a:t> </a:t>
            </a:r>
            <a:r>
              <a:rPr sz="1650" i="1" spc="-202" baseline="37878" dirty="0">
                <a:latin typeface="Meiryo"/>
                <a:cs typeface="Meiryo"/>
              </a:rPr>
              <a:t>||</a:t>
            </a:r>
            <a:r>
              <a:rPr sz="1650" i="1" spc="-202" baseline="37878" dirty="0">
                <a:latin typeface="Arial"/>
                <a:cs typeface="Arial"/>
              </a:rPr>
              <a:t>W</a:t>
            </a:r>
            <a:r>
              <a:rPr sz="1650" i="1" spc="-240" baseline="37878" dirty="0">
                <a:latin typeface="Arial"/>
                <a:cs typeface="Arial"/>
              </a:rPr>
              <a:t> </a:t>
            </a:r>
            <a:r>
              <a:rPr sz="1650" i="1" spc="-37" baseline="37878" dirty="0">
                <a:latin typeface="Meiryo"/>
                <a:cs typeface="Meiryo"/>
              </a:rPr>
              <a:t>||</a:t>
            </a:r>
            <a:r>
              <a:rPr sz="1200" spc="-37" baseline="79861" dirty="0"/>
              <a:t>2</a:t>
            </a:r>
            <a:r>
              <a:rPr sz="1200" baseline="79861" dirty="0"/>
              <a:t>	</a:t>
            </a:r>
            <a:r>
              <a:rPr sz="1100" spc="-20" dirty="0"/>
              <a:t>(25)</a:t>
            </a:r>
            <a:endParaRPr sz="1100">
              <a:latin typeface="Meiryo"/>
              <a:cs typeface="Meiryo"/>
            </a:endParaRPr>
          </a:p>
          <a:p>
            <a:pPr marL="885190" algn="ctr">
              <a:lnSpc>
                <a:spcPts val="1035"/>
              </a:lnSpc>
            </a:pPr>
            <a:r>
              <a:rPr spc="-10" dirty="0"/>
              <a:t>2</a:t>
            </a:r>
          </a:p>
          <a:p>
            <a:pPr marL="1142365">
              <a:lnSpc>
                <a:spcPct val="100000"/>
              </a:lnSpc>
              <a:spcBef>
                <a:spcPts val="244"/>
              </a:spcBef>
            </a:pPr>
            <a:r>
              <a:rPr i="1" dirty="0">
                <a:latin typeface="Arial"/>
                <a:cs typeface="Arial"/>
              </a:rPr>
              <a:t>subject</a:t>
            </a:r>
            <a:r>
              <a:rPr i="1" spc="1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to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35" dirty="0">
                <a:latin typeface="Meiryo"/>
                <a:cs typeface="Meiryo"/>
              </a:rPr>
              <a:t> </a:t>
            </a:r>
            <a:r>
              <a:rPr sz="1100" dirty="0"/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/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dirty="0"/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...,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378460" marR="277495">
              <a:lnSpc>
                <a:spcPct val="102600"/>
              </a:lnSpc>
              <a:spcBef>
                <a:spcPts val="645"/>
              </a:spcBef>
            </a:pPr>
            <a:r>
              <a:rPr dirty="0"/>
              <a:t>In</a:t>
            </a:r>
            <a:r>
              <a:rPr spc="-35" dirty="0"/>
              <a:t> </a:t>
            </a:r>
            <a:r>
              <a:rPr dirty="0"/>
              <a:t>soft</a:t>
            </a:r>
            <a:r>
              <a:rPr spc="-30" dirty="0"/>
              <a:t> </a:t>
            </a:r>
            <a:r>
              <a:rPr dirty="0"/>
              <a:t>margin</a:t>
            </a:r>
            <a:r>
              <a:rPr spc="-30" dirty="0"/>
              <a:t> </a:t>
            </a:r>
            <a:r>
              <a:rPr dirty="0"/>
              <a:t>SVM,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consider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similar</a:t>
            </a:r>
            <a:r>
              <a:rPr spc="-35" dirty="0"/>
              <a:t> </a:t>
            </a:r>
            <a:r>
              <a:rPr spc="-10" dirty="0"/>
              <a:t>optimization </a:t>
            </a:r>
            <a:r>
              <a:rPr dirty="0"/>
              <a:t>technique</a:t>
            </a:r>
            <a:r>
              <a:rPr spc="-35" dirty="0"/>
              <a:t> </a:t>
            </a:r>
            <a:r>
              <a:rPr dirty="0"/>
              <a:t>except</a:t>
            </a:r>
            <a:r>
              <a:rPr spc="-2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relaxation</a:t>
            </a:r>
            <a:r>
              <a:rPr spc="-2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inequalities,</a:t>
            </a:r>
            <a:r>
              <a:rPr spc="-25" dirty="0"/>
              <a:t> </a:t>
            </a:r>
            <a:r>
              <a:rPr dirty="0"/>
              <a:t>so</a:t>
            </a:r>
            <a:r>
              <a:rPr spc="-2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it</a:t>
            </a:r>
            <a:r>
              <a:rPr spc="-20" dirty="0"/>
              <a:t> also </a:t>
            </a:r>
            <a:r>
              <a:rPr dirty="0"/>
              <a:t>satisfies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case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linearly</a:t>
            </a:r>
            <a:r>
              <a:rPr spc="-25" dirty="0"/>
              <a:t> </a:t>
            </a:r>
            <a:r>
              <a:rPr dirty="0"/>
              <a:t>not</a:t>
            </a:r>
            <a:r>
              <a:rPr spc="-20" dirty="0"/>
              <a:t> </a:t>
            </a:r>
            <a:r>
              <a:rPr spc="-10" dirty="0"/>
              <a:t>separable</a:t>
            </a:r>
            <a:r>
              <a:rPr spc="-25" dirty="0"/>
              <a:t> </a:t>
            </a:r>
            <a:r>
              <a:rPr spc="-10" dirty="0"/>
              <a:t>data.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100FD14-200A-411A-A249-286761F279E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65682"/>
            <a:ext cx="76809" cy="768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51048" y="1582496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0" y="0"/>
                </a:moveTo>
                <a:lnTo>
                  <a:pt x="3663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085949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1057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0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spc="-25" dirty="0"/>
              <a:t>SVM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0DC5D74-E205-473C-8F87-66D40B9160C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6418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9557" y="550950"/>
            <a:ext cx="3687445" cy="8178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0325">
              <a:lnSpc>
                <a:spcPct val="102600"/>
              </a:lnSpc>
              <a:spcBef>
                <a:spcPts val="55"/>
              </a:spcBef>
            </a:pPr>
            <a:r>
              <a:rPr sz="1100" spc="-75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introduces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slack</a:t>
            </a:r>
            <a:r>
              <a:rPr sz="1100" spc="-10" dirty="0">
                <a:latin typeface="Arial"/>
                <a:cs typeface="Arial"/>
              </a:rPr>
              <a:t> variable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positive-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rewrite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 </a:t>
            </a:r>
            <a:r>
              <a:rPr sz="1100" spc="-10" dirty="0">
                <a:latin typeface="Arial"/>
                <a:cs typeface="Arial"/>
              </a:rPr>
              <a:t>follows.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18298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75904" y="1460625"/>
            <a:ext cx="1035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minimize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650" i="1" spc="-202" baseline="37878" dirty="0">
                <a:latin typeface="Meiryo"/>
                <a:cs typeface="Meiryo"/>
              </a:rPr>
              <a:t>||</a:t>
            </a:r>
            <a:r>
              <a:rPr sz="1650" i="1" spc="-202" baseline="37878" dirty="0">
                <a:latin typeface="Arial"/>
                <a:cs typeface="Arial"/>
              </a:rPr>
              <a:t>W</a:t>
            </a:r>
            <a:r>
              <a:rPr sz="1650" i="1" spc="-240" baseline="37878" dirty="0">
                <a:latin typeface="Arial"/>
                <a:cs typeface="Arial"/>
              </a:rPr>
              <a:t> </a:t>
            </a:r>
            <a:r>
              <a:rPr sz="1650" i="1" spc="-52" baseline="37878" dirty="0">
                <a:latin typeface="Meiryo"/>
                <a:cs typeface="Meiryo"/>
              </a:rPr>
              <a:t>||</a:t>
            </a:r>
            <a:r>
              <a:rPr sz="1200" spc="-52" baseline="79861" dirty="0">
                <a:latin typeface="Arial"/>
                <a:cs typeface="Arial"/>
              </a:rPr>
              <a:t>2</a:t>
            </a:r>
            <a:endParaRPr sz="1200" baseline="79861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12504" y="1577238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0" y="0"/>
                </a:moveTo>
                <a:lnTo>
                  <a:pt x="3663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44445" y="1555659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4832" y="1887015"/>
            <a:ext cx="4156075" cy="1292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subject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3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if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3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5" dirty="0">
                <a:latin typeface="Lucida Sans Unicode"/>
                <a:cs typeface="Lucida Sans Unicode"/>
              </a:rPr>
              <a:t> +</a:t>
            </a:r>
            <a:r>
              <a:rPr sz="1100" spc="-25" dirty="0">
                <a:latin typeface="Arial"/>
                <a:cs typeface="Arial"/>
              </a:rPr>
              <a:t>1</a:t>
            </a:r>
            <a:endParaRPr sz="1100" dirty="0">
              <a:latin typeface="Arial"/>
              <a:cs typeface="Arial"/>
            </a:endParaRPr>
          </a:p>
          <a:p>
            <a:pPr marL="711835" marR="43180" indent="250825">
              <a:lnSpc>
                <a:spcPct val="151700"/>
              </a:lnSpc>
              <a:spcBef>
                <a:spcPts val="1355"/>
              </a:spcBef>
              <a:tabLst>
                <a:tab pos="3858260" algn="l"/>
              </a:tabLst>
            </a:pP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4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≤</a:t>
            </a:r>
            <a:r>
              <a:rPr sz="1100" i="1" spc="-45" dirty="0">
                <a:latin typeface="Meiryo"/>
                <a:cs typeface="Meiryo"/>
              </a:rPr>
              <a:t> 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229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if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4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Meiryo"/>
                <a:cs typeface="Meiryo"/>
              </a:rPr>
              <a:t>−</a:t>
            </a:r>
            <a:r>
              <a:rPr sz="1100" spc="-25" dirty="0">
                <a:latin typeface="Arial"/>
                <a:cs typeface="Arial"/>
              </a:rPr>
              <a:t>1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(26)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325" dirty="0">
                <a:latin typeface="Meiryo"/>
                <a:cs typeface="Meiryo"/>
              </a:rPr>
              <a:t>∀</a:t>
            </a:r>
            <a:r>
              <a:rPr sz="1200" i="1" spc="-487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 dirty="0">
              <a:latin typeface="Arial"/>
              <a:cs typeface="Arial"/>
            </a:endParaRPr>
          </a:p>
          <a:p>
            <a:pPr marL="50800" marR="190500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calculate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solution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</a:t>
            </a:r>
            <a:r>
              <a:rPr sz="1100" spc="-20" dirty="0">
                <a:latin typeface="Arial"/>
                <a:cs typeface="Arial"/>
              </a:rPr>
              <a:t> SVM.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887624"/>
            <a:ext cx="76809" cy="7680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5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dirty="0"/>
              <a:t>SVM</a:t>
            </a:r>
            <a:r>
              <a:rPr spc="80" dirty="0"/>
              <a:t> </a:t>
            </a:r>
            <a:r>
              <a:rPr dirty="0"/>
              <a:t>:</a:t>
            </a:r>
            <a:r>
              <a:rPr spc="75" dirty="0"/>
              <a:t> </a:t>
            </a:r>
            <a:r>
              <a:rPr dirty="0"/>
              <a:t>Interpretation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i="1" spc="-50" dirty="0">
                <a:latin typeface="Georgia"/>
                <a:cs typeface="Georgia"/>
              </a:rPr>
              <a:t>ξ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0582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3919"/>
            <a:ext cx="3984625" cy="7639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interpretation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slack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margin </a:t>
            </a:r>
            <a:r>
              <a:rPr sz="1100" dirty="0">
                <a:latin typeface="Arial"/>
                <a:cs typeface="Arial"/>
              </a:rPr>
              <a:t>SVM.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distribution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11.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Arial"/>
              <a:cs typeface="Arial"/>
            </a:endParaRPr>
          </a:p>
          <a:p>
            <a:pPr marL="6858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11: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Interpretation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slack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ξ</a:t>
            </a:r>
            <a:r>
              <a:rPr sz="1000" spc="-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544" y="1365794"/>
            <a:ext cx="2489160" cy="171764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63B44F-A690-8BEE-2970-239F3E85B85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43414CF-8D75-44BF-878C-930F71495389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AF6D7D7-368B-9632-B5AA-2225DA5721F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FC7E42-AFDE-2F56-EDF5-CC78632DB5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mtClean="0"/>
              <a:t>82</a:t>
            </a:fld>
            <a:r>
              <a:rPr lang="en-IN" spc="-10"/>
              <a:t> </a:t>
            </a:r>
            <a:r>
              <a:rPr lang="en-IN"/>
              <a:t>/</a:t>
            </a:r>
            <a:r>
              <a:rPr lang="en-IN" spc="-10"/>
              <a:t> </a:t>
            </a:r>
            <a:r>
              <a:rPr lang="en-IN" spc="-25"/>
              <a:t>131</a:t>
            </a:r>
            <a:endParaRPr lang="en-IN" spc="-25" dirty="0"/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5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dirty="0"/>
              <a:t>SVM</a:t>
            </a:r>
            <a:r>
              <a:rPr spc="80" dirty="0"/>
              <a:t> </a:t>
            </a:r>
            <a:r>
              <a:rPr dirty="0"/>
              <a:t>:</a:t>
            </a:r>
            <a:r>
              <a:rPr spc="75" dirty="0"/>
              <a:t> </a:t>
            </a:r>
            <a:r>
              <a:rPr dirty="0"/>
              <a:t>Interpretation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i="1" spc="-50" dirty="0">
                <a:latin typeface="Georgia"/>
                <a:cs typeface="Georgia"/>
              </a:rPr>
              <a:t>ξ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D891743-C80A-4E7E-A8BE-2A8C4AEFC74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3054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58645"/>
            <a:ext cx="4007485" cy="1100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violates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25" dirty="0">
                <a:latin typeface="Arial"/>
                <a:cs typeface="Arial"/>
              </a:rPr>
              <a:t> to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satisfied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>
              <a:latin typeface="Arial"/>
              <a:cs typeface="Arial"/>
            </a:endParaRPr>
          </a:p>
          <a:p>
            <a:pPr marL="12700" marR="2540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35" dirty="0">
                <a:latin typeface="Meiryo"/>
                <a:cs typeface="Meiryo"/>
              </a:rPr>
              <a:t>−</a:t>
            </a:r>
            <a:r>
              <a:rPr sz="1100" spc="-35" dirty="0">
                <a:latin typeface="Arial"/>
                <a:cs typeface="Arial"/>
              </a:rPr>
              <a:t>1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represents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parallel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-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passes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distance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8465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38756"/>
            <a:ext cx="76809" cy="76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7532" y="1938933"/>
            <a:ext cx="6496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75" dirty="0">
                <a:latin typeface="Lucida Sans Unicode"/>
                <a:cs typeface="Lucida Sans Unicode"/>
              </a:rPr>
              <a:t> </a:t>
            </a:r>
            <a:r>
              <a:rPr sz="1200" u="sng" spc="735" baseline="34722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i="1" u="sng" baseline="34722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ξ</a:t>
            </a:r>
            <a:r>
              <a:rPr sz="1200" i="1" u="sng" spc="262" baseline="34722" dirty="0">
                <a:uFill>
                  <a:solidFill>
                    <a:srgbClr val="000000"/>
                  </a:solidFill>
                </a:uFill>
                <a:latin typeface="Source Serif 4"/>
                <a:cs typeface="Source Serif 4"/>
              </a:rPr>
              <a:t>  </a:t>
            </a:r>
            <a:r>
              <a:rPr sz="1200" i="1" spc="-97" baseline="34722" dirty="0">
                <a:latin typeface="Source Serif 4"/>
                <a:cs typeface="Source Serif 4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932" y="1959864"/>
            <a:ext cx="3775710" cy="64198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615"/>
              </a:spcBef>
            </a:pPr>
            <a:r>
              <a:rPr sz="800" i="1" spc="-90" dirty="0">
                <a:latin typeface="Meiryo"/>
                <a:cs typeface="Meiryo"/>
              </a:rPr>
              <a:t>||</a:t>
            </a:r>
            <a:r>
              <a:rPr sz="800" i="1" spc="-90" dirty="0">
                <a:latin typeface="Arial"/>
                <a:cs typeface="Arial"/>
              </a:rPr>
              <a:t>W</a:t>
            </a:r>
            <a:r>
              <a:rPr sz="800" i="1" spc="-95" dirty="0">
                <a:latin typeface="Arial"/>
                <a:cs typeface="Arial"/>
              </a:rPr>
              <a:t> </a:t>
            </a:r>
            <a:r>
              <a:rPr sz="800" i="1" spc="-25" dirty="0">
                <a:latin typeface="Meiryo"/>
                <a:cs typeface="Meiryo"/>
              </a:rPr>
              <a:t>||</a:t>
            </a:r>
            <a:endParaRPr sz="800">
              <a:latin typeface="Meiryo"/>
              <a:cs typeface="Meiryo"/>
            </a:endParaRPr>
          </a:p>
          <a:p>
            <a:pPr marL="12700" marR="5080">
              <a:lnSpc>
                <a:spcPct val="102699"/>
              </a:lnSpc>
              <a:spcBef>
                <a:spcPts val="66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words,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provides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estimate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09545"/>
            <a:ext cx="76809" cy="768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5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dirty="0"/>
              <a:t>SVM</a:t>
            </a:r>
            <a:r>
              <a:rPr spc="80" dirty="0"/>
              <a:t> </a:t>
            </a:r>
            <a:r>
              <a:rPr dirty="0"/>
              <a:t>:</a:t>
            </a:r>
            <a:r>
              <a:rPr spc="75" dirty="0"/>
              <a:t> </a:t>
            </a:r>
            <a:r>
              <a:rPr dirty="0"/>
              <a:t>Interpretation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i="1" spc="-50" dirty="0">
                <a:latin typeface="Georgia"/>
                <a:cs typeface="Georgia"/>
              </a:rPr>
              <a:t>ξ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F627828-D013-42DD-966C-1F38A6C5997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50036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78127"/>
            <a:ext cx="3999229" cy="14446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986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principle,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Eqn.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25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26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chosen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optimization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>
              <a:latin typeface="Arial"/>
              <a:cs typeface="Arial"/>
            </a:endParaRPr>
          </a:p>
          <a:p>
            <a:pPr marL="12700" marR="8890">
              <a:lnSpc>
                <a:spcPct val="102699"/>
              </a:lnSpc>
              <a:spcBef>
                <a:spcPts val="865"/>
              </a:spcBef>
            </a:pPr>
            <a:r>
              <a:rPr sz="1100" spc="-25" dirty="0">
                <a:latin typeface="Arial"/>
                <a:cs typeface="Arial"/>
              </a:rPr>
              <a:t>However,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soft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account.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because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</a:t>
            </a:r>
            <a:r>
              <a:rPr sz="1100" dirty="0">
                <a:latin typeface="Arial"/>
                <a:cs typeface="Arial"/>
              </a:rPr>
              <a:t>boundaries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chances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misclassifying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504137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58251"/>
            <a:ext cx="76809" cy="7680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5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dirty="0"/>
              <a:t>SVM</a:t>
            </a:r>
            <a:r>
              <a:rPr spc="80" dirty="0"/>
              <a:t> </a:t>
            </a:r>
            <a:r>
              <a:rPr dirty="0"/>
              <a:t>:</a:t>
            </a:r>
            <a:r>
              <a:rPr spc="75" dirty="0"/>
              <a:t> </a:t>
            </a:r>
            <a:r>
              <a:rPr dirty="0"/>
              <a:t>Interpretation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i="1" spc="-50" dirty="0">
                <a:latin typeface="Georgia"/>
                <a:cs typeface="Georgia"/>
              </a:rPr>
              <a:t>ξ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FE1610B-48E2-4473-9D28-89E5F8BC7D53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8049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08595"/>
            <a:ext cx="3906520" cy="10388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explained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12.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increase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further,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misclassified.</a:t>
            </a:r>
            <a:endParaRPr sz="1100">
              <a:latin typeface="Arial"/>
              <a:cs typeface="Arial"/>
            </a:endParaRPr>
          </a:p>
          <a:p>
            <a:pPr marL="12700" marR="286385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trade-</a:t>
            </a:r>
            <a:r>
              <a:rPr sz="1100" dirty="0">
                <a:latin typeface="Arial"/>
                <a:cs typeface="Arial"/>
              </a:rPr>
              <a:t>off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length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28321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12: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MMH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wide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margin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large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error.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824649"/>
            <a:ext cx="76809" cy="7680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199611" y="1558619"/>
            <a:ext cx="3408406" cy="1897888"/>
            <a:chOff x="1199611" y="1558619"/>
            <a:chExt cx="3408406" cy="1897888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611" y="1558619"/>
              <a:ext cx="2206742" cy="174040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Soft</a:t>
            </a:r>
            <a:r>
              <a:rPr spc="75" dirty="0"/>
              <a:t> </a:t>
            </a:r>
            <a:r>
              <a:rPr dirty="0"/>
              <a:t>Margin</a:t>
            </a:r>
            <a:r>
              <a:rPr spc="75" dirty="0"/>
              <a:t> </a:t>
            </a:r>
            <a:r>
              <a:rPr dirty="0"/>
              <a:t>SVM</a:t>
            </a:r>
            <a:r>
              <a:rPr spc="80" dirty="0"/>
              <a:t> </a:t>
            </a:r>
            <a:r>
              <a:rPr dirty="0"/>
              <a:t>:</a:t>
            </a:r>
            <a:r>
              <a:rPr spc="75" dirty="0"/>
              <a:t> </a:t>
            </a:r>
            <a:r>
              <a:rPr dirty="0"/>
              <a:t>Interpretation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i="1" spc="-50" dirty="0">
                <a:latin typeface="Georgia"/>
                <a:cs typeface="Georgia"/>
              </a:rPr>
              <a:t>ξ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030DD3C-8BD2-45BC-8925-E48090AD1FE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0967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37780"/>
            <a:ext cx="4025265" cy="7823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75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avoid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therefore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necessary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modify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objective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penalizing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gap,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slack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modified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objective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399857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64309" y="1660803"/>
            <a:ext cx="895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-37878" dirty="0">
                <a:latin typeface="Arial"/>
                <a:cs typeface="Arial"/>
              </a:rPr>
              <a:t>f</a:t>
            </a:r>
            <a:r>
              <a:rPr sz="1650" i="1" spc="-240" baseline="-37878" dirty="0">
                <a:latin typeface="Arial"/>
                <a:cs typeface="Arial"/>
              </a:rPr>
              <a:t> </a:t>
            </a:r>
            <a:r>
              <a:rPr sz="1650" baseline="-37878" dirty="0">
                <a:latin typeface="Lucida Sans Unicode"/>
                <a:cs typeface="Lucida Sans Unicode"/>
              </a:rPr>
              <a:t>(</a:t>
            </a:r>
            <a:r>
              <a:rPr sz="1650" i="1" baseline="-37878" dirty="0">
                <a:latin typeface="Arial"/>
                <a:cs typeface="Arial"/>
              </a:rPr>
              <a:t>W</a:t>
            </a:r>
            <a:r>
              <a:rPr sz="1650" i="1" spc="-232" baseline="-37878" dirty="0">
                <a:latin typeface="Arial"/>
                <a:cs typeface="Arial"/>
              </a:rPr>
              <a:t> </a:t>
            </a:r>
            <a:r>
              <a:rPr sz="1650" spc="89" baseline="-37878" dirty="0">
                <a:latin typeface="Lucida Sans Unicode"/>
                <a:cs typeface="Lucida Sans Unicode"/>
              </a:rPr>
              <a:t>)</a:t>
            </a:r>
            <a:r>
              <a:rPr sz="1650" spc="-52" baseline="-37878" dirty="0">
                <a:latin typeface="Lucida Sans Unicode"/>
                <a:cs typeface="Lucida Sans Unicode"/>
              </a:rPr>
              <a:t> </a:t>
            </a:r>
            <a:r>
              <a:rPr sz="1650" baseline="-37878" dirty="0">
                <a:latin typeface="Lucida Sans Unicode"/>
                <a:cs typeface="Lucida Sans Unicode"/>
              </a:rPr>
              <a:t>=</a:t>
            </a:r>
            <a:r>
              <a:rPr sz="1650" spc="135" baseline="-37878" dirty="0">
                <a:latin typeface="Lucida Sans Unicode"/>
                <a:cs typeface="Lucida Sans Unicode"/>
              </a:rPr>
              <a:t> 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8491" y="164784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9423" y="1849563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4815" y="161867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3720" y="162290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8236" y="1964282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08337" y="1817267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17063" y="1754529"/>
            <a:ext cx="708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8950" algn="l"/>
              </a:tabLst>
            </a:pP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i="1" spc="8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9726" y="1734653"/>
            <a:ext cx="895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30" dirty="0">
                <a:latin typeface="Source Serif 4"/>
                <a:cs typeface="Source Serif 4"/>
              </a:rPr>
              <a:t>φ</a:t>
            </a:r>
            <a:endParaRPr sz="800">
              <a:latin typeface="Source Serif 4"/>
              <a:cs typeface="Source Serif 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30" y="1754529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(27)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2932" y="2136913"/>
            <a:ext cx="3810635" cy="6457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specified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parameters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penalty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misclassifying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spc="-20" dirty="0">
                <a:latin typeface="Arial"/>
                <a:cs typeface="Arial"/>
              </a:rPr>
              <a:t>Usually,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implies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penalty.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662923"/>
            <a:ext cx="76809" cy="7680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Solving</a:t>
            </a:r>
            <a:r>
              <a:rPr spc="55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dirty="0"/>
              <a:t>Soft</a:t>
            </a:r>
            <a:r>
              <a:rPr spc="60" dirty="0"/>
              <a:t> </a:t>
            </a:r>
            <a:r>
              <a:rPr dirty="0"/>
              <a:t>Margin</a:t>
            </a:r>
            <a:r>
              <a:rPr spc="55" dirty="0"/>
              <a:t> </a:t>
            </a:r>
            <a:r>
              <a:rPr spc="-25" dirty="0"/>
              <a:t>SVM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5366DED-F6FD-4261-8BEA-A8CA3E094BC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0406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32154"/>
            <a:ext cx="405130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inequality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problem,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reworked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811" y="1212810"/>
            <a:ext cx="657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37878" dirty="0">
                <a:latin typeface="Arial"/>
                <a:cs typeface="Arial"/>
              </a:rPr>
              <a:t>L</a:t>
            </a:r>
            <a:r>
              <a:rPr sz="1650" i="1" spc="-37" baseline="-37878" dirty="0">
                <a:latin typeface="Arial"/>
                <a:cs typeface="Arial"/>
              </a:rPr>
              <a:t> </a:t>
            </a:r>
            <a:r>
              <a:rPr sz="1650" baseline="-37878" dirty="0">
                <a:latin typeface="Lucida Sans Unicode"/>
                <a:cs typeface="Lucida Sans Unicode"/>
              </a:rPr>
              <a:t>=</a:t>
            </a:r>
            <a:r>
              <a:rPr sz="1650" spc="75" baseline="-37878" dirty="0">
                <a:latin typeface="Lucida Sans Unicode"/>
                <a:cs typeface="Lucida Sans Unicode"/>
              </a:rPr>
              <a:t> 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100" i="1" u="sng" spc="-70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855" y="119985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3787" y="1401570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8041" y="1306536"/>
            <a:ext cx="572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9109" algn="l"/>
              </a:tabLst>
            </a:pP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215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i="1" spc="-50" dirty="0">
                <a:latin typeface="Times New Roman"/>
                <a:cs typeface="Times New Roman"/>
              </a:rPr>
              <a:t>ξ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25828" y="1516289"/>
            <a:ext cx="6604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250" algn="l"/>
              </a:tabLst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5145" y="1369274"/>
            <a:ext cx="10420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6570" algn="l"/>
                <a:tab pos="657225" algn="l"/>
                <a:tab pos="100584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2407" y="1170684"/>
            <a:ext cx="23310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6250" algn="l"/>
                <a:tab pos="2261235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1325" y="1174926"/>
            <a:ext cx="247459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76250" algn="l"/>
                <a:tab pos="2261235" algn="l"/>
              </a:tabLst>
            </a:pPr>
            <a:r>
              <a:rPr sz="1100" dirty="0">
                <a:latin typeface="Trebuchet MS"/>
                <a:cs typeface="Trebuchet MS"/>
              </a:rPr>
              <a:t>		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6421" y="1369274"/>
            <a:ext cx="725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3085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i</a:t>
            </a:r>
            <a:r>
              <a:rPr sz="800" i="1" spc="22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0047" y="1306536"/>
            <a:ext cx="273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0680" algn="l"/>
                <a:tab pos="2145665" algn="l"/>
              </a:tabLst>
            </a:pP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(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1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2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0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229" dirty="0">
                <a:latin typeface="Meiryo"/>
                <a:cs typeface="Meiryo"/>
              </a:rPr>
              <a:t> 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15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204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.ξ</a:t>
            </a:r>
            <a:r>
              <a:rPr sz="1100" i="1" spc="160" dirty="0">
                <a:latin typeface="Times New Roman"/>
                <a:cs typeface="Times New Roman"/>
              </a:rPr>
              <a:t>  </a:t>
            </a:r>
            <a:r>
              <a:rPr sz="1100" spc="-20" dirty="0">
                <a:latin typeface="Arial"/>
                <a:cs typeface="Arial"/>
              </a:rPr>
              <a:t>(28)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74871" y="1516289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81137"/>
            <a:ext cx="76809" cy="768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77532" y="1683204"/>
            <a:ext cx="2999740" cy="1542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87655">
              <a:lnSpc>
                <a:spcPct val="114700"/>
              </a:lnSpc>
              <a:spcBef>
                <a:spcPts val="100"/>
              </a:spcBef>
            </a:pPr>
            <a:r>
              <a:rPr sz="1100" dirty="0">
                <a:latin typeface="Arial"/>
                <a:cs typeface="Arial"/>
              </a:rPr>
              <a:t>Here,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multipliers.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inequality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are:</a:t>
            </a:r>
            <a:endParaRPr sz="1100">
              <a:latin typeface="Arial"/>
              <a:cs typeface="Arial"/>
            </a:endParaRPr>
          </a:p>
          <a:p>
            <a:pPr marL="1130300" algn="ctr">
              <a:lnSpc>
                <a:spcPct val="100000"/>
              </a:lnSpc>
              <a:spcBef>
                <a:spcPts val="850"/>
              </a:spcBef>
            </a:pP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0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315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15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60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1130300" algn="ctr">
              <a:lnSpc>
                <a:spcPct val="100000"/>
              </a:lnSpc>
              <a:spcBef>
                <a:spcPts val="5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{</a:t>
            </a:r>
            <a:r>
              <a:rPr sz="1100" i="1" spc="-50" dirty="0">
                <a:latin typeface="Arial"/>
                <a:cs typeface="Arial"/>
              </a:rPr>
              <a:t>y</a:t>
            </a:r>
            <a:r>
              <a:rPr sz="1200" i="1" spc="-7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0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spc="-125" dirty="0">
                <a:latin typeface="Meiryo"/>
                <a:cs typeface="Meiryo"/>
              </a:rPr>
              <a:t>}</a:t>
            </a:r>
            <a:r>
              <a:rPr sz="1100" i="1" spc="-40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Arial"/>
              <a:cs typeface="Arial"/>
            </a:endParaRPr>
          </a:p>
          <a:p>
            <a:pPr marL="1130300" algn="ctr">
              <a:lnSpc>
                <a:spcPct val="100000"/>
              </a:lnSpc>
            </a:pP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73415"/>
            <a:ext cx="76809" cy="7680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271" y="-59262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Solving</a:t>
            </a:r>
            <a:r>
              <a:rPr spc="55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dirty="0"/>
              <a:t>Soft</a:t>
            </a:r>
            <a:r>
              <a:rPr spc="60" dirty="0"/>
              <a:t> </a:t>
            </a:r>
            <a:r>
              <a:rPr dirty="0"/>
              <a:t>Margin</a:t>
            </a:r>
            <a:r>
              <a:rPr spc="55" dirty="0"/>
              <a:t> </a:t>
            </a:r>
            <a:r>
              <a:rPr spc="-25" dirty="0"/>
              <a:t>SVM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42F14263-65AB-4176-B90F-5FFE22B0B4F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03999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32090"/>
            <a:ext cx="381889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KKT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constraints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first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order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derivative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dirty="0">
                <a:latin typeface="Arial"/>
                <a:cs typeface="Arial"/>
              </a:rPr>
              <a:t>respect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parameters)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are: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8333" y="1014512"/>
            <a:ext cx="266065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29845">
              <a:lnSpc>
                <a:spcPct val="112599"/>
              </a:lnSpc>
              <a:spcBef>
                <a:spcPts val="100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w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5951" y="99489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4856" y="999120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8024" y="1193481"/>
            <a:ext cx="8718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324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25" dirty="0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1758" y="1130743"/>
            <a:ext cx="1395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8340" algn="l"/>
              </a:tabLst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204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49373" y="1340496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883" y="153056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0789" y="153479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18564" y="1729154"/>
            <a:ext cx="8877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8480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25" dirty="0">
                <a:latin typeface="Arial"/>
                <a:cs typeface="Arial"/>
              </a:rPr>
              <a:t>ij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8539" y="1666416"/>
            <a:ext cx="13773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57530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545" dirty="0">
                <a:latin typeface="Meiryo"/>
                <a:cs typeface="Meiryo"/>
              </a:rPr>
              <a:t>∀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55305" y="1876169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70035" y="1729154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46031" y="1666416"/>
            <a:ext cx="618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Times New Roman"/>
                <a:cs typeface="Times New Roman"/>
              </a:rPr>
              <a:t>....</a:t>
            </a:r>
            <a:r>
              <a:rPr sz="1100" i="1" spc="-1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3923" y="2085858"/>
            <a:ext cx="171450" cy="40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>
              <a:lnSpc>
                <a:spcPct val="112599"/>
              </a:lnSpc>
              <a:spcBef>
                <a:spcPts val="100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3490" y="206622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2408" y="2070467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16911" y="2411830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06433" y="2264815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25319" y="2202090"/>
            <a:ext cx="1051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2445" algn="l"/>
              </a:tabLst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6665" y="260189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55571" y="2606140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70087" y="2947503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9609" y="2800488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78786" y="2737763"/>
            <a:ext cx="551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Solving</a:t>
            </a:r>
            <a:r>
              <a:rPr spc="55" dirty="0"/>
              <a:t> </a:t>
            </a:r>
            <a:r>
              <a:rPr dirty="0"/>
              <a:t>for</a:t>
            </a:r>
            <a:r>
              <a:rPr spc="60" dirty="0"/>
              <a:t> </a:t>
            </a:r>
            <a:r>
              <a:rPr dirty="0"/>
              <a:t>Soft</a:t>
            </a:r>
            <a:r>
              <a:rPr spc="60" dirty="0"/>
              <a:t> </a:t>
            </a:r>
            <a:r>
              <a:rPr dirty="0"/>
              <a:t>Margin</a:t>
            </a:r>
            <a:r>
              <a:rPr spc="55" dirty="0"/>
              <a:t> </a:t>
            </a:r>
            <a:r>
              <a:rPr spc="-25" dirty="0"/>
              <a:t>SVM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E4937CF-4414-49A7-B351-BCAF4E9E939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89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8881" y="799374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1040" y="1009700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>
                <a:moveTo>
                  <a:pt x="0" y="0"/>
                </a:moveTo>
                <a:lnTo>
                  <a:pt x="1649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32940" y="893100"/>
            <a:ext cx="1357630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6540">
              <a:lnSpc>
                <a:spcPts val="1035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195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ts val="1035"/>
              </a:lnSpc>
            </a:pPr>
            <a:r>
              <a:rPr sz="1100" i="1" spc="-25" dirty="0">
                <a:latin typeface="Times New Roman"/>
                <a:cs typeface="Times New Roman"/>
              </a:rPr>
              <a:t>δξ</a:t>
            </a:r>
            <a:r>
              <a:rPr sz="1200" i="1" spc="-37" baseline="-13888" dirty="0">
                <a:latin typeface="Arial"/>
                <a:cs typeface="Arial"/>
              </a:rPr>
              <a:t>i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7532" y="1319490"/>
            <a:ext cx="3417570" cy="1028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9300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15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and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.ξ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135" dirty="0">
                <a:latin typeface="Arial"/>
                <a:cs typeface="Arial"/>
              </a:rPr>
              <a:t>0</a:t>
            </a:r>
            <a:r>
              <a:rPr sz="1100" i="1" spc="-135" dirty="0">
                <a:latin typeface="Meiryo"/>
                <a:cs typeface="Meiryo"/>
              </a:rPr>
              <a:t>∀</a:t>
            </a:r>
            <a:r>
              <a:rPr sz="1200" i="1" spc="-202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....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solved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.......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Lucida Sans Unicode"/>
                <a:cs typeface="Lucida Sans Unicode"/>
              </a:rPr>
              <a:t>]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λ</a:t>
            </a:r>
            <a:r>
              <a:rPr sz="1200" i="1" baseline="-24305" dirty="0">
                <a:latin typeface="Arial"/>
                <a:cs typeface="Arial"/>
              </a:rPr>
              <a:t>i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120" dirty="0">
                <a:latin typeface="Times New Roman"/>
                <a:cs typeface="Times New Roman"/>
              </a:rPr>
              <a:t>  </a:t>
            </a:r>
            <a:r>
              <a:rPr sz="1100" i="1" spc="-25" dirty="0">
                <a:latin typeface="Times New Roman"/>
                <a:cs typeface="Times New Roman"/>
              </a:rPr>
              <a:t>µ</a:t>
            </a:r>
            <a:r>
              <a:rPr sz="1200" i="1" spc="-37" baseline="-24305" dirty="0">
                <a:latin typeface="Arial"/>
                <a:cs typeface="Arial"/>
              </a:rPr>
              <a:t>i</a:t>
            </a:r>
            <a:r>
              <a:rPr sz="1200" i="1" spc="-37" baseline="27777" dirty="0">
                <a:latin typeface="Meiryo"/>
                <a:cs typeface="Meiryo"/>
              </a:rPr>
              <a:t>t</a:t>
            </a:r>
            <a:r>
              <a:rPr sz="1100" i="1" spc="-25" dirty="0">
                <a:latin typeface="Arial"/>
                <a:cs typeface="Arial"/>
              </a:rPr>
              <a:t>s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ξ</a:t>
            </a:r>
            <a:r>
              <a:rPr sz="1200" i="1" spc="-30" baseline="-24305" dirty="0">
                <a:latin typeface="Arial"/>
                <a:cs typeface="Arial"/>
              </a:rPr>
              <a:t>i</a:t>
            </a:r>
            <a:r>
              <a:rPr sz="1200" i="1" spc="-30" baseline="27777" dirty="0">
                <a:latin typeface="Meiryo"/>
                <a:cs typeface="Meiryo"/>
              </a:rPr>
              <a:t>t</a:t>
            </a:r>
            <a:r>
              <a:rPr sz="1100" i="1" spc="-20" dirty="0">
                <a:latin typeface="Arial"/>
                <a:cs typeface="Arial"/>
              </a:rPr>
              <a:t>s</a:t>
            </a:r>
            <a:r>
              <a:rPr sz="1100" spc="-2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310"/>
              </a:spcBef>
            </a:pPr>
            <a:r>
              <a:rPr sz="1100" b="1" spc="-10" dirty="0">
                <a:latin typeface="Arial"/>
                <a:cs typeface="Arial"/>
              </a:rPr>
              <a:t>Note: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0430" y="1319490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(29)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21624"/>
            <a:ext cx="76809" cy="768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27491"/>
            <a:ext cx="76809" cy="768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2373744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81" y="237274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634" y="2272747"/>
            <a:ext cx="3847465" cy="4730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Meiryo"/>
                <a:cs typeface="Meiryo"/>
              </a:rPr>
              <a:t>/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5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support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vectors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ξ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54" baseline="-11904" dirty="0">
                <a:latin typeface="Arial"/>
                <a:cs typeface="Arial"/>
              </a:rPr>
              <a:t> </a:t>
            </a:r>
            <a:r>
              <a:rPr sz="1000" i="1" spc="90" dirty="0">
                <a:latin typeface="Times New Roman"/>
                <a:cs typeface="Times New Roman"/>
              </a:rPr>
              <a:t>&gt;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65"/>
              </a:spcBef>
            </a:pPr>
            <a:r>
              <a:rPr sz="1000" i="1" dirty="0">
                <a:latin typeface="Times New Roman"/>
                <a:cs typeface="Times New Roman"/>
              </a:rPr>
              <a:t>µ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3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5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those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which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misclassified,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ξ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40" baseline="-11904" dirty="0">
                <a:latin typeface="Arial"/>
                <a:cs typeface="Arial"/>
              </a:rPr>
              <a:t> </a:t>
            </a:r>
            <a:r>
              <a:rPr sz="1000" i="1" spc="90" dirty="0">
                <a:latin typeface="Times New Roman"/>
                <a:cs typeface="Times New Roman"/>
              </a:rPr>
              <a:t>&gt;</a:t>
            </a:r>
            <a:r>
              <a:rPr sz="1000" i="1" spc="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Arial"/>
                <a:cs typeface="Arial"/>
              </a:rPr>
              <a:t>0.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2597569"/>
            <a:ext cx="134416" cy="13441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23481" y="2596583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140" dirty="0"/>
              <a:t> </a:t>
            </a:r>
            <a:r>
              <a:rPr spc="-25" dirty="0"/>
              <a:t>SVM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38519" rIns="0" bIns="0" rtlCol="0">
            <a:spAutoFit/>
          </a:bodyPr>
          <a:lstStyle/>
          <a:p>
            <a:pPr marL="378460" marR="187325">
              <a:lnSpc>
                <a:spcPct val="102600"/>
              </a:lnSpc>
              <a:spcBef>
                <a:spcPts val="55"/>
              </a:spcBef>
            </a:pPr>
            <a:r>
              <a:rPr dirty="0"/>
              <a:t>Linear</a:t>
            </a:r>
            <a:r>
              <a:rPr spc="-35" dirty="0"/>
              <a:t> </a:t>
            </a:r>
            <a:r>
              <a:rPr dirty="0"/>
              <a:t>SVM</a:t>
            </a:r>
            <a:r>
              <a:rPr spc="-30" dirty="0"/>
              <a:t> </a:t>
            </a:r>
            <a:r>
              <a:rPr dirty="0"/>
              <a:t>undoubtedly</a:t>
            </a:r>
            <a:r>
              <a:rPr spc="-30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classify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if</a:t>
            </a:r>
            <a:r>
              <a:rPr spc="-30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trained</a:t>
            </a:r>
            <a:r>
              <a:rPr spc="-30" dirty="0"/>
              <a:t> </a:t>
            </a:r>
            <a:r>
              <a:rPr spc="-25" dirty="0"/>
              <a:t>by </a:t>
            </a:r>
            <a:r>
              <a:rPr dirty="0"/>
              <a:t>linearly</a:t>
            </a:r>
            <a:r>
              <a:rPr spc="-15" dirty="0"/>
              <a:t> </a:t>
            </a:r>
            <a:r>
              <a:rPr spc="-10" dirty="0"/>
              <a:t>separable</a:t>
            </a:r>
            <a:r>
              <a:rPr spc="-15" dirty="0"/>
              <a:t> </a:t>
            </a:r>
            <a:r>
              <a:rPr spc="-10" dirty="0"/>
              <a:t>data.</a:t>
            </a:r>
          </a:p>
          <a:p>
            <a:pPr marL="378460" marR="297180">
              <a:lnSpc>
                <a:spcPct val="102600"/>
              </a:lnSpc>
              <a:spcBef>
                <a:spcPts val="1150"/>
              </a:spcBef>
            </a:pPr>
            <a:r>
              <a:rPr dirty="0"/>
              <a:t>Linear</a:t>
            </a:r>
            <a:r>
              <a:rPr spc="-25" dirty="0"/>
              <a:t> </a:t>
            </a:r>
            <a:r>
              <a:rPr dirty="0"/>
              <a:t>SVM</a:t>
            </a:r>
            <a:r>
              <a:rPr spc="-25" dirty="0"/>
              <a:t> </a:t>
            </a:r>
            <a:r>
              <a:rPr dirty="0"/>
              <a:t>also</a:t>
            </a:r>
            <a:r>
              <a:rPr spc="-25" dirty="0"/>
              <a:t> </a:t>
            </a:r>
            <a:r>
              <a:rPr dirty="0"/>
              <a:t>can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spc="-10" dirty="0"/>
              <a:t>non-</a:t>
            </a:r>
            <a:r>
              <a:rPr dirty="0"/>
              <a:t>linearly</a:t>
            </a:r>
            <a:r>
              <a:rPr spc="-25" dirty="0"/>
              <a:t> </a:t>
            </a:r>
            <a:r>
              <a:rPr spc="-10" dirty="0"/>
              <a:t>separable</a:t>
            </a:r>
            <a:r>
              <a:rPr spc="-25" dirty="0"/>
              <a:t> </a:t>
            </a:r>
            <a:r>
              <a:rPr spc="-10" dirty="0"/>
              <a:t>data, </a:t>
            </a:r>
            <a:r>
              <a:rPr dirty="0"/>
              <a:t>provided</a:t>
            </a:r>
            <a:r>
              <a:rPr spc="-4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number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such</a:t>
            </a:r>
            <a:r>
              <a:rPr spc="-35" dirty="0"/>
              <a:t> </a:t>
            </a:r>
            <a:r>
              <a:rPr dirty="0"/>
              <a:t>instances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10" dirty="0"/>
              <a:t>less.</a:t>
            </a:r>
          </a:p>
          <a:p>
            <a:pPr marL="378460" marR="5080">
              <a:lnSpc>
                <a:spcPct val="102600"/>
              </a:lnSpc>
              <a:spcBef>
                <a:spcPts val="1150"/>
              </a:spcBef>
            </a:pPr>
            <a:r>
              <a:rPr spc="-25" dirty="0"/>
              <a:t>However,</a:t>
            </a:r>
            <a:r>
              <a:rPr spc="-2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real</a:t>
            </a:r>
            <a:r>
              <a:rPr spc="-15" dirty="0"/>
              <a:t> </a:t>
            </a:r>
            <a:r>
              <a:rPr dirty="0"/>
              <a:t>life</a:t>
            </a:r>
            <a:r>
              <a:rPr spc="-15" dirty="0"/>
              <a:t> </a:t>
            </a:r>
            <a:r>
              <a:rPr spc="-10" dirty="0"/>
              <a:t>applications,</a:t>
            </a:r>
            <a:r>
              <a:rPr spc="-15" dirty="0"/>
              <a:t> </a:t>
            </a:r>
            <a:r>
              <a:rPr dirty="0"/>
              <a:t>number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overlapping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25" dirty="0"/>
              <a:t>so </a:t>
            </a:r>
            <a:r>
              <a:rPr dirty="0"/>
              <a:t>high</a:t>
            </a:r>
            <a:r>
              <a:rPr spc="-35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soft</a:t>
            </a:r>
            <a:r>
              <a:rPr spc="-30" dirty="0"/>
              <a:t> </a:t>
            </a:r>
            <a:r>
              <a:rPr dirty="0"/>
              <a:t>margin</a:t>
            </a:r>
            <a:r>
              <a:rPr spc="-30" dirty="0"/>
              <a:t> </a:t>
            </a:r>
            <a:r>
              <a:rPr dirty="0"/>
              <a:t>SVM</a:t>
            </a:r>
            <a:r>
              <a:rPr spc="-35" dirty="0"/>
              <a:t> </a:t>
            </a:r>
            <a:r>
              <a:rPr dirty="0"/>
              <a:t>cannot</a:t>
            </a:r>
            <a:r>
              <a:rPr spc="-30" dirty="0"/>
              <a:t> </a:t>
            </a:r>
            <a:r>
              <a:rPr dirty="0"/>
              <a:t>cope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yield</a:t>
            </a:r>
            <a:r>
              <a:rPr spc="-30" dirty="0"/>
              <a:t> </a:t>
            </a:r>
            <a:r>
              <a:rPr dirty="0"/>
              <a:t>accurate</a:t>
            </a:r>
            <a:r>
              <a:rPr spc="-35" dirty="0"/>
              <a:t> </a:t>
            </a:r>
            <a:r>
              <a:rPr spc="-10" dirty="0"/>
              <a:t>classifier.</a:t>
            </a:r>
          </a:p>
          <a:p>
            <a:pPr marL="378460" marR="267970">
              <a:lnSpc>
                <a:spcPct val="102600"/>
              </a:lnSpc>
              <a:spcBef>
                <a:spcPts val="1150"/>
              </a:spcBef>
            </a:pPr>
            <a:r>
              <a:rPr dirty="0"/>
              <a:t>As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alternative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this</a:t>
            </a:r>
            <a:r>
              <a:rPr spc="-25" dirty="0"/>
              <a:t> </a:t>
            </a:r>
            <a:r>
              <a:rPr dirty="0"/>
              <a:t>there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need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compute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decision boundary,</a:t>
            </a:r>
            <a:r>
              <a:rPr spc="-3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linear</a:t>
            </a:r>
            <a:r>
              <a:rPr spc="-30" dirty="0"/>
              <a:t> </a:t>
            </a:r>
            <a:r>
              <a:rPr dirty="0"/>
              <a:t>(i.e.,</a:t>
            </a:r>
            <a:r>
              <a:rPr spc="-3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hyperplane</a:t>
            </a:r>
            <a:r>
              <a:rPr spc="-30" dirty="0"/>
              <a:t> </a:t>
            </a:r>
            <a:r>
              <a:rPr spc="-10" dirty="0"/>
              <a:t>rather hypersurface).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5E958B0-8F0D-4B12-A1AC-1462BA1A54D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25665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15770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805876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295982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-52881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140" dirty="0"/>
              <a:t> </a:t>
            </a:r>
            <a:r>
              <a:rPr spc="-25" dirty="0"/>
              <a:t>SVM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73C4BF2-76B2-41F8-B744-A106DD1C3713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91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3304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5184" y="745700"/>
            <a:ext cx="4010660" cy="1268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understanding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Figure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13.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in </a:t>
            </a:r>
            <a:r>
              <a:rPr sz="1100" dirty="0">
                <a:latin typeface="Arial"/>
                <a:cs typeface="Arial"/>
              </a:rPr>
              <a:t>terms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-dimensional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component,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non-linear hypersurface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 dirty="0">
              <a:latin typeface="Arial"/>
              <a:cs typeface="Arial"/>
            </a:endParaRPr>
          </a:p>
          <a:p>
            <a:pPr marR="200025" algn="ctr">
              <a:lnSpc>
                <a:spcPct val="100000"/>
              </a:lnSpc>
              <a:spcBef>
                <a:spcPts val="84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13: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view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few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separabilities.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815073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578" y="1906323"/>
            <a:ext cx="3463798" cy="116560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140" dirty="0"/>
              <a:t> </a:t>
            </a:r>
            <a:r>
              <a:rPr spc="-25" dirty="0"/>
              <a:t>SVM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788542B-8B15-46E2-92FF-954EC6EF0C3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92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0073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547113"/>
            <a:ext cx="3265170" cy="85216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expressed</a:t>
            </a:r>
            <a:r>
              <a:rPr sz="1100" spc="-25" dirty="0">
                <a:latin typeface="Arial"/>
                <a:cs typeface="Arial"/>
              </a:rPr>
              <a:t> as</a:t>
            </a:r>
            <a:endParaRPr sz="1100">
              <a:latin typeface="Arial"/>
              <a:cs typeface="Arial"/>
            </a:endParaRPr>
          </a:p>
          <a:p>
            <a:pPr marL="808355">
              <a:lnSpc>
                <a:spcPct val="100000"/>
              </a:lnSpc>
              <a:spcBef>
                <a:spcPts val="630"/>
              </a:spcBef>
            </a:pPr>
            <a:r>
              <a:rPr sz="1100" i="1" dirty="0">
                <a:latin typeface="Arial"/>
                <a:cs typeface="Arial"/>
              </a:rPr>
              <a:t>linear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:</a:t>
            </a:r>
            <a:r>
              <a:rPr sz="1100" spc="22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9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9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89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Whereas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hypersurface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0490" y="876819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(30)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78966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57184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483358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4500" y="1455050"/>
            <a:ext cx="4288790" cy="149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ts val="955"/>
              </a:lnSpc>
              <a:spcBef>
                <a:spcPts val="90"/>
              </a:spcBef>
              <a:tabLst>
                <a:tab pos="3978275" algn="l"/>
              </a:tabLst>
            </a:pPr>
            <a:r>
              <a:rPr sz="1100" i="1" dirty="0">
                <a:latin typeface="Arial"/>
                <a:cs typeface="Arial"/>
              </a:rPr>
              <a:t>Nonlinear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:</a:t>
            </a:r>
            <a:r>
              <a:rPr sz="1100" spc="24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112" baseline="312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104" baseline="312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112" baseline="312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1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(31)</a:t>
            </a:r>
            <a:endParaRPr sz="1100">
              <a:latin typeface="Arial"/>
              <a:cs typeface="Arial"/>
            </a:endParaRPr>
          </a:p>
          <a:p>
            <a:pPr marL="1067435">
              <a:lnSpc>
                <a:spcPts val="595"/>
              </a:lnSpc>
              <a:tabLst>
                <a:tab pos="1544320" algn="l"/>
                <a:tab pos="2616835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Arial"/>
              <a:cs typeface="Arial"/>
            </a:endParaRPr>
          </a:p>
          <a:p>
            <a:pPr marL="170815" marR="53975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therefore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</a:t>
            </a:r>
            <a:r>
              <a:rPr sz="1100" dirty="0">
                <a:latin typeface="Arial"/>
                <a:cs typeface="Arial"/>
              </a:rPr>
              <a:t>boundaries,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hypersurface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 </a:t>
            </a:r>
            <a:r>
              <a:rPr sz="1100" dirty="0">
                <a:latin typeface="Arial"/>
                <a:cs typeface="Arial"/>
              </a:rPr>
              <a:t>comprising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70815" marR="92710">
              <a:lnSpc>
                <a:spcPct val="102600"/>
              </a:lnSpc>
              <a:spcBef>
                <a:spcPts val="869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task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indeed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neither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hard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complex,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fortunately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can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accomplished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extending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we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already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learned.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32182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140" dirty="0"/>
              <a:t> </a:t>
            </a:r>
            <a:r>
              <a:rPr spc="-25" dirty="0"/>
              <a:t>SVM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E9A7CF8-8AC3-4928-8E48-43D1718BDBE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93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3149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59586"/>
            <a:ext cx="25171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achieved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major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steps.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815695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814710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034" y="786694"/>
            <a:ext cx="3785870" cy="516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45465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"/>
                <a:cs typeface="Arial"/>
              </a:rPr>
              <a:t>Transform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original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(non-</a:t>
            </a:r>
            <a:r>
              <a:rPr sz="1000" dirty="0">
                <a:latin typeface="Arial"/>
                <a:cs typeface="Arial"/>
              </a:rPr>
              <a:t>linear)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higher </a:t>
            </a:r>
            <a:r>
              <a:rPr sz="1000" dirty="0">
                <a:latin typeface="Arial"/>
                <a:cs typeface="Arial"/>
              </a:rPr>
              <a:t>dimensional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(as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representation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data).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Arial"/>
                <a:cs typeface="Arial"/>
              </a:rPr>
              <a:t>Note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feasible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because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SVM’s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performance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decided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by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34" y="1278196"/>
            <a:ext cx="32696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number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support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vectors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(i.e.,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-40" dirty="0">
                <a:latin typeface="Meiryo"/>
                <a:cs typeface="Meiryo"/>
              </a:rPr>
              <a:t>≈</a:t>
            </a:r>
            <a:r>
              <a:rPr sz="1000" i="1" spc="-65" dirty="0">
                <a:latin typeface="Meiryo"/>
                <a:cs typeface="Meiryo"/>
              </a:rPr>
              <a:t> </a:t>
            </a:r>
            <a:r>
              <a:rPr sz="1000" dirty="0">
                <a:latin typeface="Arial"/>
                <a:cs typeface="Arial"/>
              </a:rPr>
              <a:t>training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data)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by</a:t>
            </a:r>
            <a:r>
              <a:rPr sz="1000" spc="-25" dirty="0">
                <a:latin typeface="Arial"/>
                <a:cs typeface="Arial"/>
              </a:rPr>
              <a:t> the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0034" y="1394034"/>
            <a:ext cx="3779520" cy="8928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dirty="0">
                <a:latin typeface="Arial"/>
                <a:cs typeface="Arial"/>
              </a:rPr>
              <a:t>dimension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 marL="12700" marR="582930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Arial"/>
                <a:cs typeface="Arial"/>
              </a:rPr>
              <a:t>Search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decision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boundaries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separate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transformed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dimensional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above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same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done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linear </a:t>
            </a:r>
            <a:r>
              <a:rPr sz="1000" spc="-20" dirty="0">
                <a:latin typeface="Arial"/>
                <a:cs typeface="Arial"/>
              </a:rPr>
              <a:t>SVM.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646859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81" y="164586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404567"/>
            <a:ext cx="76809" cy="7680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2332658"/>
            <a:ext cx="3729354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604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nutshell,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trick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 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popularly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non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mapping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or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attribute</a:t>
            </a:r>
            <a:r>
              <a:rPr sz="11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transformation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SVM.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9557" y="2786672"/>
            <a:ext cx="76809" cy="7680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4" y="2546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703AA36-83DD-480E-B614-4DAEA94C900F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94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570" y="468303"/>
            <a:ext cx="41916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order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understand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concept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original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second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polynomial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3-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6903" y="108131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350" y="1007718"/>
            <a:ext cx="41262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35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95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142" baseline="312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42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44" y="1294332"/>
            <a:ext cx="4168775" cy="11918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 </a:t>
            </a:r>
            <a:r>
              <a:rPr sz="1100" spc="-10" dirty="0">
                <a:latin typeface="Arial"/>
                <a:cs typeface="Arial"/>
              </a:rPr>
              <a:t>3-</a:t>
            </a:r>
            <a:r>
              <a:rPr sz="1100" dirty="0">
                <a:latin typeface="Arial"/>
                <a:cs typeface="Arial"/>
              </a:rPr>
              <a:t>D input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can be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mapped into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6-</a:t>
            </a:r>
            <a:r>
              <a:rPr sz="1100" dirty="0">
                <a:latin typeface="Arial"/>
                <a:cs typeface="Arial"/>
              </a:rPr>
              <a:t>D </a:t>
            </a:r>
            <a:r>
              <a:rPr sz="1100" spc="-10" dirty="0">
                <a:latin typeface="Arial"/>
                <a:cs typeface="Arial"/>
              </a:rPr>
              <a:t>space</a:t>
            </a:r>
            <a:endParaRPr sz="1100" dirty="0">
              <a:latin typeface="Arial"/>
              <a:cs typeface="Arial"/>
            </a:endParaRPr>
          </a:p>
          <a:p>
            <a:pPr marL="50800" algn="just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mappings:</a:t>
            </a:r>
            <a:endParaRPr sz="1100" dirty="0">
              <a:latin typeface="Arial"/>
              <a:cs typeface="Arial"/>
            </a:endParaRPr>
          </a:p>
          <a:p>
            <a:pPr marL="1731645" marR="1466215" algn="just">
              <a:lnSpc>
                <a:spcPct val="144400"/>
              </a:lnSpc>
              <a:spcBef>
                <a:spcPts val="805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20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20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3</a:t>
            </a:r>
            <a:endParaRPr sz="1200" baseline="-13888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5180" y="2536557"/>
            <a:ext cx="1051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200" spc="209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spc="-75" baseline="31250" dirty="0">
                <a:latin typeface="Arial"/>
                <a:cs typeface="Arial"/>
              </a:rPr>
              <a:t>2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06395" y="261015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6516" y="2702811"/>
            <a:ext cx="1209040" cy="50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44400"/>
              </a:lnSpc>
              <a:spcBef>
                <a:spcPts val="10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3888" dirty="0">
                <a:latin typeface="Arial"/>
                <a:cs typeface="Arial"/>
              </a:rPr>
              <a:t>1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3888" dirty="0">
                <a:latin typeface="Arial"/>
                <a:cs typeface="Arial"/>
              </a:rPr>
              <a:t>2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200" spc="20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3888" dirty="0">
                <a:latin typeface="Arial"/>
                <a:cs typeface="Arial"/>
              </a:rPr>
              <a:t>1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200" spc="-30" baseline="-13888" dirty="0">
                <a:latin typeface="Arial"/>
                <a:cs typeface="Arial"/>
              </a:rPr>
              <a:t>3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7F079B5-F662-4E26-852C-FC9E170B1C1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95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85341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832" y="1113445"/>
            <a:ext cx="4150360" cy="1134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6-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like.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472440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4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4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"/>
                <a:cs typeface="Arial"/>
              </a:rPr>
              <a:t>5</a:t>
            </a:r>
            <a:r>
              <a:rPr sz="1200" spc="120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6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  <a:p>
            <a:pPr marL="50800" marR="43180">
              <a:lnSpc>
                <a:spcPct val="102600"/>
              </a:lnSpc>
              <a:spcBef>
                <a:spcPts val="650"/>
              </a:spcBef>
            </a:pPr>
            <a:r>
              <a:rPr sz="1100" dirty="0">
                <a:latin typeface="Arial"/>
                <a:cs typeface="Arial"/>
              </a:rPr>
              <a:t>Thus,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(and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values),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decision boundaries.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783816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61" y="41150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8C2D1C1-186E-4600-BEAD-4A514204E23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96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7044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1940" y="431025"/>
            <a:ext cx="4260215" cy="10185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mapping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1100" dirty="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3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below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+1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+)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label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spc="-25" dirty="0">
                <a:latin typeface="Arial"/>
                <a:cs typeface="Arial"/>
              </a:rPr>
              <a:t>).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 dirty="0">
              <a:latin typeface="Arial"/>
              <a:cs typeface="Arial"/>
            </a:endParaRPr>
          </a:p>
          <a:p>
            <a:pPr marL="95885" algn="ctr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14: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Non-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mapping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SVM.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917" y="1550723"/>
            <a:ext cx="3367278" cy="151904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B96A12E-F97B-4F5C-BC97-CA530984694C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97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95425"/>
            <a:ext cx="76809" cy="768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68372" y="1811959"/>
            <a:ext cx="1497965" cy="0"/>
          </a:xfrm>
          <a:custGeom>
            <a:avLst/>
            <a:gdLst/>
            <a:ahLst/>
            <a:cxnLst/>
            <a:rect l="l" t="t" r="r" b="b"/>
            <a:pathLst>
              <a:path w="1497964">
                <a:moveTo>
                  <a:pt x="0" y="0"/>
                </a:moveTo>
                <a:lnTo>
                  <a:pt x="14975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444" y="793811"/>
            <a:ext cx="4142740" cy="123190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mapping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1100">
              <a:latin typeface="Arial"/>
              <a:cs typeface="Arial"/>
            </a:endParaRPr>
          </a:p>
          <a:p>
            <a:pPr marL="314960" marR="3048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-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from </a:t>
            </a:r>
            <a:r>
              <a:rPr sz="1100" dirty="0">
                <a:latin typeface="Arial"/>
                <a:cs typeface="Arial"/>
              </a:rPr>
              <a:t>instances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+1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circle,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thought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"/>
              <a:cs typeface="Arial"/>
            </a:endParaRPr>
          </a:p>
          <a:p>
            <a:pPr marL="541655" algn="ctr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+</a:t>
            </a:r>
            <a:r>
              <a:rPr sz="1100" dirty="0">
                <a:latin typeface="Arial"/>
                <a:cs typeface="Arial"/>
              </a:rPr>
              <a:t>1 </a:t>
            </a:r>
            <a:r>
              <a:rPr sz="1100" i="1" dirty="0">
                <a:latin typeface="Arial"/>
                <a:cs typeface="Arial"/>
              </a:rPr>
              <a:t>if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650" spc="225" baseline="68181" dirty="0">
                <a:latin typeface="Trebuchet MS"/>
                <a:cs typeface="Trebuchet MS"/>
              </a:rPr>
              <a:t>J</a:t>
            </a:r>
            <a:r>
              <a:rPr sz="1100" spc="150" dirty="0">
                <a:latin typeface="Lucida Sans Unicode"/>
                <a:cs typeface="Lucida Sans Unicode"/>
              </a:rPr>
              <a:t>(</a:t>
            </a:r>
            <a:r>
              <a:rPr sz="1100" i="1" spc="150" dirty="0">
                <a:latin typeface="Arial"/>
                <a:cs typeface="Arial"/>
              </a:rPr>
              <a:t>x</a:t>
            </a:r>
            <a:r>
              <a:rPr sz="1200" spc="225" baseline="-13888" dirty="0">
                <a:latin typeface="Arial"/>
                <a:cs typeface="Arial"/>
              </a:rPr>
              <a:t>1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14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0833" dirty="0">
                <a:latin typeface="Arial"/>
                <a:cs typeface="Arial"/>
              </a:rPr>
              <a:t>2</a:t>
            </a:r>
            <a:r>
              <a:rPr sz="1200" spc="142" baseline="20833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5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14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0833" dirty="0">
                <a:latin typeface="Arial"/>
                <a:cs typeface="Arial"/>
              </a:rPr>
              <a:t>2</a:t>
            </a:r>
            <a:r>
              <a:rPr sz="1200" spc="240" baseline="20833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2521" y="2260370"/>
            <a:ext cx="16173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−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otherwise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0418" y="2260370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(32)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432B8A1-205A-4028-8584-A91D91DD37F4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98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61961"/>
            <a:ext cx="76809" cy="768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21485" y="1331087"/>
            <a:ext cx="1497965" cy="0"/>
          </a:xfrm>
          <a:custGeom>
            <a:avLst/>
            <a:gdLst/>
            <a:ahLst/>
            <a:cxnLst/>
            <a:rect l="l" t="t" r="r" b="b"/>
            <a:pathLst>
              <a:path w="1497964">
                <a:moveTo>
                  <a:pt x="0" y="0"/>
                </a:moveTo>
                <a:lnTo>
                  <a:pt x="149757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444" y="660321"/>
            <a:ext cx="3534410" cy="8845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mapping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as: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Arial"/>
              <a:cs typeface="Arial"/>
            </a:endParaRPr>
          </a:p>
          <a:p>
            <a:pPr marL="1188085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650" spc="225" baseline="68181" dirty="0">
                <a:latin typeface="Trebuchet MS"/>
                <a:cs typeface="Trebuchet MS"/>
              </a:rPr>
              <a:t>J</a:t>
            </a:r>
            <a:r>
              <a:rPr sz="1100" spc="150" dirty="0">
                <a:latin typeface="Lucida Sans Unicode"/>
                <a:cs typeface="Lucida Sans Unicode"/>
              </a:rPr>
              <a:t>(</a:t>
            </a:r>
            <a:r>
              <a:rPr sz="1100" i="1" spc="150" dirty="0">
                <a:latin typeface="Arial"/>
                <a:cs typeface="Arial"/>
              </a:rPr>
              <a:t>x</a:t>
            </a:r>
            <a:r>
              <a:rPr sz="1200" spc="225" baseline="-13888" dirty="0">
                <a:latin typeface="Arial"/>
                <a:cs typeface="Arial"/>
              </a:rPr>
              <a:t>1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0833" dirty="0">
                <a:latin typeface="Arial"/>
                <a:cs typeface="Arial"/>
              </a:rPr>
              <a:t>2</a:t>
            </a:r>
            <a:r>
              <a:rPr sz="1200" spc="127" baseline="20833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27" baseline="-13888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dirty="0">
                <a:latin typeface="Arial"/>
                <a:cs typeface="Arial"/>
              </a:rPr>
              <a:t>5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0833" dirty="0">
                <a:latin typeface="Arial"/>
                <a:cs typeface="Arial"/>
              </a:rPr>
              <a:t>2</a:t>
            </a:r>
            <a:r>
              <a:rPr sz="1200" spc="209" baseline="20833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0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spc="-25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1626" y="181655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7069" y="181655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7796" y="1910027"/>
            <a:ext cx="1087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377190" algn="l"/>
                <a:tab pos="678815" algn="l"/>
                <a:tab pos="992505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1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endParaRPr sz="1200" baseline="6944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4515" y="1836431"/>
            <a:ext cx="15240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or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1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5" dirty="0">
                <a:latin typeface="Arial"/>
                <a:cs typeface="Arial"/>
              </a:rPr>
              <a:t> 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2632" y="1836431"/>
            <a:ext cx="21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spc="-25" dirty="0">
                <a:latin typeface="Arial"/>
                <a:cs typeface="Arial"/>
              </a:rPr>
              <a:t>46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62657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2090748"/>
            <a:ext cx="3944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transformation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proposed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07833" y="2475597"/>
            <a:ext cx="11474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31140" algn="l"/>
                <a:tab pos="545465" algn="l"/>
                <a:tab pos="1052195" algn="l"/>
              </a:tabLst>
            </a:pPr>
            <a:r>
              <a:rPr sz="1200" spc="-75" baseline="6944" dirty="0">
                <a:latin typeface="Arial"/>
                <a:cs typeface="Arial"/>
              </a:rPr>
              <a:t>1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1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62059" y="2462922"/>
            <a:ext cx="2889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9075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60841" y="2382125"/>
            <a:ext cx="1109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013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7414" y="2402000"/>
            <a:ext cx="2607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204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25" dirty="0">
                <a:latin typeface="Arial"/>
                <a:cs typeface="Arial"/>
              </a:rPr>
              <a:t> 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0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25" dirty="0">
                <a:latin typeface="Arial"/>
                <a:cs typeface="Arial"/>
              </a:rPr>
              <a:t> 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25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0043" y="2475597"/>
            <a:ext cx="4470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179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endParaRPr sz="1200" baseline="6944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10418" y="2402000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(33)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945" y="-9631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Concept</a:t>
            </a:r>
            <a:r>
              <a:rPr spc="90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Non-Linear</a:t>
            </a:r>
            <a:r>
              <a:rPr spc="9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B392EB0-FE8C-4EA8-B394-A8A8CA41BEE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99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43204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1070" y="423431"/>
            <a:ext cx="4075429" cy="11112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1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mapping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1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endParaRPr sz="1100" dirty="0">
              <a:latin typeface="Arial"/>
              <a:cs typeface="Arial"/>
            </a:endParaRPr>
          </a:p>
          <a:p>
            <a:pPr marL="314960" marR="30480">
              <a:lnSpc>
                <a:spcPct val="102699"/>
              </a:lnSpc>
              <a:spcBef>
                <a:spcPts val="17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plotted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view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shown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Fig.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15,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boundary,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namely</a:t>
            </a:r>
            <a:endParaRPr sz="1100" dirty="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89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7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Meiryo"/>
                <a:cs typeface="Meiryo"/>
              </a:rPr>
              <a:t>−</a:t>
            </a:r>
            <a:r>
              <a:rPr sz="1100" spc="-20" dirty="0">
                <a:latin typeface="Arial"/>
                <a:cs typeface="Arial"/>
              </a:rPr>
              <a:t>0</a:t>
            </a:r>
            <a:r>
              <a:rPr sz="1100" i="1" spc="-20" dirty="0">
                <a:latin typeface="Times New Roman"/>
                <a:cs typeface="Times New Roman"/>
              </a:rPr>
              <a:t>.</a:t>
            </a:r>
            <a:r>
              <a:rPr sz="1100" spc="-20" dirty="0">
                <a:latin typeface="Arial"/>
                <a:cs typeface="Arial"/>
              </a:rPr>
              <a:t>46</a:t>
            </a:r>
            <a:endParaRPr sz="1100" dirty="0">
              <a:latin typeface="Arial"/>
              <a:cs typeface="Arial"/>
            </a:endParaRPr>
          </a:p>
          <a:p>
            <a:pPr marL="908685">
              <a:lnSpc>
                <a:spcPct val="100000"/>
              </a:lnSpc>
              <a:spcBef>
                <a:spcPts val="15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15: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Non-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mapping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SVM.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071" y="1663035"/>
            <a:ext cx="3117849" cy="14065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Linear</a:t>
            </a:r>
            <a:r>
              <a:rPr spc="60" dirty="0"/>
              <a:t> </a:t>
            </a:r>
            <a:r>
              <a:rPr dirty="0"/>
              <a:t>Transformation:</a:t>
            </a:r>
            <a:r>
              <a:rPr spc="170" dirty="0"/>
              <a:t> </a:t>
            </a:r>
            <a:r>
              <a:rPr spc="-10" dirty="0"/>
              <a:t>Issues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0280F1E-2978-4628-8DCE-753B7A32A02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100</a:t>
            </a:fld>
            <a:r>
              <a:rPr spc="-10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3635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64450"/>
            <a:ext cx="38265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boundary </a:t>
            </a:r>
            <a:r>
              <a:rPr sz="1100" dirty="0">
                <a:latin typeface="Arial"/>
                <a:cs typeface="Arial"/>
              </a:rPr>
              <a:t>concept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looks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pretty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simple.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potential </a:t>
            </a:r>
            <a:r>
              <a:rPr sz="1100" dirty="0">
                <a:latin typeface="Arial"/>
                <a:cs typeface="Arial"/>
              </a:rPr>
              <a:t>problems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so.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372717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137171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0034" y="1343716"/>
            <a:ext cx="33794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Mapping:</a:t>
            </a:r>
            <a:r>
              <a:rPr sz="1000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How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choose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linear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mapping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higher </a:t>
            </a:r>
            <a:r>
              <a:rPr sz="1000" dirty="0">
                <a:latin typeface="Arial"/>
                <a:cs typeface="Arial"/>
              </a:rPr>
              <a:t>dimensional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space?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669" y="1880806"/>
            <a:ext cx="61874" cy="618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57122" y="1818635"/>
            <a:ext cx="2910840" cy="409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φ</a:t>
            </a:r>
            <a:r>
              <a:rPr sz="900" spc="-30" dirty="0">
                <a:latin typeface="Arial"/>
                <a:cs typeface="Arial"/>
              </a:rPr>
              <a:t>-</a:t>
            </a:r>
            <a:r>
              <a:rPr sz="900" spc="-10" dirty="0">
                <a:latin typeface="Arial"/>
                <a:cs typeface="Arial"/>
              </a:rPr>
              <a:t>transformation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900" dirty="0">
                <a:latin typeface="Arial"/>
                <a:cs typeface="Arial"/>
              </a:rPr>
              <a:t>But,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realistically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669" y="2127986"/>
            <a:ext cx="61874" cy="618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080" y="2405252"/>
            <a:ext cx="134416" cy="13441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3481" y="2404267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034" y="2376251"/>
            <a:ext cx="3486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Cost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mapping:</a:t>
            </a:r>
            <a:r>
              <a:rPr sz="1000" spc="-10" dirty="0">
                <a:latin typeface="Arial"/>
                <a:cs typeface="Arial"/>
              </a:rPr>
              <a:t>For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n</a:t>
            </a:r>
            <a:r>
              <a:rPr sz="1000" dirty="0">
                <a:latin typeface="Arial"/>
                <a:cs typeface="Arial"/>
              </a:rPr>
              <a:t>-dimensional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instances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exist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1385" y="2603210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H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034" y="2544843"/>
            <a:ext cx="327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N</a:t>
            </a:r>
            <a:r>
              <a:rPr sz="1000" i="1" spc="150" dirty="0">
                <a:latin typeface="Arial"/>
                <a:cs typeface="Arial"/>
              </a:rPr>
              <a:t> 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2357" y="2521448"/>
            <a:ext cx="458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(</a:t>
            </a: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</a:t>
            </a:r>
            <a:r>
              <a:rPr sz="7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+</a:t>
            </a: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700" i="1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−</a:t>
            </a:r>
            <a:r>
              <a:rPr sz="7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7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)!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4036" y="2626438"/>
            <a:ext cx="4152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d</a:t>
            </a:r>
            <a:r>
              <a:rPr sz="700" i="1" spc="-125" dirty="0">
                <a:latin typeface="Arial"/>
                <a:cs typeface="Arial"/>
              </a:rPr>
              <a:t> </a:t>
            </a:r>
            <a:r>
              <a:rPr sz="700" spc="-10" dirty="0">
                <a:latin typeface="Verdana"/>
                <a:cs typeface="Verdana"/>
              </a:rPr>
              <a:t>!(</a:t>
            </a:r>
            <a:r>
              <a:rPr sz="700" i="1" spc="-10" dirty="0">
                <a:latin typeface="Arial"/>
                <a:cs typeface="Arial"/>
              </a:rPr>
              <a:t>N</a:t>
            </a:r>
            <a:r>
              <a:rPr sz="700" i="1" spc="-10" dirty="0">
                <a:latin typeface="Palatino Linotype"/>
                <a:cs typeface="Palatino Linotype"/>
              </a:rPr>
              <a:t>−</a:t>
            </a:r>
            <a:r>
              <a:rPr sz="700" spc="-10" dirty="0">
                <a:latin typeface="Arial"/>
                <a:cs typeface="Arial"/>
              </a:rPr>
              <a:t>1</a:t>
            </a:r>
            <a:r>
              <a:rPr sz="700" spc="-10" dirty="0">
                <a:latin typeface="Verdana"/>
                <a:cs typeface="Verdana"/>
              </a:rPr>
              <a:t>)!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15757" y="2544843"/>
            <a:ext cx="2818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different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monomials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comprising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feature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of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634" y="2715697"/>
            <a:ext cx="3692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dimensionality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50" i="1" spc="-15" baseline="-11904" dirty="0">
                <a:latin typeface="Arial"/>
                <a:cs typeface="Arial"/>
              </a:rPr>
              <a:t>H</a:t>
            </a:r>
            <a:r>
              <a:rPr sz="1050" i="1" spc="-14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.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Here,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d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maximum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degree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monomial.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Linear</a:t>
            </a:r>
            <a:r>
              <a:rPr spc="60" dirty="0"/>
              <a:t> </a:t>
            </a:r>
            <a:r>
              <a:rPr dirty="0"/>
              <a:t>Transformation:</a:t>
            </a:r>
            <a:r>
              <a:rPr spc="170" dirty="0"/>
              <a:t> </a:t>
            </a:r>
            <a:r>
              <a:rPr spc="-10" dirty="0"/>
              <a:t>Issues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7F81ACB-3D6D-40DE-B1DE-98853C2A749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101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94779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22870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841032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83941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669" y="1464945"/>
            <a:ext cx="61874" cy="61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669" y="2093658"/>
            <a:ext cx="61874" cy="618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4634" y="812030"/>
            <a:ext cx="3766185" cy="152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12255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Dimensionality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problem:</a:t>
            </a:r>
            <a:r>
              <a:rPr sz="1000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suffer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from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curse</a:t>
            </a:r>
            <a:r>
              <a:rPr sz="1000" spc="-25" dirty="0">
                <a:latin typeface="Arial"/>
                <a:cs typeface="Arial"/>
              </a:rPr>
              <a:t> of </a:t>
            </a:r>
            <a:r>
              <a:rPr sz="1000" dirty="0">
                <a:latin typeface="Arial"/>
                <a:cs typeface="Arial"/>
              </a:rPr>
              <a:t>dimensionality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often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associated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dimensional data.</a:t>
            </a:r>
            <a:endParaRPr sz="1000">
              <a:latin typeface="Arial"/>
              <a:cs typeface="Arial"/>
            </a:endParaRPr>
          </a:p>
          <a:p>
            <a:pPr marL="314960" marR="30480">
              <a:lnSpc>
                <a:spcPct val="101499"/>
              </a:lnSpc>
              <a:spcBef>
                <a:spcPts val="1035"/>
              </a:spcBef>
            </a:pPr>
            <a:r>
              <a:rPr sz="900" dirty="0">
                <a:latin typeface="Arial"/>
                <a:cs typeface="Arial"/>
              </a:rPr>
              <a:t>More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specifically,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calculation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W.X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5" baseline="-9259" dirty="0">
                <a:latin typeface="Arial"/>
                <a:cs typeface="Arial"/>
              </a:rPr>
              <a:t>i</a:t>
            </a:r>
            <a:r>
              <a:rPr sz="900" i="1" spc="-104" baseline="-9259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.X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30" dirty="0">
                <a:latin typeface="Arial"/>
                <a:cs typeface="Arial"/>
              </a:rPr>
              <a:t>δ</a:t>
            </a:r>
            <a:r>
              <a:rPr sz="900" spc="-30" dirty="0">
                <a:latin typeface="Heisei Maru Gothic Std W4"/>
                <a:cs typeface="Heisei Maru Gothic Std W4"/>
              </a:rPr>
              <a:t>(</a:t>
            </a:r>
            <a:r>
              <a:rPr sz="900" i="1" spc="-30" dirty="0">
                <a:latin typeface="Arial"/>
                <a:cs typeface="Arial"/>
              </a:rPr>
              <a:t>X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dirty="0">
                <a:latin typeface="Heisei Maru Gothic Std W4"/>
                <a:cs typeface="Heisei Maru Gothic Std W4"/>
              </a:rPr>
              <a:t>)</a:t>
            </a:r>
            <a:r>
              <a:rPr sz="900" spc="-95" dirty="0">
                <a:latin typeface="Heisei Maru Gothic Std W4"/>
                <a:cs typeface="Heisei Maru Gothic Std W4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Eqn. </a:t>
            </a:r>
            <a:r>
              <a:rPr sz="900" dirty="0">
                <a:latin typeface="Arial"/>
                <a:cs typeface="Arial"/>
              </a:rPr>
              <a:t>18),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multiplications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additions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dot</a:t>
            </a:r>
            <a:r>
              <a:rPr sz="900" spc="-10" dirty="0">
                <a:latin typeface="Arial"/>
                <a:cs typeface="Arial"/>
              </a:rPr>
              <a:t> products)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-dimensional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instances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vectors, respectively.</a:t>
            </a:r>
            <a:endParaRPr sz="900">
              <a:latin typeface="Arial"/>
              <a:cs typeface="Arial"/>
            </a:endParaRPr>
          </a:p>
          <a:p>
            <a:pPr marL="314960" marR="247650">
              <a:lnSpc>
                <a:spcPct val="101499"/>
              </a:lnSpc>
              <a:spcBef>
                <a:spcPts val="565"/>
              </a:spcBef>
            </a:pP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instances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vectors</a:t>
            </a:r>
            <a:r>
              <a:rPr sz="900" spc="-25" dirty="0">
                <a:latin typeface="Arial"/>
                <a:cs typeface="Arial"/>
              </a:rPr>
              <a:t> are </a:t>
            </a:r>
            <a:r>
              <a:rPr sz="900" dirty="0">
                <a:latin typeface="Arial"/>
                <a:cs typeface="Arial"/>
              </a:rPr>
              <a:t>enormously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large, it is </a:t>
            </a:r>
            <a:r>
              <a:rPr sz="900" spc="-10" dirty="0">
                <a:latin typeface="Arial"/>
                <a:cs typeface="Arial"/>
              </a:rPr>
              <a:t>therefore,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080" y="2474112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81" y="247312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034" y="2445110"/>
            <a:ext cx="376555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0000FF"/>
                </a:solidFill>
                <a:latin typeface="Arial"/>
                <a:cs typeface="Arial"/>
              </a:rPr>
              <a:t>Computational</a:t>
            </a:r>
            <a:r>
              <a:rPr sz="10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F"/>
                </a:solidFill>
                <a:latin typeface="Arial"/>
                <a:cs typeface="Arial"/>
              </a:rPr>
              <a:t>cost:</a:t>
            </a:r>
            <a:r>
              <a:rPr sz="1000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Solving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quadratic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constrained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optimization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high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dimensional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feature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space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too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computationally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expensive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task.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Non-Linear</a:t>
            </a:r>
            <a:r>
              <a:rPr spc="60" dirty="0"/>
              <a:t> </a:t>
            </a:r>
            <a:r>
              <a:rPr dirty="0"/>
              <a:t>to</a:t>
            </a:r>
            <a:r>
              <a:rPr spc="60" dirty="0"/>
              <a:t> </a:t>
            </a:r>
            <a:r>
              <a:rPr dirty="0"/>
              <a:t>Linear</a:t>
            </a:r>
            <a:r>
              <a:rPr spc="60" dirty="0"/>
              <a:t> </a:t>
            </a:r>
            <a:r>
              <a:rPr dirty="0"/>
              <a:t>Transformation:</a:t>
            </a:r>
            <a:r>
              <a:rPr spc="170" dirty="0"/>
              <a:t> </a:t>
            </a:r>
            <a:r>
              <a:rPr spc="-10" dirty="0"/>
              <a:t>Issues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879F24D-C5A4-467A-975D-FC11A210BE0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102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4517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73276"/>
            <a:ext cx="3882390" cy="68199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Fortunately,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mathematicians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cleverly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proposes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elegant </a:t>
            </a:r>
            <a:r>
              <a:rPr sz="1100" dirty="0">
                <a:latin typeface="Arial"/>
                <a:cs typeface="Arial"/>
              </a:rPr>
              <a:t>solution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Their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solution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435277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691487"/>
            <a:ext cx="134416" cy="13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3481" y="1690502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34" y="1590478"/>
            <a:ext cx="228536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00"/>
              </a:spcBef>
            </a:pPr>
            <a:r>
              <a:rPr sz="1000" dirty="0">
                <a:latin typeface="Arial"/>
                <a:cs typeface="Arial"/>
              </a:rPr>
              <a:t>Dual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formulation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optimization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problem </a:t>
            </a:r>
            <a:r>
              <a:rPr sz="1000" dirty="0">
                <a:latin typeface="Arial"/>
                <a:cs typeface="Arial"/>
              </a:rPr>
              <a:t>Kernel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trick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915325"/>
            <a:ext cx="134416" cy="13441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23481" y="191433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89543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2217634"/>
            <a:ext cx="39522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slides,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about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above-</a:t>
            </a:r>
            <a:r>
              <a:rPr sz="1100" spc="-10" dirty="0">
                <a:latin typeface="Arial"/>
                <a:cs typeface="Arial"/>
              </a:rPr>
              <a:t>mentioned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topics.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CDABBD4-6489-4A6D-A843-058D98B5CBB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103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53872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81963"/>
            <a:ext cx="3887470" cy="12725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already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maximum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margin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classifier.</a:t>
            </a:r>
            <a:endParaRPr sz="1100">
              <a:latin typeface="Arial"/>
              <a:cs typeface="Arial"/>
            </a:endParaRPr>
          </a:p>
          <a:p>
            <a:pPr marL="12700" marR="419100">
              <a:lnSpc>
                <a:spcPct val="102699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Such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primal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form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constraint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optimization</a:t>
            </a:r>
            <a:r>
              <a:rPr sz="11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problem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82550">
              <a:lnSpc>
                <a:spcPct val="102600"/>
              </a:lnSpc>
              <a:spcBef>
                <a:spcPts val="865"/>
              </a:spcBef>
            </a:pPr>
            <a:r>
              <a:rPr sz="1100" dirty="0">
                <a:latin typeface="Arial"/>
                <a:cs typeface="Arial"/>
              </a:rPr>
              <a:t>Primal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reproduced further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07973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62087"/>
            <a:ext cx="76809" cy="76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75904" y="2238208"/>
            <a:ext cx="1035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Minimize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650" i="1" spc="-202" baseline="37878" dirty="0">
                <a:latin typeface="Meiryo"/>
                <a:cs typeface="Meiryo"/>
              </a:rPr>
              <a:t>||</a:t>
            </a:r>
            <a:r>
              <a:rPr sz="1650" i="1" spc="-202" baseline="37878" dirty="0">
                <a:latin typeface="Arial"/>
                <a:cs typeface="Arial"/>
              </a:rPr>
              <a:t>W</a:t>
            </a:r>
            <a:r>
              <a:rPr sz="1650" i="1" spc="-240" baseline="37878" dirty="0">
                <a:latin typeface="Arial"/>
                <a:cs typeface="Arial"/>
              </a:rPr>
              <a:t> </a:t>
            </a:r>
            <a:r>
              <a:rPr sz="1650" i="1" spc="-52" baseline="37878" dirty="0">
                <a:latin typeface="Meiryo"/>
                <a:cs typeface="Meiryo"/>
              </a:rPr>
              <a:t>||</a:t>
            </a:r>
            <a:r>
              <a:rPr sz="1200" spc="-52" baseline="79861" dirty="0">
                <a:latin typeface="Arial"/>
                <a:cs typeface="Arial"/>
              </a:rPr>
              <a:t>2</a:t>
            </a:r>
            <a:endParaRPr sz="1200" baseline="79861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12504" y="2354821"/>
            <a:ext cx="366395" cy="0"/>
          </a:xfrm>
          <a:custGeom>
            <a:avLst/>
            <a:gdLst/>
            <a:ahLst/>
            <a:cxnLst/>
            <a:rect l="l" t="t" r="r" b="b"/>
            <a:pathLst>
              <a:path w="366394">
                <a:moveTo>
                  <a:pt x="0" y="0"/>
                </a:moveTo>
                <a:lnTo>
                  <a:pt x="3663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544445" y="233324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885" y="2664598"/>
            <a:ext cx="2830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Subject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to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4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45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2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Arial"/>
                <a:cs typeface="Arial"/>
              </a:rPr>
              <a:t>3</a:t>
            </a:r>
            <a:r>
              <a:rPr sz="1100" i="1" spc="-10" dirty="0">
                <a:latin typeface="Times New Roman"/>
                <a:cs typeface="Times New Roman"/>
              </a:rPr>
              <a:t>.......</a:t>
            </a:r>
            <a:r>
              <a:rPr sz="1100" i="1" spc="-10" dirty="0">
                <a:latin typeface="Arial"/>
                <a:cs typeface="Arial"/>
              </a:rPr>
              <a:t>n</a:t>
            </a:r>
            <a:r>
              <a:rPr sz="1100" i="1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0430" y="2664598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(34)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D1034D5-E39A-44AA-9B5A-97157974B2D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104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5171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779804"/>
            <a:ext cx="3999229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primal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mentioned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inequality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constraint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problem(according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multiplier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method)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given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by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2547" y="168064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5522" y="1622525"/>
            <a:ext cx="314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95" dirty="0">
                <a:latin typeface="Arial"/>
                <a:cs typeface="Arial"/>
              </a:rPr>
              <a:t> 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7901" y="1528799"/>
            <a:ext cx="329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</a:t>
            </a:r>
            <a:r>
              <a:rPr sz="1100" i="1" u="sng" spc="-114" dirty="0">
                <a:uFill>
                  <a:solidFill>
                    <a:srgbClr val="000000"/>
                  </a:solidFill>
                </a:uFill>
                <a:latin typeface="Meiryo"/>
                <a:cs typeface="Meiryo"/>
              </a:rPr>
              <a:t>||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1596" y="151585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2541" y="1717572"/>
            <a:ext cx="102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9807" y="148667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8725" y="1490915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3229" y="1832278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2751" y="1685263"/>
            <a:ext cx="5575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2720" algn="l"/>
                <a:tab pos="52197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0181" y="1622525"/>
            <a:ext cx="1619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4015" algn="l"/>
              </a:tabLst>
            </a:pP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(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8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14" dirty="0">
                <a:latin typeface="Meiryo"/>
                <a:cs typeface="Meiryo"/>
              </a:rPr>
              <a:t> </a:t>
            </a:r>
            <a:r>
              <a:rPr sz="1100" spc="-25" dirty="0">
                <a:latin typeface="Arial"/>
                <a:cs typeface="Arial"/>
              </a:rPr>
              <a:t>1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0430" y="1622525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(35)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4832" y="2003804"/>
            <a:ext cx="3938904" cy="718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multipliers.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50800" marR="43180">
              <a:lnSpc>
                <a:spcPct val="102600"/>
              </a:lnSpc>
              <a:spcBef>
                <a:spcPts val="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200" i="1" baseline="-10416" dirty="0">
                <a:latin typeface="Arial"/>
                <a:cs typeface="Arial"/>
              </a:rPr>
              <a:t>p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primal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form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Lagrangian</a:t>
            </a:r>
            <a:r>
              <a:rPr sz="11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optimization problem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29738"/>
            <a:ext cx="76809" cy="7680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BEA620EF-8A0B-453B-92D7-7EF6E9680E4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105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7652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4832" y="804620"/>
            <a:ext cx="4154804" cy="681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derived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follows.</a:t>
            </a:r>
            <a:endParaRPr sz="1100">
              <a:latin typeface="Arial"/>
              <a:cs typeface="Arial"/>
            </a:endParaRPr>
          </a:p>
          <a:p>
            <a:pPr marL="50800" marR="43180">
              <a:lnSpc>
                <a:spcPct val="102600"/>
              </a:lnSpc>
              <a:spcBef>
                <a:spcPts val="1150"/>
              </a:spcBef>
            </a:pPr>
            <a:r>
              <a:rPr sz="1100" spc="-75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minimize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derivative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200" i="1" baseline="-10416" dirty="0">
                <a:latin typeface="Arial"/>
                <a:cs typeface="Arial"/>
              </a:rPr>
              <a:t>p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with </a:t>
            </a:r>
            <a:r>
              <a:rPr sz="1100" dirty="0">
                <a:latin typeface="Arial"/>
                <a:cs typeface="Arial"/>
              </a:rPr>
              <a:t>respect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them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zero.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194562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03298" y="1697379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7139" y="175549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9641" y="1888336"/>
            <a:ext cx="223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14269" y="165743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3174" y="1661679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9897" y="1793302"/>
            <a:ext cx="139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09015" algn="l"/>
              </a:tabLst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57690" y="2003042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47212" y="1856040"/>
            <a:ext cx="338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0430" y="1793302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(36)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12290" y="2233052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6143" y="229115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3075" y="2424009"/>
            <a:ext cx="169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Times New Roman"/>
                <a:cs typeface="Times New Roman"/>
              </a:rPr>
              <a:t>δ</a:t>
            </a:r>
            <a:r>
              <a:rPr sz="1100" i="1" spc="-25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5123" y="219311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14028" y="2197352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28544" y="2538716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18066" y="2391700"/>
            <a:ext cx="1936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75243" y="2328975"/>
            <a:ext cx="12128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74370" algn="l"/>
              </a:tabLst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10405" y="2328975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(37)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E244981-A4E9-40A8-AB20-D50122DC6C4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6" name="Footer Placeholder 4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106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54837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82928"/>
            <a:ext cx="30505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0102" y="94564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9007" y="949882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7247" y="1081505"/>
            <a:ext cx="591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97205" algn="l"/>
              </a:tabLst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05" dirty="0">
                <a:latin typeface="Times New Roman"/>
                <a:cs typeface="Times New Roman"/>
              </a:rPr>
              <a:t>λ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3523" y="1291245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3045" y="1144230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1333" y="108150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Lucida Sans Unicode"/>
                <a:cs typeface="Lucida Sans Unicode"/>
              </a:rPr>
              <a:t>+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5054" y="965274"/>
            <a:ext cx="10287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4307" y="1291245"/>
            <a:ext cx="14058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1740" algn="l"/>
              </a:tabLst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ource Serif 4"/>
                <a:cs typeface="Source Serif 4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0154" y="945640"/>
            <a:ext cx="591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197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0357" y="949882"/>
            <a:ext cx="19843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1261110" algn="l"/>
                <a:tab pos="1771014" algn="l"/>
              </a:tabLst>
            </a:pPr>
            <a:r>
              <a:rPr sz="1100" dirty="0">
                <a:latin typeface="Trebuchet MS"/>
                <a:cs typeface="Trebuchet MS"/>
              </a:rPr>
              <a:t>		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572" y="1081505"/>
            <a:ext cx="23469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61110" algn="l"/>
                <a:tab pos="1747520" algn="l"/>
              </a:tabLst>
            </a:pP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spc="90" dirty="0">
                <a:latin typeface="Times New Roman"/>
                <a:cs typeface="Times New Roman"/>
              </a:rPr>
              <a:t>.λ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dirty="0">
                <a:latin typeface="Meiryo"/>
                <a:cs typeface="Meiryo"/>
              </a:rPr>
              <a:t>	</a:t>
            </a:r>
            <a:r>
              <a:rPr sz="1100" i="1" spc="155" dirty="0">
                <a:latin typeface="Times New Roman"/>
                <a:cs typeface="Times New Roman"/>
              </a:rPr>
              <a:t>λ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y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110" dirty="0">
                <a:latin typeface="Lucida Sans Unicode"/>
                <a:cs typeface="Lucida Sans Unicode"/>
              </a:rPr>
              <a:t>(</a:t>
            </a:r>
            <a:r>
              <a:rPr sz="1100" i="1" spc="110" dirty="0">
                <a:latin typeface="Times New Roman"/>
                <a:cs typeface="Times New Roman"/>
              </a:rPr>
              <a:t>λ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4395" y="1144230"/>
            <a:ext cx="22885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4325" algn="l"/>
                <a:tab pos="1261110" algn="l"/>
                <a:tab pos="1801495" algn="l"/>
                <a:tab pos="2252980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j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j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i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j</a:t>
            </a:r>
            <a:r>
              <a:rPr sz="800" i="1" spc="254" dirty="0">
                <a:latin typeface="Arial"/>
                <a:cs typeface="Arial"/>
              </a:rPr>
              <a:t>  </a:t>
            </a:r>
            <a:r>
              <a:rPr sz="800" i="1" dirty="0">
                <a:latin typeface="Arial"/>
                <a:cs typeface="Arial"/>
              </a:rPr>
              <a:t>j</a:t>
            </a:r>
            <a:r>
              <a:rPr sz="800" i="1" spc="260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3455" y="1291245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3687" y="1502421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42605" y="1506663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6364" y="1638273"/>
            <a:ext cx="476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163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05" dirty="0">
                <a:latin typeface="Times New Roman"/>
                <a:cs typeface="Times New Roman"/>
              </a:rPr>
              <a:t>λ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46630" y="1701011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4918" y="163827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0" dirty="0">
                <a:latin typeface="Meiryo"/>
                <a:cs typeface="Meiryo"/>
              </a:rPr>
              <a:t>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68651" y="1522042"/>
            <a:ext cx="10287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7108" y="1848026"/>
            <a:ext cx="789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3420" algn="l"/>
              </a:tabLst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ource Serif 4"/>
                <a:cs typeface="Source Serif 4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3955" y="1506650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81770" y="1638273"/>
            <a:ext cx="9175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spc="55" dirty="0">
                <a:latin typeface="Times New Roman"/>
                <a:cs typeface="Times New Roman"/>
              </a:rPr>
              <a:t>.λ</a:t>
            </a:r>
            <a:r>
              <a:rPr sz="1200" i="1" spc="82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endParaRPr sz="1200" baseline="-13888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113661"/>
            <a:ext cx="76809" cy="7680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402932" y="2041752"/>
            <a:ext cx="40792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dual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form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100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Lagrangian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distinguishably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as: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73809" y="2703142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D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813280" y="250455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42185" y="2508782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96771" y="2640404"/>
            <a:ext cx="6750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025" algn="l"/>
              </a:tabLst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165" dirty="0">
                <a:latin typeface="Arial"/>
                <a:cs typeface="Arial"/>
              </a:rPr>
              <a:t> 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05" dirty="0">
                <a:latin typeface="Times New Roman"/>
                <a:cs typeface="Times New Roman"/>
              </a:rPr>
              <a:t>λ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56702" y="2850158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46223" y="2703142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14511" y="264040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0" dirty="0">
                <a:latin typeface="Meiryo"/>
                <a:cs typeface="Meiryo"/>
              </a:rPr>
              <a:t>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68232" y="2524173"/>
            <a:ext cx="10287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83535" y="2508782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37485" y="2850158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ource Serif 4"/>
                <a:cs typeface="Source Serif 4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81351" y="2640404"/>
            <a:ext cx="19265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641475" algn="l"/>
              </a:tabLst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spc="55" dirty="0">
                <a:latin typeface="Times New Roman"/>
                <a:cs typeface="Times New Roman"/>
              </a:rPr>
              <a:t>.λ</a:t>
            </a:r>
            <a:r>
              <a:rPr sz="1200" i="1" spc="82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r>
              <a:rPr sz="1200" i="1" baseline="-13888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(38)</a:t>
            </a:r>
            <a:endParaRPr sz="11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4E1BE77F-AE68-4F46-BC4F-0FD36FFD26CB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107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0628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34375"/>
            <a:ext cx="40792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distinguishably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as: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3280" y="152737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2185" y="1531618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6771" y="1663228"/>
            <a:ext cx="6750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1025" algn="l"/>
              </a:tabLst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i="1" spc="165" dirty="0">
                <a:latin typeface="Arial"/>
                <a:cs typeface="Arial"/>
              </a:rPr>
              <a:t> 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i="1" spc="105" dirty="0">
                <a:latin typeface="Times New Roman"/>
                <a:cs typeface="Times New Roman"/>
              </a:rPr>
              <a:t>λ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3809" y="1725966"/>
            <a:ext cx="6203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4835" algn="l"/>
              </a:tabLst>
            </a:pPr>
            <a:r>
              <a:rPr sz="800" i="1" spc="-50" dirty="0">
                <a:latin typeface="Arial"/>
                <a:cs typeface="Arial"/>
              </a:rPr>
              <a:t>D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6702" y="1872982"/>
            <a:ext cx="1968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25" dirty="0">
                <a:latin typeface="Verdana"/>
                <a:cs typeface="Verdana"/>
              </a:rPr>
              <a:t>=</a:t>
            </a:r>
            <a:r>
              <a:rPr sz="800" spc="-2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14511" y="166322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40" dirty="0">
                <a:latin typeface="Meiryo"/>
                <a:cs typeface="Meiryo"/>
              </a:rPr>
              <a:t>−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8232" y="1546997"/>
            <a:ext cx="10287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10" dirty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3535" y="1531618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40" dirty="0">
                <a:latin typeface="Trebuchet MS"/>
                <a:cs typeface="Trebuchet MS"/>
              </a:rPr>
              <a:t> 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7485" y="1872982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i</a:t>
            </a:r>
            <a:r>
              <a:rPr sz="800" i="1" spc="-25" dirty="0">
                <a:latin typeface="Source Serif 4"/>
                <a:cs typeface="Source Serif 4"/>
              </a:rPr>
              <a:t>,</a:t>
            </a:r>
            <a:r>
              <a:rPr sz="800" i="1" spc="-25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1351" y="1663228"/>
            <a:ext cx="19265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641475" algn="l"/>
              </a:tabLst>
            </a:pPr>
            <a:r>
              <a:rPr sz="1100" i="1" spc="75" dirty="0">
                <a:latin typeface="Times New Roman"/>
                <a:cs typeface="Times New Roman"/>
              </a:rPr>
              <a:t>λ</a:t>
            </a:r>
            <a:r>
              <a:rPr sz="1200" i="1" spc="112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spc="55" dirty="0">
                <a:latin typeface="Times New Roman"/>
                <a:cs typeface="Times New Roman"/>
              </a:rPr>
              <a:t>.λ</a:t>
            </a:r>
            <a:r>
              <a:rPr sz="1200" i="1" spc="82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r>
              <a:rPr sz="1200" i="1" baseline="-13888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(39)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628BBCD-79C6-49F0-A581-77CB610D0EE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108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95273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23378"/>
            <a:ext cx="378142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differences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primal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200" i="1" baseline="-10416" dirty="0">
                <a:latin typeface="Arial"/>
                <a:cs typeface="Arial"/>
              </a:rPr>
              <a:t>p</a:t>
            </a:r>
            <a:r>
              <a:rPr sz="1200" i="1" spc="-232" baseline="-10416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dual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L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i="1" spc="-209" baseline="-13888" dirty="0">
                <a:latin typeface="Arial"/>
                <a:cs typeface="Arial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forms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Lagrangian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295565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129457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634" y="1266563"/>
            <a:ext cx="3853179" cy="1456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spc="150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involves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large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number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parameters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namely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W</a:t>
            </a:r>
            <a:r>
              <a:rPr sz="1000" i="1" spc="-1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b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’s.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On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hand,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D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involves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only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’s,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Lagrange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multipliers.</a:t>
            </a:r>
            <a:endParaRPr sz="1000">
              <a:latin typeface="Arial"/>
              <a:cs typeface="Arial"/>
            </a:endParaRPr>
          </a:p>
          <a:p>
            <a:pPr marL="38100" marR="266700">
              <a:lnSpc>
                <a:spcPct val="100000"/>
              </a:lnSpc>
              <a:spcBef>
                <a:spcPts val="840"/>
              </a:spcBef>
            </a:pP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spc="17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minimization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problem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quadratic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term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positive. </a:t>
            </a:r>
            <a:r>
              <a:rPr sz="1000" spc="-20" dirty="0">
                <a:latin typeface="Arial"/>
                <a:cs typeface="Arial"/>
              </a:rPr>
              <a:t>However,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quadratic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term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D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negative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Hence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5" dirty="0">
                <a:latin typeface="Arial"/>
                <a:cs typeface="Arial"/>
              </a:rPr>
              <a:t> is </a:t>
            </a:r>
            <a:r>
              <a:rPr sz="1000" dirty="0">
                <a:latin typeface="Arial"/>
                <a:cs typeface="Arial"/>
              </a:rPr>
              <a:t>turned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maximization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problem.</a:t>
            </a:r>
            <a:endParaRPr sz="1000">
              <a:latin typeface="Arial"/>
              <a:cs typeface="Arial"/>
            </a:endParaRPr>
          </a:p>
          <a:p>
            <a:pPr marL="38100" marR="32384">
              <a:lnSpc>
                <a:spcPct val="100000"/>
              </a:lnSpc>
              <a:spcBef>
                <a:spcPts val="840"/>
              </a:spcBef>
            </a:pP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spc="202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involves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calculation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whereas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D</a:t>
            </a:r>
            <a:r>
              <a:rPr sz="1050" i="1" spc="225" baseline="-11904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involves </a:t>
            </a:r>
            <a:r>
              <a:rPr sz="1000" spc="-2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calculation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.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fact,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advantageous,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will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realize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it </a:t>
            </a:r>
            <a:r>
              <a:rPr sz="1000" dirty="0">
                <a:latin typeface="Arial"/>
                <a:cs typeface="Arial"/>
              </a:rPr>
              <a:t>when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learn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Kernel-</a:t>
            </a:r>
            <a:r>
              <a:rPr sz="1000" dirty="0">
                <a:latin typeface="Arial"/>
                <a:cs typeface="Arial"/>
              </a:rPr>
              <a:t>based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calculation.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080" y="1707222"/>
            <a:ext cx="134416" cy="1344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23481" y="1706237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080" y="2270722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3481" y="226910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Dual</a:t>
            </a:r>
            <a:r>
              <a:rPr spc="90" dirty="0"/>
              <a:t> </a:t>
            </a:r>
            <a:r>
              <a:rPr dirty="0"/>
              <a:t>Formulation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5" dirty="0"/>
              <a:t> </a:t>
            </a:r>
            <a:r>
              <a:rPr dirty="0"/>
              <a:t>Optimization</a:t>
            </a:r>
            <a:r>
              <a:rPr spc="9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DB2A83A-BA9D-4FF2-9381-A8FD2340153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109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1240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940510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080" y="1196619"/>
            <a:ext cx="134416" cy="13441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3481" y="1195633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634" y="1167617"/>
            <a:ext cx="3414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 classifier 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primal form 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20" dirty="0">
                <a:latin typeface="Times New Roman"/>
                <a:cs typeface="Times New Roman"/>
              </a:rPr>
              <a:t>δ</a:t>
            </a:r>
            <a:r>
              <a:rPr sz="1050" i="1" spc="-30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3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with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0034" y="1319446"/>
            <a:ext cx="295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5507" y="1224551"/>
            <a:ext cx="159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00" dirty="0">
                <a:latin typeface="Trebuchet MS"/>
                <a:cs typeface="Trebuchet MS"/>
              </a:rPr>
              <a:t>�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9060" y="1293789"/>
            <a:ext cx="175260" cy="233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19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19"/>
              </a:lnSpc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0787" y="1319446"/>
            <a:ext cx="2891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25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whereas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dual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version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4397" y="1654495"/>
            <a:ext cx="996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0777" y="1654497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9719" y="1833069"/>
            <a:ext cx="10775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0885" algn="l"/>
                <a:tab pos="1044575" algn="l"/>
              </a:tabLst>
            </a:pPr>
            <a:r>
              <a:rPr sz="700" i="1" spc="-50" dirty="0">
                <a:latin typeface="Arial"/>
                <a:cs typeface="Arial"/>
              </a:rPr>
              <a:t>D</a:t>
            </a:r>
            <a:r>
              <a:rPr sz="700" i="1" dirty="0">
                <a:latin typeface="Arial"/>
                <a:cs typeface="Arial"/>
              </a:rPr>
              <a:t>	i</a:t>
            </a:r>
            <a:r>
              <a:rPr sz="700" i="1" spc="240" dirty="0">
                <a:latin typeface="Arial"/>
                <a:cs typeface="Arial"/>
              </a:rPr>
              <a:t>  </a:t>
            </a: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483" y="1774703"/>
            <a:ext cx="15322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3740" algn="l"/>
              </a:tabLst>
            </a:pPr>
            <a:r>
              <a:rPr sz="1000" i="1" dirty="0">
                <a:latin typeface="Times New Roman"/>
                <a:cs typeface="Times New Roman"/>
              </a:rPr>
              <a:t>δ</a:t>
            </a:r>
            <a:r>
              <a:rPr sz="1000" i="1" spc="34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3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r>
              <a:rPr sz="1000" dirty="0">
                <a:latin typeface="Lucida Sans Unicode"/>
                <a:cs typeface="Lucida Sans Unicode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1934" y="1920501"/>
            <a:ext cx="3550285" cy="5492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  <a:p>
            <a:pPr marL="50800" marR="43180">
              <a:lnSpc>
                <a:spcPct val="100000"/>
              </a:lnSpc>
              <a:spcBef>
                <a:spcPts val="520"/>
              </a:spcBef>
            </a:pPr>
            <a:r>
              <a:rPr sz="1000" dirty="0">
                <a:latin typeface="Arial"/>
                <a:cs typeface="Arial"/>
              </a:rPr>
              <a:t>where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6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being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50" i="1" baseline="27777" dirty="0">
                <a:latin typeface="Arial"/>
                <a:cs typeface="Arial"/>
              </a:rPr>
              <a:t>th</a:t>
            </a:r>
            <a:r>
              <a:rPr sz="1050" i="1" spc="187" baseline="27777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support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vector,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there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support </a:t>
            </a:r>
            <a:r>
              <a:rPr sz="1000" dirty="0">
                <a:latin typeface="Arial"/>
                <a:cs typeface="Arial"/>
              </a:rPr>
              <a:t>vectors.</a:t>
            </a:r>
            <a:r>
              <a:rPr sz="1000" spc="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Thus,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both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spc="172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1904" dirty="0">
                <a:latin typeface="Arial"/>
                <a:cs typeface="Arial"/>
              </a:rPr>
              <a:t>D</a:t>
            </a:r>
            <a:r>
              <a:rPr sz="1050" i="1" spc="18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are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equivalent.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33" y="203885"/>
            <a:ext cx="1600150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D4E9B37-B9E6-4ABF-8623-32A8D845671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110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9952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827619"/>
            <a:ext cx="4062095" cy="18224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594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already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covered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not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dimensional </a:t>
            </a:r>
            <a:r>
              <a:rPr sz="1100" dirty="0">
                <a:latin typeface="Arial"/>
                <a:cs typeface="Arial"/>
              </a:rPr>
              <a:t>feature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decided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original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data(also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Fig.16).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Arial"/>
                <a:cs typeface="Arial"/>
              </a:rPr>
              <a:t>Clearly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left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figure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separable.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850"/>
              </a:spcBef>
            </a:pPr>
            <a:r>
              <a:rPr sz="1100" spc="-60" dirty="0">
                <a:latin typeface="Arial"/>
                <a:cs typeface="Arial"/>
              </a:rPr>
              <a:t>Yet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3D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possible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hyperplane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3D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05863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972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Kernel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Trick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64095" y="626216"/>
            <a:ext cx="30803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</a:rPr>
              <a:t>Figure</a:t>
            </a:r>
            <a:r>
              <a:rPr sz="1000" spc="-25" dirty="0">
                <a:solidFill>
                  <a:srgbClr val="3333B2"/>
                </a:solidFill>
              </a:rPr>
              <a:t> </a:t>
            </a:r>
            <a:r>
              <a:rPr sz="1000" dirty="0">
                <a:solidFill>
                  <a:srgbClr val="3333B2"/>
                </a:solidFill>
              </a:rPr>
              <a:t>16:</a:t>
            </a:r>
            <a:r>
              <a:rPr sz="1000" spc="35" dirty="0">
                <a:solidFill>
                  <a:srgbClr val="3333B2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SVM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classifier</a:t>
            </a:r>
            <a:r>
              <a:rPr sz="1000" spc="-2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in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transformed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feature</a:t>
            </a:r>
            <a:r>
              <a:rPr sz="1000" spc="-2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space</a:t>
            </a:r>
            <a:endParaRPr sz="100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8C205FC-FAED-4817-8E9F-E0C795394E8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111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38" y="987768"/>
            <a:ext cx="3611879" cy="19354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90" y="128042"/>
            <a:ext cx="1523950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D9A2F140-55C4-45A6-A3E2-7C8021639E8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112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250340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444" y="924633"/>
            <a:ext cx="4344035" cy="1388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classifier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marL="31496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space),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mapping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79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E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27777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3-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10" dirty="0">
                <a:latin typeface="Arial"/>
                <a:cs typeface="Arial"/>
              </a:rPr>
              <a:t> space.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339725" algn="ctr">
              <a:lnSpc>
                <a:spcPct val="100000"/>
              </a:lnSpc>
            </a:pP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270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25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339725" algn="ctr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31250" dirty="0">
                <a:latin typeface="Arial"/>
                <a:cs typeface="Arial"/>
              </a:rPr>
              <a:t>3</a:t>
            </a:r>
            <a:r>
              <a:rPr sz="1200" spc="277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15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"/>
                <a:cs typeface="Arial"/>
              </a:rPr>
              <a:t>3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90" y="162547"/>
            <a:ext cx="1466596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3E621FA6-696F-4450-9441-9299CE3438A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113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057287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844" y="775359"/>
            <a:ext cx="2877820" cy="574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classifier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>
              <a:latin typeface="Arial"/>
              <a:cs typeface="Arial"/>
            </a:endParaRPr>
          </a:p>
          <a:p>
            <a:pPr marR="262255" algn="r">
              <a:lnSpc>
                <a:spcPct val="100000"/>
              </a:lnSpc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40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9249" y="156397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0028" y="1458327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88183" y="1606791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20342" y="1583853"/>
            <a:ext cx="1452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7740" algn="l"/>
              </a:tabLst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8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7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9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1520" y="1657450"/>
            <a:ext cx="1503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67030" algn="l"/>
                <a:tab pos="573405" algn="l"/>
                <a:tab pos="1082675" algn="l"/>
                <a:tab pos="1407795" algn="l"/>
              </a:tabLst>
            </a:pPr>
            <a:r>
              <a:rPr sz="1200" spc="-75" baseline="6944" dirty="0">
                <a:latin typeface="Arial"/>
                <a:cs typeface="Arial"/>
              </a:rPr>
              <a:t>1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1</a:t>
            </a:r>
            <a:r>
              <a:rPr sz="1200" spc="540" baseline="6944" dirty="0">
                <a:latin typeface="Arial"/>
                <a:cs typeface="Arial"/>
              </a:rPr>
              <a:t> 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3</a:t>
            </a:r>
            <a:endParaRPr sz="1200" baseline="694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8203" y="1583853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63722" y="1563978"/>
            <a:ext cx="95250" cy="240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85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0"/>
              </a:lnSpc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10067"/>
            <a:ext cx="76809" cy="7680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77532" y="1838171"/>
            <a:ext cx="2232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hyperplane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7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7591" y="212954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2167" y="2023896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80323" y="2172360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12671" y="2149423"/>
            <a:ext cx="1058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67080" algn="l"/>
              </a:tabLst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22663" y="212954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1896" y="2223019"/>
            <a:ext cx="15551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539750" algn="l"/>
                <a:tab pos="864235" algn="l"/>
                <a:tab pos="1328420" algn="l"/>
              </a:tabLst>
            </a:pPr>
            <a:r>
              <a:rPr sz="1200" baseline="6944" dirty="0">
                <a:latin typeface="Arial"/>
                <a:cs typeface="Arial"/>
              </a:rPr>
              <a:t>1</a:t>
            </a:r>
            <a:r>
              <a:rPr sz="1200" spc="540" baseline="6944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1</a:t>
            </a:r>
            <a:r>
              <a:rPr sz="1200" spc="540" baseline="6944" dirty="0">
                <a:latin typeface="Arial"/>
                <a:cs typeface="Arial"/>
              </a:rPr>
              <a:t> 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3</a:t>
            </a:r>
            <a:r>
              <a:rPr sz="1200" spc="540" baseline="6944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9186" y="2149423"/>
            <a:ext cx="733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0" dirty="0">
                <a:latin typeface="Arial"/>
                <a:cs typeface="Arial"/>
              </a:rPr>
              <a:t> 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532583"/>
            <a:ext cx="76809" cy="7680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02932" y="2460674"/>
            <a:ext cx="2518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equation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ellipse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2D.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90" y="192006"/>
            <a:ext cx="1431796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7EE0734-194F-4EBF-AE33-4495C2FDDF70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114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80516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823059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49169"/>
            <a:ext cx="76809" cy="7680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0444" y="578889"/>
            <a:ext cx="4300855" cy="223456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classifier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00FF"/>
                </a:solidFill>
                <a:latin typeface="Arial"/>
                <a:cs typeface="Arial"/>
              </a:rPr>
              <a:t>non-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linear</a:t>
            </a:r>
            <a:r>
              <a:rPr sz="11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1100" dirty="0">
              <a:latin typeface="Arial"/>
              <a:cs typeface="Arial"/>
            </a:endParaRPr>
          </a:p>
          <a:p>
            <a:pPr marL="314960" marR="27686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After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transformation,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mentioned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decision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boundary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form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Arial"/>
              <a:cs typeface="Arial"/>
            </a:endParaRPr>
          </a:p>
          <a:p>
            <a:pPr marL="1599565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04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3888" dirty="0">
                <a:latin typeface="Arial"/>
                <a:cs typeface="Arial"/>
              </a:rPr>
              <a:t>3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8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3-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words,</a:t>
            </a:r>
            <a:endParaRPr sz="1100" dirty="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200" spc="165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equivalent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50" dirty="0">
                <a:latin typeface="Arial"/>
                <a:cs typeface="Arial"/>
              </a:rPr>
              <a:t>W</a:t>
            </a:r>
            <a:r>
              <a:rPr sz="1100" i="1" spc="50" dirty="0">
                <a:latin typeface="Times New Roman"/>
                <a:cs typeface="Times New Roman"/>
              </a:rPr>
              <a:t>.</a:t>
            </a:r>
            <a:r>
              <a:rPr sz="1100" i="1" spc="50" dirty="0">
                <a:latin typeface="Arial"/>
                <a:cs typeface="Arial"/>
              </a:rPr>
              <a:t>z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Meiryo"/>
                <a:cs typeface="Meiryo"/>
              </a:rPr>
              <a:t>t</a:t>
            </a:r>
            <a:r>
              <a:rPr sz="1200" i="1" spc="104" baseline="27777" dirty="0">
                <a:latin typeface="Meiryo"/>
                <a:cs typeface="Meiryo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200" spc="-37" baseline="27777" dirty="0">
                <a:latin typeface="Arial"/>
                <a:cs typeface="Arial"/>
              </a:rPr>
              <a:t>3</a:t>
            </a:r>
            <a:endParaRPr sz="1200" baseline="27777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>
              <a:latin typeface="Arial"/>
              <a:cs typeface="Arial"/>
            </a:endParaRPr>
          </a:p>
          <a:p>
            <a:pPr marL="314960" marR="52069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2-</a:t>
            </a:r>
            <a:r>
              <a:rPr sz="1100" dirty="0">
                <a:latin typeface="Arial"/>
                <a:cs typeface="Arial"/>
              </a:rPr>
              <a:t>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spc="-10" dirty="0">
                <a:latin typeface="Arial"/>
                <a:cs typeface="Arial"/>
              </a:rPr>
              <a:t>separable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3-</a:t>
            </a:r>
            <a:r>
              <a:rPr sz="1100" spc="-20" dirty="0">
                <a:latin typeface="Arial"/>
                <a:cs typeface="Arial"/>
              </a:rPr>
              <a:t>D,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classifier.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116059"/>
            <a:ext cx="1271613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E10DA770-176D-46AB-9240-EBA4D9052F92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4" name="Footer Placeholder 4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115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517842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813917"/>
            <a:ext cx="61874" cy="618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45933"/>
            <a:ext cx="2867660" cy="4705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generalized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995"/>
              </a:spcBef>
            </a:pPr>
            <a:r>
              <a:rPr sz="1000" b="1" spc="-10" dirty="0">
                <a:latin typeface="Arial"/>
                <a:cs typeface="Arial"/>
              </a:rPr>
              <a:t>Classifier: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4155" y="852667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8128" y="852670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4651" y="1165494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5775" y="1031229"/>
            <a:ext cx="2393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400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405" dirty="0">
                <a:latin typeface="Arial"/>
                <a:cs typeface="Arial"/>
              </a:rPr>
              <a:t> 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4839" y="972863"/>
            <a:ext cx="1269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9760" algn="l"/>
              </a:tabLst>
            </a:pPr>
            <a:r>
              <a:rPr sz="1000" i="1" dirty="0">
                <a:latin typeface="Times New Roman"/>
                <a:cs typeface="Times New Roman"/>
              </a:rPr>
              <a:t>δ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1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r>
              <a:rPr sz="1000" dirty="0">
                <a:latin typeface="Lucida Sans Unicode"/>
                <a:cs typeface="Lucida Sans Unicode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1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895" y="1321374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72868" y="1321376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89391" y="1634200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50528" y="1499936"/>
            <a:ext cx="3638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0835" algn="l"/>
              </a:tabLst>
            </a:pPr>
            <a:r>
              <a:rPr sz="700" i="1" dirty="0">
                <a:latin typeface="Arial"/>
                <a:cs typeface="Arial"/>
              </a:rPr>
              <a:t>i</a:t>
            </a:r>
            <a:r>
              <a:rPr sz="700" i="1" spc="400" dirty="0">
                <a:latin typeface="Arial"/>
                <a:cs typeface="Arial"/>
              </a:rPr>
              <a:t> </a:t>
            </a: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72500" y="1441569"/>
            <a:ext cx="1614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6585" algn="l"/>
              </a:tabLst>
            </a:pPr>
            <a:r>
              <a:rPr sz="1000" i="1" dirty="0">
                <a:latin typeface="Times New Roman"/>
                <a:cs typeface="Times New Roman"/>
              </a:rPr>
              <a:t>δ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dirty="0">
                <a:latin typeface="Lucida Sans Unicode"/>
                <a:cs typeface="Lucida Sans Unicode"/>
              </a:rPr>
              <a:t>)</a:t>
            </a:r>
            <a:r>
              <a:rPr sz="1000" spc="15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r>
              <a:rPr sz="1000" dirty="0">
                <a:latin typeface="Lucida Sans Unicode"/>
                <a:cs typeface="Lucida Sans Unicode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70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35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φ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)</a:t>
            </a:r>
            <a:r>
              <a:rPr sz="1000" i="1" dirty="0">
                <a:latin typeface="Times New Roman"/>
                <a:cs typeface="Times New Roman"/>
              </a:rPr>
              <a:t>.φ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50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45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1858632"/>
            <a:ext cx="61874" cy="618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80034" y="1783809"/>
            <a:ext cx="601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latin typeface="Arial"/>
                <a:cs typeface="Arial"/>
              </a:rPr>
              <a:t>Learning: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81263" y="2046861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15235" y="204686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31758" y="2359688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92883" y="2225436"/>
            <a:ext cx="45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87131" y="2167069"/>
            <a:ext cx="10915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4550" algn="l"/>
              </a:tabLst>
            </a:pPr>
            <a:r>
              <a:rPr sz="1000" i="1" spc="-10" dirty="0">
                <a:latin typeface="Arial"/>
                <a:cs typeface="Arial"/>
              </a:rPr>
              <a:t>Maximize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23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Meiryo"/>
                <a:cs typeface="Meiryo"/>
              </a:rPr>
              <a:t>−</a:t>
            </a:r>
            <a:endParaRPr sz="1000">
              <a:latin typeface="Meiryo"/>
              <a:cs typeface="Meiry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96311" y="2081471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6311" y="2359688"/>
            <a:ext cx="258445" cy="13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4"/>
              </a:lnSpc>
            </a:pPr>
            <a:r>
              <a:rPr sz="1500" baseline="30555" dirty="0">
                <a:latin typeface="Arial"/>
                <a:cs typeface="Arial"/>
              </a:rPr>
              <a:t>2</a:t>
            </a:r>
            <a:r>
              <a:rPr sz="1500" spc="585" baseline="30555" dirty="0">
                <a:latin typeface="Arial"/>
                <a:cs typeface="Arial"/>
              </a:rPr>
              <a:t> </a:t>
            </a: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b="0" i="1" spc="-25" dirty="0">
                <a:latin typeface="Postino Std"/>
                <a:cs typeface="Postino Std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02928" y="2046864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81376" y="2167069"/>
            <a:ext cx="805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j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1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spc="-25" dirty="0">
                <a:latin typeface="Times New Roman"/>
                <a:cs typeface="Times New Roman"/>
              </a:rPr>
              <a:t>.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50" i="1" spc="-37" baseline="-11904" dirty="0">
                <a:latin typeface="Arial"/>
                <a:cs typeface="Arial"/>
              </a:rPr>
              <a:t>j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89035" y="2546695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23008" y="25466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66913" y="2666890"/>
            <a:ext cx="8591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2160" algn="l"/>
              </a:tabLst>
            </a:pPr>
            <a:r>
              <a:rPr sz="1000" i="1" spc="-10" dirty="0">
                <a:latin typeface="Arial"/>
                <a:cs typeface="Arial"/>
              </a:rPr>
              <a:t>Maximize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95" dirty="0">
                <a:latin typeface="Times New Roman"/>
                <a:cs typeface="Times New Roman"/>
              </a:rPr>
              <a:t>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39531" y="2859521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0655" y="2725257"/>
            <a:ext cx="45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62377" y="2666890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30" dirty="0">
                <a:latin typeface="Meiryo"/>
                <a:cs typeface="Meiryo"/>
              </a:rPr>
              <a:t>−</a:t>
            </a:r>
            <a:endParaRPr sz="1000">
              <a:latin typeface="Meiryo"/>
              <a:cs typeface="Meiry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04084" y="2581292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04084" y="2859521"/>
            <a:ext cx="258445" cy="13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4"/>
              </a:lnSpc>
            </a:pPr>
            <a:r>
              <a:rPr sz="1500" baseline="30555" dirty="0">
                <a:latin typeface="Arial"/>
                <a:cs typeface="Arial"/>
              </a:rPr>
              <a:t>2</a:t>
            </a:r>
            <a:r>
              <a:rPr sz="1500" spc="585" baseline="30555" dirty="0">
                <a:latin typeface="Arial"/>
                <a:cs typeface="Arial"/>
              </a:rPr>
              <a:t> </a:t>
            </a: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b="0" i="1" spc="-25" dirty="0">
                <a:latin typeface="Postino Std"/>
                <a:cs typeface="Postino Std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10701" y="2546698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89148" y="2666890"/>
            <a:ext cx="1131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52" baseline="-11904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j</a:t>
            </a:r>
            <a:r>
              <a:rPr sz="1050" i="1" spc="-5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4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5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φ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4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)</a:t>
            </a:r>
            <a:r>
              <a:rPr sz="1000" i="1" dirty="0">
                <a:latin typeface="Times New Roman"/>
                <a:cs typeface="Times New Roman"/>
              </a:rPr>
              <a:t>.φ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52" baseline="-11904" dirty="0">
                <a:latin typeface="Arial"/>
                <a:cs typeface="Arial"/>
              </a:rPr>
              <a:t> </a:t>
            </a:r>
            <a:r>
              <a:rPr sz="1000" spc="5" dirty="0">
                <a:latin typeface="Lucida Sans Unicode"/>
                <a:cs typeface="Lucida Sans Unicode"/>
              </a:rPr>
              <a:t>)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4634" y="3030187"/>
            <a:ext cx="18230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Subject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277" baseline="-11904" dirty="0">
                <a:latin typeface="Arial"/>
                <a:cs typeface="Arial"/>
              </a:rPr>
              <a:t> </a:t>
            </a:r>
            <a:r>
              <a:rPr sz="1000" i="1" spc="-40" dirty="0">
                <a:latin typeface="Meiryo"/>
                <a:cs typeface="Meiryo"/>
              </a:rPr>
              <a:t>≥</a:t>
            </a:r>
            <a:r>
              <a:rPr sz="1000" i="1" spc="-60" dirty="0">
                <a:latin typeface="Meiryo"/>
                <a:cs typeface="Meiryo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200" dirty="0">
                <a:latin typeface="Times New Roman"/>
                <a:cs typeface="Times New Roman"/>
              </a:rPr>
              <a:t> </a:t>
            </a:r>
            <a:r>
              <a:rPr sz="1500" spc="817" baseline="41666" dirty="0">
                <a:latin typeface="Trebuchet MS"/>
                <a:cs typeface="Trebuchet MS"/>
              </a:rPr>
              <a:t>�</a:t>
            </a:r>
            <a:r>
              <a:rPr sz="1050" i="1" spc="817" baseline="-23809" dirty="0">
                <a:latin typeface="Arial"/>
                <a:cs typeface="Arial"/>
              </a:rPr>
              <a:t>i</a:t>
            </a:r>
            <a:r>
              <a:rPr sz="1050" i="1" spc="127" baseline="-23809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84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r>
              <a:rPr sz="1000" spc="500" dirty="0">
                <a:latin typeface="Lucida Sans Unicode"/>
                <a:cs typeface="Lucida Sans Unicode"/>
              </a:rPr>
              <a:t> </a:t>
            </a:r>
            <a:r>
              <a:rPr sz="1000" spc="-45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121" y="83460"/>
            <a:ext cx="1258917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7AAF8144-8267-457B-8B46-C340E9F6EBC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116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89458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17549"/>
            <a:ext cx="4079875" cy="2828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Now,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question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choose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90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100" i="1" spc="-1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directly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to.</a:t>
            </a:r>
            <a:endParaRPr sz="1100">
              <a:latin typeface="Arial"/>
              <a:cs typeface="Arial"/>
            </a:endParaRPr>
          </a:p>
          <a:p>
            <a:pPr marL="12700" marR="242570">
              <a:lnSpc>
                <a:spcPct val="102600"/>
              </a:lnSpc>
              <a:spcBef>
                <a:spcPts val="910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breakthrough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solution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method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kernel</a:t>
            </a:r>
            <a:r>
              <a:rPr sz="11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trick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trick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following.</a:t>
            </a:r>
            <a:endParaRPr sz="1100">
              <a:latin typeface="Arial"/>
              <a:cs typeface="Arial"/>
            </a:endParaRPr>
          </a:p>
          <a:p>
            <a:pPr marL="12700" marR="205104">
              <a:lnSpc>
                <a:spcPct val="102600"/>
              </a:lnSpc>
              <a:spcBef>
                <a:spcPts val="91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(.)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often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55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204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spc="-105" dirty="0">
                <a:latin typeface="Meiryo"/>
                <a:cs typeface="Meiryo"/>
              </a:rPr>
              <a:t>|</a:t>
            </a:r>
            <a:r>
              <a:rPr sz="1100" i="1" spc="-105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i="1" spc="-130" dirty="0">
                <a:latin typeface="Meiryo"/>
                <a:cs typeface="Meiryo"/>
              </a:rPr>
              <a:t>||</a:t>
            </a:r>
            <a:r>
              <a:rPr sz="1100" i="1" spc="-130" dirty="0">
                <a:latin typeface="Arial"/>
                <a:cs typeface="Arial"/>
              </a:rPr>
              <a:t>Y</a:t>
            </a:r>
            <a:r>
              <a:rPr sz="1100" i="1" spc="-135" dirty="0">
                <a:latin typeface="Arial"/>
                <a:cs typeface="Arial"/>
              </a:rPr>
              <a:t> </a:t>
            </a:r>
            <a:r>
              <a:rPr sz="1100" i="1" spc="-20" dirty="0">
                <a:latin typeface="Meiryo"/>
                <a:cs typeface="Meiryo"/>
              </a:rPr>
              <a:t>|</a:t>
            </a:r>
            <a:r>
              <a:rPr sz="1100" i="1" spc="-20" dirty="0">
                <a:latin typeface="Arial"/>
                <a:cs typeface="Arial"/>
              </a:rPr>
              <a:t>cos</a:t>
            </a:r>
            <a:r>
              <a:rPr sz="1100" i="1" spc="-20" dirty="0">
                <a:latin typeface="Times New Roman"/>
                <a:cs typeface="Times New Roman"/>
              </a:rPr>
              <a:t>θ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100" dirty="0">
                <a:latin typeface="Arial"/>
                <a:cs typeface="Arial"/>
              </a:rPr>
              <a:t>Here,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between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Arial"/>
                <a:cs typeface="Arial"/>
              </a:rPr>
              <a:t>cosine</a:t>
            </a:r>
            <a:r>
              <a:rPr sz="11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similarity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marR="560070">
              <a:lnSpc>
                <a:spcPct val="102600"/>
              </a:lnSpc>
              <a:spcBef>
                <a:spcPts val="630"/>
              </a:spcBef>
            </a:pP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dirty="0">
                <a:latin typeface="Arial"/>
                <a:cs typeface="Arial"/>
              </a:rPr>
              <a:t>=0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cos</a:t>
            </a:r>
            <a:r>
              <a:rPr sz="1100" i="1" dirty="0">
                <a:latin typeface="Times New Roman"/>
                <a:cs typeface="Times New Roman"/>
              </a:rPr>
              <a:t>θ</a:t>
            </a:r>
            <a:r>
              <a:rPr sz="1100" dirty="0">
                <a:latin typeface="Arial"/>
                <a:cs typeface="Arial"/>
              </a:rPr>
              <a:t>=1),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similar,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otherwise </a:t>
            </a:r>
            <a:r>
              <a:rPr sz="1100" dirty="0">
                <a:latin typeface="Arial"/>
                <a:cs typeface="Arial"/>
              </a:rPr>
              <a:t>orthogonal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dissimilar.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949286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409115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96872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120696"/>
            <a:ext cx="76809" cy="768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701772"/>
            <a:ext cx="76809" cy="768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953524"/>
            <a:ext cx="76809" cy="7680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616" y="68894"/>
            <a:ext cx="1431796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4207B21-0BFC-4282-81DD-7B157FE57D8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117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2914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557236"/>
            <a:ext cx="4130040" cy="24968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9334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Analogously,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tuples,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regarded</a:t>
            </a:r>
            <a:r>
              <a:rPr sz="1100" spc="-25" dirty="0">
                <a:latin typeface="Arial"/>
                <a:cs typeface="Arial"/>
              </a:rPr>
              <a:t> as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8100" marR="125095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Again,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0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, </a:t>
            </a:r>
            <a:r>
              <a:rPr sz="1100" spc="-10" dirty="0">
                <a:latin typeface="Arial"/>
                <a:cs typeface="Arial"/>
              </a:rPr>
              <a:t>respectively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space;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thus,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also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regarded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indeed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important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revelation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basic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idea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behind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trick.</a:t>
            </a:r>
            <a:endParaRPr sz="1100">
              <a:latin typeface="Arial"/>
              <a:cs typeface="Arial"/>
            </a:endParaRPr>
          </a:p>
          <a:p>
            <a:pPr marL="38100" marR="30480">
              <a:lnSpc>
                <a:spcPct val="102600"/>
              </a:lnSpc>
              <a:spcBef>
                <a:spcPts val="1150"/>
              </a:spcBef>
            </a:pPr>
            <a:r>
              <a:rPr sz="1100" spc="-25" dirty="0">
                <a:latin typeface="Arial"/>
                <a:cs typeface="Arial"/>
              </a:rPr>
              <a:t>Now,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naturally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question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arises,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measures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similarity,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 </a:t>
            </a:r>
            <a:r>
              <a:rPr sz="1100" dirty="0">
                <a:latin typeface="Arial"/>
                <a:cs typeface="Arial"/>
              </a:rPr>
              <a:t>what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correlation between them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).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85"/>
              </a:spcBef>
            </a:pPr>
            <a:r>
              <a:rPr sz="1100" dirty="0">
                <a:latin typeface="Arial"/>
                <a:cs typeface="Arial"/>
              </a:rPr>
              <a:t>Let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answer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question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through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119251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53514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43619"/>
            <a:ext cx="76809" cy="768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933725"/>
            <a:ext cx="76809" cy="7680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26" y="212491"/>
            <a:ext cx="1605344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14086A24-1727-4711-B68E-C3871AA772B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118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88529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444" y="586915"/>
            <a:ext cx="4201795" cy="69405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Correlation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spc="-15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i="1" spc="-15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1200" i="1" spc="322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i="1" spc="-15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)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1200" i="1" spc="-142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0000FF"/>
                </a:solidFill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314960" marR="30480">
              <a:lnSpc>
                <a:spcPct val="102699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Without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generality,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consider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situation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stated below.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6827" y="1412975"/>
            <a:ext cx="12979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510" algn="l"/>
                <a:tab pos="727075" algn="l"/>
                <a:tab pos="1228090" algn="l"/>
              </a:tabLst>
            </a:pP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3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4327" y="1307324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52482" y="1455801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31735" y="1432850"/>
            <a:ext cx="2759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20265" algn="l"/>
              </a:tabLst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20" dirty="0">
                <a:latin typeface="Arial"/>
                <a:cs typeface="Arial"/>
              </a:rPr>
              <a:t> 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7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100" i="1" spc="120" dirty="0">
                <a:latin typeface="Arial"/>
                <a:cs typeface="Arial"/>
              </a:rPr>
              <a:t> 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5" dirty="0">
                <a:latin typeface="Arial"/>
                <a:cs typeface="Arial"/>
              </a:rPr>
              <a:t> 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7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5" dirty="0">
                <a:latin typeface="Arial"/>
                <a:cs typeface="Arial"/>
              </a:rPr>
              <a:t> 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7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85" dirty="0">
                <a:latin typeface="Arial"/>
                <a:cs typeface="Arial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70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80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3242" y="1506447"/>
            <a:ext cx="1859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39115" algn="l"/>
                <a:tab pos="899160" algn="l"/>
                <a:tab pos="1285240" algn="l"/>
                <a:tab pos="1764664" algn="l"/>
              </a:tabLst>
            </a:pP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1</a:t>
            </a:r>
            <a:r>
              <a:rPr sz="1200" spc="540" baseline="6944" dirty="0">
                <a:latin typeface="Arial"/>
                <a:cs typeface="Arial"/>
              </a:rPr>
              <a:t> </a:t>
            </a:r>
            <a:r>
              <a:rPr sz="1200" spc="-75" baseline="6944" dirty="0">
                <a:latin typeface="Arial"/>
                <a:cs typeface="Arial"/>
              </a:rPr>
              <a:t>2</a:t>
            </a:r>
            <a:r>
              <a:rPr sz="1200" baseline="6944" dirty="0">
                <a:latin typeface="Arial"/>
                <a:cs typeface="Arial"/>
              </a:rPr>
              <a:t>	</a:t>
            </a:r>
            <a:r>
              <a:rPr sz="1200" spc="-75" baseline="6944" dirty="0">
                <a:latin typeface="Arial"/>
                <a:cs typeface="Arial"/>
              </a:rPr>
              <a:t>3</a:t>
            </a:r>
            <a:endParaRPr sz="1200" baseline="6944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0430" y="1432850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(40)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59077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7532" y="1687168"/>
            <a:ext cx="395033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Suppose,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[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i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]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7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[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j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]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-25" dirty="0">
                <a:latin typeface="Arial"/>
                <a:cs typeface="Arial"/>
              </a:rPr>
              <a:t>R</a:t>
            </a:r>
            <a:r>
              <a:rPr sz="1200" spc="-37" baseline="27777" dirty="0">
                <a:latin typeface="Arial"/>
                <a:cs typeface="Arial"/>
              </a:rPr>
              <a:t>2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249182"/>
            <a:ext cx="76809" cy="768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20304" y="2240012"/>
            <a:ext cx="482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8729" y="216432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1070" y="2058503"/>
            <a:ext cx="140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89213" y="2206980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61311" y="2240012"/>
            <a:ext cx="314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00490" y="216432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5711" y="2259620"/>
            <a:ext cx="99504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4080" algn="l"/>
              </a:tabLst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932" y="2177274"/>
            <a:ext cx="2513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85900" algn="l"/>
              </a:tabLst>
            </a:pPr>
            <a:r>
              <a:rPr sz="1100" spc="-10" dirty="0">
                <a:latin typeface="Arial"/>
                <a:cs typeface="Arial"/>
              </a:rPr>
              <a:t>Similarly,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]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0198" y="2246031"/>
            <a:ext cx="2832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-38194" dirty="0">
                <a:latin typeface="Arial"/>
                <a:cs typeface="Arial"/>
              </a:rPr>
              <a:t>2</a:t>
            </a:r>
            <a:r>
              <a:rPr sz="1200" spc="667" baseline="-38194" dirty="0">
                <a:latin typeface="Arial"/>
                <a:cs typeface="Arial"/>
              </a:rPr>
              <a:t> </a:t>
            </a:r>
            <a:r>
              <a:rPr sz="1100" i="1" spc="16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00683" y="2394508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11959" y="235184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7532" y="2330701"/>
            <a:ext cx="4046854" cy="4267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9"/>
              </a:spcBef>
              <a:tabLst>
                <a:tab pos="922655" algn="l"/>
              </a:tabLst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[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24305" dirty="0">
                <a:latin typeface="Arial"/>
                <a:cs typeface="Arial"/>
              </a:rPr>
              <a:t>j</a:t>
            </a:r>
            <a:r>
              <a:rPr sz="1200" i="1" spc="-225" baseline="-24305" dirty="0">
                <a:latin typeface="Arial"/>
                <a:cs typeface="Arial"/>
              </a:rPr>
              <a:t> </a:t>
            </a:r>
            <a:r>
              <a:rPr sz="1200" spc="-37" baseline="-24305" dirty="0">
                <a:latin typeface="Arial"/>
                <a:cs typeface="Arial"/>
              </a:rPr>
              <a:t>1</a:t>
            </a:r>
            <a:r>
              <a:rPr sz="1100" i="1" spc="-25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24305" dirty="0">
                <a:latin typeface="Arial"/>
                <a:cs typeface="Arial"/>
              </a:rPr>
              <a:t>j</a:t>
            </a:r>
            <a:r>
              <a:rPr sz="1200" i="1" spc="-225" baseline="-24305" dirty="0">
                <a:latin typeface="Arial"/>
                <a:cs typeface="Arial"/>
              </a:rPr>
              <a:t> </a:t>
            </a:r>
            <a:r>
              <a:rPr sz="1200" baseline="-24305" dirty="0">
                <a:latin typeface="Arial"/>
                <a:cs typeface="Arial"/>
              </a:rPr>
              <a:t>2</a:t>
            </a:r>
            <a:r>
              <a:rPr sz="1100" dirty="0">
                <a:latin typeface="Lucida Sans Unicode"/>
                <a:cs typeface="Lucida Sans Unicode"/>
              </a:rPr>
              <a:t>]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are two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dirty="0">
                <a:latin typeface="Arial"/>
                <a:cs typeface="Arial"/>
              </a:rPr>
              <a:t> version of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54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200" spc="-37" baseline="27777" dirty="0">
                <a:latin typeface="Arial"/>
                <a:cs typeface="Arial"/>
              </a:rPr>
              <a:t>3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31099"/>
            <a:ext cx="1600150" cy="2734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9F49FD45-5B9E-4BFA-B9A1-6D2D9A660C3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0" name="Footer Placeholder 3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119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62076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444" y="360461"/>
            <a:ext cx="3411220" cy="52197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Example:</a:t>
            </a:r>
            <a:r>
              <a:rPr sz="1100" b="1" spc="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Correlation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spc="-15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i="1" spc="-15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1200" i="1" spc="322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1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1200" i="1" spc="-150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)</a:t>
            </a:r>
            <a:r>
              <a:rPr sz="1100" b="1" dirty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r>
              <a:rPr sz="1100" i="1" dirty="0">
                <a:solidFill>
                  <a:srgbClr val="0000FF"/>
                </a:solidFill>
                <a:latin typeface="Times New Roman"/>
                <a:cs typeface="Times New Roman"/>
              </a:rPr>
              <a:t>φ</a:t>
            </a:r>
            <a:r>
              <a:rPr sz="1100" dirty="0">
                <a:solidFill>
                  <a:srgbClr val="0000FF"/>
                </a:solidFill>
                <a:latin typeface="Lucida Sans Unicode"/>
                <a:cs typeface="Lucida Sans Unicode"/>
              </a:rPr>
              <a:t>(</a:t>
            </a:r>
            <a:r>
              <a:rPr sz="1100" i="1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200" i="1" baseline="-13888" dirty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1200" i="1" spc="-142" baseline="-1388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0000FF"/>
                </a:solidFill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314960">
              <a:lnSpc>
                <a:spcPct val="100000"/>
              </a:lnSpc>
              <a:spcBef>
                <a:spcPts val="630"/>
              </a:spcBef>
            </a:pPr>
            <a:r>
              <a:rPr sz="1100" spc="-20" dirty="0">
                <a:latin typeface="Arial"/>
                <a:cs typeface="Arial"/>
              </a:rPr>
              <a:t>Now,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5829" y="1124190"/>
            <a:ext cx="9080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96240" algn="l"/>
                <a:tab pos="781685" algn="l"/>
              </a:tabLst>
            </a:pPr>
            <a:r>
              <a:rPr sz="1200" i="1" spc="-75" baseline="6944" dirty="0">
                <a:latin typeface="Arial"/>
                <a:cs typeface="Arial"/>
              </a:rPr>
              <a:t>i</a:t>
            </a:r>
            <a:r>
              <a:rPr sz="1200" i="1" baseline="6944" dirty="0">
                <a:latin typeface="Arial"/>
                <a:cs typeface="Arial"/>
              </a:rPr>
              <a:t>	</a:t>
            </a:r>
            <a:r>
              <a:rPr sz="1200" i="1" spc="-75" baseline="6944" dirty="0">
                <a:latin typeface="Arial"/>
                <a:cs typeface="Arial"/>
              </a:rPr>
              <a:t>j</a:t>
            </a:r>
            <a:r>
              <a:rPr sz="1200" i="1" baseline="6944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6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8837" y="1071715"/>
            <a:ext cx="77470" cy="0"/>
          </a:xfrm>
          <a:custGeom>
            <a:avLst/>
            <a:gdLst/>
            <a:ahLst/>
            <a:cxnLst/>
            <a:rect l="l" t="t" r="r" b="b"/>
            <a:pathLst>
              <a:path w="77469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00934" y="1111515"/>
            <a:ext cx="314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113" y="1028902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7095" y="1124190"/>
            <a:ext cx="1130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2388" y="1048777"/>
            <a:ext cx="20142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56030" algn="l"/>
              </a:tabLst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 </a:t>
            </a:r>
            <a:r>
              <a:rPr sz="1100" i="1" spc="-50" dirty="0">
                <a:latin typeface="Times New Roman"/>
                <a:cs typeface="Times New Roman"/>
              </a:rPr>
              <a:t>,</a:t>
            </a:r>
            <a:r>
              <a:rPr sz="1100" i="1" dirty="0">
                <a:latin typeface="Times New Roman"/>
                <a:cs typeface="Times New Roman"/>
              </a:rPr>
              <a:t>	</a:t>
            </a: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4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]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83991" y="728737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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3991" y="972577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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3991" y="1061248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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8720" y="807007"/>
            <a:ext cx="2152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-20202" dirty="0">
                <a:latin typeface="Arial"/>
                <a:cs typeface="Arial"/>
              </a:rPr>
              <a:t>x</a:t>
            </a:r>
            <a:r>
              <a:rPr sz="1650" i="1" spc="-307" baseline="-20202" dirty="0">
                <a:latin typeface="Arial"/>
                <a:cs typeface="Arial"/>
              </a:rPr>
              <a:t> </a:t>
            </a:r>
            <a:r>
              <a:rPr sz="800" spc="-6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23399" y="939621"/>
            <a:ext cx="1130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58352" y="934490"/>
            <a:ext cx="12592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30300" algn="l"/>
              </a:tabLst>
            </a:pPr>
            <a:r>
              <a:rPr sz="1200" baseline="-31250" dirty="0">
                <a:latin typeface="Arial"/>
                <a:cs typeface="Arial"/>
              </a:rPr>
              <a:t>2</a:t>
            </a:r>
            <a:r>
              <a:rPr sz="1200" spc="667" baseline="-31250" dirty="0">
                <a:latin typeface="Arial"/>
                <a:cs typeface="Arial"/>
              </a:rPr>
              <a:t> </a:t>
            </a:r>
            <a:r>
              <a:rPr sz="1650" i="1" spc="240" baseline="5050" dirty="0">
                <a:latin typeface="Meiryo"/>
                <a:cs typeface="Meiryo"/>
              </a:rPr>
              <a:t>√</a:t>
            </a:r>
            <a:r>
              <a:rPr sz="1650" i="1" baseline="5050" dirty="0">
                <a:latin typeface="Meiryo"/>
                <a:cs typeface="Meiryo"/>
              </a:rPr>
              <a:t>	</a:t>
            </a:r>
            <a:r>
              <a:rPr sz="1100" i="1" spc="170" dirty="0">
                <a:latin typeface="Meiryo"/>
                <a:cs typeface="Meiryo"/>
              </a:rPr>
              <a:t>√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04501" y="1082954"/>
            <a:ext cx="77470" cy="0"/>
          </a:xfrm>
          <a:custGeom>
            <a:avLst/>
            <a:gdLst/>
            <a:ahLst/>
            <a:cxnLst/>
            <a:rect l="l" t="t" r="r" b="b"/>
            <a:pathLst>
              <a:path w="77470">
                <a:moveTo>
                  <a:pt x="0" y="0"/>
                </a:moveTo>
                <a:lnTo>
                  <a:pt x="77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91801" y="1053247"/>
            <a:ext cx="3352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1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38106" y="1115985"/>
            <a:ext cx="276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</a:t>
            </a:r>
            <a:r>
              <a:rPr sz="800" spc="375" dirty="0">
                <a:latin typeface="Arial"/>
                <a:cs typeface="Arial"/>
              </a:rPr>
              <a:t> </a:t>
            </a: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4120" y="122646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3399" y="1213509"/>
            <a:ext cx="113030" cy="24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855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855"/>
              </a:lnSpc>
            </a:pP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4938" y="728737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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94938" y="972577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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4938" y="1061248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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7388" y="1572055"/>
            <a:ext cx="2051685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96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-37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337" baseline="312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32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20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"/>
                <a:cs typeface="Arial"/>
              </a:rPr>
              <a:t>2</a:t>
            </a:r>
            <a:r>
              <a:rPr sz="1200" spc="-30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200" spc="-75" baseline="31250" dirty="0">
                <a:latin typeface="Arial"/>
                <a:cs typeface="Arial"/>
              </a:rPr>
              <a:t>2</a:t>
            </a:r>
            <a:endParaRPr sz="1200" baseline="31250">
              <a:latin typeface="Arial"/>
              <a:cs typeface="Arial"/>
            </a:endParaRPr>
          </a:p>
          <a:p>
            <a:pPr marL="278765">
              <a:lnSpc>
                <a:spcPts val="600"/>
              </a:lnSpc>
              <a:tabLst>
                <a:tab pos="1711325" algn="l"/>
              </a:tabLst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2</a:t>
            </a:r>
            <a:r>
              <a:rPr sz="800" spc="225" dirty="0">
                <a:latin typeface="Arial"/>
                <a:cs typeface="Arial"/>
              </a:rPr>
              <a:t>  </a:t>
            </a: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 marL="12065" algn="ctr">
              <a:lnSpc>
                <a:spcPct val="100000"/>
              </a:lnSpc>
              <a:spcBef>
                <a:spcPts val="645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17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5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+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225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217" baseline="-13888" dirty="0">
                <a:latin typeface="Arial"/>
                <a:cs typeface="Arial"/>
              </a:rPr>
              <a:t> 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200" spc="-37" baseline="31250" dirty="0">
                <a:latin typeface="Arial"/>
                <a:cs typeface="Arial"/>
              </a:rPr>
              <a:t>2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0907" y="2534867"/>
            <a:ext cx="337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854" algn="l"/>
              </a:tabLst>
            </a:pP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1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800" i="1" spc="-10" dirty="0">
                <a:latin typeface="Arial"/>
                <a:cs typeface="Arial"/>
              </a:rPr>
              <a:t>i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56092" y="2472130"/>
            <a:ext cx="708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{</a:t>
            </a:r>
            <a:r>
              <a:rPr sz="1100" dirty="0">
                <a:latin typeface="Lucida Sans Unicode"/>
                <a:cs typeface="Lucida Sans Unicode"/>
              </a:rPr>
              <a:t>[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5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6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]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35542" y="238587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610142" y="2583356"/>
            <a:ext cx="233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5" baseline="10101" dirty="0">
                <a:latin typeface="Arial"/>
                <a:cs typeface="Arial"/>
              </a:rPr>
              <a:t>x</a:t>
            </a:r>
            <a:r>
              <a:rPr sz="800" i="1" spc="-10" dirty="0">
                <a:latin typeface="Arial"/>
                <a:cs typeface="Arial"/>
              </a:rPr>
              <a:t>j</a:t>
            </a:r>
            <a:r>
              <a:rPr sz="800" i="1" spc="-145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62428" y="2276778"/>
            <a:ext cx="334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8285" algn="l"/>
              </a:tabLst>
            </a:pPr>
            <a:r>
              <a:rPr sz="1100" dirty="0">
                <a:latin typeface="Trebuchet MS"/>
                <a:cs typeface="Trebuchet MS"/>
              </a:rPr>
              <a:t>	</a:t>
            </a:r>
            <a:r>
              <a:rPr sz="1100" spc="195" dirty="0">
                <a:latin typeface="Trebuchet MS"/>
                <a:cs typeface="Trebuchet MS"/>
              </a:rPr>
              <a:t>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71723" y="247213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14" dirty="0">
                <a:latin typeface="Meiryo"/>
                <a:cs typeface="Meiryo"/>
              </a:rPr>
              <a:t>}</a:t>
            </a:r>
            <a:endParaRPr sz="1100">
              <a:latin typeface="Meiryo"/>
              <a:cs typeface="Meiry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04820" y="2452254"/>
            <a:ext cx="3181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285" algn="l"/>
              </a:tabLst>
            </a:pPr>
            <a:r>
              <a:rPr sz="1200" i="1" spc="-15" baseline="3472" dirty="0">
                <a:latin typeface="Arial"/>
                <a:cs typeface="Arial"/>
              </a:rPr>
              <a:t>j</a:t>
            </a:r>
            <a:r>
              <a:rPr sz="1200" i="1" spc="-225" baseline="3472" dirty="0">
                <a:latin typeface="Arial"/>
                <a:cs typeface="Arial"/>
              </a:rPr>
              <a:t> </a:t>
            </a:r>
            <a:r>
              <a:rPr sz="1200" spc="-75" baseline="3472" dirty="0">
                <a:latin typeface="Arial"/>
                <a:cs typeface="Arial"/>
              </a:rPr>
              <a:t>1</a:t>
            </a:r>
            <a:r>
              <a:rPr sz="1200" baseline="3472" dirty="0">
                <a:latin typeface="Arial"/>
                <a:cs typeface="Arial"/>
              </a:rPr>
              <a:t>	</a:t>
            </a: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96985" y="2898519"/>
            <a:ext cx="6851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200" spc="-37" baseline="31250" dirty="0">
                <a:latin typeface="Arial"/>
                <a:cs typeface="Arial"/>
              </a:rPr>
              <a:t>2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88361" y="324219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8744" y="323823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86546" y="323823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75863" y="3229352"/>
            <a:ext cx="203200" cy="55880"/>
            <a:chOff x="3275863" y="322935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39032" y="323188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5863" y="323823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42982" y="3228087"/>
            <a:ext cx="203200" cy="58419"/>
            <a:chOff x="3542982" y="322808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31883" y="324458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42982" y="323823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19183" y="323188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10101" y="3228087"/>
            <a:ext cx="203200" cy="58419"/>
            <a:chOff x="3810101" y="322808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86302" y="323188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101" y="323823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86302" y="326998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53434" y="323188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326582" y="3229352"/>
            <a:ext cx="238760" cy="57150"/>
            <a:chOff x="4326582" y="322935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6236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3969" y="32358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29112" y="323188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0" y="0"/>
            <a:ext cx="4608195" cy="549275"/>
          </a:xfrm>
          <a:custGeom>
            <a:avLst/>
            <a:gdLst/>
            <a:ahLst/>
            <a:cxnLst/>
            <a:rect l="l" t="t" r="r" b="b"/>
            <a:pathLst>
              <a:path w="4608195" h="549275">
                <a:moveTo>
                  <a:pt x="4608004" y="0"/>
                </a:moveTo>
                <a:lnTo>
                  <a:pt x="0" y="0"/>
                </a:lnTo>
                <a:lnTo>
                  <a:pt x="0" y="549236"/>
                </a:lnTo>
                <a:lnTo>
                  <a:pt x="4608004" y="54923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69900" y="45565"/>
            <a:ext cx="3603625" cy="471805"/>
          </a:xfrm>
          <a:prstGeom prst="rect">
            <a:avLst/>
          </a:prstGeom>
        </p:spPr>
        <p:txBody>
          <a:bodyPr vert="horz" wrap="square" lIns="0" tIns="17145" rIns="0" bIns="0" rtlCol="0">
            <a:normAutofit fontScale="90000"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Trick</a:t>
            </a:r>
            <a:r>
              <a:rPr spc="65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dirty="0"/>
              <a:t>Correlation</a:t>
            </a:r>
            <a:r>
              <a:rPr spc="65" dirty="0"/>
              <a:t> </a:t>
            </a:r>
            <a:r>
              <a:rPr dirty="0"/>
              <a:t>between</a:t>
            </a:r>
            <a:r>
              <a:rPr spc="6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sz="1500" i="1" baseline="-13888" dirty="0">
                <a:latin typeface="Arial"/>
                <a:cs typeface="Arial"/>
              </a:rPr>
              <a:t>i</a:t>
            </a:r>
            <a:r>
              <a:rPr sz="1400" i="1" dirty="0">
                <a:latin typeface="Georgia"/>
                <a:cs typeface="Georgia"/>
              </a:rPr>
              <a:t>.</a:t>
            </a:r>
            <a:r>
              <a:rPr sz="1400" i="1" dirty="0">
                <a:latin typeface="Arial"/>
                <a:cs typeface="Arial"/>
              </a:rPr>
              <a:t>X</a:t>
            </a:r>
            <a:r>
              <a:rPr sz="1500" i="1" baseline="-13888" dirty="0">
                <a:latin typeface="Arial"/>
                <a:cs typeface="Arial"/>
              </a:rPr>
              <a:t>j</a:t>
            </a:r>
            <a:r>
              <a:rPr sz="1500" i="1" spc="494" baseline="-13888" dirty="0">
                <a:latin typeface="Arial"/>
                <a:cs typeface="Arial"/>
              </a:rPr>
              <a:t> </a:t>
            </a:r>
            <a:r>
              <a:rPr sz="1400" spc="-25" dirty="0"/>
              <a:t>and</a:t>
            </a:r>
            <a:endParaRPr sz="14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i="1" spc="-45" dirty="0">
                <a:latin typeface="Georgia"/>
                <a:cs typeface="Georgia"/>
              </a:rPr>
              <a:t>φ</a:t>
            </a:r>
            <a:r>
              <a:rPr spc="-45" dirty="0">
                <a:latin typeface="Tahoma"/>
                <a:cs typeface="Tahoma"/>
              </a:rPr>
              <a:t>(</a:t>
            </a:r>
            <a:r>
              <a:rPr i="1" spc="-45" dirty="0">
                <a:latin typeface="Arial"/>
                <a:cs typeface="Arial"/>
              </a:rPr>
              <a:t>X</a:t>
            </a:r>
            <a:r>
              <a:rPr sz="1500" i="1" spc="-67" baseline="-13888" dirty="0">
                <a:latin typeface="Arial"/>
                <a:cs typeface="Arial"/>
              </a:rPr>
              <a:t>i</a:t>
            </a:r>
            <a:r>
              <a:rPr sz="1500" i="1" spc="-165" baseline="-13888" dirty="0">
                <a:latin typeface="Arial"/>
                <a:cs typeface="Arial"/>
              </a:rPr>
              <a:t> </a:t>
            </a:r>
            <a:r>
              <a:rPr sz="1400" spc="-30" dirty="0">
                <a:latin typeface="Tahoma"/>
                <a:cs typeface="Tahoma"/>
              </a:rPr>
              <a:t>)</a:t>
            </a:r>
            <a:r>
              <a:rPr sz="1400" spc="-30" dirty="0"/>
              <a:t>.</a:t>
            </a:r>
            <a:r>
              <a:rPr sz="1400" i="1" spc="-30" dirty="0">
                <a:latin typeface="Georgia"/>
                <a:cs typeface="Georgia"/>
              </a:rPr>
              <a:t>φ</a:t>
            </a:r>
            <a:r>
              <a:rPr sz="1400" spc="-30" dirty="0">
                <a:latin typeface="Tahoma"/>
                <a:cs typeface="Tahoma"/>
              </a:rPr>
              <a:t>(</a:t>
            </a:r>
            <a:r>
              <a:rPr sz="1400" i="1" spc="-30" dirty="0">
                <a:latin typeface="Arial"/>
                <a:cs typeface="Arial"/>
              </a:rPr>
              <a:t>X</a:t>
            </a:r>
            <a:r>
              <a:rPr sz="1500" i="1" spc="-44" baseline="-13888" dirty="0">
                <a:latin typeface="Arial"/>
                <a:cs typeface="Arial"/>
              </a:rPr>
              <a:t>j</a:t>
            </a:r>
            <a:r>
              <a:rPr sz="1500" i="1" spc="-165" baseline="-13888" dirty="0">
                <a:latin typeface="Arial"/>
                <a:cs typeface="Arial"/>
              </a:rPr>
              <a:t> </a:t>
            </a:r>
            <a:r>
              <a:rPr sz="1400" spc="-50" dirty="0">
                <a:latin typeface="Tahoma"/>
                <a:cs typeface="Tahoma"/>
              </a:rPr>
              <a:t>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A5A21A6-8679-4A43-BC7B-673367E6F3DD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36" name="Footer Placeholder 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120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44791"/>
            <a:ext cx="76809" cy="768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352132" y="672883"/>
            <a:ext cx="4180840" cy="2573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reference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conclude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correlated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2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63500" marR="91440">
              <a:lnSpc>
                <a:spcPct val="102600"/>
              </a:lnSpc>
              <a:spcBef>
                <a:spcPts val="81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general,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feature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their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feature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vectors.</a:t>
            </a:r>
            <a:endParaRPr sz="1100" dirty="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844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beyond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scope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course.</a:t>
            </a:r>
            <a:endParaRPr sz="1100" dirty="0">
              <a:latin typeface="Arial"/>
              <a:cs typeface="Arial"/>
            </a:endParaRPr>
          </a:p>
          <a:p>
            <a:pPr marL="63500" marR="251460">
              <a:lnSpc>
                <a:spcPct val="102600"/>
              </a:lnSpc>
              <a:spcBef>
                <a:spcPts val="815"/>
              </a:spcBef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specifically,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correlation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original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 data.</a:t>
            </a:r>
            <a:endParaRPr sz="1100" dirty="0">
              <a:latin typeface="Arial"/>
              <a:cs typeface="Arial"/>
            </a:endParaRPr>
          </a:p>
          <a:p>
            <a:pPr marL="63500" marR="547370">
              <a:lnSpc>
                <a:spcPct val="102699"/>
              </a:lnSpc>
              <a:spcBef>
                <a:spcPts val="815"/>
              </a:spcBef>
            </a:pPr>
            <a:r>
              <a:rPr sz="1100" dirty="0">
                <a:latin typeface="Arial"/>
                <a:cs typeface="Arial"/>
              </a:rPr>
              <a:t>Based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above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discussion,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 implications.</a:t>
            </a:r>
            <a:endParaRPr sz="1100" dirty="0">
              <a:latin typeface="Arial"/>
              <a:cs typeface="Arial"/>
            </a:endParaRPr>
          </a:p>
          <a:p>
            <a:pPr marL="1115695">
              <a:lnSpc>
                <a:spcPct val="100000"/>
              </a:lnSpc>
              <a:spcBef>
                <a:spcPts val="35"/>
              </a:spcBef>
              <a:tabLst>
                <a:tab pos="3870325" algn="l"/>
              </a:tabLst>
            </a:pP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39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20" dirty="0">
                <a:latin typeface="Meiryo"/>
                <a:cs typeface="Meiryo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27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Meiryo"/>
                <a:cs typeface="Meiryo"/>
              </a:rPr>
              <a:t>⇒</a:t>
            </a:r>
            <a:r>
              <a:rPr sz="1100" i="1" spc="-25" dirty="0">
                <a:latin typeface="Meiryo"/>
                <a:cs typeface="Meiryo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2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27" baseline="-13888" dirty="0">
                <a:latin typeface="Arial"/>
                <a:cs typeface="Arial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spc="-20" dirty="0">
                <a:latin typeface="Arial"/>
                <a:cs typeface="Arial"/>
              </a:rPr>
              <a:t>(41)</a:t>
            </a:r>
            <a:endParaRPr sz="1100" dirty="0">
              <a:latin typeface="Arial"/>
              <a:cs typeface="Arial"/>
            </a:endParaRPr>
          </a:p>
          <a:p>
            <a:pPr marL="62865" marR="118110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Here,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6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denotes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popularly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kernel function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92276"/>
            <a:ext cx="76809" cy="7680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639747"/>
            <a:ext cx="76809" cy="7680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915160"/>
            <a:ext cx="76809" cy="7680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362631"/>
            <a:ext cx="76809" cy="7680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954477"/>
            <a:ext cx="76809" cy="7680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 </a:t>
            </a:r>
            <a:r>
              <a:rPr spc="-10" dirty="0"/>
              <a:t>Trick</a:t>
            </a:r>
            <a:r>
              <a:rPr dirty="0"/>
              <a:t> :</a:t>
            </a:r>
            <a:r>
              <a:rPr spc="95" dirty="0"/>
              <a:t> </a:t>
            </a:r>
            <a:r>
              <a:rPr spc="-10" dirty="0"/>
              <a:t>Significance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F9300A8-B746-4B65-8410-3E3E4A410878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121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480491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392631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1559394"/>
            <a:ext cx="61874" cy="618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7532" y="408595"/>
            <a:ext cx="4022090" cy="15570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1239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physically </a:t>
            </a:r>
            <a:r>
              <a:rPr sz="1100" dirty="0">
                <a:latin typeface="Arial"/>
                <a:cs typeface="Arial"/>
              </a:rPr>
              <a:t>implies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(i.e.,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nonlinear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measure)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using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original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words,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similarity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whether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original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space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ts val="1310"/>
              </a:lnSpc>
              <a:spcBef>
                <a:spcPts val="445"/>
              </a:spcBef>
            </a:pPr>
            <a:r>
              <a:rPr sz="1100" b="1" dirty="0">
                <a:latin typeface="Arial"/>
                <a:cs typeface="Arial"/>
              </a:rPr>
              <a:t>Implicit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transformation</a:t>
            </a:r>
            <a:endParaRPr sz="1100">
              <a:latin typeface="Arial"/>
              <a:cs typeface="Arial"/>
            </a:endParaRPr>
          </a:p>
          <a:p>
            <a:pPr marL="314960" marR="30480" algn="just">
              <a:lnSpc>
                <a:spcPts val="1200"/>
              </a:lnSpc>
              <a:spcBef>
                <a:spcPts val="25"/>
              </a:spcBef>
            </a:pP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first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foremost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significance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not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require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any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i="1" spc="-50" dirty="0">
                <a:latin typeface="Times New Roman"/>
                <a:cs typeface="Times New Roman"/>
              </a:rPr>
              <a:t>φ</a:t>
            </a:r>
            <a:r>
              <a:rPr sz="1000" i="1" spc="-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Arial"/>
                <a:cs typeface="Arial"/>
              </a:rPr>
              <a:t>transformation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original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input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data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all.</a:t>
            </a:r>
            <a:r>
              <a:rPr sz="1000" spc="4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evident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from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following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re-</a:t>
            </a:r>
            <a:r>
              <a:rPr sz="1000" dirty="0">
                <a:latin typeface="Arial"/>
                <a:cs typeface="Arial"/>
              </a:rPr>
              <a:t>writing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our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classification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problem.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4945" y="2123290"/>
            <a:ext cx="749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8917" y="2123280"/>
            <a:ext cx="2082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135" dirty="0">
                <a:latin typeface="Trebuchet MS"/>
                <a:cs typeface="Trebuchet MS"/>
              </a:rPr>
              <a:t>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5440" y="2436104"/>
            <a:ext cx="175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6578" y="2301852"/>
            <a:ext cx="5029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5735" algn="l"/>
                <a:tab pos="469900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4957" y="2243485"/>
            <a:ext cx="2329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20165" algn="l"/>
              </a:tabLst>
            </a:pPr>
            <a:r>
              <a:rPr sz="1000" i="1" dirty="0">
                <a:latin typeface="Arial"/>
                <a:cs typeface="Arial"/>
              </a:rPr>
              <a:t>Classifier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:</a:t>
            </a:r>
            <a:r>
              <a:rPr sz="1000" spc="23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δ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45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Lucida Sans Unicode"/>
                <a:cs typeface="Lucida Sans Unicode"/>
              </a:rPr>
              <a:t>=</a:t>
            </a:r>
            <a:r>
              <a:rPr sz="1000" dirty="0">
                <a:latin typeface="Lucida Sans Unicode"/>
                <a:cs typeface="Lucida Sans Unicode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35" dirty="0">
                <a:latin typeface="Times New Roman"/>
                <a:cs typeface="Times New Roman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3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70" dirty="0">
                <a:latin typeface="Times New Roman"/>
                <a:cs typeface="Times New Roman"/>
              </a:rPr>
              <a:t> 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)</a:t>
            </a:r>
            <a:r>
              <a:rPr sz="1000" spc="-75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+</a:t>
            </a:r>
            <a:r>
              <a:rPr sz="1000" spc="-80" dirty="0">
                <a:latin typeface="Lucida Sans Unicode"/>
                <a:cs typeface="Lucida Sans Unicode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1792" y="2243485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"/>
                <a:cs typeface="Arial"/>
              </a:rPr>
              <a:t>(42)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9266" y="2707159"/>
            <a:ext cx="45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5781" y="2648793"/>
            <a:ext cx="1699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52245" algn="l"/>
              </a:tabLst>
            </a:pPr>
            <a:r>
              <a:rPr sz="1000" i="1" dirty="0">
                <a:latin typeface="Arial"/>
                <a:cs typeface="Arial"/>
              </a:rPr>
              <a:t>Learning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:</a:t>
            </a:r>
            <a:r>
              <a:rPr sz="1000" spc="200" dirty="0">
                <a:latin typeface="Lucida Sans Unicode"/>
                <a:cs typeface="Lucida Sans Unicode"/>
              </a:rPr>
              <a:t> </a:t>
            </a:r>
            <a:r>
              <a:rPr sz="1000" i="1" spc="-10" dirty="0">
                <a:latin typeface="Arial"/>
                <a:cs typeface="Arial"/>
              </a:rPr>
              <a:t>maximize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i="1" spc="145" dirty="0">
                <a:latin typeface="Times New Roman"/>
                <a:cs typeface="Times New Roman"/>
              </a:rPr>
              <a:t>λ</a:t>
            </a:r>
            <a:r>
              <a:rPr sz="1000" i="1" spc="235" dirty="0">
                <a:latin typeface="Times New Roman"/>
                <a:cs typeface="Times New Roman"/>
              </a:rPr>
              <a:t> </a:t>
            </a:r>
            <a:r>
              <a:rPr sz="1000" i="1" spc="-50" dirty="0">
                <a:latin typeface="Meiryo"/>
                <a:cs typeface="Meiryo"/>
              </a:rPr>
              <a:t>−</a:t>
            </a:r>
            <a:endParaRPr sz="1000">
              <a:latin typeface="Meiryo"/>
              <a:cs typeface="Meiry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62694" y="2563208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81618" y="2528600"/>
            <a:ext cx="79629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600075" algn="l"/>
              </a:tabLst>
            </a:pPr>
            <a:r>
              <a:rPr sz="1000" dirty="0">
                <a:latin typeface="Trebuchet MS"/>
                <a:cs typeface="Trebuchet MS"/>
              </a:rPr>
              <a:t>	 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47758" y="2648793"/>
            <a:ext cx="1069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spc="55" dirty="0">
                <a:latin typeface="Times New Roman"/>
                <a:cs typeface="Times New Roman"/>
              </a:rPr>
              <a:t>.λ</a:t>
            </a:r>
            <a:r>
              <a:rPr sz="1050" i="1" spc="82" baseline="-11904" dirty="0">
                <a:latin typeface="Arial"/>
                <a:cs typeface="Arial"/>
              </a:rPr>
              <a:t>j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Y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Y</a:t>
            </a:r>
            <a:r>
              <a:rPr sz="1050" i="1" spc="-15" baseline="-11904" dirty="0">
                <a:latin typeface="Arial"/>
                <a:cs typeface="Arial"/>
              </a:rPr>
              <a:t>j</a:t>
            </a:r>
            <a:r>
              <a:rPr sz="1050" i="1" spc="-9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K</a:t>
            </a:r>
            <a:r>
              <a:rPr sz="1000" i="1" spc="-120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50" i="1" baseline="-11904" dirty="0">
                <a:latin typeface="Arial"/>
                <a:cs typeface="Arial"/>
              </a:rPr>
              <a:t>j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spc="5" dirty="0">
                <a:latin typeface="Lucida Sans Unicode"/>
                <a:cs typeface="Lucida Sans Unicode"/>
              </a:rPr>
              <a:t>)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60041" y="2744725"/>
            <a:ext cx="848994" cy="3835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55"/>
              </a:spcBef>
              <a:tabLst>
                <a:tab pos="514984" algn="l"/>
              </a:tabLst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r>
              <a:rPr sz="700" dirty="0">
                <a:latin typeface="Arial"/>
                <a:cs typeface="Arial"/>
              </a:rPr>
              <a:t>	</a:t>
            </a:r>
            <a:r>
              <a:rPr sz="1500" baseline="30555" dirty="0">
                <a:latin typeface="Arial"/>
                <a:cs typeface="Arial"/>
              </a:rPr>
              <a:t>2</a:t>
            </a:r>
            <a:r>
              <a:rPr sz="1500" spc="585" baseline="30555" dirty="0">
                <a:latin typeface="Arial"/>
                <a:cs typeface="Arial"/>
              </a:rPr>
              <a:t> </a:t>
            </a: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b="0" i="1" spc="-25" dirty="0">
                <a:latin typeface="Postino Std"/>
                <a:cs typeface="Postino Std"/>
              </a:rPr>
              <a:t>,</a:t>
            </a:r>
            <a:r>
              <a:rPr sz="700" i="1" spc="-25" dirty="0">
                <a:latin typeface="Arial"/>
                <a:cs typeface="Arial"/>
              </a:rPr>
              <a:t>j</a:t>
            </a:r>
            <a:endParaRPr sz="700">
              <a:latin typeface="Arial"/>
              <a:cs typeface="Arial"/>
            </a:endParaRPr>
          </a:p>
          <a:p>
            <a:pPr marR="17780" algn="r">
              <a:lnSpc>
                <a:spcPct val="100000"/>
              </a:lnSpc>
              <a:spcBef>
                <a:spcPts val="32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1792" y="2648793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"/>
                <a:cs typeface="Arial"/>
              </a:rPr>
              <a:t>(43)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2638" y="3116610"/>
            <a:ext cx="2057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Subject</a:t>
            </a:r>
            <a:r>
              <a:rPr sz="1000" i="1" spc="8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to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270" baseline="-11904" dirty="0">
                <a:latin typeface="Arial"/>
                <a:cs typeface="Arial"/>
              </a:rPr>
              <a:t> </a:t>
            </a:r>
            <a:r>
              <a:rPr sz="1000" i="1" spc="-40" dirty="0">
                <a:latin typeface="Meiryo"/>
                <a:cs typeface="Meiryo"/>
              </a:rPr>
              <a:t>≥</a:t>
            </a:r>
            <a:r>
              <a:rPr sz="1000" i="1" spc="-65" dirty="0">
                <a:latin typeface="Meiryo"/>
                <a:cs typeface="Meiryo"/>
              </a:rPr>
              <a:t> </a:t>
            </a:r>
            <a:r>
              <a:rPr sz="1000" dirty="0">
                <a:latin typeface="Arial"/>
                <a:cs typeface="Arial"/>
              </a:rPr>
              <a:t>0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and</a:t>
            </a:r>
            <a:r>
              <a:rPr sz="1500" spc="600" baseline="52777" dirty="0">
                <a:latin typeface="Trebuchet MS"/>
                <a:cs typeface="Trebuchet MS"/>
              </a:rPr>
              <a:t>   </a:t>
            </a:r>
            <a:r>
              <a:rPr sz="1000" i="1" spc="70" dirty="0">
                <a:latin typeface="Times New Roman"/>
                <a:cs typeface="Times New Roman"/>
              </a:rPr>
              <a:t>λ</a:t>
            </a:r>
            <a:r>
              <a:rPr sz="1050" i="1" spc="104" baseline="-11904" dirty="0">
                <a:latin typeface="Arial"/>
                <a:cs typeface="Arial"/>
              </a:rPr>
              <a:t>i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Times New Roman"/>
                <a:cs typeface="Times New Roman"/>
              </a:rPr>
              <a:t>.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27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=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4525" y="3326104"/>
            <a:ext cx="149860" cy="109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05"/>
              </a:lnSpc>
            </a:pPr>
            <a:r>
              <a:rPr sz="700" i="1" spc="-10" dirty="0">
                <a:latin typeface="Arial"/>
                <a:cs typeface="Arial"/>
              </a:rPr>
              <a:t>i</a:t>
            </a:r>
            <a:r>
              <a:rPr sz="700" i="1" spc="-130" dirty="0">
                <a:latin typeface="Arial"/>
                <a:cs typeface="Arial"/>
              </a:rPr>
              <a:t> </a:t>
            </a:r>
            <a:r>
              <a:rPr sz="700" spc="-25" dirty="0">
                <a:latin typeface="Verdana"/>
                <a:cs typeface="Verdana"/>
              </a:rPr>
              <a:t>=</a:t>
            </a:r>
            <a:r>
              <a:rPr sz="700" spc="-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1858" y="3116610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"/>
                <a:cs typeface="Arial"/>
              </a:rPr>
              <a:t>(44)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 </a:t>
            </a:r>
            <a:r>
              <a:rPr spc="-10" dirty="0"/>
              <a:t>Trick</a:t>
            </a:r>
            <a:r>
              <a:rPr dirty="0"/>
              <a:t> :</a:t>
            </a:r>
            <a:r>
              <a:rPr spc="95" dirty="0"/>
              <a:t> </a:t>
            </a:r>
            <a:r>
              <a:rPr spc="-10" dirty="0"/>
              <a:t>Significance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D36A7AC-72A9-4500-9A56-4D97D345FA6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122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28814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1158849"/>
            <a:ext cx="61874" cy="61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1581" y="1454670"/>
            <a:ext cx="61874" cy="61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2054161"/>
            <a:ext cx="61874" cy="61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81" y="2501823"/>
            <a:ext cx="61874" cy="618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790257"/>
            <a:ext cx="4064635" cy="18141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b="1" spc="-10" dirty="0">
                <a:latin typeface="Arial"/>
                <a:cs typeface="Arial"/>
              </a:rPr>
              <a:t>Computational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efficiency: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475"/>
              </a:spcBef>
            </a:pPr>
            <a:r>
              <a:rPr sz="1000" dirty="0">
                <a:latin typeface="Arial"/>
                <a:cs typeface="Arial"/>
              </a:rPr>
              <a:t>Another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important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significance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easy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efficient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computability.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We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know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that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discussed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SVM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classifier,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need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several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and </a:t>
            </a:r>
            <a:r>
              <a:rPr sz="1000" dirty="0">
                <a:latin typeface="Arial"/>
                <a:cs typeface="Arial"/>
              </a:rPr>
              <a:t>repeated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round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computation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dot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products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both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learning </a:t>
            </a:r>
            <a:r>
              <a:rPr sz="1000" dirty="0">
                <a:latin typeface="Arial"/>
                <a:cs typeface="Arial"/>
              </a:rPr>
              <a:t>phase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well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classification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phase.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Arial"/>
              <a:cs typeface="Arial"/>
            </a:endParaRPr>
          </a:p>
          <a:p>
            <a:pPr marL="289560" marR="4127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Arial"/>
                <a:cs typeface="Arial"/>
              </a:rPr>
              <a:t>On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other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hand,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using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kernel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trick,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can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it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once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and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with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fewer </a:t>
            </a:r>
            <a:r>
              <a:rPr sz="1000" dirty="0">
                <a:latin typeface="Arial"/>
                <a:cs typeface="Arial"/>
              </a:rPr>
              <a:t>dot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products.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</a:pPr>
            <a:r>
              <a:rPr sz="1000" dirty="0">
                <a:latin typeface="Arial"/>
                <a:cs typeface="Arial"/>
              </a:rPr>
              <a:t>This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explained </a:t>
            </a:r>
            <a:r>
              <a:rPr sz="1000" dirty="0">
                <a:latin typeface="Arial"/>
                <a:cs typeface="Arial"/>
              </a:rPr>
              <a:t>in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following.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 </a:t>
            </a:r>
            <a:r>
              <a:rPr spc="-10" dirty="0"/>
              <a:t>Trick</a:t>
            </a:r>
            <a:r>
              <a:rPr dirty="0"/>
              <a:t> :</a:t>
            </a:r>
            <a:r>
              <a:rPr spc="95" dirty="0"/>
              <a:t> </a:t>
            </a:r>
            <a:r>
              <a:rPr spc="-10" dirty="0"/>
              <a:t>Significance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8D3B92C-0182-46DC-8094-F03AE6ADCE49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123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688416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0232" y="616507"/>
            <a:ext cx="3970020" cy="7435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design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matrix(X),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all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gram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(K),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  <a:p>
            <a:pPr marL="2420620">
              <a:lnSpc>
                <a:spcPct val="100000"/>
              </a:lnSpc>
              <a:spcBef>
                <a:spcPts val="315"/>
              </a:spcBef>
            </a:pPr>
            <a:r>
              <a:rPr sz="1100" spc="165" dirty="0">
                <a:latin typeface="Trebuchet MS"/>
                <a:cs typeface="Trebuchet MS"/>
              </a:rPr>
              <a:t></a:t>
            </a:r>
            <a:r>
              <a:rPr sz="1650" i="1" spc="247" baseline="-37878" dirty="0">
                <a:latin typeface="Arial"/>
                <a:cs typeface="Arial"/>
              </a:rPr>
              <a:t>X</a:t>
            </a:r>
            <a:r>
              <a:rPr sz="1200" spc="247" baseline="-65972" dirty="0">
                <a:latin typeface="Arial"/>
                <a:cs typeface="Arial"/>
              </a:rPr>
              <a:t>1</a:t>
            </a:r>
            <a:r>
              <a:rPr sz="1100" spc="165" dirty="0">
                <a:latin typeface="Trebuchet MS"/>
                <a:cs typeface="Trebuchet MS"/>
              </a:rPr>
              <a:t>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9841" y="1782062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9841" y="1954135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5348" y="2126207"/>
            <a:ext cx="225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72981" y="1437918"/>
            <a:ext cx="417830" cy="2495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885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endParaRPr sz="1200" baseline="-13888">
              <a:latin typeface="Arial"/>
              <a:cs typeface="Arial"/>
            </a:endParaRPr>
          </a:p>
          <a:p>
            <a:pPr algn="ctr">
              <a:lnSpc>
                <a:spcPts val="885"/>
              </a:lnSpc>
              <a:tabLst>
                <a:tab pos="248920" algn="l"/>
              </a:tabLst>
            </a:pPr>
            <a:r>
              <a:rPr sz="1100" spc="300" dirty="0">
                <a:latin typeface="Trebuchet MS"/>
                <a:cs typeface="Trebuchet MS"/>
              </a:rPr>
              <a:t></a:t>
            </a:r>
            <a:r>
              <a:rPr sz="1100" dirty="0">
                <a:latin typeface="Trebuchet MS"/>
                <a:cs typeface="Trebuchet MS"/>
              </a:rPr>
              <a:t>	</a:t>
            </a:r>
            <a:r>
              <a:rPr sz="1100" spc="110" dirty="0">
                <a:latin typeface="Trebuchet MS"/>
                <a:cs typeface="Trebuchet MS"/>
              </a:rPr>
              <a:t>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5707" y="1609990"/>
            <a:ext cx="1725295" cy="278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81610" algn="r">
              <a:lnSpc>
                <a:spcPts val="1000"/>
              </a:lnSpc>
              <a:spcBef>
                <a:spcPts val="90"/>
              </a:spcBef>
            </a:pPr>
            <a:r>
              <a:rPr sz="1100" i="1" spc="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ts val="1000"/>
              </a:lnSpc>
              <a:tabLst>
                <a:tab pos="1593850" algn="l"/>
              </a:tabLst>
            </a:pPr>
            <a:r>
              <a:rPr sz="1100" i="1" dirty="0">
                <a:latin typeface="Arial"/>
                <a:cs typeface="Arial"/>
              </a:rPr>
              <a:t>Design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matrix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:</a:t>
            </a:r>
            <a:r>
              <a:rPr sz="1100" spc="19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650" spc="450" baseline="12626" dirty="0">
                <a:latin typeface="Trebuchet MS"/>
                <a:cs typeface="Trebuchet MS"/>
              </a:rPr>
              <a:t></a:t>
            </a:r>
            <a:r>
              <a:rPr sz="1650" baseline="12626" dirty="0">
                <a:latin typeface="Trebuchet MS"/>
                <a:cs typeface="Trebuchet MS"/>
              </a:rPr>
              <a:t>	</a:t>
            </a:r>
            <a:r>
              <a:rPr sz="1650" spc="-172" baseline="12626" dirty="0">
                <a:latin typeface="Trebuchet MS"/>
                <a:cs typeface="Trebuchet MS"/>
              </a:rPr>
              <a:t></a:t>
            </a:r>
            <a:endParaRPr sz="1650" baseline="12626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98381" y="1827871"/>
            <a:ext cx="367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1620" algn="l"/>
              </a:tabLst>
            </a:pPr>
            <a:r>
              <a:rPr sz="1100" spc="300" dirty="0">
                <a:latin typeface="Trebuchet MS"/>
                <a:cs typeface="Trebuchet MS"/>
              </a:rPr>
              <a:t></a:t>
            </a:r>
            <a:r>
              <a:rPr sz="1100" dirty="0">
                <a:latin typeface="Trebuchet MS"/>
                <a:cs typeface="Trebuchet MS"/>
              </a:rPr>
              <a:t>	</a:t>
            </a:r>
            <a:r>
              <a:rPr sz="1100" spc="-380" dirty="0">
                <a:latin typeface="Trebuchet MS"/>
                <a:cs typeface="Trebuchet MS"/>
              </a:rPr>
              <a:t>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98381" y="1916543"/>
            <a:ext cx="3670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1620" algn="l"/>
              </a:tabLst>
            </a:pPr>
            <a:r>
              <a:rPr sz="1100" spc="300" dirty="0">
                <a:latin typeface="Trebuchet MS"/>
                <a:cs typeface="Trebuchet MS"/>
              </a:rPr>
              <a:t></a:t>
            </a:r>
            <a:r>
              <a:rPr sz="1100" dirty="0">
                <a:latin typeface="Trebuchet MS"/>
                <a:cs typeface="Trebuchet MS"/>
              </a:rPr>
              <a:t>	</a:t>
            </a:r>
            <a:r>
              <a:rPr sz="1100" spc="-380" dirty="0">
                <a:latin typeface="Trebuchet MS"/>
                <a:cs typeface="Trebuchet MS"/>
              </a:rPr>
              <a:t>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39795" y="2221482"/>
            <a:ext cx="2406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i="1" spc="-25" dirty="0">
                <a:latin typeface="Meiryo"/>
                <a:cs typeface="Meiryo"/>
              </a:rPr>
              <a:t>×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0430" y="1696248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(45)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932" y="2390812"/>
            <a:ext cx="3961765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530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denotes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N-dimensional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original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attribute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844812"/>
            <a:ext cx="76809" cy="7680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 </a:t>
            </a:r>
            <a:r>
              <a:rPr spc="-10" dirty="0"/>
              <a:t>Trick</a:t>
            </a:r>
            <a:r>
              <a:rPr dirty="0"/>
              <a:t> :</a:t>
            </a:r>
            <a:r>
              <a:rPr spc="95" dirty="0"/>
              <a:t> </a:t>
            </a:r>
            <a:r>
              <a:rPr spc="-10" dirty="0"/>
              <a:t>Significance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1EDDCF9-35A0-431C-9BF6-733FEA058CBE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47" name="Footer Placeholder 4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124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8784" y="744295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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771" y="1147456"/>
            <a:ext cx="1341755" cy="198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685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Gram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matrix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:</a:t>
            </a:r>
            <a:r>
              <a:rPr sz="1100" spc="20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=</a:t>
            </a:r>
            <a:endParaRPr sz="1100">
              <a:latin typeface="Lucida Sans Unicode"/>
              <a:cs typeface="Lucida Sans Unicode"/>
            </a:endParaRPr>
          </a:p>
          <a:p>
            <a:pPr marR="5080" algn="r">
              <a:lnSpc>
                <a:spcPts val="685"/>
              </a:lnSpc>
            </a:pPr>
            <a:r>
              <a:rPr sz="1100" spc="350" dirty="0">
                <a:latin typeface="Trebuchet MS"/>
                <a:cs typeface="Trebuchet MS"/>
              </a:rPr>
              <a:t>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8784" y="1243062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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0600" y="839011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557" y="93248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1151" y="851965"/>
            <a:ext cx="347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9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3731" y="912874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55265" y="93248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2180" y="839011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5149" y="932483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5324" y="910068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0600" y="1014043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3557" y="110751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51151" y="1026997"/>
            <a:ext cx="347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9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3731" y="1087906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72308" y="1014043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72180" y="1014043"/>
            <a:ext cx="87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55149" y="110751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5324" y="1085099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24481" y="1219833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99360" y="843189"/>
            <a:ext cx="1262380" cy="56832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60"/>
              </a:spcBef>
              <a:tabLst>
                <a:tab pos="587375" algn="l"/>
              </a:tabLst>
            </a:pPr>
            <a:r>
              <a:rPr sz="1100" i="1" spc="55" dirty="0">
                <a:latin typeface="Arial"/>
                <a:cs typeface="Arial"/>
              </a:rPr>
              <a:t>X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235" dirty="0">
                <a:latin typeface="Times New Roman"/>
                <a:cs typeface="Times New Roman"/>
              </a:rPr>
              <a:t> 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55"/>
              </a:spcBef>
              <a:tabLst>
                <a:tab pos="587375" algn="l"/>
              </a:tabLst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24305" dirty="0">
                <a:latin typeface="Arial"/>
                <a:cs typeface="Arial"/>
              </a:rPr>
              <a:t>2</a:t>
            </a:r>
            <a:r>
              <a:rPr sz="1200" spc="142" baseline="-2430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235" dirty="0">
                <a:latin typeface="Times New Roman"/>
                <a:cs typeface="Times New Roman"/>
              </a:rPr>
              <a:t> 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20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36138" y="1219833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36911" y="1219833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60600" y="1270443"/>
            <a:ext cx="128270" cy="30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ts val="13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72308" y="1270443"/>
            <a:ext cx="128270" cy="30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>
              <a:lnSpc>
                <a:spcPts val="13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372180" y="1270443"/>
            <a:ext cx="128905" cy="30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835">
              <a:lnSpc>
                <a:spcPts val="13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sz="800" i="1" spc="-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0351" y="1261666"/>
            <a:ext cx="1818005" cy="3759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517525" algn="ctr">
              <a:lnSpc>
                <a:spcPct val="100000"/>
              </a:lnSpc>
              <a:spcBef>
                <a:spcPts val="160"/>
              </a:spcBef>
            </a:pP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5"/>
              </a:spcBef>
              <a:tabLst>
                <a:tab pos="574675" algn="l"/>
                <a:tab pos="1086485" algn="l"/>
              </a:tabLst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7361" dirty="0">
                <a:latin typeface="Arial"/>
                <a:cs typeface="Arial"/>
              </a:rPr>
              <a:t>n</a:t>
            </a:r>
            <a:r>
              <a:rPr sz="1200" i="1" spc="142" baseline="-17361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1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7361" dirty="0">
                <a:latin typeface="Arial"/>
                <a:cs typeface="Arial"/>
              </a:rPr>
              <a:t>n</a:t>
            </a:r>
            <a:r>
              <a:rPr sz="1200" i="1" spc="142" baseline="-17361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3888" dirty="0">
                <a:latin typeface="Arial"/>
                <a:cs typeface="Arial"/>
              </a:rPr>
              <a:t>2</a:t>
            </a:r>
            <a:r>
              <a:rPr sz="1200" baseline="-13888" dirty="0">
                <a:latin typeface="Arial"/>
                <a:cs typeface="Arial"/>
              </a:rPr>
              <a:t>	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-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spc="240" dirty="0">
                <a:latin typeface="Times New Roman"/>
                <a:cs typeface="Times New Roman"/>
              </a:rPr>
              <a:t> 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7361" dirty="0">
                <a:latin typeface="Arial"/>
                <a:cs typeface="Arial"/>
              </a:rPr>
              <a:t>n</a:t>
            </a:r>
            <a:r>
              <a:rPr sz="1200" i="1" spc="187" baseline="-17361" dirty="0">
                <a:latin typeface="Arial"/>
                <a:cs typeface="Arial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.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9598" y="744295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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49598" y="1154390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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49598" y="1243062"/>
            <a:ext cx="118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350" dirty="0">
                <a:latin typeface="Trebuchet MS"/>
                <a:cs typeface="Trebuchet MS"/>
              </a:rPr>
              <a:t>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41953" y="1540750"/>
            <a:ext cx="2235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i="1" spc="-25" dirty="0">
                <a:latin typeface="Meiryo"/>
                <a:cs typeface="Meiryo"/>
              </a:rPr>
              <a:t>×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10418" y="1147469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(46)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856778"/>
            <a:ext cx="76809" cy="7680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402932" y="1784869"/>
            <a:ext cx="3978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0161" y="2039288"/>
            <a:ext cx="5930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6895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7532" y="1956941"/>
            <a:ext cx="39452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i="1" spc="55" dirty="0">
                <a:latin typeface="Arial"/>
                <a:cs typeface="Arial"/>
              </a:rPr>
              <a:t>X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26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i="1" spc="55" dirty="0">
                <a:latin typeface="Arial"/>
                <a:cs typeface="Arial"/>
              </a:rPr>
              <a:t>X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half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2932" y="2085236"/>
            <a:ext cx="3837940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matrix.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sz="1100" dirty="0">
                <a:latin typeface="Arial"/>
                <a:cs typeface="Arial"/>
              </a:rPr>
              <a:t>More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elegantly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matrix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operation,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only.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410955"/>
            <a:ext cx="76809" cy="76809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 </a:t>
            </a:r>
            <a:r>
              <a:rPr spc="-10" dirty="0"/>
              <a:t>Trick</a:t>
            </a:r>
            <a:r>
              <a:rPr dirty="0"/>
              <a:t> :</a:t>
            </a:r>
            <a:r>
              <a:rPr spc="95" dirty="0"/>
              <a:t> </a:t>
            </a:r>
            <a:r>
              <a:rPr spc="-10" dirty="0"/>
              <a:t>Significance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8AD6FC1-CBAB-467D-BB44-0166E4056AE6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125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996480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450581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0469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2358796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2640838"/>
            <a:ext cx="76809" cy="768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0444" y="594865"/>
            <a:ext cx="4316095" cy="216598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nutshell,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following.</a:t>
            </a:r>
            <a:endParaRPr sz="1100">
              <a:latin typeface="Arial"/>
              <a:cs typeface="Arial"/>
            </a:endParaRPr>
          </a:p>
          <a:p>
            <a:pPr marL="314960" marR="474345">
              <a:lnSpc>
                <a:spcPct val="102600"/>
              </a:lnSpc>
              <a:spcBef>
                <a:spcPts val="595"/>
              </a:spcBef>
            </a:pPr>
            <a:r>
              <a:rPr sz="1100" dirty="0">
                <a:latin typeface="Arial"/>
                <a:cs typeface="Arial"/>
              </a:rPr>
              <a:t>Instead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mapping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dot </a:t>
            </a:r>
            <a:r>
              <a:rPr sz="1100" dirty="0">
                <a:latin typeface="Arial"/>
                <a:cs typeface="Arial"/>
              </a:rPr>
              <a:t>products,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accomplish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everything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operation.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without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explicitly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computing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85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314960" marR="30480">
              <a:lnSpc>
                <a:spcPct val="102600"/>
              </a:lnSpc>
              <a:spcBef>
                <a:spcPts val="870"/>
              </a:spcBef>
            </a:pPr>
            <a:r>
              <a:rPr sz="1100" spc="-10" dirty="0">
                <a:latin typeface="Arial"/>
                <a:cs typeface="Arial"/>
              </a:rPr>
              <a:t>Complexity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depends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(typically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200" baseline="27777" dirty="0">
                <a:latin typeface="Arial"/>
                <a:cs typeface="Arial"/>
              </a:rPr>
              <a:t>3</a:t>
            </a:r>
            <a:r>
              <a:rPr sz="1100" dirty="0">
                <a:latin typeface="Arial"/>
                <a:cs typeface="Arial"/>
              </a:rPr>
              <a:t>)),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on </a:t>
            </a:r>
            <a:r>
              <a:rPr sz="1100" dirty="0">
                <a:latin typeface="Arial"/>
                <a:cs typeface="Arial"/>
              </a:rPr>
              <a:t>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dimensionality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 marL="314960">
              <a:lnSpc>
                <a:spcPct val="100000"/>
              </a:lnSpc>
              <a:spcBef>
                <a:spcPts val="900"/>
              </a:spcBef>
            </a:pPr>
            <a:r>
              <a:rPr sz="1100" dirty="0">
                <a:latin typeface="Arial"/>
                <a:cs typeface="Arial"/>
              </a:rPr>
              <a:t>Next,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discuss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aspect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deciding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07192B92-2A31-4828-BB1E-7F0DE160CF4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126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625841"/>
            <a:ext cx="4483735" cy="1012190"/>
            <a:chOff x="87743" y="1625841"/>
            <a:chExt cx="4483735" cy="1012190"/>
          </a:xfrm>
        </p:grpSpPr>
        <p:sp>
          <p:nvSpPr>
            <p:cNvPr id="4" name="object 4"/>
            <p:cNvSpPr/>
            <p:nvPr/>
          </p:nvSpPr>
          <p:spPr>
            <a:xfrm>
              <a:off x="87743" y="1625841"/>
              <a:ext cx="4432935" cy="193675"/>
            </a:xfrm>
            <a:custGeom>
              <a:avLst/>
              <a:gdLst/>
              <a:ahLst/>
              <a:cxnLst/>
              <a:rect l="l" t="t" r="r" b="b"/>
              <a:pathLst>
                <a:path w="4432935" h="19367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3297"/>
                  </a:lnTo>
                  <a:lnTo>
                    <a:pt x="4432566" y="19329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06486"/>
              <a:ext cx="4432565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53634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523642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1670075"/>
              <a:ext cx="50749" cy="8662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850755"/>
              <a:ext cx="4432935" cy="736600"/>
            </a:xfrm>
            <a:custGeom>
              <a:avLst/>
              <a:gdLst/>
              <a:ahLst/>
              <a:cxnLst/>
              <a:rect l="l" t="t" r="r" b="b"/>
              <a:pathLst>
                <a:path w="4432935" h="736600">
                  <a:moveTo>
                    <a:pt x="4432566" y="0"/>
                  </a:moveTo>
                  <a:lnTo>
                    <a:pt x="0" y="0"/>
                  </a:lnTo>
                  <a:lnTo>
                    <a:pt x="0" y="685587"/>
                  </a:lnTo>
                  <a:lnTo>
                    <a:pt x="4008" y="705312"/>
                  </a:lnTo>
                  <a:lnTo>
                    <a:pt x="14922" y="721465"/>
                  </a:lnTo>
                  <a:lnTo>
                    <a:pt x="31075" y="732379"/>
                  </a:lnTo>
                  <a:lnTo>
                    <a:pt x="50800" y="736387"/>
                  </a:lnTo>
                  <a:lnTo>
                    <a:pt x="4381765" y="736387"/>
                  </a:lnTo>
                  <a:lnTo>
                    <a:pt x="4401490" y="732379"/>
                  </a:lnTo>
                  <a:lnTo>
                    <a:pt x="4417643" y="721465"/>
                  </a:lnTo>
                  <a:lnTo>
                    <a:pt x="4428558" y="705312"/>
                  </a:lnTo>
                  <a:lnTo>
                    <a:pt x="4432566" y="68558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1708163"/>
              <a:ext cx="0" cy="847725"/>
            </a:xfrm>
            <a:custGeom>
              <a:avLst/>
              <a:gdLst/>
              <a:ahLst/>
              <a:cxnLst/>
              <a:rect l="l" t="t" r="r" b="b"/>
              <a:pathLst>
                <a:path h="847725">
                  <a:moveTo>
                    <a:pt x="0" y="8472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16954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16827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167006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2344" y="802664"/>
            <a:ext cx="4410710" cy="17341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6200" marR="27559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Before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going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popular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adopted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SVM </a:t>
            </a:r>
            <a:r>
              <a:rPr sz="1100" dirty="0">
                <a:latin typeface="Arial"/>
                <a:cs typeface="Arial"/>
              </a:rPr>
              <a:t>classification,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give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precise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definition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kernel</a:t>
            </a: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20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6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20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Lucida Sans Unicode"/>
                <a:cs typeface="Lucida Sans Unicode"/>
              </a:rPr>
              <a:t>)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r>
              <a:rPr sz="12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10.1:</a:t>
            </a:r>
            <a:endParaRPr sz="1200">
              <a:latin typeface="Arial"/>
              <a:cs typeface="Arial"/>
            </a:endParaRPr>
          </a:p>
          <a:p>
            <a:pPr marL="76200" marR="68580">
              <a:lnSpc>
                <a:spcPct val="102600"/>
              </a:lnSpc>
              <a:spcBef>
                <a:spcPts val="240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valued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such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another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8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that</a:t>
            </a: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7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3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Symbolically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write</a:t>
            </a:r>
            <a:endParaRPr sz="11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m</a:t>
            </a:r>
            <a:r>
              <a:rPr sz="1200" i="1" spc="25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Meiryo"/>
                <a:cs typeface="Meiryo"/>
              </a:rPr>
              <a:t>→</a:t>
            </a:r>
            <a:r>
              <a:rPr sz="1100" i="1" spc="-45" dirty="0">
                <a:latin typeface="Meiryo"/>
                <a:cs typeface="Meiryo"/>
              </a:rPr>
              <a:t> 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54" baseline="27777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: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4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8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200" i="1" spc="-15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i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j</a:t>
            </a:r>
            <a:r>
              <a:rPr sz="1200" i="1" spc="-142" baseline="-13888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i="1" spc="100" dirty="0">
                <a:latin typeface="Times New Roman"/>
                <a:cs typeface="Times New Roman"/>
              </a:rPr>
              <a:t>&gt;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45565"/>
            <a:ext cx="22625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Kernel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9929" y="912931"/>
            <a:ext cx="22885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Table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2: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Some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standard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kernel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functions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8053" y="1198933"/>
          <a:ext cx="4309745" cy="139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b="1" dirty="0">
                          <a:latin typeface="Arial"/>
                          <a:cs typeface="Arial"/>
                        </a:rPr>
                        <a:t>Kernel</a:t>
                      </a:r>
                      <a:r>
                        <a:rPr sz="55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b="1" spc="-20" dirty="0">
                          <a:latin typeface="Arial"/>
                          <a:cs typeface="Arial"/>
                        </a:rPr>
                        <a:t>name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b="1" dirty="0">
                          <a:latin typeface="Arial"/>
                          <a:cs typeface="Arial"/>
                        </a:rPr>
                        <a:t>Functional </a:t>
                      </a:r>
                      <a:r>
                        <a:rPr sz="550" b="1" spc="-20" dirty="0">
                          <a:latin typeface="Arial"/>
                          <a:cs typeface="Arial"/>
                        </a:rPr>
                        <a:t>form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b="1" spc="-10" dirty="0">
                          <a:latin typeface="Arial"/>
                          <a:cs typeface="Arial"/>
                        </a:rPr>
                        <a:t>Remark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Linear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550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550" i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55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550" spc="2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550" spc="2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600" i="1" baseline="27777" dirty="0">
                          <a:latin typeface="Arial"/>
                          <a:cs typeface="Arial"/>
                        </a:rPr>
                        <a:t>T </a:t>
                      </a:r>
                      <a:r>
                        <a:rPr sz="550" i="1" spc="-50" dirty="0">
                          <a:latin typeface="Arial"/>
                          <a:cs typeface="Arial"/>
                        </a:rPr>
                        <a:t>Y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5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simplest kernel used in linear </a:t>
                      </a:r>
                      <a:r>
                        <a:rPr sz="550" spc="-25" dirty="0">
                          <a:latin typeface="Arial"/>
                          <a:cs typeface="Arial"/>
                        </a:rPr>
                        <a:t>SVM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Polynomial</a:t>
                      </a:r>
                      <a:r>
                        <a:rPr sz="55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kernel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degree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i="1" spc="-50" dirty="0">
                          <a:latin typeface="Arial"/>
                          <a:cs typeface="Arial"/>
                        </a:rPr>
                        <a:t>p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55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55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55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550" spc="1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550" spc="1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600" i="1" baseline="27777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600" i="1" spc="-15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550" i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0" dirty="0">
                          <a:latin typeface="Lucida Sans Unicode"/>
                          <a:cs typeface="Lucida Sans Unicode"/>
                        </a:rPr>
                        <a:t>+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600" i="1" baseline="27777" dirty="0">
                          <a:latin typeface="Source Serif 4"/>
                          <a:cs typeface="Source Serif 4"/>
                        </a:rPr>
                        <a:t>ρ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550" i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ρ</a:t>
                      </a:r>
                      <a:r>
                        <a:rPr sz="550" i="1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i="1" spc="55" dirty="0">
                          <a:latin typeface="Times New Roman"/>
                          <a:cs typeface="Times New Roman"/>
                        </a:rPr>
                        <a:t>&gt; </a:t>
                      </a:r>
                      <a:r>
                        <a:rPr sz="550" spc="-50" dirty="0">
                          <a:latin typeface="Arial"/>
                          <a:cs typeface="Arial"/>
                        </a:rPr>
                        <a:t>0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It produces a large dot products.</a:t>
                      </a:r>
                      <a:r>
                        <a:rPr sz="55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Power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ρ</a:t>
                      </a:r>
                      <a:r>
                        <a:rPr sz="550" i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is specified apriori by the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user.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Gaussian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(RBF)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63500" algn="ctr">
                        <a:lnSpc>
                          <a:spcPts val="300"/>
                        </a:lnSpc>
                      </a:pP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c</a:t>
                      </a: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||</a:t>
                      </a: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x</a:t>
                      </a: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−</a:t>
                      </a: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y</a:t>
                      </a:r>
                      <a:r>
                        <a:rPr sz="300" i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</a:rPr>
                        <a:t>||</a:t>
                      </a:r>
                      <a:r>
                        <a:rPr sz="450" spc="-15" baseline="27777" dirty="0">
                          <a:latin typeface="Arial"/>
                          <a:cs typeface="Arial"/>
                        </a:rPr>
                        <a:t>2</a:t>
                      </a:r>
                      <a:endParaRPr sz="450" baseline="27777">
                        <a:latin typeface="Arial"/>
                        <a:cs typeface="Arial"/>
                      </a:endParaRPr>
                    </a:p>
                    <a:p>
                      <a:pPr marL="39370">
                        <a:lnSpc>
                          <a:spcPts val="600"/>
                        </a:lnSpc>
                      </a:pPr>
                      <a:r>
                        <a:rPr sz="55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550" i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550" i="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55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550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550" spc="-1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55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550" i="1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550" i="1" spc="4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450" spc="-37" baseline="9259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450" i="1" spc="-37" baseline="9259" dirty="0">
                          <a:latin typeface="Arial"/>
                          <a:cs typeface="Arial"/>
                        </a:rPr>
                        <a:t>σ</a:t>
                      </a:r>
                      <a:r>
                        <a:rPr sz="450" spc="-37" baseline="27777" dirty="0">
                          <a:latin typeface="Arial"/>
                          <a:cs typeface="Arial"/>
                        </a:rPr>
                        <a:t>2</a:t>
                      </a:r>
                      <a:endParaRPr sz="450" baseline="27777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5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is a nonlinear kernel called Gaussian Radia Bias function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Laplacian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825" i="1" baseline="-20202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25" i="1" spc="-112" baseline="-2020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825" i="1" baseline="-20202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25" i="1" baseline="-20202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25" i="1" spc="-37" baseline="-2020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25" i="1" baseline="-20202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25" i="1" spc="-97" baseline="-2020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825" spc="22" baseline="-20202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825" spc="22" baseline="-20202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i="1" spc="-15" baseline="-20202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400" i="1" spc="-10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400" i="1" spc="-10" dirty="0">
                          <a:latin typeface="Source Serif 4"/>
                          <a:cs typeface="Source Serif 4"/>
                        </a:rPr>
                        <a:t>λ</a:t>
                      </a:r>
                      <a:r>
                        <a:rPr sz="400" i="1" spc="-10" dirty="0">
                          <a:latin typeface="Meiryo"/>
                          <a:cs typeface="Meiryo"/>
                        </a:rPr>
                        <a:t>||</a:t>
                      </a:r>
                      <a:r>
                        <a:rPr sz="400" i="1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400" i="1" spc="-10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400" i="1" spc="-1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400" i="1" spc="-10" dirty="0">
                          <a:latin typeface="Meiryo"/>
                          <a:cs typeface="Meiryo"/>
                        </a:rPr>
                        <a:t>||</a:t>
                      </a:r>
                      <a:endParaRPr sz="400">
                        <a:latin typeface="Meiryo"/>
                        <a:cs typeface="Meiryo"/>
                      </a:endParaRPr>
                    </a:p>
                  </a:txBody>
                  <a:tcPr marL="0" marR="0" marT="685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Follows</a:t>
                      </a:r>
                      <a:r>
                        <a:rPr sz="5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laplacian</a:t>
                      </a:r>
                      <a:r>
                        <a:rPr sz="55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mapping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Sigmoid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ts val="590"/>
                        </a:lnSpc>
                      </a:pPr>
                      <a:r>
                        <a:rPr sz="825" i="1" baseline="1010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25" i="1" spc="-89" baseline="1010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10101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825" i="1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25" i="1" baseline="10101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25" i="1" spc="-30" baseline="1010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25" i="1" baseline="1010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25" i="1" spc="-82" baseline="1010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10101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825" spc="37" baseline="10101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baseline="10101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825" spc="44" baseline="10101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i="1" baseline="10101" dirty="0">
                          <a:latin typeface="Arial"/>
                          <a:cs typeface="Arial"/>
                        </a:rPr>
                        <a:t>tanh</a:t>
                      </a:r>
                      <a:r>
                        <a:rPr sz="825" baseline="10101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825" i="1" baseline="10101" dirty="0">
                          <a:latin typeface="Times New Roman"/>
                          <a:cs typeface="Times New Roman"/>
                        </a:rPr>
                        <a:t>β</a:t>
                      </a:r>
                      <a:r>
                        <a:rPr sz="4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25" i="1" baseline="1010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600" i="1" baseline="41666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600" i="1" spc="-7" baseline="41666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i="1" baseline="1010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25" i="1" spc="120" baseline="1010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spc="-30" baseline="10101" dirty="0"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sz="825" spc="-22" baseline="10101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i="1" spc="-37" baseline="10101" dirty="0">
                          <a:latin typeface="Times New Roman"/>
                          <a:cs typeface="Times New Roman"/>
                        </a:rPr>
                        <a:t>β</a:t>
                      </a:r>
                      <a:r>
                        <a:rPr sz="400" spc="-2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25" spc="-37" baseline="10101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825" baseline="10101">
                        <a:latin typeface="Lucida Sans Unicode"/>
                        <a:cs typeface="Lucida Sans Unicode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spc="-10" dirty="0">
                          <a:latin typeface="Arial"/>
                          <a:cs typeface="Arial"/>
                        </a:rPr>
                        <a:t>Followed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statistical</a:t>
                      </a:r>
                      <a:r>
                        <a:rPr sz="5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5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known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dirty="0">
                          <a:latin typeface="Arial"/>
                          <a:cs typeface="Arial"/>
                        </a:rPr>
                        <a:t>Mahalanobis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 kernel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825" i="1" baseline="-20202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25" i="1" spc="-89" baseline="-2020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825" i="1" baseline="-20202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25" i="1" baseline="-20202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825" i="1" spc="-30" baseline="-2020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25" i="1" baseline="-20202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25" i="1" spc="-82" baseline="-20202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)</a:t>
                      </a:r>
                      <a:r>
                        <a:rPr sz="825" spc="37" baseline="-20202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baseline="-20202" dirty="0">
                          <a:latin typeface="Lucida Sans Unicode"/>
                          <a:cs typeface="Lucida Sans Unicode"/>
                        </a:rPr>
                        <a:t>=</a:t>
                      </a:r>
                      <a:r>
                        <a:rPr sz="825" spc="37" baseline="-20202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825" i="1" baseline="-20202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400" i="1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40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4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400" i="1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4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4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400" spc="-10" dirty="0">
                          <a:latin typeface="Verdana"/>
                          <a:cs typeface="Verdana"/>
                        </a:rPr>
                        <a:t>)</a:t>
                      </a:r>
                      <a:r>
                        <a:rPr sz="450" i="1" spc="-15" baseline="27777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450" i="1" baseline="27777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40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400" dirty="0">
                          <a:latin typeface="Verdana"/>
                          <a:cs typeface="Verdana"/>
                        </a:rPr>
                        <a:t>(</a:t>
                      </a:r>
                      <a:r>
                        <a:rPr sz="4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400" i="1" dirty="0">
                          <a:latin typeface="Meiryo"/>
                          <a:cs typeface="Meiryo"/>
                        </a:rPr>
                        <a:t>−</a:t>
                      </a:r>
                      <a:r>
                        <a:rPr sz="4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4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400" spc="-50" dirty="0">
                          <a:latin typeface="Verdana"/>
                          <a:cs typeface="Verdana"/>
                        </a:rPr>
                        <a:t>)</a:t>
                      </a:r>
                      <a:endParaRPr sz="400">
                        <a:latin typeface="Verdana"/>
                        <a:cs typeface="Verdana"/>
                      </a:endParaRPr>
                    </a:p>
                  </a:txBody>
                  <a:tcPr marL="0" marR="0" marT="7239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39370">
                        <a:lnSpc>
                          <a:spcPct val="100000"/>
                        </a:lnSpc>
                      </a:pPr>
                      <a:r>
                        <a:rPr sz="550" spc="-10" dirty="0">
                          <a:latin typeface="Arial"/>
                          <a:cs typeface="Arial"/>
                        </a:rPr>
                        <a:t>Followed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statistical</a:t>
                      </a:r>
                      <a:r>
                        <a:rPr sz="5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5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55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latin typeface="Arial"/>
                          <a:cs typeface="Arial"/>
                        </a:rPr>
                        <a:t>known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DFC21D7-DB2A-43FB-8DDD-62B36B3C1744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127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dirty="0"/>
              <a:t>Functions</a:t>
            </a:r>
            <a:r>
              <a:rPr spc="60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94844" rIns="0" bIns="0" rtlCol="0">
            <a:spAutoFit/>
          </a:bodyPr>
          <a:lstStyle/>
          <a:p>
            <a:pPr marL="378460" marR="300990">
              <a:lnSpc>
                <a:spcPct val="102600"/>
              </a:lnSpc>
              <a:spcBef>
                <a:spcPts val="55"/>
              </a:spcBef>
            </a:pPr>
            <a:r>
              <a:rPr spc="-10" dirty="0"/>
              <a:t>Different</a:t>
            </a:r>
            <a:r>
              <a:rPr spc="-35" dirty="0"/>
              <a:t> </a:t>
            </a:r>
            <a:r>
              <a:rPr dirty="0"/>
              <a:t>kernel</a:t>
            </a:r>
            <a:r>
              <a:rPr spc="-30" dirty="0"/>
              <a:t> </a:t>
            </a:r>
            <a:r>
              <a:rPr dirty="0"/>
              <a:t>functions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different</a:t>
            </a:r>
            <a:r>
              <a:rPr spc="-35" dirty="0"/>
              <a:t> </a:t>
            </a:r>
            <a:r>
              <a:rPr dirty="0"/>
              <a:t>parameters.</a:t>
            </a:r>
            <a:r>
              <a:rPr spc="35" dirty="0"/>
              <a:t> </a:t>
            </a:r>
            <a:r>
              <a:rPr spc="-10" dirty="0"/>
              <a:t>Those </a:t>
            </a:r>
            <a:r>
              <a:rPr dirty="0"/>
              <a:t>parameters</a:t>
            </a:r>
            <a:r>
              <a:rPr spc="-4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called</a:t>
            </a:r>
            <a:r>
              <a:rPr spc="-35" dirty="0"/>
              <a:t> </a:t>
            </a:r>
            <a:r>
              <a:rPr dirty="0"/>
              <a:t>magic</a:t>
            </a:r>
            <a:r>
              <a:rPr spc="-40" dirty="0"/>
              <a:t> </a:t>
            </a:r>
            <a:r>
              <a:rPr dirty="0"/>
              <a:t>parameters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decided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10" dirty="0"/>
              <a:t>priori.</a:t>
            </a:r>
          </a:p>
          <a:p>
            <a:pPr marL="378460" marR="33020">
              <a:lnSpc>
                <a:spcPct val="102699"/>
              </a:lnSpc>
              <a:spcBef>
                <a:spcPts val="1150"/>
              </a:spcBef>
            </a:pPr>
            <a:r>
              <a:rPr dirty="0"/>
              <a:t>Further,</a:t>
            </a:r>
            <a:r>
              <a:rPr spc="-35" dirty="0"/>
              <a:t> </a:t>
            </a:r>
            <a:r>
              <a:rPr dirty="0"/>
              <a:t>which</a:t>
            </a:r>
            <a:r>
              <a:rPr spc="-30" dirty="0"/>
              <a:t> </a:t>
            </a:r>
            <a:r>
              <a:rPr dirty="0"/>
              <a:t>kernels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spc="-10" dirty="0"/>
              <a:t>followed</a:t>
            </a:r>
            <a:r>
              <a:rPr spc="-35" dirty="0"/>
              <a:t> </a:t>
            </a:r>
            <a:r>
              <a:rPr dirty="0"/>
              <a:t>also</a:t>
            </a:r>
            <a:r>
              <a:rPr spc="-30" dirty="0"/>
              <a:t> </a:t>
            </a:r>
            <a:r>
              <a:rPr dirty="0"/>
              <a:t>depends</a:t>
            </a:r>
            <a:r>
              <a:rPr spc="-30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pattern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well</a:t>
            </a:r>
            <a:r>
              <a:rPr spc="-20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prudent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user.</a:t>
            </a:r>
          </a:p>
          <a:p>
            <a:pPr marL="378460" marR="5080">
              <a:lnSpc>
                <a:spcPct val="102600"/>
              </a:lnSpc>
              <a:spcBef>
                <a:spcPts val="1150"/>
              </a:spcBef>
            </a:pPr>
            <a:r>
              <a:rPr dirty="0"/>
              <a:t>In</a:t>
            </a:r>
            <a:r>
              <a:rPr spc="-35" dirty="0"/>
              <a:t> </a:t>
            </a:r>
            <a:r>
              <a:rPr dirty="0"/>
              <a:t>general,</a:t>
            </a:r>
            <a:r>
              <a:rPr spc="-30" dirty="0"/>
              <a:t> </a:t>
            </a:r>
            <a:r>
              <a:rPr dirty="0"/>
              <a:t>polynomial</a:t>
            </a:r>
            <a:r>
              <a:rPr spc="-30" dirty="0"/>
              <a:t> </a:t>
            </a:r>
            <a:r>
              <a:rPr dirty="0"/>
              <a:t>kernels</a:t>
            </a:r>
            <a:r>
              <a:rPr spc="-30" dirty="0"/>
              <a:t> </a:t>
            </a:r>
            <a:r>
              <a:rPr dirty="0"/>
              <a:t>result</a:t>
            </a:r>
            <a:r>
              <a:rPr spc="-3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large</a:t>
            </a:r>
            <a:r>
              <a:rPr spc="-30" dirty="0"/>
              <a:t> </a:t>
            </a:r>
            <a:r>
              <a:rPr dirty="0"/>
              <a:t>dot</a:t>
            </a:r>
            <a:r>
              <a:rPr spc="-30" dirty="0"/>
              <a:t> </a:t>
            </a:r>
            <a:r>
              <a:rPr spc="-10" dirty="0"/>
              <a:t>products, </a:t>
            </a:r>
            <a:r>
              <a:rPr dirty="0"/>
              <a:t>Gaussian</a:t>
            </a:r>
            <a:r>
              <a:rPr spc="-40" dirty="0"/>
              <a:t> </a:t>
            </a:r>
            <a:r>
              <a:rPr dirty="0"/>
              <a:t>RBF</a:t>
            </a:r>
            <a:r>
              <a:rPr spc="-35" dirty="0"/>
              <a:t> </a:t>
            </a:r>
            <a:r>
              <a:rPr dirty="0"/>
              <a:t>produces</a:t>
            </a:r>
            <a:r>
              <a:rPr spc="-35" dirty="0"/>
              <a:t> </a:t>
            </a:r>
            <a:r>
              <a:rPr dirty="0"/>
              <a:t>more</a:t>
            </a:r>
            <a:r>
              <a:rPr spc="-35" dirty="0"/>
              <a:t> </a:t>
            </a:r>
            <a:r>
              <a:rPr dirty="0"/>
              <a:t>support</a:t>
            </a:r>
            <a:r>
              <a:rPr spc="-35" dirty="0"/>
              <a:t> </a:t>
            </a:r>
            <a:r>
              <a:rPr dirty="0"/>
              <a:t>vectors</a:t>
            </a:r>
            <a:r>
              <a:rPr spc="-40" dirty="0"/>
              <a:t> </a:t>
            </a:r>
            <a:r>
              <a:rPr dirty="0"/>
              <a:t>than</a:t>
            </a:r>
            <a:r>
              <a:rPr spc="-35" dirty="0"/>
              <a:t> </a:t>
            </a:r>
            <a:r>
              <a:rPr dirty="0"/>
              <a:t>other</a:t>
            </a:r>
            <a:r>
              <a:rPr spc="-35" dirty="0"/>
              <a:t> </a:t>
            </a:r>
            <a:r>
              <a:rPr spc="-10" dirty="0"/>
              <a:t>kernels.</a:t>
            </a:r>
          </a:p>
          <a:p>
            <a:pPr marL="378460" marR="130810">
              <a:lnSpc>
                <a:spcPct val="102600"/>
              </a:lnSpc>
              <a:spcBef>
                <a:spcPts val="1150"/>
              </a:spcBef>
            </a:pPr>
            <a:r>
              <a:rPr spc="-75" dirty="0"/>
              <a:t>To</a:t>
            </a:r>
            <a:r>
              <a:rPr spc="-5" dirty="0"/>
              <a:t> </a:t>
            </a:r>
            <a:r>
              <a:rPr spc="-10" dirty="0"/>
              <a:t>have</a:t>
            </a:r>
            <a:r>
              <a:rPr spc="-5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intuitive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kernels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non-</a:t>
            </a:r>
            <a:r>
              <a:rPr dirty="0"/>
              <a:t>linear</a:t>
            </a:r>
            <a:r>
              <a:rPr spc="-25" dirty="0"/>
              <a:t> </a:t>
            </a:r>
            <a:r>
              <a:rPr spc="-20" dirty="0"/>
              <a:t>data </a:t>
            </a:r>
            <a:r>
              <a:rPr dirty="0"/>
              <a:t>handling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shown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Fig.</a:t>
            </a:r>
            <a:r>
              <a:rPr spc="-30" dirty="0"/>
              <a:t> </a:t>
            </a:r>
            <a:r>
              <a:rPr spc="-25" dirty="0"/>
              <a:t>17.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F78D49E4-13FB-48EA-AE47-986537C091B6}" type="datetime1">
              <a:rPr lang="en-US" spc="-10" smtClean="0"/>
              <a:t>11/10/2025</a:t>
            </a:fld>
            <a:endParaRPr lang="en-US" spc="-10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128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781989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444167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1934273"/>
            <a:ext cx="76809" cy="7680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424379"/>
            <a:ext cx="76809" cy="7680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Kernel</a:t>
            </a:r>
            <a:r>
              <a:rPr spc="60" dirty="0"/>
              <a:t> </a:t>
            </a:r>
            <a:r>
              <a:rPr dirty="0"/>
              <a:t>Functions</a:t>
            </a:r>
            <a:r>
              <a:rPr spc="60" dirty="0"/>
              <a:t> </a:t>
            </a:r>
            <a:r>
              <a:rPr dirty="0"/>
              <a:t>:</a:t>
            </a:r>
            <a:r>
              <a:rPr spc="17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3E60CBBD-0D6F-4C56-9BF7-64884CF87FB5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129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92" y="541611"/>
            <a:ext cx="1733793" cy="8068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5375" y="1465585"/>
            <a:ext cx="12084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Polynomial kernel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9958" y="628302"/>
            <a:ext cx="1733792" cy="7635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682417" y="1465585"/>
            <a:ext cx="10528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(b)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Sigmoid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kernel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7282" y="1808329"/>
            <a:ext cx="3533775" cy="1007110"/>
            <a:chOff x="657282" y="1808329"/>
            <a:chExt cx="3533775" cy="10071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7282" y="1948366"/>
              <a:ext cx="1733793" cy="7635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3284" y="1808329"/>
              <a:ext cx="1847155" cy="100693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63016" y="2770448"/>
            <a:ext cx="3155315" cy="50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57700"/>
              </a:lnSpc>
              <a:spcBef>
                <a:spcPts val="100"/>
              </a:spcBef>
              <a:tabLst>
                <a:tab pos="1748789" algn="l"/>
              </a:tabLst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(c)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Laplacian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kernel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(d)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Gaussian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RBF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kernel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Figure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17: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Visual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interpretation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of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few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kernel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functions.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Mercers</a:t>
            </a:r>
            <a:r>
              <a:rPr spc="95" dirty="0"/>
              <a:t> </a:t>
            </a:r>
            <a:r>
              <a:rPr dirty="0"/>
              <a:t>Theorem:</a:t>
            </a:r>
            <a:r>
              <a:rPr spc="215" dirty="0"/>
              <a:t> </a:t>
            </a:r>
            <a:r>
              <a:rPr dirty="0"/>
              <a:t>Properties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Kernel</a:t>
            </a:r>
            <a:r>
              <a:rPr spc="9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2D7D7CBC-250B-4554-B6C5-7D8F3875B1E1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130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15886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743990"/>
            <a:ext cx="4046220" cy="10261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Other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functions,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our </a:t>
            </a:r>
            <a:r>
              <a:rPr sz="1100" dirty="0">
                <a:latin typeface="Arial"/>
                <a:cs typeface="Arial"/>
              </a:rPr>
              <a:t>own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combining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another kernel.</a:t>
            </a:r>
            <a:endParaRPr sz="1100">
              <a:latin typeface="Arial"/>
              <a:cs typeface="Arial"/>
            </a:endParaRPr>
          </a:p>
          <a:p>
            <a:pPr marL="38100" marR="125730">
              <a:lnSpc>
                <a:spcPct val="102600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interesting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properties.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165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are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then,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478076"/>
            <a:ext cx="76809" cy="7680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90080" y="1942350"/>
            <a:ext cx="134620" cy="589915"/>
            <a:chOff x="490080" y="1942350"/>
            <a:chExt cx="134620" cy="5899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080" y="1942350"/>
              <a:ext cx="134416" cy="1344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080" y="2094191"/>
              <a:ext cx="134416" cy="13441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080" y="2246020"/>
              <a:ext cx="134416" cy="13441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0080" y="2397848"/>
              <a:ext cx="134416" cy="13441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23481" y="1941365"/>
            <a:ext cx="67945" cy="572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634" y="1913349"/>
            <a:ext cx="56451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sz="1000" i="1" spc="-20" dirty="0">
                <a:latin typeface="Arial"/>
                <a:cs typeface="Arial"/>
              </a:rPr>
              <a:t>K</a:t>
            </a:r>
            <a:r>
              <a:rPr sz="1050" spc="-30" baseline="-11904" dirty="0">
                <a:latin typeface="Arial"/>
                <a:cs typeface="Arial"/>
              </a:rPr>
              <a:t>1</a:t>
            </a:r>
            <a:r>
              <a:rPr sz="1000" spc="-20" dirty="0">
                <a:latin typeface="Arial"/>
                <a:cs typeface="Arial"/>
              </a:rPr>
              <a:t>+c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ts val="1195"/>
              </a:lnSpc>
            </a:pPr>
            <a:r>
              <a:rPr sz="1000" spc="-25" dirty="0">
                <a:latin typeface="Arial"/>
                <a:cs typeface="Arial"/>
              </a:rPr>
              <a:t>a</a:t>
            </a:r>
            <a:r>
              <a:rPr sz="1000" i="1" spc="-25" dirty="0">
                <a:latin typeface="Arial"/>
                <a:cs typeface="Arial"/>
              </a:rPr>
              <a:t>K</a:t>
            </a:r>
            <a:r>
              <a:rPr sz="1050" spc="-37" baseline="-11904" dirty="0">
                <a:latin typeface="Arial"/>
                <a:cs typeface="Arial"/>
              </a:rPr>
              <a:t>1</a:t>
            </a:r>
            <a:endParaRPr sz="1050" baseline="-11904">
              <a:latin typeface="Arial"/>
              <a:cs typeface="Arial"/>
            </a:endParaRPr>
          </a:p>
          <a:p>
            <a:pPr marL="38100">
              <a:lnSpc>
                <a:spcPts val="1195"/>
              </a:lnSpc>
            </a:pPr>
            <a:r>
              <a:rPr sz="1000" spc="-10" dirty="0">
                <a:latin typeface="Arial"/>
                <a:cs typeface="Arial"/>
              </a:rPr>
              <a:t>a</a:t>
            </a:r>
            <a:r>
              <a:rPr sz="1000" i="1" spc="-10" dirty="0">
                <a:latin typeface="Arial"/>
                <a:cs typeface="Arial"/>
              </a:rPr>
              <a:t>K</a:t>
            </a:r>
            <a:r>
              <a:rPr sz="1050" spc="-15" baseline="-11904" dirty="0">
                <a:latin typeface="Arial"/>
                <a:cs typeface="Arial"/>
              </a:rPr>
              <a:t>1</a:t>
            </a:r>
            <a:r>
              <a:rPr sz="1000" spc="-10" dirty="0">
                <a:latin typeface="Arial"/>
                <a:cs typeface="Arial"/>
              </a:rPr>
              <a:t>+b</a:t>
            </a:r>
            <a:r>
              <a:rPr sz="1000" i="1" spc="-10" dirty="0">
                <a:latin typeface="Arial"/>
                <a:cs typeface="Arial"/>
              </a:rPr>
              <a:t>K</a:t>
            </a:r>
            <a:r>
              <a:rPr sz="1050" spc="-15" baseline="-11904" dirty="0">
                <a:latin typeface="Arial"/>
                <a:cs typeface="Arial"/>
              </a:rPr>
              <a:t>2</a:t>
            </a:r>
            <a:endParaRPr sz="1050" baseline="-11904">
              <a:latin typeface="Arial"/>
              <a:cs typeface="Arial"/>
            </a:endParaRPr>
          </a:p>
          <a:p>
            <a:pPr marL="38100">
              <a:lnSpc>
                <a:spcPts val="1200"/>
              </a:lnSpc>
            </a:pPr>
            <a:r>
              <a:rPr sz="1000" i="1" spc="-10" dirty="0">
                <a:latin typeface="Arial"/>
                <a:cs typeface="Arial"/>
              </a:rPr>
              <a:t>K</a:t>
            </a:r>
            <a:r>
              <a:rPr sz="1050" spc="-15" baseline="-11904" dirty="0">
                <a:latin typeface="Arial"/>
                <a:cs typeface="Arial"/>
              </a:rPr>
              <a:t>1</a:t>
            </a:r>
            <a:r>
              <a:rPr sz="1000" spc="-10" dirty="0">
                <a:latin typeface="Arial"/>
                <a:cs typeface="Arial"/>
              </a:rPr>
              <a:t>.</a:t>
            </a:r>
            <a:r>
              <a:rPr sz="1000" i="1" spc="-10" dirty="0">
                <a:latin typeface="Arial"/>
                <a:cs typeface="Arial"/>
              </a:rPr>
              <a:t>K</a:t>
            </a:r>
            <a:r>
              <a:rPr sz="1050" spc="-15" baseline="-11904" dirty="0">
                <a:latin typeface="Arial"/>
                <a:cs typeface="Arial"/>
              </a:rPr>
              <a:t>2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545" y="2592157"/>
            <a:ext cx="2503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are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i="1" spc="-245" dirty="0">
                <a:latin typeface="Times New Roman"/>
                <a:cs typeface="Times New Roman"/>
              </a:rPr>
              <a:t>E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200" spc="-37" baseline="27777" dirty="0">
                <a:latin typeface="Verdana"/>
                <a:cs typeface="Verdana"/>
              </a:rPr>
              <a:t>+</a:t>
            </a:r>
            <a:r>
              <a:rPr sz="1100" spc="-2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Mercers</a:t>
            </a:r>
            <a:r>
              <a:rPr spc="95" dirty="0"/>
              <a:t> </a:t>
            </a:r>
            <a:r>
              <a:rPr dirty="0"/>
              <a:t>Theorem:</a:t>
            </a:r>
            <a:r>
              <a:rPr spc="215" dirty="0"/>
              <a:t> </a:t>
            </a:r>
            <a:r>
              <a:rPr dirty="0"/>
              <a:t>Properties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Kernel</a:t>
            </a:r>
            <a:r>
              <a:rPr spc="9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5B7A869E-601B-4A72-B3F6-E2360767EC6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131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159865"/>
            <a:ext cx="76809" cy="768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87957"/>
            <a:ext cx="4053204" cy="11982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Another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requirement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corresponding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computed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pair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equivalent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dot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between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vectors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transformed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12700" marR="191135">
              <a:lnSpc>
                <a:spcPct val="102699"/>
              </a:lnSpc>
              <a:spcBef>
                <a:spcPts val="1150"/>
              </a:spcBef>
            </a:pPr>
            <a:r>
              <a:rPr sz="1100" dirty="0">
                <a:latin typeface="Arial"/>
                <a:cs typeface="Arial"/>
              </a:rPr>
              <a:t>This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requirement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formally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Arial"/>
                <a:cs typeface="Arial"/>
              </a:rPr>
              <a:t>Mercer’s theorem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994115"/>
            <a:ext cx="76809" cy="768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Mercers</a:t>
            </a:r>
            <a:r>
              <a:rPr spc="95" dirty="0"/>
              <a:t> </a:t>
            </a:r>
            <a:r>
              <a:rPr dirty="0"/>
              <a:t>Theorem:</a:t>
            </a:r>
            <a:r>
              <a:rPr spc="215" dirty="0"/>
              <a:t> </a:t>
            </a:r>
            <a:r>
              <a:rPr dirty="0"/>
              <a:t>Properties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Kernel</a:t>
            </a:r>
            <a:r>
              <a:rPr spc="9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C5AECF72-C0CF-4280-A164-41F7CC22AE37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132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42162"/>
            <a:ext cx="4483735" cy="1122680"/>
            <a:chOff x="87743" y="842162"/>
            <a:chExt cx="4483735" cy="1122680"/>
          </a:xfrm>
        </p:grpSpPr>
        <p:sp>
          <p:nvSpPr>
            <p:cNvPr id="4" name="object 4"/>
            <p:cNvSpPr/>
            <p:nvPr/>
          </p:nvSpPr>
          <p:spPr>
            <a:xfrm>
              <a:off x="87743" y="842162"/>
              <a:ext cx="4432935" cy="192405"/>
            </a:xfrm>
            <a:custGeom>
              <a:avLst/>
              <a:gdLst/>
              <a:ahLst/>
              <a:cxnLst/>
              <a:rect l="l" t="t" r="r" b="b"/>
              <a:pathLst>
                <a:path w="4432935" h="192405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2082"/>
                  </a:lnTo>
                  <a:lnTo>
                    <a:pt x="4432566" y="192082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21600"/>
              <a:ext cx="4432565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6283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50135"/>
              <a:ext cx="4381715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886409"/>
              <a:ext cx="50749" cy="9764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65863"/>
              <a:ext cx="4432935" cy="848360"/>
            </a:xfrm>
            <a:custGeom>
              <a:avLst/>
              <a:gdLst/>
              <a:ahLst/>
              <a:cxnLst/>
              <a:rect l="l" t="t" r="r" b="b"/>
              <a:pathLst>
                <a:path w="4432935" h="848360">
                  <a:moveTo>
                    <a:pt x="4432566" y="0"/>
                  </a:moveTo>
                  <a:lnTo>
                    <a:pt x="0" y="0"/>
                  </a:lnTo>
                  <a:lnTo>
                    <a:pt x="0" y="796972"/>
                  </a:lnTo>
                  <a:lnTo>
                    <a:pt x="4008" y="816696"/>
                  </a:lnTo>
                  <a:lnTo>
                    <a:pt x="14922" y="832849"/>
                  </a:lnTo>
                  <a:lnTo>
                    <a:pt x="31075" y="843764"/>
                  </a:lnTo>
                  <a:lnTo>
                    <a:pt x="50800" y="847772"/>
                  </a:lnTo>
                  <a:lnTo>
                    <a:pt x="4381765" y="847772"/>
                  </a:lnTo>
                  <a:lnTo>
                    <a:pt x="4401490" y="843764"/>
                  </a:lnTo>
                  <a:lnTo>
                    <a:pt x="4417643" y="832849"/>
                  </a:lnTo>
                  <a:lnTo>
                    <a:pt x="4428558" y="816696"/>
                  </a:lnTo>
                  <a:lnTo>
                    <a:pt x="4432566" y="79697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924486"/>
              <a:ext cx="0" cy="957580"/>
            </a:xfrm>
            <a:custGeom>
              <a:avLst/>
              <a:gdLst/>
              <a:ahLst/>
              <a:cxnLst/>
              <a:rect l="l" t="t" r="r" b="b"/>
              <a:pathLst>
                <a:path h="957580">
                  <a:moveTo>
                    <a:pt x="0" y="9573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911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8990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8863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9557" y="2132952"/>
            <a:ext cx="76809" cy="768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9557" y="2515057"/>
            <a:ext cx="76809" cy="7680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9644" y="785742"/>
            <a:ext cx="4430395" cy="184912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Theore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10.1:</a:t>
            </a:r>
            <a:r>
              <a:rPr sz="12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Mercer’s</a:t>
            </a:r>
            <a:r>
              <a:rPr sz="12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Theorem</a:t>
            </a:r>
            <a:endParaRPr sz="1200">
              <a:latin typeface="Arial"/>
              <a:cs typeface="Arial"/>
            </a:endParaRPr>
          </a:p>
          <a:p>
            <a:pPr marL="88900" marR="55880">
              <a:lnSpc>
                <a:spcPct val="102600"/>
              </a:lnSpc>
              <a:spcBef>
                <a:spcPts val="240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7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expressed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0" dirty="0">
                <a:latin typeface="Arial"/>
                <a:cs typeface="Arial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(</a:t>
            </a:r>
            <a:r>
              <a:rPr sz="1100" i="1" spc="70" dirty="0">
                <a:latin typeface="Arial"/>
                <a:cs typeface="Arial"/>
              </a:rPr>
              <a:t>X</a:t>
            </a:r>
            <a:r>
              <a:rPr sz="1100" i="1" spc="70" dirty="0">
                <a:latin typeface="Times New Roman"/>
                <a:cs typeface="Times New Roman"/>
              </a:rPr>
              <a:t>,</a:t>
            </a:r>
            <a:r>
              <a:rPr sz="1100" i="1" spc="-8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5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3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Times New Roman"/>
                <a:cs typeface="Times New Roman"/>
              </a:rPr>
              <a:t>.φ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5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dirty="0">
                <a:latin typeface="Arial"/>
                <a:cs typeface="Arial"/>
              </a:rPr>
              <a:t>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only if, for any function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"/>
                <a:cs typeface="Arial"/>
              </a:rPr>
              <a:t>such that </a:t>
            </a:r>
            <a:r>
              <a:rPr sz="1650" baseline="45454" dirty="0">
                <a:latin typeface="Trebuchet MS"/>
                <a:cs typeface="Trebuchet MS"/>
              </a:rPr>
              <a:t>J</a:t>
            </a:r>
            <a:r>
              <a:rPr sz="1650" spc="97" baseline="45454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200" baseline="27777" dirty="0">
                <a:latin typeface="Arial"/>
                <a:cs typeface="Arial"/>
              </a:rPr>
              <a:t>2</a:t>
            </a:r>
            <a:r>
              <a:rPr sz="1100" i="1" dirty="0">
                <a:latin typeface="Times New Roman"/>
                <a:cs typeface="Times New Roman"/>
              </a:rPr>
              <a:t>.</a:t>
            </a:r>
            <a:r>
              <a:rPr sz="1100" i="1" dirty="0">
                <a:latin typeface="Arial"/>
                <a:cs typeface="Arial"/>
              </a:rPr>
              <a:t>dx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 finite </a:t>
            </a:r>
            <a:r>
              <a:rPr sz="1100" spc="-20" dirty="0">
                <a:latin typeface="Arial"/>
                <a:cs typeface="Arial"/>
              </a:rPr>
              <a:t>then</a:t>
            </a:r>
            <a:endParaRPr sz="1100">
              <a:latin typeface="Arial"/>
              <a:cs typeface="Arial"/>
            </a:endParaRPr>
          </a:p>
          <a:p>
            <a:pPr marL="1362710">
              <a:lnSpc>
                <a:spcPct val="100000"/>
              </a:lnSpc>
              <a:spcBef>
                <a:spcPts val="210"/>
              </a:spcBef>
            </a:pPr>
            <a:r>
              <a:rPr sz="1100" dirty="0">
                <a:latin typeface="Trebuchet MS"/>
                <a:cs typeface="Trebuchet MS"/>
              </a:rPr>
              <a:t>Z</a:t>
            </a:r>
            <a:endParaRPr sz="1100">
              <a:latin typeface="Trebuchet MS"/>
              <a:cs typeface="Trebuchet MS"/>
            </a:endParaRPr>
          </a:p>
          <a:p>
            <a:pPr marL="240029" algn="ctr">
              <a:lnSpc>
                <a:spcPct val="100000"/>
              </a:lnSpc>
              <a:spcBef>
                <a:spcPts val="165"/>
              </a:spcBef>
            </a:pP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(</a:t>
            </a:r>
            <a:r>
              <a:rPr sz="1100" i="1" spc="70" dirty="0">
                <a:latin typeface="Arial"/>
                <a:cs typeface="Arial"/>
              </a:rPr>
              <a:t>X</a:t>
            </a:r>
            <a:r>
              <a:rPr sz="1100" i="1" spc="70" dirty="0">
                <a:latin typeface="Times New Roman"/>
                <a:cs typeface="Times New Roman"/>
              </a:rPr>
              <a:t>,</a:t>
            </a:r>
            <a:r>
              <a:rPr sz="1100" i="1" spc="-4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1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7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)</a:t>
            </a:r>
            <a:r>
              <a:rPr sz="1100" i="1" dirty="0">
                <a:latin typeface="Arial"/>
                <a:cs typeface="Arial"/>
              </a:rPr>
              <a:t>dxdy</a:t>
            </a:r>
            <a:r>
              <a:rPr sz="1100" i="1" spc="22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15" dirty="0">
                <a:latin typeface="Meiryo"/>
                <a:cs typeface="Meiryo"/>
              </a:rPr>
              <a:t> </a:t>
            </a:r>
            <a:r>
              <a:rPr sz="1100" spc="-50" dirty="0"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Arial"/>
              <a:cs typeface="Arial"/>
            </a:endParaRPr>
          </a:p>
          <a:p>
            <a:pPr marL="365760" marR="58419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satisfy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Mercer’s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theorem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Mercer kernels.</a:t>
            </a:r>
            <a:endParaRPr sz="110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Additional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properties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Mercer’s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Mercers</a:t>
            </a:r>
            <a:r>
              <a:rPr spc="95" dirty="0"/>
              <a:t> </a:t>
            </a:r>
            <a:r>
              <a:rPr dirty="0"/>
              <a:t>Theorem:</a:t>
            </a:r>
            <a:r>
              <a:rPr spc="215" dirty="0"/>
              <a:t> </a:t>
            </a:r>
            <a:r>
              <a:rPr dirty="0"/>
              <a:t>Properties</a:t>
            </a:r>
            <a:r>
              <a:rPr spc="95" dirty="0"/>
              <a:t> </a:t>
            </a:r>
            <a:r>
              <a:rPr dirty="0"/>
              <a:t>of</a:t>
            </a:r>
            <a:r>
              <a:rPr spc="100" dirty="0"/>
              <a:t> </a:t>
            </a:r>
            <a:r>
              <a:rPr dirty="0"/>
              <a:t>Kernel</a:t>
            </a:r>
            <a:r>
              <a:rPr spc="9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61B330DC-5F7D-454B-BA30-F873C8AD015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133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889330"/>
            <a:ext cx="76809" cy="768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557" y="1243355"/>
            <a:ext cx="76809" cy="768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57" y="1769465"/>
            <a:ext cx="76809" cy="768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9557" y="2539644"/>
            <a:ext cx="76809" cy="7680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6732" y="817421"/>
            <a:ext cx="4060190" cy="184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Symmetric: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(</a:t>
            </a:r>
            <a:r>
              <a:rPr sz="1100" i="1" spc="70" dirty="0">
                <a:latin typeface="Arial"/>
                <a:cs typeface="Arial"/>
              </a:rPr>
              <a:t>X</a:t>
            </a:r>
            <a:r>
              <a:rPr sz="1100" i="1" spc="7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)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Arial"/>
                <a:cs typeface="Arial"/>
              </a:rPr>
              <a:t>X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Positive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definite: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</a:t>
            </a:r>
            <a:r>
              <a:rPr sz="1200" i="1" spc="-15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i="1" spc="75" dirty="0">
                <a:latin typeface="Times New Roman"/>
                <a:cs typeface="Times New Roman"/>
              </a:rPr>
              <a:t>.</a:t>
            </a:r>
            <a:r>
              <a:rPr sz="1100" i="1" spc="75" dirty="0">
                <a:latin typeface="Arial"/>
                <a:cs typeface="Arial"/>
              </a:rPr>
              <a:t>K</a:t>
            </a:r>
            <a:r>
              <a:rPr sz="1100" i="1" spc="75" dirty="0">
                <a:latin typeface="Times New Roman"/>
                <a:cs typeface="Times New Roman"/>
              </a:rPr>
              <a:t>.α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spc="-50" dirty="0">
                <a:latin typeface="Meiryo"/>
                <a:cs typeface="Meiryo"/>
              </a:rPr>
              <a:t>≥</a:t>
            </a:r>
            <a:r>
              <a:rPr sz="1100" i="1" spc="-70" dirty="0">
                <a:latin typeface="Meiryo"/>
                <a:cs typeface="Meiryo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αE</a:t>
            </a:r>
            <a:r>
              <a:rPr sz="1100" i="1" dirty="0">
                <a:latin typeface="Arial"/>
                <a:cs typeface="Arial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247" baseline="27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×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88265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gram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matrix.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88900" marR="4445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listed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Table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  <a:hlinkClick r:id="rId5" action="ppaction://hlinksldjump"/>
              </a:rPr>
              <a:t>2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satisfying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kernel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properties,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(ii)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Mercer’s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theorem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(iii) </a:t>
            </a:r>
            <a:r>
              <a:rPr sz="1100" dirty="0">
                <a:latin typeface="Arial"/>
                <a:cs typeface="Arial"/>
              </a:rPr>
              <a:t>Mercer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kernels.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100" b="1" spc="-10" dirty="0">
                <a:latin typeface="Arial"/>
                <a:cs typeface="Arial"/>
              </a:rPr>
              <a:t>Practice</a:t>
            </a:r>
            <a:r>
              <a:rPr sz="1100" spc="-10" dirty="0">
                <a:latin typeface="Arial"/>
                <a:cs typeface="Arial"/>
              </a:rPr>
              <a:t>Prove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k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i="1" spc="60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65" dirty="0">
                <a:latin typeface="Arial"/>
                <a:cs typeface="Arial"/>
              </a:rPr>
              <a:t>z</a:t>
            </a:r>
            <a:r>
              <a:rPr sz="1100" spc="65" dirty="0">
                <a:latin typeface="Lucida Sans Unicode"/>
                <a:cs typeface="Lucida Sans Unicode"/>
              </a:rPr>
              <a:t>)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=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i="1" spc="-50" dirty="0">
                <a:latin typeface="Meiryo"/>
                <a:cs typeface="Meiryo"/>
              </a:rPr>
              <a:t>−</a:t>
            </a:r>
            <a:r>
              <a:rPr sz="1100" i="1" spc="-135" dirty="0">
                <a:latin typeface="Meiryo"/>
                <a:cs typeface="Meiryo"/>
              </a:rPr>
              <a:t> </a:t>
            </a:r>
            <a:r>
              <a:rPr sz="1100" i="1" spc="55" dirty="0">
                <a:latin typeface="Arial"/>
                <a:cs typeface="Arial"/>
              </a:rPr>
              <a:t>X</a:t>
            </a:r>
            <a:r>
              <a:rPr sz="1200" i="1" spc="82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valid</a:t>
            </a:r>
            <a:r>
              <a:rPr sz="1100" spc="-10" dirty="0">
                <a:latin typeface="Arial"/>
                <a:cs typeface="Arial"/>
              </a:rPr>
              <a:t> kernel.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63" y="-76389"/>
            <a:ext cx="3976211" cy="66891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Characteristics</a:t>
            </a:r>
            <a:r>
              <a:rPr spc="110" dirty="0"/>
              <a:t> </a:t>
            </a:r>
            <a:r>
              <a:rPr dirty="0"/>
              <a:t>of</a:t>
            </a:r>
            <a:r>
              <a:rPr spc="110" dirty="0"/>
              <a:t> </a:t>
            </a:r>
            <a:r>
              <a:rPr spc="-25" dirty="0"/>
              <a:t>SVM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A1200E95-DB6F-4947-8674-453D852C9F6A}" type="datetime1">
              <a:rPr lang="en-US" spc="-10" smtClean="0"/>
              <a:t>11/10/2025</a:t>
            </a:fld>
            <a:endParaRPr spc="-10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r>
              <a:rPr lang="en-US" spc="-20"/>
              <a:t>SVM</a:t>
            </a:r>
            <a:endParaRPr lang="en-US" spc="-2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dirty="0"/>
              <a:t>134</a:t>
            </a:fld>
            <a:r>
              <a:rPr spc="-15" dirty="0"/>
              <a:t> </a:t>
            </a:r>
            <a:r>
              <a:rPr dirty="0"/>
              <a:t>/</a:t>
            </a:r>
            <a:r>
              <a:rPr spc="-10" dirty="0"/>
              <a:t> </a:t>
            </a:r>
            <a:r>
              <a:rPr spc="-25" dirty="0"/>
              <a:t>131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612711"/>
            <a:ext cx="134416" cy="1344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0106" y="611726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522" y="611726"/>
            <a:ext cx="4058920" cy="2479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032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SVM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formulated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convex </a:t>
            </a:r>
            <a:r>
              <a:rPr sz="1100" dirty="0">
                <a:latin typeface="Arial"/>
                <a:cs typeface="Arial"/>
              </a:rPr>
              <a:t>optimization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problem,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which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efficient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algorithms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available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global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minimum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objective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methods </a:t>
            </a:r>
            <a:r>
              <a:rPr sz="1100" dirty="0">
                <a:latin typeface="Arial"/>
                <a:cs typeface="Arial"/>
              </a:rPr>
              <a:t>namely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based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classifier,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etc.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local </a:t>
            </a:r>
            <a:r>
              <a:rPr sz="1100" dirty="0">
                <a:latin typeface="Arial"/>
                <a:cs typeface="Arial"/>
              </a:rPr>
              <a:t>optimum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solutions.</a:t>
            </a:r>
            <a:endParaRPr sz="1100" dirty="0">
              <a:latin typeface="Arial"/>
              <a:cs typeface="Arial"/>
            </a:endParaRPr>
          </a:p>
          <a:p>
            <a:pPr marL="12700" marR="576580">
              <a:lnSpc>
                <a:spcPct val="102699"/>
              </a:lnSpc>
              <a:spcBef>
                <a:spcPts val="580"/>
              </a:spcBef>
            </a:pPr>
            <a:r>
              <a:rPr sz="1100" dirty="0">
                <a:latin typeface="Arial"/>
                <a:cs typeface="Arial"/>
              </a:rPr>
              <a:t>SVM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suitable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both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25" dirty="0">
                <a:latin typeface="Arial"/>
                <a:cs typeface="Arial"/>
              </a:rPr>
              <a:t> as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linear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efficiently.</a:t>
            </a:r>
            <a:endParaRPr sz="1100" dirty="0">
              <a:latin typeface="Arial"/>
              <a:cs typeface="Arial"/>
            </a:endParaRPr>
          </a:p>
          <a:p>
            <a:pPr marL="12700" marR="98425">
              <a:lnSpc>
                <a:spcPct val="102699"/>
              </a:lnSpc>
              <a:spcBef>
                <a:spcPts val="585"/>
              </a:spcBef>
            </a:pPr>
            <a:r>
              <a:rPr sz="1100" dirty="0">
                <a:latin typeface="Arial"/>
                <a:cs typeface="Arial"/>
              </a:rPr>
              <a:t>SVM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applied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categorical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introducing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suitable </a:t>
            </a:r>
            <a:r>
              <a:rPr sz="1100" dirty="0">
                <a:latin typeface="Arial"/>
                <a:cs typeface="Arial"/>
              </a:rPr>
              <a:t>similarity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measures.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80"/>
              </a:spcBef>
            </a:pPr>
            <a:r>
              <a:rPr sz="1100" dirty="0">
                <a:latin typeface="Arial"/>
                <a:cs typeface="Arial"/>
              </a:rPr>
              <a:t>Computational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complexity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influenced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training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data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dimension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fact,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learning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computationally </a:t>
            </a:r>
            <a:r>
              <a:rPr sz="1100" dirty="0">
                <a:latin typeface="Arial"/>
                <a:cs typeface="Arial"/>
              </a:rPr>
              <a:t>heavy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hence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slow,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classification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extremely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fast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accurate.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705" y="1547050"/>
            <a:ext cx="134416" cy="1344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0106" y="1546052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1965159"/>
            <a:ext cx="134416" cy="1344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0106" y="1963539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05" y="2383256"/>
            <a:ext cx="134416" cy="13441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0106" y="2382271"/>
            <a:ext cx="679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890" y="3331252"/>
            <a:ext cx="1210310" cy="1212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Debasis</a:t>
            </a: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Samanta</a:t>
            </a:r>
            <a:r>
              <a:rPr sz="600" b="1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(IIT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Kharagpur)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</TotalTime>
  <Words>12871</Words>
  <Application>Microsoft Office PowerPoint</Application>
  <PresentationFormat>Custom</PresentationFormat>
  <Paragraphs>1918</Paragraphs>
  <Slides>134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134</vt:i4>
      </vt:variant>
    </vt:vector>
  </HeadingPairs>
  <TitlesOfParts>
    <vt:vector size="149" baseType="lpstr">
      <vt:lpstr>Meiryo</vt:lpstr>
      <vt:lpstr>Arial</vt:lpstr>
      <vt:lpstr>Calibri</vt:lpstr>
      <vt:lpstr>Calibri Light</vt:lpstr>
      <vt:lpstr>Georgia</vt:lpstr>
      <vt:lpstr>Heisei Maru Gothic Std W4</vt:lpstr>
      <vt:lpstr>Lucida Sans Unicode</vt:lpstr>
      <vt:lpstr>Palatino Linotype</vt:lpstr>
      <vt:lpstr>Postino Std</vt:lpstr>
      <vt:lpstr>Source Serif 4</vt:lpstr>
      <vt:lpstr>Tahoma</vt:lpstr>
      <vt:lpstr>Times New Roman</vt:lpstr>
      <vt:lpstr>Trebuchet MS</vt:lpstr>
      <vt:lpstr>Verdana</vt:lpstr>
      <vt:lpstr>Office Theme</vt:lpstr>
      <vt:lpstr>PowerPoint Presentation</vt:lpstr>
      <vt:lpstr>PowerPoint Presentation</vt:lpstr>
      <vt:lpstr>Introduction to SVM</vt:lpstr>
      <vt:lpstr>PowerPoint Presentation</vt:lpstr>
      <vt:lpstr>PowerPoint Presentation</vt:lpstr>
      <vt:lpstr>Introduction</vt:lpstr>
      <vt:lpstr>PowerPoint Presentation</vt:lpstr>
      <vt:lpstr>Introduction</vt:lpstr>
      <vt:lpstr>PowerPoint Presentation</vt:lpstr>
      <vt:lpstr>Maximum Margin Hyperplane</vt:lpstr>
      <vt:lpstr>PowerPoint Presentation</vt:lpstr>
      <vt:lpstr>Maximum Margin Hyperplane contd...</vt:lpstr>
      <vt:lpstr>Maximum Margin Hyperplane contd...</vt:lpstr>
      <vt:lpstr>Maximum Margin Hyperplane contd...</vt:lpstr>
      <vt:lpstr>Figure 3: Hyperplanes with decision boundaries and their margins.</vt:lpstr>
      <vt:lpstr>Maximum Margin Hyperplane contd...</vt:lpstr>
      <vt:lpstr>Maximum Margin Hyperplane contd...</vt:lpstr>
      <vt:lpstr>PowerPoint Presentation</vt:lpstr>
      <vt:lpstr>Linear SVM</vt:lpstr>
      <vt:lpstr>Linear SVM</vt:lpstr>
      <vt:lpstr>Finding MMH for a Linear SVM</vt:lpstr>
      <vt:lpstr>Finding MMH for a Linear SVM</vt:lpstr>
      <vt:lpstr>Equation of a hyperplane in 2-D</vt:lpstr>
      <vt:lpstr>Equation of a hyperplane in 2-D</vt:lpstr>
      <vt:lpstr>Equation of a hyperplane</vt:lpstr>
      <vt:lpstr>Finding a hyperplane</vt:lpstr>
      <vt:lpstr>Finding a hyperplane</vt:lpstr>
      <vt:lpstr>PowerPoint Presentation</vt:lpstr>
      <vt:lpstr>Finding a hyperplane</vt:lpstr>
      <vt:lpstr>Hyperplane and Classification</vt:lpstr>
      <vt:lpstr>Hyperplane and Classification</vt:lpstr>
      <vt:lpstr>Calculating Margin of a Hyperplane</vt:lpstr>
      <vt:lpstr>Calculating Margin of a Hyperplane</vt:lpstr>
      <vt:lpstr>Calculating Margin of a Hyperplane</vt:lpstr>
      <vt:lpstr>Calculating Margin of a Hyperplane</vt:lpstr>
      <vt:lpstr>Calculating Margin of a Hyperplane</vt:lpstr>
      <vt:lpstr>Calculating Margin of a Hyperplane</vt:lpstr>
      <vt:lpstr>Learning for a Linear SVM</vt:lpstr>
      <vt:lpstr>Searching for MMH</vt:lpstr>
      <vt:lpstr>Searching for MMH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Lagrange Multiplier Method</vt:lpstr>
      <vt:lpstr>LMM to Solve Linear SVM</vt:lpstr>
      <vt:lpstr>LMM to Solve Linear SVM</vt:lpstr>
      <vt:lpstr>LMM to Solve Linear SVM</vt:lpstr>
      <vt:lpstr>Classifying a test sample using Linear SVM</vt:lpstr>
      <vt:lpstr>Classifying a test sample using Linear SVM</vt:lpstr>
      <vt:lpstr>Classifying a test sample using Linear SVM</vt:lpstr>
      <vt:lpstr>Illustration : Linear SVM</vt:lpstr>
      <vt:lpstr>PowerPoint Presentation</vt:lpstr>
      <vt:lpstr>PowerPoint Presentation</vt:lpstr>
      <vt:lpstr>Illustration : Linear SVM</vt:lpstr>
      <vt:lpstr>Illustration : Linear SVM</vt:lpstr>
      <vt:lpstr>Classification of Multiple-class Data</vt:lpstr>
      <vt:lpstr>Multi-Class Classification: OVO Strategy</vt:lpstr>
      <vt:lpstr>PowerPoint Presentation</vt:lpstr>
      <vt:lpstr>Multi-Class Classification: OVO Strategy</vt:lpstr>
      <vt:lpstr>Multi-Class Classification: OVA Strategy</vt:lpstr>
      <vt:lpstr>Multi-Class Classification: OVA Strategy</vt:lpstr>
      <vt:lpstr>Multi-Class Classification: OVA Strategy</vt:lpstr>
      <vt:lpstr>Multi-Class Classification: OVA Strategy</vt:lpstr>
      <vt:lpstr>Multi-Class Classification: OVA Strategy</vt:lpstr>
      <vt:lpstr>PowerPoint Presentation</vt:lpstr>
      <vt:lpstr>Non-Linear SVM</vt:lpstr>
      <vt:lpstr>Non-Linear SVM</vt:lpstr>
      <vt:lpstr>PowerPoint Presentation</vt:lpstr>
      <vt:lpstr>SVM classification for non separable data</vt:lpstr>
      <vt:lpstr>Linear SVM for Linearly Not Separable Data</vt:lpstr>
      <vt:lpstr>Linear SVM for Linearly Not Separable Data</vt:lpstr>
      <vt:lpstr>Linear SVM for Linearly Not Separable Data</vt:lpstr>
      <vt:lpstr>Linear SVM for Linearly Not Separable Data</vt:lpstr>
      <vt:lpstr>Soft Margin SVM</vt:lpstr>
      <vt:lpstr>Soft Margin SVM</vt:lpstr>
      <vt:lpstr>Soft Margin SVM : Interpretation of ξ</vt:lpstr>
      <vt:lpstr>Soft Margin SVM : Interpretation of ξ</vt:lpstr>
      <vt:lpstr>Soft Margin SVM : Interpretation of ξ</vt:lpstr>
      <vt:lpstr>Soft Margin SVM : Interpretation of ξ</vt:lpstr>
      <vt:lpstr>Soft Margin SVM : Interpretation of ξ</vt:lpstr>
      <vt:lpstr>Solving for Soft Margin SVM</vt:lpstr>
      <vt:lpstr>Solving for Soft Margin SVM</vt:lpstr>
      <vt:lpstr>Solving for Soft Margin SVM</vt:lpstr>
      <vt:lpstr>Non-Linear SVM</vt:lpstr>
      <vt:lpstr>Non-Linear SVM</vt:lpstr>
      <vt:lpstr>Non-Linear SVM</vt:lpstr>
      <vt:lpstr>Non-Linear SVM</vt:lpstr>
      <vt:lpstr>Concept of Non-Linear Mapping</vt:lpstr>
      <vt:lpstr>Concept of Non-Linear Mapping</vt:lpstr>
      <vt:lpstr>Concept of Non-Linear Mapping</vt:lpstr>
      <vt:lpstr>Concept of Non-Linear Mapping</vt:lpstr>
      <vt:lpstr>Concept of Non-Linear Mapping</vt:lpstr>
      <vt:lpstr>Concept of Non-Linear Mapping</vt:lpstr>
      <vt:lpstr>Non-Linear to Linear Transformation: Issues</vt:lpstr>
      <vt:lpstr>Non-Linear to Linear Transformation: Issues</vt:lpstr>
      <vt:lpstr>Non-Linear to Linear Transformation: Issues</vt:lpstr>
      <vt:lpstr>Dual Formulation of Optimization Problem</vt:lpstr>
      <vt:lpstr>Dual Formulation of Optimization Problem</vt:lpstr>
      <vt:lpstr>Dual Formulation of Optimization Problem</vt:lpstr>
      <vt:lpstr>Dual Formulation of Optimization Problem</vt:lpstr>
      <vt:lpstr>Dual Formulation of Optimization Problem</vt:lpstr>
      <vt:lpstr>Dual Formulation of Optimization Problem</vt:lpstr>
      <vt:lpstr>Dual Formulation of Optimization Problem</vt:lpstr>
      <vt:lpstr>Kernel Trick</vt:lpstr>
      <vt:lpstr>Figure 16: SVM classifier in transformed feature space</vt:lpstr>
      <vt:lpstr>Kernel Trick</vt:lpstr>
      <vt:lpstr>Kernel Trick</vt:lpstr>
      <vt:lpstr>Kernel Trick</vt:lpstr>
      <vt:lpstr>Kernel Trick</vt:lpstr>
      <vt:lpstr>Kernel Trick</vt:lpstr>
      <vt:lpstr>Kernel Trick</vt:lpstr>
      <vt:lpstr>Kernel Trick</vt:lpstr>
      <vt:lpstr>Kernel Trick</vt:lpstr>
      <vt:lpstr>Kernel Trick : Correlation between Xi.Xj and φ(Xi ).φ(Xj )</vt:lpstr>
      <vt:lpstr>Kernel Trick : Significance</vt:lpstr>
      <vt:lpstr>Kernel Trick : Significance</vt:lpstr>
      <vt:lpstr>Kernel Trick : Significance</vt:lpstr>
      <vt:lpstr>Kernel Trick : Significance</vt:lpstr>
      <vt:lpstr>Kernel Trick : Significance</vt:lpstr>
      <vt:lpstr>Kernel Functions</vt:lpstr>
      <vt:lpstr>PowerPoint Presentation</vt:lpstr>
      <vt:lpstr>Kernel Functions : Example</vt:lpstr>
      <vt:lpstr>Kernel Functions : Example</vt:lpstr>
      <vt:lpstr>Mercers Theorem: Properties of Kernel Functions</vt:lpstr>
      <vt:lpstr>Mercers Theorem: Properties of Kernel Functions</vt:lpstr>
      <vt:lpstr>Mercers Theorem: Properties of Kernel Functions</vt:lpstr>
      <vt:lpstr>Mercers Theorem: Properties of Kernel Functions</vt:lpstr>
      <vt:lpstr>Characteristics of SVM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</dc:title>
  <dc:creator>Debasis Samanta</dc:creator>
  <cp:lastModifiedBy>Sanjit Setua</cp:lastModifiedBy>
  <cp:revision>30</cp:revision>
  <dcterms:created xsi:type="dcterms:W3CDTF">2022-12-12T01:28:44Z</dcterms:created>
  <dcterms:modified xsi:type="dcterms:W3CDTF">2025-11-09T23:04:21Z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2018-10-25T00:00:00Z</vt:filetime>
  </property>
  <property fmtid="{D5CDD505-2E9C-101B-9397-08002B2CF9AE}" pid="3" name="Creator">
    <vt:lpwstr>LaTeX with Beamer class version 3.20</vt:lpwstr>
  </property>
  <property fmtid="{D5CDD505-2E9C-101B-9397-08002B2CF9AE}" pid="4" name="LastSaved">
    <vt:filetime>2022-12-12T00:00:00Z</vt:filetime>
  </property>
  <property fmtid="{D5CDD505-2E9C-101B-9397-08002B2CF9AE}" pid="5" name="PTEX.Fullbanner">
    <vt:lpwstr>This is MiKTeX-pdfTeX 2.9.4535 (1.40.13)</vt:lpwstr>
  </property>
  <property fmtid="{D5CDD505-2E9C-101B-9397-08002B2CF9AE}" pid="6" name="Producer">
    <vt:lpwstr>pdfTeX-1.40.13</vt:lpwstr>
  </property>
</Properties>
</file>