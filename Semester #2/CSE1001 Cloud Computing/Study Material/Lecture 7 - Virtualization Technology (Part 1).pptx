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5" r:id="rId2"/>
    <p:sldId id="378" r:id="rId3"/>
    <p:sldId id="391" r:id="rId4"/>
    <p:sldId id="392" r:id="rId5"/>
    <p:sldId id="390" r:id="rId6"/>
    <p:sldId id="393" r:id="rId7"/>
    <p:sldId id="394" r:id="rId8"/>
    <p:sldId id="395" r:id="rId9"/>
    <p:sldId id="396" r:id="rId10"/>
    <p:sldId id="397" r:id="rId11"/>
    <p:sldId id="3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816" userDrawn="1">
          <p15:clr>
            <a:srgbClr val="A4A3A4"/>
          </p15:clr>
        </p15:guide>
        <p15:guide id="3" pos="816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8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93D81CF-94F2-401A-BA57-92F5A7B2D0C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79559" autoAdjust="0"/>
  </p:normalViewPr>
  <p:slideViewPr>
    <p:cSldViewPr>
      <p:cViewPr varScale="1">
        <p:scale>
          <a:sx n="80" d="100"/>
          <a:sy n="80" d="100"/>
        </p:scale>
        <p:origin x="136" y="80"/>
      </p:cViewPr>
      <p:guideLst>
        <p:guide pos="3840"/>
        <p:guide pos="6816"/>
        <p:guide pos="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5" d="100"/>
          <a:sy n="95" d="100"/>
        </p:scale>
        <p:origin x="357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pPr/>
              <a:t>6/4/2025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pPr/>
              <a:t>6/4/2025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un rising over grassy hill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" y="0"/>
            <a:ext cx="12188699" cy="47993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 bwMode="ltGray">
          <a:xfrm>
            <a:off x="-2" y="4754880"/>
            <a:ext cx="12192002" cy="21031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 bwMode="white">
          <a:xfrm>
            <a:off x="-127" y="4724400"/>
            <a:ext cx="12188826" cy="76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4800600"/>
            <a:ext cx="9144002" cy="11430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none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6pPr>
              <a:defRPr/>
            </a:lvl6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6/4/2025</a:t>
            </a:fld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0"/>
            <a:ext cx="12188826" cy="4572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-1" y="4114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6/4/2025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5843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ernate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143000"/>
            <a:ext cx="9144000" cy="2667000"/>
          </a:xfrm>
        </p:spPr>
        <p:txBody>
          <a:bodyPr anchor="b">
            <a:normAutofit/>
          </a:bodyPr>
          <a:lstStyle>
            <a:lvl1pPr algn="ctr">
              <a:defRPr sz="5200" b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3810000"/>
            <a:ext cx="9144000" cy="114300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6/4/2025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4328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7D43D-6574-4C7B-808D-C6C12215A4D4}" type="datetimeFigureOut">
              <a:rPr lang="en-US"/>
              <a:pPr/>
              <a:t>6/4/2025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E5F2-81AA-4605-B028-6FBA391056A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7078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6/4/2025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6/4/2025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201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6/4/2025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4212" y="685800"/>
            <a:ext cx="7239001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6/4/2025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lternat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12" y="2362200"/>
            <a:ext cx="3200400" cy="1990725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12" y="4367308"/>
            <a:ext cx="3200400" cy="1622012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892" y="685800"/>
            <a:ext cx="6370320" cy="5486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E583DDF-CA54-461A-A486-592D2374C532}" type="datetimeFigureOut">
              <a:rPr lang="en-US"/>
              <a:pPr/>
              <a:t>6/4/2025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3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7315200" y="0"/>
            <a:ext cx="4873752" cy="685800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2362200"/>
            <a:ext cx="3200400" cy="1993392"/>
          </a:xfrm>
        </p:spPr>
        <p:txBody>
          <a:bodyPr anchor="b">
            <a:normAutofit/>
          </a:bodyPr>
          <a:lstStyle>
            <a:lvl1pPr>
              <a:defRPr sz="34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0" y="0"/>
            <a:ext cx="7315200" cy="6858000"/>
          </a:xfrm>
          <a:solidFill>
            <a:schemeClr val="bg2">
              <a:lumMod val="90000"/>
            </a:schemeClr>
          </a:solidFill>
        </p:spPr>
        <p:txBody>
          <a:bodyPr/>
          <a:lstStyle>
            <a:lvl1pPr marL="0" indent="0" algn="ctr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4355592"/>
            <a:ext cx="3200400" cy="1644614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6/4/2025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6/4/2025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857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83DDF-CA54-461A-A486-592D2374C532}" type="datetimeFigureOut">
              <a:rPr lang="en-US"/>
              <a:pPr/>
              <a:t>6/4/2025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D9AD5-F248-4919-864A-CFD76CC027D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155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1587" y="6583680"/>
            <a:ext cx="12188826" cy="274320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path path="circle">
              <a:fillToRect l="50000" t="50000" r="50000" b="50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b="0" i="0" u="none" strike="noStrike" kern="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Euphemia"/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587" y="6583680"/>
            <a:ext cx="12188826" cy="45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9E583DDF-CA54-461A-A486-592D2374C532}" type="datetimeFigureOut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1" r:id="rId5"/>
    <p:sldLayoutId id="2147483653" r:id="rId6"/>
    <p:sldLayoutId id="2147483654" r:id="rId7"/>
    <p:sldLayoutId id="2147483655" r:id="rId8"/>
    <p:sldLayoutId id="2147483656" r:id="rId9"/>
    <p:sldLayoutId id="2147483663" r:id="rId10"/>
    <p:sldLayoutId id="2147483657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3400" kern="1200">
          <a:solidFill>
            <a:schemeClr val="tx2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SzPct val="80000"/>
        <a:buFont typeface="Wingdings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360">
          <p15:clr>
            <a:srgbClr val="F26B43"/>
          </p15:clr>
        </p15:guide>
        <p15:guide id="2" pos="40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5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1505185" y="384720"/>
            <a:ext cx="10363200" cy="236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48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 Technologies for</a:t>
            </a:r>
          </a:p>
          <a:p>
            <a:pPr algn="r"/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algn="r"/>
            <a:r>
              <a:rPr lang="en-US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523999" y="4872030"/>
            <a:ext cx="9144002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Dr.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Sunirmal</a:t>
            </a: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Khatua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Subtitle 3"/>
          <p:cNvSpPr>
            <a:spLocks noGrp="1"/>
          </p:cNvSpPr>
          <p:nvPr>
            <p:ph type="subTitle" idx="1"/>
          </p:nvPr>
        </p:nvSpPr>
        <p:spPr>
          <a:xfrm>
            <a:off x="1522413" y="5943600"/>
            <a:ext cx="9144002" cy="762000"/>
          </a:xfrm>
        </p:spPr>
        <p:txBody>
          <a:bodyPr>
            <a:normAutofit/>
          </a:bodyPr>
          <a:lstStyle/>
          <a:p>
            <a:r>
              <a:rPr lang="en-US" sz="1600" i="1" dirty="0" err="1" smtClean="0">
                <a:latin typeface="Times New Roman" pitchFamily="18" charset="0"/>
                <a:cs typeface="Times New Roman" pitchFamily="18" charset="0"/>
              </a:rPr>
              <a:t>Visvesvaraya</a:t>
            </a:r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 Young Faculty Fellow, Govt. of India</a:t>
            </a:r>
          </a:p>
          <a:p>
            <a:endParaRPr lang="en-US" sz="500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i="1" dirty="0" smtClean="0">
                <a:latin typeface="Times New Roman" pitchFamily="18" charset="0"/>
                <a:cs typeface="Times New Roman" pitchFamily="18" charset="0"/>
              </a:rPr>
              <a:t>Assistant Professor, Dept. of CSE, University of Calcutta, India</a:t>
            </a:r>
            <a:endParaRPr lang="en-US" sz="16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ubtitle 3"/>
          <p:cNvSpPr txBox="1">
            <a:spLocks/>
          </p:cNvSpPr>
          <p:nvPr/>
        </p:nvSpPr>
        <p:spPr>
          <a:xfrm>
            <a:off x="1523968" y="5105400"/>
            <a:ext cx="9144002" cy="76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Presented</a:t>
            </a:r>
            <a:r>
              <a:rPr kumimoji="0" lang="en-US" b="0" i="1" u="none" strike="noStrike" kern="120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By</a:t>
            </a: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952630"/>
            <a:ext cx="1171575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9880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What is Virtualization?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grpSp>
        <p:nvGrpSpPr>
          <p:cNvPr id="78" name="Group 11"/>
          <p:cNvGrpSpPr>
            <a:grpSpLocks/>
          </p:cNvGrpSpPr>
          <p:nvPr/>
        </p:nvGrpSpPr>
        <p:grpSpPr bwMode="auto">
          <a:xfrm>
            <a:off x="384175" y="3554413"/>
            <a:ext cx="5543550" cy="769937"/>
            <a:chOff x="242" y="2348"/>
            <a:chExt cx="3492" cy="485"/>
          </a:xfrm>
        </p:grpSpPr>
        <p:sp>
          <p:nvSpPr>
            <p:cNvPr id="21569" name="Rectangle 12"/>
            <p:cNvSpPr>
              <a:spLocks noChangeArrowheads="1"/>
            </p:cNvSpPr>
            <p:nvPr/>
          </p:nvSpPr>
          <p:spPr bwMode="auto">
            <a:xfrm>
              <a:off x="242" y="2348"/>
              <a:ext cx="3492" cy="407"/>
            </a:xfrm>
            <a:prstGeom prst="rect">
              <a:avLst/>
            </a:prstGeom>
            <a:solidFill>
              <a:srgbClr val="969696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0" name="Text Box 13"/>
            <p:cNvSpPr txBox="1">
              <a:spLocks noChangeArrowheads="1"/>
            </p:cNvSpPr>
            <p:nvPr/>
          </p:nvSpPr>
          <p:spPr bwMode="auto">
            <a:xfrm>
              <a:off x="1011" y="2426"/>
              <a:ext cx="2091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 Monitor</a:t>
              </a:r>
            </a:p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(Hypervisor)</a:t>
              </a:r>
            </a:p>
          </p:txBody>
        </p:sp>
      </p:grpSp>
      <p:grpSp>
        <p:nvGrpSpPr>
          <p:cNvPr id="84" name="Group 14"/>
          <p:cNvGrpSpPr>
            <a:grpSpLocks/>
          </p:cNvGrpSpPr>
          <p:nvPr/>
        </p:nvGrpSpPr>
        <p:grpSpPr bwMode="auto">
          <a:xfrm>
            <a:off x="1536700" y="985838"/>
            <a:ext cx="515938" cy="612775"/>
            <a:chOff x="968" y="730"/>
            <a:chExt cx="325" cy="386"/>
          </a:xfrm>
        </p:grpSpPr>
        <p:sp>
          <p:nvSpPr>
            <p:cNvPr id="21565" name="AutoShape 15"/>
            <p:cNvSpPr>
              <a:spLocks noChangeArrowheads="1"/>
            </p:cNvSpPr>
            <p:nvPr/>
          </p:nvSpPr>
          <p:spPr bwMode="auto">
            <a:xfrm>
              <a:off x="1127" y="730"/>
              <a:ext cx="127" cy="2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2211 w 21600"/>
                <a:gd name="T25" fmla="*/ 7692 h 21600"/>
                <a:gd name="T26" fmla="*/ 19219 w 21600"/>
                <a:gd name="T27" fmla="*/ 202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6625" y="20892"/>
                  </a:moveTo>
                  <a:lnTo>
                    <a:pt x="7105" y="21023"/>
                  </a:lnTo>
                  <a:lnTo>
                    <a:pt x="7513" y="21088"/>
                  </a:lnTo>
                  <a:lnTo>
                    <a:pt x="7922" y="21115"/>
                  </a:lnTo>
                  <a:lnTo>
                    <a:pt x="8242" y="21115"/>
                  </a:lnTo>
                  <a:lnTo>
                    <a:pt x="8544" y="21062"/>
                  </a:lnTo>
                  <a:lnTo>
                    <a:pt x="8810" y="20997"/>
                  </a:lnTo>
                  <a:lnTo>
                    <a:pt x="9023" y="20892"/>
                  </a:lnTo>
                  <a:lnTo>
                    <a:pt x="9148" y="20761"/>
                  </a:lnTo>
                  <a:lnTo>
                    <a:pt x="9290" y="20616"/>
                  </a:lnTo>
                  <a:lnTo>
                    <a:pt x="9361" y="20459"/>
                  </a:lnTo>
                  <a:lnTo>
                    <a:pt x="9396" y="20289"/>
                  </a:lnTo>
                  <a:lnTo>
                    <a:pt x="9396" y="20092"/>
                  </a:lnTo>
                  <a:lnTo>
                    <a:pt x="9325" y="19909"/>
                  </a:lnTo>
                  <a:lnTo>
                    <a:pt x="9219" y="19738"/>
                  </a:lnTo>
                  <a:lnTo>
                    <a:pt x="9094" y="19555"/>
                  </a:lnTo>
                  <a:lnTo>
                    <a:pt x="8917" y="19384"/>
                  </a:lnTo>
                  <a:lnTo>
                    <a:pt x="8650" y="19162"/>
                  </a:lnTo>
                  <a:lnTo>
                    <a:pt x="8437" y="18900"/>
                  </a:lnTo>
                  <a:lnTo>
                    <a:pt x="8277" y="18624"/>
                  </a:lnTo>
                  <a:lnTo>
                    <a:pt x="8135" y="18349"/>
                  </a:lnTo>
                  <a:lnTo>
                    <a:pt x="8028" y="18048"/>
                  </a:lnTo>
                  <a:lnTo>
                    <a:pt x="7993" y="17746"/>
                  </a:lnTo>
                  <a:lnTo>
                    <a:pt x="7993" y="17471"/>
                  </a:lnTo>
                  <a:lnTo>
                    <a:pt x="8028" y="17169"/>
                  </a:lnTo>
                  <a:lnTo>
                    <a:pt x="8135" y="16920"/>
                  </a:lnTo>
                  <a:lnTo>
                    <a:pt x="8277" y="16671"/>
                  </a:lnTo>
                  <a:lnTo>
                    <a:pt x="8366" y="16540"/>
                  </a:lnTo>
                  <a:lnTo>
                    <a:pt x="8473" y="16409"/>
                  </a:lnTo>
                  <a:lnTo>
                    <a:pt x="8615" y="16317"/>
                  </a:lnTo>
                  <a:lnTo>
                    <a:pt x="8739" y="16213"/>
                  </a:lnTo>
                  <a:lnTo>
                    <a:pt x="8881" y="16134"/>
                  </a:lnTo>
                  <a:lnTo>
                    <a:pt x="9059" y="16055"/>
                  </a:lnTo>
                  <a:lnTo>
                    <a:pt x="9254" y="15990"/>
                  </a:lnTo>
                  <a:lnTo>
                    <a:pt x="9432" y="15911"/>
                  </a:lnTo>
                  <a:lnTo>
                    <a:pt x="9663" y="15885"/>
                  </a:lnTo>
                  <a:lnTo>
                    <a:pt x="9876" y="15833"/>
                  </a:lnTo>
                  <a:lnTo>
                    <a:pt x="10142" y="15806"/>
                  </a:lnTo>
                  <a:lnTo>
                    <a:pt x="10391" y="15806"/>
                  </a:lnTo>
                  <a:lnTo>
                    <a:pt x="10728" y="15806"/>
                  </a:lnTo>
                  <a:lnTo>
                    <a:pt x="10995" y="15806"/>
                  </a:lnTo>
                  <a:lnTo>
                    <a:pt x="11279" y="15833"/>
                  </a:lnTo>
                  <a:lnTo>
                    <a:pt x="11546" y="15885"/>
                  </a:lnTo>
                  <a:lnTo>
                    <a:pt x="11776" y="15937"/>
                  </a:lnTo>
                  <a:lnTo>
                    <a:pt x="12025" y="15990"/>
                  </a:lnTo>
                  <a:lnTo>
                    <a:pt x="12221" y="16055"/>
                  </a:lnTo>
                  <a:lnTo>
                    <a:pt x="12434" y="16134"/>
                  </a:lnTo>
                  <a:lnTo>
                    <a:pt x="12611" y="16213"/>
                  </a:lnTo>
                  <a:lnTo>
                    <a:pt x="12771" y="16317"/>
                  </a:lnTo>
                  <a:lnTo>
                    <a:pt x="12913" y="16409"/>
                  </a:lnTo>
                  <a:lnTo>
                    <a:pt x="13038" y="16514"/>
                  </a:lnTo>
                  <a:lnTo>
                    <a:pt x="13251" y="16737"/>
                  </a:lnTo>
                  <a:lnTo>
                    <a:pt x="13428" y="16986"/>
                  </a:lnTo>
                  <a:lnTo>
                    <a:pt x="13517" y="17248"/>
                  </a:lnTo>
                  <a:lnTo>
                    <a:pt x="13588" y="17523"/>
                  </a:lnTo>
                  <a:lnTo>
                    <a:pt x="13588" y="17799"/>
                  </a:lnTo>
                  <a:lnTo>
                    <a:pt x="13517" y="18074"/>
                  </a:lnTo>
                  <a:lnTo>
                    <a:pt x="13428" y="18323"/>
                  </a:lnTo>
                  <a:lnTo>
                    <a:pt x="13286" y="18572"/>
                  </a:lnTo>
                  <a:lnTo>
                    <a:pt x="13109" y="18808"/>
                  </a:lnTo>
                  <a:lnTo>
                    <a:pt x="12878" y="19031"/>
                  </a:lnTo>
                  <a:lnTo>
                    <a:pt x="12434" y="19411"/>
                  </a:lnTo>
                  <a:lnTo>
                    <a:pt x="12132" y="19738"/>
                  </a:lnTo>
                  <a:lnTo>
                    <a:pt x="12025" y="19856"/>
                  </a:lnTo>
                  <a:lnTo>
                    <a:pt x="11919" y="20014"/>
                  </a:lnTo>
                  <a:lnTo>
                    <a:pt x="11883" y="20132"/>
                  </a:lnTo>
                  <a:lnTo>
                    <a:pt x="11883" y="20263"/>
                  </a:lnTo>
                  <a:lnTo>
                    <a:pt x="11883" y="20394"/>
                  </a:lnTo>
                  <a:lnTo>
                    <a:pt x="11954" y="20485"/>
                  </a:lnTo>
                  <a:lnTo>
                    <a:pt x="12061" y="20590"/>
                  </a:lnTo>
                  <a:lnTo>
                    <a:pt x="12185" y="20695"/>
                  </a:lnTo>
                  <a:lnTo>
                    <a:pt x="12327" y="20787"/>
                  </a:lnTo>
                  <a:lnTo>
                    <a:pt x="12540" y="20892"/>
                  </a:lnTo>
                  <a:lnTo>
                    <a:pt x="12771" y="20997"/>
                  </a:lnTo>
                  <a:lnTo>
                    <a:pt x="13073" y="21088"/>
                  </a:lnTo>
                  <a:lnTo>
                    <a:pt x="13428" y="21193"/>
                  </a:lnTo>
                  <a:lnTo>
                    <a:pt x="13873" y="21298"/>
                  </a:lnTo>
                  <a:lnTo>
                    <a:pt x="14317" y="21390"/>
                  </a:lnTo>
                  <a:lnTo>
                    <a:pt x="14778" y="21468"/>
                  </a:lnTo>
                  <a:lnTo>
                    <a:pt x="15294" y="21547"/>
                  </a:lnTo>
                  <a:lnTo>
                    <a:pt x="15809" y="21600"/>
                  </a:lnTo>
                  <a:lnTo>
                    <a:pt x="16359" y="21652"/>
                  </a:lnTo>
                  <a:lnTo>
                    <a:pt x="16875" y="21678"/>
                  </a:lnTo>
                  <a:lnTo>
                    <a:pt x="17407" y="21678"/>
                  </a:lnTo>
                  <a:lnTo>
                    <a:pt x="17958" y="21678"/>
                  </a:lnTo>
                  <a:lnTo>
                    <a:pt x="18473" y="21652"/>
                  </a:lnTo>
                  <a:lnTo>
                    <a:pt x="18953" y="21573"/>
                  </a:lnTo>
                  <a:lnTo>
                    <a:pt x="19397" y="21495"/>
                  </a:lnTo>
                  <a:lnTo>
                    <a:pt x="19841" y="21390"/>
                  </a:lnTo>
                  <a:lnTo>
                    <a:pt x="20214" y="21272"/>
                  </a:lnTo>
                  <a:lnTo>
                    <a:pt x="20551" y="21088"/>
                  </a:lnTo>
                  <a:lnTo>
                    <a:pt x="20480" y="20787"/>
                  </a:lnTo>
                  <a:lnTo>
                    <a:pt x="20409" y="20485"/>
                  </a:lnTo>
                  <a:lnTo>
                    <a:pt x="20356" y="20158"/>
                  </a:lnTo>
                  <a:lnTo>
                    <a:pt x="20356" y="19804"/>
                  </a:lnTo>
                  <a:lnTo>
                    <a:pt x="20321" y="19083"/>
                  </a:lnTo>
                  <a:lnTo>
                    <a:pt x="20356" y="18349"/>
                  </a:lnTo>
                  <a:lnTo>
                    <a:pt x="20409" y="17641"/>
                  </a:lnTo>
                  <a:lnTo>
                    <a:pt x="20480" y="17012"/>
                  </a:lnTo>
                  <a:lnTo>
                    <a:pt x="20551" y="16488"/>
                  </a:lnTo>
                  <a:lnTo>
                    <a:pt x="20551" y="16055"/>
                  </a:lnTo>
                  <a:lnTo>
                    <a:pt x="20551" y="15911"/>
                  </a:lnTo>
                  <a:lnTo>
                    <a:pt x="20445" y="15754"/>
                  </a:lnTo>
                  <a:lnTo>
                    <a:pt x="20356" y="15610"/>
                  </a:lnTo>
                  <a:lnTo>
                    <a:pt x="20178" y="15452"/>
                  </a:lnTo>
                  <a:lnTo>
                    <a:pt x="20001" y="15334"/>
                  </a:lnTo>
                  <a:lnTo>
                    <a:pt x="19770" y="15230"/>
                  </a:lnTo>
                  <a:lnTo>
                    <a:pt x="19521" y="15125"/>
                  </a:lnTo>
                  <a:lnTo>
                    <a:pt x="19290" y="15059"/>
                  </a:lnTo>
                  <a:lnTo>
                    <a:pt x="19024" y="15007"/>
                  </a:lnTo>
                  <a:lnTo>
                    <a:pt x="18740" y="14954"/>
                  </a:lnTo>
                  <a:lnTo>
                    <a:pt x="18509" y="14954"/>
                  </a:lnTo>
                  <a:lnTo>
                    <a:pt x="18225" y="14954"/>
                  </a:lnTo>
                  <a:lnTo>
                    <a:pt x="17994" y="15007"/>
                  </a:lnTo>
                  <a:lnTo>
                    <a:pt x="17763" y="15085"/>
                  </a:lnTo>
                  <a:lnTo>
                    <a:pt x="17550" y="15177"/>
                  </a:lnTo>
                  <a:lnTo>
                    <a:pt x="17372" y="15308"/>
                  </a:lnTo>
                  <a:lnTo>
                    <a:pt x="17176" y="15426"/>
                  </a:lnTo>
                  <a:lnTo>
                    <a:pt x="16928" y="15557"/>
                  </a:lnTo>
                  <a:lnTo>
                    <a:pt x="16661" y="15636"/>
                  </a:lnTo>
                  <a:lnTo>
                    <a:pt x="16359" y="15688"/>
                  </a:lnTo>
                  <a:lnTo>
                    <a:pt x="16022" y="15715"/>
                  </a:lnTo>
                  <a:lnTo>
                    <a:pt x="15667" y="15688"/>
                  </a:lnTo>
                  <a:lnTo>
                    <a:pt x="15294" y="15662"/>
                  </a:lnTo>
                  <a:lnTo>
                    <a:pt x="14956" y="15583"/>
                  </a:lnTo>
                  <a:lnTo>
                    <a:pt x="14619" y="15479"/>
                  </a:lnTo>
                  <a:lnTo>
                    <a:pt x="14281" y="15334"/>
                  </a:lnTo>
                  <a:lnTo>
                    <a:pt x="13961" y="15177"/>
                  </a:lnTo>
                  <a:lnTo>
                    <a:pt x="13695" y="14981"/>
                  </a:lnTo>
                  <a:lnTo>
                    <a:pt x="13588" y="14850"/>
                  </a:lnTo>
                  <a:lnTo>
                    <a:pt x="13482" y="14732"/>
                  </a:lnTo>
                  <a:lnTo>
                    <a:pt x="13393" y="14600"/>
                  </a:lnTo>
                  <a:lnTo>
                    <a:pt x="13322" y="14456"/>
                  </a:lnTo>
                  <a:lnTo>
                    <a:pt x="13251" y="14299"/>
                  </a:lnTo>
                  <a:lnTo>
                    <a:pt x="13215" y="14155"/>
                  </a:lnTo>
                  <a:lnTo>
                    <a:pt x="13180" y="13971"/>
                  </a:lnTo>
                  <a:lnTo>
                    <a:pt x="13180" y="13801"/>
                  </a:lnTo>
                  <a:lnTo>
                    <a:pt x="13180" y="13591"/>
                  </a:lnTo>
                  <a:lnTo>
                    <a:pt x="13215" y="13395"/>
                  </a:lnTo>
                  <a:lnTo>
                    <a:pt x="13251" y="13198"/>
                  </a:lnTo>
                  <a:lnTo>
                    <a:pt x="13322" y="13015"/>
                  </a:lnTo>
                  <a:lnTo>
                    <a:pt x="13393" y="12870"/>
                  </a:lnTo>
                  <a:lnTo>
                    <a:pt x="13482" y="12713"/>
                  </a:lnTo>
                  <a:lnTo>
                    <a:pt x="13588" y="12569"/>
                  </a:lnTo>
                  <a:lnTo>
                    <a:pt x="13730" y="12438"/>
                  </a:lnTo>
                  <a:lnTo>
                    <a:pt x="13997" y="12215"/>
                  </a:lnTo>
                  <a:lnTo>
                    <a:pt x="14334" y="12005"/>
                  </a:lnTo>
                  <a:lnTo>
                    <a:pt x="14690" y="11861"/>
                  </a:lnTo>
                  <a:lnTo>
                    <a:pt x="15063" y="11756"/>
                  </a:lnTo>
                  <a:lnTo>
                    <a:pt x="15436" y="11678"/>
                  </a:lnTo>
                  <a:lnTo>
                    <a:pt x="15809" y="11638"/>
                  </a:lnTo>
                  <a:lnTo>
                    <a:pt x="16182" y="11638"/>
                  </a:lnTo>
                  <a:lnTo>
                    <a:pt x="16555" y="11678"/>
                  </a:lnTo>
                  <a:lnTo>
                    <a:pt x="16910" y="11730"/>
                  </a:lnTo>
                  <a:lnTo>
                    <a:pt x="17248" y="11835"/>
                  </a:lnTo>
                  <a:lnTo>
                    <a:pt x="17514" y="11966"/>
                  </a:lnTo>
                  <a:lnTo>
                    <a:pt x="17763" y="12110"/>
                  </a:lnTo>
                  <a:lnTo>
                    <a:pt x="17887" y="12215"/>
                  </a:lnTo>
                  <a:lnTo>
                    <a:pt x="18065" y="12307"/>
                  </a:lnTo>
                  <a:lnTo>
                    <a:pt x="18260" y="12412"/>
                  </a:lnTo>
                  <a:lnTo>
                    <a:pt x="18438" y="12464"/>
                  </a:lnTo>
                  <a:lnTo>
                    <a:pt x="18669" y="12543"/>
                  </a:lnTo>
                  <a:lnTo>
                    <a:pt x="18882" y="12569"/>
                  </a:lnTo>
                  <a:lnTo>
                    <a:pt x="19113" y="12595"/>
                  </a:lnTo>
                  <a:lnTo>
                    <a:pt x="19361" y="12608"/>
                  </a:lnTo>
                  <a:lnTo>
                    <a:pt x="19592" y="12608"/>
                  </a:lnTo>
                  <a:lnTo>
                    <a:pt x="19841" y="12595"/>
                  </a:lnTo>
                  <a:lnTo>
                    <a:pt x="20072" y="12543"/>
                  </a:lnTo>
                  <a:lnTo>
                    <a:pt x="20321" y="12490"/>
                  </a:lnTo>
                  <a:lnTo>
                    <a:pt x="20551" y="12438"/>
                  </a:lnTo>
                  <a:lnTo>
                    <a:pt x="20800" y="12333"/>
                  </a:lnTo>
                  <a:lnTo>
                    <a:pt x="20996" y="12241"/>
                  </a:lnTo>
                  <a:lnTo>
                    <a:pt x="21244" y="12110"/>
                  </a:lnTo>
                  <a:lnTo>
                    <a:pt x="21298" y="12032"/>
                  </a:lnTo>
                  <a:lnTo>
                    <a:pt x="21404" y="11966"/>
                  </a:lnTo>
                  <a:lnTo>
                    <a:pt x="21475" y="11861"/>
                  </a:lnTo>
                  <a:lnTo>
                    <a:pt x="21511" y="11730"/>
                  </a:lnTo>
                  <a:lnTo>
                    <a:pt x="21617" y="11481"/>
                  </a:lnTo>
                  <a:lnTo>
                    <a:pt x="21653" y="11180"/>
                  </a:lnTo>
                  <a:lnTo>
                    <a:pt x="21653" y="10826"/>
                  </a:lnTo>
                  <a:lnTo>
                    <a:pt x="21653" y="10472"/>
                  </a:lnTo>
                  <a:lnTo>
                    <a:pt x="21582" y="10092"/>
                  </a:lnTo>
                  <a:lnTo>
                    <a:pt x="21511" y="9725"/>
                  </a:lnTo>
                  <a:lnTo>
                    <a:pt x="21298" y="8912"/>
                  </a:lnTo>
                  <a:lnTo>
                    <a:pt x="21067" y="8191"/>
                  </a:lnTo>
                  <a:lnTo>
                    <a:pt x="20800" y="7536"/>
                  </a:lnTo>
                  <a:lnTo>
                    <a:pt x="20551" y="7025"/>
                  </a:lnTo>
                  <a:lnTo>
                    <a:pt x="20001" y="7103"/>
                  </a:lnTo>
                  <a:lnTo>
                    <a:pt x="19432" y="7156"/>
                  </a:lnTo>
                  <a:lnTo>
                    <a:pt x="18846" y="7208"/>
                  </a:lnTo>
                  <a:lnTo>
                    <a:pt x="18225" y="7208"/>
                  </a:lnTo>
                  <a:lnTo>
                    <a:pt x="17656" y="7208"/>
                  </a:lnTo>
                  <a:lnTo>
                    <a:pt x="17070" y="7182"/>
                  </a:lnTo>
                  <a:lnTo>
                    <a:pt x="16484" y="7156"/>
                  </a:lnTo>
                  <a:lnTo>
                    <a:pt x="15986" y="7103"/>
                  </a:lnTo>
                  <a:lnTo>
                    <a:pt x="14992" y="6999"/>
                  </a:lnTo>
                  <a:lnTo>
                    <a:pt x="14210" y="6907"/>
                  </a:lnTo>
                  <a:lnTo>
                    <a:pt x="13695" y="6828"/>
                  </a:lnTo>
                  <a:lnTo>
                    <a:pt x="13517" y="6802"/>
                  </a:lnTo>
                  <a:lnTo>
                    <a:pt x="13073" y="6645"/>
                  </a:lnTo>
                  <a:lnTo>
                    <a:pt x="12700" y="6474"/>
                  </a:lnTo>
                  <a:lnTo>
                    <a:pt x="12363" y="6304"/>
                  </a:lnTo>
                  <a:lnTo>
                    <a:pt x="12132" y="6094"/>
                  </a:lnTo>
                  <a:lnTo>
                    <a:pt x="11919" y="5871"/>
                  </a:lnTo>
                  <a:lnTo>
                    <a:pt x="11776" y="5649"/>
                  </a:lnTo>
                  <a:lnTo>
                    <a:pt x="11688" y="5413"/>
                  </a:lnTo>
                  <a:lnTo>
                    <a:pt x="11617" y="5190"/>
                  </a:lnTo>
                  <a:lnTo>
                    <a:pt x="11617" y="4941"/>
                  </a:lnTo>
                  <a:lnTo>
                    <a:pt x="11652" y="4718"/>
                  </a:lnTo>
                  <a:lnTo>
                    <a:pt x="11723" y="4482"/>
                  </a:lnTo>
                  <a:lnTo>
                    <a:pt x="11812" y="4285"/>
                  </a:lnTo>
                  <a:lnTo>
                    <a:pt x="11919" y="4089"/>
                  </a:lnTo>
                  <a:lnTo>
                    <a:pt x="12096" y="3905"/>
                  </a:lnTo>
                  <a:lnTo>
                    <a:pt x="12292" y="3735"/>
                  </a:lnTo>
                  <a:lnTo>
                    <a:pt x="12505" y="3604"/>
                  </a:lnTo>
                  <a:lnTo>
                    <a:pt x="12700" y="3460"/>
                  </a:lnTo>
                  <a:lnTo>
                    <a:pt x="12878" y="3250"/>
                  </a:lnTo>
                  <a:lnTo>
                    <a:pt x="13038" y="3027"/>
                  </a:lnTo>
                  <a:lnTo>
                    <a:pt x="13180" y="2752"/>
                  </a:lnTo>
                  <a:lnTo>
                    <a:pt x="13286" y="2477"/>
                  </a:lnTo>
                  <a:lnTo>
                    <a:pt x="13322" y="2175"/>
                  </a:lnTo>
                  <a:lnTo>
                    <a:pt x="13357" y="1874"/>
                  </a:lnTo>
                  <a:lnTo>
                    <a:pt x="13286" y="1572"/>
                  </a:lnTo>
                  <a:lnTo>
                    <a:pt x="13180" y="1271"/>
                  </a:lnTo>
                  <a:lnTo>
                    <a:pt x="13038" y="983"/>
                  </a:lnTo>
                  <a:lnTo>
                    <a:pt x="12949" y="865"/>
                  </a:lnTo>
                  <a:lnTo>
                    <a:pt x="12807" y="733"/>
                  </a:lnTo>
                  <a:lnTo>
                    <a:pt x="12665" y="616"/>
                  </a:lnTo>
                  <a:lnTo>
                    <a:pt x="12505" y="511"/>
                  </a:lnTo>
                  <a:lnTo>
                    <a:pt x="12327" y="406"/>
                  </a:lnTo>
                  <a:lnTo>
                    <a:pt x="12132" y="314"/>
                  </a:lnTo>
                  <a:lnTo>
                    <a:pt x="11883" y="235"/>
                  </a:lnTo>
                  <a:lnTo>
                    <a:pt x="11652" y="183"/>
                  </a:lnTo>
                  <a:lnTo>
                    <a:pt x="11368" y="104"/>
                  </a:lnTo>
                  <a:lnTo>
                    <a:pt x="11101" y="78"/>
                  </a:lnTo>
                  <a:lnTo>
                    <a:pt x="10800" y="52"/>
                  </a:lnTo>
                  <a:lnTo>
                    <a:pt x="10444" y="52"/>
                  </a:lnTo>
                  <a:lnTo>
                    <a:pt x="10142" y="52"/>
                  </a:lnTo>
                  <a:lnTo>
                    <a:pt x="9840" y="78"/>
                  </a:lnTo>
                  <a:lnTo>
                    <a:pt x="9574" y="104"/>
                  </a:lnTo>
                  <a:lnTo>
                    <a:pt x="9325" y="157"/>
                  </a:lnTo>
                  <a:lnTo>
                    <a:pt x="9094" y="209"/>
                  </a:lnTo>
                  <a:lnTo>
                    <a:pt x="8846" y="262"/>
                  </a:lnTo>
                  <a:lnTo>
                    <a:pt x="8650" y="340"/>
                  </a:lnTo>
                  <a:lnTo>
                    <a:pt x="8437" y="432"/>
                  </a:lnTo>
                  <a:lnTo>
                    <a:pt x="8277" y="511"/>
                  </a:lnTo>
                  <a:lnTo>
                    <a:pt x="8100" y="616"/>
                  </a:lnTo>
                  <a:lnTo>
                    <a:pt x="7957" y="707"/>
                  </a:lnTo>
                  <a:lnTo>
                    <a:pt x="7833" y="838"/>
                  </a:lnTo>
                  <a:lnTo>
                    <a:pt x="7620" y="1061"/>
                  </a:lnTo>
                  <a:lnTo>
                    <a:pt x="7442" y="1336"/>
                  </a:lnTo>
                  <a:lnTo>
                    <a:pt x="7353" y="1599"/>
                  </a:lnTo>
                  <a:lnTo>
                    <a:pt x="7318" y="1900"/>
                  </a:lnTo>
                  <a:lnTo>
                    <a:pt x="7318" y="2175"/>
                  </a:lnTo>
                  <a:lnTo>
                    <a:pt x="7353" y="2450"/>
                  </a:lnTo>
                  <a:lnTo>
                    <a:pt x="7442" y="2726"/>
                  </a:lnTo>
                  <a:lnTo>
                    <a:pt x="7620" y="2975"/>
                  </a:lnTo>
                  <a:lnTo>
                    <a:pt x="7833" y="3198"/>
                  </a:lnTo>
                  <a:lnTo>
                    <a:pt x="8064" y="3433"/>
                  </a:lnTo>
                  <a:lnTo>
                    <a:pt x="8295" y="3630"/>
                  </a:lnTo>
                  <a:lnTo>
                    <a:pt x="8508" y="3853"/>
                  </a:lnTo>
                  <a:lnTo>
                    <a:pt x="8686" y="4089"/>
                  </a:lnTo>
                  <a:lnTo>
                    <a:pt x="8775" y="4312"/>
                  </a:lnTo>
                  <a:lnTo>
                    <a:pt x="8846" y="4561"/>
                  </a:lnTo>
                  <a:lnTo>
                    <a:pt x="8846" y="4810"/>
                  </a:lnTo>
                  <a:lnTo>
                    <a:pt x="8810" y="5059"/>
                  </a:lnTo>
                  <a:lnTo>
                    <a:pt x="8721" y="5295"/>
                  </a:lnTo>
                  <a:lnTo>
                    <a:pt x="8579" y="5544"/>
                  </a:lnTo>
                  <a:lnTo>
                    <a:pt x="8366" y="5766"/>
                  </a:lnTo>
                  <a:lnTo>
                    <a:pt x="8135" y="5976"/>
                  </a:lnTo>
                  <a:lnTo>
                    <a:pt x="7833" y="6199"/>
                  </a:lnTo>
                  <a:lnTo>
                    <a:pt x="7478" y="6369"/>
                  </a:lnTo>
                  <a:lnTo>
                    <a:pt x="7069" y="6527"/>
                  </a:lnTo>
                  <a:lnTo>
                    <a:pt x="6590" y="6671"/>
                  </a:lnTo>
                  <a:lnTo>
                    <a:pt x="6092" y="6802"/>
                  </a:lnTo>
                  <a:lnTo>
                    <a:pt x="5684" y="6802"/>
                  </a:lnTo>
                  <a:lnTo>
                    <a:pt x="5133" y="6802"/>
                  </a:lnTo>
                  <a:lnTo>
                    <a:pt x="4547" y="6802"/>
                  </a:lnTo>
                  <a:lnTo>
                    <a:pt x="3872" y="6802"/>
                  </a:lnTo>
                  <a:lnTo>
                    <a:pt x="3144" y="6802"/>
                  </a:lnTo>
                  <a:lnTo>
                    <a:pt x="2362" y="6802"/>
                  </a:lnTo>
                  <a:lnTo>
                    <a:pt x="1545" y="6802"/>
                  </a:lnTo>
                  <a:lnTo>
                    <a:pt x="692" y="6802"/>
                  </a:lnTo>
                  <a:lnTo>
                    <a:pt x="586" y="7234"/>
                  </a:lnTo>
                  <a:lnTo>
                    <a:pt x="461" y="7837"/>
                  </a:lnTo>
                  <a:lnTo>
                    <a:pt x="355" y="8493"/>
                  </a:lnTo>
                  <a:lnTo>
                    <a:pt x="248" y="9187"/>
                  </a:lnTo>
                  <a:lnTo>
                    <a:pt x="142" y="9869"/>
                  </a:lnTo>
                  <a:lnTo>
                    <a:pt x="106" y="10498"/>
                  </a:lnTo>
                  <a:lnTo>
                    <a:pt x="106" y="10983"/>
                  </a:lnTo>
                  <a:lnTo>
                    <a:pt x="106" y="11311"/>
                  </a:lnTo>
                  <a:lnTo>
                    <a:pt x="213" y="11481"/>
                  </a:lnTo>
                  <a:lnTo>
                    <a:pt x="319" y="11651"/>
                  </a:lnTo>
                  <a:lnTo>
                    <a:pt x="497" y="11783"/>
                  </a:lnTo>
                  <a:lnTo>
                    <a:pt x="692" y="11914"/>
                  </a:lnTo>
                  <a:lnTo>
                    <a:pt x="941" y="12032"/>
                  </a:lnTo>
                  <a:lnTo>
                    <a:pt x="1207" y="12110"/>
                  </a:lnTo>
                  <a:lnTo>
                    <a:pt x="1509" y="12189"/>
                  </a:lnTo>
                  <a:lnTo>
                    <a:pt x="1794" y="12241"/>
                  </a:lnTo>
                  <a:lnTo>
                    <a:pt x="2131" y="12267"/>
                  </a:lnTo>
                  <a:lnTo>
                    <a:pt x="2433" y="12281"/>
                  </a:lnTo>
                  <a:lnTo>
                    <a:pt x="2735" y="12267"/>
                  </a:lnTo>
                  <a:lnTo>
                    <a:pt x="3055" y="12241"/>
                  </a:lnTo>
                  <a:lnTo>
                    <a:pt x="3357" y="12189"/>
                  </a:lnTo>
                  <a:lnTo>
                    <a:pt x="3623" y="12084"/>
                  </a:lnTo>
                  <a:lnTo>
                    <a:pt x="3872" y="11979"/>
                  </a:lnTo>
                  <a:lnTo>
                    <a:pt x="4103" y="11861"/>
                  </a:lnTo>
                  <a:lnTo>
                    <a:pt x="4316" y="11704"/>
                  </a:lnTo>
                  <a:lnTo>
                    <a:pt x="4582" y="11612"/>
                  </a:lnTo>
                  <a:lnTo>
                    <a:pt x="4849" y="11533"/>
                  </a:lnTo>
                  <a:lnTo>
                    <a:pt x="5169" y="11507"/>
                  </a:lnTo>
                  <a:lnTo>
                    <a:pt x="5506" y="11481"/>
                  </a:lnTo>
                  <a:lnTo>
                    <a:pt x="5808" y="11507"/>
                  </a:lnTo>
                  <a:lnTo>
                    <a:pt x="6146" y="11560"/>
                  </a:lnTo>
                  <a:lnTo>
                    <a:pt x="6501" y="11651"/>
                  </a:lnTo>
                  <a:lnTo>
                    <a:pt x="6803" y="11783"/>
                  </a:lnTo>
                  <a:lnTo>
                    <a:pt x="7105" y="11940"/>
                  </a:lnTo>
                  <a:lnTo>
                    <a:pt x="7353" y="12110"/>
                  </a:lnTo>
                  <a:lnTo>
                    <a:pt x="7584" y="12333"/>
                  </a:lnTo>
                  <a:lnTo>
                    <a:pt x="7798" y="12595"/>
                  </a:lnTo>
                  <a:lnTo>
                    <a:pt x="7922" y="12870"/>
                  </a:lnTo>
                  <a:lnTo>
                    <a:pt x="8028" y="13198"/>
                  </a:lnTo>
                  <a:lnTo>
                    <a:pt x="8064" y="13526"/>
                  </a:lnTo>
                  <a:lnTo>
                    <a:pt x="8028" y="13775"/>
                  </a:lnTo>
                  <a:lnTo>
                    <a:pt x="7922" y="13998"/>
                  </a:lnTo>
                  <a:lnTo>
                    <a:pt x="7798" y="14220"/>
                  </a:lnTo>
                  <a:lnTo>
                    <a:pt x="7584" y="14404"/>
                  </a:lnTo>
                  <a:lnTo>
                    <a:pt x="7353" y="14574"/>
                  </a:lnTo>
                  <a:lnTo>
                    <a:pt x="7105" y="14732"/>
                  </a:lnTo>
                  <a:lnTo>
                    <a:pt x="6803" y="14850"/>
                  </a:lnTo>
                  <a:lnTo>
                    <a:pt x="6501" y="14954"/>
                  </a:lnTo>
                  <a:lnTo>
                    <a:pt x="6146" y="15033"/>
                  </a:lnTo>
                  <a:lnTo>
                    <a:pt x="5808" y="15085"/>
                  </a:lnTo>
                  <a:lnTo>
                    <a:pt x="5506" y="15085"/>
                  </a:lnTo>
                  <a:lnTo>
                    <a:pt x="5169" y="15059"/>
                  </a:lnTo>
                  <a:lnTo>
                    <a:pt x="4849" y="15007"/>
                  </a:lnTo>
                  <a:lnTo>
                    <a:pt x="4582" y="14902"/>
                  </a:lnTo>
                  <a:lnTo>
                    <a:pt x="4316" y="14784"/>
                  </a:lnTo>
                  <a:lnTo>
                    <a:pt x="4103" y="14600"/>
                  </a:lnTo>
                  <a:lnTo>
                    <a:pt x="3907" y="14430"/>
                  </a:lnTo>
                  <a:lnTo>
                    <a:pt x="3659" y="14299"/>
                  </a:lnTo>
                  <a:lnTo>
                    <a:pt x="3428" y="14194"/>
                  </a:lnTo>
                  <a:lnTo>
                    <a:pt x="3179" y="14129"/>
                  </a:lnTo>
                  <a:lnTo>
                    <a:pt x="2913" y="14102"/>
                  </a:lnTo>
                  <a:lnTo>
                    <a:pt x="2646" y="14102"/>
                  </a:lnTo>
                  <a:lnTo>
                    <a:pt x="2362" y="14129"/>
                  </a:lnTo>
                  <a:lnTo>
                    <a:pt x="2096" y="14168"/>
                  </a:lnTo>
                  <a:lnTo>
                    <a:pt x="1811" y="14273"/>
                  </a:lnTo>
                  <a:lnTo>
                    <a:pt x="1545" y="14378"/>
                  </a:lnTo>
                  <a:lnTo>
                    <a:pt x="1314" y="14496"/>
                  </a:lnTo>
                  <a:lnTo>
                    <a:pt x="1065" y="14653"/>
                  </a:lnTo>
                  <a:lnTo>
                    <a:pt x="870" y="14797"/>
                  </a:lnTo>
                  <a:lnTo>
                    <a:pt x="657" y="14981"/>
                  </a:lnTo>
                  <a:lnTo>
                    <a:pt x="497" y="15177"/>
                  </a:lnTo>
                  <a:lnTo>
                    <a:pt x="390" y="15413"/>
                  </a:lnTo>
                  <a:lnTo>
                    <a:pt x="284" y="15636"/>
                  </a:lnTo>
                  <a:lnTo>
                    <a:pt x="248" y="15911"/>
                  </a:lnTo>
                  <a:lnTo>
                    <a:pt x="284" y="16239"/>
                  </a:lnTo>
                  <a:lnTo>
                    <a:pt x="319" y="16566"/>
                  </a:lnTo>
                  <a:lnTo>
                    <a:pt x="497" y="17340"/>
                  </a:lnTo>
                  <a:lnTo>
                    <a:pt x="692" y="18152"/>
                  </a:lnTo>
                  <a:lnTo>
                    <a:pt x="799" y="18559"/>
                  </a:lnTo>
                  <a:lnTo>
                    <a:pt x="905" y="18978"/>
                  </a:lnTo>
                  <a:lnTo>
                    <a:pt x="959" y="19384"/>
                  </a:lnTo>
                  <a:lnTo>
                    <a:pt x="994" y="19791"/>
                  </a:lnTo>
                  <a:lnTo>
                    <a:pt x="994" y="20132"/>
                  </a:lnTo>
                  <a:lnTo>
                    <a:pt x="959" y="20485"/>
                  </a:lnTo>
                  <a:lnTo>
                    <a:pt x="941" y="20669"/>
                  </a:lnTo>
                  <a:lnTo>
                    <a:pt x="870" y="20813"/>
                  </a:lnTo>
                  <a:lnTo>
                    <a:pt x="799" y="20970"/>
                  </a:lnTo>
                  <a:lnTo>
                    <a:pt x="692" y="21088"/>
                  </a:lnTo>
                  <a:lnTo>
                    <a:pt x="1474" y="20997"/>
                  </a:lnTo>
                  <a:lnTo>
                    <a:pt x="2291" y="20866"/>
                  </a:lnTo>
                  <a:lnTo>
                    <a:pt x="3108" y="20787"/>
                  </a:lnTo>
                  <a:lnTo>
                    <a:pt x="3907" y="20721"/>
                  </a:lnTo>
                  <a:lnTo>
                    <a:pt x="4653" y="20695"/>
                  </a:lnTo>
                  <a:lnTo>
                    <a:pt x="5364" y="20695"/>
                  </a:lnTo>
                  <a:lnTo>
                    <a:pt x="5701" y="20721"/>
                  </a:lnTo>
                  <a:lnTo>
                    <a:pt x="6057" y="20761"/>
                  </a:lnTo>
                  <a:lnTo>
                    <a:pt x="6323" y="20813"/>
                  </a:lnTo>
                  <a:lnTo>
                    <a:pt x="6625" y="20892"/>
                  </a:lnTo>
                  <a:close/>
                </a:path>
              </a:pathLst>
            </a:custGeom>
            <a:solidFill>
              <a:srgbClr val="FFBE7D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6" name="AutoShape 16"/>
            <p:cNvSpPr>
              <a:spLocks noChangeArrowheads="1"/>
            </p:cNvSpPr>
            <p:nvPr/>
          </p:nvSpPr>
          <p:spPr bwMode="auto">
            <a:xfrm>
              <a:off x="1089" y="880"/>
              <a:ext cx="204" cy="1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5400 w 21600"/>
                <a:gd name="T25" fmla="*/ 6735 h 21600"/>
                <a:gd name="T26" fmla="*/ 16200 w 21600"/>
                <a:gd name="T27" fmla="*/ 20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4247" y="12354"/>
                  </a:moveTo>
                  <a:lnTo>
                    <a:pt x="4134" y="12468"/>
                  </a:lnTo>
                  <a:lnTo>
                    <a:pt x="4010" y="12581"/>
                  </a:lnTo>
                  <a:lnTo>
                    <a:pt x="3897" y="12637"/>
                  </a:lnTo>
                  <a:lnTo>
                    <a:pt x="3773" y="12694"/>
                  </a:lnTo>
                  <a:lnTo>
                    <a:pt x="3637" y="12694"/>
                  </a:lnTo>
                  <a:lnTo>
                    <a:pt x="3524" y="12694"/>
                  </a:lnTo>
                  <a:lnTo>
                    <a:pt x="3400" y="12665"/>
                  </a:lnTo>
                  <a:lnTo>
                    <a:pt x="3287" y="12609"/>
                  </a:lnTo>
                  <a:lnTo>
                    <a:pt x="3027" y="12496"/>
                  </a:lnTo>
                  <a:lnTo>
                    <a:pt x="2790" y="12340"/>
                  </a:lnTo>
                  <a:lnTo>
                    <a:pt x="2530" y="12142"/>
                  </a:lnTo>
                  <a:lnTo>
                    <a:pt x="2293" y="11987"/>
                  </a:lnTo>
                  <a:lnTo>
                    <a:pt x="2033" y="11817"/>
                  </a:lnTo>
                  <a:lnTo>
                    <a:pt x="1773" y="11676"/>
                  </a:lnTo>
                  <a:lnTo>
                    <a:pt x="1638" y="11662"/>
                  </a:lnTo>
                  <a:lnTo>
                    <a:pt x="1513" y="11634"/>
                  </a:lnTo>
                  <a:lnTo>
                    <a:pt x="1378" y="11634"/>
                  </a:lnTo>
                  <a:lnTo>
                    <a:pt x="1253" y="11634"/>
                  </a:lnTo>
                  <a:lnTo>
                    <a:pt x="1118" y="11662"/>
                  </a:lnTo>
                  <a:lnTo>
                    <a:pt x="971" y="11732"/>
                  </a:lnTo>
                  <a:lnTo>
                    <a:pt x="835" y="11817"/>
                  </a:lnTo>
                  <a:lnTo>
                    <a:pt x="711" y="11959"/>
                  </a:lnTo>
                  <a:lnTo>
                    <a:pt x="553" y="12086"/>
                  </a:lnTo>
                  <a:lnTo>
                    <a:pt x="429" y="12284"/>
                  </a:lnTo>
                  <a:lnTo>
                    <a:pt x="271" y="12524"/>
                  </a:lnTo>
                  <a:lnTo>
                    <a:pt x="146" y="12793"/>
                  </a:lnTo>
                  <a:lnTo>
                    <a:pt x="79" y="12962"/>
                  </a:lnTo>
                  <a:lnTo>
                    <a:pt x="33" y="13146"/>
                  </a:lnTo>
                  <a:lnTo>
                    <a:pt x="11" y="13386"/>
                  </a:lnTo>
                  <a:lnTo>
                    <a:pt x="11" y="13641"/>
                  </a:lnTo>
                  <a:lnTo>
                    <a:pt x="33" y="13881"/>
                  </a:lnTo>
                  <a:lnTo>
                    <a:pt x="101" y="14150"/>
                  </a:lnTo>
                  <a:lnTo>
                    <a:pt x="192" y="14404"/>
                  </a:lnTo>
                  <a:lnTo>
                    <a:pt x="293" y="14645"/>
                  </a:lnTo>
                  <a:lnTo>
                    <a:pt x="451" y="14857"/>
                  </a:lnTo>
                  <a:lnTo>
                    <a:pt x="621" y="15054"/>
                  </a:lnTo>
                  <a:lnTo>
                    <a:pt x="734" y="15125"/>
                  </a:lnTo>
                  <a:lnTo>
                    <a:pt x="835" y="15210"/>
                  </a:lnTo>
                  <a:lnTo>
                    <a:pt x="948" y="15267"/>
                  </a:lnTo>
                  <a:lnTo>
                    <a:pt x="1084" y="15323"/>
                  </a:lnTo>
                  <a:lnTo>
                    <a:pt x="1208" y="15351"/>
                  </a:lnTo>
                  <a:lnTo>
                    <a:pt x="1355" y="15380"/>
                  </a:lnTo>
                  <a:lnTo>
                    <a:pt x="1513" y="15380"/>
                  </a:lnTo>
                  <a:lnTo>
                    <a:pt x="1683" y="15380"/>
                  </a:lnTo>
                  <a:lnTo>
                    <a:pt x="1864" y="15351"/>
                  </a:lnTo>
                  <a:lnTo>
                    <a:pt x="2033" y="15323"/>
                  </a:lnTo>
                  <a:lnTo>
                    <a:pt x="2225" y="15238"/>
                  </a:lnTo>
                  <a:lnTo>
                    <a:pt x="2428" y="15153"/>
                  </a:lnTo>
                  <a:lnTo>
                    <a:pt x="2745" y="15026"/>
                  </a:lnTo>
                  <a:lnTo>
                    <a:pt x="3005" y="14913"/>
                  </a:lnTo>
                  <a:lnTo>
                    <a:pt x="3264" y="14828"/>
                  </a:lnTo>
                  <a:lnTo>
                    <a:pt x="3513" y="14800"/>
                  </a:lnTo>
                  <a:lnTo>
                    <a:pt x="3615" y="14828"/>
                  </a:lnTo>
                  <a:lnTo>
                    <a:pt x="3728" y="14857"/>
                  </a:lnTo>
                  <a:lnTo>
                    <a:pt x="3807" y="14913"/>
                  </a:lnTo>
                  <a:lnTo>
                    <a:pt x="3920" y="14998"/>
                  </a:lnTo>
                  <a:lnTo>
                    <a:pt x="4010" y="15097"/>
                  </a:lnTo>
                  <a:lnTo>
                    <a:pt x="4089" y="15238"/>
                  </a:lnTo>
                  <a:lnTo>
                    <a:pt x="4179" y="15408"/>
                  </a:lnTo>
                  <a:lnTo>
                    <a:pt x="4247" y="15620"/>
                  </a:lnTo>
                  <a:lnTo>
                    <a:pt x="4326" y="15860"/>
                  </a:lnTo>
                  <a:lnTo>
                    <a:pt x="4394" y="16129"/>
                  </a:lnTo>
                  <a:lnTo>
                    <a:pt x="4439" y="16440"/>
                  </a:lnTo>
                  <a:lnTo>
                    <a:pt x="4507" y="16737"/>
                  </a:lnTo>
                  <a:lnTo>
                    <a:pt x="4552" y="17090"/>
                  </a:lnTo>
                  <a:lnTo>
                    <a:pt x="4575" y="17443"/>
                  </a:lnTo>
                  <a:lnTo>
                    <a:pt x="4586" y="17825"/>
                  </a:lnTo>
                  <a:lnTo>
                    <a:pt x="4586" y="18193"/>
                  </a:lnTo>
                  <a:lnTo>
                    <a:pt x="4586" y="18574"/>
                  </a:lnTo>
                  <a:lnTo>
                    <a:pt x="4586" y="18984"/>
                  </a:lnTo>
                  <a:lnTo>
                    <a:pt x="4552" y="19366"/>
                  </a:lnTo>
                  <a:lnTo>
                    <a:pt x="4507" y="19748"/>
                  </a:lnTo>
                  <a:lnTo>
                    <a:pt x="4462" y="20129"/>
                  </a:lnTo>
                  <a:lnTo>
                    <a:pt x="4371" y="20483"/>
                  </a:lnTo>
                  <a:lnTo>
                    <a:pt x="4292" y="20836"/>
                  </a:lnTo>
                  <a:lnTo>
                    <a:pt x="4202" y="21161"/>
                  </a:lnTo>
                  <a:lnTo>
                    <a:pt x="4744" y="21161"/>
                  </a:lnTo>
                  <a:lnTo>
                    <a:pt x="5264" y="21161"/>
                  </a:lnTo>
                  <a:lnTo>
                    <a:pt x="5784" y="21161"/>
                  </a:lnTo>
                  <a:lnTo>
                    <a:pt x="6235" y="21161"/>
                  </a:lnTo>
                  <a:lnTo>
                    <a:pt x="6676" y="21161"/>
                  </a:lnTo>
                  <a:lnTo>
                    <a:pt x="7060" y="21161"/>
                  </a:lnTo>
                  <a:lnTo>
                    <a:pt x="7410" y="21161"/>
                  </a:lnTo>
                  <a:lnTo>
                    <a:pt x="7670" y="21161"/>
                  </a:lnTo>
                  <a:lnTo>
                    <a:pt x="8020" y="21020"/>
                  </a:lnTo>
                  <a:lnTo>
                    <a:pt x="8303" y="20893"/>
                  </a:lnTo>
                  <a:lnTo>
                    <a:pt x="8563" y="20695"/>
                  </a:lnTo>
                  <a:lnTo>
                    <a:pt x="8800" y="20511"/>
                  </a:lnTo>
                  <a:lnTo>
                    <a:pt x="8969" y="20285"/>
                  </a:lnTo>
                  <a:lnTo>
                    <a:pt x="9150" y="20045"/>
                  </a:lnTo>
                  <a:lnTo>
                    <a:pt x="9252" y="19804"/>
                  </a:lnTo>
                  <a:lnTo>
                    <a:pt x="9342" y="19550"/>
                  </a:lnTo>
                  <a:lnTo>
                    <a:pt x="9410" y="19281"/>
                  </a:lnTo>
                  <a:lnTo>
                    <a:pt x="9433" y="19013"/>
                  </a:lnTo>
                  <a:lnTo>
                    <a:pt x="9433" y="18744"/>
                  </a:lnTo>
                  <a:lnTo>
                    <a:pt x="9387" y="18504"/>
                  </a:lnTo>
                  <a:lnTo>
                    <a:pt x="9320" y="18221"/>
                  </a:lnTo>
                  <a:lnTo>
                    <a:pt x="9207" y="17981"/>
                  </a:lnTo>
                  <a:lnTo>
                    <a:pt x="9105" y="17740"/>
                  </a:lnTo>
                  <a:lnTo>
                    <a:pt x="8924" y="17514"/>
                  </a:lnTo>
                  <a:lnTo>
                    <a:pt x="8777" y="17274"/>
                  </a:lnTo>
                  <a:lnTo>
                    <a:pt x="8642" y="17034"/>
                  </a:lnTo>
                  <a:lnTo>
                    <a:pt x="8563" y="16765"/>
                  </a:lnTo>
                  <a:lnTo>
                    <a:pt x="8472" y="16468"/>
                  </a:lnTo>
                  <a:lnTo>
                    <a:pt x="8450" y="16157"/>
                  </a:lnTo>
                  <a:lnTo>
                    <a:pt x="8450" y="15860"/>
                  </a:lnTo>
                  <a:lnTo>
                    <a:pt x="8472" y="15563"/>
                  </a:lnTo>
                  <a:lnTo>
                    <a:pt x="8540" y="15267"/>
                  </a:lnTo>
                  <a:lnTo>
                    <a:pt x="8642" y="14998"/>
                  </a:lnTo>
                  <a:lnTo>
                    <a:pt x="8777" y="14729"/>
                  </a:lnTo>
                  <a:lnTo>
                    <a:pt x="8868" y="14616"/>
                  </a:lnTo>
                  <a:lnTo>
                    <a:pt x="8969" y="14475"/>
                  </a:lnTo>
                  <a:lnTo>
                    <a:pt x="9060" y="14376"/>
                  </a:lnTo>
                  <a:lnTo>
                    <a:pt x="9184" y="14291"/>
                  </a:lnTo>
                  <a:lnTo>
                    <a:pt x="9297" y="14206"/>
                  </a:lnTo>
                  <a:lnTo>
                    <a:pt x="9433" y="14121"/>
                  </a:lnTo>
                  <a:lnTo>
                    <a:pt x="9579" y="14051"/>
                  </a:lnTo>
                  <a:lnTo>
                    <a:pt x="9726" y="13994"/>
                  </a:lnTo>
                  <a:lnTo>
                    <a:pt x="9884" y="13938"/>
                  </a:lnTo>
                  <a:lnTo>
                    <a:pt x="10054" y="13909"/>
                  </a:lnTo>
                  <a:lnTo>
                    <a:pt x="10257" y="13881"/>
                  </a:lnTo>
                  <a:lnTo>
                    <a:pt x="10449" y="13881"/>
                  </a:lnTo>
                  <a:lnTo>
                    <a:pt x="10664" y="13881"/>
                  </a:lnTo>
                  <a:lnTo>
                    <a:pt x="10856" y="13909"/>
                  </a:lnTo>
                  <a:lnTo>
                    <a:pt x="11037" y="13966"/>
                  </a:lnTo>
                  <a:lnTo>
                    <a:pt x="11206" y="14023"/>
                  </a:lnTo>
                  <a:lnTo>
                    <a:pt x="11353" y="14093"/>
                  </a:lnTo>
                  <a:lnTo>
                    <a:pt x="11511" y="14178"/>
                  </a:lnTo>
                  <a:lnTo>
                    <a:pt x="11635" y="14263"/>
                  </a:lnTo>
                  <a:lnTo>
                    <a:pt x="11748" y="14376"/>
                  </a:lnTo>
                  <a:lnTo>
                    <a:pt x="11861" y="14475"/>
                  </a:lnTo>
                  <a:lnTo>
                    <a:pt x="11941" y="14616"/>
                  </a:lnTo>
                  <a:lnTo>
                    <a:pt x="12031" y="14758"/>
                  </a:lnTo>
                  <a:lnTo>
                    <a:pt x="12099" y="14885"/>
                  </a:lnTo>
                  <a:lnTo>
                    <a:pt x="12200" y="15210"/>
                  </a:lnTo>
                  <a:lnTo>
                    <a:pt x="12268" y="15507"/>
                  </a:lnTo>
                  <a:lnTo>
                    <a:pt x="12291" y="15832"/>
                  </a:lnTo>
                  <a:lnTo>
                    <a:pt x="12291" y="16157"/>
                  </a:lnTo>
                  <a:lnTo>
                    <a:pt x="12246" y="16482"/>
                  </a:lnTo>
                  <a:lnTo>
                    <a:pt x="12178" y="16807"/>
                  </a:lnTo>
                  <a:lnTo>
                    <a:pt x="12099" y="17090"/>
                  </a:lnTo>
                  <a:lnTo>
                    <a:pt x="12008" y="17330"/>
                  </a:lnTo>
                  <a:lnTo>
                    <a:pt x="11884" y="17542"/>
                  </a:lnTo>
                  <a:lnTo>
                    <a:pt x="11748" y="17712"/>
                  </a:lnTo>
                  <a:lnTo>
                    <a:pt x="11613" y="17839"/>
                  </a:lnTo>
                  <a:lnTo>
                    <a:pt x="11489" y="18037"/>
                  </a:lnTo>
                  <a:lnTo>
                    <a:pt x="11398" y="18221"/>
                  </a:lnTo>
                  <a:lnTo>
                    <a:pt x="11319" y="18447"/>
                  </a:lnTo>
                  <a:lnTo>
                    <a:pt x="11251" y="18659"/>
                  </a:lnTo>
                  <a:lnTo>
                    <a:pt x="11206" y="18900"/>
                  </a:lnTo>
                  <a:lnTo>
                    <a:pt x="11184" y="19154"/>
                  </a:lnTo>
                  <a:lnTo>
                    <a:pt x="11184" y="19423"/>
                  </a:lnTo>
                  <a:lnTo>
                    <a:pt x="11229" y="19663"/>
                  </a:lnTo>
                  <a:lnTo>
                    <a:pt x="11297" y="19903"/>
                  </a:lnTo>
                  <a:lnTo>
                    <a:pt x="11376" y="20158"/>
                  </a:lnTo>
                  <a:lnTo>
                    <a:pt x="11511" y="20398"/>
                  </a:lnTo>
                  <a:lnTo>
                    <a:pt x="11681" y="20610"/>
                  </a:lnTo>
                  <a:lnTo>
                    <a:pt x="11884" y="20808"/>
                  </a:lnTo>
                  <a:lnTo>
                    <a:pt x="12121" y="20992"/>
                  </a:lnTo>
                  <a:lnTo>
                    <a:pt x="12404" y="21161"/>
                  </a:lnTo>
                  <a:lnTo>
                    <a:pt x="12528" y="21190"/>
                  </a:lnTo>
                  <a:lnTo>
                    <a:pt x="12856" y="21274"/>
                  </a:lnTo>
                  <a:lnTo>
                    <a:pt x="13330" y="21373"/>
                  </a:lnTo>
                  <a:lnTo>
                    <a:pt x="13963" y="21486"/>
                  </a:lnTo>
                  <a:lnTo>
                    <a:pt x="14313" y="21543"/>
                  </a:lnTo>
                  <a:lnTo>
                    <a:pt x="14652" y="21571"/>
                  </a:lnTo>
                  <a:lnTo>
                    <a:pt x="15025" y="21600"/>
                  </a:lnTo>
                  <a:lnTo>
                    <a:pt x="15409" y="21600"/>
                  </a:lnTo>
                  <a:lnTo>
                    <a:pt x="15782" y="21600"/>
                  </a:lnTo>
                  <a:lnTo>
                    <a:pt x="16177" y="21571"/>
                  </a:lnTo>
                  <a:lnTo>
                    <a:pt x="16516" y="21486"/>
                  </a:lnTo>
                  <a:lnTo>
                    <a:pt x="16889" y="21402"/>
                  </a:lnTo>
                  <a:lnTo>
                    <a:pt x="16821" y="21190"/>
                  </a:lnTo>
                  <a:lnTo>
                    <a:pt x="16776" y="20935"/>
                  </a:lnTo>
                  <a:lnTo>
                    <a:pt x="16742" y="20667"/>
                  </a:lnTo>
                  <a:lnTo>
                    <a:pt x="16719" y="20370"/>
                  </a:lnTo>
                  <a:lnTo>
                    <a:pt x="16697" y="19719"/>
                  </a:lnTo>
                  <a:lnTo>
                    <a:pt x="16697" y="19013"/>
                  </a:lnTo>
                  <a:lnTo>
                    <a:pt x="16719" y="18306"/>
                  </a:lnTo>
                  <a:lnTo>
                    <a:pt x="16753" y="17599"/>
                  </a:lnTo>
                  <a:lnTo>
                    <a:pt x="16821" y="16949"/>
                  </a:lnTo>
                  <a:lnTo>
                    <a:pt x="16889" y="16383"/>
                  </a:lnTo>
                  <a:lnTo>
                    <a:pt x="16934" y="16129"/>
                  </a:lnTo>
                  <a:lnTo>
                    <a:pt x="17002" y="15945"/>
                  </a:lnTo>
                  <a:lnTo>
                    <a:pt x="17081" y="15790"/>
                  </a:lnTo>
                  <a:lnTo>
                    <a:pt x="17194" y="15648"/>
                  </a:lnTo>
                  <a:lnTo>
                    <a:pt x="17318" y="15563"/>
                  </a:lnTo>
                  <a:lnTo>
                    <a:pt x="17453" y="15507"/>
                  </a:lnTo>
                  <a:lnTo>
                    <a:pt x="17600" y="15450"/>
                  </a:lnTo>
                  <a:lnTo>
                    <a:pt x="17758" y="15450"/>
                  </a:lnTo>
                  <a:lnTo>
                    <a:pt x="17905" y="15479"/>
                  </a:lnTo>
                  <a:lnTo>
                    <a:pt x="18064" y="15535"/>
                  </a:lnTo>
                  <a:lnTo>
                    <a:pt x="18233" y="15620"/>
                  </a:lnTo>
                  <a:lnTo>
                    <a:pt x="18380" y="15733"/>
                  </a:lnTo>
                  <a:lnTo>
                    <a:pt x="18561" y="15832"/>
                  </a:lnTo>
                  <a:lnTo>
                    <a:pt x="18707" y="15973"/>
                  </a:lnTo>
                  <a:lnTo>
                    <a:pt x="18866" y="16129"/>
                  </a:lnTo>
                  <a:lnTo>
                    <a:pt x="18990" y="16327"/>
                  </a:lnTo>
                  <a:lnTo>
                    <a:pt x="19125" y="16482"/>
                  </a:lnTo>
                  <a:lnTo>
                    <a:pt x="19295" y="16624"/>
                  </a:lnTo>
                  <a:lnTo>
                    <a:pt x="19464" y="16737"/>
                  </a:lnTo>
                  <a:lnTo>
                    <a:pt x="19668" y="16807"/>
                  </a:lnTo>
                  <a:lnTo>
                    <a:pt x="19860" y="16836"/>
                  </a:lnTo>
                  <a:lnTo>
                    <a:pt x="20052" y="16864"/>
                  </a:lnTo>
                  <a:lnTo>
                    <a:pt x="20266" y="16836"/>
                  </a:lnTo>
                  <a:lnTo>
                    <a:pt x="20470" y="16793"/>
                  </a:lnTo>
                  <a:lnTo>
                    <a:pt x="20662" y="16708"/>
                  </a:lnTo>
                  <a:lnTo>
                    <a:pt x="20854" y="16567"/>
                  </a:lnTo>
                  <a:lnTo>
                    <a:pt x="21035" y="16412"/>
                  </a:lnTo>
                  <a:lnTo>
                    <a:pt x="21182" y="16214"/>
                  </a:lnTo>
                  <a:lnTo>
                    <a:pt x="21340" y="16002"/>
                  </a:lnTo>
                  <a:lnTo>
                    <a:pt x="21441" y="15733"/>
                  </a:lnTo>
                  <a:lnTo>
                    <a:pt x="21532" y="15436"/>
                  </a:lnTo>
                  <a:lnTo>
                    <a:pt x="21600" y="15083"/>
                  </a:lnTo>
                  <a:lnTo>
                    <a:pt x="21600" y="14885"/>
                  </a:lnTo>
                  <a:lnTo>
                    <a:pt x="21600" y="14729"/>
                  </a:lnTo>
                  <a:lnTo>
                    <a:pt x="21600" y="14531"/>
                  </a:lnTo>
                  <a:lnTo>
                    <a:pt x="21577" y="14376"/>
                  </a:lnTo>
                  <a:lnTo>
                    <a:pt x="21532" y="14206"/>
                  </a:lnTo>
                  <a:lnTo>
                    <a:pt x="21487" y="14051"/>
                  </a:lnTo>
                  <a:lnTo>
                    <a:pt x="21419" y="13909"/>
                  </a:lnTo>
                  <a:lnTo>
                    <a:pt x="21351" y="13768"/>
                  </a:lnTo>
                  <a:lnTo>
                    <a:pt x="21204" y="13500"/>
                  </a:lnTo>
                  <a:lnTo>
                    <a:pt x="21035" y="13287"/>
                  </a:lnTo>
                  <a:lnTo>
                    <a:pt x="20809" y="13090"/>
                  </a:lnTo>
                  <a:lnTo>
                    <a:pt x="20594" y="12962"/>
                  </a:lnTo>
                  <a:lnTo>
                    <a:pt x="20357" y="12821"/>
                  </a:lnTo>
                  <a:lnTo>
                    <a:pt x="20120" y="12764"/>
                  </a:lnTo>
                  <a:lnTo>
                    <a:pt x="19882" y="12708"/>
                  </a:lnTo>
                  <a:lnTo>
                    <a:pt x="19645" y="12736"/>
                  </a:lnTo>
                  <a:lnTo>
                    <a:pt x="19430" y="12793"/>
                  </a:lnTo>
                  <a:lnTo>
                    <a:pt x="19227" y="12906"/>
                  </a:lnTo>
                  <a:lnTo>
                    <a:pt x="19148" y="12962"/>
                  </a:lnTo>
                  <a:lnTo>
                    <a:pt x="19058" y="13047"/>
                  </a:lnTo>
                  <a:lnTo>
                    <a:pt x="18990" y="13146"/>
                  </a:lnTo>
                  <a:lnTo>
                    <a:pt x="18911" y="13259"/>
                  </a:lnTo>
                  <a:lnTo>
                    <a:pt x="18775" y="13471"/>
                  </a:lnTo>
                  <a:lnTo>
                    <a:pt x="18628" y="13641"/>
                  </a:lnTo>
                  <a:lnTo>
                    <a:pt x="18470" y="13740"/>
                  </a:lnTo>
                  <a:lnTo>
                    <a:pt x="18301" y="13825"/>
                  </a:lnTo>
                  <a:lnTo>
                    <a:pt x="18143" y="13853"/>
                  </a:lnTo>
                  <a:lnTo>
                    <a:pt x="17973" y="13881"/>
                  </a:lnTo>
                  <a:lnTo>
                    <a:pt x="17804" y="13853"/>
                  </a:lnTo>
                  <a:lnTo>
                    <a:pt x="17646" y="13796"/>
                  </a:lnTo>
                  <a:lnTo>
                    <a:pt x="17499" y="13726"/>
                  </a:lnTo>
                  <a:lnTo>
                    <a:pt x="17341" y="13641"/>
                  </a:lnTo>
                  <a:lnTo>
                    <a:pt x="17216" y="13528"/>
                  </a:lnTo>
                  <a:lnTo>
                    <a:pt x="17103" y="13386"/>
                  </a:lnTo>
                  <a:lnTo>
                    <a:pt x="17024" y="13259"/>
                  </a:lnTo>
                  <a:lnTo>
                    <a:pt x="16934" y="13118"/>
                  </a:lnTo>
                  <a:lnTo>
                    <a:pt x="16889" y="12991"/>
                  </a:lnTo>
                  <a:lnTo>
                    <a:pt x="16889" y="12849"/>
                  </a:lnTo>
                  <a:lnTo>
                    <a:pt x="16889" y="12383"/>
                  </a:lnTo>
                  <a:lnTo>
                    <a:pt x="16889" y="11662"/>
                  </a:lnTo>
                  <a:lnTo>
                    <a:pt x="16889" y="10701"/>
                  </a:lnTo>
                  <a:lnTo>
                    <a:pt x="16889" y="9640"/>
                  </a:lnTo>
                  <a:lnTo>
                    <a:pt x="16889" y="8566"/>
                  </a:lnTo>
                  <a:lnTo>
                    <a:pt x="16889" y="7478"/>
                  </a:lnTo>
                  <a:lnTo>
                    <a:pt x="16889" y="6502"/>
                  </a:lnTo>
                  <a:lnTo>
                    <a:pt x="16889" y="5739"/>
                  </a:lnTo>
                  <a:lnTo>
                    <a:pt x="16674" y="5894"/>
                  </a:lnTo>
                  <a:lnTo>
                    <a:pt x="16414" y="6036"/>
                  </a:lnTo>
                  <a:lnTo>
                    <a:pt x="16154" y="6177"/>
                  </a:lnTo>
                  <a:lnTo>
                    <a:pt x="15849" y="6248"/>
                  </a:lnTo>
                  <a:lnTo>
                    <a:pt x="15544" y="6304"/>
                  </a:lnTo>
                  <a:lnTo>
                    <a:pt x="15217" y="6332"/>
                  </a:lnTo>
                  <a:lnTo>
                    <a:pt x="14866" y="6361"/>
                  </a:lnTo>
                  <a:lnTo>
                    <a:pt x="14550" y="6361"/>
                  </a:lnTo>
                  <a:lnTo>
                    <a:pt x="14200" y="6332"/>
                  </a:lnTo>
                  <a:lnTo>
                    <a:pt x="13850" y="6276"/>
                  </a:lnTo>
                  <a:lnTo>
                    <a:pt x="13522" y="6219"/>
                  </a:lnTo>
                  <a:lnTo>
                    <a:pt x="13206" y="6149"/>
                  </a:lnTo>
                  <a:lnTo>
                    <a:pt x="12901" y="6064"/>
                  </a:lnTo>
                  <a:lnTo>
                    <a:pt x="12618" y="5951"/>
                  </a:lnTo>
                  <a:lnTo>
                    <a:pt x="12358" y="5838"/>
                  </a:lnTo>
                  <a:lnTo>
                    <a:pt x="12121" y="5739"/>
                  </a:lnTo>
                  <a:lnTo>
                    <a:pt x="11941" y="5626"/>
                  </a:lnTo>
                  <a:lnTo>
                    <a:pt x="11794" y="5513"/>
                  </a:lnTo>
                  <a:lnTo>
                    <a:pt x="11658" y="5414"/>
                  </a:lnTo>
                  <a:lnTo>
                    <a:pt x="11556" y="5301"/>
                  </a:lnTo>
                  <a:lnTo>
                    <a:pt x="11466" y="5187"/>
                  </a:lnTo>
                  <a:lnTo>
                    <a:pt x="11398" y="5089"/>
                  </a:lnTo>
                  <a:lnTo>
                    <a:pt x="11376" y="4947"/>
                  </a:lnTo>
                  <a:lnTo>
                    <a:pt x="11353" y="4834"/>
                  </a:lnTo>
                  <a:lnTo>
                    <a:pt x="11353" y="4707"/>
                  </a:lnTo>
                  <a:lnTo>
                    <a:pt x="11376" y="4565"/>
                  </a:lnTo>
                  <a:lnTo>
                    <a:pt x="11443" y="4410"/>
                  </a:lnTo>
                  <a:lnTo>
                    <a:pt x="11511" y="4240"/>
                  </a:lnTo>
                  <a:lnTo>
                    <a:pt x="11703" y="3887"/>
                  </a:lnTo>
                  <a:lnTo>
                    <a:pt x="11986" y="3505"/>
                  </a:lnTo>
                  <a:lnTo>
                    <a:pt x="12144" y="3265"/>
                  </a:lnTo>
                  <a:lnTo>
                    <a:pt x="12246" y="3025"/>
                  </a:lnTo>
                  <a:lnTo>
                    <a:pt x="12336" y="2756"/>
                  </a:lnTo>
                  <a:lnTo>
                    <a:pt x="12404" y="2445"/>
                  </a:lnTo>
                  <a:lnTo>
                    <a:pt x="12438" y="2176"/>
                  </a:lnTo>
                  <a:lnTo>
                    <a:pt x="12438" y="1880"/>
                  </a:lnTo>
                  <a:lnTo>
                    <a:pt x="12404" y="1583"/>
                  </a:lnTo>
                  <a:lnTo>
                    <a:pt x="12336" y="1314"/>
                  </a:lnTo>
                  <a:lnTo>
                    <a:pt x="12246" y="1046"/>
                  </a:lnTo>
                  <a:lnTo>
                    <a:pt x="12099" y="791"/>
                  </a:lnTo>
                  <a:lnTo>
                    <a:pt x="12008" y="692"/>
                  </a:lnTo>
                  <a:lnTo>
                    <a:pt x="11918" y="579"/>
                  </a:lnTo>
                  <a:lnTo>
                    <a:pt x="11816" y="466"/>
                  </a:lnTo>
                  <a:lnTo>
                    <a:pt x="11703" y="381"/>
                  </a:lnTo>
                  <a:lnTo>
                    <a:pt x="11579" y="310"/>
                  </a:lnTo>
                  <a:lnTo>
                    <a:pt x="11443" y="226"/>
                  </a:lnTo>
                  <a:lnTo>
                    <a:pt x="11297" y="169"/>
                  </a:lnTo>
                  <a:lnTo>
                    <a:pt x="11138" y="113"/>
                  </a:lnTo>
                  <a:lnTo>
                    <a:pt x="10969" y="56"/>
                  </a:lnTo>
                  <a:lnTo>
                    <a:pt x="10800" y="28"/>
                  </a:lnTo>
                  <a:lnTo>
                    <a:pt x="10619" y="28"/>
                  </a:lnTo>
                  <a:lnTo>
                    <a:pt x="10404" y="28"/>
                  </a:lnTo>
                  <a:lnTo>
                    <a:pt x="10257" y="28"/>
                  </a:lnTo>
                  <a:lnTo>
                    <a:pt x="10076" y="56"/>
                  </a:lnTo>
                  <a:lnTo>
                    <a:pt x="9952" y="84"/>
                  </a:lnTo>
                  <a:lnTo>
                    <a:pt x="9794" y="141"/>
                  </a:lnTo>
                  <a:lnTo>
                    <a:pt x="9692" y="226"/>
                  </a:lnTo>
                  <a:lnTo>
                    <a:pt x="9557" y="282"/>
                  </a:lnTo>
                  <a:lnTo>
                    <a:pt x="9455" y="381"/>
                  </a:lnTo>
                  <a:lnTo>
                    <a:pt x="9365" y="466"/>
                  </a:lnTo>
                  <a:lnTo>
                    <a:pt x="9274" y="579"/>
                  </a:lnTo>
                  <a:lnTo>
                    <a:pt x="9184" y="692"/>
                  </a:lnTo>
                  <a:lnTo>
                    <a:pt x="9128" y="791"/>
                  </a:lnTo>
                  <a:lnTo>
                    <a:pt x="9060" y="932"/>
                  </a:lnTo>
                  <a:lnTo>
                    <a:pt x="8969" y="1201"/>
                  </a:lnTo>
                  <a:lnTo>
                    <a:pt x="8913" y="1498"/>
                  </a:lnTo>
                  <a:lnTo>
                    <a:pt x="8890" y="1795"/>
                  </a:lnTo>
                  <a:lnTo>
                    <a:pt x="8890" y="2120"/>
                  </a:lnTo>
                  <a:lnTo>
                    <a:pt x="8913" y="2445"/>
                  </a:lnTo>
                  <a:lnTo>
                    <a:pt x="8969" y="2756"/>
                  </a:lnTo>
                  <a:lnTo>
                    <a:pt x="9060" y="3081"/>
                  </a:lnTo>
                  <a:lnTo>
                    <a:pt x="9173" y="3378"/>
                  </a:lnTo>
                  <a:lnTo>
                    <a:pt x="9297" y="3647"/>
                  </a:lnTo>
                  <a:lnTo>
                    <a:pt x="9466" y="3887"/>
                  </a:lnTo>
                  <a:lnTo>
                    <a:pt x="9579" y="4085"/>
                  </a:lnTo>
                  <a:lnTo>
                    <a:pt x="9670" y="4269"/>
                  </a:lnTo>
                  <a:lnTo>
                    <a:pt x="9726" y="4467"/>
                  </a:lnTo>
                  <a:lnTo>
                    <a:pt x="9771" y="4650"/>
                  </a:lnTo>
                  <a:lnTo>
                    <a:pt x="9771" y="4834"/>
                  </a:lnTo>
                  <a:lnTo>
                    <a:pt x="9749" y="5032"/>
                  </a:lnTo>
                  <a:lnTo>
                    <a:pt x="9715" y="5216"/>
                  </a:lnTo>
                  <a:lnTo>
                    <a:pt x="9625" y="5385"/>
                  </a:lnTo>
                  <a:lnTo>
                    <a:pt x="9534" y="5513"/>
                  </a:lnTo>
                  <a:lnTo>
                    <a:pt x="9410" y="5626"/>
                  </a:lnTo>
                  <a:lnTo>
                    <a:pt x="9229" y="5710"/>
                  </a:lnTo>
                  <a:lnTo>
                    <a:pt x="9060" y="5767"/>
                  </a:lnTo>
                  <a:lnTo>
                    <a:pt x="8845" y="5767"/>
                  </a:lnTo>
                  <a:lnTo>
                    <a:pt x="8585" y="5739"/>
                  </a:lnTo>
                  <a:lnTo>
                    <a:pt x="8325" y="5654"/>
                  </a:lnTo>
                  <a:lnTo>
                    <a:pt x="8020" y="5513"/>
                  </a:lnTo>
                  <a:lnTo>
                    <a:pt x="7840" y="5442"/>
                  </a:lnTo>
                  <a:lnTo>
                    <a:pt x="7648" y="5385"/>
                  </a:lnTo>
                  <a:lnTo>
                    <a:pt x="7433" y="5329"/>
                  </a:lnTo>
                  <a:lnTo>
                    <a:pt x="7241" y="5301"/>
                  </a:lnTo>
                  <a:lnTo>
                    <a:pt x="6755" y="5301"/>
                  </a:lnTo>
                  <a:lnTo>
                    <a:pt x="6281" y="5329"/>
                  </a:lnTo>
                  <a:lnTo>
                    <a:pt x="5784" y="5385"/>
                  </a:lnTo>
                  <a:lnTo>
                    <a:pt x="5264" y="5498"/>
                  </a:lnTo>
                  <a:lnTo>
                    <a:pt x="4744" y="5597"/>
                  </a:lnTo>
                  <a:lnTo>
                    <a:pt x="4247" y="5739"/>
                  </a:lnTo>
                  <a:lnTo>
                    <a:pt x="4202" y="5894"/>
                  </a:lnTo>
                  <a:lnTo>
                    <a:pt x="4202" y="6191"/>
                  </a:lnTo>
                  <a:lnTo>
                    <a:pt x="4202" y="6545"/>
                  </a:lnTo>
                  <a:lnTo>
                    <a:pt x="4225" y="6954"/>
                  </a:lnTo>
                  <a:lnTo>
                    <a:pt x="4315" y="7930"/>
                  </a:lnTo>
                  <a:lnTo>
                    <a:pt x="4394" y="9018"/>
                  </a:lnTo>
                  <a:lnTo>
                    <a:pt x="4439" y="9570"/>
                  </a:lnTo>
                  <a:lnTo>
                    <a:pt x="4462" y="10107"/>
                  </a:lnTo>
                  <a:lnTo>
                    <a:pt x="4484" y="10630"/>
                  </a:lnTo>
                  <a:lnTo>
                    <a:pt x="4507" y="11082"/>
                  </a:lnTo>
                  <a:lnTo>
                    <a:pt x="4484" y="11520"/>
                  </a:lnTo>
                  <a:lnTo>
                    <a:pt x="4439" y="11874"/>
                  </a:lnTo>
                  <a:lnTo>
                    <a:pt x="4394" y="12029"/>
                  </a:lnTo>
                  <a:lnTo>
                    <a:pt x="4349" y="12171"/>
                  </a:lnTo>
                  <a:lnTo>
                    <a:pt x="4315" y="12284"/>
                  </a:lnTo>
                  <a:lnTo>
                    <a:pt x="4247" y="12354"/>
                  </a:lnTo>
                  <a:close/>
                </a:path>
              </a:pathLst>
            </a:custGeom>
            <a:solidFill>
              <a:srgbClr val="FFFFCC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7" name="AutoShape 17"/>
            <p:cNvSpPr>
              <a:spLocks noChangeArrowheads="1"/>
            </p:cNvSpPr>
            <p:nvPr/>
          </p:nvSpPr>
          <p:spPr bwMode="auto">
            <a:xfrm>
              <a:off x="1010" y="877"/>
              <a:ext cx="122" cy="23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2125 w 21600"/>
                <a:gd name="T25" fmla="*/ 5627 h 21600"/>
                <a:gd name="T26" fmla="*/ 20184 w 21600"/>
                <a:gd name="T27" fmla="*/ 1597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3813" y="10590"/>
                  </a:moveTo>
                  <a:lnTo>
                    <a:pt x="3927" y="10513"/>
                  </a:lnTo>
                  <a:lnTo>
                    <a:pt x="4078" y="10425"/>
                  </a:lnTo>
                  <a:lnTo>
                    <a:pt x="4210" y="10359"/>
                  </a:lnTo>
                  <a:lnTo>
                    <a:pt x="4361" y="10315"/>
                  </a:lnTo>
                  <a:lnTo>
                    <a:pt x="4682" y="10237"/>
                  </a:lnTo>
                  <a:lnTo>
                    <a:pt x="5041" y="10193"/>
                  </a:lnTo>
                  <a:lnTo>
                    <a:pt x="5456" y="10171"/>
                  </a:lnTo>
                  <a:lnTo>
                    <a:pt x="5853" y="10193"/>
                  </a:lnTo>
                  <a:lnTo>
                    <a:pt x="6249" y="10260"/>
                  </a:lnTo>
                  <a:lnTo>
                    <a:pt x="6646" y="10337"/>
                  </a:lnTo>
                  <a:lnTo>
                    <a:pt x="7004" y="10469"/>
                  </a:lnTo>
                  <a:lnTo>
                    <a:pt x="7363" y="10612"/>
                  </a:lnTo>
                  <a:lnTo>
                    <a:pt x="7665" y="10788"/>
                  </a:lnTo>
                  <a:lnTo>
                    <a:pt x="7911" y="10998"/>
                  </a:lnTo>
                  <a:lnTo>
                    <a:pt x="8024" y="11097"/>
                  </a:lnTo>
                  <a:lnTo>
                    <a:pt x="8137" y="11207"/>
                  </a:lnTo>
                  <a:lnTo>
                    <a:pt x="8194" y="11340"/>
                  </a:lnTo>
                  <a:lnTo>
                    <a:pt x="8269" y="11461"/>
                  </a:lnTo>
                  <a:lnTo>
                    <a:pt x="8307" y="11593"/>
                  </a:lnTo>
                  <a:lnTo>
                    <a:pt x="8307" y="11714"/>
                  </a:lnTo>
                  <a:lnTo>
                    <a:pt x="8307" y="11868"/>
                  </a:lnTo>
                  <a:lnTo>
                    <a:pt x="8307" y="12012"/>
                  </a:lnTo>
                  <a:lnTo>
                    <a:pt x="8194" y="12265"/>
                  </a:lnTo>
                  <a:lnTo>
                    <a:pt x="8062" y="12519"/>
                  </a:lnTo>
                  <a:lnTo>
                    <a:pt x="7873" y="12706"/>
                  </a:lnTo>
                  <a:lnTo>
                    <a:pt x="7627" y="12904"/>
                  </a:lnTo>
                  <a:lnTo>
                    <a:pt x="7363" y="13048"/>
                  </a:lnTo>
                  <a:lnTo>
                    <a:pt x="7080" y="13180"/>
                  </a:lnTo>
                  <a:lnTo>
                    <a:pt x="6759" y="13257"/>
                  </a:lnTo>
                  <a:lnTo>
                    <a:pt x="6419" y="13345"/>
                  </a:lnTo>
                  <a:lnTo>
                    <a:pt x="6098" y="13389"/>
                  </a:lnTo>
                  <a:lnTo>
                    <a:pt x="5739" y="13389"/>
                  </a:lnTo>
                  <a:lnTo>
                    <a:pt x="5418" y="13389"/>
                  </a:lnTo>
                  <a:lnTo>
                    <a:pt x="5079" y="13345"/>
                  </a:lnTo>
                  <a:lnTo>
                    <a:pt x="4758" y="13301"/>
                  </a:lnTo>
                  <a:lnTo>
                    <a:pt x="4474" y="13213"/>
                  </a:lnTo>
                  <a:lnTo>
                    <a:pt x="4172" y="13114"/>
                  </a:lnTo>
                  <a:lnTo>
                    <a:pt x="3965" y="12982"/>
                  </a:lnTo>
                  <a:lnTo>
                    <a:pt x="3738" y="12838"/>
                  </a:lnTo>
                  <a:lnTo>
                    <a:pt x="3493" y="12706"/>
                  </a:lnTo>
                  <a:lnTo>
                    <a:pt x="3228" y="12607"/>
                  </a:lnTo>
                  <a:lnTo>
                    <a:pt x="2945" y="12519"/>
                  </a:lnTo>
                  <a:lnTo>
                    <a:pt x="2700" y="12431"/>
                  </a:lnTo>
                  <a:lnTo>
                    <a:pt x="2397" y="12375"/>
                  </a:lnTo>
                  <a:lnTo>
                    <a:pt x="2152" y="12331"/>
                  </a:lnTo>
                  <a:lnTo>
                    <a:pt x="1888" y="12309"/>
                  </a:lnTo>
                  <a:lnTo>
                    <a:pt x="1642" y="12309"/>
                  </a:lnTo>
                  <a:lnTo>
                    <a:pt x="1397" y="12331"/>
                  </a:lnTo>
                  <a:lnTo>
                    <a:pt x="1170" y="12397"/>
                  </a:lnTo>
                  <a:lnTo>
                    <a:pt x="962" y="12453"/>
                  </a:lnTo>
                  <a:lnTo>
                    <a:pt x="774" y="12563"/>
                  </a:lnTo>
                  <a:lnTo>
                    <a:pt x="623" y="12684"/>
                  </a:lnTo>
                  <a:lnTo>
                    <a:pt x="528" y="12838"/>
                  </a:lnTo>
                  <a:lnTo>
                    <a:pt x="453" y="13026"/>
                  </a:lnTo>
                  <a:lnTo>
                    <a:pt x="339" y="13477"/>
                  </a:lnTo>
                  <a:lnTo>
                    <a:pt x="226" y="13984"/>
                  </a:lnTo>
                  <a:lnTo>
                    <a:pt x="151" y="14535"/>
                  </a:lnTo>
                  <a:lnTo>
                    <a:pt x="113" y="15075"/>
                  </a:lnTo>
                  <a:lnTo>
                    <a:pt x="113" y="15626"/>
                  </a:lnTo>
                  <a:lnTo>
                    <a:pt x="151" y="16133"/>
                  </a:lnTo>
                  <a:lnTo>
                    <a:pt x="188" y="16376"/>
                  </a:lnTo>
                  <a:lnTo>
                    <a:pt x="264" y="16585"/>
                  </a:lnTo>
                  <a:lnTo>
                    <a:pt x="339" y="16773"/>
                  </a:lnTo>
                  <a:lnTo>
                    <a:pt x="453" y="16938"/>
                  </a:lnTo>
                  <a:lnTo>
                    <a:pt x="1095" y="16883"/>
                  </a:lnTo>
                  <a:lnTo>
                    <a:pt x="1963" y="16795"/>
                  </a:lnTo>
                  <a:lnTo>
                    <a:pt x="2945" y="16751"/>
                  </a:lnTo>
                  <a:lnTo>
                    <a:pt x="3965" y="16706"/>
                  </a:lnTo>
                  <a:lnTo>
                    <a:pt x="5022" y="16684"/>
                  </a:lnTo>
                  <a:lnTo>
                    <a:pt x="5947" y="16684"/>
                  </a:lnTo>
                  <a:lnTo>
                    <a:pt x="6759" y="16706"/>
                  </a:lnTo>
                  <a:lnTo>
                    <a:pt x="7363" y="16751"/>
                  </a:lnTo>
                  <a:lnTo>
                    <a:pt x="7948" y="16839"/>
                  </a:lnTo>
                  <a:lnTo>
                    <a:pt x="8458" y="16916"/>
                  </a:lnTo>
                  <a:lnTo>
                    <a:pt x="8893" y="17026"/>
                  </a:lnTo>
                  <a:lnTo>
                    <a:pt x="9289" y="17158"/>
                  </a:lnTo>
                  <a:lnTo>
                    <a:pt x="9572" y="17280"/>
                  </a:lnTo>
                  <a:lnTo>
                    <a:pt x="9799" y="17412"/>
                  </a:lnTo>
                  <a:lnTo>
                    <a:pt x="9969" y="17555"/>
                  </a:lnTo>
                  <a:lnTo>
                    <a:pt x="10120" y="17687"/>
                  </a:lnTo>
                  <a:lnTo>
                    <a:pt x="10158" y="17831"/>
                  </a:lnTo>
                  <a:lnTo>
                    <a:pt x="10195" y="17974"/>
                  </a:lnTo>
                  <a:lnTo>
                    <a:pt x="10158" y="18128"/>
                  </a:lnTo>
                  <a:lnTo>
                    <a:pt x="10082" y="18271"/>
                  </a:lnTo>
                  <a:lnTo>
                    <a:pt x="9969" y="18426"/>
                  </a:lnTo>
                  <a:lnTo>
                    <a:pt x="9837" y="18569"/>
                  </a:lnTo>
                  <a:lnTo>
                    <a:pt x="9648" y="18701"/>
                  </a:lnTo>
                  <a:lnTo>
                    <a:pt x="9440" y="18822"/>
                  </a:lnTo>
                  <a:lnTo>
                    <a:pt x="9213" y="18999"/>
                  </a:lnTo>
                  <a:lnTo>
                    <a:pt x="9044" y="19186"/>
                  </a:lnTo>
                  <a:lnTo>
                    <a:pt x="8893" y="19395"/>
                  </a:lnTo>
                  <a:lnTo>
                    <a:pt x="8817" y="19627"/>
                  </a:lnTo>
                  <a:lnTo>
                    <a:pt x="8779" y="19858"/>
                  </a:lnTo>
                  <a:lnTo>
                    <a:pt x="8779" y="20112"/>
                  </a:lnTo>
                  <a:lnTo>
                    <a:pt x="8855" y="20354"/>
                  </a:lnTo>
                  <a:lnTo>
                    <a:pt x="8968" y="20586"/>
                  </a:lnTo>
                  <a:lnTo>
                    <a:pt x="9138" y="20817"/>
                  </a:lnTo>
                  <a:lnTo>
                    <a:pt x="9365" y="21026"/>
                  </a:lnTo>
                  <a:lnTo>
                    <a:pt x="9610" y="21192"/>
                  </a:lnTo>
                  <a:lnTo>
                    <a:pt x="9950" y="21368"/>
                  </a:lnTo>
                  <a:lnTo>
                    <a:pt x="10120" y="21445"/>
                  </a:lnTo>
                  <a:lnTo>
                    <a:pt x="10346" y="21511"/>
                  </a:lnTo>
                  <a:lnTo>
                    <a:pt x="10516" y="21555"/>
                  </a:lnTo>
                  <a:lnTo>
                    <a:pt x="10743" y="21600"/>
                  </a:lnTo>
                  <a:lnTo>
                    <a:pt x="10988" y="21644"/>
                  </a:lnTo>
                  <a:lnTo>
                    <a:pt x="11215" y="21666"/>
                  </a:lnTo>
                  <a:lnTo>
                    <a:pt x="11498" y="21666"/>
                  </a:lnTo>
                  <a:lnTo>
                    <a:pt x="11762" y="21666"/>
                  </a:lnTo>
                  <a:lnTo>
                    <a:pt x="12253" y="21644"/>
                  </a:lnTo>
                  <a:lnTo>
                    <a:pt x="12763" y="21577"/>
                  </a:lnTo>
                  <a:lnTo>
                    <a:pt x="13197" y="21467"/>
                  </a:lnTo>
                  <a:lnTo>
                    <a:pt x="13556" y="21346"/>
                  </a:lnTo>
                  <a:lnTo>
                    <a:pt x="13896" y="21192"/>
                  </a:lnTo>
                  <a:lnTo>
                    <a:pt x="14179" y="21026"/>
                  </a:lnTo>
                  <a:lnTo>
                    <a:pt x="14444" y="20839"/>
                  </a:lnTo>
                  <a:lnTo>
                    <a:pt x="14576" y="20641"/>
                  </a:lnTo>
                  <a:lnTo>
                    <a:pt x="14727" y="20431"/>
                  </a:lnTo>
                  <a:lnTo>
                    <a:pt x="14765" y="20200"/>
                  </a:lnTo>
                  <a:lnTo>
                    <a:pt x="14802" y="19991"/>
                  </a:lnTo>
                  <a:lnTo>
                    <a:pt x="14727" y="19759"/>
                  </a:lnTo>
                  <a:lnTo>
                    <a:pt x="14613" y="19550"/>
                  </a:lnTo>
                  <a:lnTo>
                    <a:pt x="14444" y="19307"/>
                  </a:lnTo>
                  <a:lnTo>
                    <a:pt x="14217" y="19098"/>
                  </a:lnTo>
                  <a:lnTo>
                    <a:pt x="13934" y="18911"/>
                  </a:lnTo>
                  <a:lnTo>
                    <a:pt x="13669" y="18745"/>
                  </a:lnTo>
                  <a:lnTo>
                    <a:pt x="13462" y="18547"/>
                  </a:lnTo>
                  <a:lnTo>
                    <a:pt x="13311" y="18337"/>
                  </a:lnTo>
                  <a:lnTo>
                    <a:pt x="13197" y="18150"/>
                  </a:lnTo>
                  <a:lnTo>
                    <a:pt x="13122" y="17941"/>
                  </a:lnTo>
                  <a:lnTo>
                    <a:pt x="13122" y="17720"/>
                  </a:lnTo>
                  <a:lnTo>
                    <a:pt x="13122" y="17533"/>
                  </a:lnTo>
                  <a:lnTo>
                    <a:pt x="13197" y="17346"/>
                  </a:lnTo>
                  <a:lnTo>
                    <a:pt x="13273" y="17158"/>
                  </a:lnTo>
                  <a:lnTo>
                    <a:pt x="13386" y="16982"/>
                  </a:lnTo>
                  <a:lnTo>
                    <a:pt x="13537" y="16839"/>
                  </a:lnTo>
                  <a:lnTo>
                    <a:pt x="13707" y="16706"/>
                  </a:lnTo>
                  <a:lnTo>
                    <a:pt x="13896" y="16607"/>
                  </a:lnTo>
                  <a:lnTo>
                    <a:pt x="14104" y="16519"/>
                  </a:lnTo>
                  <a:lnTo>
                    <a:pt x="14330" y="16453"/>
                  </a:lnTo>
                  <a:lnTo>
                    <a:pt x="14538" y="16431"/>
                  </a:lnTo>
                  <a:lnTo>
                    <a:pt x="14897" y="16453"/>
                  </a:lnTo>
                  <a:lnTo>
                    <a:pt x="15406" y="16497"/>
                  </a:lnTo>
                  <a:lnTo>
                    <a:pt x="16105" y="16541"/>
                  </a:lnTo>
                  <a:lnTo>
                    <a:pt x="16898" y="16607"/>
                  </a:lnTo>
                  <a:lnTo>
                    <a:pt x="17804" y="16651"/>
                  </a:lnTo>
                  <a:lnTo>
                    <a:pt x="18786" y="16684"/>
                  </a:lnTo>
                  <a:lnTo>
                    <a:pt x="19844" y="16728"/>
                  </a:lnTo>
                  <a:lnTo>
                    <a:pt x="20920" y="16751"/>
                  </a:lnTo>
                  <a:lnTo>
                    <a:pt x="21109" y="16497"/>
                  </a:lnTo>
                  <a:lnTo>
                    <a:pt x="21241" y="16222"/>
                  </a:lnTo>
                  <a:lnTo>
                    <a:pt x="21392" y="15946"/>
                  </a:lnTo>
                  <a:lnTo>
                    <a:pt x="21467" y="15648"/>
                  </a:lnTo>
                  <a:lnTo>
                    <a:pt x="21543" y="15351"/>
                  </a:lnTo>
                  <a:lnTo>
                    <a:pt x="21618" y="15042"/>
                  </a:lnTo>
                  <a:lnTo>
                    <a:pt x="21618" y="14745"/>
                  </a:lnTo>
                  <a:lnTo>
                    <a:pt x="21618" y="14447"/>
                  </a:lnTo>
                  <a:lnTo>
                    <a:pt x="21618" y="14150"/>
                  </a:lnTo>
                  <a:lnTo>
                    <a:pt x="21581" y="13852"/>
                  </a:lnTo>
                  <a:lnTo>
                    <a:pt x="21505" y="13577"/>
                  </a:lnTo>
                  <a:lnTo>
                    <a:pt x="21430" y="13301"/>
                  </a:lnTo>
                  <a:lnTo>
                    <a:pt x="21354" y="13048"/>
                  </a:lnTo>
                  <a:lnTo>
                    <a:pt x="21241" y="12816"/>
                  </a:lnTo>
                  <a:lnTo>
                    <a:pt x="21146" y="12607"/>
                  </a:lnTo>
                  <a:lnTo>
                    <a:pt x="21033" y="12431"/>
                  </a:lnTo>
                  <a:lnTo>
                    <a:pt x="20920" y="12265"/>
                  </a:lnTo>
                  <a:lnTo>
                    <a:pt x="20769" y="12144"/>
                  </a:lnTo>
                  <a:lnTo>
                    <a:pt x="20637" y="12034"/>
                  </a:lnTo>
                  <a:lnTo>
                    <a:pt x="20486" y="11946"/>
                  </a:lnTo>
                  <a:lnTo>
                    <a:pt x="20297" y="11891"/>
                  </a:lnTo>
                  <a:lnTo>
                    <a:pt x="20165" y="11846"/>
                  </a:lnTo>
                  <a:lnTo>
                    <a:pt x="19976" y="11824"/>
                  </a:lnTo>
                  <a:lnTo>
                    <a:pt x="19806" y="11802"/>
                  </a:lnTo>
                  <a:lnTo>
                    <a:pt x="19390" y="11824"/>
                  </a:lnTo>
                  <a:lnTo>
                    <a:pt x="18956" y="11891"/>
                  </a:lnTo>
                  <a:lnTo>
                    <a:pt x="18503" y="11968"/>
                  </a:lnTo>
                  <a:lnTo>
                    <a:pt x="17993" y="12078"/>
                  </a:lnTo>
                  <a:lnTo>
                    <a:pt x="17653" y="12144"/>
                  </a:lnTo>
                  <a:lnTo>
                    <a:pt x="17332" y="12199"/>
                  </a:lnTo>
                  <a:lnTo>
                    <a:pt x="17049" y="12221"/>
                  </a:lnTo>
                  <a:lnTo>
                    <a:pt x="16747" y="12243"/>
                  </a:lnTo>
                  <a:lnTo>
                    <a:pt x="16464" y="12243"/>
                  </a:lnTo>
                  <a:lnTo>
                    <a:pt x="16218" y="12243"/>
                  </a:lnTo>
                  <a:lnTo>
                    <a:pt x="15992" y="12221"/>
                  </a:lnTo>
                  <a:lnTo>
                    <a:pt x="15746" y="12199"/>
                  </a:lnTo>
                  <a:lnTo>
                    <a:pt x="15520" y="12155"/>
                  </a:lnTo>
                  <a:lnTo>
                    <a:pt x="15350" y="12122"/>
                  </a:lnTo>
                  <a:lnTo>
                    <a:pt x="15161" y="12056"/>
                  </a:lnTo>
                  <a:lnTo>
                    <a:pt x="14972" y="11990"/>
                  </a:lnTo>
                  <a:lnTo>
                    <a:pt x="14689" y="11846"/>
                  </a:lnTo>
                  <a:lnTo>
                    <a:pt x="14444" y="11670"/>
                  </a:lnTo>
                  <a:lnTo>
                    <a:pt x="14255" y="11483"/>
                  </a:lnTo>
                  <a:lnTo>
                    <a:pt x="14104" y="11295"/>
                  </a:lnTo>
                  <a:lnTo>
                    <a:pt x="14028" y="11086"/>
                  </a:lnTo>
                  <a:lnTo>
                    <a:pt x="13972" y="10888"/>
                  </a:lnTo>
                  <a:lnTo>
                    <a:pt x="13972" y="10700"/>
                  </a:lnTo>
                  <a:lnTo>
                    <a:pt x="14009" y="10513"/>
                  </a:lnTo>
                  <a:lnTo>
                    <a:pt x="14066" y="10359"/>
                  </a:lnTo>
                  <a:lnTo>
                    <a:pt x="14179" y="10215"/>
                  </a:lnTo>
                  <a:lnTo>
                    <a:pt x="14406" y="10006"/>
                  </a:lnTo>
                  <a:lnTo>
                    <a:pt x="14651" y="9830"/>
                  </a:lnTo>
                  <a:lnTo>
                    <a:pt x="14878" y="9686"/>
                  </a:lnTo>
                  <a:lnTo>
                    <a:pt x="15123" y="9554"/>
                  </a:lnTo>
                  <a:lnTo>
                    <a:pt x="15350" y="9477"/>
                  </a:lnTo>
                  <a:lnTo>
                    <a:pt x="15558" y="9411"/>
                  </a:lnTo>
                  <a:lnTo>
                    <a:pt x="15803" y="9345"/>
                  </a:lnTo>
                  <a:lnTo>
                    <a:pt x="16030" y="9323"/>
                  </a:lnTo>
                  <a:lnTo>
                    <a:pt x="16256" y="9301"/>
                  </a:lnTo>
                  <a:lnTo>
                    <a:pt x="16464" y="9323"/>
                  </a:lnTo>
                  <a:lnTo>
                    <a:pt x="16690" y="9345"/>
                  </a:lnTo>
                  <a:lnTo>
                    <a:pt x="16898" y="9367"/>
                  </a:lnTo>
                  <a:lnTo>
                    <a:pt x="17332" y="9477"/>
                  </a:lnTo>
                  <a:lnTo>
                    <a:pt x="17767" y="9598"/>
                  </a:lnTo>
                  <a:lnTo>
                    <a:pt x="18163" y="9731"/>
                  </a:lnTo>
                  <a:lnTo>
                    <a:pt x="18597" y="9874"/>
                  </a:lnTo>
                  <a:lnTo>
                    <a:pt x="18994" y="10006"/>
                  </a:lnTo>
                  <a:lnTo>
                    <a:pt x="19428" y="10083"/>
                  </a:lnTo>
                  <a:lnTo>
                    <a:pt x="19617" y="10127"/>
                  </a:lnTo>
                  <a:lnTo>
                    <a:pt x="19844" y="10149"/>
                  </a:lnTo>
                  <a:lnTo>
                    <a:pt x="20013" y="10149"/>
                  </a:lnTo>
                  <a:lnTo>
                    <a:pt x="20240" y="10127"/>
                  </a:lnTo>
                  <a:lnTo>
                    <a:pt x="20410" y="10105"/>
                  </a:lnTo>
                  <a:lnTo>
                    <a:pt x="20637" y="10061"/>
                  </a:lnTo>
                  <a:lnTo>
                    <a:pt x="20844" y="9984"/>
                  </a:lnTo>
                  <a:lnTo>
                    <a:pt x="21033" y="9896"/>
                  </a:lnTo>
                  <a:lnTo>
                    <a:pt x="21146" y="9830"/>
                  </a:lnTo>
                  <a:lnTo>
                    <a:pt x="21203" y="9753"/>
                  </a:lnTo>
                  <a:lnTo>
                    <a:pt x="21279" y="9642"/>
                  </a:lnTo>
                  <a:lnTo>
                    <a:pt x="21354" y="9521"/>
                  </a:lnTo>
                  <a:lnTo>
                    <a:pt x="21430" y="9246"/>
                  </a:lnTo>
                  <a:lnTo>
                    <a:pt x="21430" y="8904"/>
                  </a:lnTo>
                  <a:lnTo>
                    <a:pt x="21430" y="8540"/>
                  </a:lnTo>
                  <a:lnTo>
                    <a:pt x="21392" y="8144"/>
                  </a:lnTo>
                  <a:lnTo>
                    <a:pt x="21354" y="7714"/>
                  </a:lnTo>
                  <a:lnTo>
                    <a:pt x="21279" y="7295"/>
                  </a:lnTo>
                  <a:lnTo>
                    <a:pt x="21146" y="6446"/>
                  </a:lnTo>
                  <a:lnTo>
                    <a:pt x="20995" y="5686"/>
                  </a:lnTo>
                  <a:lnTo>
                    <a:pt x="20958" y="5366"/>
                  </a:lnTo>
                  <a:lnTo>
                    <a:pt x="20958" y="5091"/>
                  </a:lnTo>
                  <a:lnTo>
                    <a:pt x="20958" y="4860"/>
                  </a:lnTo>
                  <a:lnTo>
                    <a:pt x="21033" y="4716"/>
                  </a:lnTo>
                  <a:lnTo>
                    <a:pt x="20637" y="4860"/>
                  </a:lnTo>
                  <a:lnTo>
                    <a:pt x="20127" y="4992"/>
                  </a:lnTo>
                  <a:lnTo>
                    <a:pt x="19617" y="5069"/>
                  </a:lnTo>
                  <a:lnTo>
                    <a:pt x="19032" y="5157"/>
                  </a:lnTo>
                  <a:lnTo>
                    <a:pt x="18465" y="5201"/>
                  </a:lnTo>
                  <a:lnTo>
                    <a:pt x="17842" y="5245"/>
                  </a:lnTo>
                  <a:lnTo>
                    <a:pt x="17219" y="5267"/>
                  </a:lnTo>
                  <a:lnTo>
                    <a:pt x="16615" y="5267"/>
                  </a:lnTo>
                  <a:lnTo>
                    <a:pt x="15992" y="5245"/>
                  </a:lnTo>
                  <a:lnTo>
                    <a:pt x="15369" y="5201"/>
                  </a:lnTo>
                  <a:lnTo>
                    <a:pt x="14840" y="5157"/>
                  </a:lnTo>
                  <a:lnTo>
                    <a:pt x="14293" y="5091"/>
                  </a:lnTo>
                  <a:lnTo>
                    <a:pt x="13783" y="5014"/>
                  </a:lnTo>
                  <a:lnTo>
                    <a:pt x="13386" y="4926"/>
                  </a:lnTo>
                  <a:lnTo>
                    <a:pt x="13027" y="4815"/>
                  </a:lnTo>
                  <a:lnTo>
                    <a:pt x="12725" y="4716"/>
                  </a:lnTo>
                  <a:lnTo>
                    <a:pt x="12480" y="4606"/>
                  </a:lnTo>
                  <a:lnTo>
                    <a:pt x="12291" y="4496"/>
                  </a:lnTo>
                  <a:lnTo>
                    <a:pt x="12197" y="4397"/>
                  </a:lnTo>
                  <a:lnTo>
                    <a:pt x="12083" y="4286"/>
                  </a:lnTo>
                  <a:lnTo>
                    <a:pt x="12046" y="4187"/>
                  </a:lnTo>
                  <a:lnTo>
                    <a:pt x="12008" y="4077"/>
                  </a:lnTo>
                  <a:lnTo>
                    <a:pt x="12046" y="3967"/>
                  </a:lnTo>
                  <a:lnTo>
                    <a:pt x="12121" y="3868"/>
                  </a:lnTo>
                  <a:lnTo>
                    <a:pt x="12197" y="3735"/>
                  </a:lnTo>
                  <a:lnTo>
                    <a:pt x="12291" y="3614"/>
                  </a:lnTo>
                  <a:lnTo>
                    <a:pt x="12442" y="3482"/>
                  </a:lnTo>
                  <a:lnTo>
                    <a:pt x="12631" y="3361"/>
                  </a:lnTo>
                  <a:lnTo>
                    <a:pt x="13065" y="3085"/>
                  </a:lnTo>
                  <a:lnTo>
                    <a:pt x="13537" y="2766"/>
                  </a:lnTo>
                  <a:lnTo>
                    <a:pt x="13783" y="2578"/>
                  </a:lnTo>
                  <a:lnTo>
                    <a:pt x="13934" y="2380"/>
                  </a:lnTo>
                  <a:lnTo>
                    <a:pt x="14028" y="2171"/>
                  </a:lnTo>
                  <a:lnTo>
                    <a:pt x="14104" y="1961"/>
                  </a:lnTo>
                  <a:lnTo>
                    <a:pt x="14104" y="1730"/>
                  </a:lnTo>
                  <a:lnTo>
                    <a:pt x="14066" y="1498"/>
                  </a:lnTo>
                  <a:lnTo>
                    <a:pt x="13972" y="1267"/>
                  </a:lnTo>
                  <a:lnTo>
                    <a:pt x="13820" y="1057"/>
                  </a:lnTo>
                  <a:lnTo>
                    <a:pt x="13594" y="837"/>
                  </a:lnTo>
                  <a:lnTo>
                    <a:pt x="13386" y="628"/>
                  </a:lnTo>
                  <a:lnTo>
                    <a:pt x="13103" y="462"/>
                  </a:lnTo>
                  <a:lnTo>
                    <a:pt x="12763" y="308"/>
                  </a:lnTo>
                  <a:lnTo>
                    <a:pt x="12404" y="187"/>
                  </a:lnTo>
                  <a:lnTo>
                    <a:pt x="12008" y="77"/>
                  </a:lnTo>
                  <a:lnTo>
                    <a:pt x="11574" y="33"/>
                  </a:lnTo>
                  <a:lnTo>
                    <a:pt x="11102" y="11"/>
                  </a:lnTo>
                  <a:lnTo>
                    <a:pt x="10667" y="11"/>
                  </a:lnTo>
                  <a:lnTo>
                    <a:pt x="10233" y="77"/>
                  </a:lnTo>
                  <a:lnTo>
                    <a:pt x="9837" y="187"/>
                  </a:lnTo>
                  <a:lnTo>
                    <a:pt x="9440" y="286"/>
                  </a:lnTo>
                  <a:lnTo>
                    <a:pt x="9062" y="462"/>
                  </a:lnTo>
                  <a:lnTo>
                    <a:pt x="8741" y="628"/>
                  </a:lnTo>
                  <a:lnTo>
                    <a:pt x="8458" y="815"/>
                  </a:lnTo>
                  <a:lnTo>
                    <a:pt x="8232" y="1035"/>
                  </a:lnTo>
                  <a:lnTo>
                    <a:pt x="8062" y="1245"/>
                  </a:lnTo>
                  <a:lnTo>
                    <a:pt x="7911" y="1476"/>
                  </a:lnTo>
                  <a:lnTo>
                    <a:pt x="7835" y="1708"/>
                  </a:lnTo>
                  <a:lnTo>
                    <a:pt x="7797" y="1961"/>
                  </a:lnTo>
                  <a:lnTo>
                    <a:pt x="7835" y="2193"/>
                  </a:lnTo>
                  <a:lnTo>
                    <a:pt x="7948" y="2402"/>
                  </a:lnTo>
                  <a:lnTo>
                    <a:pt x="8062" y="2534"/>
                  </a:lnTo>
                  <a:lnTo>
                    <a:pt x="8175" y="2644"/>
                  </a:lnTo>
                  <a:lnTo>
                    <a:pt x="8269" y="2744"/>
                  </a:lnTo>
                  <a:lnTo>
                    <a:pt x="8420" y="2832"/>
                  </a:lnTo>
                  <a:lnTo>
                    <a:pt x="8704" y="3019"/>
                  </a:lnTo>
                  <a:lnTo>
                    <a:pt x="8968" y="3206"/>
                  </a:lnTo>
                  <a:lnTo>
                    <a:pt x="9138" y="3405"/>
                  </a:lnTo>
                  <a:lnTo>
                    <a:pt x="9327" y="3570"/>
                  </a:lnTo>
                  <a:lnTo>
                    <a:pt x="9440" y="3735"/>
                  </a:lnTo>
                  <a:lnTo>
                    <a:pt x="9516" y="3890"/>
                  </a:lnTo>
                  <a:lnTo>
                    <a:pt x="9534" y="4033"/>
                  </a:lnTo>
                  <a:lnTo>
                    <a:pt x="9534" y="4165"/>
                  </a:lnTo>
                  <a:lnTo>
                    <a:pt x="9516" y="4286"/>
                  </a:lnTo>
                  <a:lnTo>
                    <a:pt x="9440" y="4397"/>
                  </a:lnTo>
                  <a:lnTo>
                    <a:pt x="9327" y="4496"/>
                  </a:lnTo>
                  <a:lnTo>
                    <a:pt x="9176" y="4562"/>
                  </a:lnTo>
                  <a:lnTo>
                    <a:pt x="9006" y="4628"/>
                  </a:lnTo>
                  <a:lnTo>
                    <a:pt x="8779" y="4694"/>
                  </a:lnTo>
                  <a:lnTo>
                    <a:pt x="8534" y="4716"/>
                  </a:lnTo>
                  <a:lnTo>
                    <a:pt x="8232" y="4716"/>
                  </a:lnTo>
                  <a:lnTo>
                    <a:pt x="7118" y="4738"/>
                  </a:lnTo>
                  <a:lnTo>
                    <a:pt x="5947" y="4771"/>
                  </a:lnTo>
                  <a:lnTo>
                    <a:pt x="4795" y="4815"/>
                  </a:lnTo>
                  <a:lnTo>
                    <a:pt x="3681" y="4860"/>
                  </a:lnTo>
                  <a:lnTo>
                    <a:pt x="2662" y="4882"/>
                  </a:lnTo>
                  <a:lnTo>
                    <a:pt x="1755" y="4882"/>
                  </a:lnTo>
                  <a:lnTo>
                    <a:pt x="1359" y="4860"/>
                  </a:lnTo>
                  <a:lnTo>
                    <a:pt x="981" y="4837"/>
                  </a:lnTo>
                  <a:lnTo>
                    <a:pt x="698" y="4771"/>
                  </a:lnTo>
                  <a:lnTo>
                    <a:pt x="453" y="4716"/>
                  </a:lnTo>
                  <a:lnTo>
                    <a:pt x="453" y="5322"/>
                  </a:lnTo>
                  <a:lnTo>
                    <a:pt x="453" y="6083"/>
                  </a:lnTo>
                  <a:lnTo>
                    <a:pt x="453" y="6909"/>
                  </a:lnTo>
                  <a:lnTo>
                    <a:pt x="453" y="7780"/>
                  </a:lnTo>
                  <a:lnTo>
                    <a:pt x="453" y="8606"/>
                  </a:lnTo>
                  <a:lnTo>
                    <a:pt x="453" y="9345"/>
                  </a:lnTo>
                  <a:lnTo>
                    <a:pt x="453" y="9918"/>
                  </a:lnTo>
                  <a:lnTo>
                    <a:pt x="453" y="10282"/>
                  </a:lnTo>
                  <a:lnTo>
                    <a:pt x="490" y="10381"/>
                  </a:lnTo>
                  <a:lnTo>
                    <a:pt x="547" y="10491"/>
                  </a:lnTo>
                  <a:lnTo>
                    <a:pt x="660" y="10590"/>
                  </a:lnTo>
                  <a:lnTo>
                    <a:pt x="811" y="10700"/>
                  </a:lnTo>
                  <a:lnTo>
                    <a:pt x="981" y="10811"/>
                  </a:lnTo>
                  <a:lnTo>
                    <a:pt x="1208" y="10888"/>
                  </a:lnTo>
                  <a:lnTo>
                    <a:pt x="1453" y="10954"/>
                  </a:lnTo>
                  <a:lnTo>
                    <a:pt x="1718" y="11020"/>
                  </a:lnTo>
                  <a:lnTo>
                    <a:pt x="1963" y="11064"/>
                  </a:lnTo>
                  <a:lnTo>
                    <a:pt x="2265" y="11086"/>
                  </a:lnTo>
                  <a:lnTo>
                    <a:pt x="2548" y="11064"/>
                  </a:lnTo>
                  <a:lnTo>
                    <a:pt x="2794" y="11042"/>
                  </a:lnTo>
                  <a:lnTo>
                    <a:pt x="3096" y="10976"/>
                  </a:lnTo>
                  <a:lnTo>
                    <a:pt x="3341" y="10888"/>
                  </a:lnTo>
                  <a:lnTo>
                    <a:pt x="3606" y="10766"/>
                  </a:lnTo>
                  <a:lnTo>
                    <a:pt x="3813" y="10590"/>
                  </a:lnTo>
                  <a:close/>
                </a:path>
              </a:pathLst>
            </a:custGeom>
            <a:solidFill>
              <a:srgbClr val="D8EBB3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8" name="AutoShape 18"/>
            <p:cNvSpPr>
              <a:spLocks noChangeArrowheads="1"/>
            </p:cNvSpPr>
            <p:nvPr/>
          </p:nvSpPr>
          <p:spPr bwMode="auto">
            <a:xfrm>
              <a:off x="968" y="792"/>
              <a:ext cx="206" cy="1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6082 w 21600"/>
                <a:gd name="T25" fmla="*/ 2586 h 21600"/>
                <a:gd name="T26" fmla="*/ 16148 w 21600"/>
                <a:gd name="T27" fmla="*/ 1947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9360" y="20836"/>
                  </a:moveTo>
                  <a:lnTo>
                    <a:pt x="9528" y="20836"/>
                  </a:lnTo>
                  <a:lnTo>
                    <a:pt x="9686" y="20762"/>
                  </a:lnTo>
                  <a:lnTo>
                    <a:pt x="9810" y="20687"/>
                  </a:lnTo>
                  <a:lnTo>
                    <a:pt x="9922" y="20575"/>
                  </a:lnTo>
                  <a:lnTo>
                    <a:pt x="10012" y="20426"/>
                  </a:lnTo>
                  <a:lnTo>
                    <a:pt x="10068" y="20296"/>
                  </a:lnTo>
                  <a:lnTo>
                    <a:pt x="10113" y="20110"/>
                  </a:lnTo>
                  <a:lnTo>
                    <a:pt x="10136" y="19905"/>
                  </a:lnTo>
                  <a:lnTo>
                    <a:pt x="10136" y="19682"/>
                  </a:lnTo>
                  <a:lnTo>
                    <a:pt x="10113" y="19440"/>
                  </a:lnTo>
                  <a:lnTo>
                    <a:pt x="10068" y="19142"/>
                  </a:lnTo>
                  <a:lnTo>
                    <a:pt x="10012" y="18900"/>
                  </a:lnTo>
                  <a:lnTo>
                    <a:pt x="9900" y="18620"/>
                  </a:lnTo>
                  <a:lnTo>
                    <a:pt x="9787" y="18285"/>
                  </a:lnTo>
                  <a:lnTo>
                    <a:pt x="9641" y="17968"/>
                  </a:lnTo>
                  <a:lnTo>
                    <a:pt x="9472" y="17652"/>
                  </a:lnTo>
                  <a:lnTo>
                    <a:pt x="9382" y="17466"/>
                  </a:lnTo>
                  <a:lnTo>
                    <a:pt x="9315" y="17298"/>
                  </a:lnTo>
                  <a:lnTo>
                    <a:pt x="9258" y="17112"/>
                  </a:lnTo>
                  <a:lnTo>
                    <a:pt x="9191" y="16926"/>
                  </a:lnTo>
                  <a:lnTo>
                    <a:pt x="9123" y="16535"/>
                  </a:lnTo>
                  <a:lnTo>
                    <a:pt x="9101" y="16144"/>
                  </a:lnTo>
                  <a:lnTo>
                    <a:pt x="9101" y="15753"/>
                  </a:lnTo>
                  <a:lnTo>
                    <a:pt x="9168" y="15362"/>
                  </a:lnTo>
                  <a:lnTo>
                    <a:pt x="9236" y="14971"/>
                  </a:lnTo>
                  <a:lnTo>
                    <a:pt x="9360" y="14580"/>
                  </a:lnTo>
                  <a:lnTo>
                    <a:pt x="9495" y="14244"/>
                  </a:lnTo>
                  <a:lnTo>
                    <a:pt x="9663" y="13891"/>
                  </a:lnTo>
                  <a:lnTo>
                    <a:pt x="9855" y="13611"/>
                  </a:lnTo>
                  <a:lnTo>
                    <a:pt x="10068" y="13351"/>
                  </a:lnTo>
                  <a:lnTo>
                    <a:pt x="10293" y="13146"/>
                  </a:lnTo>
                  <a:lnTo>
                    <a:pt x="10552" y="12997"/>
                  </a:lnTo>
                  <a:lnTo>
                    <a:pt x="10811" y="12885"/>
                  </a:lnTo>
                  <a:lnTo>
                    <a:pt x="11069" y="12866"/>
                  </a:lnTo>
                  <a:lnTo>
                    <a:pt x="11351" y="12885"/>
                  </a:lnTo>
                  <a:lnTo>
                    <a:pt x="11610" y="12997"/>
                  </a:lnTo>
                  <a:lnTo>
                    <a:pt x="11846" y="13183"/>
                  </a:lnTo>
                  <a:lnTo>
                    <a:pt x="12060" y="13388"/>
                  </a:lnTo>
                  <a:lnTo>
                    <a:pt x="12251" y="13648"/>
                  </a:lnTo>
                  <a:lnTo>
                    <a:pt x="12419" y="13928"/>
                  </a:lnTo>
                  <a:lnTo>
                    <a:pt x="12555" y="14244"/>
                  </a:lnTo>
                  <a:lnTo>
                    <a:pt x="12690" y="14617"/>
                  </a:lnTo>
                  <a:lnTo>
                    <a:pt x="12768" y="15008"/>
                  </a:lnTo>
                  <a:lnTo>
                    <a:pt x="12836" y="15399"/>
                  </a:lnTo>
                  <a:lnTo>
                    <a:pt x="12858" y="15753"/>
                  </a:lnTo>
                  <a:lnTo>
                    <a:pt x="12858" y="16144"/>
                  </a:lnTo>
                  <a:lnTo>
                    <a:pt x="12813" y="16535"/>
                  </a:lnTo>
                  <a:lnTo>
                    <a:pt x="12746" y="16888"/>
                  </a:lnTo>
                  <a:lnTo>
                    <a:pt x="12667" y="17224"/>
                  </a:lnTo>
                  <a:lnTo>
                    <a:pt x="12510" y="17503"/>
                  </a:lnTo>
                  <a:lnTo>
                    <a:pt x="12228" y="18043"/>
                  </a:lnTo>
                  <a:lnTo>
                    <a:pt x="11970" y="18546"/>
                  </a:lnTo>
                  <a:lnTo>
                    <a:pt x="11868" y="18751"/>
                  </a:lnTo>
                  <a:lnTo>
                    <a:pt x="11778" y="18974"/>
                  </a:lnTo>
                  <a:lnTo>
                    <a:pt x="11711" y="19179"/>
                  </a:lnTo>
                  <a:lnTo>
                    <a:pt x="11666" y="19365"/>
                  </a:lnTo>
                  <a:lnTo>
                    <a:pt x="11632" y="19570"/>
                  </a:lnTo>
                  <a:lnTo>
                    <a:pt x="11632" y="19756"/>
                  </a:lnTo>
                  <a:lnTo>
                    <a:pt x="11632" y="19942"/>
                  </a:lnTo>
                  <a:lnTo>
                    <a:pt x="11643" y="20110"/>
                  </a:lnTo>
                  <a:lnTo>
                    <a:pt x="11711" y="20296"/>
                  </a:lnTo>
                  <a:lnTo>
                    <a:pt x="11801" y="20464"/>
                  </a:lnTo>
                  <a:lnTo>
                    <a:pt x="11891" y="20650"/>
                  </a:lnTo>
                  <a:lnTo>
                    <a:pt x="12037" y="20836"/>
                  </a:lnTo>
                  <a:lnTo>
                    <a:pt x="12206" y="21004"/>
                  </a:lnTo>
                  <a:lnTo>
                    <a:pt x="12419" y="21190"/>
                  </a:lnTo>
                  <a:lnTo>
                    <a:pt x="12667" y="21320"/>
                  </a:lnTo>
                  <a:lnTo>
                    <a:pt x="12960" y="21432"/>
                  </a:lnTo>
                  <a:lnTo>
                    <a:pt x="13286" y="21544"/>
                  </a:lnTo>
                  <a:lnTo>
                    <a:pt x="13612" y="21655"/>
                  </a:lnTo>
                  <a:lnTo>
                    <a:pt x="13983" y="21693"/>
                  </a:lnTo>
                  <a:lnTo>
                    <a:pt x="14343" y="21730"/>
                  </a:lnTo>
                  <a:lnTo>
                    <a:pt x="14715" y="21730"/>
                  </a:lnTo>
                  <a:lnTo>
                    <a:pt x="15075" y="21730"/>
                  </a:lnTo>
                  <a:lnTo>
                    <a:pt x="15446" y="21655"/>
                  </a:lnTo>
                  <a:lnTo>
                    <a:pt x="15794" y="21581"/>
                  </a:lnTo>
                  <a:lnTo>
                    <a:pt x="16132" y="21432"/>
                  </a:lnTo>
                  <a:lnTo>
                    <a:pt x="16458" y="21302"/>
                  </a:lnTo>
                  <a:lnTo>
                    <a:pt x="16740" y="21078"/>
                  </a:lnTo>
                  <a:lnTo>
                    <a:pt x="16976" y="20836"/>
                  </a:lnTo>
                  <a:lnTo>
                    <a:pt x="17043" y="20650"/>
                  </a:lnTo>
                  <a:lnTo>
                    <a:pt x="17088" y="20426"/>
                  </a:lnTo>
                  <a:lnTo>
                    <a:pt x="17133" y="20222"/>
                  </a:lnTo>
                  <a:lnTo>
                    <a:pt x="17156" y="19980"/>
                  </a:lnTo>
                  <a:lnTo>
                    <a:pt x="17167" y="19477"/>
                  </a:lnTo>
                  <a:lnTo>
                    <a:pt x="17167" y="18974"/>
                  </a:lnTo>
                  <a:lnTo>
                    <a:pt x="17156" y="18397"/>
                  </a:lnTo>
                  <a:lnTo>
                    <a:pt x="17111" y="17820"/>
                  </a:lnTo>
                  <a:lnTo>
                    <a:pt x="17066" y="17261"/>
                  </a:lnTo>
                  <a:lnTo>
                    <a:pt x="16998" y="16646"/>
                  </a:lnTo>
                  <a:lnTo>
                    <a:pt x="16852" y="15511"/>
                  </a:lnTo>
                  <a:lnTo>
                    <a:pt x="16740" y="14393"/>
                  </a:lnTo>
                  <a:lnTo>
                    <a:pt x="16717" y="13928"/>
                  </a:lnTo>
                  <a:lnTo>
                    <a:pt x="16695" y="13462"/>
                  </a:lnTo>
                  <a:lnTo>
                    <a:pt x="16717" y="13071"/>
                  </a:lnTo>
                  <a:lnTo>
                    <a:pt x="16785" y="12755"/>
                  </a:lnTo>
                  <a:lnTo>
                    <a:pt x="16852" y="12419"/>
                  </a:lnTo>
                  <a:lnTo>
                    <a:pt x="16953" y="12140"/>
                  </a:lnTo>
                  <a:lnTo>
                    <a:pt x="17088" y="11898"/>
                  </a:lnTo>
                  <a:lnTo>
                    <a:pt x="17212" y="11675"/>
                  </a:lnTo>
                  <a:lnTo>
                    <a:pt x="17370" y="11470"/>
                  </a:lnTo>
                  <a:lnTo>
                    <a:pt x="17516" y="11284"/>
                  </a:lnTo>
                  <a:lnTo>
                    <a:pt x="17696" y="11135"/>
                  </a:lnTo>
                  <a:lnTo>
                    <a:pt x="17865" y="11042"/>
                  </a:lnTo>
                  <a:lnTo>
                    <a:pt x="18033" y="10930"/>
                  </a:lnTo>
                  <a:lnTo>
                    <a:pt x="18213" y="10893"/>
                  </a:lnTo>
                  <a:lnTo>
                    <a:pt x="18382" y="10893"/>
                  </a:lnTo>
                  <a:lnTo>
                    <a:pt x="18551" y="10967"/>
                  </a:lnTo>
                  <a:lnTo>
                    <a:pt x="18708" y="11042"/>
                  </a:lnTo>
                  <a:lnTo>
                    <a:pt x="18855" y="11172"/>
                  </a:lnTo>
                  <a:lnTo>
                    <a:pt x="19012" y="11358"/>
                  </a:lnTo>
                  <a:lnTo>
                    <a:pt x="19136" y="11600"/>
                  </a:lnTo>
                  <a:lnTo>
                    <a:pt x="19271" y="11861"/>
                  </a:lnTo>
                  <a:lnTo>
                    <a:pt x="19440" y="12028"/>
                  </a:lnTo>
                  <a:lnTo>
                    <a:pt x="19608" y="12177"/>
                  </a:lnTo>
                  <a:lnTo>
                    <a:pt x="19822" y="12289"/>
                  </a:lnTo>
                  <a:lnTo>
                    <a:pt x="20025" y="12289"/>
                  </a:lnTo>
                  <a:lnTo>
                    <a:pt x="20238" y="12289"/>
                  </a:lnTo>
                  <a:lnTo>
                    <a:pt x="20452" y="12215"/>
                  </a:lnTo>
                  <a:lnTo>
                    <a:pt x="20643" y="12103"/>
                  </a:lnTo>
                  <a:lnTo>
                    <a:pt x="20846" y="11973"/>
                  </a:lnTo>
                  <a:lnTo>
                    <a:pt x="21037" y="11786"/>
                  </a:lnTo>
                  <a:lnTo>
                    <a:pt x="21206" y="11563"/>
                  </a:lnTo>
                  <a:lnTo>
                    <a:pt x="21363" y="11321"/>
                  </a:lnTo>
                  <a:lnTo>
                    <a:pt x="21465" y="11079"/>
                  </a:lnTo>
                  <a:lnTo>
                    <a:pt x="21577" y="10744"/>
                  </a:lnTo>
                  <a:lnTo>
                    <a:pt x="21622" y="10427"/>
                  </a:lnTo>
                  <a:lnTo>
                    <a:pt x="21645" y="10111"/>
                  </a:lnTo>
                  <a:lnTo>
                    <a:pt x="21622" y="9608"/>
                  </a:lnTo>
                  <a:lnTo>
                    <a:pt x="21577" y="9142"/>
                  </a:lnTo>
                  <a:lnTo>
                    <a:pt x="21465" y="8751"/>
                  </a:lnTo>
                  <a:lnTo>
                    <a:pt x="21363" y="8397"/>
                  </a:lnTo>
                  <a:lnTo>
                    <a:pt x="21206" y="8062"/>
                  </a:lnTo>
                  <a:lnTo>
                    <a:pt x="21037" y="7820"/>
                  </a:lnTo>
                  <a:lnTo>
                    <a:pt x="20846" y="7597"/>
                  </a:lnTo>
                  <a:lnTo>
                    <a:pt x="20643" y="7429"/>
                  </a:lnTo>
                  <a:lnTo>
                    <a:pt x="20452" y="7317"/>
                  </a:lnTo>
                  <a:lnTo>
                    <a:pt x="20238" y="7206"/>
                  </a:lnTo>
                  <a:lnTo>
                    <a:pt x="20025" y="7168"/>
                  </a:lnTo>
                  <a:lnTo>
                    <a:pt x="19822" y="7206"/>
                  </a:lnTo>
                  <a:lnTo>
                    <a:pt x="19608" y="7243"/>
                  </a:lnTo>
                  <a:lnTo>
                    <a:pt x="19440" y="7355"/>
                  </a:lnTo>
                  <a:lnTo>
                    <a:pt x="19271" y="7504"/>
                  </a:lnTo>
                  <a:lnTo>
                    <a:pt x="19136" y="7708"/>
                  </a:lnTo>
                  <a:lnTo>
                    <a:pt x="19012" y="7895"/>
                  </a:lnTo>
                  <a:lnTo>
                    <a:pt x="18832" y="8025"/>
                  </a:lnTo>
                  <a:lnTo>
                    <a:pt x="18663" y="8174"/>
                  </a:lnTo>
                  <a:lnTo>
                    <a:pt x="18472" y="8248"/>
                  </a:lnTo>
                  <a:lnTo>
                    <a:pt x="18270" y="8286"/>
                  </a:lnTo>
                  <a:lnTo>
                    <a:pt x="18078" y="8323"/>
                  </a:lnTo>
                  <a:lnTo>
                    <a:pt x="17887" y="8323"/>
                  </a:lnTo>
                  <a:lnTo>
                    <a:pt x="17696" y="8248"/>
                  </a:lnTo>
                  <a:lnTo>
                    <a:pt x="17493" y="8174"/>
                  </a:lnTo>
                  <a:lnTo>
                    <a:pt x="17302" y="8062"/>
                  </a:lnTo>
                  <a:lnTo>
                    <a:pt x="17133" y="7969"/>
                  </a:lnTo>
                  <a:lnTo>
                    <a:pt x="16976" y="7783"/>
                  </a:lnTo>
                  <a:lnTo>
                    <a:pt x="16852" y="7597"/>
                  </a:lnTo>
                  <a:lnTo>
                    <a:pt x="16740" y="7429"/>
                  </a:lnTo>
                  <a:lnTo>
                    <a:pt x="16672" y="7168"/>
                  </a:lnTo>
                  <a:lnTo>
                    <a:pt x="16638" y="6926"/>
                  </a:lnTo>
                  <a:lnTo>
                    <a:pt x="16616" y="6498"/>
                  </a:lnTo>
                  <a:lnTo>
                    <a:pt x="16616" y="5772"/>
                  </a:lnTo>
                  <a:lnTo>
                    <a:pt x="16650" y="4915"/>
                  </a:lnTo>
                  <a:lnTo>
                    <a:pt x="16695" y="3928"/>
                  </a:lnTo>
                  <a:lnTo>
                    <a:pt x="16762" y="2960"/>
                  </a:lnTo>
                  <a:lnTo>
                    <a:pt x="16830" y="1992"/>
                  </a:lnTo>
                  <a:lnTo>
                    <a:pt x="16908" y="1173"/>
                  </a:lnTo>
                  <a:lnTo>
                    <a:pt x="16976" y="521"/>
                  </a:lnTo>
                  <a:lnTo>
                    <a:pt x="16953" y="521"/>
                  </a:lnTo>
                  <a:lnTo>
                    <a:pt x="16931" y="521"/>
                  </a:lnTo>
                  <a:lnTo>
                    <a:pt x="16267" y="484"/>
                  </a:lnTo>
                  <a:lnTo>
                    <a:pt x="15637" y="428"/>
                  </a:lnTo>
                  <a:lnTo>
                    <a:pt x="15063" y="353"/>
                  </a:lnTo>
                  <a:lnTo>
                    <a:pt x="14523" y="279"/>
                  </a:lnTo>
                  <a:lnTo>
                    <a:pt x="14040" y="167"/>
                  </a:lnTo>
                  <a:lnTo>
                    <a:pt x="13635" y="93"/>
                  </a:lnTo>
                  <a:lnTo>
                    <a:pt x="13331" y="18"/>
                  </a:lnTo>
                  <a:lnTo>
                    <a:pt x="13117" y="18"/>
                  </a:lnTo>
                  <a:lnTo>
                    <a:pt x="12982" y="18"/>
                  </a:lnTo>
                  <a:lnTo>
                    <a:pt x="12858" y="130"/>
                  </a:lnTo>
                  <a:lnTo>
                    <a:pt x="12723" y="279"/>
                  </a:lnTo>
                  <a:lnTo>
                    <a:pt x="12622" y="446"/>
                  </a:lnTo>
                  <a:lnTo>
                    <a:pt x="12510" y="670"/>
                  </a:lnTo>
                  <a:lnTo>
                    <a:pt x="12419" y="912"/>
                  </a:lnTo>
                  <a:lnTo>
                    <a:pt x="12363" y="1210"/>
                  </a:lnTo>
                  <a:lnTo>
                    <a:pt x="12318" y="1526"/>
                  </a:lnTo>
                  <a:lnTo>
                    <a:pt x="12273" y="1843"/>
                  </a:lnTo>
                  <a:lnTo>
                    <a:pt x="12251" y="2215"/>
                  </a:lnTo>
                  <a:lnTo>
                    <a:pt x="12273" y="2532"/>
                  </a:lnTo>
                  <a:lnTo>
                    <a:pt x="12318" y="2886"/>
                  </a:lnTo>
                  <a:lnTo>
                    <a:pt x="12386" y="3240"/>
                  </a:lnTo>
                  <a:lnTo>
                    <a:pt x="12464" y="3556"/>
                  </a:lnTo>
                  <a:lnTo>
                    <a:pt x="12577" y="3891"/>
                  </a:lnTo>
                  <a:lnTo>
                    <a:pt x="12746" y="4171"/>
                  </a:lnTo>
                  <a:lnTo>
                    <a:pt x="12926" y="4487"/>
                  </a:lnTo>
                  <a:lnTo>
                    <a:pt x="13050" y="4860"/>
                  </a:lnTo>
                  <a:lnTo>
                    <a:pt x="13162" y="5251"/>
                  </a:lnTo>
                  <a:lnTo>
                    <a:pt x="13218" y="5604"/>
                  </a:lnTo>
                  <a:lnTo>
                    <a:pt x="13263" y="5995"/>
                  </a:lnTo>
                  <a:lnTo>
                    <a:pt x="13241" y="6386"/>
                  </a:lnTo>
                  <a:lnTo>
                    <a:pt x="13218" y="6740"/>
                  </a:lnTo>
                  <a:lnTo>
                    <a:pt x="13139" y="7094"/>
                  </a:lnTo>
                  <a:lnTo>
                    <a:pt x="13050" y="7429"/>
                  </a:lnTo>
                  <a:lnTo>
                    <a:pt x="12903" y="7746"/>
                  </a:lnTo>
                  <a:lnTo>
                    <a:pt x="12723" y="8025"/>
                  </a:lnTo>
                  <a:lnTo>
                    <a:pt x="12532" y="8286"/>
                  </a:lnTo>
                  <a:lnTo>
                    <a:pt x="12318" y="8491"/>
                  </a:lnTo>
                  <a:lnTo>
                    <a:pt x="12060" y="8677"/>
                  </a:lnTo>
                  <a:lnTo>
                    <a:pt x="11756" y="8788"/>
                  </a:lnTo>
                  <a:lnTo>
                    <a:pt x="11452" y="8826"/>
                  </a:lnTo>
                  <a:lnTo>
                    <a:pt x="11283" y="8826"/>
                  </a:lnTo>
                  <a:lnTo>
                    <a:pt x="11126" y="8826"/>
                  </a:lnTo>
                  <a:lnTo>
                    <a:pt x="11002" y="8788"/>
                  </a:lnTo>
                  <a:lnTo>
                    <a:pt x="10845" y="8714"/>
                  </a:lnTo>
                  <a:lnTo>
                    <a:pt x="10721" y="8640"/>
                  </a:lnTo>
                  <a:lnTo>
                    <a:pt x="10608" y="8565"/>
                  </a:lnTo>
                  <a:lnTo>
                    <a:pt x="10485" y="8453"/>
                  </a:lnTo>
                  <a:lnTo>
                    <a:pt x="10372" y="8323"/>
                  </a:lnTo>
                  <a:lnTo>
                    <a:pt x="10181" y="8062"/>
                  </a:lnTo>
                  <a:lnTo>
                    <a:pt x="10035" y="7746"/>
                  </a:lnTo>
                  <a:lnTo>
                    <a:pt x="9900" y="7392"/>
                  </a:lnTo>
                  <a:lnTo>
                    <a:pt x="9787" y="7001"/>
                  </a:lnTo>
                  <a:lnTo>
                    <a:pt x="9731" y="6610"/>
                  </a:lnTo>
                  <a:lnTo>
                    <a:pt x="9686" y="6219"/>
                  </a:lnTo>
                  <a:lnTo>
                    <a:pt x="9663" y="5772"/>
                  </a:lnTo>
                  <a:lnTo>
                    <a:pt x="9686" y="5381"/>
                  </a:lnTo>
                  <a:lnTo>
                    <a:pt x="9753" y="4990"/>
                  </a:lnTo>
                  <a:lnTo>
                    <a:pt x="9832" y="4636"/>
                  </a:lnTo>
                  <a:lnTo>
                    <a:pt x="9945" y="4320"/>
                  </a:lnTo>
                  <a:lnTo>
                    <a:pt x="10068" y="4022"/>
                  </a:lnTo>
                  <a:lnTo>
                    <a:pt x="10203" y="3817"/>
                  </a:lnTo>
                  <a:lnTo>
                    <a:pt x="10316" y="3593"/>
                  </a:lnTo>
                  <a:lnTo>
                    <a:pt x="10395" y="3351"/>
                  </a:lnTo>
                  <a:lnTo>
                    <a:pt x="10462" y="3109"/>
                  </a:lnTo>
                  <a:lnTo>
                    <a:pt x="10507" y="2848"/>
                  </a:lnTo>
                  <a:lnTo>
                    <a:pt x="10530" y="2606"/>
                  </a:lnTo>
                  <a:lnTo>
                    <a:pt x="10507" y="2346"/>
                  </a:lnTo>
                  <a:lnTo>
                    <a:pt x="10462" y="2141"/>
                  </a:lnTo>
                  <a:lnTo>
                    <a:pt x="10395" y="1880"/>
                  </a:lnTo>
                  <a:lnTo>
                    <a:pt x="10293" y="1638"/>
                  </a:lnTo>
                  <a:lnTo>
                    <a:pt x="10158" y="1415"/>
                  </a:lnTo>
                  <a:lnTo>
                    <a:pt x="9967" y="1210"/>
                  </a:lnTo>
                  <a:lnTo>
                    <a:pt x="9753" y="986"/>
                  </a:lnTo>
                  <a:lnTo>
                    <a:pt x="9495" y="819"/>
                  </a:lnTo>
                  <a:lnTo>
                    <a:pt x="9191" y="670"/>
                  </a:lnTo>
                  <a:lnTo>
                    <a:pt x="8842" y="521"/>
                  </a:lnTo>
                  <a:lnTo>
                    <a:pt x="8471" y="446"/>
                  </a:lnTo>
                  <a:lnTo>
                    <a:pt x="7998" y="428"/>
                  </a:lnTo>
                  <a:lnTo>
                    <a:pt x="7413" y="428"/>
                  </a:lnTo>
                  <a:lnTo>
                    <a:pt x="6817" y="446"/>
                  </a:lnTo>
                  <a:lnTo>
                    <a:pt x="6187" y="521"/>
                  </a:lnTo>
                  <a:lnTo>
                    <a:pt x="5602" y="633"/>
                  </a:lnTo>
                  <a:lnTo>
                    <a:pt x="5107" y="744"/>
                  </a:lnTo>
                  <a:lnTo>
                    <a:pt x="4725" y="856"/>
                  </a:lnTo>
                  <a:lnTo>
                    <a:pt x="4848" y="1564"/>
                  </a:lnTo>
                  <a:lnTo>
                    <a:pt x="5028" y="2495"/>
                  </a:lnTo>
                  <a:lnTo>
                    <a:pt x="5175" y="3556"/>
                  </a:lnTo>
                  <a:lnTo>
                    <a:pt x="5298" y="4673"/>
                  </a:lnTo>
                  <a:lnTo>
                    <a:pt x="5343" y="5213"/>
                  </a:lnTo>
                  <a:lnTo>
                    <a:pt x="5388" y="5753"/>
                  </a:lnTo>
                  <a:lnTo>
                    <a:pt x="5411" y="6275"/>
                  </a:lnTo>
                  <a:lnTo>
                    <a:pt x="5411" y="6740"/>
                  </a:lnTo>
                  <a:lnTo>
                    <a:pt x="5366" y="7168"/>
                  </a:lnTo>
                  <a:lnTo>
                    <a:pt x="5321" y="7541"/>
                  </a:lnTo>
                  <a:lnTo>
                    <a:pt x="5287" y="7708"/>
                  </a:lnTo>
                  <a:lnTo>
                    <a:pt x="5242" y="7857"/>
                  </a:lnTo>
                  <a:lnTo>
                    <a:pt x="5197" y="7969"/>
                  </a:lnTo>
                  <a:lnTo>
                    <a:pt x="5130" y="8062"/>
                  </a:lnTo>
                  <a:lnTo>
                    <a:pt x="5006" y="8248"/>
                  </a:lnTo>
                  <a:lnTo>
                    <a:pt x="4848" y="8397"/>
                  </a:lnTo>
                  <a:lnTo>
                    <a:pt x="4725" y="8528"/>
                  </a:lnTo>
                  <a:lnTo>
                    <a:pt x="4567" y="8640"/>
                  </a:lnTo>
                  <a:lnTo>
                    <a:pt x="4421" y="8714"/>
                  </a:lnTo>
                  <a:lnTo>
                    <a:pt x="4263" y="8751"/>
                  </a:lnTo>
                  <a:lnTo>
                    <a:pt x="4095" y="8788"/>
                  </a:lnTo>
                  <a:lnTo>
                    <a:pt x="3948" y="8788"/>
                  </a:lnTo>
                  <a:lnTo>
                    <a:pt x="3791" y="8751"/>
                  </a:lnTo>
                  <a:lnTo>
                    <a:pt x="3667" y="8714"/>
                  </a:lnTo>
                  <a:lnTo>
                    <a:pt x="3510" y="8677"/>
                  </a:lnTo>
                  <a:lnTo>
                    <a:pt x="3386" y="8602"/>
                  </a:lnTo>
                  <a:lnTo>
                    <a:pt x="3251" y="8491"/>
                  </a:lnTo>
                  <a:lnTo>
                    <a:pt x="3127" y="8360"/>
                  </a:lnTo>
                  <a:lnTo>
                    <a:pt x="3015" y="8248"/>
                  </a:lnTo>
                  <a:lnTo>
                    <a:pt x="2925" y="8062"/>
                  </a:lnTo>
                  <a:lnTo>
                    <a:pt x="2778" y="7857"/>
                  </a:lnTo>
                  <a:lnTo>
                    <a:pt x="2610" y="7671"/>
                  </a:lnTo>
                  <a:lnTo>
                    <a:pt x="2407" y="7541"/>
                  </a:lnTo>
                  <a:lnTo>
                    <a:pt x="2171" y="7466"/>
                  </a:lnTo>
                  <a:lnTo>
                    <a:pt x="1957" y="7429"/>
                  </a:lnTo>
                  <a:lnTo>
                    <a:pt x="1698" y="7429"/>
                  </a:lnTo>
                  <a:lnTo>
                    <a:pt x="1462" y="7466"/>
                  </a:lnTo>
                  <a:lnTo>
                    <a:pt x="1226" y="7559"/>
                  </a:lnTo>
                  <a:lnTo>
                    <a:pt x="989" y="7708"/>
                  </a:lnTo>
                  <a:lnTo>
                    <a:pt x="776" y="7932"/>
                  </a:lnTo>
                  <a:lnTo>
                    <a:pt x="551" y="8211"/>
                  </a:lnTo>
                  <a:lnTo>
                    <a:pt x="382" y="8528"/>
                  </a:lnTo>
                  <a:lnTo>
                    <a:pt x="315" y="8714"/>
                  </a:lnTo>
                  <a:lnTo>
                    <a:pt x="236" y="8919"/>
                  </a:lnTo>
                  <a:lnTo>
                    <a:pt x="191" y="9142"/>
                  </a:lnTo>
                  <a:lnTo>
                    <a:pt x="123" y="9347"/>
                  </a:lnTo>
                  <a:lnTo>
                    <a:pt x="78" y="9608"/>
                  </a:lnTo>
                  <a:lnTo>
                    <a:pt x="56" y="9887"/>
                  </a:lnTo>
                  <a:lnTo>
                    <a:pt x="33" y="10185"/>
                  </a:lnTo>
                  <a:lnTo>
                    <a:pt x="33" y="10464"/>
                  </a:lnTo>
                  <a:lnTo>
                    <a:pt x="33" y="10706"/>
                  </a:lnTo>
                  <a:lnTo>
                    <a:pt x="56" y="10967"/>
                  </a:lnTo>
                  <a:lnTo>
                    <a:pt x="78" y="11172"/>
                  </a:lnTo>
                  <a:lnTo>
                    <a:pt x="123" y="11395"/>
                  </a:lnTo>
                  <a:lnTo>
                    <a:pt x="168" y="11600"/>
                  </a:lnTo>
                  <a:lnTo>
                    <a:pt x="236" y="11786"/>
                  </a:lnTo>
                  <a:lnTo>
                    <a:pt x="292" y="11973"/>
                  </a:lnTo>
                  <a:lnTo>
                    <a:pt x="382" y="12140"/>
                  </a:lnTo>
                  <a:lnTo>
                    <a:pt x="540" y="12419"/>
                  </a:lnTo>
                  <a:lnTo>
                    <a:pt x="731" y="12680"/>
                  </a:lnTo>
                  <a:lnTo>
                    <a:pt x="944" y="12866"/>
                  </a:lnTo>
                  <a:lnTo>
                    <a:pt x="1158" y="12997"/>
                  </a:lnTo>
                  <a:lnTo>
                    <a:pt x="1395" y="13108"/>
                  </a:lnTo>
                  <a:lnTo>
                    <a:pt x="1608" y="13183"/>
                  </a:lnTo>
                  <a:lnTo>
                    <a:pt x="1856" y="13183"/>
                  </a:lnTo>
                  <a:lnTo>
                    <a:pt x="2070" y="13146"/>
                  </a:lnTo>
                  <a:lnTo>
                    <a:pt x="2261" y="13071"/>
                  </a:lnTo>
                  <a:lnTo>
                    <a:pt x="2430" y="12960"/>
                  </a:lnTo>
                  <a:lnTo>
                    <a:pt x="2587" y="12792"/>
                  </a:lnTo>
                  <a:lnTo>
                    <a:pt x="2688" y="12606"/>
                  </a:lnTo>
                  <a:lnTo>
                    <a:pt x="2801" y="12419"/>
                  </a:lnTo>
                  <a:lnTo>
                    <a:pt x="2925" y="12289"/>
                  </a:lnTo>
                  <a:lnTo>
                    <a:pt x="3082" y="12177"/>
                  </a:lnTo>
                  <a:lnTo>
                    <a:pt x="3228" y="12103"/>
                  </a:lnTo>
                  <a:lnTo>
                    <a:pt x="3408" y="12103"/>
                  </a:lnTo>
                  <a:lnTo>
                    <a:pt x="3577" y="12103"/>
                  </a:lnTo>
                  <a:lnTo>
                    <a:pt x="3723" y="12177"/>
                  </a:lnTo>
                  <a:lnTo>
                    <a:pt x="3903" y="12252"/>
                  </a:lnTo>
                  <a:lnTo>
                    <a:pt x="4072" y="12364"/>
                  </a:lnTo>
                  <a:lnTo>
                    <a:pt x="4230" y="12494"/>
                  </a:lnTo>
                  <a:lnTo>
                    <a:pt x="4353" y="12643"/>
                  </a:lnTo>
                  <a:lnTo>
                    <a:pt x="4488" y="12829"/>
                  </a:lnTo>
                  <a:lnTo>
                    <a:pt x="4567" y="13034"/>
                  </a:lnTo>
                  <a:lnTo>
                    <a:pt x="4657" y="13257"/>
                  </a:lnTo>
                  <a:lnTo>
                    <a:pt x="4702" y="13462"/>
                  </a:lnTo>
                  <a:lnTo>
                    <a:pt x="4725" y="13686"/>
                  </a:lnTo>
                  <a:lnTo>
                    <a:pt x="4702" y="14282"/>
                  </a:lnTo>
                  <a:lnTo>
                    <a:pt x="4657" y="15045"/>
                  </a:lnTo>
                  <a:lnTo>
                    <a:pt x="4612" y="15976"/>
                  </a:lnTo>
                  <a:lnTo>
                    <a:pt x="4590" y="16926"/>
                  </a:lnTo>
                  <a:lnTo>
                    <a:pt x="4567" y="17968"/>
                  </a:lnTo>
                  <a:lnTo>
                    <a:pt x="4567" y="19011"/>
                  </a:lnTo>
                  <a:lnTo>
                    <a:pt x="4590" y="19514"/>
                  </a:lnTo>
                  <a:lnTo>
                    <a:pt x="4612" y="19980"/>
                  </a:lnTo>
                  <a:lnTo>
                    <a:pt x="4657" y="20426"/>
                  </a:lnTo>
                  <a:lnTo>
                    <a:pt x="4725" y="20836"/>
                  </a:lnTo>
                  <a:lnTo>
                    <a:pt x="4848" y="20929"/>
                  </a:lnTo>
                  <a:lnTo>
                    <a:pt x="5040" y="21004"/>
                  </a:lnTo>
                  <a:lnTo>
                    <a:pt x="5265" y="21078"/>
                  </a:lnTo>
                  <a:lnTo>
                    <a:pt x="5478" y="21115"/>
                  </a:lnTo>
                  <a:lnTo>
                    <a:pt x="6041" y="21115"/>
                  </a:lnTo>
                  <a:lnTo>
                    <a:pt x="6637" y="21078"/>
                  </a:lnTo>
                  <a:lnTo>
                    <a:pt x="7312" y="21004"/>
                  </a:lnTo>
                  <a:lnTo>
                    <a:pt x="7998" y="20929"/>
                  </a:lnTo>
                  <a:lnTo>
                    <a:pt x="8696" y="20855"/>
                  </a:lnTo>
                  <a:lnTo>
                    <a:pt x="9360" y="20836"/>
                  </a:lnTo>
                  <a:close/>
                </a:path>
              </a:pathLst>
            </a:custGeom>
            <a:solidFill>
              <a:srgbClr val="CCCCFF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90" name="Group 19"/>
          <p:cNvGrpSpPr>
            <a:grpSpLocks/>
          </p:cNvGrpSpPr>
          <p:nvPr/>
        </p:nvGrpSpPr>
        <p:grpSpPr bwMode="auto">
          <a:xfrm>
            <a:off x="4214813" y="981075"/>
            <a:ext cx="481012" cy="455613"/>
            <a:chOff x="2655" y="727"/>
            <a:chExt cx="303" cy="287"/>
          </a:xfrm>
        </p:grpSpPr>
        <p:sp>
          <p:nvSpPr>
            <p:cNvPr id="21562" name="AutoShape 20"/>
            <p:cNvSpPr>
              <a:spLocks noChangeArrowheads="1"/>
            </p:cNvSpPr>
            <p:nvPr/>
          </p:nvSpPr>
          <p:spPr bwMode="auto">
            <a:xfrm>
              <a:off x="2824" y="727"/>
              <a:ext cx="134" cy="13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52 w 21600"/>
                <a:gd name="T13" fmla="*/ 3957 h 21600"/>
                <a:gd name="T14" fmla="*/ 17893 w 21600"/>
                <a:gd name="T15" fmla="*/ 1764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21563" name="AutoShape 21"/>
            <p:cNvSpPr>
              <a:spLocks noChangeArrowheads="1"/>
            </p:cNvSpPr>
            <p:nvPr/>
          </p:nvSpPr>
          <p:spPr bwMode="auto">
            <a:xfrm>
              <a:off x="2655" y="781"/>
              <a:ext cx="161" cy="1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27 w 21600"/>
                <a:gd name="T13" fmla="*/ 3990 h 21600"/>
                <a:gd name="T14" fmla="*/ 17843 w 21600"/>
                <a:gd name="T15" fmla="*/ 176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21564" name="AutoShape 22"/>
            <p:cNvSpPr>
              <a:spLocks noChangeArrowheads="1"/>
            </p:cNvSpPr>
            <p:nvPr/>
          </p:nvSpPr>
          <p:spPr bwMode="auto">
            <a:xfrm>
              <a:off x="2760" y="840"/>
              <a:ext cx="179" cy="17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44 w 21600"/>
                <a:gd name="T13" fmla="*/ 3972 h 21600"/>
                <a:gd name="T14" fmla="*/ 17859 w 21600"/>
                <a:gd name="T15" fmla="*/ 1762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</p:grpSp>
      <p:grpSp>
        <p:nvGrpSpPr>
          <p:cNvPr id="94" name="Group 23"/>
          <p:cNvGrpSpPr>
            <a:grpSpLocks/>
          </p:cNvGrpSpPr>
          <p:nvPr/>
        </p:nvGrpSpPr>
        <p:grpSpPr bwMode="auto">
          <a:xfrm>
            <a:off x="3263900" y="1700213"/>
            <a:ext cx="2624138" cy="1839912"/>
            <a:chOff x="2056" y="1180"/>
            <a:chExt cx="1653" cy="1159"/>
          </a:xfrm>
        </p:grpSpPr>
        <p:sp>
          <p:nvSpPr>
            <p:cNvPr id="21550" name="Rectangle 24"/>
            <p:cNvSpPr>
              <a:spLocks noChangeArrowheads="1"/>
            </p:cNvSpPr>
            <p:nvPr/>
          </p:nvSpPr>
          <p:spPr bwMode="auto">
            <a:xfrm>
              <a:off x="2056" y="1180"/>
              <a:ext cx="1653" cy="107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1" name="Text Box 25"/>
            <p:cNvSpPr txBox="1">
              <a:spLocks noChangeArrowheads="1"/>
            </p:cNvSpPr>
            <p:nvPr/>
          </p:nvSpPr>
          <p:spPr bwMode="auto">
            <a:xfrm>
              <a:off x="2230" y="2108"/>
              <a:ext cx="12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</a:t>
              </a:r>
            </a:p>
          </p:txBody>
        </p:sp>
        <p:grpSp>
          <p:nvGrpSpPr>
            <p:cNvPr id="21552" name="Group 26"/>
            <p:cNvGrpSpPr>
              <a:grpSpLocks/>
            </p:cNvGrpSpPr>
            <p:nvPr/>
          </p:nvGrpSpPr>
          <p:grpSpPr bwMode="auto">
            <a:xfrm>
              <a:off x="2103" y="1678"/>
              <a:ext cx="1595" cy="396"/>
              <a:chOff x="2103" y="1678"/>
              <a:chExt cx="1595" cy="396"/>
            </a:xfrm>
          </p:grpSpPr>
          <p:sp>
            <p:nvSpPr>
              <p:cNvPr id="21556" name="Rectangle 27"/>
              <p:cNvSpPr>
                <a:spLocks noChangeArrowheads="1"/>
              </p:cNvSpPr>
              <p:nvPr/>
            </p:nvSpPr>
            <p:spPr bwMode="auto">
              <a:xfrm>
                <a:off x="2103" y="1678"/>
                <a:ext cx="1535" cy="375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1557" name="Group 28"/>
              <p:cNvGrpSpPr>
                <a:grpSpLocks/>
              </p:cNvGrpSpPr>
              <p:nvPr/>
            </p:nvGrpSpPr>
            <p:grpSpPr bwMode="auto">
              <a:xfrm>
                <a:off x="2164" y="1740"/>
                <a:ext cx="1535" cy="334"/>
                <a:chOff x="2164" y="1740"/>
                <a:chExt cx="1535" cy="334"/>
              </a:xfrm>
            </p:grpSpPr>
            <p:grpSp>
              <p:nvGrpSpPr>
                <p:cNvPr id="21558" name="Group 29"/>
                <p:cNvGrpSpPr>
                  <a:grpSpLocks/>
                </p:cNvGrpSpPr>
                <p:nvPr/>
              </p:nvGrpSpPr>
              <p:grpSpPr bwMode="auto">
                <a:xfrm>
                  <a:off x="2164" y="1740"/>
                  <a:ext cx="914" cy="231"/>
                  <a:chOff x="2164" y="1740"/>
                  <a:chExt cx="914" cy="231"/>
                </a:xfrm>
              </p:grpSpPr>
              <p:graphicFrame>
                <p:nvGraphicFramePr>
                  <p:cNvPr id="21560" name="Object 30"/>
                  <p:cNvGraphicFramePr>
                    <a:graphicFrameLocks noChangeAspect="1"/>
                  </p:cNvGraphicFramePr>
                  <p:nvPr/>
                </p:nvGraphicFramePr>
                <p:xfrm>
                  <a:off x="2164" y="1740"/>
                  <a:ext cx="914" cy="2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095" r:id="rId3" imgW="2209524" imgH="581106" progId="">
                          <p:embed/>
                        </p:oleObj>
                      </mc:Choice>
                      <mc:Fallback>
                        <p:oleObj r:id="rId3" imgW="2209524" imgH="581106" progId="">
                          <p:embed/>
                          <p:pic>
                            <p:nvPicPr>
                              <p:cNvPr id="21560" name="Object 30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64" y="1740"/>
                                <a:ext cx="914" cy="2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61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2164" y="1740"/>
                    <a:ext cx="914" cy="231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59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3001" y="1745"/>
                  <a:ext cx="697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Virtualized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53" name="Group 33"/>
            <p:cNvGrpSpPr>
              <a:grpSpLocks/>
            </p:cNvGrpSpPr>
            <p:nvPr/>
          </p:nvGrpSpPr>
          <p:grpSpPr bwMode="auto">
            <a:xfrm>
              <a:off x="2111" y="1257"/>
              <a:ext cx="1527" cy="354"/>
              <a:chOff x="2111" y="1257"/>
              <a:chExt cx="1527" cy="354"/>
            </a:xfrm>
          </p:grpSpPr>
          <p:sp>
            <p:nvSpPr>
              <p:cNvPr id="21554" name="Rectangle 34"/>
              <p:cNvSpPr>
                <a:spLocks noChangeArrowheads="1"/>
              </p:cNvSpPr>
              <p:nvPr/>
            </p:nvSpPr>
            <p:spPr bwMode="auto">
              <a:xfrm>
                <a:off x="2111" y="1257"/>
                <a:ext cx="1527" cy="336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555" name="Text Box 35"/>
              <p:cNvSpPr txBox="1">
                <a:spLocks noChangeArrowheads="1"/>
              </p:cNvSpPr>
              <p:nvPr/>
            </p:nvSpPr>
            <p:spPr bwMode="auto">
              <a:xfrm>
                <a:off x="2448" y="1380"/>
                <a:ext cx="91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Guest OS</a:t>
                </a:r>
              </a:p>
            </p:txBody>
          </p:sp>
        </p:grpSp>
      </p:grpSp>
      <p:grpSp>
        <p:nvGrpSpPr>
          <p:cNvPr id="108" name="Group 36"/>
          <p:cNvGrpSpPr>
            <a:grpSpLocks/>
          </p:cNvGrpSpPr>
          <p:nvPr/>
        </p:nvGrpSpPr>
        <p:grpSpPr bwMode="auto">
          <a:xfrm>
            <a:off x="422275" y="1700213"/>
            <a:ext cx="2697163" cy="1839912"/>
            <a:chOff x="266" y="1180"/>
            <a:chExt cx="1699" cy="1159"/>
          </a:xfrm>
        </p:grpSpPr>
        <p:sp>
          <p:nvSpPr>
            <p:cNvPr id="21538" name="Rectangle 37"/>
            <p:cNvSpPr>
              <a:spLocks noChangeArrowheads="1"/>
            </p:cNvSpPr>
            <p:nvPr/>
          </p:nvSpPr>
          <p:spPr bwMode="auto">
            <a:xfrm>
              <a:off x="266" y="1180"/>
              <a:ext cx="1699" cy="107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39" name="Text Box 38"/>
            <p:cNvSpPr txBox="1">
              <a:spLocks noChangeArrowheads="1"/>
            </p:cNvSpPr>
            <p:nvPr/>
          </p:nvSpPr>
          <p:spPr bwMode="auto">
            <a:xfrm>
              <a:off x="445" y="2108"/>
              <a:ext cx="1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</a:t>
              </a:r>
            </a:p>
          </p:txBody>
        </p:sp>
        <p:grpSp>
          <p:nvGrpSpPr>
            <p:cNvPr id="21540" name="Group 39"/>
            <p:cNvGrpSpPr>
              <a:grpSpLocks/>
            </p:cNvGrpSpPr>
            <p:nvPr/>
          </p:nvGrpSpPr>
          <p:grpSpPr bwMode="auto">
            <a:xfrm>
              <a:off x="315" y="1678"/>
              <a:ext cx="1640" cy="396"/>
              <a:chOff x="315" y="1678"/>
              <a:chExt cx="1640" cy="396"/>
            </a:xfrm>
          </p:grpSpPr>
          <p:sp>
            <p:nvSpPr>
              <p:cNvPr id="21544" name="Rectangle 40"/>
              <p:cNvSpPr>
                <a:spLocks noChangeArrowheads="1"/>
              </p:cNvSpPr>
              <p:nvPr/>
            </p:nvSpPr>
            <p:spPr bwMode="auto">
              <a:xfrm>
                <a:off x="315" y="1678"/>
                <a:ext cx="1578" cy="375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1545" name="Group 41"/>
              <p:cNvGrpSpPr>
                <a:grpSpLocks/>
              </p:cNvGrpSpPr>
              <p:nvPr/>
            </p:nvGrpSpPr>
            <p:grpSpPr bwMode="auto">
              <a:xfrm>
                <a:off x="377" y="1740"/>
                <a:ext cx="1578" cy="334"/>
                <a:chOff x="377" y="1740"/>
                <a:chExt cx="1578" cy="334"/>
              </a:xfrm>
            </p:grpSpPr>
            <p:grpSp>
              <p:nvGrpSpPr>
                <p:cNvPr id="21546" name="Group 42"/>
                <p:cNvGrpSpPr>
                  <a:grpSpLocks/>
                </p:cNvGrpSpPr>
                <p:nvPr/>
              </p:nvGrpSpPr>
              <p:grpSpPr bwMode="auto">
                <a:xfrm>
                  <a:off x="377" y="1740"/>
                  <a:ext cx="939" cy="231"/>
                  <a:chOff x="377" y="1740"/>
                  <a:chExt cx="939" cy="231"/>
                </a:xfrm>
              </p:grpSpPr>
              <p:graphicFrame>
                <p:nvGraphicFramePr>
                  <p:cNvPr id="21548" name="Object 43"/>
                  <p:cNvGraphicFramePr>
                    <a:graphicFrameLocks noChangeAspect="1"/>
                  </p:cNvGraphicFramePr>
                  <p:nvPr/>
                </p:nvGraphicFramePr>
                <p:xfrm>
                  <a:off x="377" y="1740"/>
                  <a:ext cx="939" cy="2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096" r:id="rId5" imgW="2209524" imgH="581106" progId="">
                          <p:embed/>
                        </p:oleObj>
                      </mc:Choice>
                      <mc:Fallback>
                        <p:oleObj r:id="rId5" imgW="2209524" imgH="581106" progId="">
                          <p:embed/>
                          <p:pic>
                            <p:nvPicPr>
                              <p:cNvPr id="21548" name="Object 43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7" y="1740"/>
                                <a:ext cx="939" cy="2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49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77" y="1740"/>
                    <a:ext cx="939" cy="231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47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1238" y="1745"/>
                  <a:ext cx="717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Virtualized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41" name="Group 46"/>
            <p:cNvGrpSpPr>
              <a:grpSpLocks/>
            </p:cNvGrpSpPr>
            <p:nvPr/>
          </p:nvGrpSpPr>
          <p:grpSpPr bwMode="auto">
            <a:xfrm>
              <a:off x="323" y="1257"/>
              <a:ext cx="1569" cy="354"/>
              <a:chOff x="323" y="1257"/>
              <a:chExt cx="1569" cy="354"/>
            </a:xfrm>
          </p:grpSpPr>
          <p:sp>
            <p:nvSpPr>
              <p:cNvPr id="21542" name="Rectangle 47"/>
              <p:cNvSpPr>
                <a:spLocks noChangeArrowheads="1"/>
              </p:cNvSpPr>
              <p:nvPr/>
            </p:nvSpPr>
            <p:spPr bwMode="auto">
              <a:xfrm>
                <a:off x="323" y="1257"/>
                <a:ext cx="1569" cy="336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543" name="Text Box 48"/>
              <p:cNvSpPr txBox="1">
                <a:spLocks noChangeArrowheads="1"/>
              </p:cNvSpPr>
              <p:nvPr/>
            </p:nvSpPr>
            <p:spPr bwMode="auto">
              <a:xfrm>
                <a:off x="669" y="1380"/>
                <a:ext cx="93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Guest OS</a:t>
                </a:r>
              </a:p>
            </p:txBody>
          </p:sp>
        </p:grpSp>
      </p:grpSp>
      <p:grpSp>
        <p:nvGrpSpPr>
          <p:cNvPr id="123" name="Group 73"/>
          <p:cNvGrpSpPr>
            <a:grpSpLocks/>
          </p:cNvGrpSpPr>
          <p:nvPr/>
        </p:nvGrpSpPr>
        <p:grpSpPr bwMode="auto">
          <a:xfrm>
            <a:off x="76200" y="4267200"/>
            <a:ext cx="5943600" cy="2133600"/>
            <a:chOff x="76200" y="4439528"/>
            <a:chExt cx="5943600" cy="2133600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76200" y="4439528"/>
              <a:ext cx="5943600" cy="21336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Times New Roman" pitchFamily="16" charset="0"/>
                <a:buNone/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grpSp>
          <p:nvGrpSpPr>
            <p:cNvPr id="21527" name="Group 62"/>
            <p:cNvGrpSpPr>
              <a:grpSpLocks/>
            </p:cNvGrpSpPr>
            <p:nvPr/>
          </p:nvGrpSpPr>
          <p:grpSpPr bwMode="auto">
            <a:xfrm>
              <a:off x="450850" y="5313363"/>
              <a:ext cx="5476875" cy="1114425"/>
              <a:chOff x="284" y="3347"/>
              <a:chExt cx="3450" cy="702"/>
            </a:xfrm>
          </p:grpSpPr>
          <p:sp>
            <p:nvSpPr>
              <p:cNvPr id="20508" name="Rectangle 2"/>
              <p:cNvSpPr>
                <a:spLocks noChangeArrowheads="1"/>
              </p:cNvSpPr>
              <p:nvPr/>
            </p:nvSpPr>
            <p:spPr bwMode="auto">
              <a:xfrm>
                <a:off x="284" y="3347"/>
                <a:ext cx="3450" cy="70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mtClean="0"/>
              </a:p>
            </p:txBody>
          </p:sp>
          <p:grpSp>
            <p:nvGrpSpPr>
              <p:cNvPr id="21533" name="Group 64"/>
              <p:cNvGrpSpPr>
                <a:grpSpLocks/>
              </p:cNvGrpSpPr>
              <p:nvPr/>
            </p:nvGrpSpPr>
            <p:grpSpPr bwMode="auto">
              <a:xfrm>
                <a:off x="376" y="3415"/>
                <a:ext cx="3297" cy="566"/>
                <a:chOff x="376" y="3415"/>
                <a:chExt cx="3297" cy="566"/>
              </a:xfrm>
            </p:grpSpPr>
            <p:grpSp>
              <p:nvGrpSpPr>
                <p:cNvPr id="21534" name="Group 65"/>
                <p:cNvGrpSpPr>
                  <a:grpSpLocks/>
                </p:cNvGrpSpPr>
                <p:nvPr/>
              </p:nvGrpSpPr>
              <p:grpSpPr bwMode="auto">
                <a:xfrm>
                  <a:off x="376" y="3415"/>
                  <a:ext cx="2517" cy="566"/>
                  <a:chOff x="376" y="3415"/>
                  <a:chExt cx="2517" cy="566"/>
                </a:xfrm>
              </p:grpSpPr>
              <p:graphicFrame>
                <p:nvGraphicFramePr>
                  <p:cNvPr id="21536" name="Object 5"/>
                  <p:cNvGraphicFramePr>
                    <a:graphicFrameLocks noChangeAspect="1"/>
                  </p:cNvGraphicFramePr>
                  <p:nvPr/>
                </p:nvGraphicFramePr>
                <p:xfrm>
                  <a:off x="376" y="3415"/>
                  <a:ext cx="2517" cy="56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097" r:id="rId6" imgW="2209524" imgH="581106" progId="">
                          <p:embed/>
                        </p:oleObj>
                      </mc:Choice>
                      <mc:Fallback>
                        <p:oleObj r:id="rId6" imgW="2209524" imgH="581106" progId="">
                          <p:embed/>
                          <p:pic>
                            <p:nvPicPr>
                              <p:cNvPr id="21536" name="Object 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6" y="3415"/>
                                <a:ext cx="2517" cy="56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37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376" y="3415"/>
                    <a:ext cx="2517" cy="566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3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893" y="3527"/>
                  <a:ext cx="780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Physical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28" name="Group 8"/>
            <p:cNvGrpSpPr>
              <a:grpSpLocks/>
            </p:cNvGrpSpPr>
            <p:nvPr/>
          </p:nvGrpSpPr>
          <p:grpSpPr bwMode="auto">
            <a:xfrm>
              <a:off x="457200" y="4511675"/>
              <a:ext cx="5470525" cy="646113"/>
              <a:chOff x="256" y="2842"/>
              <a:chExt cx="3478" cy="407"/>
            </a:xfrm>
          </p:grpSpPr>
          <p:sp>
            <p:nvSpPr>
              <p:cNvPr id="20506" name="Rectangle 9"/>
              <p:cNvSpPr>
                <a:spLocks noChangeArrowheads="1"/>
              </p:cNvSpPr>
              <p:nvPr/>
            </p:nvSpPr>
            <p:spPr bwMode="auto">
              <a:xfrm>
                <a:off x="256" y="2842"/>
                <a:ext cx="3478" cy="40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mtClean="0"/>
              </a:p>
            </p:txBody>
          </p:sp>
          <p:sp>
            <p:nvSpPr>
              <p:cNvPr id="21531" name="Text Box 10"/>
              <p:cNvSpPr txBox="1">
                <a:spLocks noChangeArrowheads="1"/>
              </p:cNvSpPr>
              <p:nvPr/>
            </p:nvSpPr>
            <p:spPr bwMode="auto">
              <a:xfrm>
                <a:off x="1022" y="2991"/>
                <a:ext cx="208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Host Operating System</a:t>
                </a:r>
              </a:p>
            </p:txBody>
          </p:sp>
        </p:grpSp>
        <p:sp>
          <p:nvSpPr>
            <p:cNvPr id="21529" name="TextBox 72"/>
            <p:cNvSpPr txBox="1">
              <a:spLocks noChangeArrowheads="1"/>
            </p:cNvSpPr>
            <p:nvPr/>
          </p:nvSpPr>
          <p:spPr bwMode="auto">
            <a:xfrm rot="-5400000">
              <a:off x="-522516" y="5301342"/>
              <a:ext cx="16002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/>
                <a:t>Blade Server</a:t>
              </a:r>
            </a:p>
          </p:txBody>
        </p:sp>
      </p:grpSp>
      <p:sp>
        <p:nvSpPr>
          <p:cNvPr id="5" name="Rectangle 4"/>
          <p:cNvSpPr/>
          <p:nvPr/>
        </p:nvSpPr>
        <p:spPr>
          <a:xfrm>
            <a:off x="6172200" y="85707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Issues in Management of Physical Resource management: </a:t>
            </a:r>
            <a:endParaRPr lang="en-US" b="1" dirty="0"/>
          </a:p>
          <a:p>
            <a:pPr marL="342900" indent="-342900">
              <a:buAutoNum type="arabicPeriod"/>
            </a:pPr>
            <a:r>
              <a:rPr lang="en-US" dirty="0" smtClean="0"/>
              <a:t>provision </a:t>
            </a:r>
            <a:r>
              <a:rPr lang="en-US" dirty="0"/>
              <a:t>for peak demands 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 </a:t>
            </a:r>
            <a:r>
              <a:rPr lang="en-US" dirty="0"/>
              <a:t>overprovisioning </a:t>
            </a:r>
          </a:p>
          <a:p>
            <a:pPr marL="342900" indent="-342900">
              <a:buAutoNum type="arabicPeriod"/>
            </a:pPr>
            <a:r>
              <a:rPr lang="en-US" dirty="0" smtClean="0"/>
              <a:t>heterogeneity </a:t>
            </a:r>
            <a:r>
              <a:rPr lang="en-US" dirty="0"/>
              <a:t>of hardware and software </a:t>
            </a:r>
          </a:p>
          <a:p>
            <a:pPr marL="342900" indent="-342900">
              <a:buAutoNum type="arabicPeriod"/>
            </a:pPr>
            <a:r>
              <a:rPr lang="en-US" dirty="0" smtClean="0"/>
              <a:t>machine </a:t>
            </a:r>
            <a:r>
              <a:rPr lang="en-US" dirty="0"/>
              <a:t>failures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6172200" y="2286000"/>
            <a:ext cx="582453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Virtualization is a basic enabler of Cloud </a:t>
            </a:r>
            <a:r>
              <a:rPr lang="en-US" b="1" dirty="0" smtClean="0"/>
              <a:t>Computing that </a:t>
            </a:r>
            <a:r>
              <a:rPr lang="en-US" b="1" dirty="0"/>
              <a:t>simplifies the management of physical resources for the </a:t>
            </a:r>
            <a:r>
              <a:rPr lang="en-US" b="1" dirty="0" smtClean="0"/>
              <a:t>above three </a:t>
            </a:r>
            <a:r>
              <a:rPr lang="en-US" b="1" dirty="0"/>
              <a:t>abstractions</a:t>
            </a:r>
            <a:endParaRPr lang="en-IN" b="1" dirty="0"/>
          </a:p>
        </p:txBody>
      </p:sp>
      <p:sp>
        <p:nvSpPr>
          <p:cNvPr id="7" name="Rectangle 6"/>
          <p:cNvSpPr/>
          <p:nvPr/>
        </p:nvSpPr>
        <p:spPr>
          <a:xfrm>
            <a:off x="6248400" y="3475672"/>
            <a:ext cx="574810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Virtual Machine (VM)</a:t>
            </a:r>
            <a:r>
              <a:rPr lang="en-US" dirty="0"/>
              <a:t> is a software-based simulation of a physical computer. It runs an operating system and applications just like a real computer, but it's hosted on a physical machine (called the host) and managed by a software layer called a </a:t>
            </a:r>
            <a:r>
              <a:rPr lang="en-US" b="1" dirty="0"/>
              <a:t>hypervisor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6248400" y="5288176"/>
            <a:ext cx="5867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Virtualization abstracts the underlying resources; simplifies their use; isolates users from one another; and supports replication which increases the elasticity of a system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965436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*0.7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4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w*0.70"/>
                                          </p:val>
                                        </p:tav>
                                        <p:tav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  <p:tav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repl">
                                        <p:cTn id="39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4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1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What is Virtualization?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grpSp>
        <p:nvGrpSpPr>
          <p:cNvPr id="78" name="Group 11"/>
          <p:cNvGrpSpPr>
            <a:grpSpLocks/>
          </p:cNvGrpSpPr>
          <p:nvPr/>
        </p:nvGrpSpPr>
        <p:grpSpPr bwMode="auto">
          <a:xfrm>
            <a:off x="384175" y="3554413"/>
            <a:ext cx="5543550" cy="769937"/>
            <a:chOff x="242" y="2348"/>
            <a:chExt cx="3492" cy="485"/>
          </a:xfrm>
        </p:grpSpPr>
        <p:sp>
          <p:nvSpPr>
            <p:cNvPr id="21569" name="Rectangle 12"/>
            <p:cNvSpPr>
              <a:spLocks noChangeArrowheads="1"/>
            </p:cNvSpPr>
            <p:nvPr/>
          </p:nvSpPr>
          <p:spPr bwMode="auto">
            <a:xfrm>
              <a:off x="242" y="2348"/>
              <a:ext cx="3492" cy="407"/>
            </a:xfrm>
            <a:prstGeom prst="rect">
              <a:avLst/>
            </a:prstGeom>
            <a:solidFill>
              <a:srgbClr val="969696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0" name="Text Box 13"/>
            <p:cNvSpPr txBox="1">
              <a:spLocks noChangeArrowheads="1"/>
            </p:cNvSpPr>
            <p:nvPr/>
          </p:nvSpPr>
          <p:spPr bwMode="auto">
            <a:xfrm>
              <a:off x="1011" y="2426"/>
              <a:ext cx="2091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 Monitor</a:t>
              </a:r>
            </a:p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(Hypervisor)</a:t>
              </a:r>
            </a:p>
          </p:txBody>
        </p:sp>
      </p:grpSp>
      <p:grpSp>
        <p:nvGrpSpPr>
          <p:cNvPr id="84" name="Group 14"/>
          <p:cNvGrpSpPr>
            <a:grpSpLocks/>
          </p:cNvGrpSpPr>
          <p:nvPr/>
        </p:nvGrpSpPr>
        <p:grpSpPr bwMode="auto">
          <a:xfrm>
            <a:off x="1536700" y="985838"/>
            <a:ext cx="515938" cy="612775"/>
            <a:chOff x="968" y="730"/>
            <a:chExt cx="325" cy="386"/>
          </a:xfrm>
        </p:grpSpPr>
        <p:sp>
          <p:nvSpPr>
            <p:cNvPr id="21565" name="AutoShape 15"/>
            <p:cNvSpPr>
              <a:spLocks noChangeArrowheads="1"/>
            </p:cNvSpPr>
            <p:nvPr/>
          </p:nvSpPr>
          <p:spPr bwMode="auto">
            <a:xfrm>
              <a:off x="1127" y="730"/>
              <a:ext cx="127" cy="2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2211 w 21600"/>
                <a:gd name="T25" fmla="*/ 7692 h 21600"/>
                <a:gd name="T26" fmla="*/ 19219 w 21600"/>
                <a:gd name="T27" fmla="*/ 202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6625" y="20892"/>
                  </a:moveTo>
                  <a:lnTo>
                    <a:pt x="7105" y="21023"/>
                  </a:lnTo>
                  <a:lnTo>
                    <a:pt x="7513" y="21088"/>
                  </a:lnTo>
                  <a:lnTo>
                    <a:pt x="7922" y="21115"/>
                  </a:lnTo>
                  <a:lnTo>
                    <a:pt x="8242" y="21115"/>
                  </a:lnTo>
                  <a:lnTo>
                    <a:pt x="8544" y="21062"/>
                  </a:lnTo>
                  <a:lnTo>
                    <a:pt x="8810" y="20997"/>
                  </a:lnTo>
                  <a:lnTo>
                    <a:pt x="9023" y="20892"/>
                  </a:lnTo>
                  <a:lnTo>
                    <a:pt x="9148" y="20761"/>
                  </a:lnTo>
                  <a:lnTo>
                    <a:pt x="9290" y="20616"/>
                  </a:lnTo>
                  <a:lnTo>
                    <a:pt x="9361" y="20459"/>
                  </a:lnTo>
                  <a:lnTo>
                    <a:pt x="9396" y="20289"/>
                  </a:lnTo>
                  <a:lnTo>
                    <a:pt x="9396" y="20092"/>
                  </a:lnTo>
                  <a:lnTo>
                    <a:pt x="9325" y="19909"/>
                  </a:lnTo>
                  <a:lnTo>
                    <a:pt x="9219" y="19738"/>
                  </a:lnTo>
                  <a:lnTo>
                    <a:pt x="9094" y="19555"/>
                  </a:lnTo>
                  <a:lnTo>
                    <a:pt x="8917" y="19384"/>
                  </a:lnTo>
                  <a:lnTo>
                    <a:pt x="8650" y="19162"/>
                  </a:lnTo>
                  <a:lnTo>
                    <a:pt x="8437" y="18900"/>
                  </a:lnTo>
                  <a:lnTo>
                    <a:pt x="8277" y="18624"/>
                  </a:lnTo>
                  <a:lnTo>
                    <a:pt x="8135" y="18349"/>
                  </a:lnTo>
                  <a:lnTo>
                    <a:pt x="8028" y="18048"/>
                  </a:lnTo>
                  <a:lnTo>
                    <a:pt x="7993" y="17746"/>
                  </a:lnTo>
                  <a:lnTo>
                    <a:pt x="7993" y="17471"/>
                  </a:lnTo>
                  <a:lnTo>
                    <a:pt x="8028" y="17169"/>
                  </a:lnTo>
                  <a:lnTo>
                    <a:pt x="8135" y="16920"/>
                  </a:lnTo>
                  <a:lnTo>
                    <a:pt x="8277" y="16671"/>
                  </a:lnTo>
                  <a:lnTo>
                    <a:pt x="8366" y="16540"/>
                  </a:lnTo>
                  <a:lnTo>
                    <a:pt x="8473" y="16409"/>
                  </a:lnTo>
                  <a:lnTo>
                    <a:pt x="8615" y="16317"/>
                  </a:lnTo>
                  <a:lnTo>
                    <a:pt x="8739" y="16213"/>
                  </a:lnTo>
                  <a:lnTo>
                    <a:pt x="8881" y="16134"/>
                  </a:lnTo>
                  <a:lnTo>
                    <a:pt x="9059" y="16055"/>
                  </a:lnTo>
                  <a:lnTo>
                    <a:pt x="9254" y="15990"/>
                  </a:lnTo>
                  <a:lnTo>
                    <a:pt x="9432" y="15911"/>
                  </a:lnTo>
                  <a:lnTo>
                    <a:pt x="9663" y="15885"/>
                  </a:lnTo>
                  <a:lnTo>
                    <a:pt x="9876" y="15833"/>
                  </a:lnTo>
                  <a:lnTo>
                    <a:pt x="10142" y="15806"/>
                  </a:lnTo>
                  <a:lnTo>
                    <a:pt x="10391" y="15806"/>
                  </a:lnTo>
                  <a:lnTo>
                    <a:pt x="10728" y="15806"/>
                  </a:lnTo>
                  <a:lnTo>
                    <a:pt x="10995" y="15806"/>
                  </a:lnTo>
                  <a:lnTo>
                    <a:pt x="11279" y="15833"/>
                  </a:lnTo>
                  <a:lnTo>
                    <a:pt x="11546" y="15885"/>
                  </a:lnTo>
                  <a:lnTo>
                    <a:pt x="11776" y="15937"/>
                  </a:lnTo>
                  <a:lnTo>
                    <a:pt x="12025" y="15990"/>
                  </a:lnTo>
                  <a:lnTo>
                    <a:pt x="12221" y="16055"/>
                  </a:lnTo>
                  <a:lnTo>
                    <a:pt x="12434" y="16134"/>
                  </a:lnTo>
                  <a:lnTo>
                    <a:pt x="12611" y="16213"/>
                  </a:lnTo>
                  <a:lnTo>
                    <a:pt x="12771" y="16317"/>
                  </a:lnTo>
                  <a:lnTo>
                    <a:pt x="12913" y="16409"/>
                  </a:lnTo>
                  <a:lnTo>
                    <a:pt x="13038" y="16514"/>
                  </a:lnTo>
                  <a:lnTo>
                    <a:pt x="13251" y="16737"/>
                  </a:lnTo>
                  <a:lnTo>
                    <a:pt x="13428" y="16986"/>
                  </a:lnTo>
                  <a:lnTo>
                    <a:pt x="13517" y="17248"/>
                  </a:lnTo>
                  <a:lnTo>
                    <a:pt x="13588" y="17523"/>
                  </a:lnTo>
                  <a:lnTo>
                    <a:pt x="13588" y="17799"/>
                  </a:lnTo>
                  <a:lnTo>
                    <a:pt x="13517" y="18074"/>
                  </a:lnTo>
                  <a:lnTo>
                    <a:pt x="13428" y="18323"/>
                  </a:lnTo>
                  <a:lnTo>
                    <a:pt x="13286" y="18572"/>
                  </a:lnTo>
                  <a:lnTo>
                    <a:pt x="13109" y="18808"/>
                  </a:lnTo>
                  <a:lnTo>
                    <a:pt x="12878" y="19031"/>
                  </a:lnTo>
                  <a:lnTo>
                    <a:pt x="12434" y="19411"/>
                  </a:lnTo>
                  <a:lnTo>
                    <a:pt x="12132" y="19738"/>
                  </a:lnTo>
                  <a:lnTo>
                    <a:pt x="12025" y="19856"/>
                  </a:lnTo>
                  <a:lnTo>
                    <a:pt x="11919" y="20014"/>
                  </a:lnTo>
                  <a:lnTo>
                    <a:pt x="11883" y="20132"/>
                  </a:lnTo>
                  <a:lnTo>
                    <a:pt x="11883" y="20263"/>
                  </a:lnTo>
                  <a:lnTo>
                    <a:pt x="11883" y="20394"/>
                  </a:lnTo>
                  <a:lnTo>
                    <a:pt x="11954" y="20485"/>
                  </a:lnTo>
                  <a:lnTo>
                    <a:pt x="12061" y="20590"/>
                  </a:lnTo>
                  <a:lnTo>
                    <a:pt x="12185" y="20695"/>
                  </a:lnTo>
                  <a:lnTo>
                    <a:pt x="12327" y="20787"/>
                  </a:lnTo>
                  <a:lnTo>
                    <a:pt x="12540" y="20892"/>
                  </a:lnTo>
                  <a:lnTo>
                    <a:pt x="12771" y="20997"/>
                  </a:lnTo>
                  <a:lnTo>
                    <a:pt x="13073" y="21088"/>
                  </a:lnTo>
                  <a:lnTo>
                    <a:pt x="13428" y="21193"/>
                  </a:lnTo>
                  <a:lnTo>
                    <a:pt x="13873" y="21298"/>
                  </a:lnTo>
                  <a:lnTo>
                    <a:pt x="14317" y="21390"/>
                  </a:lnTo>
                  <a:lnTo>
                    <a:pt x="14778" y="21468"/>
                  </a:lnTo>
                  <a:lnTo>
                    <a:pt x="15294" y="21547"/>
                  </a:lnTo>
                  <a:lnTo>
                    <a:pt x="15809" y="21600"/>
                  </a:lnTo>
                  <a:lnTo>
                    <a:pt x="16359" y="21652"/>
                  </a:lnTo>
                  <a:lnTo>
                    <a:pt x="16875" y="21678"/>
                  </a:lnTo>
                  <a:lnTo>
                    <a:pt x="17407" y="21678"/>
                  </a:lnTo>
                  <a:lnTo>
                    <a:pt x="17958" y="21678"/>
                  </a:lnTo>
                  <a:lnTo>
                    <a:pt x="18473" y="21652"/>
                  </a:lnTo>
                  <a:lnTo>
                    <a:pt x="18953" y="21573"/>
                  </a:lnTo>
                  <a:lnTo>
                    <a:pt x="19397" y="21495"/>
                  </a:lnTo>
                  <a:lnTo>
                    <a:pt x="19841" y="21390"/>
                  </a:lnTo>
                  <a:lnTo>
                    <a:pt x="20214" y="21272"/>
                  </a:lnTo>
                  <a:lnTo>
                    <a:pt x="20551" y="21088"/>
                  </a:lnTo>
                  <a:lnTo>
                    <a:pt x="20480" y="20787"/>
                  </a:lnTo>
                  <a:lnTo>
                    <a:pt x="20409" y="20485"/>
                  </a:lnTo>
                  <a:lnTo>
                    <a:pt x="20356" y="20158"/>
                  </a:lnTo>
                  <a:lnTo>
                    <a:pt x="20356" y="19804"/>
                  </a:lnTo>
                  <a:lnTo>
                    <a:pt x="20321" y="19083"/>
                  </a:lnTo>
                  <a:lnTo>
                    <a:pt x="20356" y="18349"/>
                  </a:lnTo>
                  <a:lnTo>
                    <a:pt x="20409" y="17641"/>
                  </a:lnTo>
                  <a:lnTo>
                    <a:pt x="20480" y="17012"/>
                  </a:lnTo>
                  <a:lnTo>
                    <a:pt x="20551" y="16488"/>
                  </a:lnTo>
                  <a:lnTo>
                    <a:pt x="20551" y="16055"/>
                  </a:lnTo>
                  <a:lnTo>
                    <a:pt x="20551" y="15911"/>
                  </a:lnTo>
                  <a:lnTo>
                    <a:pt x="20445" y="15754"/>
                  </a:lnTo>
                  <a:lnTo>
                    <a:pt x="20356" y="15610"/>
                  </a:lnTo>
                  <a:lnTo>
                    <a:pt x="20178" y="15452"/>
                  </a:lnTo>
                  <a:lnTo>
                    <a:pt x="20001" y="15334"/>
                  </a:lnTo>
                  <a:lnTo>
                    <a:pt x="19770" y="15230"/>
                  </a:lnTo>
                  <a:lnTo>
                    <a:pt x="19521" y="15125"/>
                  </a:lnTo>
                  <a:lnTo>
                    <a:pt x="19290" y="15059"/>
                  </a:lnTo>
                  <a:lnTo>
                    <a:pt x="19024" y="15007"/>
                  </a:lnTo>
                  <a:lnTo>
                    <a:pt x="18740" y="14954"/>
                  </a:lnTo>
                  <a:lnTo>
                    <a:pt x="18509" y="14954"/>
                  </a:lnTo>
                  <a:lnTo>
                    <a:pt x="18225" y="14954"/>
                  </a:lnTo>
                  <a:lnTo>
                    <a:pt x="17994" y="15007"/>
                  </a:lnTo>
                  <a:lnTo>
                    <a:pt x="17763" y="15085"/>
                  </a:lnTo>
                  <a:lnTo>
                    <a:pt x="17550" y="15177"/>
                  </a:lnTo>
                  <a:lnTo>
                    <a:pt x="17372" y="15308"/>
                  </a:lnTo>
                  <a:lnTo>
                    <a:pt x="17176" y="15426"/>
                  </a:lnTo>
                  <a:lnTo>
                    <a:pt x="16928" y="15557"/>
                  </a:lnTo>
                  <a:lnTo>
                    <a:pt x="16661" y="15636"/>
                  </a:lnTo>
                  <a:lnTo>
                    <a:pt x="16359" y="15688"/>
                  </a:lnTo>
                  <a:lnTo>
                    <a:pt x="16022" y="15715"/>
                  </a:lnTo>
                  <a:lnTo>
                    <a:pt x="15667" y="15688"/>
                  </a:lnTo>
                  <a:lnTo>
                    <a:pt x="15294" y="15662"/>
                  </a:lnTo>
                  <a:lnTo>
                    <a:pt x="14956" y="15583"/>
                  </a:lnTo>
                  <a:lnTo>
                    <a:pt x="14619" y="15479"/>
                  </a:lnTo>
                  <a:lnTo>
                    <a:pt x="14281" y="15334"/>
                  </a:lnTo>
                  <a:lnTo>
                    <a:pt x="13961" y="15177"/>
                  </a:lnTo>
                  <a:lnTo>
                    <a:pt x="13695" y="14981"/>
                  </a:lnTo>
                  <a:lnTo>
                    <a:pt x="13588" y="14850"/>
                  </a:lnTo>
                  <a:lnTo>
                    <a:pt x="13482" y="14732"/>
                  </a:lnTo>
                  <a:lnTo>
                    <a:pt x="13393" y="14600"/>
                  </a:lnTo>
                  <a:lnTo>
                    <a:pt x="13322" y="14456"/>
                  </a:lnTo>
                  <a:lnTo>
                    <a:pt x="13251" y="14299"/>
                  </a:lnTo>
                  <a:lnTo>
                    <a:pt x="13215" y="14155"/>
                  </a:lnTo>
                  <a:lnTo>
                    <a:pt x="13180" y="13971"/>
                  </a:lnTo>
                  <a:lnTo>
                    <a:pt x="13180" y="13801"/>
                  </a:lnTo>
                  <a:lnTo>
                    <a:pt x="13180" y="13591"/>
                  </a:lnTo>
                  <a:lnTo>
                    <a:pt x="13215" y="13395"/>
                  </a:lnTo>
                  <a:lnTo>
                    <a:pt x="13251" y="13198"/>
                  </a:lnTo>
                  <a:lnTo>
                    <a:pt x="13322" y="13015"/>
                  </a:lnTo>
                  <a:lnTo>
                    <a:pt x="13393" y="12870"/>
                  </a:lnTo>
                  <a:lnTo>
                    <a:pt x="13482" y="12713"/>
                  </a:lnTo>
                  <a:lnTo>
                    <a:pt x="13588" y="12569"/>
                  </a:lnTo>
                  <a:lnTo>
                    <a:pt x="13730" y="12438"/>
                  </a:lnTo>
                  <a:lnTo>
                    <a:pt x="13997" y="12215"/>
                  </a:lnTo>
                  <a:lnTo>
                    <a:pt x="14334" y="12005"/>
                  </a:lnTo>
                  <a:lnTo>
                    <a:pt x="14690" y="11861"/>
                  </a:lnTo>
                  <a:lnTo>
                    <a:pt x="15063" y="11756"/>
                  </a:lnTo>
                  <a:lnTo>
                    <a:pt x="15436" y="11678"/>
                  </a:lnTo>
                  <a:lnTo>
                    <a:pt x="15809" y="11638"/>
                  </a:lnTo>
                  <a:lnTo>
                    <a:pt x="16182" y="11638"/>
                  </a:lnTo>
                  <a:lnTo>
                    <a:pt x="16555" y="11678"/>
                  </a:lnTo>
                  <a:lnTo>
                    <a:pt x="16910" y="11730"/>
                  </a:lnTo>
                  <a:lnTo>
                    <a:pt x="17248" y="11835"/>
                  </a:lnTo>
                  <a:lnTo>
                    <a:pt x="17514" y="11966"/>
                  </a:lnTo>
                  <a:lnTo>
                    <a:pt x="17763" y="12110"/>
                  </a:lnTo>
                  <a:lnTo>
                    <a:pt x="17887" y="12215"/>
                  </a:lnTo>
                  <a:lnTo>
                    <a:pt x="18065" y="12307"/>
                  </a:lnTo>
                  <a:lnTo>
                    <a:pt x="18260" y="12412"/>
                  </a:lnTo>
                  <a:lnTo>
                    <a:pt x="18438" y="12464"/>
                  </a:lnTo>
                  <a:lnTo>
                    <a:pt x="18669" y="12543"/>
                  </a:lnTo>
                  <a:lnTo>
                    <a:pt x="18882" y="12569"/>
                  </a:lnTo>
                  <a:lnTo>
                    <a:pt x="19113" y="12595"/>
                  </a:lnTo>
                  <a:lnTo>
                    <a:pt x="19361" y="12608"/>
                  </a:lnTo>
                  <a:lnTo>
                    <a:pt x="19592" y="12608"/>
                  </a:lnTo>
                  <a:lnTo>
                    <a:pt x="19841" y="12595"/>
                  </a:lnTo>
                  <a:lnTo>
                    <a:pt x="20072" y="12543"/>
                  </a:lnTo>
                  <a:lnTo>
                    <a:pt x="20321" y="12490"/>
                  </a:lnTo>
                  <a:lnTo>
                    <a:pt x="20551" y="12438"/>
                  </a:lnTo>
                  <a:lnTo>
                    <a:pt x="20800" y="12333"/>
                  </a:lnTo>
                  <a:lnTo>
                    <a:pt x="20996" y="12241"/>
                  </a:lnTo>
                  <a:lnTo>
                    <a:pt x="21244" y="12110"/>
                  </a:lnTo>
                  <a:lnTo>
                    <a:pt x="21298" y="12032"/>
                  </a:lnTo>
                  <a:lnTo>
                    <a:pt x="21404" y="11966"/>
                  </a:lnTo>
                  <a:lnTo>
                    <a:pt x="21475" y="11861"/>
                  </a:lnTo>
                  <a:lnTo>
                    <a:pt x="21511" y="11730"/>
                  </a:lnTo>
                  <a:lnTo>
                    <a:pt x="21617" y="11481"/>
                  </a:lnTo>
                  <a:lnTo>
                    <a:pt x="21653" y="11180"/>
                  </a:lnTo>
                  <a:lnTo>
                    <a:pt x="21653" y="10826"/>
                  </a:lnTo>
                  <a:lnTo>
                    <a:pt x="21653" y="10472"/>
                  </a:lnTo>
                  <a:lnTo>
                    <a:pt x="21582" y="10092"/>
                  </a:lnTo>
                  <a:lnTo>
                    <a:pt x="21511" y="9725"/>
                  </a:lnTo>
                  <a:lnTo>
                    <a:pt x="21298" y="8912"/>
                  </a:lnTo>
                  <a:lnTo>
                    <a:pt x="21067" y="8191"/>
                  </a:lnTo>
                  <a:lnTo>
                    <a:pt x="20800" y="7536"/>
                  </a:lnTo>
                  <a:lnTo>
                    <a:pt x="20551" y="7025"/>
                  </a:lnTo>
                  <a:lnTo>
                    <a:pt x="20001" y="7103"/>
                  </a:lnTo>
                  <a:lnTo>
                    <a:pt x="19432" y="7156"/>
                  </a:lnTo>
                  <a:lnTo>
                    <a:pt x="18846" y="7208"/>
                  </a:lnTo>
                  <a:lnTo>
                    <a:pt x="18225" y="7208"/>
                  </a:lnTo>
                  <a:lnTo>
                    <a:pt x="17656" y="7208"/>
                  </a:lnTo>
                  <a:lnTo>
                    <a:pt x="17070" y="7182"/>
                  </a:lnTo>
                  <a:lnTo>
                    <a:pt x="16484" y="7156"/>
                  </a:lnTo>
                  <a:lnTo>
                    <a:pt x="15986" y="7103"/>
                  </a:lnTo>
                  <a:lnTo>
                    <a:pt x="14992" y="6999"/>
                  </a:lnTo>
                  <a:lnTo>
                    <a:pt x="14210" y="6907"/>
                  </a:lnTo>
                  <a:lnTo>
                    <a:pt x="13695" y="6828"/>
                  </a:lnTo>
                  <a:lnTo>
                    <a:pt x="13517" y="6802"/>
                  </a:lnTo>
                  <a:lnTo>
                    <a:pt x="13073" y="6645"/>
                  </a:lnTo>
                  <a:lnTo>
                    <a:pt x="12700" y="6474"/>
                  </a:lnTo>
                  <a:lnTo>
                    <a:pt x="12363" y="6304"/>
                  </a:lnTo>
                  <a:lnTo>
                    <a:pt x="12132" y="6094"/>
                  </a:lnTo>
                  <a:lnTo>
                    <a:pt x="11919" y="5871"/>
                  </a:lnTo>
                  <a:lnTo>
                    <a:pt x="11776" y="5649"/>
                  </a:lnTo>
                  <a:lnTo>
                    <a:pt x="11688" y="5413"/>
                  </a:lnTo>
                  <a:lnTo>
                    <a:pt x="11617" y="5190"/>
                  </a:lnTo>
                  <a:lnTo>
                    <a:pt x="11617" y="4941"/>
                  </a:lnTo>
                  <a:lnTo>
                    <a:pt x="11652" y="4718"/>
                  </a:lnTo>
                  <a:lnTo>
                    <a:pt x="11723" y="4482"/>
                  </a:lnTo>
                  <a:lnTo>
                    <a:pt x="11812" y="4285"/>
                  </a:lnTo>
                  <a:lnTo>
                    <a:pt x="11919" y="4089"/>
                  </a:lnTo>
                  <a:lnTo>
                    <a:pt x="12096" y="3905"/>
                  </a:lnTo>
                  <a:lnTo>
                    <a:pt x="12292" y="3735"/>
                  </a:lnTo>
                  <a:lnTo>
                    <a:pt x="12505" y="3604"/>
                  </a:lnTo>
                  <a:lnTo>
                    <a:pt x="12700" y="3460"/>
                  </a:lnTo>
                  <a:lnTo>
                    <a:pt x="12878" y="3250"/>
                  </a:lnTo>
                  <a:lnTo>
                    <a:pt x="13038" y="3027"/>
                  </a:lnTo>
                  <a:lnTo>
                    <a:pt x="13180" y="2752"/>
                  </a:lnTo>
                  <a:lnTo>
                    <a:pt x="13286" y="2477"/>
                  </a:lnTo>
                  <a:lnTo>
                    <a:pt x="13322" y="2175"/>
                  </a:lnTo>
                  <a:lnTo>
                    <a:pt x="13357" y="1874"/>
                  </a:lnTo>
                  <a:lnTo>
                    <a:pt x="13286" y="1572"/>
                  </a:lnTo>
                  <a:lnTo>
                    <a:pt x="13180" y="1271"/>
                  </a:lnTo>
                  <a:lnTo>
                    <a:pt x="13038" y="983"/>
                  </a:lnTo>
                  <a:lnTo>
                    <a:pt x="12949" y="865"/>
                  </a:lnTo>
                  <a:lnTo>
                    <a:pt x="12807" y="733"/>
                  </a:lnTo>
                  <a:lnTo>
                    <a:pt x="12665" y="616"/>
                  </a:lnTo>
                  <a:lnTo>
                    <a:pt x="12505" y="511"/>
                  </a:lnTo>
                  <a:lnTo>
                    <a:pt x="12327" y="406"/>
                  </a:lnTo>
                  <a:lnTo>
                    <a:pt x="12132" y="314"/>
                  </a:lnTo>
                  <a:lnTo>
                    <a:pt x="11883" y="235"/>
                  </a:lnTo>
                  <a:lnTo>
                    <a:pt x="11652" y="183"/>
                  </a:lnTo>
                  <a:lnTo>
                    <a:pt x="11368" y="104"/>
                  </a:lnTo>
                  <a:lnTo>
                    <a:pt x="11101" y="78"/>
                  </a:lnTo>
                  <a:lnTo>
                    <a:pt x="10800" y="52"/>
                  </a:lnTo>
                  <a:lnTo>
                    <a:pt x="10444" y="52"/>
                  </a:lnTo>
                  <a:lnTo>
                    <a:pt x="10142" y="52"/>
                  </a:lnTo>
                  <a:lnTo>
                    <a:pt x="9840" y="78"/>
                  </a:lnTo>
                  <a:lnTo>
                    <a:pt x="9574" y="104"/>
                  </a:lnTo>
                  <a:lnTo>
                    <a:pt x="9325" y="157"/>
                  </a:lnTo>
                  <a:lnTo>
                    <a:pt x="9094" y="209"/>
                  </a:lnTo>
                  <a:lnTo>
                    <a:pt x="8846" y="262"/>
                  </a:lnTo>
                  <a:lnTo>
                    <a:pt x="8650" y="340"/>
                  </a:lnTo>
                  <a:lnTo>
                    <a:pt x="8437" y="432"/>
                  </a:lnTo>
                  <a:lnTo>
                    <a:pt x="8277" y="511"/>
                  </a:lnTo>
                  <a:lnTo>
                    <a:pt x="8100" y="616"/>
                  </a:lnTo>
                  <a:lnTo>
                    <a:pt x="7957" y="707"/>
                  </a:lnTo>
                  <a:lnTo>
                    <a:pt x="7833" y="838"/>
                  </a:lnTo>
                  <a:lnTo>
                    <a:pt x="7620" y="1061"/>
                  </a:lnTo>
                  <a:lnTo>
                    <a:pt x="7442" y="1336"/>
                  </a:lnTo>
                  <a:lnTo>
                    <a:pt x="7353" y="1599"/>
                  </a:lnTo>
                  <a:lnTo>
                    <a:pt x="7318" y="1900"/>
                  </a:lnTo>
                  <a:lnTo>
                    <a:pt x="7318" y="2175"/>
                  </a:lnTo>
                  <a:lnTo>
                    <a:pt x="7353" y="2450"/>
                  </a:lnTo>
                  <a:lnTo>
                    <a:pt x="7442" y="2726"/>
                  </a:lnTo>
                  <a:lnTo>
                    <a:pt x="7620" y="2975"/>
                  </a:lnTo>
                  <a:lnTo>
                    <a:pt x="7833" y="3198"/>
                  </a:lnTo>
                  <a:lnTo>
                    <a:pt x="8064" y="3433"/>
                  </a:lnTo>
                  <a:lnTo>
                    <a:pt x="8295" y="3630"/>
                  </a:lnTo>
                  <a:lnTo>
                    <a:pt x="8508" y="3853"/>
                  </a:lnTo>
                  <a:lnTo>
                    <a:pt x="8686" y="4089"/>
                  </a:lnTo>
                  <a:lnTo>
                    <a:pt x="8775" y="4312"/>
                  </a:lnTo>
                  <a:lnTo>
                    <a:pt x="8846" y="4561"/>
                  </a:lnTo>
                  <a:lnTo>
                    <a:pt x="8846" y="4810"/>
                  </a:lnTo>
                  <a:lnTo>
                    <a:pt x="8810" y="5059"/>
                  </a:lnTo>
                  <a:lnTo>
                    <a:pt x="8721" y="5295"/>
                  </a:lnTo>
                  <a:lnTo>
                    <a:pt x="8579" y="5544"/>
                  </a:lnTo>
                  <a:lnTo>
                    <a:pt x="8366" y="5766"/>
                  </a:lnTo>
                  <a:lnTo>
                    <a:pt x="8135" y="5976"/>
                  </a:lnTo>
                  <a:lnTo>
                    <a:pt x="7833" y="6199"/>
                  </a:lnTo>
                  <a:lnTo>
                    <a:pt x="7478" y="6369"/>
                  </a:lnTo>
                  <a:lnTo>
                    <a:pt x="7069" y="6527"/>
                  </a:lnTo>
                  <a:lnTo>
                    <a:pt x="6590" y="6671"/>
                  </a:lnTo>
                  <a:lnTo>
                    <a:pt x="6092" y="6802"/>
                  </a:lnTo>
                  <a:lnTo>
                    <a:pt x="5684" y="6802"/>
                  </a:lnTo>
                  <a:lnTo>
                    <a:pt x="5133" y="6802"/>
                  </a:lnTo>
                  <a:lnTo>
                    <a:pt x="4547" y="6802"/>
                  </a:lnTo>
                  <a:lnTo>
                    <a:pt x="3872" y="6802"/>
                  </a:lnTo>
                  <a:lnTo>
                    <a:pt x="3144" y="6802"/>
                  </a:lnTo>
                  <a:lnTo>
                    <a:pt x="2362" y="6802"/>
                  </a:lnTo>
                  <a:lnTo>
                    <a:pt x="1545" y="6802"/>
                  </a:lnTo>
                  <a:lnTo>
                    <a:pt x="692" y="6802"/>
                  </a:lnTo>
                  <a:lnTo>
                    <a:pt x="586" y="7234"/>
                  </a:lnTo>
                  <a:lnTo>
                    <a:pt x="461" y="7837"/>
                  </a:lnTo>
                  <a:lnTo>
                    <a:pt x="355" y="8493"/>
                  </a:lnTo>
                  <a:lnTo>
                    <a:pt x="248" y="9187"/>
                  </a:lnTo>
                  <a:lnTo>
                    <a:pt x="142" y="9869"/>
                  </a:lnTo>
                  <a:lnTo>
                    <a:pt x="106" y="10498"/>
                  </a:lnTo>
                  <a:lnTo>
                    <a:pt x="106" y="10983"/>
                  </a:lnTo>
                  <a:lnTo>
                    <a:pt x="106" y="11311"/>
                  </a:lnTo>
                  <a:lnTo>
                    <a:pt x="213" y="11481"/>
                  </a:lnTo>
                  <a:lnTo>
                    <a:pt x="319" y="11651"/>
                  </a:lnTo>
                  <a:lnTo>
                    <a:pt x="497" y="11783"/>
                  </a:lnTo>
                  <a:lnTo>
                    <a:pt x="692" y="11914"/>
                  </a:lnTo>
                  <a:lnTo>
                    <a:pt x="941" y="12032"/>
                  </a:lnTo>
                  <a:lnTo>
                    <a:pt x="1207" y="12110"/>
                  </a:lnTo>
                  <a:lnTo>
                    <a:pt x="1509" y="12189"/>
                  </a:lnTo>
                  <a:lnTo>
                    <a:pt x="1794" y="12241"/>
                  </a:lnTo>
                  <a:lnTo>
                    <a:pt x="2131" y="12267"/>
                  </a:lnTo>
                  <a:lnTo>
                    <a:pt x="2433" y="12281"/>
                  </a:lnTo>
                  <a:lnTo>
                    <a:pt x="2735" y="12267"/>
                  </a:lnTo>
                  <a:lnTo>
                    <a:pt x="3055" y="12241"/>
                  </a:lnTo>
                  <a:lnTo>
                    <a:pt x="3357" y="12189"/>
                  </a:lnTo>
                  <a:lnTo>
                    <a:pt x="3623" y="12084"/>
                  </a:lnTo>
                  <a:lnTo>
                    <a:pt x="3872" y="11979"/>
                  </a:lnTo>
                  <a:lnTo>
                    <a:pt x="4103" y="11861"/>
                  </a:lnTo>
                  <a:lnTo>
                    <a:pt x="4316" y="11704"/>
                  </a:lnTo>
                  <a:lnTo>
                    <a:pt x="4582" y="11612"/>
                  </a:lnTo>
                  <a:lnTo>
                    <a:pt x="4849" y="11533"/>
                  </a:lnTo>
                  <a:lnTo>
                    <a:pt x="5169" y="11507"/>
                  </a:lnTo>
                  <a:lnTo>
                    <a:pt x="5506" y="11481"/>
                  </a:lnTo>
                  <a:lnTo>
                    <a:pt x="5808" y="11507"/>
                  </a:lnTo>
                  <a:lnTo>
                    <a:pt x="6146" y="11560"/>
                  </a:lnTo>
                  <a:lnTo>
                    <a:pt x="6501" y="11651"/>
                  </a:lnTo>
                  <a:lnTo>
                    <a:pt x="6803" y="11783"/>
                  </a:lnTo>
                  <a:lnTo>
                    <a:pt x="7105" y="11940"/>
                  </a:lnTo>
                  <a:lnTo>
                    <a:pt x="7353" y="12110"/>
                  </a:lnTo>
                  <a:lnTo>
                    <a:pt x="7584" y="12333"/>
                  </a:lnTo>
                  <a:lnTo>
                    <a:pt x="7798" y="12595"/>
                  </a:lnTo>
                  <a:lnTo>
                    <a:pt x="7922" y="12870"/>
                  </a:lnTo>
                  <a:lnTo>
                    <a:pt x="8028" y="13198"/>
                  </a:lnTo>
                  <a:lnTo>
                    <a:pt x="8064" y="13526"/>
                  </a:lnTo>
                  <a:lnTo>
                    <a:pt x="8028" y="13775"/>
                  </a:lnTo>
                  <a:lnTo>
                    <a:pt x="7922" y="13998"/>
                  </a:lnTo>
                  <a:lnTo>
                    <a:pt x="7798" y="14220"/>
                  </a:lnTo>
                  <a:lnTo>
                    <a:pt x="7584" y="14404"/>
                  </a:lnTo>
                  <a:lnTo>
                    <a:pt x="7353" y="14574"/>
                  </a:lnTo>
                  <a:lnTo>
                    <a:pt x="7105" y="14732"/>
                  </a:lnTo>
                  <a:lnTo>
                    <a:pt x="6803" y="14850"/>
                  </a:lnTo>
                  <a:lnTo>
                    <a:pt x="6501" y="14954"/>
                  </a:lnTo>
                  <a:lnTo>
                    <a:pt x="6146" y="15033"/>
                  </a:lnTo>
                  <a:lnTo>
                    <a:pt x="5808" y="15085"/>
                  </a:lnTo>
                  <a:lnTo>
                    <a:pt x="5506" y="15085"/>
                  </a:lnTo>
                  <a:lnTo>
                    <a:pt x="5169" y="15059"/>
                  </a:lnTo>
                  <a:lnTo>
                    <a:pt x="4849" y="15007"/>
                  </a:lnTo>
                  <a:lnTo>
                    <a:pt x="4582" y="14902"/>
                  </a:lnTo>
                  <a:lnTo>
                    <a:pt x="4316" y="14784"/>
                  </a:lnTo>
                  <a:lnTo>
                    <a:pt x="4103" y="14600"/>
                  </a:lnTo>
                  <a:lnTo>
                    <a:pt x="3907" y="14430"/>
                  </a:lnTo>
                  <a:lnTo>
                    <a:pt x="3659" y="14299"/>
                  </a:lnTo>
                  <a:lnTo>
                    <a:pt x="3428" y="14194"/>
                  </a:lnTo>
                  <a:lnTo>
                    <a:pt x="3179" y="14129"/>
                  </a:lnTo>
                  <a:lnTo>
                    <a:pt x="2913" y="14102"/>
                  </a:lnTo>
                  <a:lnTo>
                    <a:pt x="2646" y="14102"/>
                  </a:lnTo>
                  <a:lnTo>
                    <a:pt x="2362" y="14129"/>
                  </a:lnTo>
                  <a:lnTo>
                    <a:pt x="2096" y="14168"/>
                  </a:lnTo>
                  <a:lnTo>
                    <a:pt x="1811" y="14273"/>
                  </a:lnTo>
                  <a:lnTo>
                    <a:pt x="1545" y="14378"/>
                  </a:lnTo>
                  <a:lnTo>
                    <a:pt x="1314" y="14496"/>
                  </a:lnTo>
                  <a:lnTo>
                    <a:pt x="1065" y="14653"/>
                  </a:lnTo>
                  <a:lnTo>
                    <a:pt x="870" y="14797"/>
                  </a:lnTo>
                  <a:lnTo>
                    <a:pt x="657" y="14981"/>
                  </a:lnTo>
                  <a:lnTo>
                    <a:pt x="497" y="15177"/>
                  </a:lnTo>
                  <a:lnTo>
                    <a:pt x="390" y="15413"/>
                  </a:lnTo>
                  <a:lnTo>
                    <a:pt x="284" y="15636"/>
                  </a:lnTo>
                  <a:lnTo>
                    <a:pt x="248" y="15911"/>
                  </a:lnTo>
                  <a:lnTo>
                    <a:pt x="284" y="16239"/>
                  </a:lnTo>
                  <a:lnTo>
                    <a:pt x="319" y="16566"/>
                  </a:lnTo>
                  <a:lnTo>
                    <a:pt x="497" y="17340"/>
                  </a:lnTo>
                  <a:lnTo>
                    <a:pt x="692" y="18152"/>
                  </a:lnTo>
                  <a:lnTo>
                    <a:pt x="799" y="18559"/>
                  </a:lnTo>
                  <a:lnTo>
                    <a:pt x="905" y="18978"/>
                  </a:lnTo>
                  <a:lnTo>
                    <a:pt x="959" y="19384"/>
                  </a:lnTo>
                  <a:lnTo>
                    <a:pt x="994" y="19791"/>
                  </a:lnTo>
                  <a:lnTo>
                    <a:pt x="994" y="20132"/>
                  </a:lnTo>
                  <a:lnTo>
                    <a:pt x="959" y="20485"/>
                  </a:lnTo>
                  <a:lnTo>
                    <a:pt x="941" y="20669"/>
                  </a:lnTo>
                  <a:lnTo>
                    <a:pt x="870" y="20813"/>
                  </a:lnTo>
                  <a:lnTo>
                    <a:pt x="799" y="20970"/>
                  </a:lnTo>
                  <a:lnTo>
                    <a:pt x="692" y="21088"/>
                  </a:lnTo>
                  <a:lnTo>
                    <a:pt x="1474" y="20997"/>
                  </a:lnTo>
                  <a:lnTo>
                    <a:pt x="2291" y="20866"/>
                  </a:lnTo>
                  <a:lnTo>
                    <a:pt x="3108" y="20787"/>
                  </a:lnTo>
                  <a:lnTo>
                    <a:pt x="3907" y="20721"/>
                  </a:lnTo>
                  <a:lnTo>
                    <a:pt x="4653" y="20695"/>
                  </a:lnTo>
                  <a:lnTo>
                    <a:pt x="5364" y="20695"/>
                  </a:lnTo>
                  <a:lnTo>
                    <a:pt x="5701" y="20721"/>
                  </a:lnTo>
                  <a:lnTo>
                    <a:pt x="6057" y="20761"/>
                  </a:lnTo>
                  <a:lnTo>
                    <a:pt x="6323" y="20813"/>
                  </a:lnTo>
                  <a:lnTo>
                    <a:pt x="6625" y="20892"/>
                  </a:lnTo>
                  <a:close/>
                </a:path>
              </a:pathLst>
            </a:custGeom>
            <a:solidFill>
              <a:srgbClr val="FFBE7D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6" name="AutoShape 16"/>
            <p:cNvSpPr>
              <a:spLocks noChangeArrowheads="1"/>
            </p:cNvSpPr>
            <p:nvPr/>
          </p:nvSpPr>
          <p:spPr bwMode="auto">
            <a:xfrm>
              <a:off x="1089" y="880"/>
              <a:ext cx="204" cy="1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5400 w 21600"/>
                <a:gd name="T25" fmla="*/ 6735 h 21600"/>
                <a:gd name="T26" fmla="*/ 16200 w 21600"/>
                <a:gd name="T27" fmla="*/ 20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4247" y="12354"/>
                  </a:moveTo>
                  <a:lnTo>
                    <a:pt x="4134" y="12468"/>
                  </a:lnTo>
                  <a:lnTo>
                    <a:pt x="4010" y="12581"/>
                  </a:lnTo>
                  <a:lnTo>
                    <a:pt x="3897" y="12637"/>
                  </a:lnTo>
                  <a:lnTo>
                    <a:pt x="3773" y="12694"/>
                  </a:lnTo>
                  <a:lnTo>
                    <a:pt x="3637" y="12694"/>
                  </a:lnTo>
                  <a:lnTo>
                    <a:pt x="3524" y="12694"/>
                  </a:lnTo>
                  <a:lnTo>
                    <a:pt x="3400" y="12665"/>
                  </a:lnTo>
                  <a:lnTo>
                    <a:pt x="3287" y="12609"/>
                  </a:lnTo>
                  <a:lnTo>
                    <a:pt x="3027" y="12496"/>
                  </a:lnTo>
                  <a:lnTo>
                    <a:pt x="2790" y="12340"/>
                  </a:lnTo>
                  <a:lnTo>
                    <a:pt x="2530" y="12142"/>
                  </a:lnTo>
                  <a:lnTo>
                    <a:pt x="2293" y="11987"/>
                  </a:lnTo>
                  <a:lnTo>
                    <a:pt x="2033" y="11817"/>
                  </a:lnTo>
                  <a:lnTo>
                    <a:pt x="1773" y="11676"/>
                  </a:lnTo>
                  <a:lnTo>
                    <a:pt x="1638" y="11662"/>
                  </a:lnTo>
                  <a:lnTo>
                    <a:pt x="1513" y="11634"/>
                  </a:lnTo>
                  <a:lnTo>
                    <a:pt x="1378" y="11634"/>
                  </a:lnTo>
                  <a:lnTo>
                    <a:pt x="1253" y="11634"/>
                  </a:lnTo>
                  <a:lnTo>
                    <a:pt x="1118" y="11662"/>
                  </a:lnTo>
                  <a:lnTo>
                    <a:pt x="971" y="11732"/>
                  </a:lnTo>
                  <a:lnTo>
                    <a:pt x="835" y="11817"/>
                  </a:lnTo>
                  <a:lnTo>
                    <a:pt x="711" y="11959"/>
                  </a:lnTo>
                  <a:lnTo>
                    <a:pt x="553" y="12086"/>
                  </a:lnTo>
                  <a:lnTo>
                    <a:pt x="429" y="12284"/>
                  </a:lnTo>
                  <a:lnTo>
                    <a:pt x="271" y="12524"/>
                  </a:lnTo>
                  <a:lnTo>
                    <a:pt x="146" y="12793"/>
                  </a:lnTo>
                  <a:lnTo>
                    <a:pt x="79" y="12962"/>
                  </a:lnTo>
                  <a:lnTo>
                    <a:pt x="33" y="13146"/>
                  </a:lnTo>
                  <a:lnTo>
                    <a:pt x="11" y="13386"/>
                  </a:lnTo>
                  <a:lnTo>
                    <a:pt x="11" y="13641"/>
                  </a:lnTo>
                  <a:lnTo>
                    <a:pt x="33" y="13881"/>
                  </a:lnTo>
                  <a:lnTo>
                    <a:pt x="101" y="14150"/>
                  </a:lnTo>
                  <a:lnTo>
                    <a:pt x="192" y="14404"/>
                  </a:lnTo>
                  <a:lnTo>
                    <a:pt x="293" y="14645"/>
                  </a:lnTo>
                  <a:lnTo>
                    <a:pt x="451" y="14857"/>
                  </a:lnTo>
                  <a:lnTo>
                    <a:pt x="621" y="15054"/>
                  </a:lnTo>
                  <a:lnTo>
                    <a:pt x="734" y="15125"/>
                  </a:lnTo>
                  <a:lnTo>
                    <a:pt x="835" y="15210"/>
                  </a:lnTo>
                  <a:lnTo>
                    <a:pt x="948" y="15267"/>
                  </a:lnTo>
                  <a:lnTo>
                    <a:pt x="1084" y="15323"/>
                  </a:lnTo>
                  <a:lnTo>
                    <a:pt x="1208" y="15351"/>
                  </a:lnTo>
                  <a:lnTo>
                    <a:pt x="1355" y="15380"/>
                  </a:lnTo>
                  <a:lnTo>
                    <a:pt x="1513" y="15380"/>
                  </a:lnTo>
                  <a:lnTo>
                    <a:pt x="1683" y="15380"/>
                  </a:lnTo>
                  <a:lnTo>
                    <a:pt x="1864" y="15351"/>
                  </a:lnTo>
                  <a:lnTo>
                    <a:pt x="2033" y="15323"/>
                  </a:lnTo>
                  <a:lnTo>
                    <a:pt x="2225" y="15238"/>
                  </a:lnTo>
                  <a:lnTo>
                    <a:pt x="2428" y="15153"/>
                  </a:lnTo>
                  <a:lnTo>
                    <a:pt x="2745" y="15026"/>
                  </a:lnTo>
                  <a:lnTo>
                    <a:pt x="3005" y="14913"/>
                  </a:lnTo>
                  <a:lnTo>
                    <a:pt x="3264" y="14828"/>
                  </a:lnTo>
                  <a:lnTo>
                    <a:pt x="3513" y="14800"/>
                  </a:lnTo>
                  <a:lnTo>
                    <a:pt x="3615" y="14828"/>
                  </a:lnTo>
                  <a:lnTo>
                    <a:pt x="3728" y="14857"/>
                  </a:lnTo>
                  <a:lnTo>
                    <a:pt x="3807" y="14913"/>
                  </a:lnTo>
                  <a:lnTo>
                    <a:pt x="3920" y="14998"/>
                  </a:lnTo>
                  <a:lnTo>
                    <a:pt x="4010" y="15097"/>
                  </a:lnTo>
                  <a:lnTo>
                    <a:pt x="4089" y="15238"/>
                  </a:lnTo>
                  <a:lnTo>
                    <a:pt x="4179" y="15408"/>
                  </a:lnTo>
                  <a:lnTo>
                    <a:pt x="4247" y="15620"/>
                  </a:lnTo>
                  <a:lnTo>
                    <a:pt x="4326" y="15860"/>
                  </a:lnTo>
                  <a:lnTo>
                    <a:pt x="4394" y="16129"/>
                  </a:lnTo>
                  <a:lnTo>
                    <a:pt x="4439" y="16440"/>
                  </a:lnTo>
                  <a:lnTo>
                    <a:pt x="4507" y="16737"/>
                  </a:lnTo>
                  <a:lnTo>
                    <a:pt x="4552" y="17090"/>
                  </a:lnTo>
                  <a:lnTo>
                    <a:pt x="4575" y="17443"/>
                  </a:lnTo>
                  <a:lnTo>
                    <a:pt x="4586" y="17825"/>
                  </a:lnTo>
                  <a:lnTo>
                    <a:pt x="4586" y="18193"/>
                  </a:lnTo>
                  <a:lnTo>
                    <a:pt x="4586" y="18574"/>
                  </a:lnTo>
                  <a:lnTo>
                    <a:pt x="4586" y="18984"/>
                  </a:lnTo>
                  <a:lnTo>
                    <a:pt x="4552" y="19366"/>
                  </a:lnTo>
                  <a:lnTo>
                    <a:pt x="4507" y="19748"/>
                  </a:lnTo>
                  <a:lnTo>
                    <a:pt x="4462" y="20129"/>
                  </a:lnTo>
                  <a:lnTo>
                    <a:pt x="4371" y="20483"/>
                  </a:lnTo>
                  <a:lnTo>
                    <a:pt x="4292" y="20836"/>
                  </a:lnTo>
                  <a:lnTo>
                    <a:pt x="4202" y="21161"/>
                  </a:lnTo>
                  <a:lnTo>
                    <a:pt x="4744" y="21161"/>
                  </a:lnTo>
                  <a:lnTo>
                    <a:pt x="5264" y="21161"/>
                  </a:lnTo>
                  <a:lnTo>
                    <a:pt x="5784" y="21161"/>
                  </a:lnTo>
                  <a:lnTo>
                    <a:pt x="6235" y="21161"/>
                  </a:lnTo>
                  <a:lnTo>
                    <a:pt x="6676" y="21161"/>
                  </a:lnTo>
                  <a:lnTo>
                    <a:pt x="7060" y="21161"/>
                  </a:lnTo>
                  <a:lnTo>
                    <a:pt x="7410" y="21161"/>
                  </a:lnTo>
                  <a:lnTo>
                    <a:pt x="7670" y="21161"/>
                  </a:lnTo>
                  <a:lnTo>
                    <a:pt x="8020" y="21020"/>
                  </a:lnTo>
                  <a:lnTo>
                    <a:pt x="8303" y="20893"/>
                  </a:lnTo>
                  <a:lnTo>
                    <a:pt x="8563" y="20695"/>
                  </a:lnTo>
                  <a:lnTo>
                    <a:pt x="8800" y="20511"/>
                  </a:lnTo>
                  <a:lnTo>
                    <a:pt x="8969" y="20285"/>
                  </a:lnTo>
                  <a:lnTo>
                    <a:pt x="9150" y="20045"/>
                  </a:lnTo>
                  <a:lnTo>
                    <a:pt x="9252" y="19804"/>
                  </a:lnTo>
                  <a:lnTo>
                    <a:pt x="9342" y="19550"/>
                  </a:lnTo>
                  <a:lnTo>
                    <a:pt x="9410" y="19281"/>
                  </a:lnTo>
                  <a:lnTo>
                    <a:pt x="9433" y="19013"/>
                  </a:lnTo>
                  <a:lnTo>
                    <a:pt x="9433" y="18744"/>
                  </a:lnTo>
                  <a:lnTo>
                    <a:pt x="9387" y="18504"/>
                  </a:lnTo>
                  <a:lnTo>
                    <a:pt x="9320" y="18221"/>
                  </a:lnTo>
                  <a:lnTo>
                    <a:pt x="9207" y="17981"/>
                  </a:lnTo>
                  <a:lnTo>
                    <a:pt x="9105" y="17740"/>
                  </a:lnTo>
                  <a:lnTo>
                    <a:pt x="8924" y="17514"/>
                  </a:lnTo>
                  <a:lnTo>
                    <a:pt x="8777" y="17274"/>
                  </a:lnTo>
                  <a:lnTo>
                    <a:pt x="8642" y="17034"/>
                  </a:lnTo>
                  <a:lnTo>
                    <a:pt x="8563" y="16765"/>
                  </a:lnTo>
                  <a:lnTo>
                    <a:pt x="8472" y="16468"/>
                  </a:lnTo>
                  <a:lnTo>
                    <a:pt x="8450" y="16157"/>
                  </a:lnTo>
                  <a:lnTo>
                    <a:pt x="8450" y="15860"/>
                  </a:lnTo>
                  <a:lnTo>
                    <a:pt x="8472" y="15563"/>
                  </a:lnTo>
                  <a:lnTo>
                    <a:pt x="8540" y="15267"/>
                  </a:lnTo>
                  <a:lnTo>
                    <a:pt x="8642" y="14998"/>
                  </a:lnTo>
                  <a:lnTo>
                    <a:pt x="8777" y="14729"/>
                  </a:lnTo>
                  <a:lnTo>
                    <a:pt x="8868" y="14616"/>
                  </a:lnTo>
                  <a:lnTo>
                    <a:pt x="8969" y="14475"/>
                  </a:lnTo>
                  <a:lnTo>
                    <a:pt x="9060" y="14376"/>
                  </a:lnTo>
                  <a:lnTo>
                    <a:pt x="9184" y="14291"/>
                  </a:lnTo>
                  <a:lnTo>
                    <a:pt x="9297" y="14206"/>
                  </a:lnTo>
                  <a:lnTo>
                    <a:pt x="9433" y="14121"/>
                  </a:lnTo>
                  <a:lnTo>
                    <a:pt x="9579" y="14051"/>
                  </a:lnTo>
                  <a:lnTo>
                    <a:pt x="9726" y="13994"/>
                  </a:lnTo>
                  <a:lnTo>
                    <a:pt x="9884" y="13938"/>
                  </a:lnTo>
                  <a:lnTo>
                    <a:pt x="10054" y="13909"/>
                  </a:lnTo>
                  <a:lnTo>
                    <a:pt x="10257" y="13881"/>
                  </a:lnTo>
                  <a:lnTo>
                    <a:pt x="10449" y="13881"/>
                  </a:lnTo>
                  <a:lnTo>
                    <a:pt x="10664" y="13881"/>
                  </a:lnTo>
                  <a:lnTo>
                    <a:pt x="10856" y="13909"/>
                  </a:lnTo>
                  <a:lnTo>
                    <a:pt x="11037" y="13966"/>
                  </a:lnTo>
                  <a:lnTo>
                    <a:pt x="11206" y="14023"/>
                  </a:lnTo>
                  <a:lnTo>
                    <a:pt x="11353" y="14093"/>
                  </a:lnTo>
                  <a:lnTo>
                    <a:pt x="11511" y="14178"/>
                  </a:lnTo>
                  <a:lnTo>
                    <a:pt x="11635" y="14263"/>
                  </a:lnTo>
                  <a:lnTo>
                    <a:pt x="11748" y="14376"/>
                  </a:lnTo>
                  <a:lnTo>
                    <a:pt x="11861" y="14475"/>
                  </a:lnTo>
                  <a:lnTo>
                    <a:pt x="11941" y="14616"/>
                  </a:lnTo>
                  <a:lnTo>
                    <a:pt x="12031" y="14758"/>
                  </a:lnTo>
                  <a:lnTo>
                    <a:pt x="12099" y="14885"/>
                  </a:lnTo>
                  <a:lnTo>
                    <a:pt x="12200" y="15210"/>
                  </a:lnTo>
                  <a:lnTo>
                    <a:pt x="12268" y="15507"/>
                  </a:lnTo>
                  <a:lnTo>
                    <a:pt x="12291" y="15832"/>
                  </a:lnTo>
                  <a:lnTo>
                    <a:pt x="12291" y="16157"/>
                  </a:lnTo>
                  <a:lnTo>
                    <a:pt x="12246" y="16482"/>
                  </a:lnTo>
                  <a:lnTo>
                    <a:pt x="12178" y="16807"/>
                  </a:lnTo>
                  <a:lnTo>
                    <a:pt x="12099" y="17090"/>
                  </a:lnTo>
                  <a:lnTo>
                    <a:pt x="12008" y="17330"/>
                  </a:lnTo>
                  <a:lnTo>
                    <a:pt x="11884" y="17542"/>
                  </a:lnTo>
                  <a:lnTo>
                    <a:pt x="11748" y="17712"/>
                  </a:lnTo>
                  <a:lnTo>
                    <a:pt x="11613" y="17839"/>
                  </a:lnTo>
                  <a:lnTo>
                    <a:pt x="11489" y="18037"/>
                  </a:lnTo>
                  <a:lnTo>
                    <a:pt x="11398" y="18221"/>
                  </a:lnTo>
                  <a:lnTo>
                    <a:pt x="11319" y="18447"/>
                  </a:lnTo>
                  <a:lnTo>
                    <a:pt x="11251" y="18659"/>
                  </a:lnTo>
                  <a:lnTo>
                    <a:pt x="11206" y="18900"/>
                  </a:lnTo>
                  <a:lnTo>
                    <a:pt x="11184" y="19154"/>
                  </a:lnTo>
                  <a:lnTo>
                    <a:pt x="11184" y="19423"/>
                  </a:lnTo>
                  <a:lnTo>
                    <a:pt x="11229" y="19663"/>
                  </a:lnTo>
                  <a:lnTo>
                    <a:pt x="11297" y="19903"/>
                  </a:lnTo>
                  <a:lnTo>
                    <a:pt x="11376" y="20158"/>
                  </a:lnTo>
                  <a:lnTo>
                    <a:pt x="11511" y="20398"/>
                  </a:lnTo>
                  <a:lnTo>
                    <a:pt x="11681" y="20610"/>
                  </a:lnTo>
                  <a:lnTo>
                    <a:pt x="11884" y="20808"/>
                  </a:lnTo>
                  <a:lnTo>
                    <a:pt x="12121" y="20992"/>
                  </a:lnTo>
                  <a:lnTo>
                    <a:pt x="12404" y="21161"/>
                  </a:lnTo>
                  <a:lnTo>
                    <a:pt x="12528" y="21190"/>
                  </a:lnTo>
                  <a:lnTo>
                    <a:pt x="12856" y="21274"/>
                  </a:lnTo>
                  <a:lnTo>
                    <a:pt x="13330" y="21373"/>
                  </a:lnTo>
                  <a:lnTo>
                    <a:pt x="13963" y="21486"/>
                  </a:lnTo>
                  <a:lnTo>
                    <a:pt x="14313" y="21543"/>
                  </a:lnTo>
                  <a:lnTo>
                    <a:pt x="14652" y="21571"/>
                  </a:lnTo>
                  <a:lnTo>
                    <a:pt x="15025" y="21600"/>
                  </a:lnTo>
                  <a:lnTo>
                    <a:pt x="15409" y="21600"/>
                  </a:lnTo>
                  <a:lnTo>
                    <a:pt x="15782" y="21600"/>
                  </a:lnTo>
                  <a:lnTo>
                    <a:pt x="16177" y="21571"/>
                  </a:lnTo>
                  <a:lnTo>
                    <a:pt x="16516" y="21486"/>
                  </a:lnTo>
                  <a:lnTo>
                    <a:pt x="16889" y="21402"/>
                  </a:lnTo>
                  <a:lnTo>
                    <a:pt x="16821" y="21190"/>
                  </a:lnTo>
                  <a:lnTo>
                    <a:pt x="16776" y="20935"/>
                  </a:lnTo>
                  <a:lnTo>
                    <a:pt x="16742" y="20667"/>
                  </a:lnTo>
                  <a:lnTo>
                    <a:pt x="16719" y="20370"/>
                  </a:lnTo>
                  <a:lnTo>
                    <a:pt x="16697" y="19719"/>
                  </a:lnTo>
                  <a:lnTo>
                    <a:pt x="16697" y="19013"/>
                  </a:lnTo>
                  <a:lnTo>
                    <a:pt x="16719" y="18306"/>
                  </a:lnTo>
                  <a:lnTo>
                    <a:pt x="16753" y="17599"/>
                  </a:lnTo>
                  <a:lnTo>
                    <a:pt x="16821" y="16949"/>
                  </a:lnTo>
                  <a:lnTo>
                    <a:pt x="16889" y="16383"/>
                  </a:lnTo>
                  <a:lnTo>
                    <a:pt x="16934" y="16129"/>
                  </a:lnTo>
                  <a:lnTo>
                    <a:pt x="17002" y="15945"/>
                  </a:lnTo>
                  <a:lnTo>
                    <a:pt x="17081" y="15790"/>
                  </a:lnTo>
                  <a:lnTo>
                    <a:pt x="17194" y="15648"/>
                  </a:lnTo>
                  <a:lnTo>
                    <a:pt x="17318" y="15563"/>
                  </a:lnTo>
                  <a:lnTo>
                    <a:pt x="17453" y="15507"/>
                  </a:lnTo>
                  <a:lnTo>
                    <a:pt x="17600" y="15450"/>
                  </a:lnTo>
                  <a:lnTo>
                    <a:pt x="17758" y="15450"/>
                  </a:lnTo>
                  <a:lnTo>
                    <a:pt x="17905" y="15479"/>
                  </a:lnTo>
                  <a:lnTo>
                    <a:pt x="18064" y="15535"/>
                  </a:lnTo>
                  <a:lnTo>
                    <a:pt x="18233" y="15620"/>
                  </a:lnTo>
                  <a:lnTo>
                    <a:pt x="18380" y="15733"/>
                  </a:lnTo>
                  <a:lnTo>
                    <a:pt x="18561" y="15832"/>
                  </a:lnTo>
                  <a:lnTo>
                    <a:pt x="18707" y="15973"/>
                  </a:lnTo>
                  <a:lnTo>
                    <a:pt x="18866" y="16129"/>
                  </a:lnTo>
                  <a:lnTo>
                    <a:pt x="18990" y="16327"/>
                  </a:lnTo>
                  <a:lnTo>
                    <a:pt x="19125" y="16482"/>
                  </a:lnTo>
                  <a:lnTo>
                    <a:pt x="19295" y="16624"/>
                  </a:lnTo>
                  <a:lnTo>
                    <a:pt x="19464" y="16737"/>
                  </a:lnTo>
                  <a:lnTo>
                    <a:pt x="19668" y="16807"/>
                  </a:lnTo>
                  <a:lnTo>
                    <a:pt x="19860" y="16836"/>
                  </a:lnTo>
                  <a:lnTo>
                    <a:pt x="20052" y="16864"/>
                  </a:lnTo>
                  <a:lnTo>
                    <a:pt x="20266" y="16836"/>
                  </a:lnTo>
                  <a:lnTo>
                    <a:pt x="20470" y="16793"/>
                  </a:lnTo>
                  <a:lnTo>
                    <a:pt x="20662" y="16708"/>
                  </a:lnTo>
                  <a:lnTo>
                    <a:pt x="20854" y="16567"/>
                  </a:lnTo>
                  <a:lnTo>
                    <a:pt x="21035" y="16412"/>
                  </a:lnTo>
                  <a:lnTo>
                    <a:pt x="21182" y="16214"/>
                  </a:lnTo>
                  <a:lnTo>
                    <a:pt x="21340" y="16002"/>
                  </a:lnTo>
                  <a:lnTo>
                    <a:pt x="21441" y="15733"/>
                  </a:lnTo>
                  <a:lnTo>
                    <a:pt x="21532" y="15436"/>
                  </a:lnTo>
                  <a:lnTo>
                    <a:pt x="21600" y="15083"/>
                  </a:lnTo>
                  <a:lnTo>
                    <a:pt x="21600" y="14885"/>
                  </a:lnTo>
                  <a:lnTo>
                    <a:pt x="21600" y="14729"/>
                  </a:lnTo>
                  <a:lnTo>
                    <a:pt x="21600" y="14531"/>
                  </a:lnTo>
                  <a:lnTo>
                    <a:pt x="21577" y="14376"/>
                  </a:lnTo>
                  <a:lnTo>
                    <a:pt x="21532" y="14206"/>
                  </a:lnTo>
                  <a:lnTo>
                    <a:pt x="21487" y="14051"/>
                  </a:lnTo>
                  <a:lnTo>
                    <a:pt x="21419" y="13909"/>
                  </a:lnTo>
                  <a:lnTo>
                    <a:pt x="21351" y="13768"/>
                  </a:lnTo>
                  <a:lnTo>
                    <a:pt x="21204" y="13500"/>
                  </a:lnTo>
                  <a:lnTo>
                    <a:pt x="21035" y="13287"/>
                  </a:lnTo>
                  <a:lnTo>
                    <a:pt x="20809" y="13090"/>
                  </a:lnTo>
                  <a:lnTo>
                    <a:pt x="20594" y="12962"/>
                  </a:lnTo>
                  <a:lnTo>
                    <a:pt x="20357" y="12821"/>
                  </a:lnTo>
                  <a:lnTo>
                    <a:pt x="20120" y="12764"/>
                  </a:lnTo>
                  <a:lnTo>
                    <a:pt x="19882" y="12708"/>
                  </a:lnTo>
                  <a:lnTo>
                    <a:pt x="19645" y="12736"/>
                  </a:lnTo>
                  <a:lnTo>
                    <a:pt x="19430" y="12793"/>
                  </a:lnTo>
                  <a:lnTo>
                    <a:pt x="19227" y="12906"/>
                  </a:lnTo>
                  <a:lnTo>
                    <a:pt x="19148" y="12962"/>
                  </a:lnTo>
                  <a:lnTo>
                    <a:pt x="19058" y="13047"/>
                  </a:lnTo>
                  <a:lnTo>
                    <a:pt x="18990" y="13146"/>
                  </a:lnTo>
                  <a:lnTo>
                    <a:pt x="18911" y="13259"/>
                  </a:lnTo>
                  <a:lnTo>
                    <a:pt x="18775" y="13471"/>
                  </a:lnTo>
                  <a:lnTo>
                    <a:pt x="18628" y="13641"/>
                  </a:lnTo>
                  <a:lnTo>
                    <a:pt x="18470" y="13740"/>
                  </a:lnTo>
                  <a:lnTo>
                    <a:pt x="18301" y="13825"/>
                  </a:lnTo>
                  <a:lnTo>
                    <a:pt x="18143" y="13853"/>
                  </a:lnTo>
                  <a:lnTo>
                    <a:pt x="17973" y="13881"/>
                  </a:lnTo>
                  <a:lnTo>
                    <a:pt x="17804" y="13853"/>
                  </a:lnTo>
                  <a:lnTo>
                    <a:pt x="17646" y="13796"/>
                  </a:lnTo>
                  <a:lnTo>
                    <a:pt x="17499" y="13726"/>
                  </a:lnTo>
                  <a:lnTo>
                    <a:pt x="17341" y="13641"/>
                  </a:lnTo>
                  <a:lnTo>
                    <a:pt x="17216" y="13528"/>
                  </a:lnTo>
                  <a:lnTo>
                    <a:pt x="17103" y="13386"/>
                  </a:lnTo>
                  <a:lnTo>
                    <a:pt x="17024" y="13259"/>
                  </a:lnTo>
                  <a:lnTo>
                    <a:pt x="16934" y="13118"/>
                  </a:lnTo>
                  <a:lnTo>
                    <a:pt x="16889" y="12991"/>
                  </a:lnTo>
                  <a:lnTo>
                    <a:pt x="16889" y="12849"/>
                  </a:lnTo>
                  <a:lnTo>
                    <a:pt x="16889" y="12383"/>
                  </a:lnTo>
                  <a:lnTo>
                    <a:pt x="16889" y="11662"/>
                  </a:lnTo>
                  <a:lnTo>
                    <a:pt x="16889" y="10701"/>
                  </a:lnTo>
                  <a:lnTo>
                    <a:pt x="16889" y="9640"/>
                  </a:lnTo>
                  <a:lnTo>
                    <a:pt x="16889" y="8566"/>
                  </a:lnTo>
                  <a:lnTo>
                    <a:pt x="16889" y="7478"/>
                  </a:lnTo>
                  <a:lnTo>
                    <a:pt x="16889" y="6502"/>
                  </a:lnTo>
                  <a:lnTo>
                    <a:pt x="16889" y="5739"/>
                  </a:lnTo>
                  <a:lnTo>
                    <a:pt x="16674" y="5894"/>
                  </a:lnTo>
                  <a:lnTo>
                    <a:pt x="16414" y="6036"/>
                  </a:lnTo>
                  <a:lnTo>
                    <a:pt x="16154" y="6177"/>
                  </a:lnTo>
                  <a:lnTo>
                    <a:pt x="15849" y="6248"/>
                  </a:lnTo>
                  <a:lnTo>
                    <a:pt x="15544" y="6304"/>
                  </a:lnTo>
                  <a:lnTo>
                    <a:pt x="15217" y="6332"/>
                  </a:lnTo>
                  <a:lnTo>
                    <a:pt x="14866" y="6361"/>
                  </a:lnTo>
                  <a:lnTo>
                    <a:pt x="14550" y="6361"/>
                  </a:lnTo>
                  <a:lnTo>
                    <a:pt x="14200" y="6332"/>
                  </a:lnTo>
                  <a:lnTo>
                    <a:pt x="13850" y="6276"/>
                  </a:lnTo>
                  <a:lnTo>
                    <a:pt x="13522" y="6219"/>
                  </a:lnTo>
                  <a:lnTo>
                    <a:pt x="13206" y="6149"/>
                  </a:lnTo>
                  <a:lnTo>
                    <a:pt x="12901" y="6064"/>
                  </a:lnTo>
                  <a:lnTo>
                    <a:pt x="12618" y="5951"/>
                  </a:lnTo>
                  <a:lnTo>
                    <a:pt x="12358" y="5838"/>
                  </a:lnTo>
                  <a:lnTo>
                    <a:pt x="12121" y="5739"/>
                  </a:lnTo>
                  <a:lnTo>
                    <a:pt x="11941" y="5626"/>
                  </a:lnTo>
                  <a:lnTo>
                    <a:pt x="11794" y="5513"/>
                  </a:lnTo>
                  <a:lnTo>
                    <a:pt x="11658" y="5414"/>
                  </a:lnTo>
                  <a:lnTo>
                    <a:pt x="11556" y="5301"/>
                  </a:lnTo>
                  <a:lnTo>
                    <a:pt x="11466" y="5187"/>
                  </a:lnTo>
                  <a:lnTo>
                    <a:pt x="11398" y="5089"/>
                  </a:lnTo>
                  <a:lnTo>
                    <a:pt x="11376" y="4947"/>
                  </a:lnTo>
                  <a:lnTo>
                    <a:pt x="11353" y="4834"/>
                  </a:lnTo>
                  <a:lnTo>
                    <a:pt x="11353" y="4707"/>
                  </a:lnTo>
                  <a:lnTo>
                    <a:pt x="11376" y="4565"/>
                  </a:lnTo>
                  <a:lnTo>
                    <a:pt x="11443" y="4410"/>
                  </a:lnTo>
                  <a:lnTo>
                    <a:pt x="11511" y="4240"/>
                  </a:lnTo>
                  <a:lnTo>
                    <a:pt x="11703" y="3887"/>
                  </a:lnTo>
                  <a:lnTo>
                    <a:pt x="11986" y="3505"/>
                  </a:lnTo>
                  <a:lnTo>
                    <a:pt x="12144" y="3265"/>
                  </a:lnTo>
                  <a:lnTo>
                    <a:pt x="12246" y="3025"/>
                  </a:lnTo>
                  <a:lnTo>
                    <a:pt x="12336" y="2756"/>
                  </a:lnTo>
                  <a:lnTo>
                    <a:pt x="12404" y="2445"/>
                  </a:lnTo>
                  <a:lnTo>
                    <a:pt x="12438" y="2176"/>
                  </a:lnTo>
                  <a:lnTo>
                    <a:pt x="12438" y="1880"/>
                  </a:lnTo>
                  <a:lnTo>
                    <a:pt x="12404" y="1583"/>
                  </a:lnTo>
                  <a:lnTo>
                    <a:pt x="12336" y="1314"/>
                  </a:lnTo>
                  <a:lnTo>
                    <a:pt x="12246" y="1046"/>
                  </a:lnTo>
                  <a:lnTo>
                    <a:pt x="12099" y="791"/>
                  </a:lnTo>
                  <a:lnTo>
                    <a:pt x="12008" y="692"/>
                  </a:lnTo>
                  <a:lnTo>
                    <a:pt x="11918" y="579"/>
                  </a:lnTo>
                  <a:lnTo>
                    <a:pt x="11816" y="466"/>
                  </a:lnTo>
                  <a:lnTo>
                    <a:pt x="11703" y="381"/>
                  </a:lnTo>
                  <a:lnTo>
                    <a:pt x="11579" y="310"/>
                  </a:lnTo>
                  <a:lnTo>
                    <a:pt x="11443" y="226"/>
                  </a:lnTo>
                  <a:lnTo>
                    <a:pt x="11297" y="169"/>
                  </a:lnTo>
                  <a:lnTo>
                    <a:pt x="11138" y="113"/>
                  </a:lnTo>
                  <a:lnTo>
                    <a:pt x="10969" y="56"/>
                  </a:lnTo>
                  <a:lnTo>
                    <a:pt x="10800" y="28"/>
                  </a:lnTo>
                  <a:lnTo>
                    <a:pt x="10619" y="28"/>
                  </a:lnTo>
                  <a:lnTo>
                    <a:pt x="10404" y="28"/>
                  </a:lnTo>
                  <a:lnTo>
                    <a:pt x="10257" y="28"/>
                  </a:lnTo>
                  <a:lnTo>
                    <a:pt x="10076" y="56"/>
                  </a:lnTo>
                  <a:lnTo>
                    <a:pt x="9952" y="84"/>
                  </a:lnTo>
                  <a:lnTo>
                    <a:pt x="9794" y="141"/>
                  </a:lnTo>
                  <a:lnTo>
                    <a:pt x="9692" y="226"/>
                  </a:lnTo>
                  <a:lnTo>
                    <a:pt x="9557" y="282"/>
                  </a:lnTo>
                  <a:lnTo>
                    <a:pt x="9455" y="381"/>
                  </a:lnTo>
                  <a:lnTo>
                    <a:pt x="9365" y="466"/>
                  </a:lnTo>
                  <a:lnTo>
                    <a:pt x="9274" y="579"/>
                  </a:lnTo>
                  <a:lnTo>
                    <a:pt x="9184" y="692"/>
                  </a:lnTo>
                  <a:lnTo>
                    <a:pt x="9128" y="791"/>
                  </a:lnTo>
                  <a:lnTo>
                    <a:pt x="9060" y="932"/>
                  </a:lnTo>
                  <a:lnTo>
                    <a:pt x="8969" y="1201"/>
                  </a:lnTo>
                  <a:lnTo>
                    <a:pt x="8913" y="1498"/>
                  </a:lnTo>
                  <a:lnTo>
                    <a:pt x="8890" y="1795"/>
                  </a:lnTo>
                  <a:lnTo>
                    <a:pt x="8890" y="2120"/>
                  </a:lnTo>
                  <a:lnTo>
                    <a:pt x="8913" y="2445"/>
                  </a:lnTo>
                  <a:lnTo>
                    <a:pt x="8969" y="2756"/>
                  </a:lnTo>
                  <a:lnTo>
                    <a:pt x="9060" y="3081"/>
                  </a:lnTo>
                  <a:lnTo>
                    <a:pt x="9173" y="3378"/>
                  </a:lnTo>
                  <a:lnTo>
                    <a:pt x="9297" y="3647"/>
                  </a:lnTo>
                  <a:lnTo>
                    <a:pt x="9466" y="3887"/>
                  </a:lnTo>
                  <a:lnTo>
                    <a:pt x="9579" y="4085"/>
                  </a:lnTo>
                  <a:lnTo>
                    <a:pt x="9670" y="4269"/>
                  </a:lnTo>
                  <a:lnTo>
                    <a:pt x="9726" y="4467"/>
                  </a:lnTo>
                  <a:lnTo>
                    <a:pt x="9771" y="4650"/>
                  </a:lnTo>
                  <a:lnTo>
                    <a:pt x="9771" y="4834"/>
                  </a:lnTo>
                  <a:lnTo>
                    <a:pt x="9749" y="5032"/>
                  </a:lnTo>
                  <a:lnTo>
                    <a:pt x="9715" y="5216"/>
                  </a:lnTo>
                  <a:lnTo>
                    <a:pt x="9625" y="5385"/>
                  </a:lnTo>
                  <a:lnTo>
                    <a:pt x="9534" y="5513"/>
                  </a:lnTo>
                  <a:lnTo>
                    <a:pt x="9410" y="5626"/>
                  </a:lnTo>
                  <a:lnTo>
                    <a:pt x="9229" y="5710"/>
                  </a:lnTo>
                  <a:lnTo>
                    <a:pt x="9060" y="5767"/>
                  </a:lnTo>
                  <a:lnTo>
                    <a:pt x="8845" y="5767"/>
                  </a:lnTo>
                  <a:lnTo>
                    <a:pt x="8585" y="5739"/>
                  </a:lnTo>
                  <a:lnTo>
                    <a:pt x="8325" y="5654"/>
                  </a:lnTo>
                  <a:lnTo>
                    <a:pt x="8020" y="5513"/>
                  </a:lnTo>
                  <a:lnTo>
                    <a:pt x="7840" y="5442"/>
                  </a:lnTo>
                  <a:lnTo>
                    <a:pt x="7648" y="5385"/>
                  </a:lnTo>
                  <a:lnTo>
                    <a:pt x="7433" y="5329"/>
                  </a:lnTo>
                  <a:lnTo>
                    <a:pt x="7241" y="5301"/>
                  </a:lnTo>
                  <a:lnTo>
                    <a:pt x="6755" y="5301"/>
                  </a:lnTo>
                  <a:lnTo>
                    <a:pt x="6281" y="5329"/>
                  </a:lnTo>
                  <a:lnTo>
                    <a:pt x="5784" y="5385"/>
                  </a:lnTo>
                  <a:lnTo>
                    <a:pt x="5264" y="5498"/>
                  </a:lnTo>
                  <a:lnTo>
                    <a:pt x="4744" y="5597"/>
                  </a:lnTo>
                  <a:lnTo>
                    <a:pt x="4247" y="5739"/>
                  </a:lnTo>
                  <a:lnTo>
                    <a:pt x="4202" y="5894"/>
                  </a:lnTo>
                  <a:lnTo>
                    <a:pt x="4202" y="6191"/>
                  </a:lnTo>
                  <a:lnTo>
                    <a:pt x="4202" y="6545"/>
                  </a:lnTo>
                  <a:lnTo>
                    <a:pt x="4225" y="6954"/>
                  </a:lnTo>
                  <a:lnTo>
                    <a:pt x="4315" y="7930"/>
                  </a:lnTo>
                  <a:lnTo>
                    <a:pt x="4394" y="9018"/>
                  </a:lnTo>
                  <a:lnTo>
                    <a:pt x="4439" y="9570"/>
                  </a:lnTo>
                  <a:lnTo>
                    <a:pt x="4462" y="10107"/>
                  </a:lnTo>
                  <a:lnTo>
                    <a:pt x="4484" y="10630"/>
                  </a:lnTo>
                  <a:lnTo>
                    <a:pt x="4507" y="11082"/>
                  </a:lnTo>
                  <a:lnTo>
                    <a:pt x="4484" y="11520"/>
                  </a:lnTo>
                  <a:lnTo>
                    <a:pt x="4439" y="11874"/>
                  </a:lnTo>
                  <a:lnTo>
                    <a:pt x="4394" y="12029"/>
                  </a:lnTo>
                  <a:lnTo>
                    <a:pt x="4349" y="12171"/>
                  </a:lnTo>
                  <a:lnTo>
                    <a:pt x="4315" y="12284"/>
                  </a:lnTo>
                  <a:lnTo>
                    <a:pt x="4247" y="12354"/>
                  </a:lnTo>
                  <a:close/>
                </a:path>
              </a:pathLst>
            </a:custGeom>
            <a:solidFill>
              <a:srgbClr val="FFFFCC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7" name="AutoShape 17"/>
            <p:cNvSpPr>
              <a:spLocks noChangeArrowheads="1"/>
            </p:cNvSpPr>
            <p:nvPr/>
          </p:nvSpPr>
          <p:spPr bwMode="auto">
            <a:xfrm>
              <a:off x="1010" y="877"/>
              <a:ext cx="122" cy="23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2125 w 21600"/>
                <a:gd name="T25" fmla="*/ 5627 h 21600"/>
                <a:gd name="T26" fmla="*/ 20184 w 21600"/>
                <a:gd name="T27" fmla="*/ 1597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3813" y="10590"/>
                  </a:moveTo>
                  <a:lnTo>
                    <a:pt x="3927" y="10513"/>
                  </a:lnTo>
                  <a:lnTo>
                    <a:pt x="4078" y="10425"/>
                  </a:lnTo>
                  <a:lnTo>
                    <a:pt x="4210" y="10359"/>
                  </a:lnTo>
                  <a:lnTo>
                    <a:pt x="4361" y="10315"/>
                  </a:lnTo>
                  <a:lnTo>
                    <a:pt x="4682" y="10237"/>
                  </a:lnTo>
                  <a:lnTo>
                    <a:pt x="5041" y="10193"/>
                  </a:lnTo>
                  <a:lnTo>
                    <a:pt x="5456" y="10171"/>
                  </a:lnTo>
                  <a:lnTo>
                    <a:pt x="5853" y="10193"/>
                  </a:lnTo>
                  <a:lnTo>
                    <a:pt x="6249" y="10260"/>
                  </a:lnTo>
                  <a:lnTo>
                    <a:pt x="6646" y="10337"/>
                  </a:lnTo>
                  <a:lnTo>
                    <a:pt x="7004" y="10469"/>
                  </a:lnTo>
                  <a:lnTo>
                    <a:pt x="7363" y="10612"/>
                  </a:lnTo>
                  <a:lnTo>
                    <a:pt x="7665" y="10788"/>
                  </a:lnTo>
                  <a:lnTo>
                    <a:pt x="7911" y="10998"/>
                  </a:lnTo>
                  <a:lnTo>
                    <a:pt x="8024" y="11097"/>
                  </a:lnTo>
                  <a:lnTo>
                    <a:pt x="8137" y="11207"/>
                  </a:lnTo>
                  <a:lnTo>
                    <a:pt x="8194" y="11340"/>
                  </a:lnTo>
                  <a:lnTo>
                    <a:pt x="8269" y="11461"/>
                  </a:lnTo>
                  <a:lnTo>
                    <a:pt x="8307" y="11593"/>
                  </a:lnTo>
                  <a:lnTo>
                    <a:pt x="8307" y="11714"/>
                  </a:lnTo>
                  <a:lnTo>
                    <a:pt x="8307" y="11868"/>
                  </a:lnTo>
                  <a:lnTo>
                    <a:pt x="8307" y="12012"/>
                  </a:lnTo>
                  <a:lnTo>
                    <a:pt x="8194" y="12265"/>
                  </a:lnTo>
                  <a:lnTo>
                    <a:pt x="8062" y="12519"/>
                  </a:lnTo>
                  <a:lnTo>
                    <a:pt x="7873" y="12706"/>
                  </a:lnTo>
                  <a:lnTo>
                    <a:pt x="7627" y="12904"/>
                  </a:lnTo>
                  <a:lnTo>
                    <a:pt x="7363" y="13048"/>
                  </a:lnTo>
                  <a:lnTo>
                    <a:pt x="7080" y="13180"/>
                  </a:lnTo>
                  <a:lnTo>
                    <a:pt x="6759" y="13257"/>
                  </a:lnTo>
                  <a:lnTo>
                    <a:pt x="6419" y="13345"/>
                  </a:lnTo>
                  <a:lnTo>
                    <a:pt x="6098" y="13389"/>
                  </a:lnTo>
                  <a:lnTo>
                    <a:pt x="5739" y="13389"/>
                  </a:lnTo>
                  <a:lnTo>
                    <a:pt x="5418" y="13389"/>
                  </a:lnTo>
                  <a:lnTo>
                    <a:pt x="5079" y="13345"/>
                  </a:lnTo>
                  <a:lnTo>
                    <a:pt x="4758" y="13301"/>
                  </a:lnTo>
                  <a:lnTo>
                    <a:pt x="4474" y="13213"/>
                  </a:lnTo>
                  <a:lnTo>
                    <a:pt x="4172" y="13114"/>
                  </a:lnTo>
                  <a:lnTo>
                    <a:pt x="3965" y="12982"/>
                  </a:lnTo>
                  <a:lnTo>
                    <a:pt x="3738" y="12838"/>
                  </a:lnTo>
                  <a:lnTo>
                    <a:pt x="3493" y="12706"/>
                  </a:lnTo>
                  <a:lnTo>
                    <a:pt x="3228" y="12607"/>
                  </a:lnTo>
                  <a:lnTo>
                    <a:pt x="2945" y="12519"/>
                  </a:lnTo>
                  <a:lnTo>
                    <a:pt x="2700" y="12431"/>
                  </a:lnTo>
                  <a:lnTo>
                    <a:pt x="2397" y="12375"/>
                  </a:lnTo>
                  <a:lnTo>
                    <a:pt x="2152" y="12331"/>
                  </a:lnTo>
                  <a:lnTo>
                    <a:pt x="1888" y="12309"/>
                  </a:lnTo>
                  <a:lnTo>
                    <a:pt x="1642" y="12309"/>
                  </a:lnTo>
                  <a:lnTo>
                    <a:pt x="1397" y="12331"/>
                  </a:lnTo>
                  <a:lnTo>
                    <a:pt x="1170" y="12397"/>
                  </a:lnTo>
                  <a:lnTo>
                    <a:pt x="962" y="12453"/>
                  </a:lnTo>
                  <a:lnTo>
                    <a:pt x="774" y="12563"/>
                  </a:lnTo>
                  <a:lnTo>
                    <a:pt x="623" y="12684"/>
                  </a:lnTo>
                  <a:lnTo>
                    <a:pt x="528" y="12838"/>
                  </a:lnTo>
                  <a:lnTo>
                    <a:pt x="453" y="13026"/>
                  </a:lnTo>
                  <a:lnTo>
                    <a:pt x="339" y="13477"/>
                  </a:lnTo>
                  <a:lnTo>
                    <a:pt x="226" y="13984"/>
                  </a:lnTo>
                  <a:lnTo>
                    <a:pt x="151" y="14535"/>
                  </a:lnTo>
                  <a:lnTo>
                    <a:pt x="113" y="15075"/>
                  </a:lnTo>
                  <a:lnTo>
                    <a:pt x="113" y="15626"/>
                  </a:lnTo>
                  <a:lnTo>
                    <a:pt x="151" y="16133"/>
                  </a:lnTo>
                  <a:lnTo>
                    <a:pt x="188" y="16376"/>
                  </a:lnTo>
                  <a:lnTo>
                    <a:pt x="264" y="16585"/>
                  </a:lnTo>
                  <a:lnTo>
                    <a:pt x="339" y="16773"/>
                  </a:lnTo>
                  <a:lnTo>
                    <a:pt x="453" y="16938"/>
                  </a:lnTo>
                  <a:lnTo>
                    <a:pt x="1095" y="16883"/>
                  </a:lnTo>
                  <a:lnTo>
                    <a:pt x="1963" y="16795"/>
                  </a:lnTo>
                  <a:lnTo>
                    <a:pt x="2945" y="16751"/>
                  </a:lnTo>
                  <a:lnTo>
                    <a:pt x="3965" y="16706"/>
                  </a:lnTo>
                  <a:lnTo>
                    <a:pt x="5022" y="16684"/>
                  </a:lnTo>
                  <a:lnTo>
                    <a:pt x="5947" y="16684"/>
                  </a:lnTo>
                  <a:lnTo>
                    <a:pt x="6759" y="16706"/>
                  </a:lnTo>
                  <a:lnTo>
                    <a:pt x="7363" y="16751"/>
                  </a:lnTo>
                  <a:lnTo>
                    <a:pt x="7948" y="16839"/>
                  </a:lnTo>
                  <a:lnTo>
                    <a:pt x="8458" y="16916"/>
                  </a:lnTo>
                  <a:lnTo>
                    <a:pt x="8893" y="17026"/>
                  </a:lnTo>
                  <a:lnTo>
                    <a:pt x="9289" y="17158"/>
                  </a:lnTo>
                  <a:lnTo>
                    <a:pt x="9572" y="17280"/>
                  </a:lnTo>
                  <a:lnTo>
                    <a:pt x="9799" y="17412"/>
                  </a:lnTo>
                  <a:lnTo>
                    <a:pt x="9969" y="17555"/>
                  </a:lnTo>
                  <a:lnTo>
                    <a:pt x="10120" y="17687"/>
                  </a:lnTo>
                  <a:lnTo>
                    <a:pt x="10158" y="17831"/>
                  </a:lnTo>
                  <a:lnTo>
                    <a:pt x="10195" y="17974"/>
                  </a:lnTo>
                  <a:lnTo>
                    <a:pt x="10158" y="18128"/>
                  </a:lnTo>
                  <a:lnTo>
                    <a:pt x="10082" y="18271"/>
                  </a:lnTo>
                  <a:lnTo>
                    <a:pt x="9969" y="18426"/>
                  </a:lnTo>
                  <a:lnTo>
                    <a:pt x="9837" y="18569"/>
                  </a:lnTo>
                  <a:lnTo>
                    <a:pt x="9648" y="18701"/>
                  </a:lnTo>
                  <a:lnTo>
                    <a:pt x="9440" y="18822"/>
                  </a:lnTo>
                  <a:lnTo>
                    <a:pt x="9213" y="18999"/>
                  </a:lnTo>
                  <a:lnTo>
                    <a:pt x="9044" y="19186"/>
                  </a:lnTo>
                  <a:lnTo>
                    <a:pt x="8893" y="19395"/>
                  </a:lnTo>
                  <a:lnTo>
                    <a:pt x="8817" y="19627"/>
                  </a:lnTo>
                  <a:lnTo>
                    <a:pt x="8779" y="19858"/>
                  </a:lnTo>
                  <a:lnTo>
                    <a:pt x="8779" y="20112"/>
                  </a:lnTo>
                  <a:lnTo>
                    <a:pt x="8855" y="20354"/>
                  </a:lnTo>
                  <a:lnTo>
                    <a:pt x="8968" y="20586"/>
                  </a:lnTo>
                  <a:lnTo>
                    <a:pt x="9138" y="20817"/>
                  </a:lnTo>
                  <a:lnTo>
                    <a:pt x="9365" y="21026"/>
                  </a:lnTo>
                  <a:lnTo>
                    <a:pt x="9610" y="21192"/>
                  </a:lnTo>
                  <a:lnTo>
                    <a:pt x="9950" y="21368"/>
                  </a:lnTo>
                  <a:lnTo>
                    <a:pt x="10120" y="21445"/>
                  </a:lnTo>
                  <a:lnTo>
                    <a:pt x="10346" y="21511"/>
                  </a:lnTo>
                  <a:lnTo>
                    <a:pt x="10516" y="21555"/>
                  </a:lnTo>
                  <a:lnTo>
                    <a:pt x="10743" y="21600"/>
                  </a:lnTo>
                  <a:lnTo>
                    <a:pt x="10988" y="21644"/>
                  </a:lnTo>
                  <a:lnTo>
                    <a:pt x="11215" y="21666"/>
                  </a:lnTo>
                  <a:lnTo>
                    <a:pt x="11498" y="21666"/>
                  </a:lnTo>
                  <a:lnTo>
                    <a:pt x="11762" y="21666"/>
                  </a:lnTo>
                  <a:lnTo>
                    <a:pt x="12253" y="21644"/>
                  </a:lnTo>
                  <a:lnTo>
                    <a:pt x="12763" y="21577"/>
                  </a:lnTo>
                  <a:lnTo>
                    <a:pt x="13197" y="21467"/>
                  </a:lnTo>
                  <a:lnTo>
                    <a:pt x="13556" y="21346"/>
                  </a:lnTo>
                  <a:lnTo>
                    <a:pt x="13896" y="21192"/>
                  </a:lnTo>
                  <a:lnTo>
                    <a:pt x="14179" y="21026"/>
                  </a:lnTo>
                  <a:lnTo>
                    <a:pt x="14444" y="20839"/>
                  </a:lnTo>
                  <a:lnTo>
                    <a:pt x="14576" y="20641"/>
                  </a:lnTo>
                  <a:lnTo>
                    <a:pt x="14727" y="20431"/>
                  </a:lnTo>
                  <a:lnTo>
                    <a:pt x="14765" y="20200"/>
                  </a:lnTo>
                  <a:lnTo>
                    <a:pt x="14802" y="19991"/>
                  </a:lnTo>
                  <a:lnTo>
                    <a:pt x="14727" y="19759"/>
                  </a:lnTo>
                  <a:lnTo>
                    <a:pt x="14613" y="19550"/>
                  </a:lnTo>
                  <a:lnTo>
                    <a:pt x="14444" y="19307"/>
                  </a:lnTo>
                  <a:lnTo>
                    <a:pt x="14217" y="19098"/>
                  </a:lnTo>
                  <a:lnTo>
                    <a:pt x="13934" y="18911"/>
                  </a:lnTo>
                  <a:lnTo>
                    <a:pt x="13669" y="18745"/>
                  </a:lnTo>
                  <a:lnTo>
                    <a:pt x="13462" y="18547"/>
                  </a:lnTo>
                  <a:lnTo>
                    <a:pt x="13311" y="18337"/>
                  </a:lnTo>
                  <a:lnTo>
                    <a:pt x="13197" y="18150"/>
                  </a:lnTo>
                  <a:lnTo>
                    <a:pt x="13122" y="17941"/>
                  </a:lnTo>
                  <a:lnTo>
                    <a:pt x="13122" y="17720"/>
                  </a:lnTo>
                  <a:lnTo>
                    <a:pt x="13122" y="17533"/>
                  </a:lnTo>
                  <a:lnTo>
                    <a:pt x="13197" y="17346"/>
                  </a:lnTo>
                  <a:lnTo>
                    <a:pt x="13273" y="17158"/>
                  </a:lnTo>
                  <a:lnTo>
                    <a:pt x="13386" y="16982"/>
                  </a:lnTo>
                  <a:lnTo>
                    <a:pt x="13537" y="16839"/>
                  </a:lnTo>
                  <a:lnTo>
                    <a:pt x="13707" y="16706"/>
                  </a:lnTo>
                  <a:lnTo>
                    <a:pt x="13896" y="16607"/>
                  </a:lnTo>
                  <a:lnTo>
                    <a:pt x="14104" y="16519"/>
                  </a:lnTo>
                  <a:lnTo>
                    <a:pt x="14330" y="16453"/>
                  </a:lnTo>
                  <a:lnTo>
                    <a:pt x="14538" y="16431"/>
                  </a:lnTo>
                  <a:lnTo>
                    <a:pt x="14897" y="16453"/>
                  </a:lnTo>
                  <a:lnTo>
                    <a:pt x="15406" y="16497"/>
                  </a:lnTo>
                  <a:lnTo>
                    <a:pt x="16105" y="16541"/>
                  </a:lnTo>
                  <a:lnTo>
                    <a:pt x="16898" y="16607"/>
                  </a:lnTo>
                  <a:lnTo>
                    <a:pt x="17804" y="16651"/>
                  </a:lnTo>
                  <a:lnTo>
                    <a:pt x="18786" y="16684"/>
                  </a:lnTo>
                  <a:lnTo>
                    <a:pt x="19844" y="16728"/>
                  </a:lnTo>
                  <a:lnTo>
                    <a:pt x="20920" y="16751"/>
                  </a:lnTo>
                  <a:lnTo>
                    <a:pt x="21109" y="16497"/>
                  </a:lnTo>
                  <a:lnTo>
                    <a:pt x="21241" y="16222"/>
                  </a:lnTo>
                  <a:lnTo>
                    <a:pt x="21392" y="15946"/>
                  </a:lnTo>
                  <a:lnTo>
                    <a:pt x="21467" y="15648"/>
                  </a:lnTo>
                  <a:lnTo>
                    <a:pt x="21543" y="15351"/>
                  </a:lnTo>
                  <a:lnTo>
                    <a:pt x="21618" y="15042"/>
                  </a:lnTo>
                  <a:lnTo>
                    <a:pt x="21618" y="14745"/>
                  </a:lnTo>
                  <a:lnTo>
                    <a:pt x="21618" y="14447"/>
                  </a:lnTo>
                  <a:lnTo>
                    <a:pt x="21618" y="14150"/>
                  </a:lnTo>
                  <a:lnTo>
                    <a:pt x="21581" y="13852"/>
                  </a:lnTo>
                  <a:lnTo>
                    <a:pt x="21505" y="13577"/>
                  </a:lnTo>
                  <a:lnTo>
                    <a:pt x="21430" y="13301"/>
                  </a:lnTo>
                  <a:lnTo>
                    <a:pt x="21354" y="13048"/>
                  </a:lnTo>
                  <a:lnTo>
                    <a:pt x="21241" y="12816"/>
                  </a:lnTo>
                  <a:lnTo>
                    <a:pt x="21146" y="12607"/>
                  </a:lnTo>
                  <a:lnTo>
                    <a:pt x="21033" y="12431"/>
                  </a:lnTo>
                  <a:lnTo>
                    <a:pt x="20920" y="12265"/>
                  </a:lnTo>
                  <a:lnTo>
                    <a:pt x="20769" y="12144"/>
                  </a:lnTo>
                  <a:lnTo>
                    <a:pt x="20637" y="12034"/>
                  </a:lnTo>
                  <a:lnTo>
                    <a:pt x="20486" y="11946"/>
                  </a:lnTo>
                  <a:lnTo>
                    <a:pt x="20297" y="11891"/>
                  </a:lnTo>
                  <a:lnTo>
                    <a:pt x="20165" y="11846"/>
                  </a:lnTo>
                  <a:lnTo>
                    <a:pt x="19976" y="11824"/>
                  </a:lnTo>
                  <a:lnTo>
                    <a:pt x="19806" y="11802"/>
                  </a:lnTo>
                  <a:lnTo>
                    <a:pt x="19390" y="11824"/>
                  </a:lnTo>
                  <a:lnTo>
                    <a:pt x="18956" y="11891"/>
                  </a:lnTo>
                  <a:lnTo>
                    <a:pt x="18503" y="11968"/>
                  </a:lnTo>
                  <a:lnTo>
                    <a:pt x="17993" y="12078"/>
                  </a:lnTo>
                  <a:lnTo>
                    <a:pt x="17653" y="12144"/>
                  </a:lnTo>
                  <a:lnTo>
                    <a:pt x="17332" y="12199"/>
                  </a:lnTo>
                  <a:lnTo>
                    <a:pt x="17049" y="12221"/>
                  </a:lnTo>
                  <a:lnTo>
                    <a:pt x="16747" y="12243"/>
                  </a:lnTo>
                  <a:lnTo>
                    <a:pt x="16464" y="12243"/>
                  </a:lnTo>
                  <a:lnTo>
                    <a:pt x="16218" y="12243"/>
                  </a:lnTo>
                  <a:lnTo>
                    <a:pt x="15992" y="12221"/>
                  </a:lnTo>
                  <a:lnTo>
                    <a:pt x="15746" y="12199"/>
                  </a:lnTo>
                  <a:lnTo>
                    <a:pt x="15520" y="12155"/>
                  </a:lnTo>
                  <a:lnTo>
                    <a:pt x="15350" y="12122"/>
                  </a:lnTo>
                  <a:lnTo>
                    <a:pt x="15161" y="12056"/>
                  </a:lnTo>
                  <a:lnTo>
                    <a:pt x="14972" y="11990"/>
                  </a:lnTo>
                  <a:lnTo>
                    <a:pt x="14689" y="11846"/>
                  </a:lnTo>
                  <a:lnTo>
                    <a:pt x="14444" y="11670"/>
                  </a:lnTo>
                  <a:lnTo>
                    <a:pt x="14255" y="11483"/>
                  </a:lnTo>
                  <a:lnTo>
                    <a:pt x="14104" y="11295"/>
                  </a:lnTo>
                  <a:lnTo>
                    <a:pt x="14028" y="11086"/>
                  </a:lnTo>
                  <a:lnTo>
                    <a:pt x="13972" y="10888"/>
                  </a:lnTo>
                  <a:lnTo>
                    <a:pt x="13972" y="10700"/>
                  </a:lnTo>
                  <a:lnTo>
                    <a:pt x="14009" y="10513"/>
                  </a:lnTo>
                  <a:lnTo>
                    <a:pt x="14066" y="10359"/>
                  </a:lnTo>
                  <a:lnTo>
                    <a:pt x="14179" y="10215"/>
                  </a:lnTo>
                  <a:lnTo>
                    <a:pt x="14406" y="10006"/>
                  </a:lnTo>
                  <a:lnTo>
                    <a:pt x="14651" y="9830"/>
                  </a:lnTo>
                  <a:lnTo>
                    <a:pt x="14878" y="9686"/>
                  </a:lnTo>
                  <a:lnTo>
                    <a:pt x="15123" y="9554"/>
                  </a:lnTo>
                  <a:lnTo>
                    <a:pt x="15350" y="9477"/>
                  </a:lnTo>
                  <a:lnTo>
                    <a:pt x="15558" y="9411"/>
                  </a:lnTo>
                  <a:lnTo>
                    <a:pt x="15803" y="9345"/>
                  </a:lnTo>
                  <a:lnTo>
                    <a:pt x="16030" y="9323"/>
                  </a:lnTo>
                  <a:lnTo>
                    <a:pt x="16256" y="9301"/>
                  </a:lnTo>
                  <a:lnTo>
                    <a:pt x="16464" y="9323"/>
                  </a:lnTo>
                  <a:lnTo>
                    <a:pt x="16690" y="9345"/>
                  </a:lnTo>
                  <a:lnTo>
                    <a:pt x="16898" y="9367"/>
                  </a:lnTo>
                  <a:lnTo>
                    <a:pt x="17332" y="9477"/>
                  </a:lnTo>
                  <a:lnTo>
                    <a:pt x="17767" y="9598"/>
                  </a:lnTo>
                  <a:lnTo>
                    <a:pt x="18163" y="9731"/>
                  </a:lnTo>
                  <a:lnTo>
                    <a:pt x="18597" y="9874"/>
                  </a:lnTo>
                  <a:lnTo>
                    <a:pt x="18994" y="10006"/>
                  </a:lnTo>
                  <a:lnTo>
                    <a:pt x="19428" y="10083"/>
                  </a:lnTo>
                  <a:lnTo>
                    <a:pt x="19617" y="10127"/>
                  </a:lnTo>
                  <a:lnTo>
                    <a:pt x="19844" y="10149"/>
                  </a:lnTo>
                  <a:lnTo>
                    <a:pt x="20013" y="10149"/>
                  </a:lnTo>
                  <a:lnTo>
                    <a:pt x="20240" y="10127"/>
                  </a:lnTo>
                  <a:lnTo>
                    <a:pt x="20410" y="10105"/>
                  </a:lnTo>
                  <a:lnTo>
                    <a:pt x="20637" y="10061"/>
                  </a:lnTo>
                  <a:lnTo>
                    <a:pt x="20844" y="9984"/>
                  </a:lnTo>
                  <a:lnTo>
                    <a:pt x="21033" y="9896"/>
                  </a:lnTo>
                  <a:lnTo>
                    <a:pt x="21146" y="9830"/>
                  </a:lnTo>
                  <a:lnTo>
                    <a:pt x="21203" y="9753"/>
                  </a:lnTo>
                  <a:lnTo>
                    <a:pt x="21279" y="9642"/>
                  </a:lnTo>
                  <a:lnTo>
                    <a:pt x="21354" y="9521"/>
                  </a:lnTo>
                  <a:lnTo>
                    <a:pt x="21430" y="9246"/>
                  </a:lnTo>
                  <a:lnTo>
                    <a:pt x="21430" y="8904"/>
                  </a:lnTo>
                  <a:lnTo>
                    <a:pt x="21430" y="8540"/>
                  </a:lnTo>
                  <a:lnTo>
                    <a:pt x="21392" y="8144"/>
                  </a:lnTo>
                  <a:lnTo>
                    <a:pt x="21354" y="7714"/>
                  </a:lnTo>
                  <a:lnTo>
                    <a:pt x="21279" y="7295"/>
                  </a:lnTo>
                  <a:lnTo>
                    <a:pt x="21146" y="6446"/>
                  </a:lnTo>
                  <a:lnTo>
                    <a:pt x="20995" y="5686"/>
                  </a:lnTo>
                  <a:lnTo>
                    <a:pt x="20958" y="5366"/>
                  </a:lnTo>
                  <a:lnTo>
                    <a:pt x="20958" y="5091"/>
                  </a:lnTo>
                  <a:lnTo>
                    <a:pt x="20958" y="4860"/>
                  </a:lnTo>
                  <a:lnTo>
                    <a:pt x="21033" y="4716"/>
                  </a:lnTo>
                  <a:lnTo>
                    <a:pt x="20637" y="4860"/>
                  </a:lnTo>
                  <a:lnTo>
                    <a:pt x="20127" y="4992"/>
                  </a:lnTo>
                  <a:lnTo>
                    <a:pt x="19617" y="5069"/>
                  </a:lnTo>
                  <a:lnTo>
                    <a:pt x="19032" y="5157"/>
                  </a:lnTo>
                  <a:lnTo>
                    <a:pt x="18465" y="5201"/>
                  </a:lnTo>
                  <a:lnTo>
                    <a:pt x="17842" y="5245"/>
                  </a:lnTo>
                  <a:lnTo>
                    <a:pt x="17219" y="5267"/>
                  </a:lnTo>
                  <a:lnTo>
                    <a:pt x="16615" y="5267"/>
                  </a:lnTo>
                  <a:lnTo>
                    <a:pt x="15992" y="5245"/>
                  </a:lnTo>
                  <a:lnTo>
                    <a:pt x="15369" y="5201"/>
                  </a:lnTo>
                  <a:lnTo>
                    <a:pt x="14840" y="5157"/>
                  </a:lnTo>
                  <a:lnTo>
                    <a:pt x="14293" y="5091"/>
                  </a:lnTo>
                  <a:lnTo>
                    <a:pt x="13783" y="5014"/>
                  </a:lnTo>
                  <a:lnTo>
                    <a:pt x="13386" y="4926"/>
                  </a:lnTo>
                  <a:lnTo>
                    <a:pt x="13027" y="4815"/>
                  </a:lnTo>
                  <a:lnTo>
                    <a:pt x="12725" y="4716"/>
                  </a:lnTo>
                  <a:lnTo>
                    <a:pt x="12480" y="4606"/>
                  </a:lnTo>
                  <a:lnTo>
                    <a:pt x="12291" y="4496"/>
                  </a:lnTo>
                  <a:lnTo>
                    <a:pt x="12197" y="4397"/>
                  </a:lnTo>
                  <a:lnTo>
                    <a:pt x="12083" y="4286"/>
                  </a:lnTo>
                  <a:lnTo>
                    <a:pt x="12046" y="4187"/>
                  </a:lnTo>
                  <a:lnTo>
                    <a:pt x="12008" y="4077"/>
                  </a:lnTo>
                  <a:lnTo>
                    <a:pt x="12046" y="3967"/>
                  </a:lnTo>
                  <a:lnTo>
                    <a:pt x="12121" y="3868"/>
                  </a:lnTo>
                  <a:lnTo>
                    <a:pt x="12197" y="3735"/>
                  </a:lnTo>
                  <a:lnTo>
                    <a:pt x="12291" y="3614"/>
                  </a:lnTo>
                  <a:lnTo>
                    <a:pt x="12442" y="3482"/>
                  </a:lnTo>
                  <a:lnTo>
                    <a:pt x="12631" y="3361"/>
                  </a:lnTo>
                  <a:lnTo>
                    <a:pt x="13065" y="3085"/>
                  </a:lnTo>
                  <a:lnTo>
                    <a:pt x="13537" y="2766"/>
                  </a:lnTo>
                  <a:lnTo>
                    <a:pt x="13783" y="2578"/>
                  </a:lnTo>
                  <a:lnTo>
                    <a:pt x="13934" y="2380"/>
                  </a:lnTo>
                  <a:lnTo>
                    <a:pt x="14028" y="2171"/>
                  </a:lnTo>
                  <a:lnTo>
                    <a:pt x="14104" y="1961"/>
                  </a:lnTo>
                  <a:lnTo>
                    <a:pt x="14104" y="1730"/>
                  </a:lnTo>
                  <a:lnTo>
                    <a:pt x="14066" y="1498"/>
                  </a:lnTo>
                  <a:lnTo>
                    <a:pt x="13972" y="1267"/>
                  </a:lnTo>
                  <a:lnTo>
                    <a:pt x="13820" y="1057"/>
                  </a:lnTo>
                  <a:lnTo>
                    <a:pt x="13594" y="837"/>
                  </a:lnTo>
                  <a:lnTo>
                    <a:pt x="13386" y="628"/>
                  </a:lnTo>
                  <a:lnTo>
                    <a:pt x="13103" y="462"/>
                  </a:lnTo>
                  <a:lnTo>
                    <a:pt x="12763" y="308"/>
                  </a:lnTo>
                  <a:lnTo>
                    <a:pt x="12404" y="187"/>
                  </a:lnTo>
                  <a:lnTo>
                    <a:pt x="12008" y="77"/>
                  </a:lnTo>
                  <a:lnTo>
                    <a:pt x="11574" y="33"/>
                  </a:lnTo>
                  <a:lnTo>
                    <a:pt x="11102" y="11"/>
                  </a:lnTo>
                  <a:lnTo>
                    <a:pt x="10667" y="11"/>
                  </a:lnTo>
                  <a:lnTo>
                    <a:pt x="10233" y="77"/>
                  </a:lnTo>
                  <a:lnTo>
                    <a:pt x="9837" y="187"/>
                  </a:lnTo>
                  <a:lnTo>
                    <a:pt x="9440" y="286"/>
                  </a:lnTo>
                  <a:lnTo>
                    <a:pt x="9062" y="462"/>
                  </a:lnTo>
                  <a:lnTo>
                    <a:pt x="8741" y="628"/>
                  </a:lnTo>
                  <a:lnTo>
                    <a:pt x="8458" y="815"/>
                  </a:lnTo>
                  <a:lnTo>
                    <a:pt x="8232" y="1035"/>
                  </a:lnTo>
                  <a:lnTo>
                    <a:pt x="8062" y="1245"/>
                  </a:lnTo>
                  <a:lnTo>
                    <a:pt x="7911" y="1476"/>
                  </a:lnTo>
                  <a:lnTo>
                    <a:pt x="7835" y="1708"/>
                  </a:lnTo>
                  <a:lnTo>
                    <a:pt x="7797" y="1961"/>
                  </a:lnTo>
                  <a:lnTo>
                    <a:pt x="7835" y="2193"/>
                  </a:lnTo>
                  <a:lnTo>
                    <a:pt x="7948" y="2402"/>
                  </a:lnTo>
                  <a:lnTo>
                    <a:pt x="8062" y="2534"/>
                  </a:lnTo>
                  <a:lnTo>
                    <a:pt x="8175" y="2644"/>
                  </a:lnTo>
                  <a:lnTo>
                    <a:pt x="8269" y="2744"/>
                  </a:lnTo>
                  <a:lnTo>
                    <a:pt x="8420" y="2832"/>
                  </a:lnTo>
                  <a:lnTo>
                    <a:pt x="8704" y="3019"/>
                  </a:lnTo>
                  <a:lnTo>
                    <a:pt x="8968" y="3206"/>
                  </a:lnTo>
                  <a:lnTo>
                    <a:pt x="9138" y="3405"/>
                  </a:lnTo>
                  <a:lnTo>
                    <a:pt x="9327" y="3570"/>
                  </a:lnTo>
                  <a:lnTo>
                    <a:pt x="9440" y="3735"/>
                  </a:lnTo>
                  <a:lnTo>
                    <a:pt x="9516" y="3890"/>
                  </a:lnTo>
                  <a:lnTo>
                    <a:pt x="9534" y="4033"/>
                  </a:lnTo>
                  <a:lnTo>
                    <a:pt x="9534" y="4165"/>
                  </a:lnTo>
                  <a:lnTo>
                    <a:pt x="9516" y="4286"/>
                  </a:lnTo>
                  <a:lnTo>
                    <a:pt x="9440" y="4397"/>
                  </a:lnTo>
                  <a:lnTo>
                    <a:pt x="9327" y="4496"/>
                  </a:lnTo>
                  <a:lnTo>
                    <a:pt x="9176" y="4562"/>
                  </a:lnTo>
                  <a:lnTo>
                    <a:pt x="9006" y="4628"/>
                  </a:lnTo>
                  <a:lnTo>
                    <a:pt x="8779" y="4694"/>
                  </a:lnTo>
                  <a:lnTo>
                    <a:pt x="8534" y="4716"/>
                  </a:lnTo>
                  <a:lnTo>
                    <a:pt x="8232" y="4716"/>
                  </a:lnTo>
                  <a:lnTo>
                    <a:pt x="7118" y="4738"/>
                  </a:lnTo>
                  <a:lnTo>
                    <a:pt x="5947" y="4771"/>
                  </a:lnTo>
                  <a:lnTo>
                    <a:pt x="4795" y="4815"/>
                  </a:lnTo>
                  <a:lnTo>
                    <a:pt x="3681" y="4860"/>
                  </a:lnTo>
                  <a:lnTo>
                    <a:pt x="2662" y="4882"/>
                  </a:lnTo>
                  <a:lnTo>
                    <a:pt x="1755" y="4882"/>
                  </a:lnTo>
                  <a:lnTo>
                    <a:pt x="1359" y="4860"/>
                  </a:lnTo>
                  <a:lnTo>
                    <a:pt x="981" y="4837"/>
                  </a:lnTo>
                  <a:lnTo>
                    <a:pt x="698" y="4771"/>
                  </a:lnTo>
                  <a:lnTo>
                    <a:pt x="453" y="4716"/>
                  </a:lnTo>
                  <a:lnTo>
                    <a:pt x="453" y="5322"/>
                  </a:lnTo>
                  <a:lnTo>
                    <a:pt x="453" y="6083"/>
                  </a:lnTo>
                  <a:lnTo>
                    <a:pt x="453" y="6909"/>
                  </a:lnTo>
                  <a:lnTo>
                    <a:pt x="453" y="7780"/>
                  </a:lnTo>
                  <a:lnTo>
                    <a:pt x="453" y="8606"/>
                  </a:lnTo>
                  <a:lnTo>
                    <a:pt x="453" y="9345"/>
                  </a:lnTo>
                  <a:lnTo>
                    <a:pt x="453" y="9918"/>
                  </a:lnTo>
                  <a:lnTo>
                    <a:pt x="453" y="10282"/>
                  </a:lnTo>
                  <a:lnTo>
                    <a:pt x="490" y="10381"/>
                  </a:lnTo>
                  <a:lnTo>
                    <a:pt x="547" y="10491"/>
                  </a:lnTo>
                  <a:lnTo>
                    <a:pt x="660" y="10590"/>
                  </a:lnTo>
                  <a:lnTo>
                    <a:pt x="811" y="10700"/>
                  </a:lnTo>
                  <a:lnTo>
                    <a:pt x="981" y="10811"/>
                  </a:lnTo>
                  <a:lnTo>
                    <a:pt x="1208" y="10888"/>
                  </a:lnTo>
                  <a:lnTo>
                    <a:pt x="1453" y="10954"/>
                  </a:lnTo>
                  <a:lnTo>
                    <a:pt x="1718" y="11020"/>
                  </a:lnTo>
                  <a:lnTo>
                    <a:pt x="1963" y="11064"/>
                  </a:lnTo>
                  <a:lnTo>
                    <a:pt x="2265" y="11086"/>
                  </a:lnTo>
                  <a:lnTo>
                    <a:pt x="2548" y="11064"/>
                  </a:lnTo>
                  <a:lnTo>
                    <a:pt x="2794" y="11042"/>
                  </a:lnTo>
                  <a:lnTo>
                    <a:pt x="3096" y="10976"/>
                  </a:lnTo>
                  <a:lnTo>
                    <a:pt x="3341" y="10888"/>
                  </a:lnTo>
                  <a:lnTo>
                    <a:pt x="3606" y="10766"/>
                  </a:lnTo>
                  <a:lnTo>
                    <a:pt x="3813" y="10590"/>
                  </a:lnTo>
                  <a:close/>
                </a:path>
              </a:pathLst>
            </a:custGeom>
            <a:solidFill>
              <a:srgbClr val="D8EBB3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8" name="AutoShape 18"/>
            <p:cNvSpPr>
              <a:spLocks noChangeArrowheads="1"/>
            </p:cNvSpPr>
            <p:nvPr/>
          </p:nvSpPr>
          <p:spPr bwMode="auto">
            <a:xfrm>
              <a:off x="968" y="792"/>
              <a:ext cx="206" cy="1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6082 w 21600"/>
                <a:gd name="T25" fmla="*/ 2586 h 21600"/>
                <a:gd name="T26" fmla="*/ 16148 w 21600"/>
                <a:gd name="T27" fmla="*/ 1947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9360" y="20836"/>
                  </a:moveTo>
                  <a:lnTo>
                    <a:pt x="9528" y="20836"/>
                  </a:lnTo>
                  <a:lnTo>
                    <a:pt x="9686" y="20762"/>
                  </a:lnTo>
                  <a:lnTo>
                    <a:pt x="9810" y="20687"/>
                  </a:lnTo>
                  <a:lnTo>
                    <a:pt x="9922" y="20575"/>
                  </a:lnTo>
                  <a:lnTo>
                    <a:pt x="10012" y="20426"/>
                  </a:lnTo>
                  <a:lnTo>
                    <a:pt x="10068" y="20296"/>
                  </a:lnTo>
                  <a:lnTo>
                    <a:pt x="10113" y="20110"/>
                  </a:lnTo>
                  <a:lnTo>
                    <a:pt x="10136" y="19905"/>
                  </a:lnTo>
                  <a:lnTo>
                    <a:pt x="10136" y="19682"/>
                  </a:lnTo>
                  <a:lnTo>
                    <a:pt x="10113" y="19440"/>
                  </a:lnTo>
                  <a:lnTo>
                    <a:pt x="10068" y="19142"/>
                  </a:lnTo>
                  <a:lnTo>
                    <a:pt x="10012" y="18900"/>
                  </a:lnTo>
                  <a:lnTo>
                    <a:pt x="9900" y="18620"/>
                  </a:lnTo>
                  <a:lnTo>
                    <a:pt x="9787" y="18285"/>
                  </a:lnTo>
                  <a:lnTo>
                    <a:pt x="9641" y="17968"/>
                  </a:lnTo>
                  <a:lnTo>
                    <a:pt x="9472" y="17652"/>
                  </a:lnTo>
                  <a:lnTo>
                    <a:pt x="9382" y="17466"/>
                  </a:lnTo>
                  <a:lnTo>
                    <a:pt x="9315" y="17298"/>
                  </a:lnTo>
                  <a:lnTo>
                    <a:pt x="9258" y="17112"/>
                  </a:lnTo>
                  <a:lnTo>
                    <a:pt x="9191" y="16926"/>
                  </a:lnTo>
                  <a:lnTo>
                    <a:pt x="9123" y="16535"/>
                  </a:lnTo>
                  <a:lnTo>
                    <a:pt x="9101" y="16144"/>
                  </a:lnTo>
                  <a:lnTo>
                    <a:pt x="9101" y="15753"/>
                  </a:lnTo>
                  <a:lnTo>
                    <a:pt x="9168" y="15362"/>
                  </a:lnTo>
                  <a:lnTo>
                    <a:pt x="9236" y="14971"/>
                  </a:lnTo>
                  <a:lnTo>
                    <a:pt x="9360" y="14580"/>
                  </a:lnTo>
                  <a:lnTo>
                    <a:pt x="9495" y="14244"/>
                  </a:lnTo>
                  <a:lnTo>
                    <a:pt x="9663" y="13891"/>
                  </a:lnTo>
                  <a:lnTo>
                    <a:pt x="9855" y="13611"/>
                  </a:lnTo>
                  <a:lnTo>
                    <a:pt x="10068" y="13351"/>
                  </a:lnTo>
                  <a:lnTo>
                    <a:pt x="10293" y="13146"/>
                  </a:lnTo>
                  <a:lnTo>
                    <a:pt x="10552" y="12997"/>
                  </a:lnTo>
                  <a:lnTo>
                    <a:pt x="10811" y="12885"/>
                  </a:lnTo>
                  <a:lnTo>
                    <a:pt x="11069" y="12866"/>
                  </a:lnTo>
                  <a:lnTo>
                    <a:pt x="11351" y="12885"/>
                  </a:lnTo>
                  <a:lnTo>
                    <a:pt x="11610" y="12997"/>
                  </a:lnTo>
                  <a:lnTo>
                    <a:pt x="11846" y="13183"/>
                  </a:lnTo>
                  <a:lnTo>
                    <a:pt x="12060" y="13388"/>
                  </a:lnTo>
                  <a:lnTo>
                    <a:pt x="12251" y="13648"/>
                  </a:lnTo>
                  <a:lnTo>
                    <a:pt x="12419" y="13928"/>
                  </a:lnTo>
                  <a:lnTo>
                    <a:pt x="12555" y="14244"/>
                  </a:lnTo>
                  <a:lnTo>
                    <a:pt x="12690" y="14617"/>
                  </a:lnTo>
                  <a:lnTo>
                    <a:pt x="12768" y="15008"/>
                  </a:lnTo>
                  <a:lnTo>
                    <a:pt x="12836" y="15399"/>
                  </a:lnTo>
                  <a:lnTo>
                    <a:pt x="12858" y="15753"/>
                  </a:lnTo>
                  <a:lnTo>
                    <a:pt x="12858" y="16144"/>
                  </a:lnTo>
                  <a:lnTo>
                    <a:pt x="12813" y="16535"/>
                  </a:lnTo>
                  <a:lnTo>
                    <a:pt x="12746" y="16888"/>
                  </a:lnTo>
                  <a:lnTo>
                    <a:pt x="12667" y="17224"/>
                  </a:lnTo>
                  <a:lnTo>
                    <a:pt x="12510" y="17503"/>
                  </a:lnTo>
                  <a:lnTo>
                    <a:pt x="12228" y="18043"/>
                  </a:lnTo>
                  <a:lnTo>
                    <a:pt x="11970" y="18546"/>
                  </a:lnTo>
                  <a:lnTo>
                    <a:pt x="11868" y="18751"/>
                  </a:lnTo>
                  <a:lnTo>
                    <a:pt x="11778" y="18974"/>
                  </a:lnTo>
                  <a:lnTo>
                    <a:pt x="11711" y="19179"/>
                  </a:lnTo>
                  <a:lnTo>
                    <a:pt x="11666" y="19365"/>
                  </a:lnTo>
                  <a:lnTo>
                    <a:pt x="11632" y="19570"/>
                  </a:lnTo>
                  <a:lnTo>
                    <a:pt x="11632" y="19756"/>
                  </a:lnTo>
                  <a:lnTo>
                    <a:pt x="11632" y="19942"/>
                  </a:lnTo>
                  <a:lnTo>
                    <a:pt x="11643" y="20110"/>
                  </a:lnTo>
                  <a:lnTo>
                    <a:pt x="11711" y="20296"/>
                  </a:lnTo>
                  <a:lnTo>
                    <a:pt x="11801" y="20464"/>
                  </a:lnTo>
                  <a:lnTo>
                    <a:pt x="11891" y="20650"/>
                  </a:lnTo>
                  <a:lnTo>
                    <a:pt x="12037" y="20836"/>
                  </a:lnTo>
                  <a:lnTo>
                    <a:pt x="12206" y="21004"/>
                  </a:lnTo>
                  <a:lnTo>
                    <a:pt x="12419" y="21190"/>
                  </a:lnTo>
                  <a:lnTo>
                    <a:pt x="12667" y="21320"/>
                  </a:lnTo>
                  <a:lnTo>
                    <a:pt x="12960" y="21432"/>
                  </a:lnTo>
                  <a:lnTo>
                    <a:pt x="13286" y="21544"/>
                  </a:lnTo>
                  <a:lnTo>
                    <a:pt x="13612" y="21655"/>
                  </a:lnTo>
                  <a:lnTo>
                    <a:pt x="13983" y="21693"/>
                  </a:lnTo>
                  <a:lnTo>
                    <a:pt x="14343" y="21730"/>
                  </a:lnTo>
                  <a:lnTo>
                    <a:pt x="14715" y="21730"/>
                  </a:lnTo>
                  <a:lnTo>
                    <a:pt x="15075" y="21730"/>
                  </a:lnTo>
                  <a:lnTo>
                    <a:pt x="15446" y="21655"/>
                  </a:lnTo>
                  <a:lnTo>
                    <a:pt x="15794" y="21581"/>
                  </a:lnTo>
                  <a:lnTo>
                    <a:pt x="16132" y="21432"/>
                  </a:lnTo>
                  <a:lnTo>
                    <a:pt x="16458" y="21302"/>
                  </a:lnTo>
                  <a:lnTo>
                    <a:pt x="16740" y="21078"/>
                  </a:lnTo>
                  <a:lnTo>
                    <a:pt x="16976" y="20836"/>
                  </a:lnTo>
                  <a:lnTo>
                    <a:pt x="17043" y="20650"/>
                  </a:lnTo>
                  <a:lnTo>
                    <a:pt x="17088" y="20426"/>
                  </a:lnTo>
                  <a:lnTo>
                    <a:pt x="17133" y="20222"/>
                  </a:lnTo>
                  <a:lnTo>
                    <a:pt x="17156" y="19980"/>
                  </a:lnTo>
                  <a:lnTo>
                    <a:pt x="17167" y="19477"/>
                  </a:lnTo>
                  <a:lnTo>
                    <a:pt x="17167" y="18974"/>
                  </a:lnTo>
                  <a:lnTo>
                    <a:pt x="17156" y="18397"/>
                  </a:lnTo>
                  <a:lnTo>
                    <a:pt x="17111" y="17820"/>
                  </a:lnTo>
                  <a:lnTo>
                    <a:pt x="17066" y="17261"/>
                  </a:lnTo>
                  <a:lnTo>
                    <a:pt x="16998" y="16646"/>
                  </a:lnTo>
                  <a:lnTo>
                    <a:pt x="16852" y="15511"/>
                  </a:lnTo>
                  <a:lnTo>
                    <a:pt x="16740" y="14393"/>
                  </a:lnTo>
                  <a:lnTo>
                    <a:pt x="16717" y="13928"/>
                  </a:lnTo>
                  <a:lnTo>
                    <a:pt x="16695" y="13462"/>
                  </a:lnTo>
                  <a:lnTo>
                    <a:pt x="16717" y="13071"/>
                  </a:lnTo>
                  <a:lnTo>
                    <a:pt x="16785" y="12755"/>
                  </a:lnTo>
                  <a:lnTo>
                    <a:pt x="16852" y="12419"/>
                  </a:lnTo>
                  <a:lnTo>
                    <a:pt x="16953" y="12140"/>
                  </a:lnTo>
                  <a:lnTo>
                    <a:pt x="17088" y="11898"/>
                  </a:lnTo>
                  <a:lnTo>
                    <a:pt x="17212" y="11675"/>
                  </a:lnTo>
                  <a:lnTo>
                    <a:pt x="17370" y="11470"/>
                  </a:lnTo>
                  <a:lnTo>
                    <a:pt x="17516" y="11284"/>
                  </a:lnTo>
                  <a:lnTo>
                    <a:pt x="17696" y="11135"/>
                  </a:lnTo>
                  <a:lnTo>
                    <a:pt x="17865" y="11042"/>
                  </a:lnTo>
                  <a:lnTo>
                    <a:pt x="18033" y="10930"/>
                  </a:lnTo>
                  <a:lnTo>
                    <a:pt x="18213" y="10893"/>
                  </a:lnTo>
                  <a:lnTo>
                    <a:pt x="18382" y="10893"/>
                  </a:lnTo>
                  <a:lnTo>
                    <a:pt x="18551" y="10967"/>
                  </a:lnTo>
                  <a:lnTo>
                    <a:pt x="18708" y="11042"/>
                  </a:lnTo>
                  <a:lnTo>
                    <a:pt x="18855" y="11172"/>
                  </a:lnTo>
                  <a:lnTo>
                    <a:pt x="19012" y="11358"/>
                  </a:lnTo>
                  <a:lnTo>
                    <a:pt x="19136" y="11600"/>
                  </a:lnTo>
                  <a:lnTo>
                    <a:pt x="19271" y="11861"/>
                  </a:lnTo>
                  <a:lnTo>
                    <a:pt x="19440" y="12028"/>
                  </a:lnTo>
                  <a:lnTo>
                    <a:pt x="19608" y="12177"/>
                  </a:lnTo>
                  <a:lnTo>
                    <a:pt x="19822" y="12289"/>
                  </a:lnTo>
                  <a:lnTo>
                    <a:pt x="20025" y="12289"/>
                  </a:lnTo>
                  <a:lnTo>
                    <a:pt x="20238" y="12289"/>
                  </a:lnTo>
                  <a:lnTo>
                    <a:pt x="20452" y="12215"/>
                  </a:lnTo>
                  <a:lnTo>
                    <a:pt x="20643" y="12103"/>
                  </a:lnTo>
                  <a:lnTo>
                    <a:pt x="20846" y="11973"/>
                  </a:lnTo>
                  <a:lnTo>
                    <a:pt x="21037" y="11786"/>
                  </a:lnTo>
                  <a:lnTo>
                    <a:pt x="21206" y="11563"/>
                  </a:lnTo>
                  <a:lnTo>
                    <a:pt x="21363" y="11321"/>
                  </a:lnTo>
                  <a:lnTo>
                    <a:pt x="21465" y="11079"/>
                  </a:lnTo>
                  <a:lnTo>
                    <a:pt x="21577" y="10744"/>
                  </a:lnTo>
                  <a:lnTo>
                    <a:pt x="21622" y="10427"/>
                  </a:lnTo>
                  <a:lnTo>
                    <a:pt x="21645" y="10111"/>
                  </a:lnTo>
                  <a:lnTo>
                    <a:pt x="21622" y="9608"/>
                  </a:lnTo>
                  <a:lnTo>
                    <a:pt x="21577" y="9142"/>
                  </a:lnTo>
                  <a:lnTo>
                    <a:pt x="21465" y="8751"/>
                  </a:lnTo>
                  <a:lnTo>
                    <a:pt x="21363" y="8397"/>
                  </a:lnTo>
                  <a:lnTo>
                    <a:pt x="21206" y="8062"/>
                  </a:lnTo>
                  <a:lnTo>
                    <a:pt x="21037" y="7820"/>
                  </a:lnTo>
                  <a:lnTo>
                    <a:pt x="20846" y="7597"/>
                  </a:lnTo>
                  <a:lnTo>
                    <a:pt x="20643" y="7429"/>
                  </a:lnTo>
                  <a:lnTo>
                    <a:pt x="20452" y="7317"/>
                  </a:lnTo>
                  <a:lnTo>
                    <a:pt x="20238" y="7206"/>
                  </a:lnTo>
                  <a:lnTo>
                    <a:pt x="20025" y="7168"/>
                  </a:lnTo>
                  <a:lnTo>
                    <a:pt x="19822" y="7206"/>
                  </a:lnTo>
                  <a:lnTo>
                    <a:pt x="19608" y="7243"/>
                  </a:lnTo>
                  <a:lnTo>
                    <a:pt x="19440" y="7355"/>
                  </a:lnTo>
                  <a:lnTo>
                    <a:pt x="19271" y="7504"/>
                  </a:lnTo>
                  <a:lnTo>
                    <a:pt x="19136" y="7708"/>
                  </a:lnTo>
                  <a:lnTo>
                    <a:pt x="19012" y="7895"/>
                  </a:lnTo>
                  <a:lnTo>
                    <a:pt x="18832" y="8025"/>
                  </a:lnTo>
                  <a:lnTo>
                    <a:pt x="18663" y="8174"/>
                  </a:lnTo>
                  <a:lnTo>
                    <a:pt x="18472" y="8248"/>
                  </a:lnTo>
                  <a:lnTo>
                    <a:pt x="18270" y="8286"/>
                  </a:lnTo>
                  <a:lnTo>
                    <a:pt x="18078" y="8323"/>
                  </a:lnTo>
                  <a:lnTo>
                    <a:pt x="17887" y="8323"/>
                  </a:lnTo>
                  <a:lnTo>
                    <a:pt x="17696" y="8248"/>
                  </a:lnTo>
                  <a:lnTo>
                    <a:pt x="17493" y="8174"/>
                  </a:lnTo>
                  <a:lnTo>
                    <a:pt x="17302" y="8062"/>
                  </a:lnTo>
                  <a:lnTo>
                    <a:pt x="17133" y="7969"/>
                  </a:lnTo>
                  <a:lnTo>
                    <a:pt x="16976" y="7783"/>
                  </a:lnTo>
                  <a:lnTo>
                    <a:pt x="16852" y="7597"/>
                  </a:lnTo>
                  <a:lnTo>
                    <a:pt x="16740" y="7429"/>
                  </a:lnTo>
                  <a:lnTo>
                    <a:pt x="16672" y="7168"/>
                  </a:lnTo>
                  <a:lnTo>
                    <a:pt x="16638" y="6926"/>
                  </a:lnTo>
                  <a:lnTo>
                    <a:pt x="16616" y="6498"/>
                  </a:lnTo>
                  <a:lnTo>
                    <a:pt x="16616" y="5772"/>
                  </a:lnTo>
                  <a:lnTo>
                    <a:pt x="16650" y="4915"/>
                  </a:lnTo>
                  <a:lnTo>
                    <a:pt x="16695" y="3928"/>
                  </a:lnTo>
                  <a:lnTo>
                    <a:pt x="16762" y="2960"/>
                  </a:lnTo>
                  <a:lnTo>
                    <a:pt x="16830" y="1992"/>
                  </a:lnTo>
                  <a:lnTo>
                    <a:pt x="16908" y="1173"/>
                  </a:lnTo>
                  <a:lnTo>
                    <a:pt x="16976" y="521"/>
                  </a:lnTo>
                  <a:lnTo>
                    <a:pt x="16953" y="521"/>
                  </a:lnTo>
                  <a:lnTo>
                    <a:pt x="16931" y="521"/>
                  </a:lnTo>
                  <a:lnTo>
                    <a:pt x="16267" y="484"/>
                  </a:lnTo>
                  <a:lnTo>
                    <a:pt x="15637" y="428"/>
                  </a:lnTo>
                  <a:lnTo>
                    <a:pt x="15063" y="353"/>
                  </a:lnTo>
                  <a:lnTo>
                    <a:pt x="14523" y="279"/>
                  </a:lnTo>
                  <a:lnTo>
                    <a:pt x="14040" y="167"/>
                  </a:lnTo>
                  <a:lnTo>
                    <a:pt x="13635" y="93"/>
                  </a:lnTo>
                  <a:lnTo>
                    <a:pt x="13331" y="18"/>
                  </a:lnTo>
                  <a:lnTo>
                    <a:pt x="13117" y="18"/>
                  </a:lnTo>
                  <a:lnTo>
                    <a:pt x="12982" y="18"/>
                  </a:lnTo>
                  <a:lnTo>
                    <a:pt x="12858" y="130"/>
                  </a:lnTo>
                  <a:lnTo>
                    <a:pt x="12723" y="279"/>
                  </a:lnTo>
                  <a:lnTo>
                    <a:pt x="12622" y="446"/>
                  </a:lnTo>
                  <a:lnTo>
                    <a:pt x="12510" y="670"/>
                  </a:lnTo>
                  <a:lnTo>
                    <a:pt x="12419" y="912"/>
                  </a:lnTo>
                  <a:lnTo>
                    <a:pt x="12363" y="1210"/>
                  </a:lnTo>
                  <a:lnTo>
                    <a:pt x="12318" y="1526"/>
                  </a:lnTo>
                  <a:lnTo>
                    <a:pt x="12273" y="1843"/>
                  </a:lnTo>
                  <a:lnTo>
                    <a:pt x="12251" y="2215"/>
                  </a:lnTo>
                  <a:lnTo>
                    <a:pt x="12273" y="2532"/>
                  </a:lnTo>
                  <a:lnTo>
                    <a:pt x="12318" y="2886"/>
                  </a:lnTo>
                  <a:lnTo>
                    <a:pt x="12386" y="3240"/>
                  </a:lnTo>
                  <a:lnTo>
                    <a:pt x="12464" y="3556"/>
                  </a:lnTo>
                  <a:lnTo>
                    <a:pt x="12577" y="3891"/>
                  </a:lnTo>
                  <a:lnTo>
                    <a:pt x="12746" y="4171"/>
                  </a:lnTo>
                  <a:lnTo>
                    <a:pt x="12926" y="4487"/>
                  </a:lnTo>
                  <a:lnTo>
                    <a:pt x="13050" y="4860"/>
                  </a:lnTo>
                  <a:lnTo>
                    <a:pt x="13162" y="5251"/>
                  </a:lnTo>
                  <a:lnTo>
                    <a:pt x="13218" y="5604"/>
                  </a:lnTo>
                  <a:lnTo>
                    <a:pt x="13263" y="5995"/>
                  </a:lnTo>
                  <a:lnTo>
                    <a:pt x="13241" y="6386"/>
                  </a:lnTo>
                  <a:lnTo>
                    <a:pt x="13218" y="6740"/>
                  </a:lnTo>
                  <a:lnTo>
                    <a:pt x="13139" y="7094"/>
                  </a:lnTo>
                  <a:lnTo>
                    <a:pt x="13050" y="7429"/>
                  </a:lnTo>
                  <a:lnTo>
                    <a:pt x="12903" y="7746"/>
                  </a:lnTo>
                  <a:lnTo>
                    <a:pt x="12723" y="8025"/>
                  </a:lnTo>
                  <a:lnTo>
                    <a:pt x="12532" y="8286"/>
                  </a:lnTo>
                  <a:lnTo>
                    <a:pt x="12318" y="8491"/>
                  </a:lnTo>
                  <a:lnTo>
                    <a:pt x="12060" y="8677"/>
                  </a:lnTo>
                  <a:lnTo>
                    <a:pt x="11756" y="8788"/>
                  </a:lnTo>
                  <a:lnTo>
                    <a:pt x="11452" y="8826"/>
                  </a:lnTo>
                  <a:lnTo>
                    <a:pt x="11283" y="8826"/>
                  </a:lnTo>
                  <a:lnTo>
                    <a:pt x="11126" y="8826"/>
                  </a:lnTo>
                  <a:lnTo>
                    <a:pt x="11002" y="8788"/>
                  </a:lnTo>
                  <a:lnTo>
                    <a:pt x="10845" y="8714"/>
                  </a:lnTo>
                  <a:lnTo>
                    <a:pt x="10721" y="8640"/>
                  </a:lnTo>
                  <a:lnTo>
                    <a:pt x="10608" y="8565"/>
                  </a:lnTo>
                  <a:lnTo>
                    <a:pt x="10485" y="8453"/>
                  </a:lnTo>
                  <a:lnTo>
                    <a:pt x="10372" y="8323"/>
                  </a:lnTo>
                  <a:lnTo>
                    <a:pt x="10181" y="8062"/>
                  </a:lnTo>
                  <a:lnTo>
                    <a:pt x="10035" y="7746"/>
                  </a:lnTo>
                  <a:lnTo>
                    <a:pt x="9900" y="7392"/>
                  </a:lnTo>
                  <a:lnTo>
                    <a:pt x="9787" y="7001"/>
                  </a:lnTo>
                  <a:lnTo>
                    <a:pt x="9731" y="6610"/>
                  </a:lnTo>
                  <a:lnTo>
                    <a:pt x="9686" y="6219"/>
                  </a:lnTo>
                  <a:lnTo>
                    <a:pt x="9663" y="5772"/>
                  </a:lnTo>
                  <a:lnTo>
                    <a:pt x="9686" y="5381"/>
                  </a:lnTo>
                  <a:lnTo>
                    <a:pt x="9753" y="4990"/>
                  </a:lnTo>
                  <a:lnTo>
                    <a:pt x="9832" y="4636"/>
                  </a:lnTo>
                  <a:lnTo>
                    <a:pt x="9945" y="4320"/>
                  </a:lnTo>
                  <a:lnTo>
                    <a:pt x="10068" y="4022"/>
                  </a:lnTo>
                  <a:lnTo>
                    <a:pt x="10203" y="3817"/>
                  </a:lnTo>
                  <a:lnTo>
                    <a:pt x="10316" y="3593"/>
                  </a:lnTo>
                  <a:lnTo>
                    <a:pt x="10395" y="3351"/>
                  </a:lnTo>
                  <a:lnTo>
                    <a:pt x="10462" y="3109"/>
                  </a:lnTo>
                  <a:lnTo>
                    <a:pt x="10507" y="2848"/>
                  </a:lnTo>
                  <a:lnTo>
                    <a:pt x="10530" y="2606"/>
                  </a:lnTo>
                  <a:lnTo>
                    <a:pt x="10507" y="2346"/>
                  </a:lnTo>
                  <a:lnTo>
                    <a:pt x="10462" y="2141"/>
                  </a:lnTo>
                  <a:lnTo>
                    <a:pt x="10395" y="1880"/>
                  </a:lnTo>
                  <a:lnTo>
                    <a:pt x="10293" y="1638"/>
                  </a:lnTo>
                  <a:lnTo>
                    <a:pt x="10158" y="1415"/>
                  </a:lnTo>
                  <a:lnTo>
                    <a:pt x="9967" y="1210"/>
                  </a:lnTo>
                  <a:lnTo>
                    <a:pt x="9753" y="986"/>
                  </a:lnTo>
                  <a:lnTo>
                    <a:pt x="9495" y="819"/>
                  </a:lnTo>
                  <a:lnTo>
                    <a:pt x="9191" y="670"/>
                  </a:lnTo>
                  <a:lnTo>
                    <a:pt x="8842" y="521"/>
                  </a:lnTo>
                  <a:lnTo>
                    <a:pt x="8471" y="446"/>
                  </a:lnTo>
                  <a:lnTo>
                    <a:pt x="7998" y="428"/>
                  </a:lnTo>
                  <a:lnTo>
                    <a:pt x="7413" y="428"/>
                  </a:lnTo>
                  <a:lnTo>
                    <a:pt x="6817" y="446"/>
                  </a:lnTo>
                  <a:lnTo>
                    <a:pt x="6187" y="521"/>
                  </a:lnTo>
                  <a:lnTo>
                    <a:pt x="5602" y="633"/>
                  </a:lnTo>
                  <a:lnTo>
                    <a:pt x="5107" y="744"/>
                  </a:lnTo>
                  <a:lnTo>
                    <a:pt x="4725" y="856"/>
                  </a:lnTo>
                  <a:lnTo>
                    <a:pt x="4848" y="1564"/>
                  </a:lnTo>
                  <a:lnTo>
                    <a:pt x="5028" y="2495"/>
                  </a:lnTo>
                  <a:lnTo>
                    <a:pt x="5175" y="3556"/>
                  </a:lnTo>
                  <a:lnTo>
                    <a:pt x="5298" y="4673"/>
                  </a:lnTo>
                  <a:lnTo>
                    <a:pt x="5343" y="5213"/>
                  </a:lnTo>
                  <a:lnTo>
                    <a:pt x="5388" y="5753"/>
                  </a:lnTo>
                  <a:lnTo>
                    <a:pt x="5411" y="6275"/>
                  </a:lnTo>
                  <a:lnTo>
                    <a:pt x="5411" y="6740"/>
                  </a:lnTo>
                  <a:lnTo>
                    <a:pt x="5366" y="7168"/>
                  </a:lnTo>
                  <a:lnTo>
                    <a:pt x="5321" y="7541"/>
                  </a:lnTo>
                  <a:lnTo>
                    <a:pt x="5287" y="7708"/>
                  </a:lnTo>
                  <a:lnTo>
                    <a:pt x="5242" y="7857"/>
                  </a:lnTo>
                  <a:lnTo>
                    <a:pt x="5197" y="7969"/>
                  </a:lnTo>
                  <a:lnTo>
                    <a:pt x="5130" y="8062"/>
                  </a:lnTo>
                  <a:lnTo>
                    <a:pt x="5006" y="8248"/>
                  </a:lnTo>
                  <a:lnTo>
                    <a:pt x="4848" y="8397"/>
                  </a:lnTo>
                  <a:lnTo>
                    <a:pt x="4725" y="8528"/>
                  </a:lnTo>
                  <a:lnTo>
                    <a:pt x="4567" y="8640"/>
                  </a:lnTo>
                  <a:lnTo>
                    <a:pt x="4421" y="8714"/>
                  </a:lnTo>
                  <a:lnTo>
                    <a:pt x="4263" y="8751"/>
                  </a:lnTo>
                  <a:lnTo>
                    <a:pt x="4095" y="8788"/>
                  </a:lnTo>
                  <a:lnTo>
                    <a:pt x="3948" y="8788"/>
                  </a:lnTo>
                  <a:lnTo>
                    <a:pt x="3791" y="8751"/>
                  </a:lnTo>
                  <a:lnTo>
                    <a:pt x="3667" y="8714"/>
                  </a:lnTo>
                  <a:lnTo>
                    <a:pt x="3510" y="8677"/>
                  </a:lnTo>
                  <a:lnTo>
                    <a:pt x="3386" y="8602"/>
                  </a:lnTo>
                  <a:lnTo>
                    <a:pt x="3251" y="8491"/>
                  </a:lnTo>
                  <a:lnTo>
                    <a:pt x="3127" y="8360"/>
                  </a:lnTo>
                  <a:lnTo>
                    <a:pt x="3015" y="8248"/>
                  </a:lnTo>
                  <a:lnTo>
                    <a:pt x="2925" y="8062"/>
                  </a:lnTo>
                  <a:lnTo>
                    <a:pt x="2778" y="7857"/>
                  </a:lnTo>
                  <a:lnTo>
                    <a:pt x="2610" y="7671"/>
                  </a:lnTo>
                  <a:lnTo>
                    <a:pt x="2407" y="7541"/>
                  </a:lnTo>
                  <a:lnTo>
                    <a:pt x="2171" y="7466"/>
                  </a:lnTo>
                  <a:lnTo>
                    <a:pt x="1957" y="7429"/>
                  </a:lnTo>
                  <a:lnTo>
                    <a:pt x="1698" y="7429"/>
                  </a:lnTo>
                  <a:lnTo>
                    <a:pt x="1462" y="7466"/>
                  </a:lnTo>
                  <a:lnTo>
                    <a:pt x="1226" y="7559"/>
                  </a:lnTo>
                  <a:lnTo>
                    <a:pt x="989" y="7708"/>
                  </a:lnTo>
                  <a:lnTo>
                    <a:pt x="776" y="7932"/>
                  </a:lnTo>
                  <a:lnTo>
                    <a:pt x="551" y="8211"/>
                  </a:lnTo>
                  <a:lnTo>
                    <a:pt x="382" y="8528"/>
                  </a:lnTo>
                  <a:lnTo>
                    <a:pt x="315" y="8714"/>
                  </a:lnTo>
                  <a:lnTo>
                    <a:pt x="236" y="8919"/>
                  </a:lnTo>
                  <a:lnTo>
                    <a:pt x="191" y="9142"/>
                  </a:lnTo>
                  <a:lnTo>
                    <a:pt x="123" y="9347"/>
                  </a:lnTo>
                  <a:lnTo>
                    <a:pt x="78" y="9608"/>
                  </a:lnTo>
                  <a:lnTo>
                    <a:pt x="56" y="9887"/>
                  </a:lnTo>
                  <a:lnTo>
                    <a:pt x="33" y="10185"/>
                  </a:lnTo>
                  <a:lnTo>
                    <a:pt x="33" y="10464"/>
                  </a:lnTo>
                  <a:lnTo>
                    <a:pt x="33" y="10706"/>
                  </a:lnTo>
                  <a:lnTo>
                    <a:pt x="56" y="10967"/>
                  </a:lnTo>
                  <a:lnTo>
                    <a:pt x="78" y="11172"/>
                  </a:lnTo>
                  <a:lnTo>
                    <a:pt x="123" y="11395"/>
                  </a:lnTo>
                  <a:lnTo>
                    <a:pt x="168" y="11600"/>
                  </a:lnTo>
                  <a:lnTo>
                    <a:pt x="236" y="11786"/>
                  </a:lnTo>
                  <a:lnTo>
                    <a:pt x="292" y="11973"/>
                  </a:lnTo>
                  <a:lnTo>
                    <a:pt x="382" y="12140"/>
                  </a:lnTo>
                  <a:lnTo>
                    <a:pt x="540" y="12419"/>
                  </a:lnTo>
                  <a:lnTo>
                    <a:pt x="731" y="12680"/>
                  </a:lnTo>
                  <a:lnTo>
                    <a:pt x="944" y="12866"/>
                  </a:lnTo>
                  <a:lnTo>
                    <a:pt x="1158" y="12997"/>
                  </a:lnTo>
                  <a:lnTo>
                    <a:pt x="1395" y="13108"/>
                  </a:lnTo>
                  <a:lnTo>
                    <a:pt x="1608" y="13183"/>
                  </a:lnTo>
                  <a:lnTo>
                    <a:pt x="1856" y="13183"/>
                  </a:lnTo>
                  <a:lnTo>
                    <a:pt x="2070" y="13146"/>
                  </a:lnTo>
                  <a:lnTo>
                    <a:pt x="2261" y="13071"/>
                  </a:lnTo>
                  <a:lnTo>
                    <a:pt x="2430" y="12960"/>
                  </a:lnTo>
                  <a:lnTo>
                    <a:pt x="2587" y="12792"/>
                  </a:lnTo>
                  <a:lnTo>
                    <a:pt x="2688" y="12606"/>
                  </a:lnTo>
                  <a:lnTo>
                    <a:pt x="2801" y="12419"/>
                  </a:lnTo>
                  <a:lnTo>
                    <a:pt x="2925" y="12289"/>
                  </a:lnTo>
                  <a:lnTo>
                    <a:pt x="3082" y="12177"/>
                  </a:lnTo>
                  <a:lnTo>
                    <a:pt x="3228" y="12103"/>
                  </a:lnTo>
                  <a:lnTo>
                    <a:pt x="3408" y="12103"/>
                  </a:lnTo>
                  <a:lnTo>
                    <a:pt x="3577" y="12103"/>
                  </a:lnTo>
                  <a:lnTo>
                    <a:pt x="3723" y="12177"/>
                  </a:lnTo>
                  <a:lnTo>
                    <a:pt x="3903" y="12252"/>
                  </a:lnTo>
                  <a:lnTo>
                    <a:pt x="4072" y="12364"/>
                  </a:lnTo>
                  <a:lnTo>
                    <a:pt x="4230" y="12494"/>
                  </a:lnTo>
                  <a:lnTo>
                    <a:pt x="4353" y="12643"/>
                  </a:lnTo>
                  <a:lnTo>
                    <a:pt x="4488" y="12829"/>
                  </a:lnTo>
                  <a:lnTo>
                    <a:pt x="4567" y="13034"/>
                  </a:lnTo>
                  <a:lnTo>
                    <a:pt x="4657" y="13257"/>
                  </a:lnTo>
                  <a:lnTo>
                    <a:pt x="4702" y="13462"/>
                  </a:lnTo>
                  <a:lnTo>
                    <a:pt x="4725" y="13686"/>
                  </a:lnTo>
                  <a:lnTo>
                    <a:pt x="4702" y="14282"/>
                  </a:lnTo>
                  <a:lnTo>
                    <a:pt x="4657" y="15045"/>
                  </a:lnTo>
                  <a:lnTo>
                    <a:pt x="4612" y="15976"/>
                  </a:lnTo>
                  <a:lnTo>
                    <a:pt x="4590" y="16926"/>
                  </a:lnTo>
                  <a:lnTo>
                    <a:pt x="4567" y="17968"/>
                  </a:lnTo>
                  <a:lnTo>
                    <a:pt x="4567" y="19011"/>
                  </a:lnTo>
                  <a:lnTo>
                    <a:pt x="4590" y="19514"/>
                  </a:lnTo>
                  <a:lnTo>
                    <a:pt x="4612" y="19980"/>
                  </a:lnTo>
                  <a:lnTo>
                    <a:pt x="4657" y="20426"/>
                  </a:lnTo>
                  <a:lnTo>
                    <a:pt x="4725" y="20836"/>
                  </a:lnTo>
                  <a:lnTo>
                    <a:pt x="4848" y="20929"/>
                  </a:lnTo>
                  <a:lnTo>
                    <a:pt x="5040" y="21004"/>
                  </a:lnTo>
                  <a:lnTo>
                    <a:pt x="5265" y="21078"/>
                  </a:lnTo>
                  <a:lnTo>
                    <a:pt x="5478" y="21115"/>
                  </a:lnTo>
                  <a:lnTo>
                    <a:pt x="6041" y="21115"/>
                  </a:lnTo>
                  <a:lnTo>
                    <a:pt x="6637" y="21078"/>
                  </a:lnTo>
                  <a:lnTo>
                    <a:pt x="7312" y="21004"/>
                  </a:lnTo>
                  <a:lnTo>
                    <a:pt x="7998" y="20929"/>
                  </a:lnTo>
                  <a:lnTo>
                    <a:pt x="8696" y="20855"/>
                  </a:lnTo>
                  <a:lnTo>
                    <a:pt x="9360" y="20836"/>
                  </a:lnTo>
                  <a:close/>
                </a:path>
              </a:pathLst>
            </a:custGeom>
            <a:solidFill>
              <a:srgbClr val="CCCCFF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90" name="Group 19"/>
          <p:cNvGrpSpPr>
            <a:grpSpLocks/>
          </p:cNvGrpSpPr>
          <p:nvPr/>
        </p:nvGrpSpPr>
        <p:grpSpPr bwMode="auto">
          <a:xfrm>
            <a:off x="4214813" y="981075"/>
            <a:ext cx="481012" cy="455613"/>
            <a:chOff x="2655" y="727"/>
            <a:chExt cx="303" cy="287"/>
          </a:xfrm>
        </p:grpSpPr>
        <p:sp>
          <p:nvSpPr>
            <p:cNvPr id="21562" name="AutoShape 20"/>
            <p:cNvSpPr>
              <a:spLocks noChangeArrowheads="1"/>
            </p:cNvSpPr>
            <p:nvPr/>
          </p:nvSpPr>
          <p:spPr bwMode="auto">
            <a:xfrm>
              <a:off x="2824" y="727"/>
              <a:ext cx="134" cy="13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52 w 21600"/>
                <a:gd name="T13" fmla="*/ 3957 h 21600"/>
                <a:gd name="T14" fmla="*/ 17893 w 21600"/>
                <a:gd name="T15" fmla="*/ 1764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21563" name="AutoShape 21"/>
            <p:cNvSpPr>
              <a:spLocks noChangeArrowheads="1"/>
            </p:cNvSpPr>
            <p:nvPr/>
          </p:nvSpPr>
          <p:spPr bwMode="auto">
            <a:xfrm>
              <a:off x="2655" y="781"/>
              <a:ext cx="161" cy="1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27 w 21600"/>
                <a:gd name="T13" fmla="*/ 3990 h 21600"/>
                <a:gd name="T14" fmla="*/ 17843 w 21600"/>
                <a:gd name="T15" fmla="*/ 176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21564" name="AutoShape 22"/>
            <p:cNvSpPr>
              <a:spLocks noChangeArrowheads="1"/>
            </p:cNvSpPr>
            <p:nvPr/>
          </p:nvSpPr>
          <p:spPr bwMode="auto">
            <a:xfrm>
              <a:off x="2760" y="840"/>
              <a:ext cx="179" cy="17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44 w 21600"/>
                <a:gd name="T13" fmla="*/ 3972 h 21600"/>
                <a:gd name="T14" fmla="*/ 17859 w 21600"/>
                <a:gd name="T15" fmla="*/ 1762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</p:grpSp>
      <p:grpSp>
        <p:nvGrpSpPr>
          <p:cNvPr id="94" name="Group 23"/>
          <p:cNvGrpSpPr>
            <a:grpSpLocks/>
          </p:cNvGrpSpPr>
          <p:nvPr/>
        </p:nvGrpSpPr>
        <p:grpSpPr bwMode="auto">
          <a:xfrm>
            <a:off x="3263900" y="1700213"/>
            <a:ext cx="2624138" cy="1839912"/>
            <a:chOff x="2056" y="1180"/>
            <a:chExt cx="1653" cy="1159"/>
          </a:xfrm>
        </p:grpSpPr>
        <p:sp>
          <p:nvSpPr>
            <p:cNvPr id="21550" name="Rectangle 24"/>
            <p:cNvSpPr>
              <a:spLocks noChangeArrowheads="1"/>
            </p:cNvSpPr>
            <p:nvPr/>
          </p:nvSpPr>
          <p:spPr bwMode="auto">
            <a:xfrm>
              <a:off x="2056" y="1180"/>
              <a:ext cx="1653" cy="107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1" name="Text Box 25"/>
            <p:cNvSpPr txBox="1">
              <a:spLocks noChangeArrowheads="1"/>
            </p:cNvSpPr>
            <p:nvPr/>
          </p:nvSpPr>
          <p:spPr bwMode="auto">
            <a:xfrm>
              <a:off x="2230" y="2108"/>
              <a:ext cx="12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</a:t>
              </a:r>
            </a:p>
          </p:txBody>
        </p:sp>
        <p:grpSp>
          <p:nvGrpSpPr>
            <p:cNvPr id="21552" name="Group 26"/>
            <p:cNvGrpSpPr>
              <a:grpSpLocks/>
            </p:cNvGrpSpPr>
            <p:nvPr/>
          </p:nvGrpSpPr>
          <p:grpSpPr bwMode="auto">
            <a:xfrm>
              <a:off x="2103" y="1678"/>
              <a:ext cx="1595" cy="396"/>
              <a:chOff x="2103" y="1678"/>
              <a:chExt cx="1595" cy="396"/>
            </a:xfrm>
          </p:grpSpPr>
          <p:sp>
            <p:nvSpPr>
              <p:cNvPr id="21556" name="Rectangle 27"/>
              <p:cNvSpPr>
                <a:spLocks noChangeArrowheads="1"/>
              </p:cNvSpPr>
              <p:nvPr/>
            </p:nvSpPr>
            <p:spPr bwMode="auto">
              <a:xfrm>
                <a:off x="2103" y="1678"/>
                <a:ext cx="1535" cy="375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1557" name="Group 28"/>
              <p:cNvGrpSpPr>
                <a:grpSpLocks/>
              </p:cNvGrpSpPr>
              <p:nvPr/>
            </p:nvGrpSpPr>
            <p:grpSpPr bwMode="auto">
              <a:xfrm>
                <a:off x="2164" y="1740"/>
                <a:ext cx="1535" cy="334"/>
                <a:chOff x="2164" y="1740"/>
                <a:chExt cx="1535" cy="334"/>
              </a:xfrm>
            </p:grpSpPr>
            <p:grpSp>
              <p:nvGrpSpPr>
                <p:cNvPr id="21558" name="Group 29"/>
                <p:cNvGrpSpPr>
                  <a:grpSpLocks/>
                </p:cNvGrpSpPr>
                <p:nvPr/>
              </p:nvGrpSpPr>
              <p:grpSpPr bwMode="auto">
                <a:xfrm>
                  <a:off x="2164" y="1740"/>
                  <a:ext cx="914" cy="231"/>
                  <a:chOff x="2164" y="1740"/>
                  <a:chExt cx="914" cy="231"/>
                </a:xfrm>
              </p:grpSpPr>
              <p:graphicFrame>
                <p:nvGraphicFramePr>
                  <p:cNvPr id="21560" name="Object 30"/>
                  <p:cNvGraphicFramePr>
                    <a:graphicFrameLocks noChangeAspect="1"/>
                  </p:cNvGraphicFramePr>
                  <p:nvPr/>
                </p:nvGraphicFramePr>
                <p:xfrm>
                  <a:off x="2164" y="1740"/>
                  <a:ext cx="914" cy="2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5161" r:id="rId3" imgW="2209524" imgH="581106" progId="">
                          <p:embed/>
                        </p:oleObj>
                      </mc:Choice>
                      <mc:Fallback>
                        <p:oleObj r:id="rId3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64" y="1740"/>
                                <a:ext cx="914" cy="2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61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2164" y="1740"/>
                    <a:ext cx="914" cy="231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59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3001" y="1745"/>
                  <a:ext cx="697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Virtualized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53" name="Group 33"/>
            <p:cNvGrpSpPr>
              <a:grpSpLocks/>
            </p:cNvGrpSpPr>
            <p:nvPr/>
          </p:nvGrpSpPr>
          <p:grpSpPr bwMode="auto">
            <a:xfrm>
              <a:off x="2111" y="1257"/>
              <a:ext cx="1527" cy="354"/>
              <a:chOff x="2111" y="1257"/>
              <a:chExt cx="1527" cy="354"/>
            </a:xfrm>
          </p:grpSpPr>
          <p:sp>
            <p:nvSpPr>
              <p:cNvPr id="21554" name="Rectangle 34"/>
              <p:cNvSpPr>
                <a:spLocks noChangeArrowheads="1"/>
              </p:cNvSpPr>
              <p:nvPr/>
            </p:nvSpPr>
            <p:spPr bwMode="auto">
              <a:xfrm>
                <a:off x="2111" y="1257"/>
                <a:ext cx="1527" cy="336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555" name="Text Box 35"/>
              <p:cNvSpPr txBox="1">
                <a:spLocks noChangeArrowheads="1"/>
              </p:cNvSpPr>
              <p:nvPr/>
            </p:nvSpPr>
            <p:spPr bwMode="auto">
              <a:xfrm>
                <a:off x="2448" y="1380"/>
                <a:ext cx="91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Guest OS</a:t>
                </a:r>
              </a:p>
            </p:txBody>
          </p:sp>
        </p:grpSp>
      </p:grpSp>
      <p:grpSp>
        <p:nvGrpSpPr>
          <p:cNvPr id="108" name="Group 36"/>
          <p:cNvGrpSpPr>
            <a:grpSpLocks/>
          </p:cNvGrpSpPr>
          <p:nvPr/>
        </p:nvGrpSpPr>
        <p:grpSpPr bwMode="auto">
          <a:xfrm>
            <a:off x="422275" y="1700213"/>
            <a:ext cx="2697163" cy="1839912"/>
            <a:chOff x="266" y="1180"/>
            <a:chExt cx="1699" cy="1159"/>
          </a:xfrm>
        </p:grpSpPr>
        <p:sp>
          <p:nvSpPr>
            <p:cNvPr id="21538" name="Rectangle 37"/>
            <p:cNvSpPr>
              <a:spLocks noChangeArrowheads="1"/>
            </p:cNvSpPr>
            <p:nvPr/>
          </p:nvSpPr>
          <p:spPr bwMode="auto">
            <a:xfrm>
              <a:off x="266" y="1180"/>
              <a:ext cx="1699" cy="107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39" name="Text Box 38"/>
            <p:cNvSpPr txBox="1">
              <a:spLocks noChangeArrowheads="1"/>
            </p:cNvSpPr>
            <p:nvPr/>
          </p:nvSpPr>
          <p:spPr bwMode="auto">
            <a:xfrm>
              <a:off x="445" y="2108"/>
              <a:ext cx="1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</a:t>
              </a:r>
            </a:p>
          </p:txBody>
        </p:sp>
        <p:grpSp>
          <p:nvGrpSpPr>
            <p:cNvPr id="21540" name="Group 39"/>
            <p:cNvGrpSpPr>
              <a:grpSpLocks/>
            </p:cNvGrpSpPr>
            <p:nvPr/>
          </p:nvGrpSpPr>
          <p:grpSpPr bwMode="auto">
            <a:xfrm>
              <a:off x="315" y="1678"/>
              <a:ext cx="1640" cy="396"/>
              <a:chOff x="315" y="1678"/>
              <a:chExt cx="1640" cy="396"/>
            </a:xfrm>
          </p:grpSpPr>
          <p:sp>
            <p:nvSpPr>
              <p:cNvPr id="21544" name="Rectangle 40"/>
              <p:cNvSpPr>
                <a:spLocks noChangeArrowheads="1"/>
              </p:cNvSpPr>
              <p:nvPr/>
            </p:nvSpPr>
            <p:spPr bwMode="auto">
              <a:xfrm>
                <a:off x="315" y="1678"/>
                <a:ext cx="1578" cy="375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1545" name="Group 41"/>
              <p:cNvGrpSpPr>
                <a:grpSpLocks/>
              </p:cNvGrpSpPr>
              <p:nvPr/>
            </p:nvGrpSpPr>
            <p:grpSpPr bwMode="auto">
              <a:xfrm>
                <a:off x="377" y="1740"/>
                <a:ext cx="1578" cy="334"/>
                <a:chOff x="377" y="1740"/>
                <a:chExt cx="1578" cy="334"/>
              </a:xfrm>
            </p:grpSpPr>
            <p:grpSp>
              <p:nvGrpSpPr>
                <p:cNvPr id="21546" name="Group 42"/>
                <p:cNvGrpSpPr>
                  <a:grpSpLocks/>
                </p:cNvGrpSpPr>
                <p:nvPr/>
              </p:nvGrpSpPr>
              <p:grpSpPr bwMode="auto">
                <a:xfrm>
                  <a:off x="377" y="1740"/>
                  <a:ext cx="939" cy="231"/>
                  <a:chOff x="377" y="1740"/>
                  <a:chExt cx="939" cy="231"/>
                </a:xfrm>
              </p:grpSpPr>
              <p:graphicFrame>
                <p:nvGraphicFramePr>
                  <p:cNvPr id="21548" name="Object 43"/>
                  <p:cNvGraphicFramePr>
                    <a:graphicFrameLocks noChangeAspect="1"/>
                  </p:cNvGraphicFramePr>
                  <p:nvPr/>
                </p:nvGraphicFramePr>
                <p:xfrm>
                  <a:off x="377" y="1740"/>
                  <a:ext cx="939" cy="2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5162" r:id="rId5" imgW="2209524" imgH="581106" progId="">
                          <p:embed/>
                        </p:oleObj>
                      </mc:Choice>
                      <mc:Fallback>
                        <p:oleObj r:id="rId5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7" y="1740"/>
                                <a:ext cx="939" cy="2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49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77" y="1740"/>
                    <a:ext cx="939" cy="231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47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1238" y="1745"/>
                  <a:ext cx="717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Virtualized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41" name="Group 46"/>
            <p:cNvGrpSpPr>
              <a:grpSpLocks/>
            </p:cNvGrpSpPr>
            <p:nvPr/>
          </p:nvGrpSpPr>
          <p:grpSpPr bwMode="auto">
            <a:xfrm>
              <a:off x="323" y="1257"/>
              <a:ext cx="1569" cy="354"/>
              <a:chOff x="323" y="1257"/>
              <a:chExt cx="1569" cy="354"/>
            </a:xfrm>
          </p:grpSpPr>
          <p:sp>
            <p:nvSpPr>
              <p:cNvPr id="21542" name="Rectangle 47"/>
              <p:cNvSpPr>
                <a:spLocks noChangeArrowheads="1"/>
              </p:cNvSpPr>
              <p:nvPr/>
            </p:nvSpPr>
            <p:spPr bwMode="auto">
              <a:xfrm>
                <a:off x="323" y="1257"/>
                <a:ext cx="1569" cy="336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543" name="Text Box 48"/>
              <p:cNvSpPr txBox="1">
                <a:spLocks noChangeArrowheads="1"/>
              </p:cNvSpPr>
              <p:nvPr/>
            </p:nvSpPr>
            <p:spPr bwMode="auto">
              <a:xfrm>
                <a:off x="669" y="1380"/>
                <a:ext cx="93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Guest OS</a:t>
                </a:r>
              </a:p>
            </p:txBody>
          </p:sp>
        </p:grpSp>
      </p:grpSp>
      <p:grpSp>
        <p:nvGrpSpPr>
          <p:cNvPr id="123" name="Group 73"/>
          <p:cNvGrpSpPr>
            <a:grpSpLocks/>
          </p:cNvGrpSpPr>
          <p:nvPr/>
        </p:nvGrpSpPr>
        <p:grpSpPr bwMode="auto">
          <a:xfrm>
            <a:off x="76200" y="4267200"/>
            <a:ext cx="5943600" cy="2133600"/>
            <a:chOff x="76200" y="4439528"/>
            <a:chExt cx="5943600" cy="2133600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76200" y="4439528"/>
              <a:ext cx="5943600" cy="21336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Times New Roman" pitchFamily="16" charset="0"/>
                <a:buNone/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grpSp>
          <p:nvGrpSpPr>
            <p:cNvPr id="21527" name="Group 62"/>
            <p:cNvGrpSpPr>
              <a:grpSpLocks/>
            </p:cNvGrpSpPr>
            <p:nvPr/>
          </p:nvGrpSpPr>
          <p:grpSpPr bwMode="auto">
            <a:xfrm>
              <a:off x="450850" y="5313363"/>
              <a:ext cx="5476875" cy="1114425"/>
              <a:chOff x="284" y="3347"/>
              <a:chExt cx="3450" cy="702"/>
            </a:xfrm>
          </p:grpSpPr>
          <p:sp>
            <p:nvSpPr>
              <p:cNvPr id="20508" name="Rectangle 2"/>
              <p:cNvSpPr>
                <a:spLocks noChangeArrowheads="1"/>
              </p:cNvSpPr>
              <p:nvPr/>
            </p:nvSpPr>
            <p:spPr bwMode="auto">
              <a:xfrm>
                <a:off x="284" y="3347"/>
                <a:ext cx="3450" cy="70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mtClean="0"/>
              </a:p>
            </p:txBody>
          </p:sp>
          <p:grpSp>
            <p:nvGrpSpPr>
              <p:cNvPr id="21533" name="Group 64"/>
              <p:cNvGrpSpPr>
                <a:grpSpLocks/>
              </p:cNvGrpSpPr>
              <p:nvPr/>
            </p:nvGrpSpPr>
            <p:grpSpPr bwMode="auto">
              <a:xfrm>
                <a:off x="376" y="3415"/>
                <a:ext cx="3297" cy="566"/>
                <a:chOff x="376" y="3415"/>
                <a:chExt cx="3297" cy="566"/>
              </a:xfrm>
            </p:grpSpPr>
            <p:grpSp>
              <p:nvGrpSpPr>
                <p:cNvPr id="21534" name="Group 65"/>
                <p:cNvGrpSpPr>
                  <a:grpSpLocks/>
                </p:cNvGrpSpPr>
                <p:nvPr/>
              </p:nvGrpSpPr>
              <p:grpSpPr bwMode="auto">
                <a:xfrm>
                  <a:off x="376" y="3415"/>
                  <a:ext cx="2517" cy="566"/>
                  <a:chOff x="376" y="3415"/>
                  <a:chExt cx="2517" cy="566"/>
                </a:xfrm>
              </p:grpSpPr>
              <p:graphicFrame>
                <p:nvGraphicFramePr>
                  <p:cNvPr id="21536" name="Object 5"/>
                  <p:cNvGraphicFramePr>
                    <a:graphicFrameLocks noChangeAspect="1"/>
                  </p:cNvGraphicFramePr>
                  <p:nvPr/>
                </p:nvGraphicFramePr>
                <p:xfrm>
                  <a:off x="376" y="3415"/>
                  <a:ext cx="2517" cy="56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5163" r:id="rId6" imgW="2209524" imgH="581106" progId="">
                          <p:embed/>
                        </p:oleObj>
                      </mc:Choice>
                      <mc:Fallback>
                        <p:oleObj r:id="rId6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6" y="3415"/>
                                <a:ext cx="2517" cy="56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37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376" y="3415"/>
                    <a:ext cx="2517" cy="566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3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893" y="3527"/>
                  <a:ext cx="780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Physical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28" name="Group 8"/>
            <p:cNvGrpSpPr>
              <a:grpSpLocks/>
            </p:cNvGrpSpPr>
            <p:nvPr/>
          </p:nvGrpSpPr>
          <p:grpSpPr bwMode="auto">
            <a:xfrm>
              <a:off x="457200" y="4511675"/>
              <a:ext cx="5470525" cy="646113"/>
              <a:chOff x="256" y="2842"/>
              <a:chExt cx="3478" cy="407"/>
            </a:xfrm>
          </p:grpSpPr>
          <p:sp>
            <p:nvSpPr>
              <p:cNvPr id="20506" name="Rectangle 9"/>
              <p:cNvSpPr>
                <a:spLocks noChangeArrowheads="1"/>
              </p:cNvSpPr>
              <p:nvPr/>
            </p:nvSpPr>
            <p:spPr bwMode="auto">
              <a:xfrm>
                <a:off x="256" y="2842"/>
                <a:ext cx="3478" cy="40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mtClean="0"/>
              </a:p>
            </p:txBody>
          </p:sp>
          <p:sp>
            <p:nvSpPr>
              <p:cNvPr id="21531" name="Text Box 10"/>
              <p:cNvSpPr txBox="1">
                <a:spLocks noChangeArrowheads="1"/>
              </p:cNvSpPr>
              <p:nvPr/>
            </p:nvSpPr>
            <p:spPr bwMode="auto">
              <a:xfrm>
                <a:off x="1022" y="2991"/>
                <a:ext cx="208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Host Operating System</a:t>
                </a:r>
              </a:p>
            </p:txBody>
          </p:sp>
        </p:grpSp>
        <p:sp>
          <p:nvSpPr>
            <p:cNvPr id="21529" name="TextBox 72"/>
            <p:cNvSpPr txBox="1">
              <a:spLocks noChangeArrowheads="1"/>
            </p:cNvSpPr>
            <p:nvPr/>
          </p:nvSpPr>
          <p:spPr bwMode="auto">
            <a:xfrm rot="-5400000">
              <a:off x="-522516" y="5301342"/>
              <a:ext cx="16002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/>
                <a:t>Blade Server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6253164" y="1066800"/>
            <a:ext cx="5873520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Virtualization simulates the interface to a physical object by</a:t>
            </a:r>
            <a:r>
              <a:rPr lang="en-US" sz="2400" b="1" dirty="0" smtClean="0"/>
              <a:t>:</a:t>
            </a:r>
          </a:p>
          <a:p>
            <a:r>
              <a:rPr lang="en-US" b="1" dirty="0" smtClean="0"/>
              <a:t> </a:t>
            </a:r>
          </a:p>
          <a:p>
            <a:pPr marL="342900" indent="-342900">
              <a:buAutoNum type="arabicPeriod"/>
            </a:pPr>
            <a:r>
              <a:rPr lang="en-US" b="1" dirty="0" smtClean="0"/>
              <a:t>Multiplexing</a:t>
            </a:r>
            <a:r>
              <a:rPr lang="en-US" b="1" dirty="0"/>
              <a:t>: </a:t>
            </a:r>
            <a:r>
              <a:rPr lang="en-US" dirty="0"/>
              <a:t>creates multiple virtual objects from one instance of a physical object. Many virtual objects to one physical. Example - a processor is multiplexed among a number of processes or threads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en-US" b="1" dirty="0" smtClean="0"/>
              <a:t>Aggregation</a:t>
            </a:r>
            <a:r>
              <a:rPr lang="en-US" b="1" dirty="0"/>
              <a:t>: </a:t>
            </a:r>
            <a:r>
              <a:rPr lang="en-US" dirty="0"/>
              <a:t>creates one virtual object from multiple physical objects. One virtual object to many physical objects. Example - a number of physical disks are aggregated into a RAID disk. </a:t>
            </a:r>
            <a:endParaRPr lang="en-US" dirty="0" smtClean="0"/>
          </a:p>
          <a:p>
            <a:endParaRPr lang="en-US" dirty="0"/>
          </a:p>
          <a:p>
            <a:pPr marL="342900" indent="-342900">
              <a:buFont typeface="+mj-lt"/>
              <a:buAutoNum type="arabicPeriod" startAt="3"/>
            </a:pPr>
            <a:r>
              <a:rPr lang="en-US" b="1" dirty="0" smtClean="0"/>
              <a:t>Emulation</a:t>
            </a:r>
            <a:r>
              <a:rPr lang="en-US" b="1" dirty="0"/>
              <a:t>: </a:t>
            </a:r>
            <a:r>
              <a:rPr lang="en-US" dirty="0"/>
              <a:t>constructs a virtual object of a certain type from a different type of a physical object. Example - a physical disk emulates a Random Access Memory (RAM). 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5500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What is Virtualization?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grpSp>
        <p:nvGrpSpPr>
          <p:cNvPr id="78" name="Group 11"/>
          <p:cNvGrpSpPr>
            <a:grpSpLocks/>
          </p:cNvGrpSpPr>
          <p:nvPr/>
        </p:nvGrpSpPr>
        <p:grpSpPr bwMode="auto">
          <a:xfrm>
            <a:off x="384175" y="3554413"/>
            <a:ext cx="5543550" cy="769937"/>
            <a:chOff x="242" y="2348"/>
            <a:chExt cx="3492" cy="485"/>
          </a:xfrm>
        </p:grpSpPr>
        <p:sp>
          <p:nvSpPr>
            <p:cNvPr id="21569" name="Rectangle 12"/>
            <p:cNvSpPr>
              <a:spLocks noChangeArrowheads="1"/>
            </p:cNvSpPr>
            <p:nvPr/>
          </p:nvSpPr>
          <p:spPr bwMode="auto">
            <a:xfrm>
              <a:off x="242" y="2348"/>
              <a:ext cx="3492" cy="407"/>
            </a:xfrm>
            <a:prstGeom prst="rect">
              <a:avLst/>
            </a:prstGeom>
            <a:solidFill>
              <a:srgbClr val="969696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0" name="Text Box 13"/>
            <p:cNvSpPr txBox="1">
              <a:spLocks noChangeArrowheads="1"/>
            </p:cNvSpPr>
            <p:nvPr/>
          </p:nvSpPr>
          <p:spPr bwMode="auto">
            <a:xfrm>
              <a:off x="1011" y="2426"/>
              <a:ext cx="2091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 Monitor</a:t>
              </a:r>
            </a:p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(Hypervisor)</a:t>
              </a:r>
            </a:p>
          </p:txBody>
        </p:sp>
      </p:grpSp>
      <p:grpSp>
        <p:nvGrpSpPr>
          <p:cNvPr id="84" name="Group 14"/>
          <p:cNvGrpSpPr>
            <a:grpSpLocks/>
          </p:cNvGrpSpPr>
          <p:nvPr/>
        </p:nvGrpSpPr>
        <p:grpSpPr bwMode="auto">
          <a:xfrm>
            <a:off x="1536700" y="985838"/>
            <a:ext cx="515938" cy="612775"/>
            <a:chOff x="968" y="730"/>
            <a:chExt cx="325" cy="386"/>
          </a:xfrm>
        </p:grpSpPr>
        <p:sp>
          <p:nvSpPr>
            <p:cNvPr id="21565" name="AutoShape 15"/>
            <p:cNvSpPr>
              <a:spLocks noChangeArrowheads="1"/>
            </p:cNvSpPr>
            <p:nvPr/>
          </p:nvSpPr>
          <p:spPr bwMode="auto">
            <a:xfrm>
              <a:off x="1127" y="730"/>
              <a:ext cx="127" cy="2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2211 w 21600"/>
                <a:gd name="T25" fmla="*/ 7692 h 21600"/>
                <a:gd name="T26" fmla="*/ 19219 w 21600"/>
                <a:gd name="T27" fmla="*/ 202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6625" y="20892"/>
                  </a:moveTo>
                  <a:lnTo>
                    <a:pt x="7105" y="21023"/>
                  </a:lnTo>
                  <a:lnTo>
                    <a:pt x="7513" y="21088"/>
                  </a:lnTo>
                  <a:lnTo>
                    <a:pt x="7922" y="21115"/>
                  </a:lnTo>
                  <a:lnTo>
                    <a:pt x="8242" y="21115"/>
                  </a:lnTo>
                  <a:lnTo>
                    <a:pt x="8544" y="21062"/>
                  </a:lnTo>
                  <a:lnTo>
                    <a:pt x="8810" y="20997"/>
                  </a:lnTo>
                  <a:lnTo>
                    <a:pt x="9023" y="20892"/>
                  </a:lnTo>
                  <a:lnTo>
                    <a:pt x="9148" y="20761"/>
                  </a:lnTo>
                  <a:lnTo>
                    <a:pt x="9290" y="20616"/>
                  </a:lnTo>
                  <a:lnTo>
                    <a:pt x="9361" y="20459"/>
                  </a:lnTo>
                  <a:lnTo>
                    <a:pt x="9396" y="20289"/>
                  </a:lnTo>
                  <a:lnTo>
                    <a:pt x="9396" y="20092"/>
                  </a:lnTo>
                  <a:lnTo>
                    <a:pt x="9325" y="19909"/>
                  </a:lnTo>
                  <a:lnTo>
                    <a:pt x="9219" y="19738"/>
                  </a:lnTo>
                  <a:lnTo>
                    <a:pt x="9094" y="19555"/>
                  </a:lnTo>
                  <a:lnTo>
                    <a:pt x="8917" y="19384"/>
                  </a:lnTo>
                  <a:lnTo>
                    <a:pt x="8650" y="19162"/>
                  </a:lnTo>
                  <a:lnTo>
                    <a:pt x="8437" y="18900"/>
                  </a:lnTo>
                  <a:lnTo>
                    <a:pt x="8277" y="18624"/>
                  </a:lnTo>
                  <a:lnTo>
                    <a:pt x="8135" y="18349"/>
                  </a:lnTo>
                  <a:lnTo>
                    <a:pt x="8028" y="18048"/>
                  </a:lnTo>
                  <a:lnTo>
                    <a:pt x="7993" y="17746"/>
                  </a:lnTo>
                  <a:lnTo>
                    <a:pt x="7993" y="17471"/>
                  </a:lnTo>
                  <a:lnTo>
                    <a:pt x="8028" y="17169"/>
                  </a:lnTo>
                  <a:lnTo>
                    <a:pt x="8135" y="16920"/>
                  </a:lnTo>
                  <a:lnTo>
                    <a:pt x="8277" y="16671"/>
                  </a:lnTo>
                  <a:lnTo>
                    <a:pt x="8366" y="16540"/>
                  </a:lnTo>
                  <a:lnTo>
                    <a:pt x="8473" y="16409"/>
                  </a:lnTo>
                  <a:lnTo>
                    <a:pt x="8615" y="16317"/>
                  </a:lnTo>
                  <a:lnTo>
                    <a:pt x="8739" y="16213"/>
                  </a:lnTo>
                  <a:lnTo>
                    <a:pt x="8881" y="16134"/>
                  </a:lnTo>
                  <a:lnTo>
                    <a:pt x="9059" y="16055"/>
                  </a:lnTo>
                  <a:lnTo>
                    <a:pt x="9254" y="15990"/>
                  </a:lnTo>
                  <a:lnTo>
                    <a:pt x="9432" y="15911"/>
                  </a:lnTo>
                  <a:lnTo>
                    <a:pt x="9663" y="15885"/>
                  </a:lnTo>
                  <a:lnTo>
                    <a:pt x="9876" y="15833"/>
                  </a:lnTo>
                  <a:lnTo>
                    <a:pt x="10142" y="15806"/>
                  </a:lnTo>
                  <a:lnTo>
                    <a:pt x="10391" y="15806"/>
                  </a:lnTo>
                  <a:lnTo>
                    <a:pt x="10728" y="15806"/>
                  </a:lnTo>
                  <a:lnTo>
                    <a:pt x="10995" y="15806"/>
                  </a:lnTo>
                  <a:lnTo>
                    <a:pt x="11279" y="15833"/>
                  </a:lnTo>
                  <a:lnTo>
                    <a:pt x="11546" y="15885"/>
                  </a:lnTo>
                  <a:lnTo>
                    <a:pt x="11776" y="15937"/>
                  </a:lnTo>
                  <a:lnTo>
                    <a:pt x="12025" y="15990"/>
                  </a:lnTo>
                  <a:lnTo>
                    <a:pt x="12221" y="16055"/>
                  </a:lnTo>
                  <a:lnTo>
                    <a:pt x="12434" y="16134"/>
                  </a:lnTo>
                  <a:lnTo>
                    <a:pt x="12611" y="16213"/>
                  </a:lnTo>
                  <a:lnTo>
                    <a:pt x="12771" y="16317"/>
                  </a:lnTo>
                  <a:lnTo>
                    <a:pt x="12913" y="16409"/>
                  </a:lnTo>
                  <a:lnTo>
                    <a:pt x="13038" y="16514"/>
                  </a:lnTo>
                  <a:lnTo>
                    <a:pt x="13251" y="16737"/>
                  </a:lnTo>
                  <a:lnTo>
                    <a:pt x="13428" y="16986"/>
                  </a:lnTo>
                  <a:lnTo>
                    <a:pt x="13517" y="17248"/>
                  </a:lnTo>
                  <a:lnTo>
                    <a:pt x="13588" y="17523"/>
                  </a:lnTo>
                  <a:lnTo>
                    <a:pt x="13588" y="17799"/>
                  </a:lnTo>
                  <a:lnTo>
                    <a:pt x="13517" y="18074"/>
                  </a:lnTo>
                  <a:lnTo>
                    <a:pt x="13428" y="18323"/>
                  </a:lnTo>
                  <a:lnTo>
                    <a:pt x="13286" y="18572"/>
                  </a:lnTo>
                  <a:lnTo>
                    <a:pt x="13109" y="18808"/>
                  </a:lnTo>
                  <a:lnTo>
                    <a:pt x="12878" y="19031"/>
                  </a:lnTo>
                  <a:lnTo>
                    <a:pt x="12434" y="19411"/>
                  </a:lnTo>
                  <a:lnTo>
                    <a:pt x="12132" y="19738"/>
                  </a:lnTo>
                  <a:lnTo>
                    <a:pt x="12025" y="19856"/>
                  </a:lnTo>
                  <a:lnTo>
                    <a:pt x="11919" y="20014"/>
                  </a:lnTo>
                  <a:lnTo>
                    <a:pt x="11883" y="20132"/>
                  </a:lnTo>
                  <a:lnTo>
                    <a:pt x="11883" y="20263"/>
                  </a:lnTo>
                  <a:lnTo>
                    <a:pt x="11883" y="20394"/>
                  </a:lnTo>
                  <a:lnTo>
                    <a:pt x="11954" y="20485"/>
                  </a:lnTo>
                  <a:lnTo>
                    <a:pt x="12061" y="20590"/>
                  </a:lnTo>
                  <a:lnTo>
                    <a:pt x="12185" y="20695"/>
                  </a:lnTo>
                  <a:lnTo>
                    <a:pt x="12327" y="20787"/>
                  </a:lnTo>
                  <a:lnTo>
                    <a:pt x="12540" y="20892"/>
                  </a:lnTo>
                  <a:lnTo>
                    <a:pt x="12771" y="20997"/>
                  </a:lnTo>
                  <a:lnTo>
                    <a:pt x="13073" y="21088"/>
                  </a:lnTo>
                  <a:lnTo>
                    <a:pt x="13428" y="21193"/>
                  </a:lnTo>
                  <a:lnTo>
                    <a:pt x="13873" y="21298"/>
                  </a:lnTo>
                  <a:lnTo>
                    <a:pt x="14317" y="21390"/>
                  </a:lnTo>
                  <a:lnTo>
                    <a:pt x="14778" y="21468"/>
                  </a:lnTo>
                  <a:lnTo>
                    <a:pt x="15294" y="21547"/>
                  </a:lnTo>
                  <a:lnTo>
                    <a:pt x="15809" y="21600"/>
                  </a:lnTo>
                  <a:lnTo>
                    <a:pt x="16359" y="21652"/>
                  </a:lnTo>
                  <a:lnTo>
                    <a:pt x="16875" y="21678"/>
                  </a:lnTo>
                  <a:lnTo>
                    <a:pt x="17407" y="21678"/>
                  </a:lnTo>
                  <a:lnTo>
                    <a:pt x="17958" y="21678"/>
                  </a:lnTo>
                  <a:lnTo>
                    <a:pt x="18473" y="21652"/>
                  </a:lnTo>
                  <a:lnTo>
                    <a:pt x="18953" y="21573"/>
                  </a:lnTo>
                  <a:lnTo>
                    <a:pt x="19397" y="21495"/>
                  </a:lnTo>
                  <a:lnTo>
                    <a:pt x="19841" y="21390"/>
                  </a:lnTo>
                  <a:lnTo>
                    <a:pt x="20214" y="21272"/>
                  </a:lnTo>
                  <a:lnTo>
                    <a:pt x="20551" y="21088"/>
                  </a:lnTo>
                  <a:lnTo>
                    <a:pt x="20480" y="20787"/>
                  </a:lnTo>
                  <a:lnTo>
                    <a:pt x="20409" y="20485"/>
                  </a:lnTo>
                  <a:lnTo>
                    <a:pt x="20356" y="20158"/>
                  </a:lnTo>
                  <a:lnTo>
                    <a:pt x="20356" y="19804"/>
                  </a:lnTo>
                  <a:lnTo>
                    <a:pt x="20321" y="19083"/>
                  </a:lnTo>
                  <a:lnTo>
                    <a:pt x="20356" y="18349"/>
                  </a:lnTo>
                  <a:lnTo>
                    <a:pt x="20409" y="17641"/>
                  </a:lnTo>
                  <a:lnTo>
                    <a:pt x="20480" y="17012"/>
                  </a:lnTo>
                  <a:lnTo>
                    <a:pt x="20551" y="16488"/>
                  </a:lnTo>
                  <a:lnTo>
                    <a:pt x="20551" y="16055"/>
                  </a:lnTo>
                  <a:lnTo>
                    <a:pt x="20551" y="15911"/>
                  </a:lnTo>
                  <a:lnTo>
                    <a:pt x="20445" y="15754"/>
                  </a:lnTo>
                  <a:lnTo>
                    <a:pt x="20356" y="15610"/>
                  </a:lnTo>
                  <a:lnTo>
                    <a:pt x="20178" y="15452"/>
                  </a:lnTo>
                  <a:lnTo>
                    <a:pt x="20001" y="15334"/>
                  </a:lnTo>
                  <a:lnTo>
                    <a:pt x="19770" y="15230"/>
                  </a:lnTo>
                  <a:lnTo>
                    <a:pt x="19521" y="15125"/>
                  </a:lnTo>
                  <a:lnTo>
                    <a:pt x="19290" y="15059"/>
                  </a:lnTo>
                  <a:lnTo>
                    <a:pt x="19024" y="15007"/>
                  </a:lnTo>
                  <a:lnTo>
                    <a:pt x="18740" y="14954"/>
                  </a:lnTo>
                  <a:lnTo>
                    <a:pt x="18509" y="14954"/>
                  </a:lnTo>
                  <a:lnTo>
                    <a:pt x="18225" y="14954"/>
                  </a:lnTo>
                  <a:lnTo>
                    <a:pt x="17994" y="15007"/>
                  </a:lnTo>
                  <a:lnTo>
                    <a:pt x="17763" y="15085"/>
                  </a:lnTo>
                  <a:lnTo>
                    <a:pt x="17550" y="15177"/>
                  </a:lnTo>
                  <a:lnTo>
                    <a:pt x="17372" y="15308"/>
                  </a:lnTo>
                  <a:lnTo>
                    <a:pt x="17176" y="15426"/>
                  </a:lnTo>
                  <a:lnTo>
                    <a:pt x="16928" y="15557"/>
                  </a:lnTo>
                  <a:lnTo>
                    <a:pt x="16661" y="15636"/>
                  </a:lnTo>
                  <a:lnTo>
                    <a:pt x="16359" y="15688"/>
                  </a:lnTo>
                  <a:lnTo>
                    <a:pt x="16022" y="15715"/>
                  </a:lnTo>
                  <a:lnTo>
                    <a:pt x="15667" y="15688"/>
                  </a:lnTo>
                  <a:lnTo>
                    <a:pt x="15294" y="15662"/>
                  </a:lnTo>
                  <a:lnTo>
                    <a:pt x="14956" y="15583"/>
                  </a:lnTo>
                  <a:lnTo>
                    <a:pt x="14619" y="15479"/>
                  </a:lnTo>
                  <a:lnTo>
                    <a:pt x="14281" y="15334"/>
                  </a:lnTo>
                  <a:lnTo>
                    <a:pt x="13961" y="15177"/>
                  </a:lnTo>
                  <a:lnTo>
                    <a:pt x="13695" y="14981"/>
                  </a:lnTo>
                  <a:lnTo>
                    <a:pt x="13588" y="14850"/>
                  </a:lnTo>
                  <a:lnTo>
                    <a:pt x="13482" y="14732"/>
                  </a:lnTo>
                  <a:lnTo>
                    <a:pt x="13393" y="14600"/>
                  </a:lnTo>
                  <a:lnTo>
                    <a:pt x="13322" y="14456"/>
                  </a:lnTo>
                  <a:lnTo>
                    <a:pt x="13251" y="14299"/>
                  </a:lnTo>
                  <a:lnTo>
                    <a:pt x="13215" y="14155"/>
                  </a:lnTo>
                  <a:lnTo>
                    <a:pt x="13180" y="13971"/>
                  </a:lnTo>
                  <a:lnTo>
                    <a:pt x="13180" y="13801"/>
                  </a:lnTo>
                  <a:lnTo>
                    <a:pt x="13180" y="13591"/>
                  </a:lnTo>
                  <a:lnTo>
                    <a:pt x="13215" y="13395"/>
                  </a:lnTo>
                  <a:lnTo>
                    <a:pt x="13251" y="13198"/>
                  </a:lnTo>
                  <a:lnTo>
                    <a:pt x="13322" y="13015"/>
                  </a:lnTo>
                  <a:lnTo>
                    <a:pt x="13393" y="12870"/>
                  </a:lnTo>
                  <a:lnTo>
                    <a:pt x="13482" y="12713"/>
                  </a:lnTo>
                  <a:lnTo>
                    <a:pt x="13588" y="12569"/>
                  </a:lnTo>
                  <a:lnTo>
                    <a:pt x="13730" y="12438"/>
                  </a:lnTo>
                  <a:lnTo>
                    <a:pt x="13997" y="12215"/>
                  </a:lnTo>
                  <a:lnTo>
                    <a:pt x="14334" y="12005"/>
                  </a:lnTo>
                  <a:lnTo>
                    <a:pt x="14690" y="11861"/>
                  </a:lnTo>
                  <a:lnTo>
                    <a:pt x="15063" y="11756"/>
                  </a:lnTo>
                  <a:lnTo>
                    <a:pt x="15436" y="11678"/>
                  </a:lnTo>
                  <a:lnTo>
                    <a:pt x="15809" y="11638"/>
                  </a:lnTo>
                  <a:lnTo>
                    <a:pt x="16182" y="11638"/>
                  </a:lnTo>
                  <a:lnTo>
                    <a:pt x="16555" y="11678"/>
                  </a:lnTo>
                  <a:lnTo>
                    <a:pt x="16910" y="11730"/>
                  </a:lnTo>
                  <a:lnTo>
                    <a:pt x="17248" y="11835"/>
                  </a:lnTo>
                  <a:lnTo>
                    <a:pt x="17514" y="11966"/>
                  </a:lnTo>
                  <a:lnTo>
                    <a:pt x="17763" y="12110"/>
                  </a:lnTo>
                  <a:lnTo>
                    <a:pt x="17887" y="12215"/>
                  </a:lnTo>
                  <a:lnTo>
                    <a:pt x="18065" y="12307"/>
                  </a:lnTo>
                  <a:lnTo>
                    <a:pt x="18260" y="12412"/>
                  </a:lnTo>
                  <a:lnTo>
                    <a:pt x="18438" y="12464"/>
                  </a:lnTo>
                  <a:lnTo>
                    <a:pt x="18669" y="12543"/>
                  </a:lnTo>
                  <a:lnTo>
                    <a:pt x="18882" y="12569"/>
                  </a:lnTo>
                  <a:lnTo>
                    <a:pt x="19113" y="12595"/>
                  </a:lnTo>
                  <a:lnTo>
                    <a:pt x="19361" y="12608"/>
                  </a:lnTo>
                  <a:lnTo>
                    <a:pt x="19592" y="12608"/>
                  </a:lnTo>
                  <a:lnTo>
                    <a:pt x="19841" y="12595"/>
                  </a:lnTo>
                  <a:lnTo>
                    <a:pt x="20072" y="12543"/>
                  </a:lnTo>
                  <a:lnTo>
                    <a:pt x="20321" y="12490"/>
                  </a:lnTo>
                  <a:lnTo>
                    <a:pt x="20551" y="12438"/>
                  </a:lnTo>
                  <a:lnTo>
                    <a:pt x="20800" y="12333"/>
                  </a:lnTo>
                  <a:lnTo>
                    <a:pt x="20996" y="12241"/>
                  </a:lnTo>
                  <a:lnTo>
                    <a:pt x="21244" y="12110"/>
                  </a:lnTo>
                  <a:lnTo>
                    <a:pt x="21298" y="12032"/>
                  </a:lnTo>
                  <a:lnTo>
                    <a:pt x="21404" y="11966"/>
                  </a:lnTo>
                  <a:lnTo>
                    <a:pt x="21475" y="11861"/>
                  </a:lnTo>
                  <a:lnTo>
                    <a:pt x="21511" y="11730"/>
                  </a:lnTo>
                  <a:lnTo>
                    <a:pt x="21617" y="11481"/>
                  </a:lnTo>
                  <a:lnTo>
                    <a:pt x="21653" y="11180"/>
                  </a:lnTo>
                  <a:lnTo>
                    <a:pt x="21653" y="10826"/>
                  </a:lnTo>
                  <a:lnTo>
                    <a:pt x="21653" y="10472"/>
                  </a:lnTo>
                  <a:lnTo>
                    <a:pt x="21582" y="10092"/>
                  </a:lnTo>
                  <a:lnTo>
                    <a:pt x="21511" y="9725"/>
                  </a:lnTo>
                  <a:lnTo>
                    <a:pt x="21298" y="8912"/>
                  </a:lnTo>
                  <a:lnTo>
                    <a:pt x="21067" y="8191"/>
                  </a:lnTo>
                  <a:lnTo>
                    <a:pt x="20800" y="7536"/>
                  </a:lnTo>
                  <a:lnTo>
                    <a:pt x="20551" y="7025"/>
                  </a:lnTo>
                  <a:lnTo>
                    <a:pt x="20001" y="7103"/>
                  </a:lnTo>
                  <a:lnTo>
                    <a:pt x="19432" y="7156"/>
                  </a:lnTo>
                  <a:lnTo>
                    <a:pt x="18846" y="7208"/>
                  </a:lnTo>
                  <a:lnTo>
                    <a:pt x="18225" y="7208"/>
                  </a:lnTo>
                  <a:lnTo>
                    <a:pt x="17656" y="7208"/>
                  </a:lnTo>
                  <a:lnTo>
                    <a:pt x="17070" y="7182"/>
                  </a:lnTo>
                  <a:lnTo>
                    <a:pt x="16484" y="7156"/>
                  </a:lnTo>
                  <a:lnTo>
                    <a:pt x="15986" y="7103"/>
                  </a:lnTo>
                  <a:lnTo>
                    <a:pt x="14992" y="6999"/>
                  </a:lnTo>
                  <a:lnTo>
                    <a:pt x="14210" y="6907"/>
                  </a:lnTo>
                  <a:lnTo>
                    <a:pt x="13695" y="6828"/>
                  </a:lnTo>
                  <a:lnTo>
                    <a:pt x="13517" y="6802"/>
                  </a:lnTo>
                  <a:lnTo>
                    <a:pt x="13073" y="6645"/>
                  </a:lnTo>
                  <a:lnTo>
                    <a:pt x="12700" y="6474"/>
                  </a:lnTo>
                  <a:lnTo>
                    <a:pt x="12363" y="6304"/>
                  </a:lnTo>
                  <a:lnTo>
                    <a:pt x="12132" y="6094"/>
                  </a:lnTo>
                  <a:lnTo>
                    <a:pt x="11919" y="5871"/>
                  </a:lnTo>
                  <a:lnTo>
                    <a:pt x="11776" y="5649"/>
                  </a:lnTo>
                  <a:lnTo>
                    <a:pt x="11688" y="5413"/>
                  </a:lnTo>
                  <a:lnTo>
                    <a:pt x="11617" y="5190"/>
                  </a:lnTo>
                  <a:lnTo>
                    <a:pt x="11617" y="4941"/>
                  </a:lnTo>
                  <a:lnTo>
                    <a:pt x="11652" y="4718"/>
                  </a:lnTo>
                  <a:lnTo>
                    <a:pt x="11723" y="4482"/>
                  </a:lnTo>
                  <a:lnTo>
                    <a:pt x="11812" y="4285"/>
                  </a:lnTo>
                  <a:lnTo>
                    <a:pt x="11919" y="4089"/>
                  </a:lnTo>
                  <a:lnTo>
                    <a:pt x="12096" y="3905"/>
                  </a:lnTo>
                  <a:lnTo>
                    <a:pt x="12292" y="3735"/>
                  </a:lnTo>
                  <a:lnTo>
                    <a:pt x="12505" y="3604"/>
                  </a:lnTo>
                  <a:lnTo>
                    <a:pt x="12700" y="3460"/>
                  </a:lnTo>
                  <a:lnTo>
                    <a:pt x="12878" y="3250"/>
                  </a:lnTo>
                  <a:lnTo>
                    <a:pt x="13038" y="3027"/>
                  </a:lnTo>
                  <a:lnTo>
                    <a:pt x="13180" y="2752"/>
                  </a:lnTo>
                  <a:lnTo>
                    <a:pt x="13286" y="2477"/>
                  </a:lnTo>
                  <a:lnTo>
                    <a:pt x="13322" y="2175"/>
                  </a:lnTo>
                  <a:lnTo>
                    <a:pt x="13357" y="1874"/>
                  </a:lnTo>
                  <a:lnTo>
                    <a:pt x="13286" y="1572"/>
                  </a:lnTo>
                  <a:lnTo>
                    <a:pt x="13180" y="1271"/>
                  </a:lnTo>
                  <a:lnTo>
                    <a:pt x="13038" y="983"/>
                  </a:lnTo>
                  <a:lnTo>
                    <a:pt x="12949" y="865"/>
                  </a:lnTo>
                  <a:lnTo>
                    <a:pt x="12807" y="733"/>
                  </a:lnTo>
                  <a:lnTo>
                    <a:pt x="12665" y="616"/>
                  </a:lnTo>
                  <a:lnTo>
                    <a:pt x="12505" y="511"/>
                  </a:lnTo>
                  <a:lnTo>
                    <a:pt x="12327" y="406"/>
                  </a:lnTo>
                  <a:lnTo>
                    <a:pt x="12132" y="314"/>
                  </a:lnTo>
                  <a:lnTo>
                    <a:pt x="11883" y="235"/>
                  </a:lnTo>
                  <a:lnTo>
                    <a:pt x="11652" y="183"/>
                  </a:lnTo>
                  <a:lnTo>
                    <a:pt x="11368" y="104"/>
                  </a:lnTo>
                  <a:lnTo>
                    <a:pt x="11101" y="78"/>
                  </a:lnTo>
                  <a:lnTo>
                    <a:pt x="10800" y="52"/>
                  </a:lnTo>
                  <a:lnTo>
                    <a:pt x="10444" y="52"/>
                  </a:lnTo>
                  <a:lnTo>
                    <a:pt x="10142" y="52"/>
                  </a:lnTo>
                  <a:lnTo>
                    <a:pt x="9840" y="78"/>
                  </a:lnTo>
                  <a:lnTo>
                    <a:pt x="9574" y="104"/>
                  </a:lnTo>
                  <a:lnTo>
                    <a:pt x="9325" y="157"/>
                  </a:lnTo>
                  <a:lnTo>
                    <a:pt x="9094" y="209"/>
                  </a:lnTo>
                  <a:lnTo>
                    <a:pt x="8846" y="262"/>
                  </a:lnTo>
                  <a:lnTo>
                    <a:pt x="8650" y="340"/>
                  </a:lnTo>
                  <a:lnTo>
                    <a:pt x="8437" y="432"/>
                  </a:lnTo>
                  <a:lnTo>
                    <a:pt x="8277" y="511"/>
                  </a:lnTo>
                  <a:lnTo>
                    <a:pt x="8100" y="616"/>
                  </a:lnTo>
                  <a:lnTo>
                    <a:pt x="7957" y="707"/>
                  </a:lnTo>
                  <a:lnTo>
                    <a:pt x="7833" y="838"/>
                  </a:lnTo>
                  <a:lnTo>
                    <a:pt x="7620" y="1061"/>
                  </a:lnTo>
                  <a:lnTo>
                    <a:pt x="7442" y="1336"/>
                  </a:lnTo>
                  <a:lnTo>
                    <a:pt x="7353" y="1599"/>
                  </a:lnTo>
                  <a:lnTo>
                    <a:pt x="7318" y="1900"/>
                  </a:lnTo>
                  <a:lnTo>
                    <a:pt x="7318" y="2175"/>
                  </a:lnTo>
                  <a:lnTo>
                    <a:pt x="7353" y="2450"/>
                  </a:lnTo>
                  <a:lnTo>
                    <a:pt x="7442" y="2726"/>
                  </a:lnTo>
                  <a:lnTo>
                    <a:pt x="7620" y="2975"/>
                  </a:lnTo>
                  <a:lnTo>
                    <a:pt x="7833" y="3198"/>
                  </a:lnTo>
                  <a:lnTo>
                    <a:pt x="8064" y="3433"/>
                  </a:lnTo>
                  <a:lnTo>
                    <a:pt x="8295" y="3630"/>
                  </a:lnTo>
                  <a:lnTo>
                    <a:pt x="8508" y="3853"/>
                  </a:lnTo>
                  <a:lnTo>
                    <a:pt x="8686" y="4089"/>
                  </a:lnTo>
                  <a:lnTo>
                    <a:pt x="8775" y="4312"/>
                  </a:lnTo>
                  <a:lnTo>
                    <a:pt x="8846" y="4561"/>
                  </a:lnTo>
                  <a:lnTo>
                    <a:pt x="8846" y="4810"/>
                  </a:lnTo>
                  <a:lnTo>
                    <a:pt x="8810" y="5059"/>
                  </a:lnTo>
                  <a:lnTo>
                    <a:pt x="8721" y="5295"/>
                  </a:lnTo>
                  <a:lnTo>
                    <a:pt x="8579" y="5544"/>
                  </a:lnTo>
                  <a:lnTo>
                    <a:pt x="8366" y="5766"/>
                  </a:lnTo>
                  <a:lnTo>
                    <a:pt x="8135" y="5976"/>
                  </a:lnTo>
                  <a:lnTo>
                    <a:pt x="7833" y="6199"/>
                  </a:lnTo>
                  <a:lnTo>
                    <a:pt x="7478" y="6369"/>
                  </a:lnTo>
                  <a:lnTo>
                    <a:pt x="7069" y="6527"/>
                  </a:lnTo>
                  <a:lnTo>
                    <a:pt x="6590" y="6671"/>
                  </a:lnTo>
                  <a:lnTo>
                    <a:pt x="6092" y="6802"/>
                  </a:lnTo>
                  <a:lnTo>
                    <a:pt x="5684" y="6802"/>
                  </a:lnTo>
                  <a:lnTo>
                    <a:pt x="5133" y="6802"/>
                  </a:lnTo>
                  <a:lnTo>
                    <a:pt x="4547" y="6802"/>
                  </a:lnTo>
                  <a:lnTo>
                    <a:pt x="3872" y="6802"/>
                  </a:lnTo>
                  <a:lnTo>
                    <a:pt x="3144" y="6802"/>
                  </a:lnTo>
                  <a:lnTo>
                    <a:pt x="2362" y="6802"/>
                  </a:lnTo>
                  <a:lnTo>
                    <a:pt x="1545" y="6802"/>
                  </a:lnTo>
                  <a:lnTo>
                    <a:pt x="692" y="6802"/>
                  </a:lnTo>
                  <a:lnTo>
                    <a:pt x="586" y="7234"/>
                  </a:lnTo>
                  <a:lnTo>
                    <a:pt x="461" y="7837"/>
                  </a:lnTo>
                  <a:lnTo>
                    <a:pt x="355" y="8493"/>
                  </a:lnTo>
                  <a:lnTo>
                    <a:pt x="248" y="9187"/>
                  </a:lnTo>
                  <a:lnTo>
                    <a:pt x="142" y="9869"/>
                  </a:lnTo>
                  <a:lnTo>
                    <a:pt x="106" y="10498"/>
                  </a:lnTo>
                  <a:lnTo>
                    <a:pt x="106" y="10983"/>
                  </a:lnTo>
                  <a:lnTo>
                    <a:pt x="106" y="11311"/>
                  </a:lnTo>
                  <a:lnTo>
                    <a:pt x="213" y="11481"/>
                  </a:lnTo>
                  <a:lnTo>
                    <a:pt x="319" y="11651"/>
                  </a:lnTo>
                  <a:lnTo>
                    <a:pt x="497" y="11783"/>
                  </a:lnTo>
                  <a:lnTo>
                    <a:pt x="692" y="11914"/>
                  </a:lnTo>
                  <a:lnTo>
                    <a:pt x="941" y="12032"/>
                  </a:lnTo>
                  <a:lnTo>
                    <a:pt x="1207" y="12110"/>
                  </a:lnTo>
                  <a:lnTo>
                    <a:pt x="1509" y="12189"/>
                  </a:lnTo>
                  <a:lnTo>
                    <a:pt x="1794" y="12241"/>
                  </a:lnTo>
                  <a:lnTo>
                    <a:pt x="2131" y="12267"/>
                  </a:lnTo>
                  <a:lnTo>
                    <a:pt x="2433" y="12281"/>
                  </a:lnTo>
                  <a:lnTo>
                    <a:pt x="2735" y="12267"/>
                  </a:lnTo>
                  <a:lnTo>
                    <a:pt x="3055" y="12241"/>
                  </a:lnTo>
                  <a:lnTo>
                    <a:pt x="3357" y="12189"/>
                  </a:lnTo>
                  <a:lnTo>
                    <a:pt x="3623" y="12084"/>
                  </a:lnTo>
                  <a:lnTo>
                    <a:pt x="3872" y="11979"/>
                  </a:lnTo>
                  <a:lnTo>
                    <a:pt x="4103" y="11861"/>
                  </a:lnTo>
                  <a:lnTo>
                    <a:pt x="4316" y="11704"/>
                  </a:lnTo>
                  <a:lnTo>
                    <a:pt x="4582" y="11612"/>
                  </a:lnTo>
                  <a:lnTo>
                    <a:pt x="4849" y="11533"/>
                  </a:lnTo>
                  <a:lnTo>
                    <a:pt x="5169" y="11507"/>
                  </a:lnTo>
                  <a:lnTo>
                    <a:pt x="5506" y="11481"/>
                  </a:lnTo>
                  <a:lnTo>
                    <a:pt x="5808" y="11507"/>
                  </a:lnTo>
                  <a:lnTo>
                    <a:pt x="6146" y="11560"/>
                  </a:lnTo>
                  <a:lnTo>
                    <a:pt x="6501" y="11651"/>
                  </a:lnTo>
                  <a:lnTo>
                    <a:pt x="6803" y="11783"/>
                  </a:lnTo>
                  <a:lnTo>
                    <a:pt x="7105" y="11940"/>
                  </a:lnTo>
                  <a:lnTo>
                    <a:pt x="7353" y="12110"/>
                  </a:lnTo>
                  <a:lnTo>
                    <a:pt x="7584" y="12333"/>
                  </a:lnTo>
                  <a:lnTo>
                    <a:pt x="7798" y="12595"/>
                  </a:lnTo>
                  <a:lnTo>
                    <a:pt x="7922" y="12870"/>
                  </a:lnTo>
                  <a:lnTo>
                    <a:pt x="8028" y="13198"/>
                  </a:lnTo>
                  <a:lnTo>
                    <a:pt x="8064" y="13526"/>
                  </a:lnTo>
                  <a:lnTo>
                    <a:pt x="8028" y="13775"/>
                  </a:lnTo>
                  <a:lnTo>
                    <a:pt x="7922" y="13998"/>
                  </a:lnTo>
                  <a:lnTo>
                    <a:pt x="7798" y="14220"/>
                  </a:lnTo>
                  <a:lnTo>
                    <a:pt x="7584" y="14404"/>
                  </a:lnTo>
                  <a:lnTo>
                    <a:pt x="7353" y="14574"/>
                  </a:lnTo>
                  <a:lnTo>
                    <a:pt x="7105" y="14732"/>
                  </a:lnTo>
                  <a:lnTo>
                    <a:pt x="6803" y="14850"/>
                  </a:lnTo>
                  <a:lnTo>
                    <a:pt x="6501" y="14954"/>
                  </a:lnTo>
                  <a:lnTo>
                    <a:pt x="6146" y="15033"/>
                  </a:lnTo>
                  <a:lnTo>
                    <a:pt x="5808" y="15085"/>
                  </a:lnTo>
                  <a:lnTo>
                    <a:pt x="5506" y="15085"/>
                  </a:lnTo>
                  <a:lnTo>
                    <a:pt x="5169" y="15059"/>
                  </a:lnTo>
                  <a:lnTo>
                    <a:pt x="4849" y="15007"/>
                  </a:lnTo>
                  <a:lnTo>
                    <a:pt x="4582" y="14902"/>
                  </a:lnTo>
                  <a:lnTo>
                    <a:pt x="4316" y="14784"/>
                  </a:lnTo>
                  <a:lnTo>
                    <a:pt x="4103" y="14600"/>
                  </a:lnTo>
                  <a:lnTo>
                    <a:pt x="3907" y="14430"/>
                  </a:lnTo>
                  <a:lnTo>
                    <a:pt x="3659" y="14299"/>
                  </a:lnTo>
                  <a:lnTo>
                    <a:pt x="3428" y="14194"/>
                  </a:lnTo>
                  <a:lnTo>
                    <a:pt x="3179" y="14129"/>
                  </a:lnTo>
                  <a:lnTo>
                    <a:pt x="2913" y="14102"/>
                  </a:lnTo>
                  <a:lnTo>
                    <a:pt x="2646" y="14102"/>
                  </a:lnTo>
                  <a:lnTo>
                    <a:pt x="2362" y="14129"/>
                  </a:lnTo>
                  <a:lnTo>
                    <a:pt x="2096" y="14168"/>
                  </a:lnTo>
                  <a:lnTo>
                    <a:pt x="1811" y="14273"/>
                  </a:lnTo>
                  <a:lnTo>
                    <a:pt x="1545" y="14378"/>
                  </a:lnTo>
                  <a:lnTo>
                    <a:pt x="1314" y="14496"/>
                  </a:lnTo>
                  <a:lnTo>
                    <a:pt x="1065" y="14653"/>
                  </a:lnTo>
                  <a:lnTo>
                    <a:pt x="870" y="14797"/>
                  </a:lnTo>
                  <a:lnTo>
                    <a:pt x="657" y="14981"/>
                  </a:lnTo>
                  <a:lnTo>
                    <a:pt x="497" y="15177"/>
                  </a:lnTo>
                  <a:lnTo>
                    <a:pt x="390" y="15413"/>
                  </a:lnTo>
                  <a:lnTo>
                    <a:pt x="284" y="15636"/>
                  </a:lnTo>
                  <a:lnTo>
                    <a:pt x="248" y="15911"/>
                  </a:lnTo>
                  <a:lnTo>
                    <a:pt x="284" y="16239"/>
                  </a:lnTo>
                  <a:lnTo>
                    <a:pt x="319" y="16566"/>
                  </a:lnTo>
                  <a:lnTo>
                    <a:pt x="497" y="17340"/>
                  </a:lnTo>
                  <a:lnTo>
                    <a:pt x="692" y="18152"/>
                  </a:lnTo>
                  <a:lnTo>
                    <a:pt x="799" y="18559"/>
                  </a:lnTo>
                  <a:lnTo>
                    <a:pt x="905" y="18978"/>
                  </a:lnTo>
                  <a:lnTo>
                    <a:pt x="959" y="19384"/>
                  </a:lnTo>
                  <a:lnTo>
                    <a:pt x="994" y="19791"/>
                  </a:lnTo>
                  <a:lnTo>
                    <a:pt x="994" y="20132"/>
                  </a:lnTo>
                  <a:lnTo>
                    <a:pt x="959" y="20485"/>
                  </a:lnTo>
                  <a:lnTo>
                    <a:pt x="941" y="20669"/>
                  </a:lnTo>
                  <a:lnTo>
                    <a:pt x="870" y="20813"/>
                  </a:lnTo>
                  <a:lnTo>
                    <a:pt x="799" y="20970"/>
                  </a:lnTo>
                  <a:lnTo>
                    <a:pt x="692" y="21088"/>
                  </a:lnTo>
                  <a:lnTo>
                    <a:pt x="1474" y="20997"/>
                  </a:lnTo>
                  <a:lnTo>
                    <a:pt x="2291" y="20866"/>
                  </a:lnTo>
                  <a:lnTo>
                    <a:pt x="3108" y="20787"/>
                  </a:lnTo>
                  <a:lnTo>
                    <a:pt x="3907" y="20721"/>
                  </a:lnTo>
                  <a:lnTo>
                    <a:pt x="4653" y="20695"/>
                  </a:lnTo>
                  <a:lnTo>
                    <a:pt x="5364" y="20695"/>
                  </a:lnTo>
                  <a:lnTo>
                    <a:pt x="5701" y="20721"/>
                  </a:lnTo>
                  <a:lnTo>
                    <a:pt x="6057" y="20761"/>
                  </a:lnTo>
                  <a:lnTo>
                    <a:pt x="6323" y="20813"/>
                  </a:lnTo>
                  <a:lnTo>
                    <a:pt x="6625" y="20892"/>
                  </a:lnTo>
                  <a:close/>
                </a:path>
              </a:pathLst>
            </a:custGeom>
            <a:solidFill>
              <a:srgbClr val="FFBE7D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6" name="AutoShape 16"/>
            <p:cNvSpPr>
              <a:spLocks noChangeArrowheads="1"/>
            </p:cNvSpPr>
            <p:nvPr/>
          </p:nvSpPr>
          <p:spPr bwMode="auto">
            <a:xfrm>
              <a:off x="1089" y="880"/>
              <a:ext cx="204" cy="1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5400 w 21600"/>
                <a:gd name="T25" fmla="*/ 6735 h 21600"/>
                <a:gd name="T26" fmla="*/ 16200 w 21600"/>
                <a:gd name="T27" fmla="*/ 20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4247" y="12354"/>
                  </a:moveTo>
                  <a:lnTo>
                    <a:pt x="4134" y="12468"/>
                  </a:lnTo>
                  <a:lnTo>
                    <a:pt x="4010" y="12581"/>
                  </a:lnTo>
                  <a:lnTo>
                    <a:pt x="3897" y="12637"/>
                  </a:lnTo>
                  <a:lnTo>
                    <a:pt x="3773" y="12694"/>
                  </a:lnTo>
                  <a:lnTo>
                    <a:pt x="3637" y="12694"/>
                  </a:lnTo>
                  <a:lnTo>
                    <a:pt x="3524" y="12694"/>
                  </a:lnTo>
                  <a:lnTo>
                    <a:pt x="3400" y="12665"/>
                  </a:lnTo>
                  <a:lnTo>
                    <a:pt x="3287" y="12609"/>
                  </a:lnTo>
                  <a:lnTo>
                    <a:pt x="3027" y="12496"/>
                  </a:lnTo>
                  <a:lnTo>
                    <a:pt x="2790" y="12340"/>
                  </a:lnTo>
                  <a:lnTo>
                    <a:pt x="2530" y="12142"/>
                  </a:lnTo>
                  <a:lnTo>
                    <a:pt x="2293" y="11987"/>
                  </a:lnTo>
                  <a:lnTo>
                    <a:pt x="2033" y="11817"/>
                  </a:lnTo>
                  <a:lnTo>
                    <a:pt x="1773" y="11676"/>
                  </a:lnTo>
                  <a:lnTo>
                    <a:pt x="1638" y="11662"/>
                  </a:lnTo>
                  <a:lnTo>
                    <a:pt x="1513" y="11634"/>
                  </a:lnTo>
                  <a:lnTo>
                    <a:pt x="1378" y="11634"/>
                  </a:lnTo>
                  <a:lnTo>
                    <a:pt x="1253" y="11634"/>
                  </a:lnTo>
                  <a:lnTo>
                    <a:pt x="1118" y="11662"/>
                  </a:lnTo>
                  <a:lnTo>
                    <a:pt x="971" y="11732"/>
                  </a:lnTo>
                  <a:lnTo>
                    <a:pt x="835" y="11817"/>
                  </a:lnTo>
                  <a:lnTo>
                    <a:pt x="711" y="11959"/>
                  </a:lnTo>
                  <a:lnTo>
                    <a:pt x="553" y="12086"/>
                  </a:lnTo>
                  <a:lnTo>
                    <a:pt x="429" y="12284"/>
                  </a:lnTo>
                  <a:lnTo>
                    <a:pt x="271" y="12524"/>
                  </a:lnTo>
                  <a:lnTo>
                    <a:pt x="146" y="12793"/>
                  </a:lnTo>
                  <a:lnTo>
                    <a:pt x="79" y="12962"/>
                  </a:lnTo>
                  <a:lnTo>
                    <a:pt x="33" y="13146"/>
                  </a:lnTo>
                  <a:lnTo>
                    <a:pt x="11" y="13386"/>
                  </a:lnTo>
                  <a:lnTo>
                    <a:pt x="11" y="13641"/>
                  </a:lnTo>
                  <a:lnTo>
                    <a:pt x="33" y="13881"/>
                  </a:lnTo>
                  <a:lnTo>
                    <a:pt x="101" y="14150"/>
                  </a:lnTo>
                  <a:lnTo>
                    <a:pt x="192" y="14404"/>
                  </a:lnTo>
                  <a:lnTo>
                    <a:pt x="293" y="14645"/>
                  </a:lnTo>
                  <a:lnTo>
                    <a:pt x="451" y="14857"/>
                  </a:lnTo>
                  <a:lnTo>
                    <a:pt x="621" y="15054"/>
                  </a:lnTo>
                  <a:lnTo>
                    <a:pt x="734" y="15125"/>
                  </a:lnTo>
                  <a:lnTo>
                    <a:pt x="835" y="15210"/>
                  </a:lnTo>
                  <a:lnTo>
                    <a:pt x="948" y="15267"/>
                  </a:lnTo>
                  <a:lnTo>
                    <a:pt x="1084" y="15323"/>
                  </a:lnTo>
                  <a:lnTo>
                    <a:pt x="1208" y="15351"/>
                  </a:lnTo>
                  <a:lnTo>
                    <a:pt x="1355" y="15380"/>
                  </a:lnTo>
                  <a:lnTo>
                    <a:pt x="1513" y="15380"/>
                  </a:lnTo>
                  <a:lnTo>
                    <a:pt x="1683" y="15380"/>
                  </a:lnTo>
                  <a:lnTo>
                    <a:pt x="1864" y="15351"/>
                  </a:lnTo>
                  <a:lnTo>
                    <a:pt x="2033" y="15323"/>
                  </a:lnTo>
                  <a:lnTo>
                    <a:pt x="2225" y="15238"/>
                  </a:lnTo>
                  <a:lnTo>
                    <a:pt x="2428" y="15153"/>
                  </a:lnTo>
                  <a:lnTo>
                    <a:pt x="2745" y="15026"/>
                  </a:lnTo>
                  <a:lnTo>
                    <a:pt x="3005" y="14913"/>
                  </a:lnTo>
                  <a:lnTo>
                    <a:pt x="3264" y="14828"/>
                  </a:lnTo>
                  <a:lnTo>
                    <a:pt x="3513" y="14800"/>
                  </a:lnTo>
                  <a:lnTo>
                    <a:pt x="3615" y="14828"/>
                  </a:lnTo>
                  <a:lnTo>
                    <a:pt x="3728" y="14857"/>
                  </a:lnTo>
                  <a:lnTo>
                    <a:pt x="3807" y="14913"/>
                  </a:lnTo>
                  <a:lnTo>
                    <a:pt x="3920" y="14998"/>
                  </a:lnTo>
                  <a:lnTo>
                    <a:pt x="4010" y="15097"/>
                  </a:lnTo>
                  <a:lnTo>
                    <a:pt x="4089" y="15238"/>
                  </a:lnTo>
                  <a:lnTo>
                    <a:pt x="4179" y="15408"/>
                  </a:lnTo>
                  <a:lnTo>
                    <a:pt x="4247" y="15620"/>
                  </a:lnTo>
                  <a:lnTo>
                    <a:pt x="4326" y="15860"/>
                  </a:lnTo>
                  <a:lnTo>
                    <a:pt x="4394" y="16129"/>
                  </a:lnTo>
                  <a:lnTo>
                    <a:pt x="4439" y="16440"/>
                  </a:lnTo>
                  <a:lnTo>
                    <a:pt x="4507" y="16737"/>
                  </a:lnTo>
                  <a:lnTo>
                    <a:pt x="4552" y="17090"/>
                  </a:lnTo>
                  <a:lnTo>
                    <a:pt x="4575" y="17443"/>
                  </a:lnTo>
                  <a:lnTo>
                    <a:pt x="4586" y="17825"/>
                  </a:lnTo>
                  <a:lnTo>
                    <a:pt x="4586" y="18193"/>
                  </a:lnTo>
                  <a:lnTo>
                    <a:pt x="4586" y="18574"/>
                  </a:lnTo>
                  <a:lnTo>
                    <a:pt x="4586" y="18984"/>
                  </a:lnTo>
                  <a:lnTo>
                    <a:pt x="4552" y="19366"/>
                  </a:lnTo>
                  <a:lnTo>
                    <a:pt x="4507" y="19748"/>
                  </a:lnTo>
                  <a:lnTo>
                    <a:pt x="4462" y="20129"/>
                  </a:lnTo>
                  <a:lnTo>
                    <a:pt x="4371" y="20483"/>
                  </a:lnTo>
                  <a:lnTo>
                    <a:pt x="4292" y="20836"/>
                  </a:lnTo>
                  <a:lnTo>
                    <a:pt x="4202" y="21161"/>
                  </a:lnTo>
                  <a:lnTo>
                    <a:pt x="4744" y="21161"/>
                  </a:lnTo>
                  <a:lnTo>
                    <a:pt x="5264" y="21161"/>
                  </a:lnTo>
                  <a:lnTo>
                    <a:pt x="5784" y="21161"/>
                  </a:lnTo>
                  <a:lnTo>
                    <a:pt x="6235" y="21161"/>
                  </a:lnTo>
                  <a:lnTo>
                    <a:pt x="6676" y="21161"/>
                  </a:lnTo>
                  <a:lnTo>
                    <a:pt x="7060" y="21161"/>
                  </a:lnTo>
                  <a:lnTo>
                    <a:pt x="7410" y="21161"/>
                  </a:lnTo>
                  <a:lnTo>
                    <a:pt x="7670" y="21161"/>
                  </a:lnTo>
                  <a:lnTo>
                    <a:pt x="8020" y="21020"/>
                  </a:lnTo>
                  <a:lnTo>
                    <a:pt x="8303" y="20893"/>
                  </a:lnTo>
                  <a:lnTo>
                    <a:pt x="8563" y="20695"/>
                  </a:lnTo>
                  <a:lnTo>
                    <a:pt x="8800" y="20511"/>
                  </a:lnTo>
                  <a:lnTo>
                    <a:pt x="8969" y="20285"/>
                  </a:lnTo>
                  <a:lnTo>
                    <a:pt x="9150" y="20045"/>
                  </a:lnTo>
                  <a:lnTo>
                    <a:pt x="9252" y="19804"/>
                  </a:lnTo>
                  <a:lnTo>
                    <a:pt x="9342" y="19550"/>
                  </a:lnTo>
                  <a:lnTo>
                    <a:pt x="9410" y="19281"/>
                  </a:lnTo>
                  <a:lnTo>
                    <a:pt x="9433" y="19013"/>
                  </a:lnTo>
                  <a:lnTo>
                    <a:pt x="9433" y="18744"/>
                  </a:lnTo>
                  <a:lnTo>
                    <a:pt x="9387" y="18504"/>
                  </a:lnTo>
                  <a:lnTo>
                    <a:pt x="9320" y="18221"/>
                  </a:lnTo>
                  <a:lnTo>
                    <a:pt x="9207" y="17981"/>
                  </a:lnTo>
                  <a:lnTo>
                    <a:pt x="9105" y="17740"/>
                  </a:lnTo>
                  <a:lnTo>
                    <a:pt x="8924" y="17514"/>
                  </a:lnTo>
                  <a:lnTo>
                    <a:pt x="8777" y="17274"/>
                  </a:lnTo>
                  <a:lnTo>
                    <a:pt x="8642" y="17034"/>
                  </a:lnTo>
                  <a:lnTo>
                    <a:pt x="8563" y="16765"/>
                  </a:lnTo>
                  <a:lnTo>
                    <a:pt x="8472" y="16468"/>
                  </a:lnTo>
                  <a:lnTo>
                    <a:pt x="8450" y="16157"/>
                  </a:lnTo>
                  <a:lnTo>
                    <a:pt x="8450" y="15860"/>
                  </a:lnTo>
                  <a:lnTo>
                    <a:pt x="8472" y="15563"/>
                  </a:lnTo>
                  <a:lnTo>
                    <a:pt x="8540" y="15267"/>
                  </a:lnTo>
                  <a:lnTo>
                    <a:pt x="8642" y="14998"/>
                  </a:lnTo>
                  <a:lnTo>
                    <a:pt x="8777" y="14729"/>
                  </a:lnTo>
                  <a:lnTo>
                    <a:pt x="8868" y="14616"/>
                  </a:lnTo>
                  <a:lnTo>
                    <a:pt x="8969" y="14475"/>
                  </a:lnTo>
                  <a:lnTo>
                    <a:pt x="9060" y="14376"/>
                  </a:lnTo>
                  <a:lnTo>
                    <a:pt x="9184" y="14291"/>
                  </a:lnTo>
                  <a:lnTo>
                    <a:pt x="9297" y="14206"/>
                  </a:lnTo>
                  <a:lnTo>
                    <a:pt x="9433" y="14121"/>
                  </a:lnTo>
                  <a:lnTo>
                    <a:pt x="9579" y="14051"/>
                  </a:lnTo>
                  <a:lnTo>
                    <a:pt x="9726" y="13994"/>
                  </a:lnTo>
                  <a:lnTo>
                    <a:pt x="9884" y="13938"/>
                  </a:lnTo>
                  <a:lnTo>
                    <a:pt x="10054" y="13909"/>
                  </a:lnTo>
                  <a:lnTo>
                    <a:pt x="10257" y="13881"/>
                  </a:lnTo>
                  <a:lnTo>
                    <a:pt x="10449" y="13881"/>
                  </a:lnTo>
                  <a:lnTo>
                    <a:pt x="10664" y="13881"/>
                  </a:lnTo>
                  <a:lnTo>
                    <a:pt x="10856" y="13909"/>
                  </a:lnTo>
                  <a:lnTo>
                    <a:pt x="11037" y="13966"/>
                  </a:lnTo>
                  <a:lnTo>
                    <a:pt x="11206" y="14023"/>
                  </a:lnTo>
                  <a:lnTo>
                    <a:pt x="11353" y="14093"/>
                  </a:lnTo>
                  <a:lnTo>
                    <a:pt x="11511" y="14178"/>
                  </a:lnTo>
                  <a:lnTo>
                    <a:pt x="11635" y="14263"/>
                  </a:lnTo>
                  <a:lnTo>
                    <a:pt x="11748" y="14376"/>
                  </a:lnTo>
                  <a:lnTo>
                    <a:pt x="11861" y="14475"/>
                  </a:lnTo>
                  <a:lnTo>
                    <a:pt x="11941" y="14616"/>
                  </a:lnTo>
                  <a:lnTo>
                    <a:pt x="12031" y="14758"/>
                  </a:lnTo>
                  <a:lnTo>
                    <a:pt x="12099" y="14885"/>
                  </a:lnTo>
                  <a:lnTo>
                    <a:pt x="12200" y="15210"/>
                  </a:lnTo>
                  <a:lnTo>
                    <a:pt x="12268" y="15507"/>
                  </a:lnTo>
                  <a:lnTo>
                    <a:pt x="12291" y="15832"/>
                  </a:lnTo>
                  <a:lnTo>
                    <a:pt x="12291" y="16157"/>
                  </a:lnTo>
                  <a:lnTo>
                    <a:pt x="12246" y="16482"/>
                  </a:lnTo>
                  <a:lnTo>
                    <a:pt x="12178" y="16807"/>
                  </a:lnTo>
                  <a:lnTo>
                    <a:pt x="12099" y="17090"/>
                  </a:lnTo>
                  <a:lnTo>
                    <a:pt x="12008" y="17330"/>
                  </a:lnTo>
                  <a:lnTo>
                    <a:pt x="11884" y="17542"/>
                  </a:lnTo>
                  <a:lnTo>
                    <a:pt x="11748" y="17712"/>
                  </a:lnTo>
                  <a:lnTo>
                    <a:pt x="11613" y="17839"/>
                  </a:lnTo>
                  <a:lnTo>
                    <a:pt x="11489" y="18037"/>
                  </a:lnTo>
                  <a:lnTo>
                    <a:pt x="11398" y="18221"/>
                  </a:lnTo>
                  <a:lnTo>
                    <a:pt x="11319" y="18447"/>
                  </a:lnTo>
                  <a:lnTo>
                    <a:pt x="11251" y="18659"/>
                  </a:lnTo>
                  <a:lnTo>
                    <a:pt x="11206" y="18900"/>
                  </a:lnTo>
                  <a:lnTo>
                    <a:pt x="11184" y="19154"/>
                  </a:lnTo>
                  <a:lnTo>
                    <a:pt x="11184" y="19423"/>
                  </a:lnTo>
                  <a:lnTo>
                    <a:pt x="11229" y="19663"/>
                  </a:lnTo>
                  <a:lnTo>
                    <a:pt x="11297" y="19903"/>
                  </a:lnTo>
                  <a:lnTo>
                    <a:pt x="11376" y="20158"/>
                  </a:lnTo>
                  <a:lnTo>
                    <a:pt x="11511" y="20398"/>
                  </a:lnTo>
                  <a:lnTo>
                    <a:pt x="11681" y="20610"/>
                  </a:lnTo>
                  <a:lnTo>
                    <a:pt x="11884" y="20808"/>
                  </a:lnTo>
                  <a:lnTo>
                    <a:pt x="12121" y="20992"/>
                  </a:lnTo>
                  <a:lnTo>
                    <a:pt x="12404" y="21161"/>
                  </a:lnTo>
                  <a:lnTo>
                    <a:pt x="12528" y="21190"/>
                  </a:lnTo>
                  <a:lnTo>
                    <a:pt x="12856" y="21274"/>
                  </a:lnTo>
                  <a:lnTo>
                    <a:pt x="13330" y="21373"/>
                  </a:lnTo>
                  <a:lnTo>
                    <a:pt x="13963" y="21486"/>
                  </a:lnTo>
                  <a:lnTo>
                    <a:pt x="14313" y="21543"/>
                  </a:lnTo>
                  <a:lnTo>
                    <a:pt x="14652" y="21571"/>
                  </a:lnTo>
                  <a:lnTo>
                    <a:pt x="15025" y="21600"/>
                  </a:lnTo>
                  <a:lnTo>
                    <a:pt x="15409" y="21600"/>
                  </a:lnTo>
                  <a:lnTo>
                    <a:pt x="15782" y="21600"/>
                  </a:lnTo>
                  <a:lnTo>
                    <a:pt x="16177" y="21571"/>
                  </a:lnTo>
                  <a:lnTo>
                    <a:pt x="16516" y="21486"/>
                  </a:lnTo>
                  <a:lnTo>
                    <a:pt x="16889" y="21402"/>
                  </a:lnTo>
                  <a:lnTo>
                    <a:pt x="16821" y="21190"/>
                  </a:lnTo>
                  <a:lnTo>
                    <a:pt x="16776" y="20935"/>
                  </a:lnTo>
                  <a:lnTo>
                    <a:pt x="16742" y="20667"/>
                  </a:lnTo>
                  <a:lnTo>
                    <a:pt x="16719" y="20370"/>
                  </a:lnTo>
                  <a:lnTo>
                    <a:pt x="16697" y="19719"/>
                  </a:lnTo>
                  <a:lnTo>
                    <a:pt x="16697" y="19013"/>
                  </a:lnTo>
                  <a:lnTo>
                    <a:pt x="16719" y="18306"/>
                  </a:lnTo>
                  <a:lnTo>
                    <a:pt x="16753" y="17599"/>
                  </a:lnTo>
                  <a:lnTo>
                    <a:pt x="16821" y="16949"/>
                  </a:lnTo>
                  <a:lnTo>
                    <a:pt x="16889" y="16383"/>
                  </a:lnTo>
                  <a:lnTo>
                    <a:pt x="16934" y="16129"/>
                  </a:lnTo>
                  <a:lnTo>
                    <a:pt x="17002" y="15945"/>
                  </a:lnTo>
                  <a:lnTo>
                    <a:pt x="17081" y="15790"/>
                  </a:lnTo>
                  <a:lnTo>
                    <a:pt x="17194" y="15648"/>
                  </a:lnTo>
                  <a:lnTo>
                    <a:pt x="17318" y="15563"/>
                  </a:lnTo>
                  <a:lnTo>
                    <a:pt x="17453" y="15507"/>
                  </a:lnTo>
                  <a:lnTo>
                    <a:pt x="17600" y="15450"/>
                  </a:lnTo>
                  <a:lnTo>
                    <a:pt x="17758" y="15450"/>
                  </a:lnTo>
                  <a:lnTo>
                    <a:pt x="17905" y="15479"/>
                  </a:lnTo>
                  <a:lnTo>
                    <a:pt x="18064" y="15535"/>
                  </a:lnTo>
                  <a:lnTo>
                    <a:pt x="18233" y="15620"/>
                  </a:lnTo>
                  <a:lnTo>
                    <a:pt x="18380" y="15733"/>
                  </a:lnTo>
                  <a:lnTo>
                    <a:pt x="18561" y="15832"/>
                  </a:lnTo>
                  <a:lnTo>
                    <a:pt x="18707" y="15973"/>
                  </a:lnTo>
                  <a:lnTo>
                    <a:pt x="18866" y="16129"/>
                  </a:lnTo>
                  <a:lnTo>
                    <a:pt x="18990" y="16327"/>
                  </a:lnTo>
                  <a:lnTo>
                    <a:pt x="19125" y="16482"/>
                  </a:lnTo>
                  <a:lnTo>
                    <a:pt x="19295" y="16624"/>
                  </a:lnTo>
                  <a:lnTo>
                    <a:pt x="19464" y="16737"/>
                  </a:lnTo>
                  <a:lnTo>
                    <a:pt x="19668" y="16807"/>
                  </a:lnTo>
                  <a:lnTo>
                    <a:pt x="19860" y="16836"/>
                  </a:lnTo>
                  <a:lnTo>
                    <a:pt x="20052" y="16864"/>
                  </a:lnTo>
                  <a:lnTo>
                    <a:pt x="20266" y="16836"/>
                  </a:lnTo>
                  <a:lnTo>
                    <a:pt x="20470" y="16793"/>
                  </a:lnTo>
                  <a:lnTo>
                    <a:pt x="20662" y="16708"/>
                  </a:lnTo>
                  <a:lnTo>
                    <a:pt x="20854" y="16567"/>
                  </a:lnTo>
                  <a:lnTo>
                    <a:pt x="21035" y="16412"/>
                  </a:lnTo>
                  <a:lnTo>
                    <a:pt x="21182" y="16214"/>
                  </a:lnTo>
                  <a:lnTo>
                    <a:pt x="21340" y="16002"/>
                  </a:lnTo>
                  <a:lnTo>
                    <a:pt x="21441" y="15733"/>
                  </a:lnTo>
                  <a:lnTo>
                    <a:pt x="21532" y="15436"/>
                  </a:lnTo>
                  <a:lnTo>
                    <a:pt x="21600" y="15083"/>
                  </a:lnTo>
                  <a:lnTo>
                    <a:pt x="21600" y="14885"/>
                  </a:lnTo>
                  <a:lnTo>
                    <a:pt x="21600" y="14729"/>
                  </a:lnTo>
                  <a:lnTo>
                    <a:pt x="21600" y="14531"/>
                  </a:lnTo>
                  <a:lnTo>
                    <a:pt x="21577" y="14376"/>
                  </a:lnTo>
                  <a:lnTo>
                    <a:pt x="21532" y="14206"/>
                  </a:lnTo>
                  <a:lnTo>
                    <a:pt x="21487" y="14051"/>
                  </a:lnTo>
                  <a:lnTo>
                    <a:pt x="21419" y="13909"/>
                  </a:lnTo>
                  <a:lnTo>
                    <a:pt x="21351" y="13768"/>
                  </a:lnTo>
                  <a:lnTo>
                    <a:pt x="21204" y="13500"/>
                  </a:lnTo>
                  <a:lnTo>
                    <a:pt x="21035" y="13287"/>
                  </a:lnTo>
                  <a:lnTo>
                    <a:pt x="20809" y="13090"/>
                  </a:lnTo>
                  <a:lnTo>
                    <a:pt x="20594" y="12962"/>
                  </a:lnTo>
                  <a:lnTo>
                    <a:pt x="20357" y="12821"/>
                  </a:lnTo>
                  <a:lnTo>
                    <a:pt x="20120" y="12764"/>
                  </a:lnTo>
                  <a:lnTo>
                    <a:pt x="19882" y="12708"/>
                  </a:lnTo>
                  <a:lnTo>
                    <a:pt x="19645" y="12736"/>
                  </a:lnTo>
                  <a:lnTo>
                    <a:pt x="19430" y="12793"/>
                  </a:lnTo>
                  <a:lnTo>
                    <a:pt x="19227" y="12906"/>
                  </a:lnTo>
                  <a:lnTo>
                    <a:pt x="19148" y="12962"/>
                  </a:lnTo>
                  <a:lnTo>
                    <a:pt x="19058" y="13047"/>
                  </a:lnTo>
                  <a:lnTo>
                    <a:pt x="18990" y="13146"/>
                  </a:lnTo>
                  <a:lnTo>
                    <a:pt x="18911" y="13259"/>
                  </a:lnTo>
                  <a:lnTo>
                    <a:pt x="18775" y="13471"/>
                  </a:lnTo>
                  <a:lnTo>
                    <a:pt x="18628" y="13641"/>
                  </a:lnTo>
                  <a:lnTo>
                    <a:pt x="18470" y="13740"/>
                  </a:lnTo>
                  <a:lnTo>
                    <a:pt x="18301" y="13825"/>
                  </a:lnTo>
                  <a:lnTo>
                    <a:pt x="18143" y="13853"/>
                  </a:lnTo>
                  <a:lnTo>
                    <a:pt x="17973" y="13881"/>
                  </a:lnTo>
                  <a:lnTo>
                    <a:pt x="17804" y="13853"/>
                  </a:lnTo>
                  <a:lnTo>
                    <a:pt x="17646" y="13796"/>
                  </a:lnTo>
                  <a:lnTo>
                    <a:pt x="17499" y="13726"/>
                  </a:lnTo>
                  <a:lnTo>
                    <a:pt x="17341" y="13641"/>
                  </a:lnTo>
                  <a:lnTo>
                    <a:pt x="17216" y="13528"/>
                  </a:lnTo>
                  <a:lnTo>
                    <a:pt x="17103" y="13386"/>
                  </a:lnTo>
                  <a:lnTo>
                    <a:pt x="17024" y="13259"/>
                  </a:lnTo>
                  <a:lnTo>
                    <a:pt x="16934" y="13118"/>
                  </a:lnTo>
                  <a:lnTo>
                    <a:pt x="16889" y="12991"/>
                  </a:lnTo>
                  <a:lnTo>
                    <a:pt x="16889" y="12849"/>
                  </a:lnTo>
                  <a:lnTo>
                    <a:pt x="16889" y="12383"/>
                  </a:lnTo>
                  <a:lnTo>
                    <a:pt x="16889" y="11662"/>
                  </a:lnTo>
                  <a:lnTo>
                    <a:pt x="16889" y="10701"/>
                  </a:lnTo>
                  <a:lnTo>
                    <a:pt x="16889" y="9640"/>
                  </a:lnTo>
                  <a:lnTo>
                    <a:pt x="16889" y="8566"/>
                  </a:lnTo>
                  <a:lnTo>
                    <a:pt x="16889" y="7478"/>
                  </a:lnTo>
                  <a:lnTo>
                    <a:pt x="16889" y="6502"/>
                  </a:lnTo>
                  <a:lnTo>
                    <a:pt x="16889" y="5739"/>
                  </a:lnTo>
                  <a:lnTo>
                    <a:pt x="16674" y="5894"/>
                  </a:lnTo>
                  <a:lnTo>
                    <a:pt x="16414" y="6036"/>
                  </a:lnTo>
                  <a:lnTo>
                    <a:pt x="16154" y="6177"/>
                  </a:lnTo>
                  <a:lnTo>
                    <a:pt x="15849" y="6248"/>
                  </a:lnTo>
                  <a:lnTo>
                    <a:pt x="15544" y="6304"/>
                  </a:lnTo>
                  <a:lnTo>
                    <a:pt x="15217" y="6332"/>
                  </a:lnTo>
                  <a:lnTo>
                    <a:pt x="14866" y="6361"/>
                  </a:lnTo>
                  <a:lnTo>
                    <a:pt x="14550" y="6361"/>
                  </a:lnTo>
                  <a:lnTo>
                    <a:pt x="14200" y="6332"/>
                  </a:lnTo>
                  <a:lnTo>
                    <a:pt x="13850" y="6276"/>
                  </a:lnTo>
                  <a:lnTo>
                    <a:pt x="13522" y="6219"/>
                  </a:lnTo>
                  <a:lnTo>
                    <a:pt x="13206" y="6149"/>
                  </a:lnTo>
                  <a:lnTo>
                    <a:pt x="12901" y="6064"/>
                  </a:lnTo>
                  <a:lnTo>
                    <a:pt x="12618" y="5951"/>
                  </a:lnTo>
                  <a:lnTo>
                    <a:pt x="12358" y="5838"/>
                  </a:lnTo>
                  <a:lnTo>
                    <a:pt x="12121" y="5739"/>
                  </a:lnTo>
                  <a:lnTo>
                    <a:pt x="11941" y="5626"/>
                  </a:lnTo>
                  <a:lnTo>
                    <a:pt x="11794" y="5513"/>
                  </a:lnTo>
                  <a:lnTo>
                    <a:pt x="11658" y="5414"/>
                  </a:lnTo>
                  <a:lnTo>
                    <a:pt x="11556" y="5301"/>
                  </a:lnTo>
                  <a:lnTo>
                    <a:pt x="11466" y="5187"/>
                  </a:lnTo>
                  <a:lnTo>
                    <a:pt x="11398" y="5089"/>
                  </a:lnTo>
                  <a:lnTo>
                    <a:pt x="11376" y="4947"/>
                  </a:lnTo>
                  <a:lnTo>
                    <a:pt x="11353" y="4834"/>
                  </a:lnTo>
                  <a:lnTo>
                    <a:pt x="11353" y="4707"/>
                  </a:lnTo>
                  <a:lnTo>
                    <a:pt x="11376" y="4565"/>
                  </a:lnTo>
                  <a:lnTo>
                    <a:pt x="11443" y="4410"/>
                  </a:lnTo>
                  <a:lnTo>
                    <a:pt x="11511" y="4240"/>
                  </a:lnTo>
                  <a:lnTo>
                    <a:pt x="11703" y="3887"/>
                  </a:lnTo>
                  <a:lnTo>
                    <a:pt x="11986" y="3505"/>
                  </a:lnTo>
                  <a:lnTo>
                    <a:pt x="12144" y="3265"/>
                  </a:lnTo>
                  <a:lnTo>
                    <a:pt x="12246" y="3025"/>
                  </a:lnTo>
                  <a:lnTo>
                    <a:pt x="12336" y="2756"/>
                  </a:lnTo>
                  <a:lnTo>
                    <a:pt x="12404" y="2445"/>
                  </a:lnTo>
                  <a:lnTo>
                    <a:pt x="12438" y="2176"/>
                  </a:lnTo>
                  <a:lnTo>
                    <a:pt x="12438" y="1880"/>
                  </a:lnTo>
                  <a:lnTo>
                    <a:pt x="12404" y="1583"/>
                  </a:lnTo>
                  <a:lnTo>
                    <a:pt x="12336" y="1314"/>
                  </a:lnTo>
                  <a:lnTo>
                    <a:pt x="12246" y="1046"/>
                  </a:lnTo>
                  <a:lnTo>
                    <a:pt x="12099" y="791"/>
                  </a:lnTo>
                  <a:lnTo>
                    <a:pt x="12008" y="692"/>
                  </a:lnTo>
                  <a:lnTo>
                    <a:pt x="11918" y="579"/>
                  </a:lnTo>
                  <a:lnTo>
                    <a:pt x="11816" y="466"/>
                  </a:lnTo>
                  <a:lnTo>
                    <a:pt x="11703" y="381"/>
                  </a:lnTo>
                  <a:lnTo>
                    <a:pt x="11579" y="310"/>
                  </a:lnTo>
                  <a:lnTo>
                    <a:pt x="11443" y="226"/>
                  </a:lnTo>
                  <a:lnTo>
                    <a:pt x="11297" y="169"/>
                  </a:lnTo>
                  <a:lnTo>
                    <a:pt x="11138" y="113"/>
                  </a:lnTo>
                  <a:lnTo>
                    <a:pt x="10969" y="56"/>
                  </a:lnTo>
                  <a:lnTo>
                    <a:pt x="10800" y="28"/>
                  </a:lnTo>
                  <a:lnTo>
                    <a:pt x="10619" y="28"/>
                  </a:lnTo>
                  <a:lnTo>
                    <a:pt x="10404" y="28"/>
                  </a:lnTo>
                  <a:lnTo>
                    <a:pt x="10257" y="28"/>
                  </a:lnTo>
                  <a:lnTo>
                    <a:pt x="10076" y="56"/>
                  </a:lnTo>
                  <a:lnTo>
                    <a:pt x="9952" y="84"/>
                  </a:lnTo>
                  <a:lnTo>
                    <a:pt x="9794" y="141"/>
                  </a:lnTo>
                  <a:lnTo>
                    <a:pt x="9692" y="226"/>
                  </a:lnTo>
                  <a:lnTo>
                    <a:pt x="9557" y="282"/>
                  </a:lnTo>
                  <a:lnTo>
                    <a:pt x="9455" y="381"/>
                  </a:lnTo>
                  <a:lnTo>
                    <a:pt x="9365" y="466"/>
                  </a:lnTo>
                  <a:lnTo>
                    <a:pt x="9274" y="579"/>
                  </a:lnTo>
                  <a:lnTo>
                    <a:pt x="9184" y="692"/>
                  </a:lnTo>
                  <a:lnTo>
                    <a:pt x="9128" y="791"/>
                  </a:lnTo>
                  <a:lnTo>
                    <a:pt x="9060" y="932"/>
                  </a:lnTo>
                  <a:lnTo>
                    <a:pt x="8969" y="1201"/>
                  </a:lnTo>
                  <a:lnTo>
                    <a:pt x="8913" y="1498"/>
                  </a:lnTo>
                  <a:lnTo>
                    <a:pt x="8890" y="1795"/>
                  </a:lnTo>
                  <a:lnTo>
                    <a:pt x="8890" y="2120"/>
                  </a:lnTo>
                  <a:lnTo>
                    <a:pt x="8913" y="2445"/>
                  </a:lnTo>
                  <a:lnTo>
                    <a:pt x="8969" y="2756"/>
                  </a:lnTo>
                  <a:lnTo>
                    <a:pt x="9060" y="3081"/>
                  </a:lnTo>
                  <a:lnTo>
                    <a:pt x="9173" y="3378"/>
                  </a:lnTo>
                  <a:lnTo>
                    <a:pt x="9297" y="3647"/>
                  </a:lnTo>
                  <a:lnTo>
                    <a:pt x="9466" y="3887"/>
                  </a:lnTo>
                  <a:lnTo>
                    <a:pt x="9579" y="4085"/>
                  </a:lnTo>
                  <a:lnTo>
                    <a:pt x="9670" y="4269"/>
                  </a:lnTo>
                  <a:lnTo>
                    <a:pt x="9726" y="4467"/>
                  </a:lnTo>
                  <a:lnTo>
                    <a:pt x="9771" y="4650"/>
                  </a:lnTo>
                  <a:lnTo>
                    <a:pt x="9771" y="4834"/>
                  </a:lnTo>
                  <a:lnTo>
                    <a:pt x="9749" y="5032"/>
                  </a:lnTo>
                  <a:lnTo>
                    <a:pt x="9715" y="5216"/>
                  </a:lnTo>
                  <a:lnTo>
                    <a:pt x="9625" y="5385"/>
                  </a:lnTo>
                  <a:lnTo>
                    <a:pt x="9534" y="5513"/>
                  </a:lnTo>
                  <a:lnTo>
                    <a:pt x="9410" y="5626"/>
                  </a:lnTo>
                  <a:lnTo>
                    <a:pt x="9229" y="5710"/>
                  </a:lnTo>
                  <a:lnTo>
                    <a:pt x="9060" y="5767"/>
                  </a:lnTo>
                  <a:lnTo>
                    <a:pt x="8845" y="5767"/>
                  </a:lnTo>
                  <a:lnTo>
                    <a:pt x="8585" y="5739"/>
                  </a:lnTo>
                  <a:lnTo>
                    <a:pt x="8325" y="5654"/>
                  </a:lnTo>
                  <a:lnTo>
                    <a:pt x="8020" y="5513"/>
                  </a:lnTo>
                  <a:lnTo>
                    <a:pt x="7840" y="5442"/>
                  </a:lnTo>
                  <a:lnTo>
                    <a:pt x="7648" y="5385"/>
                  </a:lnTo>
                  <a:lnTo>
                    <a:pt x="7433" y="5329"/>
                  </a:lnTo>
                  <a:lnTo>
                    <a:pt x="7241" y="5301"/>
                  </a:lnTo>
                  <a:lnTo>
                    <a:pt x="6755" y="5301"/>
                  </a:lnTo>
                  <a:lnTo>
                    <a:pt x="6281" y="5329"/>
                  </a:lnTo>
                  <a:lnTo>
                    <a:pt x="5784" y="5385"/>
                  </a:lnTo>
                  <a:lnTo>
                    <a:pt x="5264" y="5498"/>
                  </a:lnTo>
                  <a:lnTo>
                    <a:pt x="4744" y="5597"/>
                  </a:lnTo>
                  <a:lnTo>
                    <a:pt x="4247" y="5739"/>
                  </a:lnTo>
                  <a:lnTo>
                    <a:pt x="4202" y="5894"/>
                  </a:lnTo>
                  <a:lnTo>
                    <a:pt x="4202" y="6191"/>
                  </a:lnTo>
                  <a:lnTo>
                    <a:pt x="4202" y="6545"/>
                  </a:lnTo>
                  <a:lnTo>
                    <a:pt x="4225" y="6954"/>
                  </a:lnTo>
                  <a:lnTo>
                    <a:pt x="4315" y="7930"/>
                  </a:lnTo>
                  <a:lnTo>
                    <a:pt x="4394" y="9018"/>
                  </a:lnTo>
                  <a:lnTo>
                    <a:pt x="4439" y="9570"/>
                  </a:lnTo>
                  <a:lnTo>
                    <a:pt x="4462" y="10107"/>
                  </a:lnTo>
                  <a:lnTo>
                    <a:pt x="4484" y="10630"/>
                  </a:lnTo>
                  <a:lnTo>
                    <a:pt x="4507" y="11082"/>
                  </a:lnTo>
                  <a:lnTo>
                    <a:pt x="4484" y="11520"/>
                  </a:lnTo>
                  <a:lnTo>
                    <a:pt x="4439" y="11874"/>
                  </a:lnTo>
                  <a:lnTo>
                    <a:pt x="4394" y="12029"/>
                  </a:lnTo>
                  <a:lnTo>
                    <a:pt x="4349" y="12171"/>
                  </a:lnTo>
                  <a:lnTo>
                    <a:pt x="4315" y="12284"/>
                  </a:lnTo>
                  <a:lnTo>
                    <a:pt x="4247" y="12354"/>
                  </a:lnTo>
                  <a:close/>
                </a:path>
              </a:pathLst>
            </a:custGeom>
            <a:solidFill>
              <a:srgbClr val="FFFFCC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7" name="AutoShape 17"/>
            <p:cNvSpPr>
              <a:spLocks noChangeArrowheads="1"/>
            </p:cNvSpPr>
            <p:nvPr/>
          </p:nvSpPr>
          <p:spPr bwMode="auto">
            <a:xfrm>
              <a:off x="1010" y="877"/>
              <a:ext cx="122" cy="23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2125 w 21600"/>
                <a:gd name="T25" fmla="*/ 5627 h 21600"/>
                <a:gd name="T26" fmla="*/ 20184 w 21600"/>
                <a:gd name="T27" fmla="*/ 1597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3813" y="10590"/>
                  </a:moveTo>
                  <a:lnTo>
                    <a:pt x="3927" y="10513"/>
                  </a:lnTo>
                  <a:lnTo>
                    <a:pt x="4078" y="10425"/>
                  </a:lnTo>
                  <a:lnTo>
                    <a:pt x="4210" y="10359"/>
                  </a:lnTo>
                  <a:lnTo>
                    <a:pt x="4361" y="10315"/>
                  </a:lnTo>
                  <a:lnTo>
                    <a:pt x="4682" y="10237"/>
                  </a:lnTo>
                  <a:lnTo>
                    <a:pt x="5041" y="10193"/>
                  </a:lnTo>
                  <a:lnTo>
                    <a:pt x="5456" y="10171"/>
                  </a:lnTo>
                  <a:lnTo>
                    <a:pt x="5853" y="10193"/>
                  </a:lnTo>
                  <a:lnTo>
                    <a:pt x="6249" y="10260"/>
                  </a:lnTo>
                  <a:lnTo>
                    <a:pt x="6646" y="10337"/>
                  </a:lnTo>
                  <a:lnTo>
                    <a:pt x="7004" y="10469"/>
                  </a:lnTo>
                  <a:lnTo>
                    <a:pt x="7363" y="10612"/>
                  </a:lnTo>
                  <a:lnTo>
                    <a:pt x="7665" y="10788"/>
                  </a:lnTo>
                  <a:lnTo>
                    <a:pt x="7911" y="10998"/>
                  </a:lnTo>
                  <a:lnTo>
                    <a:pt x="8024" y="11097"/>
                  </a:lnTo>
                  <a:lnTo>
                    <a:pt x="8137" y="11207"/>
                  </a:lnTo>
                  <a:lnTo>
                    <a:pt x="8194" y="11340"/>
                  </a:lnTo>
                  <a:lnTo>
                    <a:pt x="8269" y="11461"/>
                  </a:lnTo>
                  <a:lnTo>
                    <a:pt x="8307" y="11593"/>
                  </a:lnTo>
                  <a:lnTo>
                    <a:pt x="8307" y="11714"/>
                  </a:lnTo>
                  <a:lnTo>
                    <a:pt x="8307" y="11868"/>
                  </a:lnTo>
                  <a:lnTo>
                    <a:pt x="8307" y="12012"/>
                  </a:lnTo>
                  <a:lnTo>
                    <a:pt x="8194" y="12265"/>
                  </a:lnTo>
                  <a:lnTo>
                    <a:pt x="8062" y="12519"/>
                  </a:lnTo>
                  <a:lnTo>
                    <a:pt x="7873" y="12706"/>
                  </a:lnTo>
                  <a:lnTo>
                    <a:pt x="7627" y="12904"/>
                  </a:lnTo>
                  <a:lnTo>
                    <a:pt x="7363" y="13048"/>
                  </a:lnTo>
                  <a:lnTo>
                    <a:pt x="7080" y="13180"/>
                  </a:lnTo>
                  <a:lnTo>
                    <a:pt x="6759" y="13257"/>
                  </a:lnTo>
                  <a:lnTo>
                    <a:pt x="6419" y="13345"/>
                  </a:lnTo>
                  <a:lnTo>
                    <a:pt x="6098" y="13389"/>
                  </a:lnTo>
                  <a:lnTo>
                    <a:pt x="5739" y="13389"/>
                  </a:lnTo>
                  <a:lnTo>
                    <a:pt x="5418" y="13389"/>
                  </a:lnTo>
                  <a:lnTo>
                    <a:pt x="5079" y="13345"/>
                  </a:lnTo>
                  <a:lnTo>
                    <a:pt x="4758" y="13301"/>
                  </a:lnTo>
                  <a:lnTo>
                    <a:pt x="4474" y="13213"/>
                  </a:lnTo>
                  <a:lnTo>
                    <a:pt x="4172" y="13114"/>
                  </a:lnTo>
                  <a:lnTo>
                    <a:pt x="3965" y="12982"/>
                  </a:lnTo>
                  <a:lnTo>
                    <a:pt x="3738" y="12838"/>
                  </a:lnTo>
                  <a:lnTo>
                    <a:pt x="3493" y="12706"/>
                  </a:lnTo>
                  <a:lnTo>
                    <a:pt x="3228" y="12607"/>
                  </a:lnTo>
                  <a:lnTo>
                    <a:pt x="2945" y="12519"/>
                  </a:lnTo>
                  <a:lnTo>
                    <a:pt x="2700" y="12431"/>
                  </a:lnTo>
                  <a:lnTo>
                    <a:pt x="2397" y="12375"/>
                  </a:lnTo>
                  <a:lnTo>
                    <a:pt x="2152" y="12331"/>
                  </a:lnTo>
                  <a:lnTo>
                    <a:pt x="1888" y="12309"/>
                  </a:lnTo>
                  <a:lnTo>
                    <a:pt x="1642" y="12309"/>
                  </a:lnTo>
                  <a:lnTo>
                    <a:pt x="1397" y="12331"/>
                  </a:lnTo>
                  <a:lnTo>
                    <a:pt x="1170" y="12397"/>
                  </a:lnTo>
                  <a:lnTo>
                    <a:pt x="962" y="12453"/>
                  </a:lnTo>
                  <a:lnTo>
                    <a:pt x="774" y="12563"/>
                  </a:lnTo>
                  <a:lnTo>
                    <a:pt x="623" y="12684"/>
                  </a:lnTo>
                  <a:lnTo>
                    <a:pt x="528" y="12838"/>
                  </a:lnTo>
                  <a:lnTo>
                    <a:pt x="453" y="13026"/>
                  </a:lnTo>
                  <a:lnTo>
                    <a:pt x="339" y="13477"/>
                  </a:lnTo>
                  <a:lnTo>
                    <a:pt x="226" y="13984"/>
                  </a:lnTo>
                  <a:lnTo>
                    <a:pt x="151" y="14535"/>
                  </a:lnTo>
                  <a:lnTo>
                    <a:pt x="113" y="15075"/>
                  </a:lnTo>
                  <a:lnTo>
                    <a:pt x="113" y="15626"/>
                  </a:lnTo>
                  <a:lnTo>
                    <a:pt x="151" y="16133"/>
                  </a:lnTo>
                  <a:lnTo>
                    <a:pt x="188" y="16376"/>
                  </a:lnTo>
                  <a:lnTo>
                    <a:pt x="264" y="16585"/>
                  </a:lnTo>
                  <a:lnTo>
                    <a:pt x="339" y="16773"/>
                  </a:lnTo>
                  <a:lnTo>
                    <a:pt x="453" y="16938"/>
                  </a:lnTo>
                  <a:lnTo>
                    <a:pt x="1095" y="16883"/>
                  </a:lnTo>
                  <a:lnTo>
                    <a:pt x="1963" y="16795"/>
                  </a:lnTo>
                  <a:lnTo>
                    <a:pt x="2945" y="16751"/>
                  </a:lnTo>
                  <a:lnTo>
                    <a:pt x="3965" y="16706"/>
                  </a:lnTo>
                  <a:lnTo>
                    <a:pt x="5022" y="16684"/>
                  </a:lnTo>
                  <a:lnTo>
                    <a:pt x="5947" y="16684"/>
                  </a:lnTo>
                  <a:lnTo>
                    <a:pt x="6759" y="16706"/>
                  </a:lnTo>
                  <a:lnTo>
                    <a:pt x="7363" y="16751"/>
                  </a:lnTo>
                  <a:lnTo>
                    <a:pt x="7948" y="16839"/>
                  </a:lnTo>
                  <a:lnTo>
                    <a:pt x="8458" y="16916"/>
                  </a:lnTo>
                  <a:lnTo>
                    <a:pt x="8893" y="17026"/>
                  </a:lnTo>
                  <a:lnTo>
                    <a:pt x="9289" y="17158"/>
                  </a:lnTo>
                  <a:lnTo>
                    <a:pt x="9572" y="17280"/>
                  </a:lnTo>
                  <a:lnTo>
                    <a:pt x="9799" y="17412"/>
                  </a:lnTo>
                  <a:lnTo>
                    <a:pt x="9969" y="17555"/>
                  </a:lnTo>
                  <a:lnTo>
                    <a:pt x="10120" y="17687"/>
                  </a:lnTo>
                  <a:lnTo>
                    <a:pt x="10158" y="17831"/>
                  </a:lnTo>
                  <a:lnTo>
                    <a:pt x="10195" y="17974"/>
                  </a:lnTo>
                  <a:lnTo>
                    <a:pt x="10158" y="18128"/>
                  </a:lnTo>
                  <a:lnTo>
                    <a:pt x="10082" y="18271"/>
                  </a:lnTo>
                  <a:lnTo>
                    <a:pt x="9969" y="18426"/>
                  </a:lnTo>
                  <a:lnTo>
                    <a:pt x="9837" y="18569"/>
                  </a:lnTo>
                  <a:lnTo>
                    <a:pt x="9648" y="18701"/>
                  </a:lnTo>
                  <a:lnTo>
                    <a:pt x="9440" y="18822"/>
                  </a:lnTo>
                  <a:lnTo>
                    <a:pt x="9213" y="18999"/>
                  </a:lnTo>
                  <a:lnTo>
                    <a:pt x="9044" y="19186"/>
                  </a:lnTo>
                  <a:lnTo>
                    <a:pt x="8893" y="19395"/>
                  </a:lnTo>
                  <a:lnTo>
                    <a:pt x="8817" y="19627"/>
                  </a:lnTo>
                  <a:lnTo>
                    <a:pt x="8779" y="19858"/>
                  </a:lnTo>
                  <a:lnTo>
                    <a:pt x="8779" y="20112"/>
                  </a:lnTo>
                  <a:lnTo>
                    <a:pt x="8855" y="20354"/>
                  </a:lnTo>
                  <a:lnTo>
                    <a:pt x="8968" y="20586"/>
                  </a:lnTo>
                  <a:lnTo>
                    <a:pt x="9138" y="20817"/>
                  </a:lnTo>
                  <a:lnTo>
                    <a:pt x="9365" y="21026"/>
                  </a:lnTo>
                  <a:lnTo>
                    <a:pt x="9610" y="21192"/>
                  </a:lnTo>
                  <a:lnTo>
                    <a:pt x="9950" y="21368"/>
                  </a:lnTo>
                  <a:lnTo>
                    <a:pt x="10120" y="21445"/>
                  </a:lnTo>
                  <a:lnTo>
                    <a:pt x="10346" y="21511"/>
                  </a:lnTo>
                  <a:lnTo>
                    <a:pt x="10516" y="21555"/>
                  </a:lnTo>
                  <a:lnTo>
                    <a:pt x="10743" y="21600"/>
                  </a:lnTo>
                  <a:lnTo>
                    <a:pt x="10988" y="21644"/>
                  </a:lnTo>
                  <a:lnTo>
                    <a:pt x="11215" y="21666"/>
                  </a:lnTo>
                  <a:lnTo>
                    <a:pt x="11498" y="21666"/>
                  </a:lnTo>
                  <a:lnTo>
                    <a:pt x="11762" y="21666"/>
                  </a:lnTo>
                  <a:lnTo>
                    <a:pt x="12253" y="21644"/>
                  </a:lnTo>
                  <a:lnTo>
                    <a:pt x="12763" y="21577"/>
                  </a:lnTo>
                  <a:lnTo>
                    <a:pt x="13197" y="21467"/>
                  </a:lnTo>
                  <a:lnTo>
                    <a:pt x="13556" y="21346"/>
                  </a:lnTo>
                  <a:lnTo>
                    <a:pt x="13896" y="21192"/>
                  </a:lnTo>
                  <a:lnTo>
                    <a:pt x="14179" y="21026"/>
                  </a:lnTo>
                  <a:lnTo>
                    <a:pt x="14444" y="20839"/>
                  </a:lnTo>
                  <a:lnTo>
                    <a:pt x="14576" y="20641"/>
                  </a:lnTo>
                  <a:lnTo>
                    <a:pt x="14727" y="20431"/>
                  </a:lnTo>
                  <a:lnTo>
                    <a:pt x="14765" y="20200"/>
                  </a:lnTo>
                  <a:lnTo>
                    <a:pt x="14802" y="19991"/>
                  </a:lnTo>
                  <a:lnTo>
                    <a:pt x="14727" y="19759"/>
                  </a:lnTo>
                  <a:lnTo>
                    <a:pt x="14613" y="19550"/>
                  </a:lnTo>
                  <a:lnTo>
                    <a:pt x="14444" y="19307"/>
                  </a:lnTo>
                  <a:lnTo>
                    <a:pt x="14217" y="19098"/>
                  </a:lnTo>
                  <a:lnTo>
                    <a:pt x="13934" y="18911"/>
                  </a:lnTo>
                  <a:lnTo>
                    <a:pt x="13669" y="18745"/>
                  </a:lnTo>
                  <a:lnTo>
                    <a:pt x="13462" y="18547"/>
                  </a:lnTo>
                  <a:lnTo>
                    <a:pt x="13311" y="18337"/>
                  </a:lnTo>
                  <a:lnTo>
                    <a:pt x="13197" y="18150"/>
                  </a:lnTo>
                  <a:lnTo>
                    <a:pt x="13122" y="17941"/>
                  </a:lnTo>
                  <a:lnTo>
                    <a:pt x="13122" y="17720"/>
                  </a:lnTo>
                  <a:lnTo>
                    <a:pt x="13122" y="17533"/>
                  </a:lnTo>
                  <a:lnTo>
                    <a:pt x="13197" y="17346"/>
                  </a:lnTo>
                  <a:lnTo>
                    <a:pt x="13273" y="17158"/>
                  </a:lnTo>
                  <a:lnTo>
                    <a:pt x="13386" y="16982"/>
                  </a:lnTo>
                  <a:lnTo>
                    <a:pt x="13537" y="16839"/>
                  </a:lnTo>
                  <a:lnTo>
                    <a:pt x="13707" y="16706"/>
                  </a:lnTo>
                  <a:lnTo>
                    <a:pt x="13896" y="16607"/>
                  </a:lnTo>
                  <a:lnTo>
                    <a:pt x="14104" y="16519"/>
                  </a:lnTo>
                  <a:lnTo>
                    <a:pt x="14330" y="16453"/>
                  </a:lnTo>
                  <a:lnTo>
                    <a:pt x="14538" y="16431"/>
                  </a:lnTo>
                  <a:lnTo>
                    <a:pt x="14897" y="16453"/>
                  </a:lnTo>
                  <a:lnTo>
                    <a:pt x="15406" y="16497"/>
                  </a:lnTo>
                  <a:lnTo>
                    <a:pt x="16105" y="16541"/>
                  </a:lnTo>
                  <a:lnTo>
                    <a:pt x="16898" y="16607"/>
                  </a:lnTo>
                  <a:lnTo>
                    <a:pt x="17804" y="16651"/>
                  </a:lnTo>
                  <a:lnTo>
                    <a:pt x="18786" y="16684"/>
                  </a:lnTo>
                  <a:lnTo>
                    <a:pt x="19844" y="16728"/>
                  </a:lnTo>
                  <a:lnTo>
                    <a:pt x="20920" y="16751"/>
                  </a:lnTo>
                  <a:lnTo>
                    <a:pt x="21109" y="16497"/>
                  </a:lnTo>
                  <a:lnTo>
                    <a:pt x="21241" y="16222"/>
                  </a:lnTo>
                  <a:lnTo>
                    <a:pt x="21392" y="15946"/>
                  </a:lnTo>
                  <a:lnTo>
                    <a:pt x="21467" y="15648"/>
                  </a:lnTo>
                  <a:lnTo>
                    <a:pt x="21543" y="15351"/>
                  </a:lnTo>
                  <a:lnTo>
                    <a:pt x="21618" y="15042"/>
                  </a:lnTo>
                  <a:lnTo>
                    <a:pt x="21618" y="14745"/>
                  </a:lnTo>
                  <a:lnTo>
                    <a:pt x="21618" y="14447"/>
                  </a:lnTo>
                  <a:lnTo>
                    <a:pt x="21618" y="14150"/>
                  </a:lnTo>
                  <a:lnTo>
                    <a:pt x="21581" y="13852"/>
                  </a:lnTo>
                  <a:lnTo>
                    <a:pt x="21505" y="13577"/>
                  </a:lnTo>
                  <a:lnTo>
                    <a:pt x="21430" y="13301"/>
                  </a:lnTo>
                  <a:lnTo>
                    <a:pt x="21354" y="13048"/>
                  </a:lnTo>
                  <a:lnTo>
                    <a:pt x="21241" y="12816"/>
                  </a:lnTo>
                  <a:lnTo>
                    <a:pt x="21146" y="12607"/>
                  </a:lnTo>
                  <a:lnTo>
                    <a:pt x="21033" y="12431"/>
                  </a:lnTo>
                  <a:lnTo>
                    <a:pt x="20920" y="12265"/>
                  </a:lnTo>
                  <a:lnTo>
                    <a:pt x="20769" y="12144"/>
                  </a:lnTo>
                  <a:lnTo>
                    <a:pt x="20637" y="12034"/>
                  </a:lnTo>
                  <a:lnTo>
                    <a:pt x="20486" y="11946"/>
                  </a:lnTo>
                  <a:lnTo>
                    <a:pt x="20297" y="11891"/>
                  </a:lnTo>
                  <a:lnTo>
                    <a:pt x="20165" y="11846"/>
                  </a:lnTo>
                  <a:lnTo>
                    <a:pt x="19976" y="11824"/>
                  </a:lnTo>
                  <a:lnTo>
                    <a:pt x="19806" y="11802"/>
                  </a:lnTo>
                  <a:lnTo>
                    <a:pt x="19390" y="11824"/>
                  </a:lnTo>
                  <a:lnTo>
                    <a:pt x="18956" y="11891"/>
                  </a:lnTo>
                  <a:lnTo>
                    <a:pt x="18503" y="11968"/>
                  </a:lnTo>
                  <a:lnTo>
                    <a:pt x="17993" y="12078"/>
                  </a:lnTo>
                  <a:lnTo>
                    <a:pt x="17653" y="12144"/>
                  </a:lnTo>
                  <a:lnTo>
                    <a:pt x="17332" y="12199"/>
                  </a:lnTo>
                  <a:lnTo>
                    <a:pt x="17049" y="12221"/>
                  </a:lnTo>
                  <a:lnTo>
                    <a:pt x="16747" y="12243"/>
                  </a:lnTo>
                  <a:lnTo>
                    <a:pt x="16464" y="12243"/>
                  </a:lnTo>
                  <a:lnTo>
                    <a:pt x="16218" y="12243"/>
                  </a:lnTo>
                  <a:lnTo>
                    <a:pt x="15992" y="12221"/>
                  </a:lnTo>
                  <a:lnTo>
                    <a:pt x="15746" y="12199"/>
                  </a:lnTo>
                  <a:lnTo>
                    <a:pt x="15520" y="12155"/>
                  </a:lnTo>
                  <a:lnTo>
                    <a:pt x="15350" y="12122"/>
                  </a:lnTo>
                  <a:lnTo>
                    <a:pt x="15161" y="12056"/>
                  </a:lnTo>
                  <a:lnTo>
                    <a:pt x="14972" y="11990"/>
                  </a:lnTo>
                  <a:lnTo>
                    <a:pt x="14689" y="11846"/>
                  </a:lnTo>
                  <a:lnTo>
                    <a:pt x="14444" y="11670"/>
                  </a:lnTo>
                  <a:lnTo>
                    <a:pt x="14255" y="11483"/>
                  </a:lnTo>
                  <a:lnTo>
                    <a:pt x="14104" y="11295"/>
                  </a:lnTo>
                  <a:lnTo>
                    <a:pt x="14028" y="11086"/>
                  </a:lnTo>
                  <a:lnTo>
                    <a:pt x="13972" y="10888"/>
                  </a:lnTo>
                  <a:lnTo>
                    <a:pt x="13972" y="10700"/>
                  </a:lnTo>
                  <a:lnTo>
                    <a:pt x="14009" y="10513"/>
                  </a:lnTo>
                  <a:lnTo>
                    <a:pt x="14066" y="10359"/>
                  </a:lnTo>
                  <a:lnTo>
                    <a:pt x="14179" y="10215"/>
                  </a:lnTo>
                  <a:lnTo>
                    <a:pt x="14406" y="10006"/>
                  </a:lnTo>
                  <a:lnTo>
                    <a:pt x="14651" y="9830"/>
                  </a:lnTo>
                  <a:lnTo>
                    <a:pt x="14878" y="9686"/>
                  </a:lnTo>
                  <a:lnTo>
                    <a:pt x="15123" y="9554"/>
                  </a:lnTo>
                  <a:lnTo>
                    <a:pt x="15350" y="9477"/>
                  </a:lnTo>
                  <a:lnTo>
                    <a:pt x="15558" y="9411"/>
                  </a:lnTo>
                  <a:lnTo>
                    <a:pt x="15803" y="9345"/>
                  </a:lnTo>
                  <a:lnTo>
                    <a:pt x="16030" y="9323"/>
                  </a:lnTo>
                  <a:lnTo>
                    <a:pt x="16256" y="9301"/>
                  </a:lnTo>
                  <a:lnTo>
                    <a:pt x="16464" y="9323"/>
                  </a:lnTo>
                  <a:lnTo>
                    <a:pt x="16690" y="9345"/>
                  </a:lnTo>
                  <a:lnTo>
                    <a:pt x="16898" y="9367"/>
                  </a:lnTo>
                  <a:lnTo>
                    <a:pt x="17332" y="9477"/>
                  </a:lnTo>
                  <a:lnTo>
                    <a:pt x="17767" y="9598"/>
                  </a:lnTo>
                  <a:lnTo>
                    <a:pt x="18163" y="9731"/>
                  </a:lnTo>
                  <a:lnTo>
                    <a:pt x="18597" y="9874"/>
                  </a:lnTo>
                  <a:lnTo>
                    <a:pt x="18994" y="10006"/>
                  </a:lnTo>
                  <a:lnTo>
                    <a:pt x="19428" y="10083"/>
                  </a:lnTo>
                  <a:lnTo>
                    <a:pt x="19617" y="10127"/>
                  </a:lnTo>
                  <a:lnTo>
                    <a:pt x="19844" y="10149"/>
                  </a:lnTo>
                  <a:lnTo>
                    <a:pt x="20013" y="10149"/>
                  </a:lnTo>
                  <a:lnTo>
                    <a:pt x="20240" y="10127"/>
                  </a:lnTo>
                  <a:lnTo>
                    <a:pt x="20410" y="10105"/>
                  </a:lnTo>
                  <a:lnTo>
                    <a:pt x="20637" y="10061"/>
                  </a:lnTo>
                  <a:lnTo>
                    <a:pt x="20844" y="9984"/>
                  </a:lnTo>
                  <a:lnTo>
                    <a:pt x="21033" y="9896"/>
                  </a:lnTo>
                  <a:lnTo>
                    <a:pt x="21146" y="9830"/>
                  </a:lnTo>
                  <a:lnTo>
                    <a:pt x="21203" y="9753"/>
                  </a:lnTo>
                  <a:lnTo>
                    <a:pt x="21279" y="9642"/>
                  </a:lnTo>
                  <a:lnTo>
                    <a:pt x="21354" y="9521"/>
                  </a:lnTo>
                  <a:lnTo>
                    <a:pt x="21430" y="9246"/>
                  </a:lnTo>
                  <a:lnTo>
                    <a:pt x="21430" y="8904"/>
                  </a:lnTo>
                  <a:lnTo>
                    <a:pt x="21430" y="8540"/>
                  </a:lnTo>
                  <a:lnTo>
                    <a:pt x="21392" y="8144"/>
                  </a:lnTo>
                  <a:lnTo>
                    <a:pt x="21354" y="7714"/>
                  </a:lnTo>
                  <a:lnTo>
                    <a:pt x="21279" y="7295"/>
                  </a:lnTo>
                  <a:lnTo>
                    <a:pt x="21146" y="6446"/>
                  </a:lnTo>
                  <a:lnTo>
                    <a:pt x="20995" y="5686"/>
                  </a:lnTo>
                  <a:lnTo>
                    <a:pt x="20958" y="5366"/>
                  </a:lnTo>
                  <a:lnTo>
                    <a:pt x="20958" y="5091"/>
                  </a:lnTo>
                  <a:lnTo>
                    <a:pt x="20958" y="4860"/>
                  </a:lnTo>
                  <a:lnTo>
                    <a:pt x="21033" y="4716"/>
                  </a:lnTo>
                  <a:lnTo>
                    <a:pt x="20637" y="4860"/>
                  </a:lnTo>
                  <a:lnTo>
                    <a:pt x="20127" y="4992"/>
                  </a:lnTo>
                  <a:lnTo>
                    <a:pt x="19617" y="5069"/>
                  </a:lnTo>
                  <a:lnTo>
                    <a:pt x="19032" y="5157"/>
                  </a:lnTo>
                  <a:lnTo>
                    <a:pt x="18465" y="5201"/>
                  </a:lnTo>
                  <a:lnTo>
                    <a:pt x="17842" y="5245"/>
                  </a:lnTo>
                  <a:lnTo>
                    <a:pt x="17219" y="5267"/>
                  </a:lnTo>
                  <a:lnTo>
                    <a:pt x="16615" y="5267"/>
                  </a:lnTo>
                  <a:lnTo>
                    <a:pt x="15992" y="5245"/>
                  </a:lnTo>
                  <a:lnTo>
                    <a:pt x="15369" y="5201"/>
                  </a:lnTo>
                  <a:lnTo>
                    <a:pt x="14840" y="5157"/>
                  </a:lnTo>
                  <a:lnTo>
                    <a:pt x="14293" y="5091"/>
                  </a:lnTo>
                  <a:lnTo>
                    <a:pt x="13783" y="5014"/>
                  </a:lnTo>
                  <a:lnTo>
                    <a:pt x="13386" y="4926"/>
                  </a:lnTo>
                  <a:lnTo>
                    <a:pt x="13027" y="4815"/>
                  </a:lnTo>
                  <a:lnTo>
                    <a:pt x="12725" y="4716"/>
                  </a:lnTo>
                  <a:lnTo>
                    <a:pt x="12480" y="4606"/>
                  </a:lnTo>
                  <a:lnTo>
                    <a:pt x="12291" y="4496"/>
                  </a:lnTo>
                  <a:lnTo>
                    <a:pt x="12197" y="4397"/>
                  </a:lnTo>
                  <a:lnTo>
                    <a:pt x="12083" y="4286"/>
                  </a:lnTo>
                  <a:lnTo>
                    <a:pt x="12046" y="4187"/>
                  </a:lnTo>
                  <a:lnTo>
                    <a:pt x="12008" y="4077"/>
                  </a:lnTo>
                  <a:lnTo>
                    <a:pt x="12046" y="3967"/>
                  </a:lnTo>
                  <a:lnTo>
                    <a:pt x="12121" y="3868"/>
                  </a:lnTo>
                  <a:lnTo>
                    <a:pt x="12197" y="3735"/>
                  </a:lnTo>
                  <a:lnTo>
                    <a:pt x="12291" y="3614"/>
                  </a:lnTo>
                  <a:lnTo>
                    <a:pt x="12442" y="3482"/>
                  </a:lnTo>
                  <a:lnTo>
                    <a:pt x="12631" y="3361"/>
                  </a:lnTo>
                  <a:lnTo>
                    <a:pt x="13065" y="3085"/>
                  </a:lnTo>
                  <a:lnTo>
                    <a:pt x="13537" y="2766"/>
                  </a:lnTo>
                  <a:lnTo>
                    <a:pt x="13783" y="2578"/>
                  </a:lnTo>
                  <a:lnTo>
                    <a:pt x="13934" y="2380"/>
                  </a:lnTo>
                  <a:lnTo>
                    <a:pt x="14028" y="2171"/>
                  </a:lnTo>
                  <a:lnTo>
                    <a:pt x="14104" y="1961"/>
                  </a:lnTo>
                  <a:lnTo>
                    <a:pt x="14104" y="1730"/>
                  </a:lnTo>
                  <a:lnTo>
                    <a:pt x="14066" y="1498"/>
                  </a:lnTo>
                  <a:lnTo>
                    <a:pt x="13972" y="1267"/>
                  </a:lnTo>
                  <a:lnTo>
                    <a:pt x="13820" y="1057"/>
                  </a:lnTo>
                  <a:lnTo>
                    <a:pt x="13594" y="837"/>
                  </a:lnTo>
                  <a:lnTo>
                    <a:pt x="13386" y="628"/>
                  </a:lnTo>
                  <a:lnTo>
                    <a:pt x="13103" y="462"/>
                  </a:lnTo>
                  <a:lnTo>
                    <a:pt x="12763" y="308"/>
                  </a:lnTo>
                  <a:lnTo>
                    <a:pt x="12404" y="187"/>
                  </a:lnTo>
                  <a:lnTo>
                    <a:pt x="12008" y="77"/>
                  </a:lnTo>
                  <a:lnTo>
                    <a:pt x="11574" y="33"/>
                  </a:lnTo>
                  <a:lnTo>
                    <a:pt x="11102" y="11"/>
                  </a:lnTo>
                  <a:lnTo>
                    <a:pt x="10667" y="11"/>
                  </a:lnTo>
                  <a:lnTo>
                    <a:pt x="10233" y="77"/>
                  </a:lnTo>
                  <a:lnTo>
                    <a:pt x="9837" y="187"/>
                  </a:lnTo>
                  <a:lnTo>
                    <a:pt x="9440" y="286"/>
                  </a:lnTo>
                  <a:lnTo>
                    <a:pt x="9062" y="462"/>
                  </a:lnTo>
                  <a:lnTo>
                    <a:pt x="8741" y="628"/>
                  </a:lnTo>
                  <a:lnTo>
                    <a:pt x="8458" y="815"/>
                  </a:lnTo>
                  <a:lnTo>
                    <a:pt x="8232" y="1035"/>
                  </a:lnTo>
                  <a:lnTo>
                    <a:pt x="8062" y="1245"/>
                  </a:lnTo>
                  <a:lnTo>
                    <a:pt x="7911" y="1476"/>
                  </a:lnTo>
                  <a:lnTo>
                    <a:pt x="7835" y="1708"/>
                  </a:lnTo>
                  <a:lnTo>
                    <a:pt x="7797" y="1961"/>
                  </a:lnTo>
                  <a:lnTo>
                    <a:pt x="7835" y="2193"/>
                  </a:lnTo>
                  <a:lnTo>
                    <a:pt x="7948" y="2402"/>
                  </a:lnTo>
                  <a:lnTo>
                    <a:pt x="8062" y="2534"/>
                  </a:lnTo>
                  <a:lnTo>
                    <a:pt x="8175" y="2644"/>
                  </a:lnTo>
                  <a:lnTo>
                    <a:pt x="8269" y="2744"/>
                  </a:lnTo>
                  <a:lnTo>
                    <a:pt x="8420" y="2832"/>
                  </a:lnTo>
                  <a:lnTo>
                    <a:pt x="8704" y="3019"/>
                  </a:lnTo>
                  <a:lnTo>
                    <a:pt x="8968" y="3206"/>
                  </a:lnTo>
                  <a:lnTo>
                    <a:pt x="9138" y="3405"/>
                  </a:lnTo>
                  <a:lnTo>
                    <a:pt x="9327" y="3570"/>
                  </a:lnTo>
                  <a:lnTo>
                    <a:pt x="9440" y="3735"/>
                  </a:lnTo>
                  <a:lnTo>
                    <a:pt x="9516" y="3890"/>
                  </a:lnTo>
                  <a:lnTo>
                    <a:pt x="9534" y="4033"/>
                  </a:lnTo>
                  <a:lnTo>
                    <a:pt x="9534" y="4165"/>
                  </a:lnTo>
                  <a:lnTo>
                    <a:pt x="9516" y="4286"/>
                  </a:lnTo>
                  <a:lnTo>
                    <a:pt x="9440" y="4397"/>
                  </a:lnTo>
                  <a:lnTo>
                    <a:pt x="9327" y="4496"/>
                  </a:lnTo>
                  <a:lnTo>
                    <a:pt x="9176" y="4562"/>
                  </a:lnTo>
                  <a:lnTo>
                    <a:pt x="9006" y="4628"/>
                  </a:lnTo>
                  <a:lnTo>
                    <a:pt x="8779" y="4694"/>
                  </a:lnTo>
                  <a:lnTo>
                    <a:pt x="8534" y="4716"/>
                  </a:lnTo>
                  <a:lnTo>
                    <a:pt x="8232" y="4716"/>
                  </a:lnTo>
                  <a:lnTo>
                    <a:pt x="7118" y="4738"/>
                  </a:lnTo>
                  <a:lnTo>
                    <a:pt x="5947" y="4771"/>
                  </a:lnTo>
                  <a:lnTo>
                    <a:pt x="4795" y="4815"/>
                  </a:lnTo>
                  <a:lnTo>
                    <a:pt x="3681" y="4860"/>
                  </a:lnTo>
                  <a:lnTo>
                    <a:pt x="2662" y="4882"/>
                  </a:lnTo>
                  <a:lnTo>
                    <a:pt x="1755" y="4882"/>
                  </a:lnTo>
                  <a:lnTo>
                    <a:pt x="1359" y="4860"/>
                  </a:lnTo>
                  <a:lnTo>
                    <a:pt x="981" y="4837"/>
                  </a:lnTo>
                  <a:lnTo>
                    <a:pt x="698" y="4771"/>
                  </a:lnTo>
                  <a:lnTo>
                    <a:pt x="453" y="4716"/>
                  </a:lnTo>
                  <a:lnTo>
                    <a:pt x="453" y="5322"/>
                  </a:lnTo>
                  <a:lnTo>
                    <a:pt x="453" y="6083"/>
                  </a:lnTo>
                  <a:lnTo>
                    <a:pt x="453" y="6909"/>
                  </a:lnTo>
                  <a:lnTo>
                    <a:pt x="453" y="7780"/>
                  </a:lnTo>
                  <a:lnTo>
                    <a:pt x="453" y="8606"/>
                  </a:lnTo>
                  <a:lnTo>
                    <a:pt x="453" y="9345"/>
                  </a:lnTo>
                  <a:lnTo>
                    <a:pt x="453" y="9918"/>
                  </a:lnTo>
                  <a:lnTo>
                    <a:pt x="453" y="10282"/>
                  </a:lnTo>
                  <a:lnTo>
                    <a:pt x="490" y="10381"/>
                  </a:lnTo>
                  <a:lnTo>
                    <a:pt x="547" y="10491"/>
                  </a:lnTo>
                  <a:lnTo>
                    <a:pt x="660" y="10590"/>
                  </a:lnTo>
                  <a:lnTo>
                    <a:pt x="811" y="10700"/>
                  </a:lnTo>
                  <a:lnTo>
                    <a:pt x="981" y="10811"/>
                  </a:lnTo>
                  <a:lnTo>
                    <a:pt x="1208" y="10888"/>
                  </a:lnTo>
                  <a:lnTo>
                    <a:pt x="1453" y="10954"/>
                  </a:lnTo>
                  <a:lnTo>
                    <a:pt x="1718" y="11020"/>
                  </a:lnTo>
                  <a:lnTo>
                    <a:pt x="1963" y="11064"/>
                  </a:lnTo>
                  <a:lnTo>
                    <a:pt x="2265" y="11086"/>
                  </a:lnTo>
                  <a:lnTo>
                    <a:pt x="2548" y="11064"/>
                  </a:lnTo>
                  <a:lnTo>
                    <a:pt x="2794" y="11042"/>
                  </a:lnTo>
                  <a:lnTo>
                    <a:pt x="3096" y="10976"/>
                  </a:lnTo>
                  <a:lnTo>
                    <a:pt x="3341" y="10888"/>
                  </a:lnTo>
                  <a:lnTo>
                    <a:pt x="3606" y="10766"/>
                  </a:lnTo>
                  <a:lnTo>
                    <a:pt x="3813" y="10590"/>
                  </a:lnTo>
                  <a:close/>
                </a:path>
              </a:pathLst>
            </a:custGeom>
            <a:solidFill>
              <a:srgbClr val="D8EBB3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8" name="AutoShape 18"/>
            <p:cNvSpPr>
              <a:spLocks noChangeArrowheads="1"/>
            </p:cNvSpPr>
            <p:nvPr/>
          </p:nvSpPr>
          <p:spPr bwMode="auto">
            <a:xfrm>
              <a:off x="968" y="792"/>
              <a:ext cx="206" cy="1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6082 w 21600"/>
                <a:gd name="T25" fmla="*/ 2586 h 21600"/>
                <a:gd name="T26" fmla="*/ 16148 w 21600"/>
                <a:gd name="T27" fmla="*/ 1947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9360" y="20836"/>
                  </a:moveTo>
                  <a:lnTo>
                    <a:pt x="9528" y="20836"/>
                  </a:lnTo>
                  <a:lnTo>
                    <a:pt x="9686" y="20762"/>
                  </a:lnTo>
                  <a:lnTo>
                    <a:pt x="9810" y="20687"/>
                  </a:lnTo>
                  <a:lnTo>
                    <a:pt x="9922" y="20575"/>
                  </a:lnTo>
                  <a:lnTo>
                    <a:pt x="10012" y="20426"/>
                  </a:lnTo>
                  <a:lnTo>
                    <a:pt x="10068" y="20296"/>
                  </a:lnTo>
                  <a:lnTo>
                    <a:pt x="10113" y="20110"/>
                  </a:lnTo>
                  <a:lnTo>
                    <a:pt x="10136" y="19905"/>
                  </a:lnTo>
                  <a:lnTo>
                    <a:pt x="10136" y="19682"/>
                  </a:lnTo>
                  <a:lnTo>
                    <a:pt x="10113" y="19440"/>
                  </a:lnTo>
                  <a:lnTo>
                    <a:pt x="10068" y="19142"/>
                  </a:lnTo>
                  <a:lnTo>
                    <a:pt x="10012" y="18900"/>
                  </a:lnTo>
                  <a:lnTo>
                    <a:pt x="9900" y="18620"/>
                  </a:lnTo>
                  <a:lnTo>
                    <a:pt x="9787" y="18285"/>
                  </a:lnTo>
                  <a:lnTo>
                    <a:pt x="9641" y="17968"/>
                  </a:lnTo>
                  <a:lnTo>
                    <a:pt x="9472" y="17652"/>
                  </a:lnTo>
                  <a:lnTo>
                    <a:pt x="9382" y="17466"/>
                  </a:lnTo>
                  <a:lnTo>
                    <a:pt x="9315" y="17298"/>
                  </a:lnTo>
                  <a:lnTo>
                    <a:pt x="9258" y="17112"/>
                  </a:lnTo>
                  <a:lnTo>
                    <a:pt x="9191" y="16926"/>
                  </a:lnTo>
                  <a:lnTo>
                    <a:pt x="9123" y="16535"/>
                  </a:lnTo>
                  <a:lnTo>
                    <a:pt x="9101" y="16144"/>
                  </a:lnTo>
                  <a:lnTo>
                    <a:pt x="9101" y="15753"/>
                  </a:lnTo>
                  <a:lnTo>
                    <a:pt x="9168" y="15362"/>
                  </a:lnTo>
                  <a:lnTo>
                    <a:pt x="9236" y="14971"/>
                  </a:lnTo>
                  <a:lnTo>
                    <a:pt x="9360" y="14580"/>
                  </a:lnTo>
                  <a:lnTo>
                    <a:pt x="9495" y="14244"/>
                  </a:lnTo>
                  <a:lnTo>
                    <a:pt x="9663" y="13891"/>
                  </a:lnTo>
                  <a:lnTo>
                    <a:pt x="9855" y="13611"/>
                  </a:lnTo>
                  <a:lnTo>
                    <a:pt x="10068" y="13351"/>
                  </a:lnTo>
                  <a:lnTo>
                    <a:pt x="10293" y="13146"/>
                  </a:lnTo>
                  <a:lnTo>
                    <a:pt x="10552" y="12997"/>
                  </a:lnTo>
                  <a:lnTo>
                    <a:pt x="10811" y="12885"/>
                  </a:lnTo>
                  <a:lnTo>
                    <a:pt x="11069" y="12866"/>
                  </a:lnTo>
                  <a:lnTo>
                    <a:pt x="11351" y="12885"/>
                  </a:lnTo>
                  <a:lnTo>
                    <a:pt x="11610" y="12997"/>
                  </a:lnTo>
                  <a:lnTo>
                    <a:pt x="11846" y="13183"/>
                  </a:lnTo>
                  <a:lnTo>
                    <a:pt x="12060" y="13388"/>
                  </a:lnTo>
                  <a:lnTo>
                    <a:pt x="12251" y="13648"/>
                  </a:lnTo>
                  <a:lnTo>
                    <a:pt x="12419" y="13928"/>
                  </a:lnTo>
                  <a:lnTo>
                    <a:pt x="12555" y="14244"/>
                  </a:lnTo>
                  <a:lnTo>
                    <a:pt x="12690" y="14617"/>
                  </a:lnTo>
                  <a:lnTo>
                    <a:pt x="12768" y="15008"/>
                  </a:lnTo>
                  <a:lnTo>
                    <a:pt x="12836" y="15399"/>
                  </a:lnTo>
                  <a:lnTo>
                    <a:pt x="12858" y="15753"/>
                  </a:lnTo>
                  <a:lnTo>
                    <a:pt x="12858" y="16144"/>
                  </a:lnTo>
                  <a:lnTo>
                    <a:pt x="12813" y="16535"/>
                  </a:lnTo>
                  <a:lnTo>
                    <a:pt x="12746" y="16888"/>
                  </a:lnTo>
                  <a:lnTo>
                    <a:pt x="12667" y="17224"/>
                  </a:lnTo>
                  <a:lnTo>
                    <a:pt x="12510" y="17503"/>
                  </a:lnTo>
                  <a:lnTo>
                    <a:pt x="12228" y="18043"/>
                  </a:lnTo>
                  <a:lnTo>
                    <a:pt x="11970" y="18546"/>
                  </a:lnTo>
                  <a:lnTo>
                    <a:pt x="11868" y="18751"/>
                  </a:lnTo>
                  <a:lnTo>
                    <a:pt x="11778" y="18974"/>
                  </a:lnTo>
                  <a:lnTo>
                    <a:pt x="11711" y="19179"/>
                  </a:lnTo>
                  <a:lnTo>
                    <a:pt x="11666" y="19365"/>
                  </a:lnTo>
                  <a:lnTo>
                    <a:pt x="11632" y="19570"/>
                  </a:lnTo>
                  <a:lnTo>
                    <a:pt x="11632" y="19756"/>
                  </a:lnTo>
                  <a:lnTo>
                    <a:pt x="11632" y="19942"/>
                  </a:lnTo>
                  <a:lnTo>
                    <a:pt x="11643" y="20110"/>
                  </a:lnTo>
                  <a:lnTo>
                    <a:pt x="11711" y="20296"/>
                  </a:lnTo>
                  <a:lnTo>
                    <a:pt x="11801" y="20464"/>
                  </a:lnTo>
                  <a:lnTo>
                    <a:pt x="11891" y="20650"/>
                  </a:lnTo>
                  <a:lnTo>
                    <a:pt x="12037" y="20836"/>
                  </a:lnTo>
                  <a:lnTo>
                    <a:pt x="12206" y="21004"/>
                  </a:lnTo>
                  <a:lnTo>
                    <a:pt x="12419" y="21190"/>
                  </a:lnTo>
                  <a:lnTo>
                    <a:pt x="12667" y="21320"/>
                  </a:lnTo>
                  <a:lnTo>
                    <a:pt x="12960" y="21432"/>
                  </a:lnTo>
                  <a:lnTo>
                    <a:pt x="13286" y="21544"/>
                  </a:lnTo>
                  <a:lnTo>
                    <a:pt x="13612" y="21655"/>
                  </a:lnTo>
                  <a:lnTo>
                    <a:pt x="13983" y="21693"/>
                  </a:lnTo>
                  <a:lnTo>
                    <a:pt x="14343" y="21730"/>
                  </a:lnTo>
                  <a:lnTo>
                    <a:pt x="14715" y="21730"/>
                  </a:lnTo>
                  <a:lnTo>
                    <a:pt x="15075" y="21730"/>
                  </a:lnTo>
                  <a:lnTo>
                    <a:pt x="15446" y="21655"/>
                  </a:lnTo>
                  <a:lnTo>
                    <a:pt x="15794" y="21581"/>
                  </a:lnTo>
                  <a:lnTo>
                    <a:pt x="16132" y="21432"/>
                  </a:lnTo>
                  <a:lnTo>
                    <a:pt x="16458" y="21302"/>
                  </a:lnTo>
                  <a:lnTo>
                    <a:pt x="16740" y="21078"/>
                  </a:lnTo>
                  <a:lnTo>
                    <a:pt x="16976" y="20836"/>
                  </a:lnTo>
                  <a:lnTo>
                    <a:pt x="17043" y="20650"/>
                  </a:lnTo>
                  <a:lnTo>
                    <a:pt x="17088" y="20426"/>
                  </a:lnTo>
                  <a:lnTo>
                    <a:pt x="17133" y="20222"/>
                  </a:lnTo>
                  <a:lnTo>
                    <a:pt x="17156" y="19980"/>
                  </a:lnTo>
                  <a:lnTo>
                    <a:pt x="17167" y="19477"/>
                  </a:lnTo>
                  <a:lnTo>
                    <a:pt x="17167" y="18974"/>
                  </a:lnTo>
                  <a:lnTo>
                    <a:pt x="17156" y="18397"/>
                  </a:lnTo>
                  <a:lnTo>
                    <a:pt x="17111" y="17820"/>
                  </a:lnTo>
                  <a:lnTo>
                    <a:pt x="17066" y="17261"/>
                  </a:lnTo>
                  <a:lnTo>
                    <a:pt x="16998" y="16646"/>
                  </a:lnTo>
                  <a:lnTo>
                    <a:pt x="16852" y="15511"/>
                  </a:lnTo>
                  <a:lnTo>
                    <a:pt x="16740" y="14393"/>
                  </a:lnTo>
                  <a:lnTo>
                    <a:pt x="16717" y="13928"/>
                  </a:lnTo>
                  <a:lnTo>
                    <a:pt x="16695" y="13462"/>
                  </a:lnTo>
                  <a:lnTo>
                    <a:pt x="16717" y="13071"/>
                  </a:lnTo>
                  <a:lnTo>
                    <a:pt x="16785" y="12755"/>
                  </a:lnTo>
                  <a:lnTo>
                    <a:pt x="16852" y="12419"/>
                  </a:lnTo>
                  <a:lnTo>
                    <a:pt x="16953" y="12140"/>
                  </a:lnTo>
                  <a:lnTo>
                    <a:pt x="17088" y="11898"/>
                  </a:lnTo>
                  <a:lnTo>
                    <a:pt x="17212" y="11675"/>
                  </a:lnTo>
                  <a:lnTo>
                    <a:pt x="17370" y="11470"/>
                  </a:lnTo>
                  <a:lnTo>
                    <a:pt x="17516" y="11284"/>
                  </a:lnTo>
                  <a:lnTo>
                    <a:pt x="17696" y="11135"/>
                  </a:lnTo>
                  <a:lnTo>
                    <a:pt x="17865" y="11042"/>
                  </a:lnTo>
                  <a:lnTo>
                    <a:pt x="18033" y="10930"/>
                  </a:lnTo>
                  <a:lnTo>
                    <a:pt x="18213" y="10893"/>
                  </a:lnTo>
                  <a:lnTo>
                    <a:pt x="18382" y="10893"/>
                  </a:lnTo>
                  <a:lnTo>
                    <a:pt x="18551" y="10967"/>
                  </a:lnTo>
                  <a:lnTo>
                    <a:pt x="18708" y="11042"/>
                  </a:lnTo>
                  <a:lnTo>
                    <a:pt x="18855" y="11172"/>
                  </a:lnTo>
                  <a:lnTo>
                    <a:pt x="19012" y="11358"/>
                  </a:lnTo>
                  <a:lnTo>
                    <a:pt x="19136" y="11600"/>
                  </a:lnTo>
                  <a:lnTo>
                    <a:pt x="19271" y="11861"/>
                  </a:lnTo>
                  <a:lnTo>
                    <a:pt x="19440" y="12028"/>
                  </a:lnTo>
                  <a:lnTo>
                    <a:pt x="19608" y="12177"/>
                  </a:lnTo>
                  <a:lnTo>
                    <a:pt x="19822" y="12289"/>
                  </a:lnTo>
                  <a:lnTo>
                    <a:pt x="20025" y="12289"/>
                  </a:lnTo>
                  <a:lnTo>
                    <a:pt x="20238" y="12289"/>
                  </a:lnTo>
                  <a:lnTo>
                    <a:pt x="20452" y="12215"/>
                  </a:lnTo>
                  <a:lnTo>
                    <a:pt x="20643" y="12103"/>
                  </a:lnTo>
                  <a:lnTo>
                    <a:pt x="20846" y="11973"/>
                  </a:lnTo>
                  <a:lnTo>
                    <a:pt x="21037" y="11786"/>
                  </a:lnTo>
                  <a:lnTo>
                    <a:pt x="21206" y="11563"/>
                  </a:lnTo>
                  <a:lnTo>
                    <a:pt x="21363" y="11321"/>
                  </a:lnTo>
                  <a:lnTo>
                    <a:pt x="21465" y="11079"/>
                  </a:lnTo>
                  <a:lnTo>
                    <a:pt x="21577" y="10744"/>
                  </a:lnTo>
                  <a:lnTo>
                    <a:pt x="21622" y="10427"/>
                  </a:lnTo>
                  <a:lnTo>
                    <a:pt x="21645" y="10111"/>
                  </a:lnTo>
                  <a:lnTo>
                    <a:pt x="21622" y="9608"/>
                  </a:lnTo>
                  <a:lnTo>
                    <a:pt x="21577" y="9142"/>
                  </a:lnTo>
                  <a:lnTo>
                    <a:pt x="21465" y="8751"/>
                  </a:lnTo>
                  <a:lnTo>
                    <a:pt x="21363" y="8397"/>
                  </a:lnTo>
                  <a:lnTo>
                    <a:pt x="21206" y="8062"/>
                  </a:lnTo>
                  <a:lnTo>
                    <a:pt x="21037" y="7820"/>
                  </a:lnTo>
                  <a:lnTo>
                    <a:pt x="20846" y="7597"/>
                  </a:lnTo>
                  <a:lnTo>
                    <a:pt x="20643" y="7429"/>
                  </a:lnTo>
                  <a:lnTo>
                    <a:pt x="20452" y="7317"/>
                  </a:lnTo>
                  <a:lnTo>
                    <a:pt x="20238" y="7206"/>
                  </a:lnTo>
                  <a:lnTo>
                    <a:pt x="20025" y="7168"/>
                  </a:lnTo>
                  <a:lnTo>
                    <a:pt x="19822" y="7206"/>
                  </a:lnTo>
                  <a:lnTo>
                    <a:pt x="19608" y="7243"/>
                  </a:lnTo>
                  <a:lnTo>
                    <a:pt x="19440" y="7355"/>
                  </a:lnTo>
                  <a:lnTo>
                    <a:pt x="19271" y="7504"/>
                  </a:lnTo>
                  <a:lnTo>
                    <a:pt x="19136" y="7708"/>
                  </a:lnTo>
                  <a:lnTo>
                    <a:pt x="19012" y="7895"/>
                  </a:lnTo>
                  <a:lnTo>
                    <a:pt x="18832" y="8025"/>
                  </a:lnTo>
                  <a:lnTo>
                    <a:pt x="18663" y="8174"/>
                  </a:lnTo>
                  <a:lnTo>
                    <a:pt x="18472" y="8248"/>
                  </a:lnTo>
                  <a:lnTo>
                    <a:pt x="18270" y="8286"/>
                  </a:lnTo>
                  <a:lnTo>
                    <a:pt x="18078" y="8323"/>
                  </a:lnTo>
                  <a:lnTo>
                    <a:pt x="17887" y="8323"/>
                  </a:lnTo>
                  <a:lnTo>
                    <a:pt x="17696" y="8248"/>
                  </a:lnTo>
                  <a:lnTo>
                    <a:pt x="17493" y="8174"/>
                  </a:lnTo>
                  <a:lnTo>
                    <a:pt x="17302" y="8062"/>
                  </a:lnTo>
                  <a:lnTo>
                    <a:pt x="17133" y="7969"/>
                  </a:lnTo>
                  <a:lnTo>
                    <a:pt x="16976" y="7783"/>
                  </a:lnTo>
                  <a:lnTo>
                    <a:pt x="16852" y="7597"/>
                  </a:lnTo>
                  <a:lnTo>
                    <a:pt x="16740" y="7429"/>
                  </a:lnTo>
                  <a:lnTo>
                    <a:pt x="16672" y="7168"/>
                  </a:lnTo>
                  <a:lnTo>
                    <a:pt x="16638" y="6926"/>
                  </a:lnTo>
                  <a:lnTo>
                    <a:pt x="16616" y="6498"/>
                  </a:lnTo>
                  <a:lnTo>
                    <a:pt x="16616" y="5772"/>
                  </a:lnTo>
                  <a:lnTo>
                    <a:pt x="16650" y="4915"/>
                  </a:lnTo>
                  <a:lnTo>
                    <a:pt x="16695" y="3928"/>
                  </a:lnTo>
                  <a:lnTo>
                    <a:pt x="16762" y="2960"/>
                  </a:lnTo>
                  <a:lnTo>
                    <a:pt x="16830" y="1992"/>
                  </a:lnTo>
                  <a:lnTo>
                    <a:pt x="16908" y="1173"/>
                  </a:lnTo>
                  <a:lnTo>
                    <a:pt x="16976" y="521"/>
                  </a:lnTo>
                  <a:lnTo>
                    <a:pt x="16953" y="521"/>
                  </a:lnTo>
                  <a:lnTo>
                    <a:pt x="16931" y="521"/>
                  </a:lnTo>
                  <a:lnTo>
                    <a:pt x="16267" y="484"/>
                  </a:lnTo>
                  <a:lnTo>
                    <a:pt x="15637" y="428"/>
                  </a:lnTo>
                  <a:lnTo>
                    <a:pt x="15063" y="353"/>
                  </a:lnTo>
                  <a:lnTo>
                    <a:pt x="14523" y="279"/>
                  </a:lnTo>
                  <a:lnTo>
                    <a:pt x="14040" y="167"/>
                  </a:lnTo>
                  <a:lnTo>
                    <a:pt x="13635" y="93"/>
                  </a:lnTo>
                  <a:lnTo>
                    <a:pt x="13331" y="18"/>
                  </a:lnTo>
                  <a:lnTo>
                    <a:pt x="13117" y="18"/>
                  </a:lnTo>
                  <a:lnTo>
                    <a:pt x="12982" y="18"/>
                  </a:lnTo>
                  <a:lnTo>
                    <a:pt x="12858" y="130"/>
                  </a:lnTo>
                  <a:lnTo>
                    <a:pt x="12723" y="279"/>
                  </a:lnTo>
                  <a:lnTo>
                    <a:pt x="12622" y="446"/>
                  </a:lnTo>
                  <a:lnTo>
                    <a:pt x="12510" y="670"/>
                  </a:lnTo>
                  <a:lnTo>
                    <a:pt x="12419" y="912"/>
                  </a:lnTo>
                  <a:lnTo>
                    <a:pt x="12363" y="1210"/>
                  </a:lnTo>
                  <a:lnTo>
                    <a:pt x="12318" y="1526"/>
                  </a:lnTo>
                  <a:lnTo>
                    <a:pt x="12273" y="1843"/>
                  </a:lnTo>
                  <a:lnTo>
                    <a:pt x="12251" y="2215"/>
                  </a:lnTo>
                  <a:lnTo>
                    <a:pt x="12273" y="2532"/>
                  </a:lnTo>
                  <a:lnTo>
                    <a:pt x="12318" y="2886"/>
                  </a:lnTo>
                  <a:lnTo>
                    <a:pt x="12386" y="3240"/>
                  </a:lnTo>
                  <a:lnTo>
                    <a:pt x="12464" y="3556"/>
                  </a:lnTo>
                  <a:lnTo>
                    <a:pt x="12577" y="3891"/>
                  </a:lnTo>
                  <a:lnTo>
                    <a:pt x="12746" y="4171"/>
                  </a:lnTo>
                  <a:lnTo>
                    <a:pt x="12926" y="4487"/>
                  </a:lnTo>
                  <a:lnTo>
                    <a:pt x="13050" y="4860"/>
                  </a:lnTo>
                  <a:lnTo>
                    <a:pt x="13162" y="5251"/>
                  </a:lnTo>
                  <a:lnTo>
                    <a:pt x="13218" y="5604"/>
                  </a:lnTo>
                  <a:lnTo>
                    <a:pt x="13263" y="5995"/>
                  </a:lnTo>
                  <a:lnTo>
                    <a:pt x="13241" y="6386"/>
                  </a:lnTo>
                  <a:lnTo>
                    <a:pt x="13218" y="6740"/>
                  </a:lnTo>
                  <a:lnTo>
                    <a:pt x="13139" y="7094"/>
                  </a:lnTo>
                  <a:lnTo>
                    <a:pt x="13050" y="7429"/>
                  </a:lnTo>
                  <a:lnTo>
                    <a:pt x="12903" y="7746"/>
                  </a:lnTo>
                  <a:lnTo>
                    <a:pt x="12723" y="8025"/>
                  </a:lnTo>
                  <a:lnTo>
                    <a:pt x="12532" y="8286"/>
                  </a:lnTo>
                  <a:lnTo>
                    <a:pt x="12318" y="8491"/>
                  </a:lnTo>
                  <a:lnTo>
                    <a:pt x="12060" y="8677"/>
                  </a:lnTo>
                  <a:lnTo>
                    <a:pt x="11756" y="8788"/>
                  </a:lnTo>
                  <a:lnTo>
                    <a:pt x="11452" y="8826"/>
                  </a:lnTo>
                  <a:lnTo>
                    <a:pt x="11283" y="8826"/>
                  </a:lnTo>
                  <a:lnTo>
                    <a:pt x="11126" y="8826"/>
                  </a:lnTo>
                  <a:lnTo>
                    <a:pt x="11002" y="8788"/>
                  </a:lnTo>
                  <a:lnTo>
                    <a:pt x="10845" y="8714"/>
                  </a:lnTo>
                  <a:lnTo>
                    <a:pt x="10721" y="8640"/>
                  </a:lnTo>
                  <a:lnTo>
                    <a:pt x="10608" y="8565"/>
                  </a:lnTo>
                  <a:lnTo>
                    <a:pt x="10485" y="8453"/>
                  </a:lnTo>
                  <a:lnTo>
                    <a:pt x="10372" y="8323"/>
                  </a:lnTo>
                  <a:lnTo>
                    <a:pt x="10181" y="8062"/>
                  </a:lnTo>
                  <a:lnTo>
                    <a:pt x="10035" y="7746"/>
                  </a:lnTo>
                  <a:lnTo>
                    <a:pt x="9900" y="7392"/>
                  </a:lnTo>
                  <a:lnTo>
                    <a:pt x="9787" y="7001"/>
                  </a:lnTo>
                  <a:lnTo>
                    <a:pt x="9731" y="6610"/>
                  </a:lnTo>
                  <a:lnTo>
                    <a:pt x="9686" y="6219"/>
                  </a:lnTo>
                  <a:lnTo>
                    <a:pt x="9663" y="5772"/>
                  </a:lnTo>
                  <a:lnTo>
                    <a:pt x="9686" y="5381"/>
                  </a:lnTo>
                  <a:lnTo>
                    <a:pt x="9753" y="4990"/>
                  </a:lnTo>
                  <a:lnTo>
                    <a:pt x="9832" y="4636"/>
                  </a:lnTo>
                  <a:lnTo>
                    <a:pt x="9945" y="4320"/>
                  </a:lnTo>
                  <a:lnTo>
                    <a:pt x="10068" y="4022"/>
                  </a:lnTo>
                  <a:lnTo>
                    <a:pt x="10203" y="3817"/>
                  </a:lnTo>
                  <a:lnTo>
                    <a:pt x="10316" y="3593"/>
                  </a:lnTo>
                  <a:lnTo>
                    <a:pt x="10395" y="3351"/>
                  </a:lnTo>
                  <a:lnTo>
                    <a:pt x="10462" y="3109"/>
                  </a:lnTo>
                  <a:lnTo>
                    <a:pt x="10507" y="2848"/>
                  </a:lnTo>
                  <a:lnTo>
                    <a:pt x="10530" y="2606"/>
                  </a:lnTo>
                  <a:lnTo>
                    <a:pt x="10507" y="2346"/>
                  </a:lnTo>
                  <a:lnTo>
                    <a:pt x="10462" y="2141"/>
                  </a:lnTo>
                  <a:lnTo>
                    <a:pt x="10395" y="1880"/>
                  </a:lnTo>
                  <a:lnTo>
                    <a:pt x="10293" y="1638"/>
                  </a:lnTo>
                  <a:lnTo>
                    <a:pt x="10158" y="1415"/>
                  </a:lnTo>
                  <a:lnTo>
                    <a:pt x="9967" y="1210"/>
                  </a:lnTo>
                  <a:lnTo>
                    <a:pt x="9753" y="986"/>
                  </a:lnTo>
                  <a:lnTo>
                    <a:pt x="9495" y="819"/>
                  </a:lnTo>
                  <a:lnTo>
                    <a:pt x="9191" y="670"/>
                  </a:lnTo>
                  <a:lnTo>
                    <a:pt x="8842" y="521"/>
                  </a:lnTo>
                  <a:lnTo>
                    <a:pt x="8471" y="446"/>
                  </a:lnTo>
                  <a:lnTo>
                    <a:pt x="7998" y="428"/>
                  </a:lnTo>
                  <a:lnTo>
                    <a:pt x="7413" y="428"/>
                  </a:lnTo>
                  <a:lnTo>
                    <a:pt x="6817" y="446"/>
                  </a:lnTo>
                  <a:lnTo>
                    <a:pt x="6187" y="521"/>
                  </a:lnTo>
                  <a:lnTo>
                    <a:pt x="5602" y="633"/>
                  </a:lnTo>
                  <a:lnTo>
                    <a:pt x="5107" y="744"/>
                  </a:lnTo>
                  <a:lnTo>
                    <a:pt x="4725" y="856"/>
                  </a:lnTo>
                  <a:lnTo>
                    <a:pt x="4848" y="1564"/>
                  </a:lnTo>
                  <a:lnTo>
                    <a:pt x="5028" y="2495"/>
                  </a:lnTo>
                  <a:lnTo>
                    <a:pt x="5175" y="3556"/>
                  </a:lnTo>
                  <a:lnTo>
                    <a:pt x="5298" y="4673"/>
                  </a:lnTo>
                  <a:lnTo>
                    <a:pt x="5343" y="5213"/>
                  </a:lnTo>
                  <a:lnTo>
                    <a:pt x="5388" y="5753"/>
                  </a:lnTo>
                  <a:lnTo>
                    <a:pt x="5411" y="6275"/>
                  </a:lnTo>
                  <a:lnTo>
                    <a:pt x="5411" y="6740"/>
                  </a:lnTo>
                  <a:lnTo>
                    <a:pt x="5366" y="7168"/>
                  </a:lnTo>
                  <a:lnTo>
                    <a:pt x="5321" y="7541"/>
                  </a:lnTo>
                  <a:lnTo>
                    <a:pt x="5287" y="7708"/>
                  </a:lnTo>
                  <a:lnTo>
                    <a:pt x="5242" y="7857"/>
                  </a:lnTo>
                  <a:lnTo>
                    <a:pt x="5197" y="7969"/>
                  </a:lnTo>
                  <a:lnTo>
                    <a:pt x="5130" y="8062"/>
                  </a:lnTo>
                  <a:lnTo>
                    <a:pt x="5006" y="8248"/>
                  </a:lnTo>
                  <a:lnTo>
                    <a:pt x="4848" y="8397"/>
                  </a:lnTo>
                  <a:lnTo>
                    <a:pt x="4725" y="8528"/>
                  </a:lnTo>
                  <a:lnTo>
                    <a:pt x="4567" y="8640"/>
                  </a:lnTo>
                  <a:lnTo>
                    <a:pt x="4421" y="8714"/>
                  </a:lnTo>
                  <a:lnTo>
                    <a:pt x="4263" y="8751"/>
                  </a:lnTo>
                  <a:lnTo>
                    <a:pt x="4095" y="8788"/>
                  </a:lnTo>
                  <a:lnTo>
                    <a:pt x="3948" y="8788"/>
                  </a:lnTo>
                  <a:lnTo>
                    <a:pt x="3791" y="8751"/>
                  </a:lnTo>
                  <a:lnTo>
                    <a:pt x="3667" y="8714"/>
                  </a:lnTo>
                  <a:lnTo>
                    <a:pt x="3510" y="8677"/>
                  </a:lnTo>
                  <a:lnTo>
                    <a:pt x="3386" y="8602"/>
                  </a:lnTo>
                  <a:lnTo>
                    <a:pt x="3251" y="8491"/>
                  </a:lnTo>
                  <a:lnTo>
                    <a:pt x="3127" y="8360"/>
                  </a:lnTo>
                  <a:lnTo>
                    <a:pt x="3015" y="8248"/>
                  </a:lnTo>
                  <a:lnTo>
                    <a:pt x="2925" y="8062"/>
                  </a:lnTo>
                  <a:lnTo>
                    <a:pt x="2778" y="7857"/>
                  </a:lnTo>
                  <a:lnTo>
                    <a:pt x="2610" y="7671"/>
                  </a:lnTo>
                  <a:lnTo>
                    <a:pt x="2407" y="7541"/>
                  </a:lnTo>
                  <a:lnTo>
                    <a:pt x="2171" y="7466"/>
                  </a:lnTo>
                  <a:lnTo>
                    <a:pt x="1957" y="7429"/>
                  </a:lnTo>
                  <a:lnTo>
                    <a:pt x="1698" y="7429"/>
                  </a:lnTo>
                  <a:lnTo>
                    <a:pt x="1462" y="7466"/>
                  </a:lnTo>
                  <a:lnTo>
                    <a:pt x="1226" y="7559"/>
                  </a:lnTo>
                  <a:lnTo>
                    <a:pt x="989" y="7708"/>
                  </a:lnTo>
                  <a:lnTo>
                    <a:pt x="776" y="7932"/>
                  </a:lnTo>
                  <a:lnTo>
                    <a:pt x="551" y="8211"/>
                  </a:lnTo>
                  <a:lnTo>
                    <a:pt x="382" y="8528"/>
                  </a:lnTo>
                  <a:lnTo>
                    <a:pt x="315" y="8714"/>
                  </a:lnTo>
                  <a:lnTo>
                    <a:pt x="236" y="8919"/>
                  </a:lnTo>
                  <a:lnTo>
                    <a:pt x="191" y="9142"/>
                  </a:lnTo>
                  <a:lnTo>
                    <a:pt x="123" y="9347"/>
                  </a:lnTo>
                  <a:lnTo>
                    <a:pt x="78" y="9608"/>
                  </a:lnTo>
                  <a:lnTo>
                    <a:pt x="56" y="9887"/>
                  </a:lnTo>
                  <a:lnTo>
                    <a:pt x="33" y="10185"/>
                  </a:lnTo>
                  <a:lnTo>
                    <a:pt x="33" y="10464"/>
                  </a:lnTo>
                  <a:lnTo>
                    <a:pt x="33" y="10706"/>
                  </a:lnTo>
                  <a:lnTo>
                    <a:pt x="56" y="10967"/>
                  </a:lnTo>
                  <a:lnTo>
                    <a:pt x="78" y="11172"/>
                  </a:lnTo>
                  <a:lnTo>
                    <a:pt x="123" y="11395"/>
                  </a:lnTo>
                  <a:lnTo>
                    <a:pt x="168" y="11600"/>
                  </a:lnTo>
                  <a:lnTo>
                    <a:pt x="236" y="11786"/>
                  </a:lnTo>
                  <a:lnTo>
                    <a:pt x="292" y="11973"/>
                  </a:lnTo>
                  <a:lnTo>
                    <a:pt x="382" y="12140"/>
                  </a:lnTo>
                  <a:lnTo>
                    <a:pt x="540" y="12419"/>
                  </a:lnTo>
                  <a:lnTo>
                    <a:pt x="731" y="12680"/>
                  </a:lnTo>
                  <a:lnTo>
                    <a:pt x="944" y="12866"/>
                  </a:lnTo>
                  <a:lnTo>
                    <a:pt x="1158" y="12997"/>
                  </a:lnTo>
                  <a:lnTo>
                    <a:pt x="1395" y="13108"/>
                  </a:lnTo>
                  <a:lnTo>
                    <a:pt x="1608" y="13183"/>
                  </a:lnTo>
                  <a:lnTo>
                    <a:pt x="1856" y="13183"/>
                  </a:lnTo>
                  <a:lnTo>
                    <a:pt x="2070" y="13146"/>
                  </a:lnTo>
                  <a:lnTo>
                    <a:pt x="2261" y="13071"/>
                  </a:lnTo>
                  <a:lnTo>
                    <a:pt x="2430" y="12960"/>
                  </a:lnTo>
                  <a:lnTo>
                    <a:pt x="2587" y="12792"/>
                  </a:lnTo>
                  <a:lnTo>
                    <a:pt x="2688" y="12606"/>
                  </a:lnTo>
                  <a:lnTo>
                    <a:pt x="2801" y="12419"/>
                  </a:lnTo>
                  <a:lnTo>
                    <a:pt x="2925" y="12289"/>
                  </a:lnTo>
                  <a:lnTo>
                    <a:pt x="3082" y="12177"/>
                  </a:lnTo>
                  <a:lnTo>
                    <a:pt x="3228" y="12103"/>
                  </a:lnTo>
                  <a:lnTo>
                    <a:pt x="3408" y="12103"/>
                  </a:lnTo>
                  <a:lnTo>
                    <a:pt x="3577" y="12103"/>
                  </a:lnTo>
                  <a:lnTo>
                    <a:pt x="3723" y="12177"/>
                  </a:lnTo>
                  <a:lnTo>
                    <a:pt x="3903" y="12252"/>
                  </a:lnTo>
                  <a:lnTo>
                    <a:pt x="4072" y="12364"/>
                  </a:lnTo>
                  <a:lnTo>
                    <a:pt x="4230" y="12494"/>
                  </a:lnTo>
                  <a:lnTo>
                    <a:pt x="4353" y="12643"/>
                  </a:lnTo>
                  <a:lnTo>
                    <a:pt x="4488" y="12829"/>
                  </a:lnTo>
                  <a:lnTo>
                    <a:pt x="4567" y="13034"/>
                  </a:lnTo>
                  <a:lnTo>
                    <a:pt x="4657" y="13257"/>
                  </a:lnTo>
                  <a:lnTo>
                    <a:pt x="4702" y="13462"/>
                  </a:lnTo>
                  <a:lnTo>
                    <a:pt x="4725" y="13686"/>
                  </a:lnTo>
                  <a:lnTo>
                    <a:pt x="4702" y="14282"/>
                  </a:lnTo>
                  <a:lnTo>
                    <a:pt x="4657" y="15045"/>
                  </a:lnTo>
                  <a:lnTo>
                    <a:pt x="4612" y="15976"/>
                  </a:lnTo>
                  <a:lnTo>
                    <a:pt x="4590" y="16926"/>
                  </a:lnTo>
                  <a:lnTo>
                    <a:pt x="4567" y="17968"/>
                  </a:lnTo>
                  <a:lnTo>
                    <a:pt x="4567" y="19011"/>
                  </a:lnTo>
                  <a:lnTo>
                    <a:pt x="4590" y="19514"/>
                  </a:lnTo>
                  <a:lnTo>
                    <a:pt x="4612" y="19980"/>
                  </a:lnTo>
                  <a:lnTo>
                    <a:pt x="4657" y="20426"/>
                  </a:lnTo>
                  <a:lnTo>
                    <a:pt x="4725" y="20836"/>
                  </a:lnTo>
                  <a:lnTo>
                    <a:pt x="4848" y="20929"/>
                  </a:lnTo>
                  <a:lnTo>
                    <a:pt x="5040" y="21004"/>
                  </a:lnTo>
                  <a:lnTo>
                    <a:pt x="5265" y="21078"/>
                  </a:lnTo>
                  <a:lnTo>
                    <a:pt x="5478" y="21115"/>
                  </a:lnTo>
                  <a:lnTo>
                    <a:pt x="6041" y="21115"/>
                  </a:lnTo>
                  <a:lnTo>
                    <a:pt x="6637" y="21078"/>
                  </a:lnTo>
                  <a:lnTo>
                    <a:pt x="7312" y="21004"/>
                  </a:lnTo>
                  <a:lnTo>
                    <a:pt x="7998" y="20929"/>
                  </a:lnTo>
                  <a:lnTo>
                    <a:pt x="8696" y="20855"/>
                  </a:lnTo>
                  <a:lnTo>
                    <a:pt x="9360" y="20836"/>
                  </a:lnTo>
                  <a:close/>
                </a:path>
              </a:pathLst>
            </a:custGeom>
            <a:solidFill>
              <a:srgbClr val="CCCCFF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90" name="Group 19"/>
          <p:cNvGrpSpPr>
            <a:grpSpLocks/>
          </p:cNvGrpSpPr>
          <p:nvPr/>
        </p:nvGrpSpPr>
        <p:grpSpPr bwMode="auto">
          <a:xfrm>
            <a:off x="4214813" y="981075"/>
            <a:ext cx="481012" cy="455613"/>
            <a:chOff x="2655" y="727"/>
            <a:chExt cx="303" cy="287"/>
          </a:xfrm>
        </p:grpSpPr>
        <p:sp>
          <p:nvSpPr>
            <p:cNvPr id="21562" name="AutoShape 20"/>
            <p:cNvSpPr>
              <a:spLocks noChangeArrowheads="1"/>
            </p:cNvSpPr>
            <p:nvPr/>
          </p:nvSpPr>
          <p:spPr bwMode="auto">
            <a:xfrm>
              <a:off x="2824" y="727"/>
              <a:ext cx="134" cy="13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52 w 21600"/>
                <a:gd name="T13" fmla="*/ 3957 h 21600"/>
                <a:gd name="T14" fmla="*/ 17893 w 21600"/>
                <a:gd name="T15" fmla="*/ 1764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21563" name="AutoShape 21"/>
            <p:cNvSpPr>
              <a:spLocks noChangeArrowheads="1"/>
            </p:cNvSpPr>
            <p:nvPr/>
          </p:nvSpPr>
          <p:spPr bwMode="auto">
            <a:xfrm>
              <a:off x="2655" y="781"/>
              <a:ext cx="161" cy="1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27 w 21600"/>
                <a:gd name="T13" fmla="*/ 3990 h 21600"/>
                <a:gd name="T14" fmla="*/ 17843 w 21600"/>
                <a:gd name="T15" fmla="*/ 176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21564" name="AutoShape 22"/>
            <p:cNvSpPr>
              <a:spLocks noChangeArrowheads="1"/>
            </p:cNvSpPr>
            <p:nvPr/>
          </p:nvSpPr>
          <p:spPr bwMode="auto">
            <a:xfrm>
              <a:off x="2760" y="840"/>
              <a:ext cx="179" cy="17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44 w 21600"/>
                <a:gd name="T13" fmla="*/ 3972 h 21600"/>
                <a:gd name="T14" fmla="*/ 17859 w 21600"/>
                <a:gd name="T15" fmla="*/ 1762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</p:grpSp>
      <p:grpSp>
        <p:nvGrpSpPr>
          <p:cNvPr id="94" name="Group 23"/>
          <p:cNvGrpSpPr>
            <a:grpSpLocks/>
          </p:cNvGrpSpPr>
          <p:nvPr/>
        </p:nvGrpSpPr>
        <p:grpSpPr bwMode="auto">
          <a:xfrm>
            <a:off x="3263900" y="1700213"/>
            <a:ext cx="2624138" cy="1839912"/>
            <a:chOff x="2056" y="1180"/>
            <a:chExt cx="1653" cy="1159"/>
          </a:xfrm>
        </p:grpSpPr>
        <p:sp>
          <p:nvSpPr>
            <p:cNvPr id="21550" name="Rectangle 24"/>
            <p:cNvSpPr>
              <a:spLocks noChangeArrowheads="1"/>
            </p:cNvSpPr>
            <p:nvPr/>
          </p:nvSpPr>
          <p:spPr bwMode="auto">
            <a:xfrm>
              <a:off x="2056" y="1180"/>
              <a:ext cx="1653" cy="107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1" name="Text Box 25"/>
            <p:cNvSpPr txBox="1">
              <a:spLocks noChangeArrowheads="1"/>
            </p:cNvSpPr>
            <p:nvPr/>
          </p:nvSpPr>
          <p:spPr bwMode="auto">
            <a:xfrm>
              <a:off x="2230" y="2108"/>
              <a:ext cx="12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</a:t>
              </a:r>
            </a:p>
          </p:txBody>
        </p:sp>
        <p:grpSp>
          <p:nvGrpSpPr>
            <p:cNvPr id="21552" name="Group 26"/>
            <p:cNvGrpSpPr>
              <a:grpSpLocks/>
            </p:cNvGrpSpPr>
            <p:nvPr/>
          </p:nvGrpSpPr>
          <p:grpSpPr bwMode="auto">
            <a:xfrm>
              <a:off x="2103" y="1678"/>
              <a:ext cx="1595" cy="396"/>
              <a:chOff x="2103" y="1678"/>
              <a:chExt cx="1595" cy="396"/>
            </a:xfrm>
          </p:grpSpPr>
          <p:sp>
            <p:nvSpPr>
              <p:cNvPr id="21556" name="Rectangle 27"/>
              <p:cNvSpPr>
                <a:spLocks noChangeArrowheads="1"/>
              </p:cNvSpPr>
              <p:nvPr/>
            </p:nvSpPr>
            <p:spPr bwMode="auto">
              <a:xfrm>
                <a:off x="2103" y="1678"/>
                <a:ext cx="1535" cy="375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1557" name="Group 28"/>
              <p:cNvGrpSpPr>
                <a:grpSpLocks/>
              </p:cNvGrpSpPr>
              <p:nvPr/>
            </p:nvGrpSpPr>
            <p:grpSpPr bwMode="auto">
              <a:xfrm>
                <a:off x="2164" y="1740"/>
                <a:ext cx="1535" cy="334"/>
                <a:chOff x="2164" y="1740"/>
                <a:chExt cx="1535" cy="334"/>
              </a:xfrm>
            </p:grpSpPr>
            <p:grpSp>
              <p:nvGrpSpPr>
                <p:cNvPr id="21558" name="Group 29"/>
                <p:cNvGrpSpPr>
                  <a:grpSpLocks/>
                </p:cNvGrpSpPr>
                <p:nvPr/>
              </p:nvGrpSpPr>
              <p:grpSpPr bwMode="auto">
                <a:xfrm>
                  <a:off x="2164" y="1740"/>
                  <a:ext cx="914" cy="231"/>
                  <a:chOff x="2164" y="1740"/>
                  <a:chExt cx="914" cy="231"/>
                </a:xfrm>
              </p:grpSpPr>
              <p:graphicFrame>
                <p:nvGraphicFramePr>
                  <p:cNvPr id="21560" name="Object 30"/>
                  <p:cNvGraphicFramePr>
                    <a:graphicFrameLocks noChangeAspect="1"/>
                  </p:cNvGraphicFramePr>
                  <p:nvPr/>
                </p:nvGraphicFramePr>
                <p:xfrm>
                  <a:off x="2164" y="1740"/>
                  <a:ext cx="914" cy="2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6182" r:id="rId3" imgW="2209524" imgH="581106" progId="">
                          <p:embed/>
                        </p:oleObj>
                      </mc:Choice>
                      <mc:Fallback>
                        <p:oleObj r:id="rId3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64" y="1740"/>
                                <a:ext cx="914" cy="2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61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2164" y="1740"/>
                    <a:ext cx="914" cy="231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59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3001" y="1745"/>
                  <a:ext cx="697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Virtualized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53" name="Group 33"/>
            <p:cNvGrpSpPr>
              <a:grpSpLocks/>
            </p:cNvGrpSpPr>
            <p:nvPr/>
          </p:nvGrpSpPr>
          <p:grpSpPr bwMode="auto">
            <a:xfrm>
              <a:off x="2111" y="1257"/>
              <a:ext cx="1527" cy="354"/>
              <a:chOff x="2111" y="1257"/>
              <a:chExt cx="1527" cy="354"/>
            </a:xfrm>
          </p:grpSpPr>
          <p:sp>
            <p:nvSpPr>
              <p:cNvPr id="21554" name="Rectangle 34"/>
              <p:cNvSpPr>
                <a:spLocks noChangeArrowheads="1"/>
              </p:cNvSpPr>
              <p:nvPr/>
            </p:nvSpPr>
            <p:spPr bwMode="auto">
              <a:xfrm>
                <a:off x="2111" y="1257"/>
                <a:ext cx="1527" cy="336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555" name="Text Box 35"/>
              <p:cNvSpPr txBox="1">
                <a:spLocks noChangeArrowheads="1"/>
              </p:cNvSpPr>
              <p:nvPr/>
            </p:nvSpPr>
            <p:spPr bwMode="auto">
              <a:xfrm>
                <a:off x="2448" y="1380"/>
                <a:ext cx="91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Guest OS</a:t>
                </a:r>
              </a:p>
            </p:txBody>
          </p:sp>
        </p:grpSp>
      </p:grpSp>
      <p:grpSp>
        <p:nvGrpSpPr>
          <p:cNvPr id="108" name="Group 36"/>
          <p:cNvGrpSpPr>
            <a:grpSpLocks/>
          </p:cNvGrpSpPr>
          <p:nvPr/>
        </p:nvGrpSpPr>
        <p:grpSpPr bwMode="auto">
          <a:xfrm>
            <a:off x="422275" y="1700213"/>
            <a:ext cx="2697163" cy="1839912"/>
            <a:chOff x="266" y="1180"/>
            <a:chExt cx="1699" cy="1159"/>
          </a:xfrm>
        </p:grpSpPr>
        <p:sp>
          <p:nvSpPr>
            <p:cNvPr id="21538" name="Rectangle 37"/>
            <p:cNvSpPr>
              <a:spLocks noChangeArrowheads="1"/>
            </p:cNvSpPr>
            <p:nvPr/>
          </p:nvSpPr>
          <p:spPr bwMode="auto">
            <a:xfrm>
              <a:off x="266" y="1180"/>
              <a:ext cx="1699" cy="107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39" name="Text Box 38"/>
            <p:cNvSpPr txBox="1">
              <a:spLocks noChangeArrowheads="1"/>
            </p:cNvSpPr>
            <p:nvPr/>
          </p:nvSpPr>
          <p:spPr bwMode="auto">
            <a:xfrm>
              <a:off x="445" y="2108"/>
              <a:ext cx="1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</a:t>
              </a:r>
            </a:p>
          </p:txBody>
        </p:sp>
        <p:grpSp>
          <p:nvGrpSpPr>
            <p:cNvPr id="21540" name="Group 39"/>
            <p:cNvGrpSpPr>
              <a:grpSpLocks/>
            </p:cNvGrpSpPr>
            <p:nvPr/>
          </p:nvGrpSpPr>
          <p:grpSpPr bwMode="auto">
            <a:xfrm>
              <a:off x="315" y="1678"/>
              <a:ext cx="1640" cy="396"/>
              <a:chOff x="315" y="1678"/>
              <a:chExt cx="1640" cy="396"/>
            </a:xfrm>
          </p:grpSpPr>
          <p:sp>
            <p:nvSpPr>
              <p:cNvPr id="21544" name="Rectangle 40"/>
              <p:cNvSpPr>
                <a:spLocks noChangeArrowheads="1"/>
              </p:cNvSpPr>
              <p:nvPr/>
            </p:nvSpPr>
            <p:spPr bwMode="auto">
              <a:xfrm>
                <a:off x="315" y="1678"/>
                <a:ext cx="1578" cy="375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1545" name="Group 41"/>
              <p:cNvGrpSpPr>
                <a:grpSpLocks/>
              </p:cNvGrpSpPr>
              <p:nvPr/>
            </p:nvGrpSpPr>
            <p:grpSpPr bwMode="auto">
              <a:xfrm>
                <a:off x="377" y="1740"/>
                <a:ext cx="1578" cy="334"/>
                <a:chOff x="377" y="1740"/>
                <a:chExt cx="1578" cy="334"/>
              </a:xfrm>
            </p:grpSpPr>
            <p:grpSp>
              <p:nvGrpSpPr>
                <p:cNvPr id="21546" name="Group 42"/>
                <p:cNvGrpSpPr>
                  <a:grpSpLocks/>
                </p:cNvGrpSpPr>
                <p:nvPr/>
              </p:nvGrpSpPr>
              <p:grpSpPr bwMode="auto">
                <a:xfrm>
                  <a:off x="377" y="1740"/>
                  <a:ext cx="939" cy="231"/>
                  <a:chOff x="377" y="1740"/>
                  <a:chExt cx="939" cy="231"/>
                </a:xfrm>
              </p:grpSpPr>
              <p:graphicFrame>
                <p:nvGraphicFramePr>
                  <p:cNvPr id="21548" name="Object 43"/>
                  <p:cNvGraphicFramePr>
                    <a:graphicFrameLocks noChangeAspect="1"/>
                  </p:cNvGraphicFramePr>
                  <p:nvPr/>
                </p:nvGraphicFramePr>
                <p:xfrm>
                  <a:off x="377" y="1740"/>
                  <a:ext cx="939" cy="2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6183" r:id="rId5" imgW="2209524" imgH="581106" progId="">
                          <p:embed/>
                        </p:oleObj>
                      </mc:Choice>
                      <mc:Fallback>
                        <p:oleObj r:id="rId5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7" y="1740"/>
                                <a:ext cx="939" cy="2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49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77" y="1740"/>
                    <a:ext cx="939" cy="231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47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1238" y="1745"/>
                  <a:ext cx="717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Virtualized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41" name="Group 46"/>
            <p:cNvGrpSpPr>
              <a:grpSpLocks/>
            </p:cNvGrpSpPr>
            <p:nvPr/>
          </p:nvGrpSpPr>
          <p:grpSpPr bwMode="auto">
            <a:xfrm>
              <a:off x="323" y="1257"/>
              <a:ext cx="1569" cy="354"/>
              <a:chOff x="323" y="1257"/>
              <a:chExt cx="1569" cy="354"/>
            </a:xfrm>
          </p:grpSpPr>
          <p:sp>
            <p:nvSpPr>
              <p:cNvPr id="21542" name="Rectangle 47"/>
              <p:cNvSpPr>
                <a:spLocks noChangeArrowheads="1"/>
              </p:cNvSpPr>
              <p:nvPr/>
            </p:nvSpPr>
            <p:spPr bwMode="auto">
              <a:xfrm>
                <a:off x="323" y="1257"/>
                <a:ext cx="1569" cy="336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543" name="Text Box 48"/>
              <p:cNvSpPr txBox="1">
                <a:spLocks noChangeArrowheads="1"/>
              </p:cNvSpPr>
              <p:nvPr/>
            </p:nvSpPr>
            <p:spPr bwMode="auto">
              <a:xfrm>
                <a:off x="669" y="1380"/>
                <a:ext cx="93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Guest OS</a:t>
                </a:r>
              </a:p>
            </p:txBody>
          </p:sp>
        </p:grpSp>
      </p:grpSp>
      <p:grpSp>
        <p:nvGrpSpPr>
          <p:cNvPr id="123" name="Group 73"/>
          <p:cNvGrpSpPr>
            <a:grpSpLocks/>
          </p:cNvGrpSpPr>
          <p:nvPr/>
        </p:nvGrpSpPr>
        <p:grpSpPr bwMode="auto">
          <a:xfrm>
            <a:off x="76200" y="4267200"/>
            <a:ext cx="5943600" cy="2133600"/>
            <a:chOff x="76200" y="4439528"/>
            <a:chExt cx="5943600" cy="2133600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76200" y="4439528"/>
              <a:ext cx="5943600" cy="21336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Times New Roman" pitchFamily="16" charset="0"/>
                <a:buNone/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grpSp>
          <p:nvGrpSpPr>
            <p:cNvPr id="21527" name="Group 62"/>
            <p:cNvGrpSpPr>
              <a:grpSpLocks/>
            </p:cNvGrpSpPr>
            <p:nvPr/>
          </p:nvGrpSpPr>
          <p:grpSpPr bwMode="auto">
            <a:xfrm>
              <a:off x="450850" y="5313363"/>
              <a:ext cx="5476875" cy="1114425"/>
              <a:chOff x="284" y="3347"/>
              <a:chExt cx="3450" cy="702"/>
            </a:xfrm>
          </p:grpSpPr>
          <p:sp>
            <p:nvSpPr>
              <p:cNvPr id="20508" name="Rectangle 2"/>
              <p:cNvSpPr>
                <a:spLocks noChangeArrowheads="1"/>
              </p:cNvSpPr>
              <p:nvPr/>
            </p:nvSpPr>
            <p:spPr bwMode="auto">
              <a:xfrm>
                <a:off x="284" y="3347"/>
                <a:ext cx="3450" cy="70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mtClean="0"/>
              </a:p>
            </p:txBody>
          </p:sp>
          <p:grpSp>
            <p:nvGrpSpPr>
              <p:cNvPr id="21533" name="Group 64"/>
              <p:cNvGrpSpPr>
                <a:grpSpLocks/>
              </p:cNvGrpSpPr>
              <p:nvPr/>
            </p:nvGrpSpPr>
            <p:grpSpPr bwMode="auto">
              <a:xfrm>
                <a:off x="376" y="3415"/>
                <a:ext cx="3297" cy="566"/>
                <a:chOff x="376" y="3415"/>
                <a:chExt cx="3297" cy="566"/>
              </a:xfrm>
            </p:grpSpPr>
            <p:grpSp>
              <p:nvGrpSpPr>
                <p:cNvPr id="21534" name="Group 65"/>
                <p:cNvGrpSpPr>
                  <a:grpSpLocks/>
                </p:cNvGrpSpPr>
                <p:nvPr/>
              </p:nvGrpSpPr>
              <p:grpSpPr bwMode="auto">
                <a:xfrm>
                  <a:off x="376" y="3415"/>
                  <a:ext cx="2517" cy="566"/>
                  <a:chOff x="376" y="3415"/>
                  <a:chExt cx="2517" cy="566"/>
                </a:xfrm>
              </p:grpSpPr>
              <p:graphicFrame>
                <p:nvGraphicFramePr>
                  <p:cNvPr id="21536" name="Object 5"/>
                  <p:cNvGraphicFramePr>
                    <a:graphicFrameLocks noChangeAspect="1"/>
                  </p:cNvGraphicFramePr>
                  <p:nvPr/>
                </p:nvGraphicFramePr>
                <p:xfrm>
                  <a:off x="376" y="3415"/>
                  <a:ext cx="2517" cy="56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6184" r:id="rId6" imgW="2209524" imgH="581106" progId="">
                          <p:embed/>
                        </p:oleObj>
                      </mc:Choice>
                      <mc:Fallback>
                        <p:oleObj r:id="rId6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6" y="3415"/>
                                <a:ext cx="2517" cy="56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37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376" y="3415"/>
                    <a:ext cx="2517" cy="566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3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893" y="3527"/>
                  <a:ext cx="780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Physical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28" name="Group 8"/>
            <p:cNvGrpSpPr>
              <a:grpSpLocks/>
            </p:cNvGrpSpPr>
            <p:nvPr/>
          </p:nvGrpSpPr>
          <p:grpSpPr bwMode="auto">
            <a:xfrm>
              <a:off x="457200" y="4511675"/>
              <a:ext cx="5470525" cy="646113"/>
              <a:chOff x="256" y="2842"/>
              <a:chExt cx="3478" cy="407"/>
            </a:xfrm>
          </p:grpSpPr>
          <p:sp>
            <p:nvSpPr>
              <p:cNvPr id="20506" name="Rectangle 9"/>
              <p:cNvSpPr>
                <a:spLocks noChangeArrowheads="1"/>
              </p:cNvSpPr>
              <p:nvPr/>
            </p:nvSpPr>
            <p:spPr bwMode="auto">
              <a:xfrm>
                <a:off x="256" y="2842"/>
                <a:ext cx="3478" cy="40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mtClean="0"/>
              </a:p>
            </p:txBody>
          </p:sp>
          <p:sp>
            <p:nvSpPr>
              <p:cNvPr id="21531" name="Text Box 10"/>
              <p:cNvSpPr txBox="1">
                <a:spLocks noChangeArrowheads="1"/>
              </p:cNvSpPr>
              <p:nvPr/>
            </p:nvSpPr>
            <p:spPr bwMode="auto">
              <a:xfrm>
                <a:off x="1022" y="2991"/>
                <a:ext cx="208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Host Operating System</a:t>
                </a:r>
              </a:p>
            </p:txBody>
          </p:sp>
        </p:grpSp>
        <p:sp>
          <p:nvSpPr>
            <p:cNvPr id="21529" name="TextBox 72"/>
            <p:cNvSpPr txBox="1">
              <a:spLocks noChangeArrowheads="1"/>
            </p:cNvSpPr>
            <p:nvPr/>
          </p:nvSpPr>
          <p:spPr bwMode="auto">
            <a:xfrm rot="-5400000">
              <a:off x="-522516" y="5301342"/>
              <a:ext cx="16002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/>
                <a:t>Blade Server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6253164" y="1066800"/>
            <a:ext cx="587352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 smtClean="0"/>
              <a:t>Layers in Virtualization</a:t>
            </a:r>
            <a:endParaRPr lang="en-US" b="1" dirty="0" smtClean="0"/>
          </a:p>
          <a:p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4739" y="1661632"/>
            <a:ext cx="5658620" cy="339027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09207" y="5124271"/>
            <a:ext cx="58351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Application Programming Interface (API), Application Binary Interface (ABI), and Instruction Set Architecture (ISA). An application uses library functions (A1), makes system calls (A2), and executes machine instructions (A3)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355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Types of Hypervisor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grpSp>
        <p:nvGrpSpPr>
          <p:cNvPr id="78" name="Group 11"/>
          <p:cNvGrpSpPr>
            <a:grpSpLocks/>
          </p:cNvGrpSpPr>
          <p:nvPr/>
        </p:nvGrpSpPr>
        <p:grpSpPr bwMode="auto">
          <a:xfrm>
            <a:off x="384175" y="3554413"/>
            <a:ext cx="5543550" cy="769937"/>
            <a:chOff x="242" y="2348"/>
            <a:chExt cx="3492" cy="485"/>
          </a:xfrm>
        </p:grpSpPr>
        <p:sp>
          <p:nvSpPr>
            <p:cNvPr id="21569" name="Rectangle 12"/>
            <p:cNvSpPr>
              <a:spLocks noChangeArrowheads="1"/>
            </p:cNvSpPr>
            <p:nvPr/>
          </p:nvSpPr>
          <p:spPr bwMode="auto">
            <a:xfrm>
              <a:off x="242" y="2348"/>
              <a:ext cx="3492" cy="407"/>
            </a:xfrm>
            <a:prstGeom prst="rect">
              <a:avLst/>
            </a:prstGeom>
            <a:solidFill>
              <a:srgbClr val="969696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70" name="Text Box 13"/>
            <p:cNvSpPr txBox="1">
              <a:spLocks noChangeArrowheads="1"/>
            </p:cNvSpPr>
            <p:nvPr/>
          </p:nvSpPr>
          <p:spPr bwMode="auto">
            <a:xfrm>
              <a:off x="1011" y="2426"/>
              <a:ext cx="2091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 Monitor</a:t>
              </a:r>
            </a:p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(Hypervisor)</a:t>
              </a:r>
            </a:p>
          </p:txBody>
        </p:sp>
      </p:grpSp>
      <p:grpSp>
        <p:nvGrpSpPr>
          <p:cNvPr id="84" name="Group 14"/>
          <p:cNvGrpSpPr>
            <a:grpSpLocks/>
          </p:cNvGrpSpPr>
          <p:nvPr/>
        </p:nvGrpSpPr>
        <p:grpSpPr bwMode="auto">
          <a:xfrm>
            <a:off x="1536700" y="985838"/>
            <a:ext cx="515938" cy="612775"/>
            <a:chOff x="968" y="730"/>
            <a:chExt cx="325" cy="386"/>
          </a:xfrm>
        </p:grpSpPr>
        <p:sp>
          <p:nvSpPr>
            <p:cNvPr id="21565" name="AutoShape 15"/>
            <p:cNvSpPr>
              <a:spLocks noChangeArrowheads="1"/>
            </p:cNvSpPr>
            <p:nvPr/>
          </p:nvSpPr>
          <p:spPr bwMode="auto">
            <a:xfrm>
              <a:off x="1127" y="730"/>
              <a:ext cx="127" cy="20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2211 w 21600"/>
                <a:gd name="T25" fmla="*/ 7692 h 21600"/>
                <a:gd name="T26" fmla="*/ 19219 w 21600"/>
                <a:gd name="T27" fmla="*/ 2023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6625" y="20892"/>
                  </a:moveTo>
                  <a:lnTo>
                    <a:pt x="7105" y="21023"/>
                  </a:lnTo>
                  <a:lnTo>
                    <a:pt x="7513" y="21088"/>
                  </a:lnTo>
                  <a:lnTo>
                    <a:pt x="7922" y="21115"/>
                  </a:lnTo>
                  <a:lnTo>
                    <a:pt x="8242" y="21115"/>
                  </a:lnTo>
                  <a:lnTo>
                    <a:pt x="8544" y="21062"/>
                  </a:lnTo>
                  <a:lnTo>
                    <a:pt x="8810" y="20997"/>
                  </a:lnTo>
                  <a:lnTo>
                    <a:pt x="9023" y="20892"/>
                  </a:lnTo>
                  <a:lnTo>
                    <a:pt x="9148" y="20761"/>
                  </a:lnTo>
                  <a:lnTo>
                    <a:pt x="9290" y="20616"/>
                  </a:lnTo>
                  <a:lnTo>
                    <a:pt x="9361" y="20459"/>
                  </a:lnTo>
                  <a:lnTo>
                    <a:pt x="9396" y="20289"/>
                  </a:lnTo>
                  <a:lnTo>
                    <a:pt x="9396" y="20092"/>
                  </a:lnTo>
                  <a:lnTo>
                    <a:pt x="9325" y="19909"/>
                  </a:lnTo>
                  <a:lnTo>
                    <a:pt x="9219" y="19738"/>
                  </a:lnTo>
                  <a:lnTo>
                    <a:pt x="9094" y="19555"/>
                  </a:lnTo>
                  <a:lnTo>
                    <a:pt x="8917" y="19384"/>
                  </a:lnTo>
                  <a:lnTo>
                    <a:pt x="8650" y="19162"/>
                  </a:lnTo>
                  <a:lnTo>
                    <a:pt x="8437" y="18900"/>
                  </a:lnTo>
                  <a:lnTo>
                    <a:pt x="8277" y="18624"/>
                  </a:lnTo>
                  <a:lnTo>
                    <a:pt x="8135" y="18349"/>
                  </a:lnTo>
                  <a:lnTo>
                    <a:pt x="8028" y="18048"/>
                  </a:lnTo>
                  <a:lnTo>
                    <a:pt x="7993" y="17746"/>
                  </a:lnTo>
                  <a:lnTo>
                    <a:pt x="7993" y="17471"/>
                  </a:lnTo>
                  <a:lnTo>
                    <a:pt x="8028" y="17169"/>
                  </a:lnTo>
                  <a:lnTo>
                    <a:pt x="8135" y="16920"/>
                  </a:lnTo>
                  <a:lnTo>
                    <a:pt x="8277" y="16671"/>
                  </a:lnTo>
                  <a:lnTo>
                    <a:pt x="8366" y="16540"/>
                  </a:lnTo>
                  <a:lnTo>
                    <a:pt x="8473" y="16409"/>
                  </a:lnTo>
                  <a:lnTo>
                    <a:pt x="8615" y="16317"/>
                  </a:lnTo>
                  <a:lnTo>
                    <a:pt x="8739" y="16213"/>
                  </a:lnTo>
                  <a:lnTo>
                    <a:pt x="8881" y="16134"/>
                  </a:lnTo>
                  <a:lnTo>
                    <a:pt x="9059" y="16055"/>
                  </a:lnTo>
                  <a:lnTo>
                    <a:pt x="9254" y="15990"/>
                  </a:lnTo>
                  <a:lnTo>
                    <a:pt x="9432" y="15911"/>
                  </a:lnTo>
                  <a:lnTo>
                    <a:pt x="9663" y="15885"/>
                  </a:lnTo>
                  <a:lnTo>
                    <a:pt x="9876" y="15833"/>
                  </a:lnTo>
                  <a:lnTo>
                    <a:pt x="10142" y="15806"/>
                  </a:lnTo>
                  <a:lnTo>
                    <a:pt x="10391" y="15806"/>
                  </a:lnTo>
                  <a:lnTo>
                    <a:pt x="10728" y="15806"/>
                  </a:lnTo>
                  <a:lnTo>
                    <a:pt x="10995" y="15806"/>
                  </a:lnTo>
                  <a:lnTo>
                    <a:pt x="11279" y="15833"/>
                  </a:lnTo>
                  <a:lnTo>
                    <a:pt x="11546" y="15885"/>
                  </a:lnTo>
                  <a:lnTo>
                    <a:pt x="11776" y="15937"/>
                  </a:lnTo>
                  <a:lnTo>
                    <a:pt x="12025" y="15990"/>
                  </a:lnTo>
                  <a:lnTo>
                    <a:pt x="12221" y="16055"/>
                  </a:lnTo>
                  <a:lnTo>
                    <a:pt x="12434" y="16134"/>
                  </a:lnTo>
                  <a:lnTo>
                    <a:pt x="12611" y="16213"/>
                  </a:lnTo>
                  <a:lnTo>
                    <a:pt x="12771" y="16317"/>
                  </a:lnTo>
                  <a:lnTo>
                    <a:pt x="12913" y="16409"/>
                  </a:lnTo>
                  <a:lnTo>
                    <a:pt x="13038" y="16514"/>
                  </a:lnTo>
                  <a:lnTo>
                    <a:pt x="13251" y="16737"/>
                  </a:lnTo>
                  <a:lnTo>
                    <a:pt x="13428" y="16986"/>
                  </a:lnTo>
                  <a:lnTo>
                    <a:pt x="13517" y="17248"/>
                  </a:lnTo>
                  <a:lnTo>
                    <a:pt x="13588" y="17523"/>
                  </a:lnTo>
                  <a:lnTo>
                    <a:pt x="13588" y="17799"/>
                  </a:lnTo>
                  <a:lnTo>
                    <a:pt x="13517" y="18074"/>
                  </a:lnTo>
                  <a:lnTo>
                    <a:pt x="13428" y="18323"/>
                  </a:lnTo>
                  <a:lnTo>
                    <a:pt x="13286" y="18572"/>
                  </a:lnTo>
                  <a:lnTo>
                    <a:pt x="13109" y="18808"/>
                  </a:lnTo>
                  <a:lnTo>
                    <a:pt x="12878" y="19031"/>
                  </a:lnTo>
                  <a:lnTo>
                    <a:pt x="12434" y="19411"/>
                  </a:lnTo>
                  <a:lnTo>
                    <a:pt x="12132" y="19738"/>
                  </a:lnTo>
                  <a:lnTo>
                    <a:pt x="12025" y="19856"/>
                  </a:lnTo>
                  <a:lnTo>
                    <a:pt x="11919" y="20014"/>
                  </a:lnTo>
                  <a:lnTo>
                    <a:pt x="11883" y="20132"/>
                  </a:lnTo>
                  <a:lnTo>
                    <a:pt x="11883" y="20263"/>
                  </a:lnTo>
                  <a:lnTo>
                    <a:pt x="11883" y="20394"/>
                  </a:lnTo>
                  <a:lnTo>
                    <a:pt x="11954" y="20485"/>
                  </a:lnTo>
                  <a:lnTo>
                    <a:pt x="12061" y="20590"/>
                  </a:lnTo>
                  <a:lnTo>
                    <a:pt x="12185" y="20695"/>
                  </a:lnTo>
                  <a:lnTo>
                    <a:pt x="12327" y="20787"/>
                  </a:lnTo>
                  <a:lnTo>
                    <a:pt x="12540" y="20892"/>
                  </a:lnTo>
                  <a:lnTo>
                    <a:pt x="12771" y="20997"/>
                  </a:lnTo>
                  <a:lnTo>
                    <a:pt x="13073" y="21088"/>
                  </a:lnTo>
                  <a:lnTo>
                    <a:pt x="13428" y="21193"/>
                  </a:lnTo>
                  <a:lnTo>
                    <a:pt x="13873" y="21298"/>
                  </a:lnTo>
                  <a:lnTo>
                    <a:pt x="14317" y="21390"/>
                  </a:lnTo>
                  <a:lnTo>
                    <a:pt x="14778" y="21468"/>
                  </a:lnTo>
                  <a:lnTo>
                    <a:pt x="15294" y="21547"/>
                  </a:lnTo>
                  <a:lnTo>
                    <a:pt x="15809" y="21600"/>
                  </a:lnTo>
                  <a:lnTo>
                    <a:pt x="16359" y="21652"/>
                  </a:lnTo>
                  <a:lnTo>
                    <a:pt x="16875" y="21678"/>
                  </a:lnTo>
                  <a:lnTo>
                    <a:pt x="17407" y="21678"/>
                  </a:lnTo>
                  <a:lnTo>
                    <a:pt x="17958" y="21678"/>
                  </a:lnTo>
                  <a:lnTo>
                    <a:pt x="18473" y="21652"/>
                  </a:lnTo>
                  <a:lnTo>
                    <a:pt x="18953" y="21573"/>
                  </a:lnTo>
                  <a:lnTo>
                    <a:pt x="19397" y="21495"/>
                  </a:lnTo>
                  <a:lnTo>
                    <a:pt x="19841" y="21390"/>
                  </a:lnTo>
                  <a:lnTo>
                    <a:pt x="20214" y="21272"/>
                  </a:lnTo>
                  <a:lnTo>
                    <a:pt x="20551" y="21088"/>
                  </a:lnTo>
                  <a:lnTo>
                    <a:pt x="20480" y="20787"/>
                  </a:lnTo>
                  <a:lnTo>
                    <a:pt x="20409" y="20485"/>
                  </a:lnTo>
                  <a:lnTo>
                    <a:pt x="20356" y="20158"/>
                  </a:lnTo>
                  <a:lnTo>
                    <a:pt x="20356" y="19804"/>
                  </a:lnTo>
                  <a:lnTo>
                    <a:pt x="20321" y="19083"/>
                  </a:lnTo>
                  <a:lnTo>
                    <a:pt x="20356" y="18349"/>
                  </a:lnTo>
                  <a:lnTo>
                    <a:pt x="20409" y="17641"/>
                  </a:lnTo>
                  <a:lnTo>
                    <a:pt x="20480" y="17012"/>
                  </a:lnTo>
                  <a:lnTo>
                    <a:pt x="20551" y="16488"/>
                  </a:lnTo>
                  <a:lnTo>
                    <a:pt x="20551" y="16055"/>
                  </a:lnTo>
                  <a:lnTo>
                    <a:pt x="20551" y="15911"/>
                  </a:lnTo>
                  <a:lnTo>
                    <a:pt x="20445" y="15754"/>
                  </a:lnTo>
                  <a:lnTo>
                    <a:pt x="20356" y="15610"/>
                  </a:lnTo>
                  <a:lnTo>
                    <a:pt x="20178" y="15452"/>
                  </a:lnTo>
                  <a:lnTo>
                    <a:pt x="20001" y="15334"/>
                  </a:lnTo>
                  <a:lnTo>
                    <a:pt x="19770" y="15230"/>
                  </a:lnTo>
                  <a:lnTo>
                    <a:pt x="19521" y="15125"/>
                  </a:lnTo>
                  <a:lnTo>
                    <a:pt x="19290" y="15059"/>
                  </a:lnTo>
                  <a:lnTo>
                    <a:pt x="19024" y="15007"/>
                  </a:lnTo>
                  <a:lnTo>
                    <a:pt x="18740" y="14954"/>
                  </a:lnTo>
                  <a:lnTo>
                    <a:pt x="18509" y="14954"/>
                  </a:lnTo>
                  <a:lnTo>
                    <a:pt x="18225" y="14954"/>
                  </a:lnTo>
                  <a:lnTo>
                    <a:pt x="17994" y="15007"/>
                  </a:lnTo>
                  <a:lnTo>
                    <a:pt x="17763" y="15085"/>
                  </a:lnTo>
                  <a:lnTo>
                    <a:pt x="17550" y="15177"/>
                  </a:lnTo>
                  <a:lnTo>
                    <a:pt x="17372" y="15308"/>
                  </a:lnTo>
                  <a:lnTo>
                    <a:pt x="17176" y="15426"/>
                  </a:lnTo>
                  <a:lnTo>
                    <a:pt x="16928" y="15557"/>
                  </a:lnTo>
                  <a:lnTo>
                    <a:pt x="16661" y="15636"/>
                  </a:lnTo>
                  <a:lnTo>
                    <a:pt x="16359" y="15688"/>
                  </a:lnTo>
                  <a:lnTo>
                    <a:pt x="16022" y="15715"/>
                  </a:lnTo>
                  <a:lnTo>
                    <a:pt x="15667" y="15688"/>
                  </a:lnTo>
                  <a:lnTo>
                    <a:pt x="15294" y="15662"/>
                  </a:lnTo>
                  <a:lnTo>
                    <a:pt x="14956" y="15583"/>
                  </a:lnTo>
                  <a:lnTo>
                    <a:pt x="14619" y="15479"/>
                  </a:lnTo>
                  <a:lnTo>
                    <a:pt x="14281" y="15334"/>
                  </a:lnTo>
                  <a:lnTo>
                    <a:pt x="13961" y="15177"/>
                  </a:lnTo>
                  <a:lnTo>
                    <a:pt x="13695" y="14981"/>
                  </a:lnTo>
                  <a:lnTo>
                    <a:pt x="13588" y="14850"/>
                  </a:lnTo>
                  <a:lnTo>
                    <a:pt x="13482" y="14732"/>
                  </a:lnTo>
                  <a:lnTo>
                    <a:pt x="13393" y="14600"/>
                  </a:lnTo>
                  <a:lnTo>
                    <a:pt x="13322" y="14456"/>
                  </a:lnTo>
                  <a:lnTo>
                    <a:pt x="13251" y="14299"/>
                  </a:lnTo>
                  <a:lnTo>
                    <a:pt x="13215" y="14155"/>
                  </a:lnTo>
                  <a:lnTo>
                    <a:pt x="13180" y="13971"/>
                  </a:lnTo>
                  <a:lnTo>
                    <a:pt x="13180" y="13801"/>
                  </a:lnTo>
                  <a:lnTo>
                    <a:pt x="13180" y="13591"/>
                  </a:lnTo>
                  <a:lnTo>
                    <a:pt x="13215" y="13395"/>
                  </a:lnTo>
                  <a:lnTo>
                    <a:pt x="13251" y="13198"/>
                  </a:lnTo>
                  <a:lnTo>
                    <a:pt x="13322" y="13015"/>
                  </a:lnTo>
                  <a:lnTo>
                    <a:pt x="13393" y="12870"/>
                  </a:lnTo>
                  <a:lnTo>
                    <a:pt x="13482" y="12713"/>
                  </a:lnTo>
                  <a:lnTo>
                    <a:pt x="13588" y="12569"/>
                  </a:lnTo>
                  <a:lnTo>
                    <a:pt x="13730" y="12438"/>
                  </a:lnTo>
                  <a:lnTo>
                    <a:pt x="13997" y="12215"/>
                  </a:lnTo>
                  <a:lnTo>
                    <a:pt x="14334" y="12005"/>
                  </a:lnTo>
                  <a:lnTo>
                    <a:pt x="14690" y="11861"/>
                  </a:lnTo>
                  <a:lnTo>
                    <a:pt x="15063" y="11756"/>
                  </a:lnTo>
                  <a:lnTo>
                    <a:pt x="15436" y="11678"/>
                  </a:lnTo>
                  <a:lnTo>
                    <a:pt x="15809" y="11638"/>
                  </a:lnTo>
                  <a:lnTo>
                    <a:pt x="16182" y="11638"/>
                  </a:lnTo>
                  <a:lnTo>
                    <a:pt x="16555" y="11678"/>
                  </a:lnTo>
                  <a:lnTo>
                    <a:pt x="16910" y="11730"/>
                  </a:lnTo>
                  <a:lnTo>
                    <a:pt x="17248" y="11835"/>
                  </a:lnTo>
                  <a:lnTo>
                    <a:pt x="17514" y="11966"/>
                  </a:lnTo>
                  <a:lnTo>
                    <a:pt x="17763" y="12110"/>
                  </a:lnTo>
                  <a:lnTo>
                    <a:pt x="17887" y="12215"/>
                  </a:lnTo>
                  <a:lnTo>
                    <a:pt x="18065" y="12307"/>
                  </a:lnTo>
                  <a:lnTo>
                    <a:pt x="18260" y="12412"/>
                  </a:lnTo>
                  <a:lnTo>
                    <a:pt x="18438" y="12464"/>
                  </a:lnTo>
                  <a:lnTo>
                    <a:pt x="18669" y="12543"/>
                  </a:lnTo>
                  <a:lnTo>
                    <a:pt x="18882" y="12569"/>
                  </a:lnTo>
                  <a:lnTo>
                    <a:pt x="19113" y="12595"/>
                  </a:lnTo>
                  <a:lnTo>
                    <a:pt x="19361" y="12608"/>
                  </a:lnTo>
                  <a:lnTo>
                    <a:pt x="19592" y="12608"/>
                  </a:lnTo>
                  <a:lnTo>
                    <a:pt x="19841" y="12595"/>
                  </a:lnTo>
                  <a:lnTo>
                    <a:pt x="20072" y="12543"/>
                  </a:lnTo>
                  <a:lnTo>
                    <a:pt x="20321" y="12490"/>
                  </a:lnTo>
                  <a:lnTo>
                    <a:pt x="20551" y="12438"/>
                  </a:lnTo>
                  <a:lnTo>
                    <a:pt x="20800" y="12333"/>
                  </a:lnTo>
                  <a:lnTo>
                    <a:pt x="20996" y="12241"/>
                  </a:lnTo>
                  <a:lnTo>
                    <a:pt x="21244" y="12110"/>
                  </a:lnTo>
                  <a:lnTo>
                    <a:pt x="21298" y="12032"/>
                  </a:lnTo>
                  <a:lnTo>
                    <a:pt x="21404" y="11966"/>
                  </a:lnTo>
                  <a:lnTo>
                    <a:pt x="21475" y="11861"/>
                  </a:lnTo>
                  <a:lnTo>
                    <a:pt x="21511" y="11730"/>
                  </a:lnTo>
                  <a:lnTo>
                    <a:pt x="21617" y="11481"/>
                  </a:lnTo>
                  <a:lnTo>
                    <a:pt x="21653" y="11180"/>
                  </a:lnTo>
                  <a:lnTo>
                    <a:pt x="21653" y="10826"/>
                  </a:lnTo>
                  <a:lnTo>
                    <a:pt x="21653" y="10472"/>
                  </a:lnTo>
                  <a:lnTo>
                    <a:pt x="21582" y="10092"/>
                  </a:lnTo>
                  <a:lnTo>
                    <a:pt x="21511" y="9725"/>
                  </a:lnTo>
                  <a:lnTo>
                    <a:pt x="21298" y="8912"/>
                  </a:lnTo>
                  <a:lnTo>
                    <a:pt x="21067" y="8191"/>
                  </a:lnTo>
                  <a:lnTo>
                    <a:pt x="20800" y="7536"/>
                  </a:lnTo>
                  <a:lnTo>
                    <a:pt x="20551" y="7025"/>
                  </a:lnTo>
                  <a:lnTo>
                    <a:pt x="20001" y="7103"/>
                  </a:lnTo>
                  <a:lnTo>
                    <a:pt x="19432" y="7156"/>
                  </a:lnTo>
                  <a:lnTo>
                    <a:pt x="18846" y="7208"/>
                  </a:lnTo>
                  <a:lnTo>
                    <a:pt x="18225" y="7208"/>
                  </a:lnTo>
                  <a:lnTo>
                    <a:pt x="17656" y="7208"/>
                  </a:lnTo>
                  <a:lnTo>
                    <a:pt x="17070" y="7182"/>
                  </a:lnTo>
                  <a:lnTo>
                    <a:pt x="16484" y="7156"/>
                  </a:lnTo>
                  <a:lnTo>
                    <a:pt x="15986" y="7103"/>
                  </a:lnTo>
                  <a:lnTo>
                    <a:pt x="14992" y="6999"/>
                  </a:lnTo>
                  <a:lnTo>
                    <a:pt x="14210" y="6907"/>
                  </a:lnTo>
                  <a:lnTo>
                    <a:pt x="13695" y="6828"/>
                  </a:lnTo>
                  <a:lnTo>
                    <a:pt x="13517" y="6802"/>
                  </a:lnTo>
                  <a:lnTo>
                    <a:pt x="13073" y="6645"/>
                  </a:lnTo>
                  <a:lnTo>
                    <a:pt x="12700" y="6474"/>
                  </a:lnTo>
                  <a:lnTo>
                    <a:pt x="12363" y="6304"/>
                  </a:lnTo>
                  <a:lnTo>
                    <a:pt x="12132" y="6094"/>
                  </a:lnTo>
                  <a:lnTo>
                    <a:pt x="11919" y="5871"/>
                  </a:lnTo>
                  <a:lnTo>
                    <a:pt x="11776" y="5649"/>
                  </a:lnTo>
                  <a:lnTo>
                    <a:pt x="11688" y="5413"/>
                  </a:lnTo>
                  <a:lnTo>
                    <a:pt x="11617" y="5190"/>
                  </a:lnTo>
                  <a:lnTo>
                    <a:pt x="11617" y="4941"/>
                  </a:lnTo>
                  <a:lnTo>
                    <a:pt x="11652" y="4718"/>
                  </a:lnTo>
                  <a:lnTo>
                    <a:pt x="11723" y="4482"/>
                  </a:lnTo>
                  <a:lnTo>
                    <a:pt x="11812" y="4285"/>
                  </a:lnTo>
                  <a:lnTo>
                    <a:pt x="11919" y="4089"/>
                  </a:lnTo>
                  <a:lnTo>
                    <a:pt x="12096" y="3905"/>
                  </a:lnTo>
                  <a:lnTo>
                    <a:pt x="12292" y="3735"/>
                  </a:lnTo>
                  <a:lnTo>
                    <a:pt x="12505" y="3604"/>
                  </a:lnTo>
                  <a:lnTo>
                    <a:pt x="12700" y="3460"/>
                  </a:lnTo>
                  <a:lnTo>
                    <a:pt x="12878" y="3250"/>
                  </a:lnTo>
                  <a:lnTo>
                    <a:pt x="13038" y="3027"/>
                  </a:lnTo>
                  <a:lnTo>
                    <a:pt x="13180" y="2752"/>
                  </a:lnTo>
                  <a:lnTo>
                    <a:pt x="13286" y="2477"/>
                  </a:lnTo>
                  <a:lnTo>
                    <a:pt x="13322" y="2175"/>
                  </a:lnTo>
                  <a:lnTo>
                    <a:pt x="13357" y="1874"/>
                  </a:lnTo>
                  <a:lnTo>
                    <a:pt x="13286" y="1572"/>
                  </a:lnTo>
                  <a:lnTo>
                    <a:pt x="13180" y="1271"/>
                  </a:lnTo>
                  <a:lnTo>
                    <a:pt x="13038" y="983"/>
                  </a:lnTo>
                  <a:lnTo>
                    <a:pt x="12949" y="865"/>
                  </a:lnTo>
                  <a:lnTo>
                    <a:pt x="12807" y="733"/>
                  </a:lnTo>
                  <a:lnTo>
                    <a:pt x="12665" y="616"/>
                  </a:lnTo>
                  <a:lnTo>
                    <a:pt x="12505" y="511"/>
                  </a:lnTo>
                  <a:lnTo>
                    <a:pt x="12327" y="406"/>
                  </a:lnTo>
                  <a:lnTo>
                    <a:pt x="12132" y="314"/>
                  </a:lnTo>
                  <a:lnTo>
                    <a:pt x="11883" y="235"/>
                  </a:lnTo>
                  <a:lnTo>
                    <a:pt x="11652" y="183"/>
                  </a:lnTo>
                  <a:lnTo>
                    <a:pt x="11368" y="104"/>
                  </a:lnTo>
                  <a:lnTo>
                    <a:pt x="11101" y="78"/>
                  </a:lnTo>
                  <a:lnTo>
                    <a:pt x="10800" y="52"/>
                  </a:lnTo>
                  <a:lnTo>
                    <a:pt x="10444" y="52"/>
                  </a:lnTo>
                  <a:lnTo>
                    <a:pt x="10142" y="52"/>
                  </a:lnTo>
                  <a:lnTo>
                    <a:pt x="9840" y="78"/>
                  </a:lnTo>
                  <a:lnTo>
                    <a:pt x="9574" y="104"/>
                  </a:lnTo>
                  <a:lnTo>
                    <a:pt x="9325" y="157"/>
                  </a:lnTo>
                  <a:lnTo>
                    <a:pt x="9094" y="209"/>
                  </a:lnTo>
                  <a:lnTo>
                    <a:pt x="8846" y="262"/>
                  </a:lnTo>
                  <a:lnTo>
                    <a:pt x="8650" y="340"/>
                  </a:lnTo>
                  <a:lnTo>
                    <a:pt x="8437" y="432"/>
                  </a:lnTo>
                  <a:lnTo>
                    <a:pt x="8277" y="511"/>
                  </a:lnTo>
                  <a:lnTo>
                    <a:pt x="8100" y="616"/>
                  </a:lnTo>
                  <a:lnTo>
                    <a:pt x="7957" y="707"/>
                  </a:lnTo>
                  <a:lnTo>
                    <a:pt x="7833" y="838"/>
                  </a:lnTo>
                  <a:lnTo>
                    <a:pt x="7620" y="1061"/>
                  </a:lnTo>
                  <a:lnTo>
                    <a:pt x="7442" y="1336"/>
                  </a:lnTo>
                  <a:lnTo>
                    <a:pt x="7353" y="1599"/>
                  </a:lnTo>
                  <a:lnTo>
                    <a:pt x="7318" y="1900"/>
                  </a:lnTo>
                  <a:lnTo>
                    <a:pt x="7318" y="2175"/>
                  </a:lnTo>
                  <a:lnTo>
                    <a:pt x="7353" y="2450"/>
                  </a:lnTo>
                  <a:lnTo>
                    <a:pt x="7442" y="2726"/>
                  </a:lnTo>
                  <a:lnTo>
                    <a:pt x="7620" y="2975"/>
                  </a:lnTo>
                  <a:lnTo>
                    <a:pt x="7833" y="3198"/>
                  </a:lnTo>
                  <a:lnTo>
                    <a:pt x="8064" y="3433"/>
                  </a:lnTo>
                  <a:lnTo>
                    <a:pt x="8295" y="3630"/>
                  </a:lnTo>
                  <a:lnTo>
                    <a:pt x="8508" y="3853"/>
                  </a:lnTo>
                  <a:lnTo>
                    <a:pt x="8686" y="4089"/>
                  </a:lnTo>
                  <a:lnTo>
                    <a:pt x="8775" y="4312"/>
                  </a:lnTo>
                  <a:lnTo>
                    <a:pt x="8846" y="4561"/>
                  </a:lnTo>
                  <a:lnTo>
                    <a:pt x="8846" y="4810"/>
                  </a:lnTo>
                  <a:lnTo>
                    <a:pt x="8810" y="5059"/>
                  </a:lnTo>
                  <a:lnTo>
                    <a:pt x="8721" y="5295"/>
                  </a:lnTo>
                  <a:lnTo>
                    <a:pt x="8579" y="5544"/>
                  </a:lnTo>
                  <a:lnTo>
                    <a:pt x="8366" y="5766"/>
                  </a:lnTo>
                  <a:lnTo>
                    <a:pt x="8135" y="5976"/>
                  </a:lnTo>
                  <a:lnTo>
                    <a:pt x="7833" y="6199"/>
                  </a:lnTo>
                  <a:lnTo>
                    <a:pt x="7478" y="6369"/>
                  </a:lnTo>
                  <a:lnTo>
                    <a:pt x="7069" y="6527"/>
                  </a:lnTo>
                  <a:lnTo>
                    <a:pt x="6590" y="6671"/>
                  </a:lnTo>
                  <a:lnTo>
                    <a:pt x="6092" y="6802"/>
                  </a:lnTo>
                  <a:lnTo>
                    <a:pt x="5684" y="6802"/>
                  </a:lnTo>
                  <a:lnTo>
                    <a:pt x="5133" y="6802"/>
                  </a:lnTo>
                  <a:lnTo>
                    <a:pt x="4547" y="6802"/>
                  </a:lnTo>
                  <a:lnTo>
                    <a:pt x="3872" y="6802"/>
                  </a:lnTo>
                  <a:lnTo>
                    <a:pt x="3144" y="6802"/>
                  </a:lnTo>
                  <a:lnTo>
                    <a:pt x="2362" y="6802"/>
                  </a:lnTo>
                  <a:lnTo>
                    <a:pt x="1545" y="6802"/>
                  </a:lnTo>
                  <a:lnTo>
                    <a:pt x="692" y="6802"/>
                  </a:lnTo>
                  <a:lnTo>
                    <a:pt x="586" y="7234"/>
                  </a:lnTo>
                  <a:lnTo>
                    <a:pt x="461" y="7837"/>
                  </a:lnTo>
                  <a:lnTo>
                    <a:pt x="355" y="8493"/>
                  </a:lnTo>
                  <a:lnTo>
                    <a:pt x="248" y="9187"/>
                  </a:lnTo>
                  <a:lnTo>
                    <a:pt x="142" y="9869"/>
                  </a:lnTo>
                  <a:lnTo>
                    <a:pt x="106" y="10498"/>
                  </a:lnTo>
                  <a:lnTo>
                    <a:pt x="106" y="10983"/>
                  </a:lnTo>
                  <a:lnTo>
                    <a:pt x="106" y="11311"/>
                  </a:lnTo>
                  <a:lnTo>
                    <a:pt x="213" y="11481"/>
                  </a:lnTo>
                  <a:lnTo>
                    <a:pt x="319" y="11651"/>
                  </a:lnTo>
                  <a:lnTo>
                    <a:pt x="497" y="11783"/>
                  </a:lnTo>
                  <a:lnTo>
                    <a:pt x="692" y="11914"/>
                  </a:lnTo>
                  <a:lnTo>
                    <a:pt x="941" y="12032"/>
                  </a:lnTo>
                  <a:lnTo>
                    <a:pt x="1207" y="12110"/>
                  </a:lnTo>
                  <a:lnTo>
                    <a:pt x="1509" y="12189"/>
                  </a:lnTo>
                  <a:lnTo>
                    <a:pt x="1794" y="12241"/>
                  </a:lnTo>
                  <a:lnTo>
                    <a:pt x="2131" y="12267"/>
                  </a:lnTo>
                  <a:lnTo>
                    <a:pt x="2433" y="12281"/>
                  </a:lnTo>
                  <a:lnTo>
                    <a:pt x="2735" y="12267"/>
                  </a:lnTo>
                  <a:lnTo>
                    <a:pt x="3055" y="12241"/>
                  </a:lnTo>
                  <a:lnTo>
                    <a:pt x="3357" y="12189"/>
                  </a:lnTo>
                  <a:lnTo>
                    <a:pt x="3623" y="12084"/>
                  </a:lnTo>
                  <a:lnTo>
                    <a:pt x="3872" y="11979"/>
                  </a:lnTo>
                  <a:lnTo>
                    <a:pt x="4103" y="11861"/>
                  </a:lnTo>
                  <a:lnTo>
                    <a:pt x="4316" y="11704"/>
                  </a:lnTo>
                  <a:lnTo>
                    <a:pt x="4582" y="11612"/>
                  </a:lnTo>
                  <a:lnTo>
                    <a:pt x="4849" y="11533"/>
                  </a:lnTo>
                  <a:lnTo>
                    <a:pt x="5169" y="11507"/>
                  </a:lnTo>
                  <a:lnTo>
                    <a:pt x="5506" y="11481"/>
                  </a:lnTo>
                  <a:lnTo>
                    <a:pt x="5808" y="11507"/>
                  </a:lnTo>
                  <a:lnTo>
                    <a:pt x="6146" y="11560"/>
                  </a:lnTo>
                  <a:lnTo>
                    <a:pt x="6501" y="11651"/>
                  </a:lnTo>
                  <a:lnTo>
                    <a:pt x="6803" y="11783"/>
                  </a:lnTo>
                  <a:lnTo>
                    <a:pt x="7105" y="11940"/>
                  </a:lnTo>
                  <a:lnTo>
                    <a:pt x="7353" y="12110"/>
                  </a:lnTo>
                  <a:lnTo>
                    <a:pt x="7584" y="12333"/>
                  </a:lnTo>
                  <a:lnTo>
                    <a:pt x="7798" y="12595"/>
                  </a:lnTo>
                  <a:lnTo>
                    <a:pt x="7922" y="12870"/>
                  </a:lnTo>
                  <a:lnTo>
                    <a:pt x="8028" y="13198"/>
                  </a:lnTo>
                  <a:lnTo>
                    <a:pt x="8064" y="13526"/>
                  </a:lnTo>
                  <a:lnTo>
                    <a:pt x="8028" y="13775"/>
                  </a:lnTo>
                  <a:lnTo>
                    <a:pt x="7922" y="13998"/>
                  </a:lnTo>
                  <a:lnTo>
                    <a:pt x="7798" y="14220"/>
                  </a:lnTo>
                  <a:lnTo>
                    <a:pt x="7584" y="14404"/>
                  </a:lnTo>
                  <a:lnTo>
                    <a:pt x="7353" y="14574"/>
                  </a:lnTo>
                  <a:lnTo>
                    <a:pt x="7105" y="14732"/>
                  </a:lnTo>
                  <a:lnTo>
                    <a:pt x="6803" y="14850"/>
                  </a:lnTo>
                  <a:lnTo>
                    <a:pt x="6501" y="14954"/>
                  </a:lnTo>
                  <a:lnTo>
                    <a:pt x="6146" y="15033"/>
                  </a:lnTo>
                  <a:lnTo>
                    <a:pt x="5808" y="15085"/>
                  </a:lnTo>
                  <a:lnTo>
                    <a:pt x="5506" y="15085"/>
                  </a:lnTo>
                  <a:lnTo>
                    <a:pt x="5169" y="15059"/>
                  </a:lnTo>
                  <a:lnTo>
                    <a:pt x="4849" y="15007"/>
                  </a:lnTo>
                  <a:lnTo>
                    <a:pt x="4582" y="14902"/>
                  </a:lnTo>
                  <a:lnTo>
                    <a:pt x="4316" y="14784"/>
                  </a:lnTo>
                  <a:lnTo>
                    <a:pt x="4103" y="14600"/>
                  </a:lnTo>
                  <a:lnTo>
                    <a:pt x="3907" y="14430"/>
                  </a:lnTo>
                  <a:lnTo>
                    <a:pt x="3659" y="14299"/>
                  </a:lnTo>
                  <a:lnTo>
                    <a:pt x="3428" y="14194"/>
                  </a:lnTo>
                  <a:lnTo>
                    <a:pt x="3179" y="14129"/>
                  </a:lnTo>
                  <a:lnTo>
                    <a:pt x="2913" y="14102"/>
                  </a:lnTo>
                  <a:lnTo>
                    <a:pt x="2646" y="14102"/>
                  </a:lnTo>
                  <a:lnTo>
                    <a:pt x="2362" y="14129"/>
                  </a:lnTo>
                  <a:lnTo>
                    <a:pt x="2096" y="14168"/>
                  </a:lnTo>
                  <a:lnTo>
                    <a:pt x="1811" y="14273"/>
                  </a:lnTo>
                  <a:lnTo>
                    <a:pt x="1545" y="14378"/>
                  </a:lnTo>
                  <a:lnTo>
                    <a:pt x="1314" y="14496"/>
                  </a:lnTo>
                  <a:lnTo>
                    <a:pt x="1065" y="14653"/>
                  </a:lnTo>
                  <a:lnTo>
                    <a:pt x="870" y="14797"/>
                  </a:lnTo>
                  <a:lnTo>
                    <a:pt x="657" y="14981"/>
                  </a:lnTo>
                  <a:lnTo>
                    <a:pt x="497" y="15177"/>
                  </a:lnTo>
                  <a:lnTo>
                    <a:pt x="390" y="15413"/>
                  </a:lnTo>
                  <a:lnTo>
                    <a:pt x="284" y="15636"/>
                  </a:lnTo>
                  <a:lnTo>
                    <a:pt x="248" y="15911"/>
                  </a:lnTo>
                  <a:lnTo>
                    <a:pt x="284" y="16239"/>
                  </a:lnTo>
                  <a:lnTo>
                    <a:pt x="319" y="16566"/>
                  </a:lnTo>
                  <a:lnTo>
                    <a:pt x="497" y="17340"/>
                  </a:lnTo>
                  <a:lnTo>
                    <a:pt x="692" y="18152"/>
                  </a:lnTo>
                  <a:lnTo>
                    <a:pt x="799" y="18559"/>
                  </a:lnTo>
                  <a:lnTo>
                    <a:pt x="905" y="18978"/>
                  </a:lnTo>
                  <a:lnTo>
                    <a:pt x="959" y="19384"/>
                  </a:lnTo>
                  <a:lnTo>
                    <a:pt x="994" y="19791"/>
                  </a:lnTo>
                  <a:lnTo>
                    <a:pt x="994" y="20132"/>
                  </a:lnTo>
                  <a:lnTo>
                    <a:pt x="959" y="20485"/>
                  </a:lnTo>
                  <a:lnTo>
                    <a:pt x="941" y="20669"/>
                  </a:lnTo>
                  <a:lnTo>
                    <a:pt x="870" y="20813"/>
                  </a:lnTo>
                  <a:lnTo>
                    <a:pt x="799" y="20970"/>
                  </a:lnTo>
                  <a:lnTo>
                    <a:pt x="692" y="21088"/>
                  </a:lnTo>
                  <a:lnTo>
                    <a:pt x="1474" y="20997"/>
                  </a:lnTo>
                  <a:lnTo>
                    <a:pt x="2291" y="20866"/>
                  </a:lnTo>
                  <a:lnTo>
                    <a:pt x="3108" y="20787"/>
                  </a:lnTo>
                  <a:lnTo>
                    <a:pt x="3907" y="20721"/>
                  </a:lnTo>
                  <a:lnTo>
                    <a:pt x="4653" y="20695"/>
                  </a:lnTo>
                  <a:lnTo>
                    <a:pt x="5364" y="20695"/>
                  </a:lnTo>
                  <a:lnTo>
                    <a:pt x="5701" y="20721"/>
                  </a:lnTo>
                  <a:lnTo>
                    <a:pt x="6057" y="20761"/>
                  </a:lnTo>
                  <a:lnTo>
                    <a:pt x="6323" y="20813"/>
                  </a:lnTo>
                  <a:lnTo>
                    <a:pt x="6625" y="20892"/>
                  </a:lnTo>
                  <a:close/>
                </a:path>
              </a:pathLst>
            </a:custGeom>
            <a:solidFill>
              <a:srgbClr val="FFBE7D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6" name="AutoShape 16"/>
            <p:cNvSpPr>
              <a:spLocks noChangeArrowheads="1"/>
            </p:cNvSpPr>
            <p:nvPr/>
          </p:nvSpPr>
          <p:spPr bwMode="auto">
            <a:xfrm>
              <a:off x="1089" y="880"/>
              <a:ext cx="204" cy="18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5400 w 21600"/>
                <a:gd name="T25" fmla="*/ 6735 h 21600"/>
                <a:gd name="T26" fmla="*/ 16200 w 21600"/>
                <a:gd name="T27" fmla="*/ 2043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4247" y="12354"/>
                  </a:moveTo>
                  <a:lnTo>
                    <a:pt x="4134" y="12468"/>
                  </a:lnTo>
                  <a:lnTo>
                    <a:pt x="4010" y="12581"/>
                  </a:lnTo>
                  <a:lnTo>
                    <a:pt x="3897" y="12637"/>
                  </a:lnTo>
                  <a:lnTo>
                    <a:pt x="3773" y="12694"/>
                  </a:lnTo>
                  <a:lnTo>
                    <a:pt x="3637" y="12694"/>
                  </a:lnTo>
                  <a:lnTo>
                    <a:pt x="3524" y="12694"/>
                  </a:lnTo>
                  <a:lnTo>
                    <a:pt x="3400" y="12665"/>
                  </a:lnTo>
                  <a:lnTo>
                    <a:pt x="3287" y="12609"/>
                  </a:lnTo>
                  <a:lnTo>
                    <a:pt x="3027" y="12496"/>
                  </a:lnTo>
                  <a:lnTo>
                    <a:pt x="2790" y="12340"/>
                  </a:lnTo>
                  <a:lnTo>
                    <a:pt x="2530" y="12142"/>
                  </a:lnTo>
                  <a:lnTo>
                    <a:pt x="2293" y="11987"/>
                  </a:lnTo>
                  <a:lnTo>
                    <a:pt x="2033" y="11817"/>
                  </a:lnTo>
                  <a:lnTo>
                    <a:pt x="1773" y="11676"/>
                  </a:lnTo>
                  <a:lnTo>
                    <a:pt x="1638" y="11662"/>
                  </a:lnTo>
                  <a:lnTo>
                    <a:pt x="1513" y="11634"/>
                  </a:lnTo>
                  <a:lnTo>
                    <a:pt x="1378" y="11634"/>
                  </a:lnTo>
                  <a:lnTo>
                    <a:pt x="1253" y="11634"/>
                  </a:lnTo>
                  <a:lnTo>
                    <a:pt x="1118" y="11662"/>
                  </a:lnTo>
                  <a:lnTo>
                    <a:pt x="971" y="11732"/>
                  </a:lnTo>
                  <a:lnTo>
                    <a:pt x="835" y="11817"/>
                  </a:lnTo>
                  <a:lnTo>
                    <a:pt x="711" y="11959"/>
                  </a:lnTo>
                  <a:lnTo>
                    <a:pt x="553" y="12086"/>
                  </a:lnTo>
                  <a:lnTo>
                    <a:pt x="429" y="12284"/>
                  </a:lnTo>
                  <a:lnTo>
                    <a:pt x="271" y="12524"/>
                  </a:lnTo>
                  <a:lnTo>
                    <a:pt x="146" y="12793"/>
                  </a:lnTo>
                  <a:lnTo>
                    <a:pt x="79" y="12962"/>
                  </a:lnTo>
                  <a:lnTo>
                    <a:pt x="33" y="13146"/>
                  </a:lnTo>
                  <a:lnTo>
                    <a:pt x="11" y="13386"/>
                  </a:lnTo>
                  <a:lnTo>
                    <a:pt x="11" y="13641"/>
                  </a:lnTo>
                  <a:lnTo>
                    <a:pt x="33" y="13881"/>
                  </a:lnTo>
                  <a:lnTo>
                    <a:pt x="101" y="14150"/>
                  </a:lnTo>
                  <a:lnTo>
                    <a:pt x="192" y="14404"/>
                  </a:lnTo>
                  <a:lnTo>
                    <a:pt x="293" y="14645"/>
                  </a:lnTo>
                  <a:lnTo>
                    <a:pt x="451" y="14857"/>
                  </a:lnTo>
                  <a:lnTo>
                    <a:pt x="621" y="15054"/>
                  </a:lnTo>
                  <a:lnTo>
                    <a:pt x="734" y="15125"/>
                  </a:lnTo>
                  <a:lnTo>
                    <a:pt x="835" y="15210"/>
                  </a:lnTo>
                  <a:lnTo>
                    <a:pt x="948" y="15267"/>
                  </a:lnTo>
                  <a:lnTo>
                    <a:pt x="1084" y="15323"/>
                  </a:lnTo>
                  <a:lnTo>
                    <a:pt x="1208" y="15351"/>
                  </a:lnTo>
                  <a:lnTo>
                    <a:pt x="1355" y="15380"/>
                  </a:lnTo>
                  <a:lnTo>
                    <a:pt x="1513" y="15380"/>
                  </a:lnTo>
                  <a:lnTo>
                    <a:pt x="1683" y="15380"/>
                  </a:lnTo>
                  <a:lnTo>
                    <a:pt x="1864" y="15351"/>
                  </a:lnTo>
                  <a:lnTo>
                    <a:pt x="2033" y="15323"/>
                  </a:lnTo>
                  <a:lnTo>
                    <a:pt x="2225" y="15238"/>
                  </a:lnTo>
                  <a:lnTo>
                    <a:pt x="2428" y="15153"/>
                  </a:lnTo>
                  <a:lnTo>
                    <a:pt x="2745" y="15026"/>
                  </a:lnTo>
                  <a:lnTo>
                    <a:pt x="3005" y="14913"/>
                  </a:lnTo>
                  <a:lnTo>
                    <a:pt x="3264" y="14828"/>
                  </a:lnTo>
                  <a:lnTo>
                    <a:pt x="3513" y="14800"/>
                  </a:lnTo>
                  <a:lnTo>
                    <a:pt x="3615" y="14828"/>
                  </a:lnTo>
                  <a:lnTo>
                    <a:pt x="3728" y="14857"/>
                  </a:lnTo>
                  <a:lnTo>
                    <a:pt x="3807" y="14913"/>
                  </a:lnTo>
                  <a:lnTo>
                    <a:pt x="3920" y="14998"/>
                  </a:lnTo>
                  <a:lnTo>
                    <a:pt x="4010" y="15097"/>
                  </a:lnTo>
                  <a:lnTo>
                    <a:pt x="4089" y="15238"/>
                  </a:lnTo>
                  <a:lnTo>
                    <a:pt x="4179" y="15408"/>
                  </a:lnTo>
                  <a:lnTo>
                    <a:pt x="4247" y="15620"/>
                  </a:lnTo>
                  <a:lnTo>
                    <a:pt x="4326" y="15860"/>
                  </a:lnTo>
                  <a:lnTo>
                    <a:pt x="4394" y="16129"/>
                  </a:lnTo>
                  <a:lnTo>
                    <a:pt x="4439" y="16440"/>
                  </a:lnTo>
                  <a:lnTo>
                    <a:pt x="4507" y="16737"/>
                  </a:lnTo>
                  <a:lnTo>
                    <a:pt x="4552" y="17090"/>
                  </a:lnTo>
                  <a:lnTo>
                    <a:pt x="4575" y="17443"/>
                  </a:lnTo>
                  <a:lnTo>
                    <a:pt x="4586" y="17825"/>
                  </a:lnTo>
                  <a:lnTo>
                    <a:pt x="4586" y="18193"/>
                  </a:lnTo>
                  <a:lnTo>
                    <a:pt x="4586" y="18574"/>
                  </a:lnTo>
                  <a:lnTo>
                    <a:pt x="4586" y="18984"/>
                  </a:lnTo>
                  <a:lnTo>
                    <a:pt x="4552" y="19366"/>
                  </a:lnTo>
                  <a:lnTo>
                    <a:pt x="4507" y="19748"/>
                  </a:lnTo>
                  <a:lnTo>
                    <a:pt x="4462" y="20129"/>
                  </a:lnTo>
                  <a:lnTo>
                    <a:pt x="4371" y="20483"/>
                  </a:lnTo>
                  <a:lnTo>
                    <a:pt x="4292" y="20836"/>
                  </a:lnTo>
                  <a:lnTo>
                    <a:pt x="4202" y="21161"/>
                  </a:lnTo>
                  <a:lnTo>
                    <a:pt x="4744" y="21161"/>
                  </a:lnTo>
                  <a:lnTo>
                    <a:pt x="5264" y="21161"/>
                  </a:lnTo>
                  <a:lnTo>
                    <a:pt x="5784" y="21161"/>
                  </a:lnTo>
                  <a:lnTo>
                    <a:pt x="6235" y="21161"/>
                  </a:lnTo>
                  <a:lnTo>
                    <a:pt x="6676" y="21161"/>
                  </a:lnTo>
                  <a:lnTo>
                    <a:pt x="7060" y="21161"/>
                  </a:lnTo>
                  <a:lnTo>
                    <a:pt x="7410" y="21161"/>
                  </a:lnTo>
                  <a:lnTo>
                    <a:pt x="7670" y="21161"/>
                  </a:lnTo>
                  <a:lnTo>
                    <a:pt x="8020" y="21020"/>
                  </a:lnTo>
                  <a:lnTo>
                    <a:pt x="8303" y="20893"/>
                  </a:lnTo>
                  <a:lnTo>
                    <a:pt x="8563" y="20695"/>
                  </a:lnTo>
                  <a:lnTo>
                    <a:pt x="8800" y="20511"/>
                  </a:lnTo>
                  <a:lnTo>
                    <a:pt x="8969" y="20285"/>
                  </a:lnTo>
                  <a:lnTo>
                    <a:pt x="9150" y="20045"/>
                  </a:lnTo>
                  <a:lnTo>
                    <a:pt x="9252" y="19804"/>
                  </a:lnTo>
                  <a:lnTo>
                    <a:pt x="9342" y="19550"/>
                  </a:lnTo>
                  <a:lnTo>
                    <a:pt x="9410" y="19281"/>
                  </a:lnTo>
                  <a:lnTo>
                    <a:pt x="9433" y="19013"/>
                  </a:lnTo>
                  <a:lnTo>
                    <a:pt x="9433" y="18744"/>
                  </a:lnTo>
                  <a:lnTo>
                    <a:pt x="9387" y="18504"/>
                  </a:lnTo>
                  <a:lnTo>
                    <a:pt x="9320" y="18221"/>
                  </a:lnTo>
                  <a:lnTo>
                    <a:pt x="9207" y="17981"/>
                  </a:lnTo>
                  <a:lnTo>
                    <a:pt x="9105" y="17740"/>
                  </a:lnTo>
                  <a:lnTo>
                    <a:pt x="8924" y="17514"/>
                  </a:lnTo>
                  <a:lnTo>
                    <a:pt x="8777" y="17274"/>
                  </a:lnTo>
                  <a:lnTo>
                    <a:pt x="8642" y="17034"/>
                  </a:lnTo>
                  <a:lnTo>
                    <a:pt x="8563" y="16765"/>
                  </a:lnTo>
                  <a:lnTo>
                    <a:pt x="8472" y="16468"/>
                  </a:lnTo>
                  <a:lnTo>
                    <a:pt x="8450" y="16157"/>
                  </a:lnTo>
                  <a:lnTo>
                    <a:pt x="8450" y="15860"/>
                  </a:lnTo>
                  <a:lnTo>
                    <a:pt x="8472" y="15563"/>
                  </a:lnTo>
                  <a:lnTo>
                    <a:pt x="8540" y="15267"/>
                  </a:lnTo>
                  <a:lnTo>
                    <a:pt x="8642" y="14998"/>
                  </a:lnTo>
                  <a:lnTo>
                    <a:pt x="8777" y="14729"/>
                  </a:lnTo>
                  <a:lnTo>
                    <a:pt x="8868" y="14616"/>
                  </a:lnTo>
                  <a:lnTo>
                    <a:pt x="8969" y="14475"/>
                  </a:lnTo>
                  <a:lnTo>
                    <a:pt x="9060" y="14376"/>
                  </a:lnTo>
                  <a:lnTo>
                    <a:pt x="9184" y="14291"/>
                  </a:lnTo>
                  <a:lnTo>
                    <a:pt x="9297" y="14206"/>
                  </a:lnTo>
                  <a:lnTo>
                    <a:pt x="9433" y="14121"/>
                  </a:lnTo>
                  <a:lnTo>
                    <a:pt x="9579" y="14051"/>
                  </a:lnTo>
                  <a:lnTo>
                    <a:pt x="9726" y="13994"/>
                  </a:lnTo>
                  <a:lnTo>
                    <a:pt x="9884" y="13938"/>
                  </a:lnTo>
                  <a:lnTo>
                    <a:pt x="10054" y="13909"/>
                  </a:lnTo>
                  <a:lnTo>
                    <a:pt x="10257" y="13881"/>
                  </a:lnTo>
                  <a:lnTo>
                    <a:pt x="10449" y="13881"/>
                  </a:lnTo>
                  <a:lnTo>
                    <a:pt x="10664" y="13881"/>
                  </a:lnTo>
                  <a:lnTo>
                    <a:pt x="10856" y="13909"/>
                  </a:lnTo>
                  <a:lnTo>
                    <a:pt x="11037" y="13966"/>
                  </a:lnTo>
                  <a:lnTo>
                    <a:pt x="11206" y="14023"/>
                  </a:lnTo>
                  <a:lnTo>
                    <a:pt x="11353" y="14093"/>
                  </a:lnTo>
                  <a:lnTo>
                    <a:pt x="11511" y="14178"/>
                  </a:lnTo>
                  <a:lnTo>
                    <a:pt x="11635" y="14263"/>
                  </a:lnTo>
                  <a:lnTo>
                    <a:pt x="11748" y="14376"/>
                  </a:lnTo>
                  <a:lnTo>
                    <a:pt x="11861" y="14475"/>
                  </a:lnTo>
                  <a:lnTo>
                    <a:pt x="11941" y="14616"/>
                  </a:lnTo>
                  <a:lnTo>
                    <a:pt x="12031" y="14758"/>
                  </a:lnTo>
                  <a:lnTo>
                    <a:pt x="12099" y="14885"/>
                  </a:lnTo>
                  <a:lnTo>
                    <a:pt x="12200" y="15210"/>
                  </a:lnTo>
                  <a:lnTo>
                    <a:pt x="12268" y="15507"/>
                  </a:lnTo>
                  <a:lnTo>
                    <a:pt x="12291" y="15832"/>
                  </a:lnTo>
                  <a:lnTo>
                    <a:pt x="12291" y="16157"/>
                  </a:lnTo>
                  <a:lnTo>
                    <a:pt x="12246" y="16482"/>
                  </a:lnTo>
                  <a:lnTo>
                    <a:pt x="12178" y="16807"/>
                  </a:lnTo>
                  <a:lnTo>
                    <a:pt x="12099" y="17090"/>
                  </a:lnTo>
                  <a:lnTo>
                    <a:pt x="12008" y="17330"/>
                  </a:lnTo>
                  <a:lnTo>
                    <a:pt x="11884" y="17542"/>
                  </a:lnTo>
                  <a:lnTo>
                    <a:pt x="11748" y="17712"/>
                  </a:lnTo>
                  <a:lnTo>
                    <a:pt x="11613" y="17839"/>
                  </a:lnTo>
                  <a:lnTo>
                    <a:pt x="11489" y="18037"/>
                  </a:lnTo>
                  <a:lnTo>
                    <a:pt x="11398" y="18221"/>
                  </a:lnTo>
                  <a:lnTo>
                    <a:pt x="11319" y="18447"/>
                  </a:lnTo>
                  <a:lnTo>
                    <a:pt x="11251" y="18659"/>
                  </a:lnTo>
                  <a:lnTo>
                    <a:pt x="11206" y="18900"/>
                  </a:lnTo>
                  <a:lnTo>
                    <a:pt x="11184" y="19154"/>
                  </a:lnTo>
                  <a:lnTo>
                    <a:pt x="11184" y="19423"/>
                  </a:lnTo>
                  <a:lnTo>
                    <a:pt x="11229" y="19663"/>
                  </a:lnTo>
                  <a:lnTo>
                    <a:pt x="11297" y="19903"/>
                  </a:lnTo>
                  <a:lnTo>
                    <a:pt x="11376" y="20158"/>
                  </a:lnTo>
                  <a:lnTo>
                    <a:pt x="11511" y="20398"/>
                  </a:lnTo>
                  <a:lnTo>
                    <a:pt x="11681" y="20610"/>
                  </a:lnTo>
                  <a:lnTo>
                    <a:pt x="11884" y="20808"/>
                  </a:lnTo>
                  <a:lnTo>
                    <a:pt x="12121" y="20992"/>
                  </a:lnTo>
                  <a:lnTo>
                    <a:pt x="12404" y="21161"/>
                  </a:lnTo>
                  <a:lnTo>
                    <a:pt x="12528" y="21190"/>
                  </a:lnTo>
                  <a:lnTo>
                    <a:pt x="12856" y="21274"/>
                  </a:lnTo>
                  <a:lnTo>
                    <a:pt x="13330" y="21373"/>
                  </a:lnTo>
                  <a:lnTo>
                    <a:pt x="13963" y="21486"/>
                  </a:lnTo>
                  <a:lnTo>
                    <a:pt x="14313" y="21543"/>
                  </a:lnTo>
                  <a:lnTo>
                    <a:pt x="14652" y="21571"/>
                  </a:lnTo>
                  <a:lnTo>
                    <a:pt x="15025" y="21600"/>
                  </a:lnTo>
                  <a:lnTo>
                    <a:pt x="15409" y="21600"/>
                  </a:lnTo>
                  <a:lnTo>
                    <a:pt x="15782" y="21600"/>
                  </a:lnTo>
                  <a:lnTo>
                    <a:pt x="16177" y="21571"/>
                  </a:lnTo>
                  <a:lnTo>
                    <a:pt x="16516" y="21486"/>
                  </a:lnTo>
                  <a:lnTo>
                    <a:pt x="16889" y="21402"/>
                  </a:lnTo>
                  <a:lnTo>
                    <a:pt x="16821" y="21190"/>
                  </a:lnTo>
                  <a:lnTo>
                    <a:pt x="16776" y="20935"/>
                  </a:lnTo>
                  <a:lnTo>
                    <a:pt x="16742" y="20667"/>
                  </a:lnTo>
                  <a:lnTo>
                    <a:pt x="16719" y="20370"/>
                  </a:lnTo>
                  <a:lnTo>
                    <a:pt x="16697" y="19719"/>
                  </a:lnTo>
                  <a:lnTo>
                    <a:pt x="16697" y="19013"/>
                  </a:lnTo>
                  <a:lnTo>
                    <a:pt x="16719" y="18306"/>
                  </a:lnTo>
                  <a:lnTo>
                    <a:pt x="16753" y="17599"/>
                  </a:lnTo>
                  <a:lnTo>
                    <a:pt x="16821" y="16949"/>
                  </a:lnTo>
                  <a:lnTo>
                    <a:pt x="16889" y="16383"/>
                  </a:lnTo>
                  <a:lnTo>
                    <a:pt x="16934" y="16129"/>
                  </a:lnTo>
                  <a:lnTo>
                    <a:pt x="17002" y="15945"/>
                  </a:lnTo>
                  <a:lnTo>
                    <a:pt x="17081" y="15790"/>
                  </a:lnTo>
                  <a:lnTo>
                    <a:pt x="17194" y="15648"/>
                  </a:lnTo>
                  <a:lnTo>
                    <a:pt x="17318" y="15563"/>
                  </a:lnTo>
                  <a:lnTo>
                    <a:pt x="17453" y="15507"/>
                  </a:lnTo>
                  <a:lnTo>
                    <a:pt x="17600" y="15450"/>
                  </a:lnTo>
                  <a:lnTo>
                    <a:pt x="17758" y="15450"/>
                  </a:lnTo>
                  <a:lnTo>
                    <a:pt x="17905" y="15479"/>
                  </a:lnTo>
                  <a:lnTo>
                    <a:pt x="18064" y="15535"/>
                  </a:lnTo>
                  <a:lnTo>
                    <a:pt x="18233" y="15620"/>
                  </a:lnTo>
                  <a:lnTo>
                    <a:pt x="18380" y="15733"/>
                  </a:lnTo>
                  <a:lnTo>
                    <a:pt x="18561" y="15832"/>
                  </a:lnTo>
                  <a:lnTo>
                    <a:pt x="18707" y="15973"/>
                  </a:lnTo>
                  <a:lnTo>
                    <a:pt x="18866" y="16129"/>
                  </a:lnTo>
                  <a:lnTo>
                    <a:pt x="18990" y="16327"/>
                  </a:lnTo>
                  <a:lnTo>
                    <a:pt x="19125" y="16482"/>
                  </a:lnTo>
                  <a:lnTo>
                    <a:pt x="19295" y="16624"/>
                  </a:lnTo>
                  <a:lnTo>
                    <a:pt x="19464" y="16737"/>
                  </a:lnTo>
                  <a:lnTo>
                    <a:pt x="19668" y="16807"/>
                  </a:lnTo>
                  <a:lnTo>
                    <a:pt x="19860" y="16836"/>
                  </a:lnTo>
                  <a:lnTo>
                    <a:pt x="20052" y="16864"/>
                  </a:lnTo>
                  <a:lnTo>
                    <a:pt x="20266" y="16836"/>
                  </a:lnTo>
                  <a:lnTo>
                    <a:pt x="20470" y="16793"/>
                  </a:lnTo>
                  <a:lnTo>
                    <a:pt x="20662" y="16708"/>
                  </a:lnTo>
                  <a:lnTo>
                    <a:pt x="20854" y="16567"/>
                  </a:lnTo>
                  <a:lnTo>
                    <a:pt x="21035" y="16412"/>
                  </a:lnTo>
                  <a:lnTo>
                    <a:pt x="21182" y="16214"/>
                  </a:lnTo>
                  <a:lnTo>
                    <a:pt x="21340" y="16002"/>
                  </a:lnTo>
                  <a:lnTo>
                    <a:pt x="21441" y="15733"/>
                  </a:lnTo>
                  <a:lnTo>
                    <a:pt x="21532" y="15436"/>
                  </a:lnTo>
                  <a:lnTo>
                    <a:pt x="21600" y="15083"/>
                  </a:lnTo>
                  <a:lnTo>
                    <a:pt x="21600" y="14885"/>
                  </a:lnTo>
                  <a:lnTo>
                    <a:pt x="21600" y="14729"/>
                  </a:lnTo>
                  <a:lnTo>
                    <a:pt x="21600" y="14531"/>
                  </a:lnTo>
                  <a:lnTo>
                    <a:pt x="21577" y="14376"/>
                  </a:lnTo>
                  <a:lnTo>
                    <a:pt x="21532" y="14206"/>
                  </a:lnTo>
                  <a:lnTo>
                    <a:pt x="21487" y="14051"/>
                  </a:lnTo>
                  <a:lnTo>
                    <a:pt x="21419" y="13909"/>
                  </a:lnTo>
                  <a:lnTo>
                    <a:pt x="21351" y="13768"/>
                  </a:lnTo>
                  <a:lnTo>
                    <a:pt x="21204" y="13500"/>
                  </a:lnTo>
                  <a:lnTo>
                    <a:pt x="21035" y="13287"/>
                  </a:lnTo>
                  <a:lnTo>
                    <a:pt x="20809" y="13090"/>
                  </a:lnTo>
                  <a:lnTo>
                    <a:pt x="20594" y="12962"/>
                  </a:lnTo>
                  <a:lnTo>
                    <a:pt x="20357" y="12821"/>
                  </a:lnTo>
                  <a:lnTo>
                    <a:pt x="20120" y="12764"/>
                  </a:lnTo>
                  <a:lnTo>
                    <a:pt x="19882" y="12708"/>
                  </a:lnTo>
                  <a:lnTo>
                    <a:pt x="19645" y="12736"/>
                  </a:lnTo>
                  <a:lnTo>
                    <a:pt x="19430" y="12793"/>
                  </a:lnTo>
                  <a:lnTo>
                    <a:pt x="19227" y="12906"/>
                  </a:lnTo>
                  <a:lnTo>
                    <a:pt x="19148" y="12962"/>
                  </a:lnTo>
                  <a:lnTo>
                    <a:pt x="19058" y="13047"/>
                  </a:lnTo>
                  <a:lnTo>
                    <a:pt x="18990" y="13146"/>
                  </a:lnTo>
                  <a:lnTo>
                    <a:pt x="18911" y="13259"/>
                  </a:lnTo>
                  <a:lnTo>
                    <a:pt x="18775" y="13471"/>
                  </a:lnTo>
                  <a:lnTo>
                    <a:pt x="18628" y="13641"/>
                  </a:lnTo>
                  <a:lnTo>
                    <a:pt x="18470" y="13740"/>
                  </a:lnTo>
                  <a:lnTo>
                    <a:pt x="18301" y="13825"/>
                  </a:lnTo>
                  <a:lnTo>
                    <a:pt x="18143" y="13853"/>
                  </a:lnTo>
                  <a:lnTo>
                    <a:pt x="17973" y="13881"/>
                  </a:lnTo>
                  <a:lnTo>
                    <a:pt x="17804" y="13853"/>
                  </a:lnTo>
                  <a:lnTo>
                    <a:pt x="17646" y="13796"/>
                  </a:lnTo>
                  <a:lnTo>
                    <a:pt x="17499" y="13726"/>
                  </a:lnTo>
                  <a:lnTo>
                    <a:pt x="17341" y="13641"/>
                  </a:lnTo>
                  <a:lnTo>
                    <a:pt x="17216" y="13528"/>
                  </a:lnTo>
                  <a:lnTo>
                    <a:pt x="17103" y="13386"/>
                  </a:lnTo>
                  <a:lnTo>
                    <a:pt x="17024" y="13259"/>
                  </a:lnTo>
                  <a:lnTo>
                    <a:pt x="16934" y="13118"/>
                  </a:lnTo>
                  <a:lnTo>
                    <a:pt x="16889" y="12991"/>
                  </a:lnTo>
                  <a:lnTo>
                    <a:pt x="16889" y="12849"/>
                  </a:lnTo>
                  <a:lnTo>
                    <a:pt x="16889" y="12383"/>
                  </a:lnTo>
                  <a:lnTo>
                    <a:pt x="16889" y="11662"/>
                  </a:lnTo>
                  <a:lnTo>
                    <a:pt x="16889" y="10701"/>
                  </a:lnTo>
                  <a:lnTo>
                    <a:pt x="16889" y="9640"/>
                  </a:lnTo>
                  <a:lnTo>
                    <a:pt x="16889" y="8566"/>
                  </a:lnTo>
                  <a:lnTo>
                    <a:pt x="16889" y="7478"/>
                  </a:lnTo>
                  <a:lnTo>
                    <a:pt x="16889" y="6502"/>
                  </a:lnTo>
                  <a:lnTo>
                    <a:pt x="16889" y="5739"/>
                  </a:lnTo>
                  <a:lnTo>
                    <a:pt x="16674" y="5894"/>
                  </a:lnTo>
                  <a:lnTo>
                    <a:pt x="16414" y="6036"/>
                  </a:lnTo>
                  <a:lnTo>
                    <a:pt x="16154" y="6177"/>
                  </a:lnTo>
                  <a:lnTo>
                    <a:pt x="15849" y="6248"/>
                  </a:lnTo>
                  <a:lnTo>
                    <a:pt x="15544" y="6304"/>
                  </a:lnTo>
                  <a:lnTo>
                    <a:pt x="15217" y="6332"/>
                  </a:lnTo>
                  <a:lnTo>
                    <a:pt x="14866" y="6361"/>
                  </a:lnTo>
                  <a:lnTo>
                    <a:pt x="14550" y="6361"/>
                  </a:lnTo>
                  <a:lnTo>
                    <a:pt x="14200" y="6332"/>
                  </a:lnTo>
                  <a:lnTo>
                    <a:pt x="13850" y="6276"/>
                  </a:lnTo>
                  <a:lnTo>
                    <a:pt x="13522" y="6219"/>
                  </a:lnTo>
                  <a:lnTo>
                    <a:pt x="13206" y="6149"/>
                  </a:lnTo>
                  <a:lnTo>
                    <a:pt x="12901" y="6064"/>
                  </a:lnTo>
                  <a:lnTo>
                    <a:pt x="12618" y="5951"/>
                  </a:lnTo>
                  <a:lnTo>
                    <a:pt x="12358" y="5838"/>
                  </a:lnTo>
                  <a:lnTo>
                    <a:pt x="12121" y="5739"/>
                  </a:lnTo>
                  <a:lnTo>
                    <a:pt x="11941" y="5626"/>
                  </a:lnTo>
                  <a:lnTo>
                    <a:pt x="11794" y="5513"/>
                  </a:lnTo>
                  <a:lnTo>
                    <a:pt x="11658" y="5414"/>
                  </a:lnTo>
                  <a:lnTo>
                    <a:pt x="11556" y="5301"/>
                  </a:lnTo>
                  <a:lnTo>
                    <a:pt x="11466" y="5187"/>
                  </a:lnTo>
                  <a:lnTo>
                    <a:pt x="11398" y="5089"/>
                  </a:lnTo>
                  <a:lnTo>
                    <a:pt x="11376" y="4947"/>
                  </a:lnTo>
                  <a:lnTo>
                    <a:pt x="11353" y="4834"/>
                  </a:lnTo>
                  <a:lnTo>
                    <a:pt x="11353" y="4707"/>
                  </a:lnTo>
                  <a:lnTo>
                    <a:pt x="11376" y="4565"/>
                  </a:lnTo>
                  <a:lnTo>
                    <a:pt x="11443" y="4410"/>
                  </a:lnTo>
                  <a:lnTo>
                    <a:pt x="11511" y="4240"/>
                  </a:lnTo>
                  <a:lnTo>
                    <a:pt x="11703" y="3887"/>
                  </a:lnTo>
                  <a:lnTo>
                    <a:pt x="11986" y="3505"/>
                  </a:lnTo>
                  <a:lnTo>
                    <a:pt x="12144" y="3265"/>
                  </a:lnTo>
                  <a:lnTo>
                    <a:pt x="12246" y="3025"/>
                  </a:lnTo>
                  <a:lnTo>
                    <a:pt x="12336" y="2756"/>
                  </a:lnTo>
                  <a:lnTo>
                    <a:pt x="12404" y="2445"/>
                  </a:lnTo>
                  <a:lnTo>
                    <a:pt x="12438" y="2176"/>
                  </a:lnTo>
                  <a:lnTo>
                    <a:pt x="12438" y="1880"/>
                  </a:lnTo>
                  <a:lnTo>
                    <a:pt x="12404" y="1583"/>
                  </a:lnTo>
                  <a:lnTo>
                    <a:pt x="12336" y="1314"/>
                  </a:lnTo>
                  <a:lnTo>
                    <a:pt x="12246" y="1046"/>
                  </a:lnTo>
                  <a:lnTo>
                    <a:pt x="12099" y="791"/>
                  </a:lnTo>
                  <a:lnTo>
                    <a:pt x="12008" y="692"/>
                  </a:lnTo>
                  <a:lnTo>
                    <a:pt x="11918" y="579"/>
                  </a:lnTo>
                  <a:lnTo>
                    <a:pt x="11816" y="466"/>
                  </a:lnTo>
                  <a:lnTo>
                    <a:pt x="11703" y="381"/>
                  </a:lnTo>
                  <a:lnTo>
                    <a:pt x="11579" y="310"/>
                  </a:lnTo>
                  <a:lnTo>
                    <a:pt x="11443" y="226"/>
                  </a:lnTo>
                  <a:lnTo>
                    <a:pt x="11297" y="169"/>
                  </a:lnTo>
                  <a:lnTo>
                    <a:pt x="11138" y="113"/>
                  </a:lnTo>
                  <a:lnTo>
                    <a:pt x="10969" y="56"/>
                  </a:lnTo>
                  <a:lnTo>
                    <a:pt x="10800" y="28"/>
                  </a:lnTo>
                  <a:lnTo>
                    <a:pt x="10619" y="28"/>
                  </a:lnTo>
                  <a:lnTo>
                    <a:pt x="10404" y="28"/>
                  </a:lnTo>
                  <a:lnTo>
                    <a:pt x="10257" y="28"/>
                  </a:lnTo>
                  <a:lnTo>
                    <a:pt x="10076" y="56"/>
                  </a:lnTo>
                  <a:lnTo>
                    <a:pt x="9952" y="84"/>
                  </a:lnTo>
                  <a:lnTo>
                    <a:pt x="9794" y="141"/>
                  </a:lnTo>
                  <a:lnTo>
                    <a:pt x="9692" y="226"/>
                  </a:lnTo>
                  <a:lnTo>
                    <a:pt x="9557" y="282"/>
                  </a:lnTo>
                  <a:lnTo>
                    <a:pt x="9455" y="381"/>
                  </a:lnTo>
                  <a:lnTo>
                    <a:pt x="9365" y="466"/>
                  </a:lnTo>
                  <a:lnTo>
                    <a:pt x="9274" y="579"/>
                  </a:lnTo>
                  <a:lnTo>
                    <a:pt x="9184" y="692"/>
                  </a:lnTo>
                  <a:lnTo>
                    <a:pt x="9128" y="791"/>
                  </a:lnTo>
                  <a:lnTo>
                    <a:pt x="9060" y="932"/>
                  </a:lnTo>
                  <a:lnTo>
                    <a:pt x="8969" y="1201"/>
                  </a:lnTo>
                  <a:lnTo>
                    <a:pt x="8913" y="1498"/>
                  </a:lnTo>
                  <a:lnTo>
                    <a:pt x="8890" y="1795"/>
                  </a:lnTo>
                  <a:lnTo>
                    <a:pt x="8890" y="2120"/>
                  </a:lnTo>
                  <a:lnTo>
                    <a:pt x="8913" y="2445"/>
                  </a:lnTo>
                  <a:lnTo>
                    <a:pt x="8969" y="2756"/>
                  </a:lnTo>
                  <a:lnTo>
                    <a:pt x="9060" y="3081"/>
                  </a:lnTo>
                  <a:lnTo>
                    <a:pt x="9173" y="3378"/>
                  </a:lnTo>
                  <a:lnTo>
                    <a:pt x="9297" y="3647"/>
                  </a:lnTo>
                  <a:lnTo>
                    <a:pt x="9466" y="3887"/>
                  </a:lnTo>
                  <a:lnTo>
                    <a:pt x="9579" y="4085"/>
                  </a:lnTo>
                  <a:lnTo>
                    <a:pt x="9670" y="4269"/>
                  </a:lnTo>
                  <a:lnTo>
                    <a:pt x="9726" y="4467"/>
                  </a:lnTo>
                  <a:lnTo>
                    <a:pt x="9771" y="4650"/>
                  </a:lnTo>
                  <a:lnTo>
                    <a:pt x="9771" y="4834"/>
                  </a:lnTo>
                  <a:lnTo>
                    <a:pt x="9749" y="5032"/>
                  </a:lnTo>
                  <a:lnTo>
                    <a:pt x="9715" y="5216"/>
                  </a:lnTo>
                  <a:lnTo>
                    <a:pt x="9625" y="5385"/>
                  </a:lnTo>
                  <a:lnTo>
                    <a:pt x="9534" y="5513"/>
                  </a:lnTo>
                  <a:lnTo>
                    <a:pt x="9410" y="5626"/>
                  </a:lnTo>
                  <a:lnTo>
                    <a:pt x="9229" y="5710"/>
                  </a:lnTo>
                  <a:lnTo>
                    <a:pt x="9060" y="5767"/>
                  </a:lnTo>
                  <a:lnTo>
                    <a:pt x="8845" y="5767"/>
                  </a:lnTo>
                  <a:lnTo>
                    <a:pt x="8585" y="5739"/>
                  </a:lnTo>
                  <a:lnTo>
                    <a:pt x="8325" y="5654"/>
                  </a:lnTo>
                  <a:lnTo>
                    <a:pt x="8020" y="5513"/>
                  </a:lnTo>
                  <a:lnTo>
                    <a:pt x="7840" y="5442"/>
                  </a:lnTo>
                  <a:lnTo>
                    <a:pt x="7648" y="5385"/>
                  </a:lnTo>
                  <a:lnTo>
                    <a:pt x="7433" y="5329"/>
                  </a:lnTo>
                  <a:lnTo>
                    <a:pt x="7241" y="5301"/>
                  </a:lnTo>
                  <a:lnTo>
                    <a:pt x="6755" y="5301"/>
                  </a:lnTo>
                  <a:lnTo>
                    <a:pt x="6281" y="5329"/>
                  </a:lnTo>
                  <a:lnTo>
                    <a:pt x="5784" y="5385"/>
                  </a:lnTo>
                  <a:lnTo>
                    <a:pt x="5264" y="5498"/>
                  </a:lnTo>
                  <a:lnTo>
                    <a:pt x="4744" y="5597"/>
                  </a:lnTo>
                  <a:lnTo>
                    <a:pt x="4247" y="5739"/>
                  </a:lnTo>
                  <a:lnTo>
                    <a:pt x="4202" y="5894"/>
                  </a:lnTo>
                  <a:lnTo>
                    <a:pt x="4202" y="6191"/>
                  </a:lnTo>
                  <a:lnTo>
                    <a:pt x="4202" y="6545"/>
                  </a:lnTo>
                  <a:lnTo>
                    <a:pt x="4225" y="6954"/>
                  </a:lnTo>
                  <a:lnTo>
                    <a:pt x="4315" y="7930"/>
                  </a:lnTo>
                  <a:lnTo>
                    <a:pt x="4394" y="9018"/>
                  </a:lnTo>
                  <a:lnTo>
                    <a:pt x="4439" y="9570"/>
                  </a:lnTo>
                  <a:lnTo>
                    <a:pt x="4462" y="10107"/>
                  </a:lnTo>
                  <a:lnTo>
                    <a:pt x="4484" y="10630"/>
                  </a:lnTo>
                  <a:lnTo>
                    <a:pt x="4507" y="11082"/>
                  </a:lnTo>
                  <a:lnTo>
                    <a:pt x="4484" y="11520"/>
                  </a:lnTo>
                  <a:lnTo>
                    <a:pt x="4439" y="11874"/>
                  </a:lnTo>
                  <a:lnTo>
                    <a:pt x="4394" y="12029"/>
                  </a:lnTo>
                  <a:lnTo>
                    <a:pt x="4349" y="12171"/>
                  </a:lnTo>
                  <a:lnTo>
                    <a:pt x="4315" y="12284"/>
                  </a:lnTo>
                  <a:lnTo>
                    <a:pt x="4247" y="12354"/>
                  </a:lnTo>
                  <a:close/>
                </a:path>
              </a:pathLst>
            </a:custGeom>
            <a:solidFill>
              <a:srgbClr val="FFFFCC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7" name="AutoShape 17"/>
            <p:cNvSpPr>
              <a:spLocks noChangeArrowheads="1"/>
            </p:cNvSpPr>
            <p:nvPr/>
          </p:nvSpPr>
          <p:spPr bwMode="auto">
            <a:xfrm>
              <a:off x="1010" y="877"/>
              <a:ext cx="122" cy="23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2125 w 21600"/>
                <a:gd name="T25" fmla="*/ 5627 h 21600"/>
                <a:gd name="T26" fmla="*/ 20184 w 21600"/>
                <a:gd name="T27" fmla="*/ 1597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3813" y="10590"/>
                  </a:moveTo>
                  <a:lnTo>
                    <a:pt x="3927" y="10513"/>
                  </a:lnTo>
                  <a:lnTo>
                    <a:pt x="4078" y="10425"/>
                  </a:lnTo>
                  <a:lnTo>
                    <a:pt x="4210" y="10359"/>
                  </a:lnTo>
                  <a:lnTo>
                    <a:pt x="4361" y="10315"/>
                  </a:lnTo>
                  <a:lnTo>
                    <a:pt x="4682" y="10237"/>
                  </a:lnTo>
                  <a:lnTo>
                    <a:pt x="5041" y="10193"/>
                  </a:lnTo>
                  <a:lnTo>
                    <a:pt x="5456" y="10171"/>
                  </a:lnTo>
                  <a:lnTo>
                    <a:pt x="5853" y="10193"/>
                  </a:lnTo>
                  <a:lnTo>
                    <a:pt x="6249" y="10260"/>
                  </a:lnTo>
                  <a:lnTo>
                    <a:pt x="6646" y="10337"/>
                  </a:lnTo>
                  <a:lnTo>
                    <a:pt x="7004" y="10469"/>
                  </a:lnTo>
                  <a:lnTo>
                    <a:pt x="7363" y="10612"/>
                  </a:lnTo>
                  <a:lnTo>
                    <a:pt x="7665" y="10788"/>
                  </a:lnTo>
                  <a:lnTo>
                    <a:pt x="7911" y="10998"/>
                  </a:lnTo>
                  <a:lnTo>
                    <a:pt x="8024" y="11097"/>
                  </a:lnTo>
                  <a:lnTo>
                    <a:pt x="8137" y="11207"/>
                  </a:lnTo>
                  <a:lnTo>
                    <a:pt x="8194" y="11340"/>
                  </a:lnTo>
                  <a:lnTo>
                    <a:pt x="8269" y="11461"/>
                  </a:lnTo>
                  <a:lnTo>
                    <a:pt x="8307" y="11593"/>
                  </a:lnTo>
                  <a:lnTo>
                    <a:pt x="8307" y="11714"/>
                  </a:lnTo>
                  <a:lnTo>
                    <a:pt x="8307" y="11868"/>
                  </a:lnTo>
                  <a:lnTo>
                    <a:pt x="8307" y="12012"/>
                  </a:lnTo>
                  <a:lnTo>
                    <a:pt x="8194" y="12265"/>
                  </a:lnTo>
                  <a:lnTo>
                    <a:pt x="8062" y="12519"/>
                  </a:lnTo>
                  <a:lnTo>
                    <a:pt x="7873" y="12706"/>
                  </a:lnTo>
                  <a:lnTo>
                    <a:pt x="7627" y="12904"/>
                  </a:lnTo>
                  <a:lnTo>
                    <a:pt x="7363" y="13048"/>
                  </a:lnTo>
                  <a:lnTo>
                    <a:pt x="7080" y="13180"/>
                  </a:lnTo>
                  <a:lnTo>
                    <a:pt x="6759" y="13257"/>
                  </a:lnTo>
                  <a:lnTo>
                    <a:pt x="6419" y="13345"/>
                  </a:lnTo>
                  <a:lnTo>
                    <a:pt x="6098" y="13389"/>
                  </a:lnTo>
                  <a:lnTo>
                    <a:pt x="5739" y="13389"/>
                  </a:lnTo>
                  <a:lnTo>
                    <a:pt x="5418" y="13389"/>
                  </a:lnTo>
                  <a:lnTo>
                    <a:pt x="5079" y="13345"/>
                  </a:lnTo>
                  <a:lnTo>
                    <a:pt x="4758" y="13301"/>
                  </a:lnTo>
                  <a:lnTo>
                    <a:pt x="4474" y="13213"/>
                  </a:lnTo>
                  <a:lnTo>
                    <a:pt x="4172" y="13114"/>
                  </a:lnTo>
                  <a:lnTo>
                    <a:pt x="3965" y="12982"/>
                  </a:lnTo>
                  <a:lnTo>
                    <a:pt x="3738" y="12838"/>
                  </a:lnTo>
                  <a:lnTo>
                    <a:pt x="3493" y="12706"/>
                  </a:lnTo>
                  <a:lnTo>
                    <a:pt x="3228" y="12607"/>
                  </a:lnTo>
                  <a:lnTo>
                    <a:pt x="2945" y="12519"/>
                  </a:lnTo>
                  <a:lnTo>
                    <a:pt x="2700" y="12431"/>
                  </a:lnTo>
                  <a:lnTo>
                    <a:pt x="2397" y="12375"/>
                  </a:lnTo>
                  <a:lnTo>
                    <a:pt x="2152" y="12331"/>
                  </a:lnTo>
                  <a:lnTo>
                    <a:pt x="1888" y="12309"/>
                  </a:lnTo>
                  <a:lnTo>
                    <a:pt x="1642" y="12309"/>
                  </a:lnTo>
                  <a:lnTo>
                    <a:pt x="1397" y="12331"/>
                  </a:lnTo>
                  <a:lnTo>
                    <a:pt x="1170" y="12397"/>
                  </a:lnTo>
                  <a:lnTo>
                    <a:pt x="962" y="12453"/>
                  </a:lnTo>
                  <a:lnTo>
                    <a:pt x="774" y="12563"/>
                  </a:lnTo>
                  <a:lnTo>
                    <a:pt x="623" y="12684"/>
                  </a:lnTo>
                  <a:lnTo>
                    <a:pt x="528" y="12838"/>
                  </a:lnTo>
                  <a:lnTo>
                    <a:pt x="453" y="13026"/>
                  </a:lnTo>
                  <a:lnTo>
                    <a:pt x="339" y="13477"/>
                  </a:lnTo>
                  <a:lnTo>
                    <a:pt x="226" y="13984"/>
                  </a:lnTo>
                  <a:lnTo>
                    <a:pt x="151" y="14535"/>
                  </a:lnTo>
                  <a:lnTo>
                    <a:pt x="113" y="15075"/>
                  </a:lnTo>
                  <a:lnTo>
                    <a:pt x="113" y="15626"/>
                  </a:lnTo>
                  <a:lnTo>
                    <a:pt x="151" y="16133"/>
                  </a:lnTo>
                  <a:lnTo>
                    <a:pt x="188" y="16376"/>
                  </a:lnTo>
                  <a:lnTo>
                    <a:pt x="264" y="16585"/>
                  </a:lnTo>
                  <a:lnTo>
                    <a:pt x="339" y="16773"/>
                  </a:lnTo>
                  <a:lnTo>
                    <a:pt x="453" y="16938"/>
                  </a:lnTo>
                  <a:lnTo>
                    <a:pt x="1095" y="16883"/>
                  </a:lnTo>
                  <a:lnTo>
                    <a:pt x="1963" y="16795"/>
                  </a:lnTo>
                  <a:lnTo>
                    <a:pt x="2945" y="16751"/>
                  </a:lnTo>
                  <a:lnTo>
                    <a:pt x="3965" y="16706"/>
                  </a:lnTo>
                  <a:lnTo>
                    <a:pt x="5022" y="16684"/>
                  </a:lnTo>
                  <a:lnTo>
                    <a:pt x="5947" y="16684"/>
                  </a:lnTo>
                  <a:lnTo>
                    <a:pt x="6759" y="16706"/>
                  </a:lnTo>
                  <a:lnTo>
                    <a:pt x="7363" y="16751"/>
                  </a:lnTo>
                  <a:lnTo>
                    <a:pt x="7948" y="16839"/>
                  </a:lnTo>
                  <a:lnTo>
                    <a:pt x="8458" y="16916"/>
                  </a:lnTo>
                  <a:lnTo>
                    <a:pt x="8893" y="17026"/>
                  </a:lnTo>
                  <a:lnTo>
                    <a:pt x="9289" y="17158"/>
                  </a:lnTo>
                  <a:lnTo>
                    <a:pt x="9572" y="17280"/>
                  </a:lnTo>
                  <a:lnTo>
                    <a:pt x="9799" y="17412"/>
                  </a:lnTo>
                  <a:lnTo>
                    <a:pt x="9969" y="17555"/>
                  </a:lnTo>
                  <a:lnTo>
                    <a:pt x="10120" y="17687"/>
                  </a:lnTo>
                  <a:lnTo>
                    <a:pt x="10158" y="17831"/>
                  </a:lnTo>
                  <a:lnTo>
                    <a:pt x="10195" y="17974"/>
                  </a:lnTo>
                  <a:lnTo>
                    <a:pt x="10158" y="18128"/>
                  </a:lnTo>
                  <a:lnTo>
                    <a:pt x="10082" y="18271"/>
                  </a:lnTo>
                  <a:lnTo>
                    <a:pt x="9969" y="18426"/>
                  </a:lnTo>
                  <a:lnTo>
                    <a:pt x="9837" y="18569"/>
                  </a:lnTo>
                  <a:lnTo>
                    <a:pt x="9648" y="18701"/>
                  </a:lnTo>
                  <a:lnTo>
                    <a:pt x="9440" y="18822"/>
                  </a:lnTo>
                  <a:lnTo>
                    <a:pt x="9213" y="18999"/>
                  </a:lnTo>
                  <a:lnTo>
                    <a:pt x="9044" y="19186"/>
                  </a:lnTo>
                  <a:lnTo>
                    <a:pt x="8893" y="19395"/>
                  </a:lnTo>
                  <a:lnTo>
                    <a:pt x="8817" y="19627"/>
                  </a:lnTo>
                  <a:lnTo>
                    <a:pt x="8779" y="19858"/>
                  </a:lnTo>
                  <a:lnTo>
                    <a:pt x="8779" y="20112"/>
                  </a:lnTo>
                  <a:lnTo>
                    <a:pt x="8855" y="20354"/>
                  </a:lnTo>
                  <a:lnTo>
                    <a:pt x="8968" y="20586"/>
                  </a:lnTo>
                  <a:lnTo>
                    <a:pt x="9138" y="20817"/>
                  </a:lnTo>
                  <a:lnTo>
                    <a:pt x="9365" y="21026"/>
                  </a:lnTo>
                  <a:lnTo>
                    <a:pt x="9610" y="21192"/>
                  </a:lnTo>
                  <a:lnTo>
                    <a:pt x="9950" y="21368"/>
                  </a:lnTo>
                  <a:lnTo>
                    <a:pt x="10120" y="21445"/>
                  </a:lnTo>
                  <a:lnTo>
                    <a:pt x="10346" y="21511"/>
                  </a:lnTo>
                  <a:lnTo>
                    <a:pt x="10516" y="21555"/>
                  </a:lnTo>
                  <a:lnTo>
                    <a:pt x="10743" y="21600"/>
                  </a:lnTo>
                  <a:lnTo>
                    <a:pt x="10988" y="21644"/>
                  </a:lnTo>
                  <a:lnTo>
                    <a:pt x="11215" y="21666"/>
                  </a:lnTo>
                  <a:lnTo>
                    <a:pt x="11498" y="21666"/>
                  </a:lnTo>
                  <a:lnTo>
                    <a:pt x="11762" y="21666"/>
                  </a:lnTo>
                  <a:lnTo>
                    <a:pt x="12253" y="21644"/>
                  </a:lnTo>
                  <a:lnTo>
                    <a:pt x="12763" y="21577"/>
                  </a:lnTo>
                  <a:lnTo>
                    <a:pt x="13197" y="21467"/>
                  </a:lnTo>
                  <a:lnTo>
                    <a:pt x="13556" y="21346"/>
                  </a:lnTo>
                  <a:lnTo>
                    <a:pt x="13896" y="21192"/>
                  </a:lnTo>
                  <a:lnTo>
                    <a:pt x="14179" y="21026"/>
                  </a:lnTo>
                  <a:lnTo>
                    <a:pt x="14444" y="20839"/>
                  </a:lnTo>
                  <a:lnTo>
                    <a:pt x="14576" y="20641"/>
                  </a:lnTo>
                  <a:lnTo>
                    <a:pt x="14727" y="20431"/>
                  </a:lnTo>
                  <a:lnTo>
                    <a:pt x="14765" y="20200"/>
                  </a:lnTo>
                  <a:lnTo>
                    <a:pt x="14802" y="19991"/>
                  </a:lnTo>
                  <a:lnTo>
                    <a:pt x="14727" y="19759"/>
                  </a:lnTo>
                  <a:lnTo>
                    <a:pt x="14613" y="19550"/>
                  </a:lnTo>
                  <a:lnTo>
                    <a:pt x="14444" y="19307"/>
                  </a:lnTo>
                  <a:lnTo>
                    <a:pt x="14217" y="19098"/>
                  </a:lnTo>
                  <a:lnTo>
                    <a:pt x="13934" y="18911"/>
                  </a:lnTo>
                  <a:lnTo>
                    <a:pt x="13669" y="18745"/>
                  </a:lnTo>
                  <a:lnTo>
                    <a:pt x="13462" y="18547"/>
                  </a:lnTo>
                  <a:lnTo>
                    <a:pt x="13311" y="18337"/>
                  </a:lnTo>
                  <a:lnTo>
                    <a:pt x="13197" y="18150"/>
                  </a:lnTo>
                  <a:lnTo>
                    <a:pt x="13122" y="17941"/>
                  </a:lnTo>
                  <a:lnTo>
                    <a:pt x="13122" y="17720"/>
                  </a:lnTo>
                  <a:lnTo>
                    <a:pt x="13122" y="17533"/>
                  </a:lnTo>
                  <a:lnTo>
                    <a:pt x="13197" y="17346"/>
                  </a:lnTo>
                  <a:lnTo>
                    <a:pt x="13273" y="17158"/>
                  </a:lnTo>
                  <a:lnTo>
                    <a:pt x="13386" y="16982"/>
                  </a:lnTo>
                  <a:lnTo>
                    <a:pt x="13537" y="16839"/>
                  </a:lnTo>
                  <a:lnTo>
                    <a:pt x="13707" y="16706"/>
                  </a:lnTo>
                  <a:lnTo>
                    <a:pt x="13896" y="16607"/>
                  </a:lnTo>
                  <a:lnTo>
                    <a:pt x="14104" y="16519"/>
                  </a:lnTo>
                  <a:lnTo>
                    <a:pt x="14330" y="16453"/>
                  </a:lnTo>
                  <a:lnTo>
                    <a:pt x="14538" y="16431"/>
                  </a:lnTo>
                  <a:lnTo>
                    <a:pt x="14897" y="16453"/>
                  </a:lnTo>
                  <a:lnTo>
                    <a:pt x="15406" y="16497"/>
                  </a:lnTo>
                  <a:lnTo>
                    <a:pt x="16105" y="16541"/>
                  </a:lnTo>
                  <a:lnTo>
                    <a:pt x="16898" y="16607"/>
                  </a:lnTo>
                  <a:lnTo>
                    <a:pt x="17804" y="16651"/>
                  </a:lnTo>
                  <a:lnTo>
                    <a:pt x="18786" y="16684"/>
                  </a:lnTo>
                  <a:lnTo>
                    <a:pt x="19844" y="16728"/>
                  </a:lnTo>
                  <a:lnTo>
                    <a:pt x="20920" y="16751"/>
                  </a:lnTo>
                  <a:lnTo>
                    <a:pt x="21109" y="16497"/>
                  </a:lnTo>
                  <a:lnTo>
                    <a:pt x="21241" y="16222"/>
                  </a:lnTo>
                  <a:lnTo>
                    <a:pt x="21392" y="15946"/>
                  </a:lnTo>
                  <a:lnTo>
                    <a:pt x="21467" y="15648"/>
                  </a:lnTo>
                  <a:lnTo>
                    <a:pt x="21543" y="15351"/>
                  </a:lnTo>
                  <a:lnTo>
                    <a:pt x="21618" y="15042"/>
                  </a:lnTo>
                  <a:lnTo>
                    <a:pt x="21618" y="14745"/>
                  </a:lnTo>
                  <a:lnTo>
                    <a:pt x="21618" y="14447"/>
                  </a:lnTo>
                  <a:lnTo>
                    <a:pt x="21618" y="14150"/>
                  </a:lnTo>
                  <a:lnTo>
                    <a:pt x="21581" y="13852"/>
                  </a:lnTo>
                  <a:lnTo>
                    <a:pt x="21505" y="13577"/>
                  </a:lnTo>
                  <a:lnTo>
                    <a:pt x="21430" y="13301"/>
                  </a:lnTo>
                  <a:lnTo>
                    <a:pt x="21354" y="13048"/>
                  </a:lnTo>
                  <a:lnTo>
                    <a:pt x="21241" y="12816"/>
                  </a:lnTo>
                  <a:lnTo>
                    <a:pt x="21146" y="12607"/>
                  </a:lnTo>
                  <a:lnTo>
                    <a:pt x="21033" y="12431"/>
                  </a:lnTo>
                  <a:lnTo>
                    <a:pt x="20920" y="12265"/>
                  </a:lnTo>
                  <a:lnTo>
                    <a:pt x="20769" y="12144"/>
                  </a:lnTo>
                  <a:lnTo>
                    <a:pt x="20637" y="12034"/>
                  </a:lnTo>
                  <a:lnTo>
                    <a:pt x="20486" y="11946"/>
                  </a:lnTo>
                  <a:lnTo>
                    <a:pt x="20297" y="11891"/>
                  </a:lnTo>
                  <a:lnTo>
                    <a:pt x="20165" y="11846"/>
                  </a:lnTo>
                  <a:lnTo>
                    <a:pt x="19976" y="11824"/>
                  </a:lnTo>
                  <a:lnTo>
                    <a:pt x="19806" y="11802"/>
                  </a:lnTo>
                  <a:lnTo>
                    <a:pt x="19390" y="11824"/>
                  </a:lnTo>
                  <a:lnTo>
                    <a:pt x="18956" y="11891"/>
                  </a:lnTo>
                  <a:lnTo>
                    <a:pt x="18503" y="11968"/>
                  </a:lnTo>
                  <a:lnTo>
                    <a:pt x="17993" y="12078"/>
                  </a:lnTo>
                  <a:lnTo>
                    <a:pt x="17653" y="12144"/>
                  </a:lnTo>
                  <a:lnTo>
                    <a:pt x="17332" y="12199"/>
                  </a:lnTo>
                  <a:lnTo>
                    <a:pt x="17049" y="12221"/>
                  </a:lnTo>
                  <a:lnTo>
                    <a:pt x="16747" y="12243"/>
                  </a:lnTo>
                  <a:lnTo>
                    <a:pt x="16464" y="12243"/>
                  </a:lnTo>
                  <a:lnTo>
                    <a:pt x="16218" y="12243"/>
                  </a:lnTo>
                  <a:lnTo>
                    <a:pt x="15992" y="12221"/>
                  </a:lnTo>
                  <a:lnTo>
                    <a:pt x="15746" y="12199"/>
                  </a:lnTo>
                  <a:lnTo>
                    <a:pt x="15520" y="12155"/>
                  </a:lnTo>
                  <a:lnTo>
                    <a:pt x="15350" y="12122"/>
                  </a:lnTo>
                  <a:lnTo>
                    <a:pt x="15161" y="12056"/>
                  </a:lnTo>
                  <a:lnTo>
                    <a:pt x="14972" y="11990"/>
                  </a:lnTo>
                  <a:lnTo>
                    <a:pt x="14689" y="11846"/>
                  </a:lnTo>
                  <a:lnTo>
                    <a:pt x="14444" y="11670"/>
                  </a:lnTo>
                  <a:lnTo>
                    <a:pt x="14255" y="11483"/>
                  </a:lnTo>
                  <a:lnTo>
                    <a:pt x="14104" y="11295"/>
                  </a:lnTo>
                  <a:lnTo>
                    <a:pt x="14028" y="11086"/>
                  </a:lnTo>
                  <a:lnTo>
                    <a:pt x="13972" y="10888"/>
                  </a:lnTo>
                  <a:lnTo>
                    <a:pt x="13972" y="10700"/>
                  </a:lnTo>
                  <a:lnTo>
                    <a:pt x="14009" y="10513"/>
                  </a:lnTo>
                  <a:lnTo>
                    <a:pt x="14066" y="10359"/>
                  </a:lnTo>
                  <a:lnTo>
                    <a:pt x="14179" y="10215"/>
                  </a:lnTo>
                  <a:lnTo>
                    <a:pt x="14406" y="10006"/>
                  </a:lnTo>
                  <a:lnTo>
                    <a:pt x="14651" y="9830"/>
                  </a:lnTo>
                  <a:lnTo>
                    <a:pt x="14878" y="9686"/>
                  </a:lnTo>
                  <a:lnTo>
                    <a:pt x="15123" y="9554"/>
                  </a:lnTo>
                  <a:lnTo>
                    <a:pt x="15350" y="9477"/>
                  </a:lnTo>
                  <a:lnTo>
                    <a:pt x="15558" y="9411"/>
                  </a:lnTo>
                  <a:lnTo>
                    <a:pt x="15803" y="9345"/>
                  </a:lnTo>
                  <a:lnTo>
                    <a:pt x="16030" y="9323"/>
                  </a:lnTo>
                  <a:lnTo>
                    <a:pt x="16256" y="9301"/>
                  </a:lnTo>
                  <a:lnTo>
                    <a:pt x="16464" y="9323"/>
                  </a:lnTo>
                  <a:lnTo>
                    <a:pt x="16690" y="9345"/>
                  </a:lnTo>
                  <a:lnTo>
                    <a:pt x="16898" y="9367"/>
                  </a:lnTo>
                  <a:lnTo>
                    <a:pt x="17332" y="9477"/>
                  </a:lnTo>
                  <a:lnTo>
                    <a:pt x="17767" y="9598"/>
                  </a:lnTo>
                  <a:lnTo>
                    <a:pt x="18163" y="9731"/>
                  </a:lnTo>
                  <a:lnTo>
                    <a:pt x="18597" y="9874"/>
                  </a:lnTo>
                  <a:lnTo>
                    <a:pt x="18994" y="10006"/>
                  </a:lnTo>
                  <a:lnTo>
                    <a:pt x="19428" y="10083"/>
                  </a:lnTo>
                  <a:lnTo>
                    <a:pt x="19617" y="10127"/>
                  </a:lnTo>
                  <a:lnTo>
                    <a:pt x="19844" y="10149"/>
                  </a:lnTo>
                  <a:lnTo>
                    <a:pt x="20013" y="10149"/>
                  </a:lnTo>
                  <a:lnTo>
                    <a:pt x="20240" y="10127"/>
                  </a:lnTo>
                  <a:lnTo>
                    <a:pt x="20410" y="10105"/>
                  </a:lnTo>
                  <a:lnTo>
                    <a:pt x="20637" y="10061"/>
                  </a:lnTo>
                  <a:lnTo>
                    <a:pt x="20844" y="9984"/>
                  </a:lnTo>
                  <a:lnTo>
                    <a:pt x="21033" y="9896"/>
                  </a:lnTo>
                  <a:lnTo>
                    <a:pt x="21146" y="9830"/>
                  </a:lnTo>
                  <a:lnTo>
                    <a:pt x="21203" y="9753"/>
                  </a:lnTo>
                  <a:lnTo>
                    <a:pt x="21279" y="9642"/>
                  </a:lnTo>
                  <a:lnTo>
                    <a:pt x="21354" y="9521"/>
                  </a:lnTo>
                  <a:lnTo>
                    <a:pt x="21430" y="9246"/>
                  </a:lnTo>
                  <a:lnTo>
                    <a:pt x="21430" y="8904"/>
                  </a:lnTo>
                  <a:lnTo>
                    <a:pt x="21430" y="8540"/>
                  </a:lnTo>
                  <a:lnTo>
                    <a:pt x="21392" y="8144"/>
                  </a:lnTo>
                  <a:lnTo>
                    <a:pt x="21354" y="7714"/>
                  </a:lnTo>
                  <a:lnTo>
                    <a:pt x="21279" y="7295"/>
                  </a:lnTo>
                  <a:lnTo>
                    <a:pt x="21146" y="6446"/>
                  </a:lnTo>
                  <a:lnTo>
                    <a:pt x="20995" y="5686"/>
                  </a:lnTo>
                  <a:lnTo>
                    <a:pt x="20958" y="5366"/>
                  </a:lnTo>
                  <a:lnTo>
                    <a:pt x="20958" y="5091"/>
                  </a:lnTo>
                  <a:lnTo>
                    <a:pt x="20958" y="4860"/>
                  </a:lnTo>
                  <a:lnTo>
                    <a:pt x="21033" y="4716"/>
                  </a:lnTo>
                  <a:lnTo>
                    <a:pt x="20637" y="4860"/>
                  </a:lnTo>
                  <a:lnTo>
                    <a:pt x="20127" y="4992"/>
                  </a:lnTo>
                  <a:lnTo>
                    <a:pt x="19617" y="5069"/>
                  </a:lnTo>
                  <a:lnTo>
                    <a:pt x="19032" y="5157"/>
                  </a:lnTo>
                  <a:lnTo>
                    <a:pt x="18465" y="5201"/>
                  </a:lnTo>
                  <a:lnTo>
                    <a:pt x="17842" y="5245"/>
                  </a:lnTo>
                  <a:lnTo>
                    <a:pt x="17219" y="5267"/>
                  </a:lnTo>
                  <a:lnTo>
                    <a:pt x="16615" y="5267"/>
                  </a:lnTo>
                  <a:lnTo>
                    <a:pt x="15992" y="5245"/>
                  </a:lnTo>
                  <a:lnTo>
                    <a:pt x="15369" y="5201"/>
                  </a:lnTo>
                  <a:lnTo>
                    <a:pt x="14840" y="5157"/>
                  </a:lnTo>
                  <a:lnTo>
                    <a:pt x="14293" y="5091"/>
                  </a:lnTo>
                  <a:lnTo>
                    <a:pt x="13783" y="5014"/>
                  </a:lnTo>
                  <a:lnTo>
                    <a:pt x="13386" y="4926"/>
                  </a:lnTo>
                  <a:lnTo>
                    <a:pt x="13027" y="4815"/>
                  </a:lnTo>
                  <a:lnTo>
                    <a:pt x="12725" y="4716"/>
                  </a:lnTo>
                  <a:lnTo>
                    <a:pt x="12480" y="4606"/>
                  </a:lnTo>
                  <a:lnTo>
                    <a:pt x="12291" y="4496"/>
                  </a:lnTo>
                  <a:lnTo>
                    <a:pt x="12197" y="4397"/>
                  </a:lnTo>
                  <a:lnTo>
                    <a:pt x="12083" y="4286"/>
                  </a:lnTo>
                  <a:lnTo>
                    <a:pt x="12046" y="4187"/>
                  </a:lnTo>
                  <a:lnTo>
                    <a:pt x="12008" y="4077"/>
                  </a:lnTo>
                  <a:lnTo>
                    <a:pt x="12046" y="3967"/>
                  </a:lnTo>
                  <a:lnTo>
                    <a:pt x="12121" y="3868"/>
                  </a:lnTo>
                  <a:lnTo>
                    <a:pt x="12197" y="3735"/>
                  </a:lnTo>
                  <a:lnTo>
                    <a:pt x="12291" y="3614"/>
                  </a:lnTo>
                  <a:lnTo>
                    <a:pt x="12442" y="3482"/>
                  </a:lnTo>
                  <a:lnTo>
                    <a:pt x="12631" y="3361"/>
                  </a:lnTo>
                  <a:lnTo>
                    <a:pt x="13065" y="3085"/>
                  </a:lnTo>
                  <a:lnTo>
                    <a:pt x="13537" y="2766"/>
                  </a:lnTo>
                  <a:lnTo>
                    <a:pt x="13783" y="2578"/>
                  </a:lnTo>
                  <a:lnTo>
                    <a:pt x="13934" y="2380"/>
                  </a:lnTo>
                  <a:lnTo>
                    <a:pt x="14028" y="2171"/>
                  </a:lnTo>
                  <a:lnTo>
                    <a:pt x="14104" y="1961"/>
                  </a:lnTo>
                  <a:lnTo>
                    <a:pt x="14104" y="1730"/>
                  </a:lnTo>
                  <a:lnTo>
                    <a:pt x="14066" y="1498"/>
                  </a:lnTo>
                  <a:lnTo>
                    <a:pt x="13972" y="1267"/>
                  </a:lnTo>
                  <a:lnTo>
                    <a:pt x="13820" y="1057"/>
                  </a:lnTo>
                  <a:lnTo>
                    <a:pt x="13594" y="837"/>
                  </a:lnTo>
                  <a:lnTo>
                    <a:pt x="13386" y="628"/>
                  </a:lnTo>
                  <a:lnTo>
                    <a:pt x="13103" y="462"/>
                  </a:lnTo>
                  <a:lnTo>
                    <a:pt x="12763" y="308"/>
                  </a:lnTo>
                  <a:lnTo>
                    <a:pt x="12404" y="187"/>
                  </a:lnTo>
                  <a:lnTo>
                    <a:pt x="12008" y="77"/>
                  </a:lnTo>
                  <a:lnTo>
                    <a:pt x="11574" y="33"/>
                  </a:lnTo>
                  <a:lnTo>
                    <a:pt x="11102" y="11"/>
                  </a:lnTo>
                  <a:lnTo>
                    <a:pt x="10667" y="11"/>
                  </a:lnTo>
                  <a:lnTo>
                    <a:pt x="10233" y="77"/>
                  </a:lnTo>
                  <a:lnTo>
                    <a:pt x="9837" y="187"/>
                  </a:lnTo>
                  <a:lnTo>
                    <a:pt x="9440" y="286"/>
                  </a:lnTo>
                  <a:lnTo>
                    <a:pt x="9062" y="462"/>
                  </a:lnTo>
                  <a:lnTo>
                    <a:pt x="8741" y="628"/>
                  </a:lnTo>
                  <a:lnTo>
                    <a:pt x="8458" y="815"/>
                  </a:lnTo>
                  <a:lnTo>
                    <a:pt x="8232" y="1035"/>
                  </a:lnTo>
                  <a:lnTo>
                    <a:pt x="8062" y="1245"/>
                  </a:lnTo>
                  <a:lnTo>
                    <a:pt x="7911" y="1476"/>
                  </a:lnTo>
                  <a:lnTo>
                    <a:pt x="7835" y="1708"/>
                  </a:lnTo>
                  <a:lnTo>
                    <a:pt x="7797" y="1961"/>
                  </a:lnTo>
                  <a:lnTo>
                    <a:pt x="7835" y="2193"/>
                  </a:lnTo>
                  <a:lnTo>
                    <a:pt x="7948" y="2402"/>
                  </a:lnTo>
                  <a:lnTo>
                    <a:pt x="8062" y="2534"/>
                  </a:lnTo>
                  <a:lnTo>
                    <a:pt x="8175" y="2644"/>
                  </a:lnTo>
                  <a:lnTo>
                    <a:pt x="8269" y="2744"/>
                  </a:lnTo>
                  <a:lnTo>
                    <a:pt x="8420" y="2832"/>
                  </a:lnTo>
                  <a:lnTo>
                    <a:pt x="8704" y="3019"/>
                  </a:lnTo>
                  <a:lnTo>
                    <a:pt x="8968" y="3206"/>
                  </a:lnTo>
                  <a:lnTo>
                    <a:pt x="9138" y="3405"/>
                  </a:lnTo>
                  <a:lnTo>
                    <a:pt x="9327" y="3570"/>
                  </a:lnTo>
                  <a:lnTo>
                    <a:pt x="9440" y="3735"/>
                  </a:lnTo>
                  <a:lnTo>
                    <a:pt x="9516" y="3890"/>
                  </a:lnTo>
                  <a:lnTo>
                    <a:pt x="9534" y="4033"/>
                  </a:lnTo>
                  <a:lnTo>
                    <a:pt x="9534" y="4165"/>
                  </a:lnTo>
                  <a:lnTo>
                    <a:pt x="9516" y="4286"/>
                  </a:lnTo>
                  <a:lnTo>
                    <a:pt x="9440" y="4397"/>
                  </a:lnTo>
                  <a:lnTo>
                    <a:pt x="9327" y="4496"/>
                  </a:lnTo>
                  <a:lnTo>
                    <a:pt x="9176" y="4562"/>
                  </a:lnTo>
                  <a:lnTo>
                    <a:pt x="9006" y="4628"/>
                  </a:lnTo>
                  <a:lnTo>
                    <a:pt x="8779" y="4694"/>
                  </a:lnTo>
                  <a:lnTo>
                    <a:pt x="8534" y="4716"/>
                  </a:lnTo>
                  <a:lnTo>
                    <a:pt x="8232" y="4716"/>
                  </a:lnTo>
                  <a:lnTo>
                    <a:pt x="7118" y="4738"/>
                  </a:lnTo>
                  <a:lnTo>
                    <a:pt x="5947" y="4771"/>
                  </a:lnTo>
                  <a:lnTo>
                    <a:pt x="4795" y="4815"/>
                  </a:lnTo>
                  <a:lnTo>
                    <a:pt x="3681" y="4860"/>
                  </a:lnTo>
                  <a:lnTo>
                    <a:pt x="2662" y="4882"/>
                  </a:lnTo>
                  <a:lnTo>
                    <a:pt x="1755" y="4882"/>
                  </a:lnTo>
                  <a:lnTo>
                    <a:pt x="1359" y="4860"/>
                  </a:lnTo>
                  <a:lnTo>
                    <a:pt x="981" y="4837"/>
                  </a:lnTo>
                  <a:lnTo>
                    <a:pt x="698" y="4771"/>
                  </a:lnTo>
                  <a:lnTo>
                    <a:pt x="453" y="4716"/>
                  </a:lnTo>
                  <a:lnTo>
                    <a:pt x="453" y="5322"/>
                  </a:lnTo>
                  <a:lnTo>
                    <a:pt x="453" y="6083"/>
                  </a:lnTo>
                  <a:lnTo>
                    <a:pt x="453" y="6909"/>
                  </a:lnTo>
                  <a:lnTo>
                    <a:pt x="453" y="7780"/>
                  </a:lnTo>
                  <a:lnTo>
                    <a:pt x="453" y="8606"/>
                  </a:lnTo>
                  <a:lnTo>
                    <a:pt x="453" y="9345"/>
                  </a:lnTo>
                  <a:lnTo>
                    <a:pt x="453" y="9918"/>
                  </a:lnTo>
                  <a:lnTo>
                    <a:pt x="453" y="10282"/>
                  </a:lnTo>
                  <a:lnTo>
                    <a:pt x="490" y="10381"/>
                  </a:lnTo>
                  <a:lnTo>
                    <a:pt x="547" y="10491"/>
                  </a:lnTo>
                  <a:lnTo>
                    <a:pt x="660" y="10590"/>
                  </a:lnTo>
                  <a:lnTo>
                    <a:pt x="811" y="10700"/>
                  </a:lnTo>
                  <a:lnTo>
                    <a:pt x="981" y="10811"/>
                  </a:lnTo>
                  <a:lnTo>
                    <a:pt x="1208" y="10888"/>
                  </a:lnTo>
                  <a:lnTo>
                    <a:pt x="1453" y="10954"/>
                  </a:lnTo>
                  <a:lnTo>
                    <a:pt x="1718" y="11020"/>
                  </a:lnTo>
                  <a:lnTo>
                    <a:pt x="1963" y="11064"/>
                  </a:lnTo>
                  <a:lnTo>
                    <a:pt x="2265" y="11086"/>
                  </a:lnTo>
                  <a:lnTo>
                    <a:pt x="2548" y="11064"/>
                  </a:lnTo>
                  <a:lnTo>
                    <a:pt x="2794" y="11042"/>
                  </a:lnTo>
                  <a:lnTo>
                    <a:pt x="3096" y="10976"/>
                  </a:lnTo>
                  <a:lnTo>
                    <a:pt x="3341" y="10888"/>
                  </a:lnTo>
                  <a:lnTo>
                    <a:pt x="3606" y="10766"/>
                  </a:lnTo>
                  <a:lnTo>
                    <a:pt x="3813" y="10590"/>
                  </a:lnTo>
                  <a:close/>
                </a:path>
              </a:pathLst>
            </a:custGeom>
            <a:solidFill>
              <a:srgbClr val="D8EBB3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568" name="AutoShape 18"/>
            <p:cNvSpPr>
              <a:spLocks noChangeArrowheads="1"/>
            </p:cNvSpPr>
            <p:nvPr/>
          </p:nvSpPr>
          <p:spPr bwMode="auto">
            <a:xfrm>
              <a:off x="968" y="792"/>
              <a:ext cx="206" cy="14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6082 w 21600"/>
                <a:gd name="T25" fmla="*/ 2586 h 21600"/>
                <a:gd name="T26" fmla="*/ 16148 w 21600"/>
                <a:gd name="T27" fmla="*/ 1947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9360" y="20836"/>
                  </a:moveTo>
                  <a:lnTo>
                    <a:pt x="9528" y="20836"/>
                  </a:lnTo>
                  <a:lnTo>
                    <a:pt x="9686" y="20762"/>
                  </a:lnTo>
                  <a:lnTo>
                    <a:pt x="9810" y="20687"/>
                  </a:lnTo>
                  <a:lnTo>
                    <a:pt x="9922" y="20575"/>
                  </a:lnTo>
                  <a:lnTo>
                    <a:pt x="10012" y="20426"/>
                  </a:lnTo>
                  <a:lnTo>
                    <a:pt x="10068" y="20296"/>
                  </a:lnTo>
                  <a:lnTo>
                    <a:pt x="10113" y="20110"/>
                  </a:lnTo>
                  <a:lnTo>
                    <a:pt x="10136" y="19905"/>
                  </a:lnTo>
                  <a:lnTo>
                    <a:pt x="10136" y="19682"/>
                  </a:lnTo>
                  <a:lnTo>
                    <a:pt x="10113" y="19440"/>
                  </a:lnTo>
                  <a:lnTo>
                    <a:pt x="10068" y="19142"/>
                  </a:lnTo>
                  <a:lnTo>
                    <a:pt x="10012" y="18900"/>
                  </a:lnTo>
                  <a:lnTo>
                    <a:pt x="9900" y="18620"/>
                  </a:lnTo>
                  <a:lnTo>
                    <a:pt x="9787" y="18285"/>
                  </a:lnTo>
                  <a:lnTo>
                    <a:pt x="9641" y="17968"/>
                  </a:lnTo>
                  <a:lnTo>
                    <a:pt x="9472" y="17652"/>
                  </a:lnTo>
                  <a:lnTo>
                    <a:pt x="9382" y="17466"/>
                  </a:lnTo>
                  <a:lnTo>
                    <a:pt x="9315" y="17298"/>
                  </a:lnTo>
                  <a:lnTo>
                    <a:pt x="9258" y="17112"/>
                  </a:lnTo>
                  <a:lnTo>
                    <a:pt x="9191" y="16926"/>
                  </a:lnTo>
                  <a:lnTo>
                    <a:pt x="9123" y="16535"/>
                  </a:lnTo>
                  <a:lnTo>
                    <a:pt x="9101" y="16144"/>
                  </a:lnTo>
                  <a:lnTo>
                    <a:pt x="9101" y="15753"/>
                  </a:lnTo>
                  <a:lnTo>
                    <a:pt x="9168" y="15362"/>
                  </a:lnTo>
                  <a:lnTo>
                    <a:pt x="9236" y="14971"/>
                  </a:lnTo>
                  <a:lnTo>
                    <a:pt x="9360" y="14580"/>
                  </a:lnTo>
                  <a:lnTo>
                    <a:pt x="9495" y="14244"/>
                  </a:lnTo>
                  <a:lnTo>
                    <a:pt x="9663" y="13891"/>
                  </a:lnTo>
                  <a:lnTo>
                    <a:pt x="9855" y="13611"/>
                  </a:lnTo>
                  <a:lnTo>
                    <a:pt x="10068" y="13351"/>
                  </a:lnTo>
                  <a:lnTo>
                    <a:pt x="10293" y="13146"/>
                  </a:lnTo>
                  <a:lnTo>
                    <a:pt x="10552" y="12997"/>
                  </a:lnTo>
                  <a:lnTo>
                    <a:pt x="10811" y="12885"/>
                  </a:lnTo>
                  <a:lnTo>
                    <a:pt x="11069" y="12866"/>
                  </a:lnTo>
                  <a:lnTo>
                    <a:pt x="11351" y="12885"/>
                  </a:lnTo>
                  <a:lnTo>
                    <a:pt x="11610" y="12997"/>
                  </a:lnTo>
                  <a:lnTo>
                    <a:pt x="11846" y="13183"/>
                  </a:lnTo>
                  <a:lnTo>
                    <a:pt x="12060" y="13388"/>
                  </a:lnTo>
                  <a:lnTo>
                    <a:pt x="12251" y="13648"/>
                  </a:lnTo>
                  <a:lnTo>
                    <a:pt x="12419" y="13928"/>
                  </a:lnTo>
                  <a:lnTo>
                    <a:pt x="12555" y="14244"/>
                  </a:lnTo>
                  <a:lnTo>
                    <a:pt x="12690" y="14617"/>
                  </a:lnTo>
                  <a:lnTo>
                    <a:pt x="12768" y="15008"/>
                  </a:lnTo>
                  <a:lnTo>
                    <a:pt x="12836" y="15399"/>
                  </a:lnTo>
                  <a:lnTo>
                    <a:pt x="12858" y="15753"/>
                  </a:lnTo>
                  <a:lnTo>
                    <a:pt x="12858" y="16144"/>
                  </a:lnTo>
                  <a:lnTo>
                    <a:pt x="12813" y="16535"/>
                  </a:lnTo>
                  <a:lnTo>
                    <a:pt x="12746" y="16888"/>
                  </a:lnTo>
                  <a:lnTo>
                    <a:pt x="12667" y="17224"/>
                  </a:lnTo>
                  <a:lnTo>
                    <a:pt x="12510" y="17503"/>
                  </a:lnTo>
                  <a:lnTo>
                    <a:pt x="12228" y="18043"/>
                  </a:lnTo>
                  <a:lnTo>
                    <a:pt x="11970" y="18546"/>
                  </a:lnTo>
                  <a:lnTo>
                    <a:pt x="11868" y="18751"/>
                  </a:lnTo>
                  <a:lnTo>
                    <a:pt x="11778" y="18974"/>
                  </a:lnTo>
                  <a:lnTo>
                    <a:pt x="11711" y="19179"/>
                  </a:lnTo>
                  <a:lnTo>
                    <a:pt x="11666" y="19365"/>
                  </a:lnTo>
                  <a:lnTo>
                    <a:pt x="11632" y="19570"/>
                  </a:lnTo>
                  <a:lnTo>
                    <a:pt x="11632" y="19756"/>
                  </a:lnTo>
                  <a:lnTo>
                    <a:pt x="11632" y="19942"/>
                  </a:lnTo>
                  <a:lnTo>
                    <a:pt x="11643" y="20110"/>
                  </a:lnTo>
                  <a:lnTo>
                    <a:pt x="11711" y="20296"/>
                  </a:lnTo>
                  <a:lnTo>
                    <a:pt x="11801" y="20464"/>
                  </a:lnTo>
                  <a:lnTo>
                    <a:pt x="11891" y="20650"/>
                  </a:lnTo>
                  <a:lnTo>
                    <a:pt x="12037" y="20836"/>
                  </a:lnTo>
                  <a:lnTo>
                    <a:pt x="12206" y="21004"/>
                  </a:lnTo>
                  <a:lnTo>
                    <a:pt x="12419" y="21190"/>
                  </a:lnTo>
                  <a:lnTo>
                    <a:pt x="12667" y="21320"/>
                  </a:lnTo>
                  <a:lnTo>
                    <a:pt x="12960" y="21432"/>
                  </a:lnTo>
                  <a:lnTo>
                    <a:pt x="13286" y="21544"/>
                  </a:lnTo>
                  <a:lnTo>
                    <a:pt x="13612" y="21655"/>
                  </a:lnTo>
                  <a:lnTo>
                    <a:pt x="13983" y="21693"/>
                  </a:lnTo>
                  <a:lnTo>
                    <a:pt x="14343" y="21730"/>
                  </a:lnTo>
                  <a:lnTo>
                    <a:pt x="14715" y="21730"/>
                  </a:lnTo>
                  <a:lnTo>
                    <a:pt x="15075" y="21730"/>
                  </a:lnTo>
                  <a:lnTo>
                    <a:pt x="15446" y="21655"/>
                  </a:lnTo>
                  <a:lnTo>
                    <a:pt x="15794" y="21581"/>
                  </a:lnTo>
                  <a:lnTo>
                    <a:pt x="16132" y="21432"/>
                  </a:lnTo>
                  <a:lnTo>
                    <a:pt x="16458" y="21302"/>
                  </a:lnTo>
                  <a:lnTo>
                    <a:pt x="16740" y="21078"/>
                  </a:lnTo>
                  <a:lnTo>
                    <a:pt x="16976" y="20836"/>
                  </a:lnTo>
                  <a:lnTo>
                    <a:pt x="17043" y="20650"/>
                  </a:lnTo>
                  <a:lnTo>
                    <a:pt x="17088" y="20426"/>
                  </a:lnTo>
                  <a:lnTo>
                    <a:pt x="17133" y="20222"/>
                  </a:lnTo>
                  <a:lnTo>
                    <a:pt x="17156" y="19980"/>
                  </a:lnTo>
                  <a:lnTo>
                    <a:pt x="17167" y="19477"/>
                  </a:lnTo>
                  <a:lnTo>
                    <a:pt x="17167" y="18974"/>
                  </a:lnTo>
                  <a:lnTo>
                    <a:pt x="17156" y="18397"/>
                  </a:lnTo>
                  <a:lnTo>
                    <a:pt x="17111" y="17820"/>
                  </a:lnTo>
                  <a:lnTo>
                    <a:pt x="17066" y="17261"/>
                  </a:lnTo>
                  <a:lnTo>
                    <a:pt x="16998" y="16646"/>
                  </a:lnTo>
                  <a:lnTo>
                    <a:pt x="16852" y="15511"/>
                  </a:lnTo>
                  <a:lnTo>
                    <a:pt x="16740" y="14393"/>
                  </a:lnTo>
                  <a:lnTo>
                    <a:pt x="16717" y="13928"/>
                  </a:lnTo>
                  <a:lnTo>
                    <a:pt x="16695" y="13462"/>
                  </a:lnTo>
                  <a:lnTo>
                    <a:pt x="16717" y="13071"/>
                  </a:lnTo>
                  <a:lnTo>
                    <a:pt x="16785" y="12755"/>
                  </a:lnTo>
                  <a:lnTo>
                    <a:pt x="16852" y="12419"/>
                  </a:lnTo>
                  <a:lnTo>
                    <a:pt x="16953" y="12140"/>
                  </a:lnTo>
                  <a:lnTo>
                    <a:pt x="17088" y="11898"/>
                  </a:lnTo>
                  <a:lnTo>
                    <a:pt x="17212" y="11675"/>
                  </a:lnTo>
                  <a:lnTo>
                    <a:pt x="17370" y="11470"/>
                  </a:lnTo>
                  <a:lnTo>
                    <a:pt x="17516" y="11284"/>
                  </a:lnTo>
                  <a:lnTo>
                    <a:pt x="17696" y="11135"/>
                  </a:lnTo>
                  <a:lnTo>
                    <a:pt x="17865" y="11042"/>
                  </a:lnTo>
                  <a:lnTo>
                    <a:pt x="18033" y="10930"/>
                  </a:lnTo>
                  <a:lnTo>
                    <a:pt x="18213" y="10893"/>
                  </a:lnTo>
                  <a:lnTo>
                    <a:pt x="18382" y="10893"/>
                  </a:lnTo>
                  <a:lnTo>
                    <a:pt x="18551" y="10967"/>
                  </a:lnTo>
                  <a:lnTo>
                    <a:pt x="18708" y="11042"/>
                  </a:lnTo>
                  <a:lnTo>
                    <a:pt x="18855" y="11172"/>
                  </a:lnTo>
                  <a:lnTo>
                    <a:pt x="19012" y="11358"/>
                  </a:lnTo>
                  <a:lnTo>
                    <a:pt x="19136" y="11600"/>
                  </a:lnTo>
                  <a:lnTo>
                    <a:pt x="19271" y="11861"/>
                  </a:lnTo>
                  <a:lnTo>
                    <a:pt x="19440" y="12028"/>
                  </a:lnTo>
                  <a:lnTo>
                    <a:pt x="19608" y="12177"/>
                  </a:lnTo>
                  <a:lnTo>
                    <a:pt x="19822" y="12289"/>
                  </a:lnTo>
                  <a:lnTo>
                    <a:pt x="20025" y="12289"/>
                  </a:lnTo>
                  <a:lnTo>
                    <a:pt x="20238" y="12289"/>
                  </a:lnTo>
                  <a:lnTo>
                    <a:pt x="20452" y="12215"/>
                  </a:lnTo>
                  <a:lnTo>
                    <a:pt x="20643" y="12103"/>
                  </a:lnTo>
                  <a:lnTo>
                    <a:pt x="20846" y="11973"/>
                  </a:lnTo>
                  <a:lnTo>
                    <a:pt x="21037" y="11786"/>
                  </a:lnTo>
                  <a:lnTo>
                    <a:pt x="21206" y="11563"/>
                  </a:lnTo>
                  <a:lnTo>
                    <a:pt x="21363" y="11321"/>
                  </a:lnTo>
                  <a:lnTo>
                    <a:pt x="21465" y="11079"/>
                  </a:lnTo>
                  <a:lnTo>
                    <a:pt x="21577" y="10744"/>
                  </a:lnTo>
                  <a:lnTo>
                    <a:pt x="21622" y="10427"/>
                  </a:lnTo>
                  <a:lnTo>
                    <a:pt x="21645" y="10111"/>
                  </a:lnTo>
                  <a:lnTo>
                    <a:pt x="21622" y="9608"/>
                  </a:lnTo>
                  <a:lnTo>
                    <a:pt x="21577" y="9142"/>
                  </a:lnTo>
                  <a:lnTo>
                    <a:pt x="21465" y="8751"/>
                  </a:lnTo>
                  <a:lnTo>
                    <a:pt x="21363" y="8397"/>
                  </a:lnTo>
                  <a:lnTo>
                    <a:pt x="21206" y="8062"/>
                  </a:lnTo>
                  <a:lnTo>
                    <a:pt x="21037" y="7820"/>
                  </a:lnTo>
                  <a:lnTo>
                    <a:pt x="20846" y="7597"/>
                  </a:lnTo>
                  <a:lnTo>
                    <a:pt x="20643" y="7429"/>
                  </a:lnTo>
                  <a:lnTo>
                    <a:pt x="20452" y="7317"/>
                  </a:lnTo>
                  <a:lnTo>
                    <a:pt x="20238" y="7206"/>
                  </a:lnTo>
                  <a:lnTo>
                    <a:pt x="20025" y="7168"/>
                  </a:lnTo>
                  <a:lnTo>
                    <a:pt x="19822" y="7206"/>
                  </a:lnTo>
                  <a:lnTo>
                    <a:pt x="19608" y="7243"/>
                  </a:lnTo>
                  <a:lnTo>
                    <a:pt x="19440" y="7355"/>
                  </a:lnTo>
                  <a:lnTo>
                    <a:pt x="19271" y="7504"/>
                  </a:lnTo>
                  <a:lnTo>
                    <a:pt x="19136" y="7708"/>
                  </a:lnTo>
                  <a:lnTo>
                    <a:pt x="19012" y="7895"/>
                  </a:lnTo>
                  <a:lnTo>
                    <a:pt x="18832" y="8025"/>
                  </a:lnTo>
                  <a:lnTo>
                    <a:pt x="18663" y="8174"/>
                  </a:lnTo>
                  <a:lnTo>
                    <a:pt x="18472" y="8248"/>
                  </a:lnTo>
                  <a:lnTo>
                    <a:pt x="18270" y="8286"/>
                  </a:lnTo>
                  <a:lnTo>
                    <a:pt x="18078" y="8323"/>
                  </a:lnTo>
                  <a:lnTo>
                    <a:pt x="17887" y="8323"/>
                  </a:lnTo>
                  <a:lnTo>
                    <a:pt x="17696" y="8248"/>
                  </a:lnTo>
                  <a:lnTo>
                    <a:pt x="17493" y="8174"/>
                  </a:lnTo>
                  <a:lnTo>
                    <a:pt x="17302" y="8062"/>
                  </a:lnTo>
                  <a:lnTo>
                    <a:pt x="17133" y="7969"/>
                  </a:lnTo>
                  <a:lnTo>
                    <a:pt x="16976" y="7783"/>
                  </a:lnTo>
                  <a:lnTo>
                    <a:pt x="16852" y="7597"/>
                  </a:lnTo>
                  <a:lnTo>
                    <a:pt x="16740" y="7429"/>
                  </a:lnTo>
                  <a:lnTo>
                    <a:pt x="16672" y="7168"/>
                  </a:lnTo>
                  <a:lnTo>
                    <a:pt x="16638" y="6926"/>
                  </a:lnTo>
                  <a:lnTo>
                    <a:pt x="16616" y="6498"/>
                  </a:lnTo>
                  <a:lnTo>
                    <a:pt x="16616" y="5772"/>
                  </a:lnTo>
                  <a:lnTo>
                    <a:pt x="16650" y="4915"/>
                  </a:lnTo>
                  <a:lnTo>
                    <a:pt x="16695" y="3928"/>
                  </a:lnTo>
                  <a:lnTo>
                    <a:pt x="16762" y="2960"/>
                  </a:lnTo>
                  <a:lnTo>
                    <a:pt x="16830" y="1992"/>
                  </a:lnTo>
                  <a:lnTo>
                    <a:pt x="16908" y="1173"/>
                  </a:lnTo>
                  <a:lnTo>
                    <a:pt x="16976" y="521"/>
                  </a:lnTo>
                  <a:lnTo>
                    <a:pt x="16953" y="521"/>
                  </a:lnTo>
                  <a:lnTo>
                    <a:pt x="16931" y="521"/>
                  </a:lnTo>
                  <a:lnTo>
                    <a:pt x="16267" y="484"/>
                  </a:lnTo>
                  <a:lnTo>
                    <a:pt x="15637" y="428"/>
                  </a:lnTo>
                  <a:lnTo>
                    <a:pt x="15063" y="353"/>
                  </a:lnTo>
                  <a:lnTo>
                    <a:pt x="14523" y="279"/>
                  </a:lnTo>
                  <a:lnTo>
                    <a:pt x="14040" y="167"/>
                  </a:lnTo>
                  <a:lnTo>
                    <a:pt x="13635" y="93"/>
                  </a:lnTo>
                  <a:lnTo>
                    <a:pt x="13331" y="18"/>
                  </a:lnTo>
                  <a:lnTo>
                    <a:pt x="13117" y="18"/>
                  </a:lnTo>
                  <a:lnTo>
                    <a:pt x="12982" y="18"/>
                  </a:lnTo>
                  <a:lnTo>
                    <a:pt x="12858" y="130"/>
                  </a:lnTo>
                  <a:lnTo>
                    <a:pt x="12723" y="279"/>
                  </a:lnTo>
                  <a:lnTo>
                    <a:pt x="12622" y="446"/>
                  </a:lnTo>
                  <a:lnTo>
                    <a:pt x="12510" y="670"/>
                  </a:lnTo>
                  <a:lnTo>
                    <a:pt x="12419" y="912"/>
                  </a:lnTo>
                  <a:lnTo>
                    <a:pt x="12363" y="1210"/>
                  </a:lnTo>
                  <a:lnTo>
                    <a:pt x="12318" y="1526"/>
                  </a:lnTo>
                  <a:lnTo>
                    <a:pt x="12273" y="1843"/>
                  </a:lnTo>
                  <a:lnTo>
                    <a:pt x="12251" y="2215"/>
                  </a:lnTo>
                  <a:lnTo>
                    <a:pt x="12273" y="2532"/>
                  </a:lnTo>
                  <a:lnTo>
                    <a:pt x="12318" y="2886"/>
                  </a:lnTo>
                  <a:lnTo>
                    <a:pt x="12386" y="3240"/>
                  </a:lnTo>
                  <a:lnTo>
                    <a:pt x="12464" y="3556"/>
                  </a:lnTo>
                  <a:lnTo>
                    <a:pt x="12577" y="3891"/>
                  </a:lnTo>
                  <a:lnTo>
                    <a:pt x="12746" y="4171"/>
                  </a:lnTo>
                  <a:lnTo>
                    <a:pt x="12926" y="4487"/>
                  </a:lnTo>
                  <a:lnTo>
                    <a:pt x="13050" y="4860"/>
                  </a:lnTo>
                  <a:lnTo>
                    <a:pt x="13162" y="5251"/>
                  </a:lnTo>
                  <a:lnTo>
                    <a:pt x="13218" y="5604"/>
                  </a:lnTo>
                  <a:lnTo>
                    <a:pt x="13263" y="5995"/>
                  </a:lnTo>
                  <a:lnTo>
                    <a:pt x="13241" y="6386"/>
                  </a:lnTo>
                  <a:lnTo>
                    <a:pt x="13218" y="6740"/>
                  </a:lnTo>
                  <a:lnTo>
                    <a:pt x="13139" y="7094"/>
                  </a:lnTo>
                  <a:lnTo>
                    <a:pt x="13050" y="7429"/>
                  </a:lnTo>
                  <a:lnTo>
                    <a:pt x="12903" y="7746"/>
                  </a:lnTo>
                  <a:lnTo>
                    <a:pt x="12723" y="8025"/>
                  </a:lnTo>
                  <a:lnTo>
                    <a:pt x="12532" y="8286"/>
                  </a:lnTo>
                  <a:lnTo>
                    <a:pt x="12318" y="8491"/>
                  </a:lnTo>
                  <a:lnTo>
                    <a:pt x="12060" y="8677"/>
                  </a:lnTo>
                  <a:lnTo>
                    <a:pt x="11756" y="8788"/>
                  </a:lnTo>
                  <a:lnTo>
                    <a:pt x="11452" y="8826"/>
                  </a:lnTo>
                  <a:lnTo>
                    <a:pt x="11283" y="8826"/>
                  </a:lnTo>
                  <a:lnTo>
                    <a:pt x="11126" y="8826"/>
                  </a:lnTo>
                  <a:lnTo>
                    <a:pt x="11002" y="8788"/>
                  </a:lnTo>
                  <a:lnTo>
                    <a:pt x="10845" y="8714"/>
                  </a:lnTo>
                  <a:lnTo>
                    <a:pt x="10721" y="8640"/>
                  </a:lnTo>
                  <a:lnTo>
                    <a:pt x="10608" y="8565"/>
                  </a:lnTo>
                  <a:lnTo>
                    <a:pt x="10485" y="8453"/>
                  </a:lnTo>
                  <a:lnTo>
                    <a:pt x="10372" y="8323"/>
                  </a:lnTo>
                  <a:lnTo>
                    <a:pt x="10181" y="8062"/>
                  </a:lnTo>
                  <a:lnTo>
                    <a:pt x="10035" y="7746"/>
                  </a:lnTo>
                  <a:lnTo>
                    <a:pt x="9900" y="7392"/>
                  </a:lnTo>
                  <a:lnTo>
                    <a:pt x="9787" y="7001"/>
                  </a:lnTo>
                  <a:lnTo>
                    <a:pt x="9731" y="6610"/>
                  </a:lnTo>
                  <a:lnTo>
                    <a:pt x="9686" y="6219"/>
                  </a:lnTo>
                  <a:lnTo>
                    <a:pt x="9663" y="5772"/>
                  </a:lnTo>
                  <a:lnTo>
                    <a:pt x="9686" y="5381"/>
                  </a:lnTo>
                  <a:lnTo>
                    <a:pt x="9753" y="4990"/>
                  </a:lnTo>
                  <a:lnTo>
                    <a:pt x="9832" y="4636"/>
                  </a:lnTo>
                  <a:lnTo>
                    <a:pt x="9945" y="4320"/>
                  </a:lnTo>
                  <a:lnTo>
                    <a:pt x="10068" y="4022"/>
                  </a:lnTo>
                  <a:lnTo>
                    <a:pt x="10203" y="3817"/>
                  </a:lnTo>
                  <a:lnTo>
                    <a:pt x="10316" y="3593"/>
                  </a:lnTo>
                  <a:lnTo>
                    <a:pt x="10395" y="3351"/>
                  </a:lnTo>
                  <a:lnTo>
                    <a:pt x="10462" y="3109"/>
                  </a:lnTo>
                  <a:lnTo>
                    <a:pt x="10507" y="2848"/>
                  </a:lnTo>
                  <a:lnTo>
                    <a:pt x="10530" y="2606"/>
                  </a:lnTo>
                  <a:lnTo>
                    <a:pt x="10507" y="2346"/>
                  </a:lnTo>
                  <a:lnTo>
                    <a:pt x="10462" y="2141"/>
                  </a:lnTo>
                  <a:lnTo>
                    <a:pt x="10395" y="1880"/>
                  </a:lnTo>
                  <a:lnTo>
                    <a:pt x="10293" y="1638"/>
                  </a:lnTo>
                  <a:lnTo>
                    <a:pt x="10158" y="1415"/>
                  </a:lnTo>
                  <a:lnTo>
                    <a:pt x="9967" y="1210"/>
                  </a:lnTo>
                  <a:lnTo>
                    <a:pt x="9753" y="986"/>
                  </a:lnTo>
                  <a:lnTo>
                    <a:pt x="9495" y="819"/>
                  </a:lnTo>
                  <a:lnTo>
                    <a:pt x="9191" y="670"/>
                  </a:lnTo>
                  <a:lnTo>
                    <a:pt x="8842" y="521"/>
                  </a:lnTo>
                  <a:lnTo>
                    <a:pt x="8471" y="446"/>
                  </a:lnTo>
                  <a:lnTo>
                    <a:pt x="7998" y="428"/>
                  </a:lnTo>
                  <a:lnTo>
                    <a:pt x="7413" y="428"/>
                  </a:lnTo>
                  <a:lnTo>
                    <a:pt x="6817" y="446"/>
                  </a:lnTo>
                  <a:lnTo>
                    <a:pt x="6187" y="521"/>
                  </a:lnTo>
                  <a:lnTo>
                    <a:pt x="5602" y="633"/>
                  </a:lnTo>
                  <a:lnTo>
                    <a:pt x="5107" y="744"/>
                  </a:lnTo>
                  <a:lnTo>
                    <a:pt x="4725" y="856"/>
                  </a:lnTo>
                  <a:lnTo>
                    <a:pt x="4848" y="1564"/>
                  </a:lnTo>
                  <a:lnTo>
                    <a:pt x="5028" y="2495"/>
                  </a:lnTo>
                  <a:lnTo>
                    <a:pt x="5175" y="3556"/>
                  </a:lnTo>
                  <a:lnTo>
                    <a:pt x="5298" y="4673"/>
                  </a:lnTo>
                  <a:lnTo>
                    <a:pt x="5343" y="5213"/>
                  </a:lnTo>
                  <a:lnTo>
                    <a:pt x="5388" y="5753"/>
                  </a:lnTo>
                  <a:lnTo>
                    <a:pt x="5411" y="6275"/>
                  </a:lnTo>
                  <a:lnTo>
                    <a:pt x="5411" y="6740"/>
                  </a:lnTo>
                  <a:lnTo>
                    <a:pt x="5366" y="7168"/>
                  </a:lnTo>
                  <a:lnTo>
                    <a:pt x="5321" y="7541"/>
                  </a:lnTo>
                  <a:lnTo>
                    <a:pt x="5287" y="7708"/>
                  </a:lnTo>
                  <a:lnTo>
                    <a:pt x="5242" y="7857"/>
                  </a:lnTo>
                  <a:lnTo>
                    <a:pt x="5197" y="7969"/>
                  </a:lnTo>
                  <a:lnTo>
                    <a:pt x="5130" y="8062"/>
                  </a:lnTo>
                  <a:lnTo>
                    <a:pt x="5006" y="8248"/>
                  </a:lnTo>
                  <a:lnTo>
                    <a:pt x="4848" y="8397"/>
                  </a:lnTo>
                  <a:lnTo>
                    <a:pt x="4725" y="8528"/>
                  </a:lnTo>
                  <a:lnTo>
                    <a:pt x="4567" y="8640"/>
                  </a:lnTo>
                  <a:lnTo>
                    <a:pt x="4421" y="8714"/>
                  </a:lnTo>
                  <a:lnTo>
                    <a:pt x="4263" y="8751"/>
                  </a:lnTo>
                  <a:lnTo>
                    <a:pt x="4095" y="8788"/>
                  </a:lnTo>
                  <a:lnTo>
                    <a:pt x="3948" y="8788"/>
                  </a:lnTo>
                  <a:lnTo>
                    <a:pt x="3791" y="8751"/>
                  </a:lnTo>
                  <a:lnTo>
                    <a:pt x="3667" y="8714"/>
                  </a:lnTo>
                  <a:lnTo>
                    <a:pt x="3510" y="8677"/>
                  </a:lnTo>
                  <a:lnTo>
                    <a:pt x="3386" y="8602"/>
                  </a:lnTo>
                  <a:lnTo>
                    <a:pt x="3251" y="8491"/>
                  </a:lnTo>
                  <a:lnTo>
                    <a:pt x="3127" y="8360"/>
                  </a:lnTo>
                  <a:lnTo>
                    <a:pt x="3015" y="8248"/>
                  </a:lnTo>
                  <a:lnTo>
                    <a:pt x="2925" y="8062"/>
                  </a:lnTo>
                  <a:lnTo>
                    <a:pt x="2778" y="7857"/>
                  </a:lnTo>
                  <a:lnTo>
                    <a:pt x="2610" y="7671"/>
                  </a:lnTo>
                  <a:lnTo>
                    <a:pt x="2407" y="7541"/>
                  </a:lnTo>
                  <a:lnTo>
                    <a:pt x="2171" y="7466"/>
                  </a:lnTo>
                  <a:lnTo>
                    <a:pt x="1957" y="7429"/>
                  </a:lnTo>
                  <a:lnTo>
                    <a:pt x="1698" y="7429"/>
                  </a:lnTo>
                  <a:lnTo>
                    <a:pt x="1462" y="7466"/>
                  </a:lnTo>
                  <a:lnTo>
                    <a:pt x="1226" y="7559"/>
                  </a:lnTo>
                  <a:lnTo>
                    <a:pt x="989" y="7708"/>
                  </a:lnTo>
                  <a:lnTo>
                    <a:pt x="776" y="7932"/>
                  </a:lnTo>
                  <a:lnTo>
                    <a:pt x="551" y="8211"/>
                  </a:lnTo>
                  <a:lnTo>
                    <a:pt x="382" y="8528"/>
                  </a:lnTo>
                  <a:lnTo>
                    <a:pt x="315" y="8714"/>
                  </a:lnTo>
                  <a:lnTo>
                    <a:pt x="236" y="8919"/>
                  </a:lnTo>
                  <a:lnTo>
                    <a:pt x="191" y="9142"/>
                  </a:lnTo>
                  <a:lnTo>
                    <a:pt x="123" y="9347"/>
                  </a:lnTo>
                  <a:lnTo>
                    <a:pt x="78" y="9608"/>
                  </a:lnTo>
                  <a:lnTo>
                    <a:pt x="56" y="9887"/>
                  </a:lnTo>
                  <a:lnTo>
                    <a:pt x="33" y="10185"/>
                  </a:lnTo>
                  <a:lnTo>
                    <a:pt x="33" y="10464"/>
                  </a:lnTo>
                  <a:lnTo>
                    <a:pt x="33" y="10706"/>
                  </a:lnTo>
                  <a:lnTo>
                    <a:pt x="56" y="10967"/>
                  </a:lnTo>
                  <a:lnTo>
                    <a:pt x="78" y="11172"/>
                  </a:lnTo>
                  <a:lnTo>
                    <a:pt x="123" y="11395"/>
                  </a:lnTo>
                  <a:lnTo>
                    <a:pt x="168" y="11600"/>
                  </a:lnTo>
                  <a:lnTo>
                    <a:pt x="236" y="11786"/>
                  </a:lnTo>
                  <a:lnTo>
                    <a:pt x="292" y="11973"/>
                  </a:lnTo>
                  <a:lnTo>
                    <a:pt x="382" y="12140"/>
                  </a:lnTo>
                  <a:lnTo>
                    <a:pt x="540" y="12419"/>
                  </a:lnTo>
                  <a:lnTo>
                    <a:pt x="731" y="12680"/>
                  </a:lnTo>
                  <a:lnTo>
                    <a:pt x="944" y="12866"/>
                  </a:lnTo>
                  <a:lnTo>
                    <a:pt x="1158" y="12997"/>
                  </a:lnTo>
                  <a:lnTo>
                    <a:pt x="1395" y="13108"/>
                  </a:lnTo>
                  <a:lnTo>
                    <a:pt x="1608" y="13183"/>
                  </a:lnTo>
                  <a:lnTo>
                    <a:pt x="1856" y="13183"/>
                  </a:lnTo>
                  <a:lnTo>
                    <a:pt x="2070" y="13146"/>
                  </a:lnTo>
                  <a:lnTo>
                    <a:pt x="2261" y="13071"/>
                  </a:lnTo>
                  <a:lnTo>
                    <a:pt x="2430" y="12960"/>
                  </a:lnTo>
                  <a:lnTo>
                    <a:pt x="2587" y="12792"/>
                  </a:lnTo>
                  <a:lnTo>
                    <a:pt x="2688" y="12606"/>
                  </a:lnTo>
                  <a:lnTo>
                    <a:pt x="2801" y="12419"/>
                  </a:lnTo>
                  <a:lnTo>
                    <a:pt x="2925" y="12289"/>
                  </a:lnTo>
                  <a:lnTo>
                    <a:pt x="3082" y="12177"/>
                  </a:lnTo>
                  <a:lnTo>
                    <a:pt x="3228" y="12103"/>
                  </a:lnTo>
                  <a:lnTo>
                    <a:pt x="3408" y="12103"/>
                  </a:lnTo>
                  <a:lnTo>
                    <a:pt x="3577" y="12103"/>
                  </a:lnTo>
                  <a:lnTo>
                    <a:pt x="3723" y="12177"/>
                  </a:lnTo>
                  <a:lnTo>
                    <a:pt x="3903" y="12252"/>
                  </a:lnTo>
                  <a:lnTo>
                    <a:pt x="4072" y="12364"/>
                  </a:lnTo>
                  <a:lnTo>
                    <a:pt x="4230" y="12494"/>
                  </a:lnTo>
                  <a:lnTo>
                    <a:pt x="4353" y="12643"/>
                  </a:lnTo>
                  <a:lnTo>
                    <a:pt x="4488" y="12829"/>
                  </a:lnTo>
                  <a:lnTo>
                    <a:pt x="4567" y="13034"/>
                  </a:lnTo>
                  <a:lnTo>
                    <a:pt x="4657" y="13257"/>
                  </a:lnTo>
                  <a:lnTo>
                    <a:pt x="4702" y="13462"/>
                  </a:lnTo>
                  <a:lnTo>
                    <a:pt x="4725" y="13686"/>
                  </a:lnTo>
                  <a:lnTo>
                    <a:pt x="4702" y="14282"/>
                  </a:lnTo>
                  <a:lnTo>
                    <a:pt x="4657" y="15045"/>
                  </a:lnTo>
                  <a:lnTo>
                    <a:pt x="4612" y="15976"/>
                  </a:lnTo>
                  <a:lnTo>
                    <a:pt x="4590" y="16926"/>
                  </a:lnTo>
                  <a:lnTo>
                    <a:pt x="4567" y="17968"/>
                  </a:lnTo>
                  <a:lnTo>
                    <a:pt x="4567" y="19011"/>
                  </a:lnTo>
                  <a:lnTo>
                    <a:pt x="4590" y="19514"/>
                  </a:lnTo>
                  <a:lnTo>
                    <a:pt x="4612" y="19980"/>
                  </a:lnTo>
                  <a:lnTo>
                    <a:pt x="4657" y="20426"/>
                  </a:lnTo>
                  <a:lnTo>
                    <a:pt x="4725" y="20836"/>
                  </a:lnTo>
                  <a:lnTo>
                    <a:pt x="4848" y="20929"/>
                  </a:lnTo>
                  <a:lnTo>
                    <a:pt x="5040" y="21004"/>
                  </a:lnTo>
                  <a:lnTo>
                    <a:pt x="5265" y="21078"/>
                  </a:lnTo>
                  <a:lnTo>
                    <a:pt x="5478" y="21115"/>
                  </a:lnTo>
                  <a:lnTo>
                    <a:pt x="6041" y="21115"/>
                  </a:lnTo>
                  <a:lnTo>
                    <a:pt x="6637" y="21078"/>
                  </a:lnTo>
                  <a:lnTo>
                    <a:pt x="7312" y="21004"/>
                  </a:lnTo>
                  <a:lnTo>
                    <a:pt x="7998" y="20929"/>
                  </a:lnTo>
                  <a:lnTo>
                    <a:pt x="8696" y="20855"/>
                  </a:lnTo>
                  <a:lnTo>
                    <a:pt x="9360" y="20836"/>
                  </a:lnTo>
                  <a:close/>
                </a:path>
              </a:pathLst>
            </a:custGeom>
            <a:solidFill>
              <a:srgbClr val="CCCCFF"/>
            </a:solidFill>
            <a:ln w="2844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90" name="Group 19"/>
          <p:cNvGrpSpPr>
            <a:grpSpLocks/>
          </p:cNvGrpSpPr>
          <p:nvPr/>
        </p:nvGrpSpPr>
        <p:grpSpPr bwMode="auto">
          <a:xfrm>
            <a:off x="4214813" y="981075"/>
            <a:ext cx="481012" cy="455613"/>
            <a:chOff x="2655" y="727"/>
            <a:chExt cx="303" cy="287"/>
          </a:xfrm>
        </p:grpSpPr>
        <p:sp>
          <p:nvSpPr>
            <p:cNvPr id="21562" name="AutoShape 20"/>
            <p:cNvSpPr>
              <a:spLocks noChangeArrowheads="1"/>
            </p:cNvSpPr>
            <p:nvPr/>
          </p:nvSpPr>
          <p:spPr bwMode="auto">
            <a:xfrm>
              <a:off x="2824" y="727"/>
              <a:ext cx="134" cy="13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52 w 21600"/>
                <a:gd name="T13" fmla="*/ 3957 h 21600"/>
                <a:gd name="T14" fmla="*/ 17893 w 21600"/>
                <a:gd name="T15" fmla="*/ 1764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21563" name="AutoShape 21"/>
            <p:cNvSpPr>
              <a:spLocks noChangeArrowheads="1"/>
            </p:cNvSpPr>
            <p:nvPr/>
          </p:nvSpPr>
          <p:spPr bwMode="auto">
            <a:xfrm>
              <a:off x="2655" y="781"/>
              <a:ext cx="161" cy="15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27 w 21600"/>
                <a:gd name="T13" fmla="*/ 3990 h 21600"/>
                <a:gd name="T14" fmla="*/ 17843 w 21600"/>
                <a:gd name="T15" fmla="*/ 176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  <p:sp>
          <p:nvSpPr>
            <p:cNvPr id="21564" name="AutoShape 22"/>
            <p:cNvSpPr>
              <a:spLocks noChangeArrowheads="1"/>
            </p:cNvSpPr>
            <p:nvPr/>
          </p:nvSpPr>
          <p:spPr bwMode="auto">
            <a:xfrm>
              <a:off x="2760" y="840"/>
              <a:ext cx="179" cy="17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44 w 21600"/>
                <a:gd name="T13" fmla="*/ 3972 h 21600"/>
                <a:gd name="T14" fmla="*/ 17859 w 21600"/>
                <a:gd name="T15" fmla="*/ 1762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9689" y="1725"/>
                  </a:moveTo>
                  <a:lnTo>
                    <a:pt x="10304" y="85"/>
                  </a:lnTo>
                  <a:lnTo>
                    <a:pt x="11637" y="85"/>
                  </a:lnTo>
                  <a:lnTo>
                    <a:pt x="12303" y="1777"/>
                  </a:lnTo>
                  <a:lnTo>
                    <a:pt x="13072" y="1931"/>
                  </a:lnTo>
                  <a:lnTo>
                    <a:pt x="14303" y="598"/>
                  </a:lnTo>
                  <a:lnTo>
                    <a:pt x="15533" y="1110"/>
                  </a:lnTo>
                  <a:lnTo>
                    <a:pt x="15584" y="2905"/>
                  </a:lnTo>
                  <a:lnTo>
                    <a:pt x="16405" y="3520"/>
                  </a:lnTo>
                  <a:lnTo>
                    <a:pt x="17891" y="2751"/>
                  </a:lnTo>
                  <a:lnTo>
                    <a:pt x="18917" y="3674"/>
                  </a:lnTo>
                  <a:lnTo>
                    <a:pt x="18199" y="5314"/>
                  </a:lnTo>
                  <a:lnTo>
                    <a:pt x="18763" y="6083"/>
                  </a:lnTo>
                  <a:lnTo>
                    <a:pt x="20403" y="6032"/>
                  </a:lnTo>
                  <a:lnTo>
                    <a:pt x="20865" y="7211"/>
                  </a:lnTo>
                  <a:lnTo>
                    <a:pt x="19737" y="8185"/>
                  </a:lnTo>
                  <a:lnTo>
                    <a:pt x="20096" y="9723"/>
                  </a:lnTo>
                  <a:lnTo>
                    <a:pt x="21634" y="10287"/>
                  </a:lnTo>
                  <a:lnTo>
                    <a:pt x="21582" y="11620"/>
                  </a:lnTo>
                  <a:lnTo>
                    <a:pt x="20147" y="12184"/>
                  </a:lnTo>
                  <a:lnTo>
                    <a:pt x="19942" y="13158"/>
                  </a:lnTo>
                  <a:lnTo>
                    <a:pt x="21070" y="14234"/>
                  </a:lnTo>
                  <a:lnTo>
                    <a:pt x="20608" y="15362"/>
                  </a:lnTo>
                  <a:lnTo>
                    <a:pt x="19019" y="15465"/>
                  </a:lnTo>
                  <a:lnTo>
                    <a:pt x="18404" y="16439"/>
                  </a:lnTo>
                  <a:lnTo>
                    <a:pt x="19122" y="17925"/>
                  </a:lnTo>
                  <a:lnTo>
                    <a:pt x="18096" y="18797"/>
                  </a:lnTo>
                  <a:lnTo>
                    <a:pt x="16763" y="18284"/>
                  </a:lnTo>
                  <a:lnTo>
                    <a:pt x="15431" y="19002"/>
                  </a:lnTo>
                  <a:lnTo>
                    <a:pt x="15277" y="20848"/>
                  </a:lnTo>
                  <a:lnTo>
                    <a:pt x="14149" y="21155"/>
                  </a:lnTo>
                  <a:lnTo>
                    <a:pt x="13021" y="19925"/>
                  </a:lnTo>
                  <a:lnTo>
                    <a:pt x="12252" y="20181"/>
                  </a:lnTo>
                  <a:lnTo>
                    <a:pt x="11739" y="21668"/>
                  </a:lnTo>
                  <a:lnTo>
                    <a:pt x="10201" y="21668"/>
                  </a:lnTo>
                  <a:lnTo>
                    <a:pt x="9740" y="20130"/>
                  </a:lnTo>
                  <a:lnTo>
                    <a:pt x="8253" y="19771"/>
                  </a:lnTo>
                  <a:lnTo>
                    <a:pt x="7125" y="21001"/>
                  </a:lnTo>
                  <a:lnTo>
                    <a:pt x="5895" y="20489"/>
                  </a:lnTo>
                  <a:lnTo>
                    <a:pt x="5946" y="18592"/>
                  </a:lnTo>
                  <a:lnTo>
                    <a:pt x="5177" y="18131"/>
                  </a:lnTo>
                  <a:lnTo>
                    <a:pt x="3383" y="18848"/>
                  </a:lnTo>
                  <a:lnTo>
                    <a:pt x="2614" y="17874"/>
                  </a:lnTo>
                  <a:lnTo>
                    <a:pt x="3383" y="16182"/>
                  </a:lnTo>
                  <a:lnTo>
                    <a:pt x="2922" y="15465"/>
                  </a:lnTo>
                  <a:lnTo>
                    <a:pt x="922" y="15516"/>
                  </a:lnTo>
                  <a:lnTo>
                    <a:pt x="512" y="14234"/>
                  </a:lnTo>
                  <a:lnTo>
                    <a:pt x="1948" y="12901"/>
                  </a:lnTo>
                  <a:lnTo>
                    <a:pt x="1896" y="12184"/>
                  </a:lnTo>
                  <a:lnTo>
                    <a:pt x="0" y="11415"/>
                  </a:lnTo>
                  <a:lnTo>
                    <a:pt x="51" y="10031"/>
                  </a:lnTo>
                  <a:lnTo>
                    <a:pt x="1948" y="9313"/>
                  </a:lnTo>
                  <a:lnTo>
                    <a:pt x="2101" y="8595"/>
                  </a:lnTo>
                  <a:lnTo>
                    <a:pt x="615" y="7160"/>
                  </a:lnTo>
                  <a:lnTo>
                    <a:pt x="1127" y="5878"/>
                  </a:lnTo>
                  <a:lnTo>
                    <a:pt x="3178" y="5981"/>
                  </a:lnTo>
                  <a:lnTo>
                    <a:pt x="3588" y="5417"/>
                  </a:lnTo>
                  <a:lnTo>
                    <a:pt x="2819" y="3520"/>
                  </a:lnTo>
                  <a:lnTo>
                    <a:pt x="3742" y="2597"/>
                  </a:lnTo>
                  <a:lnTo>
                    <a:pt x="5536" y="3417"/>
                  </a:lnTo>
                  <a:lnTo>
                    <a:pt x="6049" y="3058"/>
                  </a:lnTo>
                  <a:lnTo>
                    <a:pt x="6100" y="1264"/>
                  </a:lnTo>
                  <a:lnTo>
                    <a:pt x="7228" y="700"/>
                  </a:lnTo>
                  <a:lnTo>
                    <a:pt x="8510" y="2033"/>
                  </a:lnTo>
                  <a:lnTo>
                    <a:pt x="9689" y="1725"/>
                  </a:lnTo>
                  <a:close/>
                  <a:moveTo>
                    <a:pt x="10817" y="14422"/>
                  </a:moveTo>
                  <a:lnTo>
                    <a:pt x="11175" y="14388"/>
                  </a:lnTo>
                  <a:lnTo>
                    <a:pt x="11534" y="14354"/>
                  </a:lnTo>
                  <a:lnTo>
                    <a:pt x="11893" y="14268"/>
                  </a:lnTo>
                  <a:lnTo>
                    <a:pt x="12218" y="14166"/>
                  </a:lnTo>
                  <a:lnTo>
                    <a:pt x="12508" y="13995"/>
                  </a:lnTo>
                  <a:lnTo>
                    <a:pt x="12816" y="13807"/>
                  </a:lnTo>
                  <a:lnTo>
                    <a:pt x="13106" y="13602"/>
                  </a:lnTo>
                  <a:lnTo>
                    <a:pt x="13329" y="13380"/>
                  </a:lnTo>
                  <a:lnTo>
                    <a:pt x="13568" y="13106"/>
                  </a:lnTo>
                  <a:lnTo>
                    <a:pt x="13790" y="12850"/>
                  </a:lnTo>
                  <a:lnTo>
                    <a:pt x="13961" y="12560"/>
                  </a:lnTo>
                  <a:lnTo>
                    <a:pt x="14115" y="12269"/>
                  </a:lnTo>
                  <a:lnTo>
                    <a:pt x="14217" y="11927"/>
                  </a:lnTo>
                  <a:lnTo>
                    <a:pt x="14320" y="11568"/>
                  </a:lnTo>
                  <a:lnTo>
                    <a:pt x="14388" y="11210"/>
                  </a:lnTo>
                  <a:lnTo>
                    <a:pt x="14388" y="10851"/>
                  </a:lnTo>
                  <a:lnTo>
                    <a:pt x="14388" y="10492"/>
                  </a:lnTo>
                  <a:lnTo>
                    <a:pt x="14320" y="10133"/>
                  </a:lnTo>
                  <a:lnTo>
                    <a:pt x="14217" y="9808"/>
                  </a:lnTo>
                  <a:lnTo>
                    <a:pt x="14115" y="9467"/>
                  </a:lnTo>
                  <a:lnTo>
                    <a:pt x="13961" y="9142"/>
                  </a:lnTo>
                  <a:lnTo>
                    <a:pt x="13790" y="8851"/>
                  </a:lnTo>
                  <a:lnTo>
                    <a:pt x="13568" y="8595"/>
                  </a:lnTo>
                  <a:lnTo>
                    <a:pt x="13329" y="8322"/>
                  </a:lnTo>
                  <a:lnTo>
                    <a:pt x="13106" y="8100"/>
                  </a:lnTo>
                  <a:lnTo>
                    <a:pt x="12816" y="7894"/>
                  </a:lnTo>
                  <a:lnTo>
                    <a:pt x="12508" y="7741"/>
                  </a:lnTo>
                  <a:lnTo>
                    <a:pt x="12218" y="7570"/>
                  </a:lnTo>
                  <a:lnTo>
                    <a:pt x="11893" y="7433"/>
                  </a:lnTo>
                  <a:lnTo>
                    <a:pt x="11534" y="7382"/>
                  </a:lnTo>
                  <a:lnTo>
                    <a:pt x="11175" y="7313"/>
                  </a:lnTo>
                  <a:lnTo>
                    <a:pt x="10817" y="7313"/>
                  </a:lnTo>
                  <a:lnTo>
                    <a:pt x="10441" y="7313"/>
                  </a:lnTo>
                  <a:lnTo>
                    <a:pt x="10082" y="7382"/>
                  </a:lnTo>
                  <a:lnTo>
                    <a:pt x="9757" y="7433"/>
                  </a:lnTo>
                  <a:lnTo>
                    <a:pt x="9432" y="7570"/>
                  </a:lnTo>
                  <a:lnTo>
                    <a:pt x="9142" y="7741"/>
                  </a:lnTo>
                  <a:lnTo>
                    <a:pt x="8834" y="7894"/>
                  </a:lnTo>
                  <a:lnTo>
                    <a:pt x="8544" y="8100"/>
                  </a:lnTo>
                  <a:lnTo>
                    <a:pt x="8287" y="8322"/>
                  </a:lnTo>
                  <a:lnTo>
                    <a:pt x="8048" y="8595"/>
                  </a:lnTo>
                  <a:lnTo>
                    <a:pt x="7860" y="8851"/>
                  </a:lnTo>
                  <a:lnTo>
                    <a:pt x="7689" y="9142"/>
                  </a:lnTo>
                  <a:lnTo>
                    <a:pt x="7536" y="9467"/>
                  </a:lnTo>
                  <a:lnTo>
                    <a:pt x="7399" y="9808"/>
                  </a:lnTo>
                  <a:lnTo>
                    <a:pt x="7331" y="10133"/>
                  </a:lnTo>
                  <a:lnTo>
                    <a:pt x="7262" y="10492"/>
                  </a:lnTo>
                  <a:lnTo>
                    <a:pt x="7262" y="10851"/>
                  </a:lnTo>
                  <a:lnTo>
                    <a:pt x="7262" y="11210"/>
                  </a:lnTo>
                  <a:lnTo>
                    <a:pt x="7331" y="11568"/>
                  </a:lnTo>
                  <a:lnTo>
                    <a:pt x="7399" y="11927"/>
                  </a:lnTo>
                  <a:lnTo>
                    <a:pt x="7536" y="12269"/>
                  </a:lnTo>
                  <a:lnTo>
                    <a:pt x="7689" y="12560"/>
                  </a:lnTo>
                  <a:lnTo>
                    <a:pt x="7860" y="12850"/>
                  </a:lnTo>
                  <a:lnTo>
                    <a:pt x="8048" y="13106"/>
                  </a:lnTo>
                  <a:lnTo>
                    <a:pt x="8287" y="13380"/>
                  </a:lnTo>
                  <a:lnTo>
                    <a:pt x="8544" y="13602"/>
                  </a:lnTo>
                  <a:lnTo>
                    <a:pt x="8834" y="13807"/>
                  </a:lnTo>
                  <a:lnTo>
                    <a:pt x="9142" y="13995"/>
                  </a:lnTo>
                  <a:lnTo>
                    <a:pt x="9432" y="14166"/>
                  </a:lnTo>
                  <a:lnTo>
                    <a:pt x="9757" y="14268"/>
                  </a:lnTo>
                  <a:lnTo>
                    <a:pt x="10082" y="14354"/>
                  </a:lnTo>
                  <a:lnTo>
                    <a:pt x="10441" y="14388"/>
                  </a:lnTo>
                  <a:lnTo>
                    <a:pt x="10817" y="14422"/>
                  </a:lnTo>
                  <a:close/>
                </a:path>
              </a:pathLst>
            </a:custGeom>
            <a:solidFill>
              <a:srgbClr val="C0C0C0"/>
            </a:solidFill>
            <a:ln w="9525">
              <a:round/>
              <a:headEnd/>
              <a:tailEnd/>
            </a:ln>
            <a:scene3d>
              <a:camera prst="legacyPerspectiveFront">
                <a:rot lat="20099957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/>
            <a:p>
              <a:endParaRPr lang="en-IN"/>
            </a:p>
          </p:txBody>
        </p:sp>
      </p:grpSp>
      <p:grpSp>
        <p:nvGrpSpPr>
          <p:cNvPr id="94" name="Group 23"/>
          <p:cNvGrpSpPr>
            <a:grpSpLocks/>
          </p:cNvGrpSpPr>
          <p:nvPr/>
        </p:nvGrpSpPr>
        <p:grpSpPr bwMode="auto">
          <a:xfrm>
            <a:off x="3263900" y="1700213"/>
            <a:ext cx="2624138" cy="1839912"/>
            <a:chOff x="2056" y="1180"/>
            <a:chExt cx="1653" cy="1159"/>
          </a:xfrm>
        </p:grpSpPr>
        <p:sp>
          <p:nvSpPr>
            <p:cNvPr id="21550" name="Rectangle 24"/>
            <p:cNvSpPr>
              <a:spLocks noChangeArrowheads="1"/>
            </p:cNvSpPr>
            <p:nvPr/>
          </p:nvSpPr>
          <p:spPr bwMode="auto">
            <a:xfrm>
              <a:off x="2056" y="1180"/>
              <a:ext cx="1653" cy="107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51" name="Text Box 25"/>
            <p:cNvSpPr txBox="1">
              <a:spLocks noChangeArrowheads="1"/>
            </p:cNvSpPr>
            <p:nvPr/>
          </p:nvSpPr>
          <p:spPr bwMode="auto">
            <a:xfrm>
              <a:off x="2230" y="2108"/>
              <a:ext cx="12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</a:t>
              </a:r>
            </a:p>
          </p:txBody>
        </p:sp>
        <p:grpSp>
          <p:nvGrpSpPr>
            <p:cNvPr id="21552" name="Group 26"/>
            <p:cNvGrpSpPr>
              <a:grpSpLocks/>
            </p:cNvGrpSpPr>
            <p:nvPr/>
          </p:nvGrpSpPr>
          <p:grpSpPr bwMode="auto">
            <a:xfrm>
              <a:off x="2103" y="1678"/>
              <a:ext cx="1595" cy="396"/>
              <a:chOff x="2103" y="1678"/>
              <a:chExt cx="1595" cy="396"/>
            </a:xfrm>
          </p:grpSpPr>
          <p:sp>
            <p:nvSpPr>
              <p:cNvPr id="21556" name="Rectangle 27"/>
              <p:cNvSpPr>
                <a:spLocks noChangeArrowheads="1"/>
              </p:cNvSpPr>
              <p:nvPr/>
            </p:nvSpPr>
            <p:spPr bwMode="auto">
              <a:xfrm>
                <a:off x="2103" y="1678"/>
                <a:ext cx="1535" cy="375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1557" name="Group 28"/>
              <p:cNvGrpSpPr>
                <a:grpSpLocks/>
              </p:cNvGrpSpPr>
              <p:nvPr/>
            </p:nvGrpSpPr>
            <p:grpSpPr bwMode="auto">
              <a:xfrm>
                <a:off x="2164" y="1740"/>
                <a:ext cx="1535" cy="334"/>
                <a:chOff x="2164" y="1740"/>
                <a:chExt cx="1535" cy="334"/>
              </a:xfrm>
            </p:grpSpPr>
            <p:grpSp>
              <p:nvGrpSpPr>
                <p:cNvPr id="21558" name="Group 29"/>
                <p:cNvGrpSpPr>
                  <a:grpSpLocks/>
                </p:cNvGrpSpPr>
                <p:nvPr/>
              </p:nvGrpSpPr>
              <p:grpSpPr bwMode="auto">
                <a:xfrm>
                  <a:off x="2164" y="1740"/>
                  <a:ext cx="914" cy="231"/>
                  <a:chOff x="2164" y="1740"/>
                  <a:chExt cx="914" cy="231"/>
                </a:xfrm>
              </p:grpSpPr>
              <p:graphicFrame>
                <p:nvGraphicFramePr>
                  <p:cNvPr id="21560" name="Object 30"/>
                  <p:cNvGraphicFramePr>
                    <a:graphicFrameLocks noChangeAspect="1"/>
                  </p:cNvGraphicFramePr>
                  <p:nvPr/>
                </p:nvGraphicFramePr>
                <p:xfrm>
                  <a:off x="2164" y="1740"/>
                  <a:ext cx="914" cy="2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149" r:id="rId3" imgW="2209524" imgH="581106" progId="">
                          <p:embed/>
                        </p:oleObj>
                      </mc:Choice>
                      <mc:Fallback>
                        <p:oleObj r:id="rId3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164" y="1740"/>
                                <a:ext cx="914" cy="2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61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2164" y="1740"/>
                    <a:ext cx="914" cy="231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59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3001" y="1745"/>
                  <a:ext cx="697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Virtualized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53" name="Group 33"/>
            <p:cNvGrpSpPr>
              <a:grpSpLocks/>
            </p:cNvGrpSpPr>
            <p:nvPr/>
          </p:nvGrpSpPr>
          <p:grpSpPr bwMode="auto">
            <a:xfrm>
              <a:off x="2111" y="1257"/>
              <a:ext cx="1527" cy="354"/>
              <a:chOff x="2111" y="1257"/>
              <a:chExt cx="1527" cy="354"/>
            </a:xfrm>
          </p:grpSpPr>
          <p:sp>
            <p:nvSpPr>
              <p:cNvPr id="21554" name="Rectangle 34"/>
              <p:cNvSpPr>
                <a:spLocks noChangeArrowheads="1"/>
              </p:cNvSpPr>
              <p:nvPr/>
            </p:nvSpPr>
            <p:spPr bwMode="auto">
              <a:xfrm>
                <a:off x="2111" y="1257"/>
                <a:ext cx="1527" cy="336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555" name="Text Box 35"/>
              <p:cNvSpPr txBox="1">
                <a:spLocks noChangeArrowheads="1"/>
              </p:cNvSpPr>
              <p:nvPr/>
            </p:nvSpPr>
            <p:spPr bwMode="auto">
              <a:xfrm>
                <a:off x="2448" y="1380"/>
                <a:ext cx="91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Guest OS</a:t>
                </a:r>
              </a:p>
            </p:txBody>
          </p:sp>
        </p:grpSp>
      </p:grpSp>
      <p:grpSp>
        <p:nvGrpSpPr>
          <p:cNvPr id="108" name="Group 36"/>
          <p:cNvGrpSpPr>
            <a:grpSpLocks/>
          </p:cNvGrpSpPr>
          <p:nvPr/>
        </p:nvGrpSpPr>
        <p:grpSpPr bwMode="auto">
          <a:xfrm>
            <a:off x="422275" y="1700213"/>
            <a:ext cx="2697163" cy="1839912"/>
            <a:chOff x="266" y="1180"/>
            <a:chExt cx="1699" cy="1159"/>
          </a:xfrm>
        </p:grpSpPr>
        <p:sp>
          <p:nvSpPr>
            <p:cNvPr id="21538" name="Rectangle 37"/>
            <p:cNvSpPr>
              <a:spLocks noChangeArrowheads="1"/>
            </p:cNvSpPr>
            <p:nvPr/>
          </p:nvSpPr>
          <p:spPr bwMode="auto">
            <a:xfrm>
              <a:off x="266" y="1180"/>
              <a:ext cx="1699" cy="1077"/>
            </a:xfrm>
            <a:prstGeom prst="rect">
              <a:avLst/>
            </a:prstGeom>
            <a:solidFill>
              <a:srgbClr val="CCFFFF"/>
            </a:solidFill>
            <a:ln w="9360" cap="sq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1539" name="Text Box 38"/>
            <p:cNvSpPr txBox="1">
              <a:spLocks noChangeArrowheads="1"/>
            </p:cNvSpPr>
            <p:nvPr/>
          </p:nvSpPr>
          <p:spPr bwMode="auto">
            <a:xfrm>
              <a:off x="445" y="2108"/>
              <a:ext cx="1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lnSpc>
                  <a:spcPct val="90000"/>
                </a:lnSpc>
                <a:spcBef>
                  <a:spcPts val="1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2"/>
                  </a:solidFill>
                  <a:latin typeface="Corbel" panose="020B0503020204020204" pitchFamily="34" charset="0"/>
                </a:defRPr>
              </a:lvl1pPr>
              <a:lvl2pPr marL="593725" indent="-228600">
                <a:lnSpc>
                  <a:spcPct val="90000"/>
                </a:lnSpc>
                <a:spcBef>
                  <a:spcPts val="1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2"/>
                  </a:solidFill>
                  <a:latin typeface="Corbel" panose="020B0503020204020204" pitchFamily="34" charset="0"/>
                </a:defRPr>
              </a:lvl2pPr>
              <a:lvl3pPr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solidFill>
                    <a:schemeClr val="tx2"/>
                  </a:solidFill>
                  <a:latin typeface="Corbel" panose="020B0503020204020204" pitchFamily="34" charset="0"/>
                </a:defRPr>
              </a:lvl3pPr>
              <a:lvl4pPr marL="1233488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4pPr>
              <a:lvl5pPr marL="1554163" indent="-228600">
                <a:lnSpc>
                  <a:spcPct val="90000"/>
                </a:lnSpc>
                <a:spcBef>
                  <a:spcPts val="8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5pPr>
              <a:lvl6pPr marL="20113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6pPr>
              <a:lvl7pPr marL="24685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7pPr>
              <a:lvl8pPr marL="29257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8pPr>
              <a:lvl9pPr marL="3382963" indent="-228600" eaLnBrk="0" fontAlgn="base" hangingPunct="0">
                <a:lnSpc>
                  <a:spcPct val="90000"/>
                </a:lnSpc>
                <a:spcBef>
                  <a:spcPts val="800"/>
                </a:spcBef>
                <a:spcAft>
                  <a:spcPct val="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solidFill>
                    <a:schemeClr val="tx2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50000"/>
                </a:lnSpc>
                <a:spcBef>
                  <a:spcPts val="1125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Arial" panose="020B0604020202020204" pitchFamily="34" charset="0"/>
                  <a:cs typeface="Noto Sans CJK SC Regular" charset="0"/>
                </a:rPr>
                <a:t>Virtual Machine</a:t>
              </a:r>
            </a:p>
          </p:txBody>
        </p:sp>
        <p:grpSp>
          <p:nvGrpSpPr>
            <p:cNvPr id="21540" name="Group 39"/>
            <p:cNvGrpSpPr>
              <a:grpSpLocks/>
            </p:cNvGrpSpPr>
            <p:nvPr/>
          </p:nvGrpSpPr>
          <p:grpSpPr bwMode="auto">
            <a:xfrm>
              <a:off x="315" y="1678"/>
              <a:ext cx="1640" cy="396"/>
              <a:chOff x="315" y="1678"/>
              <a:chExt cx="1640" cy="396"/>
            </a:xfrm>
          </p:grpSpPr>
          <p:sp>
            <p:nvSpPr>
              <p:cNvPr id="21544" name="Rectangle 40"/>
              <p:cNvSpPr>
                <a:spLocks noChangeArrowheads="1"/>
              </p:cNvSpPr>
              <p:nvPr/>
            </p:nvSpPr>
            <p:spPr bwMode="auto">
              <a:xfrm>
                <a:off x="315" y="1678"/>
                <a:ext cx="1578" cy="375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21545" name="Group 41"/>
              <p:cNvGrpSpPr>
                <a:grpSpLocks/>
              </p:cNvGrpSpPr>
              <p:nvPr/>
            </p:nvGrpSpPr>
            <p:grpSpPr bwMode="auto">
              <a:xfrm>
                <a:off x="377" y="1740"/>
                <a:ext cx="1578" cy="334"/>
                <a:chOff x="377" y="1740"/>
                <a:chExt cx="1578" cy="334"/>
              </a:xfrm>
            </p:grpSpPr>
            <p:grpSp>
              <p:nvGrpSpPr>
                <p:cNvPr id="21546" name="Group 42"/>
                <p:cNvGrpSpPr>
                  <a:grpSpLocks/>
                </p:cNvGrpSpPr>
                <p:nvPr/>
              </p:nvGrpSpPr>
              <p:grpSpPr bwMode="auto">
                <a:xfrm>
                  <a:off x="377" y="1740"/>
                  <a:ext cx="939" cy="231"/>
                  <a:chOff x="377" y="1740"/>
                  <a:chExt cx="939" cy="231"/>
                </a:xfrm>
              </p:grpSpPr>
              <p:graphicFrame>
                <p:nvGraphicFramePr>
                  <p:cNvPr id="21548" name="Object 43"/>
                  <p:cNvGraphicFramePr>
                    <a:graphicFrameLocks noChangeAspect="1"/>
                  </p:cNvGraphicFramePr>
                  <p:nvPr/>
                </p:nvGraphicFramePr>
                <p:xfrm>
                  <a:off x="377" y="1740"/>
                  <a:ext cx="939" cy="231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150" r:id="rId5" imgW="2209524" imgH="581106" progId="">
                          <p:embed/>
                        </p:oleObj>
                      </mc:Choice>
                      <mc:Fallback>
                        <p:oleObj r:id="rId5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7" y="1740"/>
                                <a:ext cx="939" cy="231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49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77" y="1740"/>
                    <a:ext cx="939" cy="231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47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1238" y="1745"/>
                  <a:ext cx="717" cy="3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Virtualized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87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400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41" name="Group 46"/>
            <p:cNvGrpSpPr>
              <a:grpSpLocks/>
            </p:cNvGrpSpPr>
            <p:nvPr/>
          </p:nvGrpSpPr>
          <p:grpSpPr bwMode="auto">
            <a:xfrm>
              <a:off x="323" y="1257"/>
              <a:ext cx="1569" cy="354"/>
              <a:chOff x="323" y="1257"/>
              <a:chExt cx="1569" cy="354"/>
            </a:xfrm>
          </p:grpSpPr>
          <p:sp>
            <p:nvSpPr>
              <p:cNvPr id="21542" name="Rectangle 47"/>
              <p:cNvSpPr>
                <a:spLocks noChangeArrowheads="1"/>
              </p:cNvSpPr>
              <p:nvPr/>
            </p:nvSpPr>
            <p:spPr bwMode="auto">
              <a:xfrm>
                <a:off x="323" y="1257"/>
                <a:ext cx="1569" cy="336"/>
              </a:xfrm>
              <a:prstGeom prst="rect">
                <a:avLst/>
              </a:prstGeom>
              <a:solidFill>
                <a:srgbClr val="C0C0C0"/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1543" name="Text Box 48"/>
              <p:cNvSpPr txBox="1">
                <a:spLocks noChangeArrowheads="1"/>
              </p:cNvSpPr>
              <p:nvPr/>
            </p:nvSpPr>
            <p:spPr bwMode="auto">
              <a:xfrm>
                <a:off x="669" y="1380"/>
                <a:ext cx="93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Guest OS</a:t>
                </a:r>
              </a:p>
            </p:txBody>
          </p:sp>
        </p:grpSp>
      </p:grpSp>
      <p:grpSp>
        <p:nvGrpSpPr>
          <p:cNvPr id="123" name="Group 73"/>
          <p:cNvGrpSpPr>
            <a:grpSpLocks/>
          </p:cNvGrpSpPr>
          <p:nvPr/>
        </p:nvGrpSpPr>
        <p:grpSpPr bwMode="auto">
          <a:xfrm>
            <a:off x="76200" y="4267200"/>
            <a:ext cx="5943600" cy="2133600"/>
            <a:chOff x="76200" y="4439528"/>
            <a:chExt cx="5943600" cy="2133600"/>
          </a:xfrm>
        </p:grpSpPr>
        <p:sp>
          <p:nvSpPr>
            <p:cNvPr id="124" name="Rectangle 123"/>
            <p:cNvSpPr/>
            <p:nvPr/>
          </p:nvSpPr>
          <p:spPr bwMode="auto">
            <a:xfrm>
              <a:off x="76200" y="4439528"/>
              <a:ext cx="5943600" cy="21336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Times New Roman" pitchFamily="16" charset="0"/>
                <a:buNone/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grpSp>
          <p:nvGrpSpPr>
            <p:cNvPr id="21527" name="Group 62"/>
            <p:cNvGrpSpPr>
              <a:grpSpLocks/>
            </p:cNvGrpSpPr>
            <p:nvPr/>
          </p:nvGrpSpPr>
          <p:grpSpPr bwMode="auto">
            <a:xfrm>
              <a:off x="450850" y="5313363"/>
              <a:ext cx="5476875" cy="1114425"/>
              <a:chOff x="284" y="3347"/>
              <a:chExt cx="3450" cy="702"/>
            </a:xfrm>
          </p:grpSpPr>
          <p:sp>
            <p:nvSpPr>
              <p:cNvPr id="20508" name="Rectangle 2"/>
              <p:cNvSpPr>
                <a:spLocks noChangeArrowheads="1"/>
              </p:cNvSpPr>
              <p:nvPr/>
            </p:nvSpPr>
            <p:spPr bwMode="auto">
              <a:xfrm>
                <a:off x="284" y="3347"/>
                <a:ext cx="3450" cy="70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mtClean="0"/>
              </a:p>
            </p:txBody>
          </p:sp>
          <p:grpSp>
            <p:nvGrpSpPr>
              <p:cNvPr id="21533" name="Group 64"/>
              <p:cNvGrpSpPr>
                <a:grpSpLocks/>
              </p:cNvGrpSpPr>
              <p:nvPr/>
            </p:nvGrpSpPr>
            <p:grpSpPr bwMode="auto">
              <a:xfrm>
                <a:off x="376" y="3415"/>
                <a:ext cx="3297" cy="566"/>
                <a:chOff x="376" y="3415"/>
                <a:chExt cx="3297" cy="566"/>
              </a:xfrm>
            </p:grpSpPr>
            <p:grpSp>
              <p:nvGrpSpPr>
                <p:cNvPr id="21534" name="Group 65"/>
                <p:cNvGrpSpPr>
                  <a:grpSpLocks/>
                </p:cNvGrpSpPr>
                <p:nvPr/>
              </p:nvGrpSpPr>
              <p:grpSpPr bwMode="auto">
                <a:xfrm>
                  <a:off x="376" y="3415"/>
                  <a:ext cx="2517" cy="566"/>
                  <a:chOff x="376" y="3415"/>
                  <a:chExt cx="2517" cy="566"/>
                </a:xfrm>
              </p:grpSpPr>
              <p:graphicFrame>
                <p:nvGraphicFramePr>
                  <p:cNvPr id="21536" name="Object 5"/>
                  <p:cNvGraphicFramePr>
                    <a:graphicFrameLocks noChangeAspect="1"/>
                  </p:cNvGraphicFramePr>
                  <p:nvPr/>
                </p:nvGraphicFramePr>
                <p:xfrm>
                  <a:off x="376" y="3415"/>
                  <a:ext cx="2517" cy="56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4151" r:id="rId6" imgW="2209524" imgH="581106" progId="">
                          <p:embed/>
                        </p:oleObj>
                      </mc:Choice>
                      <mc:Fallback>
                        <p:oleObj r:id="rId6" imgW="2209524" imgH="581106" progId="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76" y="3415"/>
                                <a:ext cx="2517" cy="56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blipFill dpi="0" rotWithShape="0">
                                      <a:blip/>
                                      <a:srcRect/>
                                      <a:stretch>
                                        <a:fillRect/>
                                      </a:stretch>
                                    </a:blip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rgbClr val="808080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537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376" y="3415"/>
                    <a:ext cx="2517" cy="566"/>
                  </a:xfrm>
                  <a:prstGeom prst="rect">
                    <a:avLst/>
                  </a:prstGeom>
                  <a:noFill/>
                  <a:ln w="12600" cap="sq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lang="en-US" altLang="en-US"/>
                  </a:p>
                </p:txBody>
              </p:sp>
            </p:grpSp>
            <p:sp>
              <p:nvSpPr>
                <p:cNvPr id="21535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893" y="3527"/>
                  <a:ext cx="780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1pPr>
                  <a:lvl2pPr marL="593725" indent="-228600">
                    <a:lnSpc>
                      <a:spcPct val="90000"/>
                    </a:lnSpc>
                    <a:spcBef>
                      <a:spcPts val="10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8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2pPr>
                  <a:lvl3pPr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6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3pPr>
                  <a:lvl4pPr marL="1233488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4pPr>
                  <a:lvl5pPr marL="1554163" indent="-228600">
                    <a:lnSpc>
                      <a:spcPct val="90000"/>
                    </a:lnSpc>
                    <a:spcBef>
                      <a:spcPts val="800"/>
                    </a:spcBef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5pPr>
                  <a:lvl6pPr marL="20113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6pPr>
                  <a:lvl7pPr marL="24685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7pPr>
                  <a:lvl8pPr marL="29257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8pPr>
                  <a:lvl9pPr marL="3382963" indent="-228600" eaLnBrk="0" fontAlgn="base" hangingPunct="0">
                    <a:lnSpc>
                      <a:spcPct val="90000"/>
                    </a:lnSpc>
                    <a:spcBef>
                      <a:spcPts val="8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80000"/>
                    <a:buFont typeface="Wingdings" panose="05000000000000000000" pitchFamily="2" charset="2"/>
                    <a:buChar char="§"/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400">
                      <a:solidFill>
                        <a:schemeClr val="tx2"/>
                      </a:solidFill>
                      <a:latin typeface="Corbel" panose="020B0503020204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Physical</a:t>
                  </a:r>
                </a:p>
                <a:p>
                  <a:pPr algn="ctr" eaLnBrk="1" hangingPunct="1">
                    <a:lnSpc>
                      <a:spcPct val="50000"/>
                    </a:lnSpc>
                    <a:spcBef>
                      <a:spcPts val="1125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 b="1">
                      <a:solidFill>
                        <a:srgbClr val="000000"/>
                      </a:solidFill>
                      <a:latin typeface="Arial" panose="020B0604020202020204" pitchFamily="34" charset="0"/>
                      <a:cs typeface="Noto Sans CJK SC Regular" charset="0"/>
                    </a:rPr>
                    <a:t>Hardware</a:t>
                  </a:r>
                </a:p>
              </p:txBody>
            </p:sp>
          </p:grpSp>
        </p:grpSp>
        <p:grpSp>
          <p:nvGrpSpPr>
            <p:cNvPr id="21528" name="Group 8"/>
            <p:cNvGrpSpPr>
              <a:grpSpLocks/>
            </p:cNvGrpSpPr>
            <p:nvPr/>
          </p:nvGrpSpPr>
          <p:grpSpPr bwMode="auto">
            <a:xfrm>
              <a:off x="457200" y="4511675"/>
              <a:ext cx="5470525" cy="646113"/>
              <a:chOff x="256" y="2842"/>
              <a:chExt cx="3478" cy="407"/>
            </a:xfrm>
          </p:grpSpPr>
          <p:sp>
            <p:nvSpPr>
              <p:cNvPr id="20506" name="Rectangle 9"/>
              <p:cNvSpPr>
                <a:spLocks noChangeArrowheads="1"/>
              </p:cNvSpPr>
              <p:nvPr/>
            </p:nvSpPr>
            <p:spPr bwMode="auto">
              <a:xfrm>
                <a:off x="256" y="2842"/>
                <a:ext cx="3478" cy="407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360" cap="sq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mtClean="0"/>
              </a:p>
            </p:txBody>
          </p:sp>
          <p:sp>
            <p:nvSpPr>
              <p:cNvPr id="21531" name="Text Box 10"/>
              <p:cNvSpPr txBox="1">
                <a:spLocks noChangeArrowheads="1"/>
              </p:cNvSpPr>
              <p:nvPr/>
            </p:nvSpPr>
            <p:spPr bwMode="auto">
              <a:xfrm>
                <a:off x="1022" y="2991"/>
                <a:ext cx="208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1pPr>
                <a:lvl2pPr marL="593725" indent="-228600">
                  <a:lnSpc>
                    <a:spcPct val="90000"/>
                  </a:lnSpc>
                  <a:spcBef>
                    <a:spcPts val="10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2pPr>
                <a:lvl3pPr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3pPr>
                <a:lvl4pPr marL="1233488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4pPr>
                <a:lvl5pPr marL="1554163" indent="-228600">
                  <a:lnSpc>
                    <a:spcPct val="90000"/>
                  </a:lnSpc>
                  <a:spcBef>
                    <a:spcPts val="800"/>
                  </a:spcBef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5pPr>
                <a:lvl6pPr marL="20113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6pPr>
                <a:lvl7pPr marL="24685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7pPr>
                <a:lvl8pPr marL="29257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8pPr>
                <a:lvl9pPr marL="3382963" indent="-228600" eaLnBrk="0" fontAlgn="base" hangingPunct="0">
                  <a:lnSpc>
                    <a:spcPct val="9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solidFill>
                      <a:schemeClr val="tx2"/>
                    </a:solidFill>
                    <a:latin typeface="Corbel" panose="020B0503020204020204" pitchFamily="34" charset="0"/>
                  </a:defRPr>
                </a:lvl9pPr>
              </a:lstStyle>
              <a:p>
                <a:pPr algn="ctr" eaLnBrk="1" hangingPunct="1">
                  <a:lnSpc>
                    <a:spcPct val="50000"/>
                  </a:lnSpc>
                  <a:spcBef>
                    <a:spcPts val="1125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000000"/>
                    </a:solidFill>
                    <a:latin typeface="Arial" panose="020B0604020202020204" pitchFamily="34" charset="0"/>
                    <a:cs typeface="Noto Sans CJK SC Regular" charset="0"/>
                  </a:rPr>
                  <a:t>Host Operating System</a:t>
                </a:r>
              </a:p>
            </p:txBody>
          </p:sp>
        </p:grpSp>
        <p:sp>
          <p:nvSpPr>
            <p:cNvPr id="21529" name="TextBox 72"/>
            <p:cNvSpPr txBox="1">
              <a:spLocks noChangeArrowheads="1"/>
            </p:cNvSpPr>
            <p:nvPr/>
          </p:nvSpPr>
          <p:spPr bwMode="auto">
            <a:xfrm rot="-5400000">
              <a:off x="-522516" y="5301342"/>
              <a:ext cx="16002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b="1"/>
                <a:t>Blade Server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6477000" y="838200"/>
            <a:ext cx="5507830" cy="2540219"/>
            <a:chOff x="6477000" y="838200"/>
            <a:chExt cx="5507830" cy="2540219"/>
          </a:xfrm>
        </p:grpSpPr>
        <p:grpSp>
          <p:nvGrpSpPr>
            <p:cNvPr id="66" name="Group 110"/>
            <p:cNvGrpSpPr>
              <a:grpSpLocks/>
            </p:cNvGrpSpPr>
            <p:nvPr/>
          </p:nvGrpSpPr>
          <p:grpSpPr bwMode="auto">
            <a:xfrm>
              <a:off x="7877175" y="838200"/>
              <a:ext cx="2449513" cy="1898650"/>
              <a:chOff x="4104" y="975"/>
              <a:chExt cx="1543" cy="1196"/>
            </a:xfrm>
          </p:grpSpPr>
          <p:sp>
            <p:nvSpPr>
              <p:cNvPr id="67" name="Text Box 22"/>
              <p:cNvSpPr txBox="1">
                <a:spLocks noChangeArrowheads="1"/>
              </p:cNvSpPr>
              <p:nvPr/>
            </p:nvSpPr>
            <p:spPr bwMode="auto">
              <a:xfrm>
                <a:off x="4285" y="1979"/>
                <a:ext cx="136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400">
                    <a:solidFill>
                      <a:schemeClr val="tx1"/>
                    </a:solidFill>
                  </a:rPr>
                  <a:t>VMware ESX,  Xen</a:t>
                </a:r>
              </a:p>
            </p:txBody>
          </p:sp>
          <p:sp>
            <p:nvSpPr>
              <p:cNvPr id="68" name="Text Box 14"/>
              <p:cNvSpPr txBox="1">
                <a:spLocks noChangeArrowheads="1"/>
              </p:cNvSpPr>
              <p:nvPr/>
            </p:nvSpPr>
            <p:spPr bwMode="auto">
              <a:xfrm>
                <a:off x="4104" y="1707"/>
                <a:ext cx="1497" cy="218"/>
              </a:xfrm>
              <a:prstGeom prst="rect">
                <a:avLst/>
              </a:prstGeom>
              <a:solidFill>
                <a:srgbClr val="FF6400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600" dirty="0">
                    <a:solidFill>
                      <a:schemeClr val="tx1"/>
                    </a:solidFill>
                  </a:rPr>
                  <a:t>Hardware</a:t>
                </a:r>
              </a:p>
            </p:txBody>
          </p:sp>
          <p:sp>
            <p:nvSpPr>
              <p:cNvPr id="69" name="Text Box 17"/>
              <p:cNvSpPr txBox="1">
                <a:spLocks noChangeArrowheads="1"/>
              </p:cNvSpPr>
              <p:nvPr/>
            </p:nvSpPr>
            <p:spPr bwMode="auto">
              <a:xfrm>
                <a:off x="4104" y="1480"/>
                <a:ext cx="1496" cy="218"/>
              </a:xfrm>
              <a:prstGeom prst="rect">
                <a:avLst/>
              </a:prstGeom>
              <a:solidFill>
                <a:srgbClr val="99CC00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600" dirty="0">
                    <a:solidFill>
                      <a:schemeClr val="tx1"/>
                    </a:solidFill>
                  </a:rPr>
                  <a:t>Hypervisor</a:t>
                </a:r>
              </a:p>
            </p:txBody>
          </p:sp>
          <p:sp>
            <p:nvSpPr>
              <p:cNvPr id="70" name="Text Box 18"/>
              <p:cNvSpPr txBox="1">
                <a:spLocks noChangeArrowheads="1"/>
              </p:cNvSpPr>
              <p:nvPr/>
            </p:nvSpPr>
            <p:spPr bwMode="auto">
              <a:xfrm>
                <a:off x="4104" y="1253"/>
                <a:ext cx="725" cy="218"/>
              </a:xfrm>
              <a:prstGeom prst="rect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600">
                    <a:solidFill>
                      <a:schemeClr val="tx1"/>
                    </a:solidFill>
                  </a:rPr>
                  <a:t>VM1</a:t>
                </a:r>
              </a:p>
            </p:txBody>
          </p:sp>
          <p:sp>
            <p:nvSpPr>
              <p:cNvPr id="71" name="Text Box 19"/>
              <p:cNvSpPr txBox="1">
                <a:spLocks noChangeArrowheads="1"/>
              </p:cNvSpPr>
              <p:nvPr/>
            </p:nvSpPr>
            <p:spPr bwMode="auto">
              <a:xfrm>
                <a:off x="4875" y="1253"/>
                <a:ext cx="725" cy="218"/>
              </a:xfrm>
              <a:prstGeom prst="rect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600">
                    <a:solidFill>
                      <a:schemeClr val="tx1"/>
                    </a:solidFill>
                  </a:rPr>
                  <a:t>VM2</a:t>
                </a:r>
              </a:p>
            </p:txBody>
          </p:sp>
          <p:sp>
            <p:nvSpPr>
              <p:cNvPr id="72" name="Text Box 20"/>
              <p:cNvSpPr txBox="1">
                <a:spLocks noChangeArrowheads="1"/>
              </p:cNvSpPr>
              <p:nvPr/>
            </p:nvSpPr>
            <p:spPr bwMode="auto">
              <a:xfrm>
                <a:off x="4269" y="975"/>
                <a:ext cx="124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600">
                    <a:solidFill>
                      <a:schemeClr val="tx1"/>
                    </a:solidFill>
                  </a:rPr>
                  <a:t>Type 1 (bare-metal)</a:t>
                </a:r>
              </a:p>
            </p:txBody>
          </p:sp>
        </p:grpSp>
        <p:sp>
          <p:nvSpPr>
            <p:cNvPr id="5" name="Rectangle 4"/>
            <p:cNvSpPr/>
            <p:nvPr/>
          </p:nvSpPr>
          <p:spPr>
            <a:xfrm>
              <a:off x="6477000" y="2732088"/>
              <a:ext cx="550783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IN" dirty="0"/>
                <a:t>Type 1 Hypervisor (bare metal, native): supports multiple virtual machines and runs directly on the hardware 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629400" y="3690937"/>
            <a:ext cx="5734843" cy="2822794"/>
            <a:chOff x="6629400" y="3690937"/>
            <a:chExt cx="5734843" cy="2822794"/>
          </a:xfrm>
        </p:grpSpPr>
        <p:grpSp>
          <p:nvGrpSpPr>
            <p:cNvPr id="73" name="Group 111"/>
            <p:cNvGrpSpPr>
              <a:grpSpLocks/>
            </p:cNvGrpSpPr>
            <p:nvPr/>
          </p:nvGrpSpPr>
          <p:grpSpPr bwMode="auto">
            <a:xfrm>
              <a:off x="7370763" y="3690937"/>
              <a:ext cx="3602037" cy="2176463"/>
              <a:chOff x="3424" y="2478"/>
              <a:chExt cx="2269" cy="1371"/>
            </a:xfrm>
          </p:grpSpPr>
          <p:grpSp>
            <p:nvGrpSpPr>
              <p:cNvPr id="74" name="Group 12"/>
              <p:cNvGrpSpPr>
                <a:grpSpLocks/>
              </p:cNvGrpSpPr>
              <p:nvPr/>
            </p:nvGrpSpPr>
            <p:grpSpPr bwMode="auto">
              <a:xfrm>
                <a:off x="3742" y="2478"/>
                <a:ext cx="1497" cy="1171"/>
                <a:chOff x="476" y="2160"/>
                <a:chExt cx="1497" cy="1171"/>
              </a:xfrm>
            </p:grpSpPr>
            <p:sp>
              <p:nvSpPr>
                <p:cNvPr id="76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476" y="3113"/>
                  <a:ext cx="1497" cy="218"/>
                </a:xfrm>
                <a:prstGeom prst="rect">
                  <a:avLst/>
                </a:prstGeom>
                <a:solidFill>
                  <a:srgbClr val="FF64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>
                      <a:solidFill>
                        <a:schemeClr val="tx1"/>
                      </a:solidFill>
                    </a:rPr>
                    <a:t>Hardware</a:t>
                  </a:r>
                </a:p>
              </p:txBody>
            </p:sp>
            <p:sp>
              <p:nvSpPr>
                <p:cNvPr id="77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476" y="2886"/>
                  <a:ext cx="1497" cy="218"/>
                </a:xfrm>
                <a:prstGeom prst="rect">
                  <a:avLst/>
                </a:prstGeom>
                <a:solidFill>
                  <a:srgbClr val="71BFA7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>
                      <a:solidFill>
                        <a:schemeClr val="tx1"/>
                      </a:solidFill>
                    </a:rPr>
                    <a:t>OS</a:t>
                  </a:r>
                </a:p>
              </p:txBody>
            </p:sp>
            <p:sp>
              <p:nvSpPr>
                <p:cNvPr id="79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476" y="2659"/>
                  <a:ext cx="590" cy="218"/>
                </a:xfrm>
                <a:prstGeom prst="rect">
                  <a:avLst/>
                </a:prstGeom>
                <a:solidFill>
                  <a:srgbClr val="99CC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>
                      <a:solidFill>
                        <a:schemeClr val="tx1"/>
                      </a:solidFill>
                    </a:rPr>
                    <a:t>Process</a:t>
                  </a:r>
                </a:p>
              </p:txBody>
            </p:sp>
            <p:sp>
              <p:nvSpPr>
                <p:cNvPr id="82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111" y="2659"/>
                  <a:ext cx="862" cy="218"/>
                </a:xfrm>
                <a:prstGeom prst="rect">
                  <a:avLst/>
                </a:prstGeom>
                <a:solidFill>
                  <a:srgbClr val="99CC00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 dirty="0">
                      <a:solidFill>
                        <a:schemeClr val="tx1"/>
                      </a:solidFill>
                    </a:rPr>
                    <a:t>Hypervisor</a:t>
                  </a:r>
                </a:p>
              </p:txBody>
            </p:sp>
            <p:sp>
              <p:nvSpPr>
                <p:cNvPr id="85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111" y="2432"/>
                  <a:ext cx="408" cy="218"/>
                </a:xfrm>
                <a:prstGeom prst="rect">
                  <a:avLst/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>
                      <a:solidFill>
                        <a:schemeClr val="tx1"/>
                      </a:solidFill>
                    </a:rPr>
                    <a:t>VM1</a:t>
                  </a:r>
                </a:p>
              </p:txBody>
            </p:sp>
            <p:sp>
              <p:nvSpPr>
                <p:cNvPr id="86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565" y="2432"/>
                  <a:ext cx="408" cy="218"/>
                </a:xfrm>
                <a:prstGeom prst="rect">
                  <a:avLst/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>
                      <a:solidFill>
                        <a:schemeClr val="tx1"/>
                      </a:solidFill>
                    </a:rPr>
                    <a:t>VM2</a:t>
                  </a:r>
                </a:p>
              </p:txBody>
            </p:sp>
            <p:sp>
              <p:nvSpPr>
                <p:cNvPr id="87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703" y="2160"/>
                  <a:ext cx="1013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>
                      <a:solidFill>
                        <a:schemeClr val="tx1"/>
                      </a:solidFill>
                    </a:rPr>
                    <a:t>Type 2 (hosted)</a:t>
                  </a:r>
                </a:p>
              </p:txBody>
            </p:sp>
          </p:grpSp>
          <p:sp>
            <p:nvSpPr>
              <p:cNvPr id="75" name="Text Box 23"/>
              <p:cNvSpPr txBox="1">
                <a:spLocks noChangeArrowheads="1"/>
              </p:cNvSpPr>
              <p:nvPr/>
            </p:nvSpPr>
            <p:spPr bwMode="auto">
              <a:xfrm>
                <a:off x="3424" y="3657"/>
                <a:ext cx="2269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400">
                    <a:solidFill>
                      <a:schemeClr val="tx1"/>
                    </a:solidFill>
                  </a:rPr>
                  <a:t>           VMware Workstation, KVM</a:t>
                </a:r>
              </a:p>
            </p:txBody>
          </p:sp>
        </p:grpSp>
        <p:sp>
          <p:nvSpPr>
            <p:cNvPr id="6" name="Rectangle 5"/>
            <p:cNvSpPr/>
            <p:nvPr/>
          </p:nvSpPr>
          <p:spPr>
            <a:xfrm>
              <a:off x="6629400" y="5867400"/>
              <a:ext cx="573484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nb-NO" dirty="0"/>
                <a:t>Type 2 Hypervisor (hosted) VM - runs under a host operating system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83574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Code Portability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8450" y="112712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Binaries created by a compiler for a specific ISA and a specific operating systems are not portable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98450" y="243840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It is possible, though, to compile a HLL program for a virtual machine (VM) environment where portable code is produced and distributed and then converted by binary translators to the ISA of the host system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79400" y="449580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dynamic binary translation </a:t>
            </a:r>
            <a:r>
              <a:rPr lang="en-US" dirty="0"/>
              <a:t>converts blocks of guest instructions from the portable code to the host instruction and leads to a significant performance improvement, as such blocks are cached and reused</a:t>
            </a:r>
            <a:endParaRPr lang="en-IN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062526"/>
            <a:ext cx="5577411" cy="510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50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Privilege Levels and x86 Architecture 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grpSp>
        <p:nvGrpSpPr>
          <p:cNvPr id="10" name="Group 52"/>
          <p:cNvGrpSpPr>
            <a:grpSpLocks/>
          </p:cNvGrpSpPr>
          <p:nvPr/>
        </p:nvGrpSpPr>
        <p:grpSpPr bwMode="auto">
          <a:xfrm>
            <a:off x="4222750" y="1143000"/>
            <a:ext cx="7893050" cy="3824287"/>
            <a:chOff x="68" y="799"/>
            <a:chExt cx="5692" cy="2631"/>
          </a:xfrm>
        </p:grpSpPr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385" y="1016"/>
              <a:ext cx="2268" cy="237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800" b="1">
                  <a:solidFill>
                    <a:schemeClr val="tx1"/>
                  </a:solidFill>
                </a:rPr>
                <a:t>Applications</a:t>
              </a:r>
            </a:p>
          </p:txBody>
        </p:sp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385" y="3193"/>
              <a:ext cx="2268" cy="237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800" b="1" dirty="0">
                  <a:solidFill>
                    <a:schemeClr val="tx1"/>
                  </a:solidFill>
                </a:rPr>
                <a:t>Hardware</a:t>
              </a:r>
            </a:p>
          </p:txBody>
        </p:sp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385" y="1741"/>
              <a:ext cx="1815" cy="237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800" b="1">
                  <a:solidFill>
                    <a:schemeClr val="tx1"/>
                  </a:solidFill>
                </a:rPr>
                <a:t>Library</a:t>
              </a:r>
            </a:p>
          </p:txBody>
        </p:sp>
        <p:sp>
          <p:nvSpPr>
            <p:cNvPr id="14" name="Text Box 7"/>
            <p:cNvSpPr txBox="1">
              <a:spLocks noChangeArrowheads="1"/>
            </p:cNvSpPr>
            <p:nvPr/>
          </p:nvSpPr>
          <p:spPr bwMode="auto">
            <a:xfrm>
              <a:off x="385" y="2477"/>
              <a:ext cx="1406" cy="212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Operating System</a:t>
              </a:r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auto">
            <a:xfrm>
              <a:off x="2517" y="1253"/>
              <a:ext cx="0" cy="1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Line 9"/>
            <p:cNvSpPr>
              <a:spLocks noChangeShapeType="1"/>
            </p:cNvSpPr>
            <p:nvPr/>
          </p:nvSpPr>
          <p:spPr bwMode="auto">
            <a:xfrm>
              <a:off x="2018" y="1978"/>
              <a:ext cx="0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>
              <a:off x="1292" y="1253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Line 11"/>
            <p:cNvSpPr>
              <a:spLocks noChangeShapeType="1"/>
            </p:cNvSpPr>
            <p:nvPr/>
          </p:nvSpPr>
          <p:spPr bwMode="auto">
            <a:xfrm>
              <a:off x="1020" y="1978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Line 12"/>
            <p:cNvSpPr>
              <a:spLocks noChangeShapeType="1"/>
            </p:cNvSpPr>
            <p:nvPr/>
          </p:nvSpPr>
          <p:spPr bwMode="auto">
            <a:xfrm>
              <a:off x="1020" y="2704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72" y="2795"/>
              <a:ext cx="9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Instructions</a:t>
              </a:r>
            </a:p>
          </p:txBody>
        </p:sp>
        <p:sp>
          <p:nvSpPr>
            <p:cNvPr id="22" name="Text Box 18"/>
            <p:cNvSpPr txBox="1">
              <a:spLocks noChangeArrowheads="1"/>
            </p:cNvSpPr>
            <p:nvPr/>
          </p:nvSpPr>
          <p:spPr bwMode="auto">
            <a:xfrm>
              <a:off x="68" y="2069"/>
              <a:ext cx="9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System Call</a:t>
              </a:r>
            </a:p>
          </p:txBody>
        </p:sp>
        <p:sp>
          <p:nvSpPr>
            <p:cNvPr id="23" name="Text Box 19"/>
            <p:cNvSpPr txBox="1">
              <a:spLocks noChangeArrowheads="1"/>
            </p:cNvSpPr>
            <p:nvPr/>
          </p:nvSpPr>
          <p:spPr bwMode="auto">
            <a:xfrm>
              <a:off x="544" y="1343"/>
              <a:ext cx="9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API Call</a:t>
              </a:r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 flipH="1" flipV="1">
              <a:off x="1202" y="2704"/>
              <a:ext cx="544" cy="4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 Box 21"/>
            <p:cNvSpPr txBox="1">
              <a:spLocks noChangeArrowheads="1"/>
            </p:cNvSpPr>
            <p:nvPr/>
          </p:nvSpPr>
          <p:spPr bwMode="auto">
            <a:xfrm>
              <a:off x="1448" y="2786"/>
              <a:ext cx="6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Trap</a:t>
              </a:r>
            </a:p>
          </p:txBody>
        </p:sp>
        <p:sp>
          <p:nvSpPr>
            <p:cNvPr id="26" name="Text Box 22"/>
            <p:cNvSpPr txBox="1">
              <a:spLocks noChangeArrowheads="1"/>
            </p:cNvSpPr>
            <p:nvPr/>
          </p:nvSpPr>
          <p:spPr bwMode="auto">
            <a:xfrm>
              <a:off x="1837" y="2205"/>
              <a:ext cx="95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Instructions</a:t>
              </a:r>
            </a:p>
          </p:txBody>
        </p:sp>
        <p:sp>
          <p:nvSpPr>
            <p:cNvPr id="27" name="Oval 23"/>
            <p:cNvSpPr>
              <a:spLocks noChangeArrowheads="1"/>
            </p:cNvSpPr>
            <p:nvPr/>
          </p:nvSpPr>
          <p:spPr bwMode="auto">
            <a:xfrm>
              <a:off x="3696" y="1616"/>
              <a:ext cx="680" cy="63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28" name="Oval 24"/>
            <p:cNvSpPr>
              <a:spLocks noChangeArrowheads="1"/>
            </p:cNvSpPr>
            <p:nvPr/>
          </p:nvSpPr>
          <p:spPr bwMode="auto">
            <a:xfrm>
              <a:off x="3470" y="1389"/>
              <a:ext cx="1134" cy="108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29" name="Oval 25"/>
            <p:cNvSpPr>
              <a:spLocks noChangeArrowheads="1"/>
            </p:cNvSpPr>
            <p:nvPr/>
          </p:nvSpPr>
          <p:spPr bwMode="auto">
            <a:xfrm>
              <a:off x="3243" y="1162"/>
              <a:ext cx="1587" cy="154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30" name="Oval 26"/>
            <p:cNvSpPr>
              <a:spLocks noChangeArrowheads="1"/>
            </p:cNvSpPr>
            <p:nvPr/>
          </p:nvSpPr>
          <p:spPr bwMode="auto">
            <a:xfrm>
              <a:off x="3016" y="935"/>
              <a:ext cx="2041" cy="199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31" name="Text Box 28"/>
            <p:cNvSpPr txBox="1">
              <a:spLocks noChangeArrowheads="1"/>
            </p:cNvSpPr>
            <p:nvPr/>
          </p:nvSpPr>
          <p:spPr bwMode="auto">
            <a:xfrm>
              <a:off x="3787" y="925"/>
              <a:ext cx="6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800" b="1">
                  <a:solidFill>
                    <a:schemeClr val="tx1"/>
                  </a:solidFill>
                </a:rPr>
                <a:t>Ring 3</a:t>
              </a:r>
            </a:p>
          </p:txBody>
        </p:sp>
        <p:sp>
          <p:nvSpPr>
            <p:cNvPr id="32" name="Text Box 29"/>
            <p:cNvSpPr txBox="1">
              <a:spLocks noChangeArrowheads="1"/>
            </p:cNvSpPr>
            <p:nvPr/>
          </p:nvSpPr>
          <p:spPr bwMode="auto">
            <a:xfrm>
              <a:off x="3787" y="1161"/>
              <a:ext cx="6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800" b="1">
                  <a:solidFill>
                    <a:schemeClr val="tx1"/>
                  </a:solidFill>
                </a:rPr>
                <a:t>Ring 2</a:t>
              </a:r>
            </a:p>
          </p:txBody>
        </p:sp>
        <p:sp>
          <p:nvSpPr>
            <p:cNvPr id="33" name="Text Box 30"/>
            <p:cNvSpPr txBox="1">
              <a:spLocks noChangeArrowheads="1"/>
            </p:cNvSpPr>
            <p:nvPr/>
          </p:nvSpPr>
          <p:spPr bwMode="auto">
            <a:xfrm>
              <a:off x="3797" y="1407"/>
              <a:ext cx="6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800" b="1">
                  <a:solidFill>
                    <a:schemeClr val="tx1"/>
                  </a:solidFill>
                </a:rPr>
                <a:t>Ring 1</a:t>
              </a:r>
            </a:p>
          </p:txBody>
        </p:sp>
        <p:sp>
          <p:nvSpPr>
            <p:cNvPr id="34" name="Text Box 31"/>
            <p:cNvSpPr txBox="1">
              <a:spLocks noChangeArrowheads="1"/>
            </p:cNvSpPr>
            <p:nvPr/>
          </p:nvSpPr>
          <p:spPr bwMode="auto">
            <a:xfrm>
              <a:off x="3787" y="1783"/>
              <a:ext cx="6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800" b="1">
                  <a:solidFill>
                    <a:schemeClr val="tx1"/>
                  </a:solidFill>
                </a:rPr>
                <a:t>Ring 0</a:t>
              </a:r>
            </a:p>
          </p:txBody>
        </p:sp>
        <p:sp>
          <p:nvSpPr>
            <p:cNvPr id="35" name="Line 32"/>
            <p:cNvSpPr>
              <a:spLocks noChangeShapeType="1"/>
            </p:cNvSpPr>
            <p:nvPr/>
          </p:nvSpPr>
          <p:spPr bwMode="auto">
            <a:xfrm flipV="1">
              <a:off x="2653" y="1071"/>
              <a:ext cx="1134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Line 33"/>
            <p:cNvSpPr>
              <a:spLocks noChangeShapeType="1"/>
            </p:cNvSpPr>
            <p:nvPr/>
          </p:nvSpPr>
          <p:spPr bwMode="auto">
            <a:xfrm flipV="1">
              <a:off x="2200" y="1162"/>
              <a:ext cx="1451" cy="7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 flipV="1">
              <a:off x="1791" y="2114"/>
              <a:ext cx="2268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 Box 35"/>
            <p:cNvSpPr txBox="1">
              <a:spLocks noChangeArrowheads="1"/>
            </p:cNvSpPr>
            <p:nvPr/>
          </p:nvSpPr>
          <p:spPr bwMode="auto">
            <a:xfrm>
              <a:off x="4740" y="799"/>
              <a:ext cx="102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User Mode</a:t>
              </a:r>
            </a:p>
          </p:txBody>
        </p:sp>
        <p:sp>
          <p:nvSpPr>
            <p:cNvPr id="39" name="Text Box 36"/>
            <p:cNvSpPr txBox="1">
              <a:spLocks noChangeArrowheads="1"/>
            </p:cNvSpPr>
            <p:nvPr/>
          </p:nvSpPr>
          <p:spPr bwMode="auto">
            <a:xfrm>
              <a:off x="3833" y="3108"/>
              <a:ext cx="133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dirty="0">
                  <a:solidFill>
                    <a:schemeClr val="tx1"/>
                  </a:solidFill>
                </a:rPr>
                <a:t>Supervisor Mode</a:t>
              </a:r>
            </a:p>
          </p:txBody>
        </p:sp>
        <p:sp>
          <p:nvSpPr>
            <p:cNvPr id="40" name="Line 37"/>
            <p:cNvSpPr>
              <a:spLocks noChangeShapeType="1"/>
            </p:cNvSpPr>
            <p:nvPr/>
          </p:nvSpPr>
          <p:spPr bwMode="auto">
            <a:xfrm flipH="1" flipV="1">
              <a:off x="4195" y="2069"/>
              <a:ext cx="454" cy="10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Line 38"/>
            <p:cNvSpPr>
              <a:spLocks noChangeShapeType="1"/>
            </p:cNvSpPr>
            <p:nvPr/>
          </p:nvSpPr>
          <p:spPr bwMode="auto">
            <a:xfrm flipH="1">
              <a:off x="4377" y="980"/>
              <a:ext cx="771" cy="1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9" y="1226153"/>
            <a:ext cx="3813514" cy="3498247"/>
          </a:xfrm>
          <a:prstGeom prst="rect">
            <a:avLst/>
          </a:prstGeom>
        </p:spPr>
      </p:pic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428648" y="5334000"/>
            <a:ext cx="379410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ISSUE :  How to </a:t>
            </a:r>
            <a:r>
              <a:rPr lang="en-US" sz="1800" b="1" dirty="0" smtClean="0">
                <a:solidFill>
                  <a:srgbClr val="FF0000"/>
                </a:solidFill>
              </a:rPr>
              <a:t>resolve  </a:t>
            </a:r>
            <a:r>
              <a:rPr lang="en-US" sz="1800" b="1" dirty="0">
                <a:solidFill>
                  <a:srgbClr val="FF0000"/>
                </a:solidFill>
              </a:rPr>
              <a:t>the </a:t>
            </a:r>
            <a:r>
              <a:rPr lang="en-US" sz="1800" b="1" dirty="0" smtClean="0">
                <a:solidFill>
                  <a:srgbClr val="FF0000"/>
                </a:solidFill>
              </a:rPr>
              <a:t>race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smtClean="0">
                <a:solidFill>
                  <a:srgbClr val="FF0000"/>
                </a:solidFill>
              </a:rPr>
              <a:t>              </a:t>
            </a:r>
            <a:r>
              <a:rPr lang="en-US" sz="1800" b="1" dirty="0">
                <a:solidFill>
                  <a:srgbClr val="FF0000"/>
                </a:solidFill>
              </a:rPr>
              <a:t>among </a:t>
            </a:r>
            <a:r>
              <a:rPr lang="en-US" sz="1800" b="1" dirty="0" smtClean="0">
                <a:solidFill>
                  <a:srgbClr val="FF0000"/>
                </a:solidFill>
              </a:rPr>
              <a:t>Guest </a:t>
            </a:r>
            <a:r>
              <a:rPr lang="en-US" sz="1800" b="1" dirty="0">
                <a:solidFill>
                  <a:srgbClr val="FF0000"/>
                </a:solidFill>
              </a:rPr>
              <a:t>OSs?</a:t>
            </a:r>
          </a:p>
        </p:txBody>
      </p:sp>
    </p:spTree>
    <p:extLst>
      <p:ext uri="{BB962C8B-B14F-4D97-AF65-F5344CB8AC3E}">
        <p14:creationId xmlns:p14="http://schemas.microsoft.com/office/powerpoint/2010/main" val="3208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Solution 1: Direct Execution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9" y="1226153"/>
            <a:ext cx="3813514" cy="3498247"/>
          </a:xfrm>
          <a:prstGeom prst="rect">
            <a:avLst/>
          </a:prstGeom>
        </p:spPr>
      </p:pic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428648" y="5334000"/>
            <a:ext cx="379410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ISSUE :  How to </a:t>
            </a:r>
            <a:r>
              <a:rPr lang="en-US" sz="1800" b="1" dirty="0" smtClean="0">
                <a:solidFill>
                  <a:srgbClr val="FF0000"/>
                </a:solidFill>
              </a:rPr>
              <a:t>resolve  </a:t>
            </a:r>
            <a:r>
              <a:rPr lang="en-US" sz="1800" b="1" dirty="0">
                <a:solidFill>
                  <a:srgbClr val="FF0000"/>
                </a:solidFill>
              </a:rPr>
              <a:t>the </a:t>
            </a:r>
            <a:r>
              <a:rPr lang="en-US" sz="1800" b="1" dirty="0" smtClean="0">
                <a:solidFill>
                  <a:srgbClr val="FF0000"/>
                </a:solidFill>
              </a:rPr>
              <a:t>race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smtClean="0">
                <a:solidFill>
                  <a:srgbClr val="FF0000"/>
                </a:solidFill>
              </a:rPr>
              <a:t>              </a:t>
            </a:r>
            <a:r>
              <a:rPr lang="en-US" sz="1800" b="1" dirty="0">
                <a:solidFill>
                  <a:srgbClr val="FF0000"/>
                </a:solidFill>
              </a:rPr>
              <a:t>among </a:t>
            </a:r>
            <a:r>
              <a:rPr lang="en-US" sz="1800" b="1" dirty="0" smtClean="0">
                <a:solidFill>
                  <a:srgbClr val="FF0000"/>
                </a:solidFill>
              </a:rPr>
              <a:t>Guest </a:t>
            </a:r>
            <a:r>
              <a:rPr lang="en-US" sz="1800" b="1" dirty="0">
                <a:solidFill>
                  <a:srgbClr val="FF0000"/>
                </a:solidFill>
              </a:rPr>
              <a:t>OSs?</a:t>
            </a:r>
          </a:p>
        </p:txBody>
      </p:sp>
      <p:grpSp>
        <p:nvGrpSpPr>
          <p:cNvPr id="43" name="Group 49"/>
          <p:cNvGrpSpPr>
            <a:grpSpLocks/>
          </p:cNvGrpSpPr>
          <p:nvPr/>
        </p:nvGrpSpPr>
        <p:grpSpPr bwMode="auto">
          <a:xfrm>
            <a:off x="6042025" y="1143000"/>
            <a:ext cx="2808288" cy="2952750"/>
            <a:chOff x="249" y="845"/>
            <a:chExt cx="1769" cy="1860"/>
          </a:xfrm>
        </p:grpSpPr>
        <p:grpSp>
          <p:nvGrpSpPr>
            <p:cNvPr id="44" name="Group 15"/>
            <p:cNvGrpSpPr>
              <a:grpSpLocks/>
            </p:cNvGrpSpPr>
            <p:nvPr/>
          </p:nvGrpSpPr>
          <p:grpSpPr bwMode="auto">
            <a:xfrm>
              <a:off x="930" y="845"/>
              <a:ext cx="1088" cy="272"/>
              <a:chOff x="2608" y="1389"/>
              <a:chExt cx="1088" cy="272"/>
            </a:xfrm>
          </p:grpSpPr>
          <p:sp>
            <p:nvSpPr>
              <p:cNvPr id="62" name="AutoShape 13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Text Box 14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800">
                    <a:solidFill>
                      <a:schemeClr val="tx1"/>
                    </a:solidFill>
                  </a:rPr>
                  <a:t>User App</a:t>
                </a:r>
              </a:p>
            </p:txBody>
          </p:sp>
        </p:grpSp>
        <p:grpSp>
          <p:nvGrpSpPr>
            <p:cNvPr id="45" name="Group 16"/>
            <p:cNvGrpSpPr>
              <a:grpSpLocks/>
            </p:cNvGrpSpPr>
            <p:nvPr/>
          </p:nvGrpSpPr>
          <p:grpSpPr bwMode="auto">
            <a:xfrm>
              <a:off x="930" y="1208"/>
              <a:ext cx="1088" cy="272"/>
              <a:chOff x="2608" y="1389"/>
              <a:chExt cx="1088" cy="272"/>
            </a:xfrm>
          </p:grpSpPr>
          <p:sp>
            <p:nvSpPr>
              <p:cNvPr id="60" name="AutoShape 17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Text Box 18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" name="Group 19"/>
            <p:cNvGrpSpPr>
              <a:grpSpLocks/>
            </p:cNvGrpSpPr>
            <p:nvPr/>
          </p:nvGrpSpPr>
          <p:grpSpPr bwMode="auto">
            <a:xfrm>
              <a:off x="930" y="1571"/>
              <a:ext cx="1088" cy="272"/>
              <a:chOff x="2608" y="1389"/>
              <a:chExt cx="1088" cy="272"/>
            </a:xfrm>
          </p:grpSpPr>
          <p:sp>
            <p:nvSpPr>
              <p:cNvPr id="58" name="AutoShape 20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Text Box 21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800">
                    <a:solidFill>
                      <a:schemeClr val="tx1"/>
                    </a:solidFill>
                  </a:rPr>
                  <a:t>Guest OS</a:t>
                </a:r>
              </a:p>
            </p:txBody>
          </p:sp>
        </p:grpSp>
        <p:grpSp>
          <p:nvGrpSpPr>
            <p:cNvPr id="47" name="Group 22"/>
            <p:cNvGrpSpPr>
              <a:grpSpLocks/>
            </p:cNvGrpSpPr>
            <p:nvPr/>
          </p:nvGrpSpPr>
          <p:grpSpPr bwMode="auto">
            <a:xfrm>
              <a:off x="930" y="1955"/>
              <a:ext cx="1088" cy="272"/>
              <a:chOff x="2608" y="1389"/>
              <a:chExt cx="1088" cy="272"/>
            </a:xfrm>
          </p:grpSpPr>
          <p:sp>
            <p:nvSpPr>
              <p:cNvPr id="56" name="AutoShape 23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Text Box 24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800">
                    <a:solidFill>
                      <a:schemeClr val="tx1"/>
                    </a:solidFill>
                  </a:rPr>
                  <a:t>Hypervisor</a:t>
                </a:r>
              </a:p>
            </p:txBody>
          </p:sp>
        </p:grpSp>
        <p:sp>
          <p:nvSpPr>
            <p:cNvPr id="48" name="Text Box 25"/>
            <p:cNvSpPr txBox="1">
              <a:spLocks noChangeArrowheads="1"/>
            </p:cNvSpPr>
            <p:nvPr/>
          </p:nvSpPr>
          <p:spPr bwMode="auto">
            <a:xfrm>
              <a:off x="249" y="889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Ring 3</a:t>
              </a:r>
            </a:p>
          </p:txBody>
        </p:sp>
        <p:sp>
          <p:nvSpPr>
            <p:cNvPr id="49" name="Text Box 26"/>
            <p:cNvSpPr txBox="1">
              <a:spLocks noChangeArrowheads="1"/>
            </p:cNvSpPr>
            <p:nvPr/>
          </p:nvSpPr>
          <p:spPr bwMode="auto">
            <a:xfrm>
              <a:off x="249" y="1239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Ring 2</a:t>
              </a:r>
            </a:p>
          </p:txBody>
        </p:sp>
        <p:sp>
          <p:nvSpPr>
            <p:cNvPr id="50" name="Text Box 27"/>
            <p:cNvSpPr txBox="1">
              <a:spLocks noChangeArrowheads="1"/>
            </p:cNvSpPr>
            <p:nvPr/>
          </p:nvSpPr>
          <p:spPr bwMode="auto">
            <a:xfrm>
              <a:off x="249" y="1599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Ring 1</a:t>
              </a:r>
            </a:p>
          </p:txBody>
        </p:sp>
        <p:sp>
          <p:nvSpPr>
            <p:cNvPr id="51" name="Text Box 28"/>
            <p:cNvSpPr txBox="1">
              <a:spLocks noChangeArrowheads="1"/>
            </p:cNvSpPr>
            <p:nvPr/>
          </p:nvSpPr>
          <p:spPr bwMode="auto">
            <a:xfrm>
              <a:off x="249" y="1970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Ring 0</a:t>
              </a:r>
            </a:p>
          </p:txBody>
        </p:sp>
        <p:grpSp>
          <p:nvGrpSpPr>
            <p:cNvPr id="52" name="Group 136"/>
            <p:cNvGrpSpPr>
              <a:grpSpLocks/>
            </p:cNvGrpSpPr>
            <p:nvPr/>
          </p:nvGrpSpPr>
          <p:grpSpPr bwMode="auto">
            <a:xfrm>
              <a:off x="930" y="2473"/>
              <a:ext cx="1088" cy="232"/>
              <a:chOff x="3504" y="2597"/>
              <a:chExt cx="1392" cy="366"/>
            </a:xfrm>
          </p:grpSpPr>
          <p:graphicFrame>
            <p:nvGraphicFramePr>
              <p:cNvPr id="54" name="Object 137"/>
              <p:cNvGraphicFramePr>
                <a:graphicFrameLocks noChangeAspect="1"/>
              </p:cNvGraphicFramePr>
              <p:nvPr/>
            </p:nvGraphicFramePr>
            <p:xfrm>
              <a:off x="3504" y="2597"/>
              <a:ext cx="1392" cy="3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179" name="Bitmap Image" r:id="rId4" imgW="2209524" imgH="581106" progId="PBrush">
                      <p:embed/>
                    </p:oleObj>
                  </mc:Choice>
                  <mc:Fallback>
                    <p:oleObj name="Bitmap Image" r:id="rId4" imgW="2209524" imgH="581106" progId="PBrush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2597"/>
                            <a:ext cx="1392" cy="3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" name="Rectangle 138"/>
              <p:cNvSpPr>
                <a:spLocks noChangeArrowheads="1"/>
              </p:cNvSpPr>
              <p:nvPr/>
            </p:nvSpPr>
            <p:spPr bwMode="auto">
              <a:xfrm>
                <a:off x="3504" y="2597"/>
                <a:ext cx="1392" cy="36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I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3" name="Text Box 42"/>
            <p:cNvSpPr txBox="1">
              <a:spLocks noChangeArrowheads="1"/>
            </p:cNvSpPr>
            <p:nvPr/>
          </p:nvSpPr>
          <p:spPr bwMode="auto">
            <a:xfrm>
              <a:off x="249" y="2493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Hardware</a:t>
              </a:r>
            </a:p>
          </p:txBody>
        </p:sp>
      </p:grpSp>
      <p:cxnSp>
        <p:nvCxnSpPr>
          <p:cNvPr id="64" name="AutoShape 43"/>
          <p:cNvCxnSpPr>
            <a:cxnSpLocks noChangeShapeType="1"/>
            <a:stCxn id="62" idx="3"/>
            <a:endCxn id="55" idx="3"/>
          </p:cNvCxnSpPr>
          <p:nvPr/>
        </p:nvCxnSpPr>
        <p:spPr bwMode="auto">
          <a:xfrm>
            <a:off x="8850313" y="1358900"/>
            <a:ext cx="1587" cy="2552700"/>
          </a:xfrm>
          <a:prstGeom prst="curvedConnector3">
            <a:avLst>
              <a:gd name="adj1" fmla="val 5080001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AutoShape 44"/>
          <p:cNvCxnSpPr>
            <a:cxnSpLocks noChangeShapeType="1"/>
            <a:stCxn id="62" idx="3"/>
            <a:endCxn id="58" idx="3"/>
          </p:cNvCxnSpPr>
          <p:nvPr/>
        </p:nvCxnSpPr>
        <p:spPr bwMode="auto">
          <a:xfrm>
            <a:off x="8850313" y="1358900"/>
            <a:ext cx="1587" cy="1152525"/>
          </a:xfrm>
          <a:prstGeom prst="curvedConnector3">
            <a:avLst>
              <a:gd name="adj1" fmla="val 144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AutoShape 45"/>
          <p:cNvCxnSpPr>
            <a:cxnSpLocks noChangeShapeType="1"/>
            <a:stCxn id="58" idx="3"/>
            <a:endCxn id="55" idx="3"/>
          </p:cNvCxnSpPr>
          <p:nvPr/>
        </p:nvCxnSpPr>
        <p:spPr bwMode="auto">
          <a:xfrm>
            <a:off x="8850313" y="2511425"/>
            <a:ext cx="1587" cy="1400175"/>
          </a:xfrm>
          <a:prstGeom prst="curvedConnector3">
            <a:avLst>
              <a:gd name="adj1" fmla="val 1440000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7" name="Line 47"/>
          <p:cNvSpPr>
            <a:spLocks noChangeShapeType="1"/>
          </p:cNvSpPr>
          <p:nvPr/>
        </p:nvSpPr>
        <p:spPr bwMode="auto">
          <a:xfrm>
            <a:off x="7915275" y="3341687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8" name="Text Box 48"/>
          <p:cNvSpPr txBox="1">
            <a:spLocks noChangeArrowheads="1"/>
          </p:cNvSpPr>
          <p:nvPr/>
        </p:nvSpPr>
        <p:spPr bwMode="auto">
          <a:xfrm>
            <a:off x="9642475" y="2151062"/>
            <a:ext cx="13684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600" b="1" i="1">
                <a:solidFill>
                  <a:schemeClr val="tx1"/>
                </a:solidFill>
                <a:latin typeface="Times New Roman" panose="02020603050405020304" pitchFamily="18" charset="0"/>
              </a:rPr>
              <a:t>Direct Execution of a Guest VM</a:t>
            </a:r>
          </a:p>
        </p:txBody>
      </p:sp>
      <p:grpSp>
        <p:nvGrpSpPr>
          <p:cNvPr id="69" name="Group 71"/>
          <p:cNvGrpSpPr>
            <a:grpSpLocks/>
          </p:cNvGrpSpPr>
          <p:nvPr/>
        </p:nvGrpSpPr>
        <p:grpSpPr bwMode="auto">
          <a:xfrm>
            <a:off x="8126413" y="3327400"/>
            <a:ext cx="1152525" cy="514350"/>
            <a:chOff x="1562" y="2221"/>
            <a:chExt cx="726" cy="324"/>
          </a:xfrm>
        </p:grpSpPr>
        <p:sp>
          <p:nvSpPr>
            <p:cNvPr id="70" name="Line 46"/>
            <p:cNvSpPr>
              <a:spLocks noChangeShapeType="1"/>
            </p:cNvSpPr>
            <p:nvPr/>
          </p:nvSpPr>
          <p:spPr bwMode="auto">
            <a:xfrm flipH="1" flipV="1">
              <a:off x="1565" y="2227"/>
              <a:ext cx="40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Text Box 66"/>
            <p:cNvSpPr txBox="1">
              <a:spLocks noChangeArrowheads="1"/>
            </p:cNvSpPr>
            <p:nvPr/>
          </p:nvSpPr>
          <p:spPr bwMode="auto">
            <a:xfrm>
              <a:off x="1562" y="2221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Trap</a:t>
              </a:r>
            </a:p>
          </p:txBody>
        </p:sp>
      </p:grpSp>
      <p:sp>
        <p:nvSpPr>
          <p:cNvPr id="72" name="Text Box 72"/>
          <p:cNvSpPr txBox="1">
            <a:spLocks noChangeArrowheads="1"/>
          </p:cNvSpPr>
          <p:nvPr/>
        </p:nvSpPr>
        <p:spPr bwMode="auto">
          <a:xfrm>
            <a:off x="6042024" y="4590871"/>
            <a:ext cx="54641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Problem : Every </a:t>
            </a:r>
            <a:r>
              <a:rPr lang="en-US" sz="1800" dirty="0" smtClean="0">
                <a:solidFill>
                  <a:schemeClr val="tx1"/>
                </a:solidFill>
              </a:rPr>
              <a:t>Instruction is </a:t>
            </a:r>
            <a:r>
              <a:rPr lang="en-US" sz="1800" dirty="0">
                <a:solidFill>
                  <a:schemeClr val="tx1"/>
                </a:solidFill>
              </a:rPr>
              <a:t>not </a:t>
            </a:r>
            <a:r>
              <a:rPr lang="en-US" sz="1800" dirty="0" err="1">
                <a:solidFill>
                  <a:schemeClr val="tx1"/>
                </a:solidFill>
              </a:rPr>
              <a:t>Virtualizable</a:t>
            </a:r>
            <a:endParaRPr lang="en-US" sz="1800" dirty="0">
              <a:solidFill>
                <a:schemeClr val="tx1"/>
              </a:solidFill>
            </a:endParaRP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              e.g. </a:t>
            </a:r>
            <a:r>
              <a:rPr lang="en-US" sz="1800" i="1" dirty="0" smtClean="0">
                <a:solidFill>
                  <a:schemeClr val="tx1"/>
                </a:solidFill>
                <a:latin typeface="Times New Roman" panose="02020603050405020304" pitchFamily="18" charset="0"/>
              </a:rPr>
              <a:t>POPF </a:t>
            </a:r>
            <a:r>
              <a:rPr lang="en-US" sz="1800" i="1" dirty="0">
                <a:solidFill>
                  <a:schemeClr val="tx1"/>
                </a:solidFill>
                <a:latin typeface="Times New Roman" panose="02020603050405020304" pitchFamily="18" charset="0"/>
              </a:rPr>
              <a:t>instruction will not Trap to Ring 0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    </a:t>
            </a:r>
          </a:p>
        </p:txBody>
      </p:sp>
      <p:sp>
        <p:nvSpPr>
          <p:cNvPr id="73" name="Text Box 75"/>
          <p:cNvSpPr txBox="1">
            <a:spLocks noChangeArrowheads="1"/>
          </p:cNvSpPr>
          <p:nvPr/>
        </p:nvSpPr>
        <p:spPr bwMode="auto">
          <a:xfrm>
            <a:off x="6637337" y="5562600"/>
            <a:ext cx="4500562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Solution : Full Virtualization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                </a:t>
            </a:r>
            <a:r>
              <a:rPr lang="en-US" sz="1800" dirty="0" err="1">
                <a:solidFill>
                  <a:schemeClr val="tx1"/>
                </a:solidFill>
              </a:rPr>
              <a:t>Paravirtualization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1661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6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Solution 2: Full Virtualization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9" y="1226153"/>
            <a:ext cx="3813514" cy="3498247"/>
          </a:xfrm>
          <a:prstGeom prst="rect">
            <a:avLst/>
          </a:prstGeom>
        </p:spPr>
      </p:pic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428648" y="5334000"/>
            <a:ext cx="379410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ISSUE :  How to </a:t>
            </a:r>
            <a:r>
              <a:rPr lang="en-US" sz="1800" b="1" dirty="0" smtClean="0">
                <a:solidFill>
                  <a:srgbClr val="FF0000"/>
                </a:solidFill>
              </a:rPr>
              <a:t>resolve  </a:t>
            </a:r>
            <a:r>
              <a:rPr lang="en-US" sz="1800" b="1" dirty="0">
                <a:solidFill>
                  <a:srgbClr val="FF0000"/>
                </a:solidFill>
              </a:rPr>
              <a:t>the </a:t>
            </a:r>
            <a:r>
              <a:rPr lang="en-US" sz="1800" b="1" dirty="0" smtClean="0">
                <a:solidFill>
                  <a:srgbClr val="FF0000"/>
                </a:solidFill>
              </a:rPr>
              <a:t>race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smtClean="0">
                <a:solidFill>
                  <a:srgbClr val="FF0000"/>
                </a:solidFill>
              </a:rPr>
              <a:t>              </a:t>
            </a:r>
            <a:r>
              <a:rPr lang="en-US" sz="1800" b="1" dirty="0">
                <a:solidFill>
                  <a:srgbClr val="FF0000"/>
                </a:solidFill>
              </a:rPr>
              <a:t>among </a:t>
            </a:r>
            <a:r>
              <a:rPr lang="en-US" sz="1800" b="1" dirty="0" smtClean="0">
                <a:solidFill>
                  <a:srgbClr val="FF0000"/>
                </a:solidFill>
              </a:rPr>
              <a:t>Guest </a:t>
            </a:r>
            <a:r>
              <a:rPr lang="en-US" sz="1800" b="1" dirty="0">
                <a:solidFill>
                  <a:srgbClr val="FF0000"/>
                </a:solidFill>
              </a:rPr>
              <a:t>OSs?</a:t>
            </a:r>
          </a:p>
        </p:txBody>
      </p:sp>
      <p:grpSp>
        <p:nvGrpSpPr>
          <p:cNvPr id="39" name="Group 98"/>
          <p:cNvGrpSpPr>
            <a:grpSpLocks/>
          </p:cNvGrpSpPr>
          <p:nvPr/>
        </p:nvGrpSpPr>
        <p:grpSpPr bwMode="auto">
          <a:xfrm>
            <a:off x="4621213" y="1066800"/>
            <a:ext cx="3249612" cy="2952750"/>
            <a:chOff x="703" y="663"/>
            <a:chExt cx="2047" cy="1860"/>
          </a:xfrm>
        </p:grpSpPr>
        <p:grpSp>
          <p:nvGrpSpPr>
            <p:cNvPr id="40" name="Group 91"/>
            <p:cNvGrpSpPr>
              <a:grpSpLocks/>
            </p:cNvGrpSpPr>
            <p:nvPr/>
          </p:nvGrpSpPr>
          <p:grpSpPr bwMode="auto">
            <a:xfrm>
              <a:off x="703" y="663"/>
              <a:ext cx="1770" cy="1860"/>
              <a:chOff x="711" y="663"/>
              <a:chExt cx="1770" cy="1860"/>
            </a:xfrm>
          </p:grpSpPr>
          <p:grpSp>
            <p:nvGrpSpPr>
              <p:cNvPr id="77" name="Group 9"/>
              <p:cNvGrpSpPr>
                <a:grpSpLocks/>
              </p:cNvGrpSpPr>
              <p:nvPr/>
            </p:nvGrpSpPr>
            <p:grpSpPr bwMode="auto">
              <a:xfrm>
                <a:off x="711" y="663"/>
                <a:ext cx="1769" cy="1860"/>
                <a:chOff x="249" y="845"/>
                <a:chExt cx="1769" cy="1860"/>
              </a:xfrm>
            </p:grpSpPr>
            <p:grpSp>
              <p:nvGrpSpPr>
                <p:cNvPr id="81" name="Group 10"/>
                <p:cNvGrpSpPr>
                  <a:grpSpLocks/>
                </p:cNvGrpSpPr>
                <p:nvPr/>
              </p:nvGrpSpPr>
              <p:grpSpPr bwMode="auto">
                <a:xfrm>
                  <a:off x="930" y="845"/>
                  <a:ext cx="1088" cy="272"/>
                  <a:chOff x="2608" y="1389"/>
                  <a:chExt cx="1088" cy="272"/>
                </a:xfrm>
              </p:grpSpPr>
              <p:sp>
                <p:nvSpPr>
                  <p:cNvPr id="99" name="AutoShape 11"/>
                  <p:cNvSpPr>
                    <a:spLocks noChangeArrowheads="1"/>
                  </p:cNvSpPr>
                  <p:nvPr/>
                </p:nvSpPr>
                <p:spPr bwMode="auto">
                  <a:xfrm>
                    <a:off x="2608" y="1389"/>
                    <a:ext cx="1088" cy="272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C0C0C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spcAft>
                        <a:spcPct val="0"/>
                      </a:spcAft>
                      <a:buFontTx/>
                      <a:buNone/>
                    </a:pPr>
                    <a:endParaRPr 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0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53" y="1394"/>
                    <a:ext cx="998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spcAft>
                        <a:spcPct val="0"/>
                      </a:spcAft>
                      <a:buFontTx/>
                      <a:buNone/>
                    </a:pPr>
                    <a:r>
                      <a:rPr lang="en-US" sz="1800">
                        <a:solidFill>
                          <a:schemeClr val="tx1"/>
                        </a:solidFill>
                      </a:rPr>
                      <a:t>User App</a:t>
                    </a:r>
                  </a:p>
                </p:txBody>
              </p:sp>
            </p:grpSp>
            <p:grpSp>
              <p:nvGrpSpPr>
                <p:cNvPr id="82" name="Group 13"/>
                <p:cNvGrpSpPr>
                  <a:grpSpLocks/>
                </p:cNvGrpSpPr>
                <p:nvPr/>
              </p:nvGrpSpPr>
              <p:grpSpPr bwMode="auto">
                <a:xfrm>
                  <a:off x="930" y="1208"/>
                  <a:ext cx="1088" cy="272"/>
                  <a:chOff x="2608" y="1389"/>
                  <a:chExt cx="1088" cy="272"/>
                </a:xfrm>
              </p:grpSpPr>
              <p:sp>
                <p:nvSpPr>
                  <p:cNvPr id="97" name="AutoShape 14"/>
                  <p:cNvSpPr>
                    <a:spLocks noChangeArrowheads="1"/>
                  </p:cNvSpPr>
                  <p:nvPr/>
                </p:nvSpPr>
                <p:spPr bwMode="auto">
                  <a:xfrm>
                    <a:off x="2608" y="1389"/>
                    <a:ext cx="1088" cy="272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C0C0C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spcAft>
                        <a:spcPct val="0"/>
                      </a:spcAft>
                      <a:buFontTx/>
                      <a:buNone/>
                    </a:pPr>
                    <a:endParaRPr 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8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53" y="1394"/>
                    <a:ext cx="998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spcAft>
                        <a:spcPct val="0"/>
                      </a:spcAft>
                      <a:buFontTx/>
                      <a:buNone/>
                    </a:pPr>
                    <a:endParaRPr lang="en-US" sz="180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83" name="Group 16"/>
                <p:cNvGrpSpPr>
                  <a:grpSpLocks/>
                </p:cNvGrpSpPr>
                <p:nvPr/>
              </p:nvGrpSpPr>
              <p:grpSpPr bwMode="auto">
                <a:xfrm>
                  <a:off x="930" y="1571"/>
                  <a:ext cx="1088" cy="272"/>
                  <a:chOff x="2608" y="1389"/>
                  <a:chExt cx="1088" cy="272"/>
                </a:xfrm>
              </p:grpSpPr>
              <p:sp>
                <p:nvSpPr>
                  <p:cNvPr id="95" name="AutoShape 17"/>
                  <p:cNvSpPr>
                    <a:spLocks noChangeArrowheads="1"/>
                  </p:cNvSpPr>
                  <p:nvPr/>
                </p:nvSpPr>
                <p:spPr bwMode="auto">
                  <a:xfrm>
                    <a:off x="2608" y="1389"/>
                    <a:ext cx="1088" cy="272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C0C0C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spcAft>
                        <a:spcPct val="0"/>
                      </a:spcAft>
                      <a:buFontTx/>
                      <a:buNone/>
                    </a:pPr>
                    <a:endParaRPr 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6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53" y="1394"/>
                    <a:ext cx="998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spcAft>
                        <a:spcPct val="0"/>
                      </a:spcAft>
                      <a:buFontTx/>
                      <a:buNone/>
                    </a:pPr>
                    <a:r>
                      <a:rPr lang="en-US" sz="1800">
                        <a:solidFill>
                          <a:schemeClr val="tx1"/>
                        </a:solidFill>
                      </a:rPr>
                      <a:t>Guest OS</a:t>
                    </a:r>
                  </a:p>
                </p:txBody>
              </p:sp>
            </p:grpSp>
            <p:grpSp>
              <p:nvGrpSpPr>
                <p:cNvPr id="84" name="Group 19"/>
                <p:cNvGrpSpPr>
                  <a:grpSpLocks/>
                </p:cNvGrpSpPr>
                <p:nvPr/>
              </p:nvGrpSpPr>
              <p:grpSpPr bwMode="auto">
                <a:xfrm>
                  <a:off x="930" y="1955"/>
                  <a:ext cx="1088" cy="272"/>
                  <a:chOff x="2608" y="1389"/>
                  <a:chExt cx="1088" cy="272"/>
                </a:xfrm>
              </p:grpSpPr>
              <p:sp>
                <p:nvSpPr>
                  <p:cNvPr id="93" name="AutoShape 20"/>
                  <p:cNvSpPr>
                    <a:spLocks noChangeArrowheads="1"/>
                  </p:cNvSpPr>
                  <p:nvPr/>
                </p:nvSpPr>
                <p:spPr bwMode="auto">
                  <a:xfrm>
                    <a:off x="2608" y="1389"/>
                    <a:ext cx="1088" cy="272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C0C0C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spcAft>
                        <a:spcPct val="0"/>
                      </a:spcAft>
                      <a:buFontTx/>
                      <a:buNone/>
                    </a:pPr>
                    <a:endParaRPr lang="en-US" sz="1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53" y="1394"/>
                    <a:ext cx="998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spcAft>
                        <a:spcPct val="0"/>
                      </a:spcAft>
                      <a:buFontTx/>
                      <a:buNone/>
                    </a:pPr>
                    <a:r>
                      <a:rPr lang="en-US" sz="1800">
                        <a:solidFill>
                          <a:schemeClr val="tx1"/>
                        </a:solidFill>
                      </a:rPr>
                      <a:t>Hypervisor</a:t>
                    </a:r>
                  </a:p>
                </p:txBody>
              </p:sp>
            </p:grpSp>
            <p:sp>
              <p:nvSpPr>
                <p:cNvPr id="85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249" y="889"/>
                  <a:ext cx="72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 b="1" i="1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Ring 3</a:t>
                  </a:r>
                </a:p>
              </p:txBody>
            </p:sp>
            <p:sp>
              <p:nvSpPr>
                <p:cNvPr id="86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249" y="1239"/>
                  <a:ext cx="72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 b="1" i="1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Ring 2</a:t>
                  </a:r>
                </a:p>
              </p:txBody>
            </p:sp>
            <p:sp>
              <p:nvSpPr>
                <p:cNvPr id="87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249" y="1599"/>
                  <a:ext cx="72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 b="1" i="1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Ring 1</a:t>
                  </a:r>
                </a:p>
              </p:txBody>
            </p:sp>
            <p:sp>
              <p:nvSpPr>
                <p:cNvPr id="88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49" y="1970"/>
                  <a:ext cx="72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 b="1" i="1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Ring 0</a:t>
                  </a:r>
                </a:p>
              </p:txBody>
            </p:sp>
            <p:grpSp>
              <p:nvGrpSpPr>
                <p:cNvPr id="89" name="Group 136"/>
                <p:cNvGrpSpPr>
                  <a:grpSpLocks/>
                </p:cNvGrpSpPr>
                <p:nvPr/>
              </p:nvGrpSpPr>
              <p:grpSpPr bwMode="auto">
                <a:xfrm>
                  <a:off x="930" y="2473"/>
                  <a:ext cx="1088" cy="232"/>
                  <a:chOff x="3504" y="2597"/>
                  <a:chExt cx="1392" cy="366"/>
                </a:xfrm>
              </p:grpSpPr>
              <p:graphicFrame>
                <p:nvGraphicFramePr>
                  <p:cNvPr id="91" name="Object 137"/>
                  <p:cNvGraphicFramePr>
                    <a:graphicFrameLocks noChangeAspect="1"/>
                  </p:cNvGraphicFramePr>
                  <p:nvPr/>
                </p:nvGraphicFramePr>
                <p:xfrm>
                  <a:off x="3504" y="2597"/>
                  <a:ext cx="1392" cy="36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8203" name="Bitmap Image" r:id="rId4" imgW="2209524" imgH="581106" progId="PBrush">
                          <p:embed/>
                        </p:oleObj>
                      </mc:Choice>
                      <mc:Fallback>
                        <p:oleObj name="Bitmap Image" r:id="rId4" imgW="2209524" imgH="581106" progId="PBrush">
                          <p:embed/>
                          <p:pic>
                            <p:nvPicPr>
                              <p:cNvPr id="0" name="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504" y="2597"/>
                                <a:ext cx="1392" cy="36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ffectLst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chemeClr val="accent1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chemeClr val="tx1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  <a:ext uri="{AF507438-7753-43E0-B8FC-AC1667EBCBE1}">
                                  <a14:hiddenEffects xmlns:a14="http://schemas.microsoft.com/office/drawing/2010/main">
                                    <a:effectLst>
                                      <a:outerShdw dist="35921" dir="2700000" algn="ctr" rotWithShape="0">
                                        <a:schemeClr val="bg2"/>
                                      </a:outerShdw>
                                    </a:effectLst>
                                  </a14:hiddenEffects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92" name="Rectangle 138"/>
                  <p:cNvSpPr>
                    <a:spLocks noChangeArrowheads="1"/>
                  </p:cNvSpPr>
                  <p:nvPr/>
                </p:nvSpPr>
                <p:spPr bwMode="auto">
                  <a:xfrm>
                    <a:off x="3504" y="2597"/>
                    <a:ext cx="1392" cy="366"/>
                  </a:xfrm>
                  <a:prstGeom prst="rect">
                    <a:avLst/>
                  </a:prstGeom>
                  <a:noFill/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20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28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•"/>
                      <a:defRPr sz="16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–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600"/>
                      </a:spcBef>
                      <a:spcAft>
                        <a:spcPts val="600"/>
                      </a:spcAft>
                      <a:buFont typeface="Arial" panose="020B0604020202020204" pitchFamily="34" charset="0"/>
                      <a:buChar char="»"/>
                      <a:defRPr sz="1400">
                        <a:solidFill>
                          <a:srgbClr val="0A4780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spcAft>
                        <a:spcPct val="0"/>
                      </a:spcAft>
                      <a:buFontTx/>
                      <a:buNone/>
                    </a:pPr>
                    <a:endParaRPr lang="en-IN" sz="180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90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49" y="2493"/>
                  <a:ext cx="726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20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28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  <a:defRPr sz="16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–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60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»"/>
                    <a:defRPr sz="1400">
                      <a:solidFill>
                        <a:srgbClr val="0A4780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spcAft>
                      <a:spcPct val="0"/>
                    </a:spcAft>
                    <a:buFontTx/>
                    <a:buNone/>
                  </a:pPr>
                  <a:r>
                    <a:rPr lang="en-US" sz="1600" b="1" i="1">
                      <a:solidFill>
                        <a:schemeClr val="tx1"/>
                      </a:solidFill>
                      <a:latin typeface="Times New Roman" panose="02020603050405020304" pitchFamily="18" charset="0"/>
                    </a:rPr>
                    <a:t>Hardware</a:t>
                  </a:r>
                </a:p>
              </p:txBody>
            </p:sp>
          </p:grpSp>
          <p:cxnSp>
            <p:nvCxnSpPr>
              <p:cNvPr id="78" name="AutoShape 30"/>
              <p:cNvCxnSpPr>
                <a:cxnSpLocks noChangeShapeType="1"/>
                <a:stCxn id="99" idx="3"/>
                <a:endCxn id="92" idx="3"/>
              </p:cNvCxnSpPr>
              <p:nvPr/>
            </p:nvCxnSpPr>
            <p:spPr bwMode="auto">
              <a:xfrm>
                <a:off x="2480" y="799"/>
                <a:ext cx="1" cy="1608"/>
              </a:xfrm>
              <a:prstGeom prst="curvedConnector3">
                <a:avLst>
                  <a:gd name="adj1" fmla="val 44800014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AutoShape 31"/>
              <p:cNvCxnSpPr>
                <a:cxnSpLocks noChangeShapeType="1"/>
                <a:stCxn id="99" idx="3"/>
                <a:endCxn id="95" idx="3"/>
              </p:cNvCxnSpPr>
              <p:nvPr/>
            </p:nvCxnSpPr>
            <p:spPr bwMode="auto">
              <a:xfrm>
                <a:off x="2480" y="799"/>
                <a:ext cx="1" cy="726"/>
              </a:xfrm>
              <a:prstGeom prst="curvedConnector3">
                <a:avLst>
                  <a:gd name="adj1" fmla="val 14400005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AutoShape 32"/>
              <p:cNvCxnSpPr>
                <a:cxnSpLocks noChangeShapeType="1"/>
                <a:stCxn id="95" idx="3"/>
                <a:endCxn id="92" idx="3"/>
              </p:cNvCxnSpPr>
              <p:nvPr/>
            </p:nvCxnSpPr>
            <p:spPr bwMode="auto">
              <a:xfrm>
                <a:off x="2480" y="1525"/>
                <a:ext cx="1" cy="882"/>
              </a:xfrm>
              <a:prstGeom prst="curvedConnector3">
                <a:avLst>
                  <a:gd name="adj1" fmla="val 21400009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41" name="Line 33"/>
            <p:cNvSpPr>
              <a:spLocks noChangeShapeType="1"/>
            </p:cNvSpPr>
            <p:nvPr/>
          </p:nvSpPr>
          <p:spPr bwMode="auto">
            <a:xfrm>
              <a:off x="1891" y="2048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4" name="Group 35"/>
            <p:cNvGrpSpPr>
              <a:grpSpLocks/>
            </p:cNvGrpSpPr>
            <p:nvPr/>
          </p:nvGrpSpPr>
          <p:grpSpPr bwMode="auto">
            <a:xfrm>
              <a:off x="2024" y="2039"/>
              <a:ext cx="726" cy="324"/>
              <a:chOff x="1562" y="2221"/>
              <a:chExt cx="726" cy="324"/>
            </a:xfrm>
          </p:grpSpPr>
          <p:sp>
            <p:nvSpPr>
              <p:cNvPr id="75" name="Line 36"/>
              <p:cNvSpPr>
                <a:spLocks noChangeShapeType="1"/>
              </p:cNvSpPr>
              <p:nvPr/>
            </p:nvSpPr>
            <p:spPr bwMode="auto">
              <a:xfrm flipH="1" flipV="1">
                <a:off x="1565" y="2227"/>
                <a:ext cx="408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6" name="Text Box 37"/>
              <p:cNvSpPr txBox="1">
                <a:spLocks noChangeArrowheads="1"/>
              </p:cNvSpPr>
              <p:nvPr/>
            </p:nvSpPr>
            <p:spPr bwMode="auto">
              <a:xfrm>
                <a:off x="1562" y="2221"/>
                <a:ext cx="72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600" b="1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Trap</a:t>
                </a:r>
              </a:p>
            </p:txBody>
          </p:sp>
        </p:grpSp>
      </p:grpSp>
      <p:sp>
        <p:nvSpPr>
          <p:cNvPr id="101" name="Text Box 38"/>
          <p:cNvSpPr txBox="1">
            <a:spLocks noChangeArrowheads="1"/>
          </p:cNvSpPr>
          <p:nvPr/>
        </p:nvSpPr>
        <p:spPr bwMode="auto">
          <a:xfrm>
            <a:off x="4916488" y="4621212"/>
            <a:ext cx="63373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Problems :  Binary Translation is complex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                   Poor performance due to binary translation   </a:t>
            </a:r>
          </a:p>
        </p:txBody>
      </p:sp>
      <p:grpSp>
        <p:nvGrpSpPr>
          <p:cNvPr id="102" name="Group 95"/>
          <p:cNvGrpSpPr>
            <a:grpSpLocks/>
          </p:cNvGrpSpPr>
          <p:nvPr/>
        </p:nvGrpSpPr>
        <p:grpSpPr bwMode="auto">
          <a:xfrm>
            <a:off x="8716963" y="1858962"/>
            <a:ext cx="3105150" cy="600075"/>
            <a:chOff x="3283" y="1162"/>
            <a:chExt cx="1956" cy="378"/>
          </a:xfrm>
        </p:grpSpPr>
        <p:sp>
          <p:nvSpPr>
            <p:cNvPr id="103" name="Rectangle 83"/>
            <p:cNvSpPr>
              <a:spLocks noChangeArrowheads="1"/>
            </p:cNvSpPr>
            <p:nvPr/>
          </p:nvSpPr>
          <p:spPr bwMode="auto">
            <a:xfrm>
              <a:off x="3432" y="1494"/>
              <a:ext cx="46" cy="4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104" name="Text Box 86"/>
            <p:cNvSpPr txBox="1">
              <a:spLocks noChangeArrowheads="1"/>
            </p:cNvSpPr>
            <p:nvPr/>
          </p:nvSpPr>
          <p:spPr bwMode="auto">
            <a:xfrm>
              <a:off x="3283" y="1162"/>
              <a:ext cx="195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200" b="1">
                  <a:solidFill>
                    <a:srgbClr val="FF0000"/>
                  </a:solidFill>
                </a:rPr>
                <a:t>POPF (non-virtualizable instruction)</a:t>
              </a:r>
            </a:p>
          </p:txBody>
        </p:sp>
        <p:sp>
          <p:nvSpPr>
            <p:cNvPr id="105" name="Line 87"/>
            <p:cNvSpPr>
              <a:spLocks noChangeShapeType="1"/>
            </p:cNvSpPr>
            <p:nvPr/>
          </p:nvSpPr>
          <p:spPr bwMode="auto">
            <a:xfrm>
              <a:off x="3448" y="1314"/>
              <a:ext cx="0" cy="18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6" name="Group 92"/>
          <p:cNvGrpSpPr>
            <a:grpSpLocks/>
          </p:cNvGrpSpPr>
          <p:nvPr/>
        </p:nvGrpSpPr>
        <p:grpSpPr bwMode="auto">
          <a:xfrm>
            <a:off x="8450263" y="2290762"/>
            <a:ext cx="2519362" cy="288925"/>
            <a:chOff x="3115" y="1434"/>
            <a:chExt cx="1587" cy="182"/>
          </a:xfrm>
        </p:grpSpPr>
        <p:grpSp>
          <p:nvGrpSpPr>
            <p:cNvPr id="107" name="Group 49"/>
            <p:cNvGrpSpPr>
              <a:grpSpLocks/>
            </p:cNvGrpSpPr>
            <p:nvPr/>
          </p:nvGrpSpPr>
          <p:grpSpPr bwMode="auto">
            <a:xfrm>
              <a:off x="3115" y="1434"/>
              <a:ext cx="952" cy="182"/>
              <a:chOff x="3878" y="1797"/>
              <a:chExt cx="952" cy="182"/>
            </a:xfrm>
          </p:grpSpPr>
          <p:sp>
            <p:nvSpPr>
              <p:cNvPr id="109" name="Rectangle 42"/>
              <p:cNvSpPr>
                <a:spLocks noChangeArrowheads="1"/>
              </p:cNvSpPr>
              <p:nvPr/>
            </p:nvSpPr>
            <p:spPr bwMode="auto">
              <a:xfrm>
                <a:off x="3878" y="1797"/>
                <a:ext cx="952" cy="18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Line 43"/>
              <p:cNvSpPr>
                <a:spLocks noChangeShapeType="1"/>
              </p:cNvSpPr>
              <p:nvPr/>
            </p:nvSpPr>
            <p:spPr bwMode="auto">
              <a:xfrm>
                <a:off x="4014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1" name="Line 44"/>
              <p:cNvSpPr>
                <a:spLocks noChangeShapeType="1"/>
              </p:cNvSpPr>
              <p:nvPr/>
            </p:nvSpPr>
            <p:spPr bwMode="auto">
              <a:xfrm>
                <a:off x="4150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2" name="Line 45"/>
              <p:cNvSpPr>
                <a:spLocks noChangeShapeType="1"/>
              </p:cNvSpPr>
              <p:nvPr/>
            </p:nvSpPr>
            <p:spPr bwMode="auto">
              <a:xfrm>
                <a:off x="4286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3" name="Line 46"/>
              <p:cNvSpPr>
                <a:spLocks noChangeShapeType="1"/>
              </p:cNvSpPr>
              <p:nvPr/>
            </p:nvSpPr>
            <p:spPr bwMode="auto">
              <a:xfrm>
                <a:off x="4422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4" name="Line 47"/>
              <p:cNvSpPr>
                <a:spLocks noChangeShapeType="1"/>
              </p:cNvSpPr>
              <p:nvPr/>
            </p:nvSpPr>
            <p:spPr bwMode="auto">
              <a:xfrm>
                <a:off x="4558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5" name="Line 48"/>
              <p:cNvSpPr>
                <a:spLocks noChangeShapeType="1"/>
              </p:cNvSpPr>
              <p:nvPr/>
            </p:nvSpPr>
            <p:spPr bwMode="auto">
              <a:xfrm>
                <a:off x="4694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08" name="Text Box 88"/>
            <p:cNvSpPr txBox="1">
              <a:spLocks noChangeArrowheads="1"/>
            </p:cNvSpPr>
            <p:nvPr/>
          </p:nvSpPr>
          <p:spPr bwMode="auto">
            <a:xfrm>
              <a:off x="4068" y="1434"/>
              <a:ext cx="63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200" b="1">
                  <a:solidFill>
                    <a:schemeClr val="tx1"/>
                  </a:solidFill>
                </a:rPr>
                <a:t>VM Code</a:t>
              </a:r>
            </a:p>
          </p:txBody>
        </p:sp>
      </p:grpSp>
      <p:grpSp>
        <p:nvGrpSpPr>
          <p:cNvPr id="116" name="Group 97"/>
          <p:cNvGrpSpPr>
            <a:grpSpLocks/>
          </p:cNvGrpSpPr>
          <p:nvPr/>
        </p:nvGrpSpPr>
        <p:grpSpPr bwMode="auto">
          <a:xfrm>
            <a:off x="8594725" y="2578100"/>
            <a:ext cx="2447925" cy="1655762"/>
            <a:chOff x="3206" y="1615"/>
            <a:chExt cx="1542" cy="1043"/>
          </a:xfrm>
        </p:grpSpPr>
        <p:grpSp>
          <p:nvGrpSpPr>
            <p:cNvPr id="117" name="Group 50"/>
            <p:cNvGrpSpPr>
              <a:grpSpLocks/>
            </p:cNvGrpSpPr>
            <p:nvPr/>
          </p:nvGrpSpPr>
          <p:grpSpPr bwMode="auto">
            <a:xfrm>
              <a:off x="3251" y="2295"/>
              <a:ext cx="952" cy="182"/>
              <a:chOff x="3878" y="1797"/>
              <a:chExt cx="952" cy="182"/>
            </a:xfrm>
          </p:grpSpPr>
          <p:sp>
            <p:nvSpPr>
              <p:cNvPr id="133" name="Rectangle 51"/>
              <p:cNvSpPr>
                <a:spLocks noChangeArrowheads="1"/>
              </p:cNvSpPr>
              <p:nvPr/>
            </p:nvSpPr>
            <p:spPr bwMode="auto">
              <a:xfrm>
                <a:off x="3878" y="1797"/>
                <a:ext cx="952" cy="182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Line 52"/>
              <p:cNvSpPr>
                <a:spLocks noChangeShapeType="1"/>
              </p:cNvSpPr>
              <p:nvPr/>
            </p:nvSpPr>
            <p:spPr bwMode="auto">
              <a:xfrm>
                <a:off x="4014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5" name="Line 53"/>
              <p:cNvSpPr>
                <a:spLocks noChangeShapeType="1"/>
              </p:cNvSpPr>
              <p:nvPr/>
            </p:nvSpPr>
            <p:spPr bwMode="auto">
              <a:xfrm>
                <a:off x="4150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6" name="Line 54"/>
              <p:cNvSpPr>
                <a:spLocks noChangeShapeType="1"/>
              </p:cNvSpPr>
              <p:nvPr/>
            </p:nvSpPr>
            <p:spPr bwMode="auto">
              <a:xfrm>
                <a:off x="4286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7" name="Line 55"/>
              <p:cNvSpPr>
                <a:spLocks noChangeShapeType="1"/>
              </p:cNvSpPr>
              <p:nvPr/>
            </p:nvSpPr>
            <p:spPr bwMode="auto">
              <a:xfrm>
                <a:off x="4422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8" name="Line 56"/>
              <p:cNvSpPr>
                <a:spLocks noChangeShapeType="1"/>
              </p:cNvSpPr>
              <p:nvPr/>
            </p:nvSpPr>
            <p:spPr bwMode="auto">
              <a:xfrm>
                <a:off x="4558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9" name="Line 57"/>
              <p:cNvSpPr>
                <a:spLocks noChangeShapeType="1"/>
              </p:cNvSpPr>
              <p:nvPr/>
            </p:nvSpPr>
            <p:spPr bwMode="auto">
              <a:xfrm>
                <a:off x="4694" y="1797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18" name="Group 74"/>
            <p:cNvGrpSpPr>
              <a:grpSpLocks/>
            </p:cNvGrpSpPr>
            <p:nvPr/>
          </p:nvGrpSpPr>
          <p:grpSpPr bwMode="auto">
            <a:xfrm>
              <a:off x="4204" y="2295"/>
              <a:ext cx="544" cy="182"/>
              <a:chOff x="4150" y="2613"/>
              <a:chExt cx="544" cy="182"/>
            </a:xfrm>
          </p:grpSpPr>
          <p:sp>
            <p:nvSpPr>
              <p:cNvPr id="129" name="Rectangle 67"/>
              <p:cNvSpPr>
                <a:spLocks noChangeArrowheads="1"/>
              </p:cNvSpPr>
              <p:nvPr/>
            </p:nvSpPr>
            <p:spPr bwMode="auto">
              <a:xfrm>
                <a:off x="4150" y="2613"/>
                <a:ext cx="544" cy="18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Line 68"/>
              <p:cNvSpPr>
                <a:spLocks noChangeShapeType="1"/>
              </p:cNvSpPr>
              <p:nvPr/>
            </p:nvSpPr>
            <p:spPr bwMode="auto">
              <a:xfrm>
                <a:off x="4286" y="2613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1" name="Line 69"/>
              <p:cNvSpPr>
                <a:spLocks noChangeShapeType="1"/>
              </p:cNvSpPr>
              <p:nvPr/>
            </p:nvSpPr>
            <p:spPr bwMode="auto">
              <a:xfrm>
                <a:off x="4422" y="2613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2" name="Line 70"/>
              <p:cNvSpPr>
                <a:spLocks noChangeShapeType="1"/>
              </p:cNvSpPr>
              <p:nvPr/>
            </p:nvSpPr>
            <p:spPr bwMode="auto">
              <a:xfrm>
                <a:off x="4558" y="2613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19" name="Rectangle 84"/>
            <p:cNvSpPr>
              <a:spLocks noChangeArrowheads="1"/>
            </p:cNvSpPr>
            <p:nvPr/>
          </p:nvSpPr>
          <p:spPr bwMode="auto">
            <a:xfrm>
              <a:off x="3568" y="2364"/>
              <a:ext cx="46" cy="4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endParaRPr lang="en-US" sz="1800">
                <a:solidFill>
                  <a:schemeClr val="tx1"/>
                </a:solidFill>
              </a:endParaRPr>
            </a:p>
          </p:txBody>
        </p:sp>
        <p:grpSp>
          <p:nvGrpSpPr>
            <p:cNvPr id="120" name="Group 96"/>
            <p:cNvGrpSpPr>
              <a:grpSpLocks/>
            </p:cNvGrpSpPr>
            <p:nvPr/>
          </p:nvGrpSpPr>
          <p:grpSpPr bwMode="auto">
            <a:xfrm>
              <a:off x="3206" y="1615"/>
              <a:ext cx="944" cy="681"/>
              <a:chOff x="3206" y="1615"/>
              <a:chExt cx="944" cy="681"/>
            </a:xfrm>
          </p:grpSpPr>
          <p:sp>
            <p:nvSpPr>
              <p:cNvPr id="122" name="Line 76"/>
              <p:cNvSpPr>
                <a:spLocks noChangeShapeType="1"/>
              </p:cNvSpPr>
              <p:nvPr/>
            </p:nvSpPr>
            <p:spPr bwMode="auto">
              <a:xfrm>
                <a:off x="3206" y="1615"/>
                <a:ext cx="136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3" name="Line 77"/>
              <p:cNvSpPr>
                <a:spLocks noChangeShapeType="1"/>
              </p:cNvSpPr>
              <p:nvPr/>
            </p:nvSpPr>
            <p:spPr bwMode="auto">
              <a:xfrm>
                <a:off x="3342" y="1615"/>
                <a:ext cx="136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4" name="Line 78"/>
              <p:cNvSpPr>
                <a:spLocks noChangeShapeType="1"/>
              </p:cNvSpPr>
              <p:nvPr/>
            </p:nvSpPr>
            <p:spPr bwMode="auto">
              <a:xfrm>
                <a:off x="3440" y="1615"/>
                <a:ext cx="157" cy="681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5" name="Line 79"/>
              <p:cNvSpPr>
                <a:spLocks noChangeShapeType="1"/>
              </p:cNvSpPr>
              <p:nvPr/>
            </p:nvSpPr>
            <p:spPr bwMode="auto">
              <a:xfrm>
                <a:off x="3569" y="1615"/>
                <a:ext cx="156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6" name="Line 80"/>
              <p:cNvSpPr>
                <a:spLocks noChangeShapeType="1"/>
              </p:cNvSpPr>
              <p:nvPr/>
            </p:nvSpPr>
            <p:spPr bwMode="auto">
              <a:xfrm>
                <a:off x="3705" y="1615"/>
                <a:ext cx="156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7" name="Line 81"/>
              <p:cNvSpPr>
                <a:spLocks noChangeShapeType="1"/>
              </p:cNvSpPr>
              <p:nvPr/>
            </p:nvSpPr>
            <p:spPr bwMode="auto">
              <a:xfrm>
                <a:off x="3857" y="1615"/>
                <a:ext cx="157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8" name="Line 85"/>
              <p:cNvSpPr>
                <a:spLocks noChangeShapeType="1"/>
              </p:cNvSpPr>
              <p:nvPr/>
            </p:nvSpPr>
            <p:spPr bwMode="auto">
              <a:xfrm>
                <a:off x="3993" y="1615"/>
                <a:ext cx="157" cy="6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21" name="Text Box 89"/>
            <p:cNvSpPr txBox="1">
              <a:spLocks noChangeArrowheads="1"/>
            </p:cNvSpPr>
            <p:nvPr/>
          </p:nvSpPr>
          <p:spPr bwMode="auto">
            <a:xfrm>
              <a:off x="3614" y="2485"/>
              <a:ext cx="99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200" b="1">
                  <a:solidFill>
                    <a:schemeClr val="tx1"/>
                  </a:solidFill>
                </a:rPr>
                <a:t>Translation Cache</a:t>
              </a:r>
            </a:p>
          </p:txBody>
        </p:sp>
      </p:grpSp>
      <p:grpSp>
        <p:nvGrpSpPr>
          <p:cNvPr id="140" name="Group 94"/>
          <p:cNvGrpSpPr>
            <a:grpSpLocks/>
          </p:cNvGrpSpPr>
          <p:nvPr/>
        </p:nvGrpSpPr>
        <p:grpSpPr bwMode="auto">
          <a:xfrm>
            <a:off x="7515225" y="2803525"/>
            <a:ext cx="3452813" cy="279400"/>
            <a:chOff x="2526" y="1757"/>
            <a:chExt cx="2175" cy="176"/>
          </a:xfrm>
        </p:grpSpPr>
        <p:sp>
          <p:nvSpPr>
            <p:cNvPr id="141" name="Line 40"/>
            <p:cNvSpPr>
              <a:spLocks noChangeShapeType="1"/>
            </p:cNvSpPr>
            <p:nvPr/>
          </p:nvSpPr>
          <p:spPr bwMode="auto">
            <a:xfrm>
              <a:off x="2526" y="1933"/>
              <a:ext cx="2040" cy="0"/>
            </a:xfrm>
            <a:prstGeom prst="line">
              <a:avLst/>
            </a:prstGeom>
            <a:noFill/>
            <a:ln w="57150" cap="rnd" cmpd="tri">
              <a:solidFill>
                <a:schemeClr val="tx1"/>
              </a:solidFill>
              <a:prstDash val="sysDot"/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2" name="Text Box 90"/>
            <p:cNvSpPr txBox="1">
              <a:spLocks noChangeArrowheads="1"/>
            </p:cNvSpPr>
            <p:nvPr/>
          </p:nvSpPr>
          <p:spPr bwMode="auto">
            <a:xfrm>
              <a:off x="4067" y="1757"/>
              <a:ext cx="63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200" b="1">
                  <a:solidFill>
                    <a:schemeClr val="tx1"/>
                  </a:solidFill>
                </a:rPr>
                <a:t>Scan</a:t>
              </a:r>
            </a:p>
          </p:txBody>
        </p:sp>
      </p:grpSp>
      <p:grpSp>
        <p:nvGrpSpPr>
          <p:cNvPr id="143" name="Group 101"/>
          <p:cNvGrpSpPr>
            <a:grpSpLocks/>
          </p:cNvGrpSpPr>
          <p:nvPr/>
        </p:nvGrpSpPr>
        <p:grpSpPr bwMode="auto">
          <a:xfrm>
            <a:off x="9123363" y="3227387"/>
            <a:ext cx="2947987" cy="285750"/>
            <a:chOff x="3539" y="2252"/>
            <a:chExt cx="1857" cy="180"/>
          </a:xfrm>
        </p:grpSpPr>
        <p:sp>
          <p:nvSpPr>
            <p:cNvPr id="144" name="Text Box 99"/>
            <p:cNvSpPr txBox="1">
              <a:spLocks noChangeArrowheads="1"/>
            </p:cNvSpPr>
            <p:nvPr/>
          </p:nvSpPr>
          <p:spPr bwMode="auto">
            <a:xfrm>
              <a:off x="4308" y="2259"/>
              <a:ext cx="108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200" b="1">
                  <a:solidFill>
                    <a:schemeClr val="hlink"/>
                  </a:solidFill>
                </a:rPr>
                <a:t>Binary Translation</a:t>
              </a:r>
            </a:p>
          </p:txBody>
        </p:sp>
        <p:sp>
          <p:nvSpPr>
            <p:cNvPr id="145" name="Line 100"/>
            <p:cNvSpPr>
              <a:spLocks noChangeShapeType="1"/>
            </p:cNvSpPr>
            <p:nvPr/>
          </p:nvSpPr>
          <p:spPr bwMode="auto">
            <a:xfrm flipH="1" flipV="1">
              <a:off x="3539" y="2252"/>
              <a:ext cx="771" cy="9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dash"/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6" name="TextBox 145"/>
          <p:cNvSpPr txBox="1">
            <a:spLocks noChangeArrowheads="1"/>
          </p:cNvSpPr>
          <p:nvPr/>
        </p:nvSpPr>
        <p:spPr bwMode="auto">
          <a:xfrm>
            <a:off x="4895850" y="5638800"/>
            <a:ext cx="71437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rgbClr val="FF0000"/>
                </a:solidFill>
              </a:rPr>
              <a:t>Solution   :  Dynamic Binary Translation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sz="800" dirty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rgbClr val="FF0000"/>
                </a:solidFill>
              </a:rPr>
              <a:t>                   Hardware Assisted Full Virtualization : Intel-VT &amp; AMD-V</a:t>
            </a:r>
          </a:p>
        </p:txBody>
      </p:sp>
    </p:spTree>
    <p:extLst>
      <p:ext uri="{BB962C8B-B14F-4D97-AF65-F5344CB8AC3E}">
        <p14:creationId xmlns:p14="http://schemas.microsoft.com/office/powerpoint/2010/main" val="37491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07" name="Title 1"/>
          <p:cNvSpPr txBox="1">
            <a:spLocks/>
          </p:cNvSpPr>
          <p:nvPr/>
        </p:nvSpPr>
        <p:spPr bwMode="auto">
          <a:xfrm>
            <a:off x="152400" y="-596900"/>
            <a:ext cx="11582400" cy="128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en-US" sz="3400" dirty="0" smtClean="0">
                <a:solidFill>
                  <a:srgbClr val="1D243C"/>
                </a:solidFill>
              </a:rPr>
              <a:t>Solution 3: </a:t>
            </a:r>
            <a:r>
              <a:rPr lang="en-US" altLang="en-US" sz="3400" dirty="0" err="1" smtClean="0">
                <a:solidFill>
                  <a:srgbClr val="1D243C"/>
                </a:solidFill>
              </a:rPr>
              <a:t>Paravirtualization</a:t>
            </a:r>
            <a:endParaRPr lang="en-US" altLang="en-US" sz="3400" dirty="0">
              <a:solidFill>
                <a:srgbClr val="1D243C"/>
              </a:solidFill>
            </a:endParaRPr>
          </a:p>
        </p:txBody>
      </p:sp>
      <p:sp>
        <p:nvSpPr>
          <p:cNvPr id="21508" name="AutoShape 4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1509" name="AutoShape 6" descr="Image result for data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8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8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defRPr sz="1400">
                <a:solidFill>
                  <a:schemeClr val="tx2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9" y="1226153"/>
            <a:ext cx="3813514" cy="3498247"/>
          </a:xfrm>
          <a:prstGeom prst="rect">
            <a:avLst/>
          </a:prstGeom>
        </p:spPr>
      </p:pic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428648" y="5334000"/>
            <a:ext cx="379410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ISSUE :  How to </a:t>
            </a:r>
            <a:r>
              <a:rPr lang="en-US" sz="1800" b="1" dirty="0" smtClean="0">
                <a:solidFill>
                  <a:srgbClr val="FF0000"/>
                </a:solidFill>
              </a:rPr>
              <a:t>resolve  </a:t>
            </a:r>
            <a:r>
              <a:rPr lang="en-US" sz="1800" b="1" dirty="0">
                <a:solidFill>
                  <a:srgbClr val="FF0000"/>
                </a:solidFill>
              </a:rPr>
              <a:t>the </a:t>
            </a:r>
            <a:r>
              <a:rPr lang="en-US" sz="1800" b="1" dirty="0" smtClean="0">
                <a:solidFill>
                  <a:srgbClr val="FF0000"/>
                </a:solidFill>
              </a:rPr>
              <a:t>race</a:t>
            </a:r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smtClean="0">
                <a:solidFill>
                  <a:srgbClr val="FF0000"/>
                </a:solidFill>
              </a:rPr>
              <a:t>              </a:t>
            </a:r>
            <a:r>
              <a:rPr lang="en-US" sz="1800" b="1" dirty="0">
                <a:solidFill>
                  <a:srgbClr val="FF0000"/>
                </a:solidFill>
              </a:rPr>
              <a:t>among </a:t>
            </a:r>
            <a:r>
              <a:rPr lang="en-US" sz="1800" b="1" dirty="0" smtClean="0">
                <a:solidFill>
                  <a:srgbClr val="FF0000"/>
                </a:solidFill>
              </a:rPr>
              <a:t>Guest </a:t>
            </a:r>
            <a:r>
              <a:rPr lang="en-US" sz="1800" b="1" dirty="0">
                <a:solidFill>
                  <a:srgbClr val="FF0000"/>
                </a:solidFill>
              </a:rPr>
              <a:t>OSs?</a:t>
            </a:r>
          </a:p>
        </p:txBody>
      </p:sp>
      <p:grpSp>
        <p:nvGrpSpPr>
          <p:cNvPr id="147" name="Group 45"/>
          <p:cNvGrpSpPr>
            <a:grpSpLocks/>
          </p:cNvGrpSpPr>
          <p:nvPr/>
        </p:nvGrpSpPr>
        <p:grpSpPr bwMode="auto">
          <a:xfrm>
            <a:off x="5967412" y="1066800"/>
            <a:ext cx="3236913" cy="3527425"/>
            <a:chOff x="1474" y="845"/>
            <a:chExt cx="2039" cy="2222"/>
          </a:xfrm>
        </p:grpSpPr>
        <p:grpSp>
          <p:nvGrpSpPr>
            <p:cNvPr id="148" name="Group 10"/>
            <p:cNvGrpSpPr>
              <a:grpSpLocks/>
            </p:cNvGrpSpPr>
            <p:nvPr/>
          </p:nvGrpSpPr>
          <p:grpSpPr bwMode="auto">
            <a:xfrm>
              <a:off x="2155" y="845"/>
              <a:ext cx="1088" cy="272"/>
              <a:chOff x="2608" y="1389"/>
              <a:chExt cx="1088" cy="272"/>
            </a:xfrm>
          </p:grpSpPr>
          <p:sp>
            <p:nvSpPr>
              <p:cNvPr id="174" name="AutoShape 11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75" name="Text Box 12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800">
                    <a:solidFill>
                      <a:schemeClr val="tx1"/>
                    </a:solidFill>
                  </a:rPr>
                  <a:t>User App</a:t>
                </a:r>
              </a:p>
            </p:txBody>
          </p:sp>
        </p:grpSp>
        <p:grpSp>
          <p:nvGrpSpPr>
            <p:cNvPr id="149" name="Group 13"/>
            <p:cNvGrpSpPr>
              <a:grpSpLocks/>
            </p:cNvGrpSpPr>
            <p:nvPr/>
          </p:nvGrpSpPr>
          <p:grpSpPr bwMode="auto">
            <a:xfrm>
              <a:off x="2155" y="1208"/>
              <a:ext cx="1088" cy="272"/>
              <a:chOff x="2608" y="1389"/>
              <a:chExt cx="1088" cy="272"/>
            </a:xfrm>
          </p:grpSpPr>
          <p:sp>
            <p:nvSpPr>
              <p:cNvPr id="172" name="AutoShape 14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73" name="Text Box 15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0" name="Group 16"/>
            <p:cNvGrpSpPr>
              <a:grpSpLocks/>
            </p:cNvGrpSpPr>
            <p:nvPr/>
          </p:nvGrpSpPr>
          <p:grpSpPr bwMode="auto">
            <a:xfrm>
              <a:off x="2155" y="1971"/>
              <a:ext cx="1088" cy="272"/>
              <a:chOff x="2608" y="1389"/>
              <a:chExt cx="1088" cy="272"/>
            </a:xfrm>
          </p:grpSpPr>
          <p:sp>
            <p:nvSpPr>
              <p:cNvPr id="170" name="AutoShape 17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71" name="Text Box 18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800">
                    <a:solidFill>
                      <a:schemeClr val="tx1"/>
                    </a:solidFill>
                  </a:rPr>
                  <a:t>Guest OS</a:t>
                </a:r>
              </a:p>
            </p:txBody>
          </p:sp>
        </p:grpSp>
        <p:grpSp>
          <p:nvGrpSpPr>
            <p:cNvPr id="151" name="Group 19"/>
            <p:cNvGrpSpPr>
              <a:grpSpLocks/>
            </p:cNvGrpSpPr>
            <p:nvPr/>
          </p:nvGrpSpPr>
          <p:grpSpPr bwMode="auto">
            <a:xfrm>
              <a:off x="2155" y="2317"/>
              <a:ext cx="1088" cy="272"/>
              <a:chOff x="2608" y="1389"/>
              <a:chExt cx="1088" cy="272"/>
            </a:xfrm>
          </p:grpSpPr>
          <p:sp>
            <p:nvSpPr>
              <p:cNvPr id="168" name="AutoShape 20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69" name="Text Box 21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800">
                    <a:solidFill>
                      <a:schemeClr val="tx1"/>
                    </a:solidFill>
                  </a:rPr>
                  <a:t>Hypervisor</a:t>
                </a:r>
              </a:p>
            </p:txBody>
          </p:sp>
        </p:grpSp>
        <p:sp>
          <p:nvSpPr>
            <p:cNvPr id="152" name="Text Box 22"/>
            <p:cNvSpPr txBox="1">
              <a:spLocks noChangeArrowheads="1"/>
            </p:cNvSpPr>
            <p:nvPr/>
          </p:nvSpPr>
          <p:spPr bwMode="auto">
            <a:xfrm>
              <a:off x="1474" y="889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Ring 3</a:t>
              </a:r>
            </a:p>
          </p:txBody>
        </p:sp>
        <p:sp>
          <p:nvSpPr>
            <p:cNvPr id="153" name="Text Box 23"/>
            <p:cNvSpPr txBox="1">
              <a:spLocks noChangeArrowheads="1"/>
            </p:cNvSpPr>
            <p:nvPr/>
          </p:nvSpPr>
          <p:spPr bwMode="auto">
            <a:xfrm>
              <a:off x="1474" y="1239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Ring 2</a:t>
              </a:r>
            </a:p>
          </p:txBody>
        </p:sp>
        <p:sp>
          <p:nvSpPr>
            <p:cNvPr id="154" name="Text Box 24"/>
            <p:cNvSpPr txBox="1">
              <a:spLocks noChangeArrowheads="1"/>
            </p:cNvSpPr>
            <p:nvPr/>
          </p:nvSpPr>
          <p:spPr bwMode="auto">
            <a:xfrm>
              <a:off x="1474" y="1599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Ring 1</a:t>
              </a:r>
            </a:p>
          </p:txBody>
        </p:sp>
        <p:sp>
          <p:nvSpPr>
            <p:cNvPr id="155" name="Text Box 25"/>
            <p:cNvSpPr txBox="1">
              <a:spLocks noChangeArrowheads="1"/>
            </p:cNvSpPr>
            <p:nvPr/>
          </p:nvSpPr>
          <p:spPr bwMode="auto">
            <a:xfrm>
              <a:off x="1474" y="1970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Ring 0</a:t>
              </a:r>
            </a:p>
          </p:txBody>
        </p:sp>
        <p:grpSp>
          <p:nvGrpSpPr>
            <p:cNvPr id="156" name="Group 136"/>
            <p:cNvGrpSpPr>
              <a:grpSpLocks/>
            </p:cNvGrpSpPr>
            <p:nvPr/>
          </p:nvGrpSpPr>
          <p:grpSpPr bwMode="auto">
            <a:xfrm>
              <a:off x="2155" y="2835"/>
              <a:ext cx="1088" cy="232"/>
              <a:chOff x="3504" y="2597"/>
              <a:chExt cx="1392" cy="366"/>
            </a:xfrm>
          </p:grpSpPr>
          <p:graphicFrame>
            <p:nvGraphicFramePr>
              <p:cNvPr id="166" name="Object 137"/>
              <p:cNvGraphicFramePr>
                <a:graphicFrameLocks noChangeAspect="1"/>
              </p:cNvGraphicFramePr>
              <p:nvPr/>
            </p:nvGraphicFramePr>
            <p:xfrm>
              <a:off x="3504" y="2597"/>
              <a:ext cx="1392" cy="3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226" name="Bitmap Image" r:id="rId4" imgW="2209524" imgH="581106" progId="PBrush">
                      <p:embed/>
                    </p:oleObj>
                  </mc:Choice>
                  <mc:Fallback>
                    <p:oleObj name="Bitmap Image" r:id="rId4" imgW="2209524" imgH="581106" progId="PBrush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2597"/>
                            <a:ext cx="1392" cy="3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7" name="Rectangle 138"/>
              <p:cNvSpPr>
                <a:spLocks noChangeArrowheads="1"/>
              </p:cNvSpPr>
              <p:nvPr/>
            </p:nvSpPr>
            <p:spPr bwMode="auto">
              <a:xfrm>
                <a:off x="3504" y="2597"/>
                <a:ext cx="1392" cy="36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I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57" name="Text Box 29"/>
            <p:cNvSpPr txBox="1">
              <a:spLocks noChangeArrowheads="1"/>
            </p:cNvSpPr>
            <p:nvPr/>
          </p:nvSpPr>
          <p:spPr bwMode="auto">
            <a:xfrm>
              <a:off x="1474" y="2855"/>
              <a:ext cx="7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6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Hardware</a:t>
              </a:r>
            </a:p>
          </p:txBody>
        </p:sp>
        <p:cxnSp>
          <p:nvCxnSpPr>
            <p:cNvPr id="158" name="AutoShape 30"/>
            <p:cNvCxnSpPr>
              <a:cxnSpLocks noChangeShapeType="1"/>
              <a:stCxn id="174" idx="3"/>
              <a:endCxn id="167" idx="3"/>
            </p:cNvCxnSpPr>
            <p:nvPr/>
          </p:nvCxnSpPr>
          <p:spPr bwMode="auto">
            <a:xfrm>
              <a:off x="3243" y="981"/>
              <a:ext cx="1" cy="1970"/>
            </a:xfrm>
            <a:prstGeom prst="curvedConnector3">
              <a:avLst>
                <a:gd name="adj1" fmla="val 727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9" name="Line 33"/>
            <p:cNvSpPr>
              <a:spLocks noChangeShapeType="1"/>
            </p:cNvSpPr>
            <p:nvPr/>
          </p:nvSpPr>
          <p:spPr bwMode="auto">
            <a:xfrm>
              <a:off x="2654" y="2592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160" name="Group 35"/>
            <p:cNvGrpSpPr>
              <a:grpSpLocks/>
            </p:cNvGrpSpPr>
            <p:nvPr/>
          </p:nvGrpSpPr>
          <p:grpSpPr bwMode="auto">
            <a:xfrm>
              <a:off x="2787" y="2583"/>
              <a:ext cx="726" cy="324"/>
              <a:chOff x="1562" y="2221"/>
              <a:chExt cx="726" cy="324"/>
            </a:xfrm>
          </p:grpSpPr>
          <p:sp>
            <p:nvSpPr>
              <p:cNvPr id="164" name="Line 36"/>
              <p:cNvSpPr>
                <a:spLocks noChangeShapeType="1"/>
              </p:cNvSpPr>
              <p:nvPr/>
            </p:nvSpPr>
            <p:spPr bwMode="auto">
              <a:xfrm flipH="1" flipV="1">
                <a:off x="1565" y="2227"/>
                <a:ext cx="408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5" name="Text Box 37"/>
              <p:cNvSpPr txBox="1">
                <a:spLocks noChangeArrowheads="1"/>
              </p:cNvSpPr>
              <p:nvPr/>
            </p:nvSpPr>
            <p:spPr bwMode="auto">
              <a:xfrm>
                <a:off x="1562" y="2221"/>
                <a:ext cx="72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r>
                  <a:rPr lang="en-US" sz="1600" b="1" i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Trap</a:t>
                </a:r>
              </a:p>
            </p:txBody>
          </p:sp>
        </p:grpSp>
        <p:grpSp>
          <p:nvGrpSpPr>
            <p:cNvPr id="161" name="Group 40"/>
            <p:cNvGrpSpPr>
              <a:grpSpLocks/>
            </p:cNvGrpSpPr>
            <p:nvPr/>
          </p:nvGrpSpPr>
          <p:grpSpPr bwMode="auto">
            <a:xfrm>
              <a:off x="2154" y="1586"/>
              <a:ext cx="1088" cy="272"/>
              <a:chOff x="2608" y="1389"/>
              <a:chExt cx="1088" cy="272"/>
            </a:xfrm>
          </p:grpSpPr>
          <p:sp>
            <p:nvSpPr>
              <p:cNvPr id="162" name="AutoShape 41"/>
              <p:cNvSpPr>
                <a:spLocks noChangeArrowheads="1"/>
              </p:cNvSpPr>
              <p:nvPr/>
            </p:nvSpPr>
            <p:spPr bwMode="auto">
              <a:xfrm>
                <a:off x="2608" y="1389"/>
                <a:ext cx="1088" cy="272"/>
              </a:xfrm>
              <a:prstGeom prst="roundRect">
                <a:avLst>
                  <a:gd name="adj" fmla="val 16667"/>
                </a:avLst>
              </a:prstGeom>
              <a:solidFill>
                <a:srgbClr val="C0C0C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Text Box 42"/>
              <p:cNvSpPr txBox="1">
                <a:spLocks noChangeArrowheads="1"/>
              </p:cNvSpPr>
              <p:nvPr/>
            </p:nvSpPr>
            <p:spPr bwMode="auto">
              <a:xfrm>
                <a:off x="2653" y="1394"/>
                <a:ext cx="99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20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28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  <a:defRPr sz="16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–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Char char="»"/>
                  <a:defRPr sz="1400">
                    <a:solidFill>
                      <a:srgbClr val="0A4780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spcAft>
                    <a:spcPct val="0"/>
                  </a:spcAft>
                  <a:buFontTx/>
                  <a:buNone/>
                </a:pPr>
                <a:endParaRPr lang="en-US" sz="180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76" name="Group 46"/>
          <p:cNvGrpSpPr>
            <a:grpSpLocks/>
          </p:cNvGrpSpPr>
          <p:nvPr/>
        </p:nvGrpSpPr>
        <p:grpSpPr bwMode="auto">
          <a:xfrm>
            <a:off x="8775705" y="1206501"/>
            <a:ext cx="1081088" cy="2336800"/>
            <a:chOff x="3243" y="933"/>
            <a:chExt cx="681" cy="1472"/>
          </a:xfrm>
        </p:grpSpPr>
        <p:cxnSp>
          <p:nvCxnSpPr>
            <p:cNvPr id="177" name="AutoShape 31"/>
            <p:cNvCxnSpPr>
              <a:cxnSpLocks noChangeShapeType="1"/>
              <a:stCxn id="174" idx="3"/>
              <a:endCxn id="170" idx="3"/>
            </p:cNvCxnSpPr>
            <p:nvPr/>
          </p:nvCxnSpPr>
          <p:spPr bwMode="auto">
            <a:xfrm>
              <a:off x="3243" y="933"/>
              <a:ext cx="8" cy="1126"/>
            </a:xfrm>
            <a:prstGeom prst="curvedConnector3">
              <a:avLst>
                <a:gd name="adj1" fmla="val 18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8" name="AutoShape 32"/>
            <p:cNvCxnSpPr>
              <a:cxnSpLocks noChangeShapeType="1"/>
              <a:stCxn id="170" idx="3"/>
              <a:endCxn id="168" idx="3"/>
            </p:cNvCxnSpPr>
            <p:nvPr/>
          </p:nvCxnSpPr>
          <p:spPr bwMode="auto">
            <a:xfrm>
              <a:off x="3243" y="2059"/>
              <a:ext cx="8" cy="346"/>
            </a:xfrm>
            <a:prstGeom prst="curvedConnector3">
              <a:avLst>
                <a:gd name="adj1" fmla="val 18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9" name="Text Box 43"/>
            <p:cNvSpPr txBox="1">
              <a:spLocks noChangeArrowheads="1"/>
            </p:cNvSpPr>
            <p:nvPr/>
          </p:nvSpPr>
          <p:spPr bwMode="auto">
            <a:xfrm>
              <a:off x="3334" y="2205"/>
              <a:ext cx="59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2000">
                  <a:solidFill>
                    <a:srgbClr val="0A4780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2800">
                  <a:solidFill>
                    <a:srgbClr val="0A4780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600">
                  <a:solidFill>
                    <a:srgbClr val="0A4780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–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»"/>
                <a:defRPr sz="1400">
                  <a:solidFill>
                    <a:srgbClr val="0A478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r>
                <a:rPr lang="en-US" sz="1400" b="1" i="1">
                  <a:solidFill>
                    <a:schemeClr val="tx1"/>
                  </a:solidFill>
                  <a:latin typeface="Times New Roman" panose="02020603050405020304" pitchFamily="18" charset="0"/>
                </a:rPr>
                <a:t>Hypercall</a:t>
              </a:r>
            </a:p>
          </p:txBody>
        </p:sp>
      </p:grpSp>
      <p:sp>
        <p:nvSpPr>
          <p:cNvPr id="180" name="Text Box 44"/>
          <p:cNvSpPr txBox="1">
            <a:spLocks noChangeArrowheads="1"/>
          </p:cNvSpPr>
          <p:nvPr/>
        </p:nvSpPr>
        <p:spPr bwMode="auto">
          <a:xfrm>
            <a:off x="5245100" y="5038725"/>
            <a:ext cx="63373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0A478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2800">
                <a:solidFill>
                  <a:srgbClr val="0A478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0A4780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–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»"/>
              <a:defRPr sz="1400">
                <a:solidFill>
                  <a:srgbClr val="0A478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Pros :  Fast, no binary translation, no context switch</a:t>
            </a:r>
          </a:p>
          <a:p>
            <a:pPr eaLnBrk="1" hangingPunct="1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sz="1800" dirty="0">
                <a:solidFill>
                  <a:schemeClr val="tx1"/>
                </a:solidFill>
              </a:rPr>
              <a:t>Cons : Guest OS needs to be modified   </a:t>
            </a:r>
          </a:p>
        </p:txBody>
      </p:sp>
    </p:spTree>
    <p:extLst>
      <p:ext uri="{BB962C8B-B14F-4D97-AF65-F5344CB8AC3E}">
        <p14:creationId xmlns:p14="http://schemas.microsoft.com/office/powerpoint/2010/main" val="1240669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-24"/>
            <a:ext cx="12192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152400" y="-596721"/>
            <a:ext cx="12039600" cy="12808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3400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Thank You for Listening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054843" y="3005736"/>
            <a:ext cx="35413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Questions?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2174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nded Design Blue 16x9">
  <a:themeElements>
    <a:clrScheme name="Banded_Design_Blue">
      <a:dk1>
        <a:srgbClr val="404040"/>
      </a:dk1>
      <a:lt1>
        <a:sysClr val="window" lastClr="FFFFFF"/>
      </a:lt1>
      <a:dk2>
        <a:srgbClr val="263050"/>
      </a:dk2>
      <a:lt2>
        <a:srgbClr val="E5E8E8"/>
      </a:lt2>
      <a:accent1>
        <a:srgbClr val="77B142"/>
      </a:accent1>
      <a:accent2>
        <a:srgbClr val="E3C01E"/>
      </a:accent2>
      <a:accent3>
        <a:srgbClr val="0070C0"/>
      </a:accent3>
      <a:accent4>
        <a:srgbClr val="7556A4"/>
      </a:accent4>
      <a:accent5>
        <a:srgbClr val="F08F1E"/>
      </a:accent5>
      <a:accent6>
        <a:srgbClr val="CB3E3A"/>
      </a:accent6>
      <a:hlink>
        <a:srgbClr val="0070C0"/>
      </a:hlink>
      <a:folHlink>
        <a:srgbClr val="7556A4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lumMod val="0"/>
                <a:lumOff val="100000"/>
              </a:schemeClr>
            </a:gs>
            <a:gs pos="72000">
              <a:schemeClr val="phClr"/>
            </a:gs>
            <a:gs pos="100000">
              <a:schemeClr val="phClr">
                <a:lumMod val="90000"/>
              </a:schemeClr>
            </a:gs>
          </a:gsLst>
          <a:lin ang="5400000" scaled="1"/>
        </a:gradFill>
        <a:gradFill flip="none" rotWithShape="1">
          <a:gsLst>
            <a:gs pos="32000">
              <a:schemeClr val="phClr"/>
            </a:gs>
            <a:gs pos="100000">
              <a:schemeClr val="phClr">
                <a:lumMod val="75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3417271.potx" id="{FAD70E18-2F21-4BAE-983F-13051C6D1C17}" vid="{4B4DF9DC-15EC-4671-A52A-56A08B977F11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project plan presentation (widescreen)</Template>
  <TotalTime>14076</TotalTime>
  <Words>806</Words>
  <Application>Microsoft Office PowerPoint</Application>
  <PresentationFormat>Widescreen</PresentationFormat>
  <Paragraphs>180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Corbel</vt:lpstr>
      <vt:lpstr>Euphemia</vt:lpstr>
      <vt:lpstr>Noto Sans CJK SC Regular</vt:lpstr>
      <vt:lpstr>Times New Roman</vt:lpstr>
      <vt:lpstr>Wingdings</vt:lpstr>
      <vt:lpstr>Banded Design Blue 16x9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Project Plan</dc:title>
  <dc:creator>Sunirmal Khatua</dc:creator>
  <cp:lastModifiedBy>Microsoft account</cp:lastModifiedBy>
  <cp:revision>159</cp:revision>
  <dcterms:created xsi:type="dcterms:W3CDTF">2018-05-13T16:49:43Z</dcterms:created>
  <dcterms:modified xsi:type="dcterms:W3CDTF">2025-06-04T08:54:55Z</dcterms:modified>
</cp:coreProperties>
</file>