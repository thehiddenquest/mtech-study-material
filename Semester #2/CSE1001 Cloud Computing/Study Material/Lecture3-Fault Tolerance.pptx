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5" r:id="rId2"/>
    <p:sldId id="501" r:id="rId3"/>
    <p:sldId id="502" r:id="rId4"/>
    <p:sldId id="503" r:id="rId5"/>
    <p:sldId id="504" r:id="rId6"/>
    <p:sldId id="500" r:id="rId7"/>
    <p:sldId id="509" r:id="rId8"/>
    <p:sldId id="362" r:id="rId9"/>
    <p:sldId id="436" r:id="rId10"/>
    <p:sldId id="506" r:id="rId11"/>
    <p:sldId id="507" r:id="rId12"/>
    <p:sldId id="50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79589" autoAdjust="0"/>
  </p:normalViewPr>
  <p:slideViewPr>
    <p:cSldViewPr>
      <p:cViewPr varScale="1">
        <p:scale>
          <a:sx n="69" d="100"/>
          <a:sy n="69" d="100"/>
        </p:scale>
        <p:origin x="488" y="48"/>
      </p:cViewPr>
      <p:guideLst>
        <p:guide pos="3840"/>
        <p:guide pos="6816"/>
        <p:guide pos="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pPr/>
              <a:t>2/17/2026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pPr/>
              <a:t>2/17/2026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We celebrate Christmas to remember the birth of </a:t>
            </a:r>
            <a:r>
              <a:rPr lang="en-IN" smtClean="0"/>
              <a:t>Jesus Christ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612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316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740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221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181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387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716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544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183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257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174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377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2/17/2026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2/17/2026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ern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2/17/2026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D43D-6574-4C7B-808D-C6C12215A4D4}" type="datetimeFigureOut">
              <a:rPr lang="en-US"/>
              <a:pPr/>
              <a:t>2/17/2026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2/17/2026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2/17/2026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2/17/2026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2/17/2026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2/17/2026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2/17/2026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2/17/2026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2/17/2026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9E583DDF-CA54-461A-A486-592D2374C532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941168"/>
            <a:ext cx="9144002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Dr. Sunirmal Khatua</a:t>
            </a:r>
            <a:endParaRPr lang="en-US" sz="28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2413" y="6094286"/>
            <a:ext cx="9144002" cy="762000"/>
          </a:xfrm>
        </p:spPr>
        <p:txBody>
          <a:bodyPr>
            <a:normAutofit/>
          </a:bodyPr>
          <a:lstStyle/>
          <a:p>
            <a:r>
              <a:rPr lang="en-US" sz="1600" i="1" dirty="0" err="1" smtClean="0">
                <a:latin typeface="Times New Roman" pitchFamily="18" charset="0"/>
                <a:cs typeface="Times New Roman" pitchFamily="18" charset="0"/>
              </a:rPr>
              <a:t>Visvesvaraya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 Young Faculty Fellow, Govt. of India</a:t>
            </a: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Assistant Professor, University of Calcutta</a:t>
            </a:r>
            <a:endParaRPr lang="en-US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3"/>
          <p:cNvSpPr txBox="1">
            <a:spLocks/>
          </p:cNvSpPr>
          <p:nvPr/>
        </p:nvSpPr>
        <p:spPr>
          <a:xfrm>
            <a:off x="1523968" y="5187280"/>
            <a:ext cx="9144002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b="0" i="1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By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489446"/>
            <a:ext cx="119142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Fault Tolerance in Distributed Computing</a:t>
            </a:r>
            <a:endParaRPr lang="en-IN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304800" y="-603448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What is Fault Tolerance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50238" y="918285"/>
            <a:ext cx="10903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dirty="0" smtClean="0"/>
              <a:t>  The capacity of a Distributed System to tolerate the following types faults</a:t>
            </a:r>
            <a:endParaRPr 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23392" y="1358721"/>
            <a:ext cx="437914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Crash failure (Fail-Stop)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Omission failure (Send – Receive omission)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Timing failure (Synchronization)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Byzantine failure (Arbitrary faults)</a:t>
            </a:r>
          </a:p>
        </p:txBody>
      </p:sp>
      <p:grpSp>
        <p:nvGrpSpPr>
          <p:cNvPr id="15" name="Group 19"/>
          <p:cNvGrpSpPr>
            <a:grpSpLocks/>
          </p:cNvGrpSpPr>
          <p:nvPr/>
        </p:nvGrpSpPr>
        <p:grpSpPr bwMode="auto">
          <a:xfrm>
            <a:off x="3920480" y="4298617"/>
            <a:ext cx="2514600" cy="457200"/>
            <a:chOff x="2496" y="529"/>
            <a:chExt cx="1584" cy="288"/>
          </a:xfrm>
        </p:grpSpPr>
        <p:grpSp>
          <p:nvGrpSpPr>
            <p:cNvPr id="17" name="Group 8"/>
            <p:cNvGrpSpPr>
              <a:grpSpLocks/>
            </p:cNvGrpSpPr>
            <p:nvPr/>
          </p:nvGrpSpPr>
          <p:grpSpPr bwMode="auto">
            <a:xfrm>
              <a:off x="2496" y="529"/>
              <a:ext cx="336" cy="288"/>
              <a:chOff x="3744" y="1152"/>
              <a:chExt cx="336" cy="288"/>
            </a:xfrm>
          </p:grpSpPr>
          <p:sp>
            <p:nvSpPr>
              <p:cNvPr id="31" name="Oval 4"/>
              <p:cNvSpPr>
                <a:spLocks noChangeArrowheads="1"/>
              </p:cNvSpPr>
              <p:nvPr/>
            </p:nvSpPr>
            <p:spPr bwMode="auto">
              <a:xfrm>
                <a:off x="3744" y="1152"/>
                <a:ext cx="33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sz="1600"/>
              </a:p>
            </p:txBody>
          </p:sp>
          <p:sp>
            <p:nvSpPr>
              <p:cNvPr id="32" name="Text Box 6"/>
              <p:cNvSpPr txBox="1">
                <a:spLocks noChangeArrowheads="1"/>
              </p:cNvSpPr>
              <p:nvPr/>
            </p:nvSpPr>
            <p:spPr bwMode="auto">
              <a:xfrm>
                <a:off x="3799" y="118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600"/>
                  <a:t>C</a:t>
                </a:r>
              </a:p>
            </p:txBody>
          </p:sp>
        </p:grpSp>
        <p:grpSp>
          <p:nvGrpSpPr>
            <p:cNvPr id="18" name="Group 9"/>
            <p:cNvGrpSpPr>
              <a:grpSpLocks/>
            </p:cNvGrpSpPr>
            <p:nvPr/>
          </p:nvGrpSpPr>
          <p:grpSpPr bwMode="auto">
            <a:xfrm>
              <a:off x="3744" y="529"/>
              <a:ext cx="336" cy="288"/>
              <a:chOff x="4992" y="1152"/>
              <a:chExt cx="336" cy="288"/>
            </a:xfrm>
          </p:grpSpPr>
          <p:sp>
            <p:nvSpPr>
              <p:cNvPr id="29" name="Oval 5"/>
              <p:cNvSpPr>
                <a:spLocks noChangeArrowheads="1"/>
              </p:cNvSpPr>
              <p:nvPr/>
            </p:nvSpPr>
            <p:spPr bwMode="auto">
              <a:xfrm>
                <a:off x="4992" y="1152"/>
                <a:ext cx="33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sz="1600"/>
              </a:p>
            </p:txBody>
          </p:sp>
          <p:sp>
            <p:nvSpPr>
              <p:cNvPr id="30" name="Text Box 7"/>
              <p:cNvSpPr txBox="1">
                <a:spLocks noChangeArrowheads="1"/>
              </p:cNvSpPr>
              <p:nvPr/>
            </p:nvSpPr>
            <p:spPr bwMode="auto">
              <a:xfrm>
                <a:off x="5053" y="118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600"/>
                  <a:t>S</a:t>
                </a:r>
              </a:p>
            </p:txBody>
          </p:sp>
        </p:grpSp>
      </p:grpSp>
      <p:grpSp>
        <p:nvGrpSpPr>
          <p:cNvPr id="34" name="Group 13"/>
          <p:cNvGrpSpPr>
            <a:grpSpLocks/>
          </p:cNvGrpSpPr>
          <p:nvPr/>
        </p:nvGrpSpPr>
        <p:grpSpPr bwMode="auto">
          <a:xfrm>
            <a:off x="4423718" y="3947780"/>
            <a:ext cx="614362" cy="609600"/>
            <a:chOff x="4061" y="931"/>
            <a:chExt cx="387" cy="384"/>
          </a:xfrm>
        </p:grpSpPr>
        <p:sp>
          <p:nvSpPr>
            <p:cNvPr id="35" name="Arc 11"/>
            <p:cNvSpPr>
              <a:spLocks/>
            </p:cNvSpPr>
            <p:nvPr/>
          </p:nvSpPr>
          <p:spPr bwMode="auto">
            <a:xfrm rot="-2726721">
              <a:off x="4017" y="1032"/>
              <a:ext cx="327" cy="240"/>
            </a:xfrm>
            <a:custGeom>
              <a:avLst/>
              <a:gdLst>
                <a:gd name="T0" fmla="*/ 0 w 21014"/>
                <a:gd name="T1" fmla="*/ 0 h 21539"/>
                <a:gd name="T2" fmla="*/ 0 w 21014"/>
                <a:gd name="T3" fmla="*/ 0 h 21539"/>
                <a:gd name="T4" fmla="*/ 0 w 21014"/>
                <a:gd name="T5" fmla="*/ 0 h 21539"/>
                <a:gd name="T6" fmla="*/ 0 60000 65536"/>
                <a:gd name="T7" fmla="*/ 0 60000 65536"/>
                <a:gd name="T8" fmla="*/ 0 60000 65536"/>
                <a:gd name="T9" fmla="*/ 0 w 21014"/>
                <a:gd name="T10" fmla="*/ 0 h 21539"/>
                <a:gd name="T11" fmla="*/ 21014 w 21014"/>
                <a:gd name="T12" fmla="*/ 21539 h 215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014" h="21539" fill="none" extrusionOk="0">
                  <a:moveTo>
                    <a:pt x="1625" y="0"/>
                  </a:moveTo>
                  <a:cubicBezTo>
                    <a:pt x="11000" y="707"/>
                    <a:pt x="18840" y="7397"/>
                    <a:pt x="21014" y="16543"/>
                  </a:cubicBezTo>
                </a:path>
                <a:path w="21014" h="21539" stroke="0" extrusionOk="0">
                  <a:moveTo>
                    <a:pt x="1625" y="0"/>
                  </a:moveTo>
                  <a:cubicBezTo>
                    <a:pt x="11000" y="707"/>
                    <a:pt x="18840" y="7397"/>
                    <a:pt x="21014" y="16543"/>
                  </a:cubicBezTo>
                  <a:lnTo>
                    <a:pt x="0" y="21539"/>
                  </a:lnTo>
                  <a:lnTo>
                    <a:pt x="1625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" name="Text Box 12"/>
            <p:cNvSpPr txBox="1">
              <a:spLocks noChangeArrowheads="1"/>
            </p:cNvSpPr>
            <p:nvPr/>
          </p:nvSpPr>
          <p:spPr bwMode="auto">
            <a:xfrm>
              <a:off x="4208" y="931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2400" b="1"/>
                <a:t>X</a:t>
              </a:r>
            </a:p>
          </p:txBody>
        </p:sp>
      </p:grpSp>
      <p:grpSp>
        <p:nvGrpSpPr>
          <p:cNvPr id="37" name="Group 16"/>
          <p:cNvGrpSpPr>
            <a:grpSpLocks/>
          </p:cNvGrpSpPr>
          <p:nvPr/>
        </p:nvGrpSpPr>
        <p:grpSpPr bwMode="auto">
          <a:xfrm>
            <a:off x="5239693" y="4563730"/>
            <a:ext cx="749300" cy="577850"/>
            <a:chOff x="4575" y="1319"/>
            <a:chExt cx="472" cy="364"/>
          </a:xfrm>
        </p:grpSpPr>
        <p:sp>
          <p:nvSpPr>
            <p:cNvPr id="38" name="Arc 14"/>
            <p:cNvSpPr>
              <a:spLocks/>
            </p:cNvSpPr>
            <p:nvPr/>
          </p:nvSpPr>
          <p:spPr bwMode="auto">
            <a:xfrm rot="-3594951" flipH="1" flipV="1">
              <a:off x="4735" y="1316"/>
              <a:ext cx="309" cy="31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" name="Text Box 15"/>
            <p:cNvSpPr txBox="1">
              <a:spLocks noChangeArrowheads="1"/>
            </p:cNvSpPr>
            <p:nvPr/>
          </p:nvSpPr>
          <p:spPr bwMode="auto">
            <a:xfrm>
              <a:off x="4575" y="1395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2400" b="1"/>
                <a:t>X</a:t>
              </a:r>
            </a:p>
          </p:txBody>
        </p:sp>
      </p:grpSp>
      <p:sp>
        <p:nvSpPr>
          <p:cNvPr id="40" name="Arc 17"/>
          <p:cNvSpPr>
            <a:spLocks/>
          </p:cNvSpPr>
          <p:nvPr/>
        </p:nvSpPr>
        <p:spPr bwMode="auto">
          <a:xfrm rot="9966892">
            <a:off x="4301480" y="4508167"/>
            <a:ext cx="1982788" cy="855663"/>
          </a:xfrm>
          <a:custGeom>
            <a:avLst/>
            <a:gdLst>
              <a:gd name="T0" fmla="*/ 0 w 39931"/>
              <a:gd name="T1" fmla="*/ 2147483646 h 21954"/>
              <a:gd name="T2" fmla="*/ 2147483646 w 39931"/>
              <a:gd name="T3" fmla="*/ 2147483646 h 21954"/>
              <a:gd name="T4" fmla="*/ 2147483646 w 39931"/>
              <a:gd name="T5" fmla="*/ 2147483646 h 21954"/>
              <a:gd name="T6" fmla="*/ 0 60000 65536"/>
              <a:gd name="T7" fmla="*/ 0 60000 65536"/>
              <a:gd name="T8" fmla="*/ 0 60000 65536"/>
              <a:gd name="T9" fmla="*/ 0 w 39931"/>
              <a:gd name="T10" fmla="*/ 0 h 21954"/>
              <a:gd name="T11" fmla="*/ 39931 w 39931"/>
              <a:gd name="T12" fmla="*/ 21954 h 219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931" h="21954" fill="none" extrusionOk="0">
                <a:moveTo>
                  <a:pt x="-1" y="10174"/>
                </a:moveTo>
                <a:cubicBezTo>
                  <a:pt x="3944" y="3846"/>
                  <a:pt x="10873" y="-1"/>
                  <a:pt x="18331" y="0"/>
                </a:cubicBezTo>
                <a:cubicBezTo>
                  <a:pt x="30260" y="0"/>
                  <a:pt x="39931" y="9670"/>
                  <a:pt x="39931" y="21600"/>
                </a:cubicBezTo>
                <a:cubicBezTo>
                  <a:pt x="39931" y="21718"/>
                  <a:pt x="39930" y="21836"/>
                  <a:pt x="39928" y="21954"/>
                </a:cubicBezTo>
              </a:path>
              <a:path w="39931" h="21954" stroke="0" extrusionOk="0">
                <a:moveTo>
                  <a:pt x="-1" y="10174"/>
                </a:moveTo>
                <a:cubicBezTo>
                  <a:pt x="3944" y="3846"/>
                  <a:pt x="10873" y="-1"/>
                  <a:pt x="18331" y="0"/>
                </a:cubicBezTo>
                <a:cubicBezTo>
                  <a:pt x="30260" y="0"/>
                  <a:pt x="39931" y="9670"/>
                  <a:pt x="39931" y="21600"/>
                </a:cubicBezTo>
                <a:cubicBezTo>
                  <a:pt x="39931" y="21718"/>
                  <a:pt x="39930" y="21836"/>
                  <a:pt x="39928" y="21954"/>
                </a:cubicBezTo>
                <a:lnTo>
                  <a:pt x="18331" y="21600"/>
                </a:lnTo>
                <a:lnTo>
                  <a:pt x="-1" y="10174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" name="Arc 18"/>
          <p:cNvSpPr>
            <a:spLocks/>
          </p:cNvSpPr>
          <p:nvPr/>
        </p:nvSpPr>
        <p:spPr bwMode="auto">
          <a:xfrm rot="21061151">
            <a:off x="4071293" y="3619167"/>
            <a:ext cx="2060575" cy="855663"/>
          </a:xfrm>
          <a:custGeom>
            <a:avLst/>
            <a:gdLst>
              <a:gd name="T0" fmla="*/ 0 w 41507"/>
              <a:gd name="T1" fmla="*/ 2147483646 h 21954"/>
              <a:gd name="T2" fmla="*/ 2147483646 w 41507"/>
              <a:gd name="T3" fmla="*/ 2147483646 h 21954"/>
              <a:gd name="T4" fmla="*/ 2147483646 w 41507"/>
              <a:gd name="T5" fmla="*/ 2147483646 h 21954"/>
              <a:gd name="T6" fmla="*/ 0 60000 65536"/>
              <a:gd name="T7" fmla="*/ 0 60000 65536"/>
              <a:gd name="T8" fmla="*/ 0 60000 65536"/>
              <a:gd name="T9" fmla="*/ 0 w 41507"/>
              <a:gd name="T10" fmla="*/ 0 h 21954"/>
              <a:gd name="T11" fmla="*/ 41507 w 41507"/>
              <a:gd name="T12" fmla="*/ 21954 h 219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507" h="21954" fill="none" extrusionOk="0">
                <a:moveTo>
                  <a:pt x="-1" y="13217"/>
                </a:moveTo>
                <a:cubicBezTo>
                  <a:pt x="3372" y="5208"/>
                  <a:pt x="11216" y="-1"/>
                  <a:pt x="19907" y="0"/>
                </a:cubicBezTo>
                <a:cubicBezTo>
                  <a:pt x="31836" y="0"/>
                  <a:pt x="41507" y="9670"/>
                  <a:pt x="41507" y="21600"/>
                </a:cubicBezTo>
                <a:cubicBezTo>
                  <a:pt x="41507" y="21718"/>
                  <a:pt x="41506" y="21836"/>
                  <a:pt x="41504" y="21954"/>
                </a:cubicBezTo>
              </a:path>
              <a:path w="41507" h="21954" stroke="0" extrusionOk="0">
                <a:moveTo>
                  <a:pt x="-1" y="13217"/>
                </a:moveTo>
                <a:cubicBezTo>
                  <a:pt x="3372" y="5208"/>
                  <a:pt x="11216" y="-1"/>
                  <a:pt x="19907" y="0"/>
                </a:cubicBezTo>
                <a:cubicBezTo>
                  <a:pt x="31836" y="0"/>
                  <a:pt x="41507" y="9670"/>
                  <a:pt x="41507" y="21600"/>
                </a:cubicBezTo>
                <a:cubicBezTo>
                  <a:pt x="41507" y="21718"/>
                  <a:pt x="41506" y="21836"/>
                  <a:pt x="41504" y="21954"/>
                </a:cubicBezTo>
                <a:lnTo>
                  <a:pt x="19907" y="21600"/>
                </a:lnTo>
                <a:lnTo>
                  <a:pt x="-1" y="1321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2" name="AutoShape 20"/>
          <p:cNvSpPr>
            <a:spLocks noChangeArrowheads="1"/>
          </p:cNvSpPr>
          <p:nvPr/>
        </p:nvSpPr>
        <p:spPr bwMode="auto">
          <a:xfrm>
            <a:off x="5673080" y="4297030"/>
            <a:ext cx="1143000" cy="457200"/>
          </a:xfrm>
          <a:prstGeom prst="irregularSeal2">
            <a:avLst/>
          </a:prstGeom>
          <a:solidFill>
            <a:schemeClr val="accent6">
              <a:alpha val="39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IN" sz="1600"/>
          </a:p>
        </p:txBody>
      </p:sp>
      <p:sp>
        <p:nvSpPr>
          <p:cNvPr id="43" name="AutoShape 21"/>
          <p:cNvSpPr>
            <a:spLocks noChangeArrowheads="1"/>
          </p:cNvSpPr>
          <p:nvPr/>
        </p:nvSpPr>
        <p:spPr bwMode="auto">
          <a:xfrm>
            <a:off x="3691880" y="4297030"/>
            <a:ext cx="1143000" cy="457200"/>
          </a:xfrm>
          <a:prstGeom prst="irregularSeal2">
            <a:avLst/>
          </a:prstGeom>
          <a:solidFill>
            <a:schemeClr val="accent6">
              <a:alpha val="39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IN" sz="1600"/>
          </a:p>
        </p:txBody>
      </p:sp>
      <p:grpSp>
        <p:nvGrpSpPr>
          <p:cNvPr id="45" name="Group 8"/>
          <p:cNvGrpSpPr>
            <a:grpSpLocks/>
          </p:cNvGrpSpPr>
          <p:nvPr/>
        </p:nvGrpSpPr>
        <p:grpSpPr bwMode="auto">
          <a:xfrm>
            <a:off x="3925369" y="4313878"/>
            <a:ext cx="533400" cy="457200"/>
            <a:chOff x="3744" y="1152"/>
            <a:chExt cx="336" cy="288"/>
          </a:xfrm>
        </p:grpSpPr>
        <p:sp>
          <p:nvSpPr>
            <p:cNvPr id="49" name="Oval 4"/>
            <p:cNvSpPr>
              <a:spLocks noChangeArrowheads="1"/>
            </p:cNvSpPr>
            <p:nvPr/>
          </p:nvSpPr>
          <p:spPr bwMode="auto">
            <a:xfrm>
              <a:off x="3744" y="1152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50" name="Text Box 6"/>
            <p:cNvSpPr txBox="1">
              <a:spLocks noChangeArrowheads="1"/>
            </p:cNvSpPr>
            <p:nvPr/>
          </p:nvSpPr>
          <p:spPr bwMode="auto">
            <a:xfrm>
              <a:off x="3799" y="1186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740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41" grpId="2" animBg="1"/>
      <p:bldP spid="42" grpId="0" animBg="1"/>
      <p:bldP spid="42" grpId="1" animBg="1"/>
      <p:bldP spid="43" grpId="0" animBg="1"/>
      <p:bldP spid="4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1056168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Crash failure </a:t>
            </a:r>
            <a:r>
              <a:rPr lang="en-US" dirty="0" smtClean="0"/>
              <a:t>: Server Crash</a:t>
            </a:r>
            <a:endParaRPr lang="en-US" dirty="0"/>
          </a:p>
        </p:txBody>
      </p:sp>
      <p:grpSp>
        <p:nvGrpSpPr>
          <p:cNvPr id="20" name="Group 19"/>
          <p:cNvGrpSpPr>
            <a:grpSpLocks/>
          </p:cNvGrpSpPr>
          <p:nvPr/>
        </p:nvGrpSpPr>
        <p:grpSpPr bwMode="auto">
          <a:xfrm>
            <a:off x="1428056" y="2323728"/>
            <a:ext cx="2514600" cy="457200"/>
            <a:chOff x="2496" y="529"/>
            <a:chExt cx="1584" cy="288"/>
          </a:xfrm>
        </p:grpSpPr>
        <p:grpSp>
          <p:nvGrpSpPr>
            <p:cNvPr id="21" name="Group 8"/>
            <p:cNvGrpSpPr>
              <a:grpSpLocks/>
            </p:cNvGrpSpPr>
            <p:nvPr/>
          </p:nvGrpSpPr>
          <p:grpSpPr bwMode="auto">
            <a:xfrm>
              <a:off x="2496" y="529"/>
              <a:ext cx="336" cy="288"/>
              <a:chOff x="3744" y="1152"/>
              <a:chExt cx="336" cy="288"/>
            </a:xfrm>
          </p:grpSpPr>
          <p:sp>
            <p:nvSpPr>
              <p:cNvPr id="25" name="Oval 4"/>
              <p:cNvSpPr>
                <a:spLocks noChangeArrowheads="1"/>
              </p:cNvSpPr>
              <p:nvPr/>
            </p:nvSpPr>
            <p:spPr bwMode="auto">
              <a:xfrm>
                <a:off x="3744" y="1152"/>
                <a:ext cx="33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sz="1600"/>
              </a:p>
            </p:txBody>
          </p:sp>
          <p:sp>
            <p:nvSpPr>
              <p:cNvPr id="26" name="Text Box 6"/>
              <p:cNvSpPr txBox="1">
                <a:spLocks noChangeArrowheads="1"/>
              </p:cNvSpPr>
              <p:nvPr/>
            </p:nvSpPr>
            <p:spPr bwMode="auto">
              <a:xfrm>
                <a:off x="3799" y="118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600"/>
                  <a:t>C</a:t>
                </a:r>
              </a:p>
            </p:txBody>
          </p:sp>
        </p:grpSp>
        <p:grpSp>
          <p:nvGrpSpPr>
            <p:cNvPr id="22" name="Group 9"/>
            <p:cNvGrpSpPr>
              <a:grpSpLocks/>
            </p:cNvGrpSpPr>
            <p:nvPr/>
          </p:nvGrpSpPr>
          <p:grpSpPr bwMode="auto">
            <a:xfrm>
              <a:off x="3744" y="529"/>
              <a:ext cx="336" cy="288"/>
              <a:chOff x="4992" y="1152"/>
              <a:chExt cx="336" cy="288"/>
            </a:xfrm>
          </p:grpSpPr>
          <p:sp>
            <p:nvSpPr>
              <p:cNvPr id="23" name="Oval 5"/>
              <p:cNvSpPr>
                <a:spLocks noChangeArrowheads="1"/>
              </p:cNvSpPr>
              <p:nvPr/>
            </p:nvSpPr>
            <p:spPr bwMode="auto">
              <a:xfrm>
                <a:off x="4992" y="1152"/>
                <a:ext cx="33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sz="1600"/>
              </a:p>
            </p:txBody>
          </p:sp>
          <p:sp>
            <p:nvSpPr>
              <p:cNvPr id="24" name="Text Box 7"/>
              <p:cNvSpPr txBox="1">
                <a:spLocks noChangeArrowheads="1"/>
              </p:cNvSpPr>
              <p:nvPr/>
            </p:nvSpPr>
            <p:spPr bwMode="auto">
              <a:xfrm>
                <a:off x="5053" y="118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600"/>
                  <a:t>S</a:t>
                </a:r>
              </a:p>
            </p:txBody>
          </p:sp>
        </p:grpSp>
      </p:grpSp>
      <p:sp>
        <p:nvSpPr>
          <p:cNvPr id="35" name="Arc 18"/>
          <p:cNvSpPr>
            <a:spLocks/>
          </p:cNvSpPr>
          <p:nvPr/>
        </p:nvSpPr>
        <p:spPr bwMode="auto">
          <a:xfrm rot="21061151">
            <a:off x="1578869" y="1644278"/>
            <a:ext cx="2060575" cy="855663"/>
          </a:xfrm>
          <a:custGeom>
            <a:avLst/>
            <a:gdLst>
              <a:gd name="T0" fmla="*/ 0 w 41507"/>
              <a:gd name="T1" fmla="*/ 2147483646 h 21954"/>
              <a:gd name="T2" fmla="*/ 2147483646 w 41507"/>
              <a:gd name="T3" fmla="*/ 2147483646 h 21954"/>
              <a:gd name="T4" fmla="*/ 2147483646 w 41507"/>
              <a:gd name="T5" fmla="*/ 2147483646 h 21954"/>
              <a:gd name="T6" fmla="*/ 0 60000 65536"/>
              <a:gd name="T7" fmla="*/ 0 60000 65536"/>
              <a:gd name="T8" fmla="*/ 0 60000 65536"/>
              <a:gd name="T9" fmla="*/ 0 w 41507"/>
              <a:gd name="T10" fmla="*/ 0 h 21954"/>
              <a:gd name="T11" fmla="*/ 41507 w 41507"/>
              <a:gd name="T12" fmla="*/ 21954 h 219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507" h="21954" fill="none" extrusionOk="0">
                <a:moveTo>
                  <a:pt x="-1" y="13217"/>
                </a:moveTo>
                <a:cubicBezTo>
                  <a:pt x="3372" y="5208"/>
                  <a:pt x="11216" y="-1"/>
                  <a:pt x="19907" y="0"/>
                </a:cubicBezTo>
                <a:cubicBezTo>
                  <a:pt x="31836" y="0"/>
                  <a:pt x="41507" y="9670"/>
                  <a:pt x="41507" y="21600"/>
                </a:cubicBezTo>
                <a:cubicBezTo>
                  <a:pt x="41507" y="21718"/>
                  <a:pt x="41506" y="21836"/>
                  <a:pt x="41504" y="21954"/>
                </a:cubicBezTo>
              </a:path>
              <a:path w="41507" h="21954" stroke="0" extrusionOk="0">
                <a:moveTo>
                  <a:pt x="-1" y="13217"/>
                </a:moveTo>
                <a:cubicBezTo>
                  <a:pt x="3372" y="5208"/>
                  <a:pt x="11216" y="-1"/>
                  <a:pt x="19907" y="0"/>
                </a:cubicBezTo>
                <a:cubicBezTo>
                  <a:pt x="31836" y="0"/>
                  <a:pt x="41507" y="9670"/>
                  <a:pt x="41507" y="21600"/>
                </a:cubicBezTo>
                <a:cubicBezTo>
                  <a:pt x="41507" y="21718"/>
                  <a:pt x="41506" y="21836"/>
                  <a:pt x="41504" y="21954"/>
                </a:cubicBezTo>
                <a:lnTo>
                  <a:pt x="19907" y="21600"/>
                </a:lnTo>
                <a:lnTo>
                  <a:pt x="-1" y="1321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" name="AutoShape 20"/>
          <p:cNvSpPr>
            <a:spLocks noChangeArrowheads="1"/>
          </p:cNvSpPr>
          <p:nvPr/>
        </p:nvSpPr>
        <p:spPr bwMode="auto">
          <a:xfrm>
            <a:off x="3180656" y="2322141"/>
            <a:ext cx="1143000" cy="457200"/>
          </a:xfrm>
          <a:prstGeom prst="irregularSeal2">
            <a:avLst/>
          </a:prstGeom>
          <a:solidFill>
            <a:srgbClr val="FF0000">
              <a:alpha val="39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IN" sz="1600"/>
          </a:p>
        </p:txBody>
      </p:sp>
      <p:graphicFrame>
        <p:nvGraphicFramePr>
          <p:cNvPr id="85" name="Group 104"/>
          <p:cNvGraphicFramePr>
            <a:graphicFrameLocks noGrp="1"/>
          </p:cNvGraphicFramePr>
          <p:nvPr>
            <p:ph sz="quarter" idx="4294967295"/>
            <p:extLst/>
          </p:nvPr>
        </p:nvGraphicFramePr>
        <p:xfrm>
          <a:off x="3004120" y="4946104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Always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Never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when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ACKed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when not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ACKed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6" name="Group 105"/>
          <p:cNvGraphicFramePr>
            <a:graphicFrameLocks noGrp="1"/>
          </p:cNvGraphicFramePr>
          <p:nvPr>
            <p:ph sz="quarter" idx="4294967295"/>
            <p:extLst/>
          </p:nvPr>
        </p:nvGraphicFramePr>
        <p:xfrm>
          <a:off x="6204520" y="4946104"/>
          <a:ext cx="2133600" cy="1219200"/>
        </p:xfrm>
        <a:graphic>
          <a:graphicData uri="http://schemas.openxmlformats.org/drawingml/2006/table">
            <a:tbl>
              <a:tblPr/>
              <a:tblGrid>
                <a:gridCol w="711200"/>
                <a:gridCol w="711200"/>
                <a:gridCol w="711200"/>
              </a:tblGrid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DUP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</a:rPr>
                        <a:t>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</a:rPr>
                        <a:t>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</a:rPr>
                        <a:t>ONE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ZERO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ZERO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DUP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</a:rPr>
                        <a:t>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ZERO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</a:rPr>
                        <a:t>ONE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ZERO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</a:rPr>
                        <a:t>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7" name="Group 106"/>
          <p:cNvGraphicFramePr>
            <a:graphicFrameLocks noGrp="1"/>
          </p:cNvGraphicFramePr>
          <p:nvPr>
            <p:extLst/>
          </p:nvPr>
        </p:nvGraphicFramePr>
        <p:xfrm>
          <a:off x="8642920" y="4946104"/>
          <a:ext cx="2133600" cy="1219200"/>
        </p:xfrm>
        <a:graphic>
          <a:graphicData uri="http://schemas.openxmlformats.org/drawingml/2006/table">
            <a:tbl>
              <a:tblPr/>
              <a:tblGrid>
                <a:gridCol w="711200"/>
                <a:gridCol w="711200"/>
                <a:gridCol w="711200"/>
              </a:tblGrid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DUP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DUP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</a:rPr>
                        <a:t>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</a:rPr>
                        <a:t>ONE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</a:rPr>
                        <a:t>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ZERO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DUP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</a:rPr>
                        <a:t>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ZERO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</a:rPr>
                        <a:t>ONE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DUP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</a:rPr>
                        <a:t>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999656" y="3933056"/>
            <a:ext cx="10945216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 smtClean="0"/>
              <a:t>        </a:t>
            </a:r>
            <a:r>
              <a:rPr lang="en-US" b="1" dirty="0"/>
              <a:t>Client                                                                              </a:t>
            </a:r>
            <a:r>
              <a:rPr lang="en-US" b="1" dirty="0" smtClean="0"/>
              <a:t>      Server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 </a:t>
            </a:r>
            <a:r>
              <a:rPr lang="en-US" b="1" i="1" dirty="0" smtClean="0">
                <a:latin typeface="Times New Roman" panose="02020603050405020304" pitchFamily="18" charset="0"/>
              </a:rPr>
              <a:t>Reissue Strategy                                </a:t>
            </a:r>
            <a:r>
              <a:rPr lang="en-US" b="1" i="1" dirty="0" err="1" smtClean="0">
                <a:latin typeface="Times New Roman" panose="02020603050405020304" pitchFamily="18" charset="0"/>
              </a:rPr>
              <a:t>Strategy</a:t>
            </a:r>
            <a:r>
              <a:rPr lang="en-US" b="1" i="1" dirty="0" smtClean="0">
                <a:latin typeface="Times New Roman" panose="02020603050405020304" pitchFamily="18" charset="0"/>
              </a:rPr>
              <a:t> R -&gt; E               Strategy E -&gt; R</a:t>
            </a:r>
          </a:p>
          <a:p>
            <a:pPr>
              <a:lnSpc>
                <a:spcPct val="80000"/>
              </a:lnSpc>
            </a:pPr>
            <a:endParaRPr lang="en-US" b="1" i="1" dirty="0" smtClean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i="1" dirty="0" smtClean="0">
                <a:latin typeface="Times New Roman" panose="02020603050405020304" pitchFamily="18" charset="0"/>
              </a:rPr>
              <a:t>                                                        </a:t>
            </a:r>
            <a:r>
              <a:rPr lang="en-US" b="1" dirty="0" smtClean="0">
                <a:latin typeface="Times New Roman" panose="02020603050405020304" pitchFamily="18" charset="0"/>
              </a:rPr>
              <a:t>REC   </a:t>
            </a:r>
            <a:r>
              <a:rPr lang="en-US" b="1" dirty="0">
                <a:latin typeface="Times New Roman" panose="02020603050405020304" pitchFamily="18" charset="0"/>
              </a:rPr>
              <a:t>RC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(E) </a:t>
            </a:r>
            <a:r>
              <a:rPr lang="en-US" b="1" dirty="0" smtClean="0">
                <a:latin typeface="Times New Roman" panose="02020603050405020304" pitchFamily="18" charset="0"/>
              </a:rPr>
              <a:t>C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(RE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b="1" dirty="0">
                <a:latin typeface="Times New Roman" panose="02020603050405020304" pitchFamily="18" charset="0"/>
              </a:rPr>
              <a:t>      </a:t>
            </a:r>
            <a:r>
              <a:rPr lang="en-US" b="1" dirty="0" smtClean="0">
                <a:latin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</a:rPr>
              <a:t>ERC </a:t>
            </a:r>
            <a:r>
              <a:rPr lang="en-US" b="1" dirty="0" smtClean="0">
                <a:latin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</a:rPr>
              <a:t>EC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(R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b="1" dirty="0" smtClean="0">
                <a:latin typeface="Times New Roman" panose="02020603050405020304" pitchFamily="18" charset="0"/>
              </a:rPr>
              <a:t>  </a:t>
            </a:r>
            <a:r>
              <a:rPr lang="en-US" b="1" dirty="0">
                <a:latin typeface="Times New Roman" panose="02020603050405020304" pitchFamily="18" charset="0"/>
              </a:rPr>
              <a:t>C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(ER)</a:t>
            </a:r>
            <a:endParaRPr lang="en-IN" dirty="0">
              <a:solidFill>
                <a:srgbClr val="FF0000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663952" y="1172738"/>
            <a:ext cx="6096000" cy="1135364"/>
            <a:chOff x="5663952" y="1172738"/>
            <a:chExt cx="6096000" cy="1135364"/>
          </a:xfrm>
        </p:grpSpPr>
        <p:sp>
          <p:nvSpPr>
            <p:cNvPr id="13" name="Rectangle 12"/>
            <p:cNvSpPr/>
            <p:nvPr/>
          </p:nvSpPr>
          <p:spPr>
            <a:xfrm>
              <a:off x="5663952" y="1645924"/>
              <a:ext cx="6096000" cy="66217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1352550" lvl="2" indent="-438150">
                <a:buClr>
                  <a:schemeClr val="tx1"/>
                </a:buClr>
                <a:buFont typeface="Wingdings" panose="05000000000000000000" pitchFamily="2" charset="2"/>
                <a:buAutoNum type="arabicPeriod"/>
              </a:pPr>
              <a:r>
                <a:rPr lang="en-US" i="1" dirty="0">
                  <a:solidFill>
                    <a:srgbClr val="3333FF"/>
                  </a:solidFill>
                </a:rPr>
                <a:t>At least once : </a:t>
              </a:r>
              <a:r>
                <a:rPr lang="en-US" sz="1900" dirty="0"/>
                <a:t>Try until  a reply received.</a:t>
              </a:r>
              <a:endParaRPr lang="en-US" i="1" dirty="0">
                <a:solidFill>
                  <a:srgbClr val="3333FF"/>
                </a:solidFill>
              </a:endParaRPr>
            </a:p>
            <a:p>
              <a:pPr marL="1352550" lvl="2" indent="-438150">
                <a:buClr>
                  <a:schemeClr val="tx1"/>
                </a:buClr>
                <a:buFont typeface="Wingdings" panose="05000000000000000000" pitchFamily="2" charset="2"/>
                <a:buAutoNum type="arabicPeriod"/>
              </a:pPr>
              <a:r>
                <a:rPr lang="en-US" i="1" dirty="0">
                  <a:solidFill>
                    <a:srgbClr val="3333FF"/>
                  </a:solidFill>
                </a:rPr>
                <a:t>At most once : </a:t>
              </a:r>
              <a:r>
                <a:rPr lang="en-US" sz="1900" dirty="0"/>
                <a:t>Report failure without retry.</a:t>
              </a:r>
              <a:endParaRPr lang="en-US" i="1" dirty="0">
                <a:solidFill>
                  <a:srgbClr val="3333FF"/>
                </a:solidFill>
              </a:endParaRPr>
            </a:p>
            <a:p>
              <a:pPr marL="1352550" lvl="2" indent="-438150">
                <a:buClr>
                  <a:schemeClr val="tx1"/>
                </a:buClr>
                <a:buFont typeface="Wingdings" panose="05000000000000000000" pitchFamily="2" charset="2"/>
                <a:buAutoNum type="arabicPeriod"/>
              </a:pPr>
              <a:r>
                <a:rPr lang="en-US" i="1" dirty="0">
                  <a:solidFill>
                    <a:srgbClr val="3333FF"/>
                  </a:solidFill>
                </a:rPr>
                <a:t>Exactly once : </a:t>
              </a:r>
              <a:r>
                <a:rPr lang="en-US" sz="1900" dirty="0">
                  <a:solidFill>
                    <a:srgbClr val="FF0000"/>
                  </a:solidFill>
                </a:rPr>
                <a:t>No way to guaranty</a:t>
              </a:r>
              <a:r>
                <a:rPr lang="en-US" sz="1900" dirty="0"/>
                <a:t>.</a:t>
              </a:r>
              <a:endParaRPr lang="en-US" i="1" dirty="0">
                <a:solidFill>
                  <a:srgbClr val="3333FF"/>
                </a:solidFill>
              </a:endParaRPr>
            </a:p>
          </p:txBody>
        </p:sp>
        <p:sp>
          <p:nvSpPr>
            <p:cNvPr id="2" name="Rectangle 1"/>
            <p:cNvSpPr/>
            <p:nvPr/>
          </p:nvSpPr>
          <p:spPr>
            <a:xfrm>
              <a:off x="6096000" y="1172738"/>
              <a:ext cx="38515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Call Semantics based on </a:t>
              </a:r>
              <a:r>
                <a:rPr lang="en-US" dirty="0" err="1" smtClean="0"/>
                <a:t>Idempotency</a:t>
              </a:r>
              <a:r>
                <a:rPr lang="en-US" dirty="0" smtClean="0"/>
                <a:t>:</a:t>
              </a:r>
              <a:endParaRPr lang="en-IN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305417" y="2979871"/>
            <a:ext cx="5248040" cy="3041417"/>
            <a:chOff x="215569" y="925904"/>
            <a:chExt cx="5248040" cy="3041417"/>
          </a:xfrm>
        </p:grpSpPr>
        <p:sp>
          <p:nvSpPr>
            <p:cNvPr id="30" name="TextBox 39"/>
            <p:cNvSpPr txBox="1">
              <a:spLocks noChangeArrowheads="1"/>
            </p:cNvSpPr>
            <p:nvPr/>
          </p:nvSpPr>
          <p:spPr bwMode="auto">
            <a:xfrm>
              <a:off x="706760" y="2416076"/>
              <a:ext cx="297180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>
                  <a:solidFill>
                    <a:srgbClr val="FF0000"/>
                  </a:solidFill>
                </a:rPr>
                <a:t>ret = </a:t>
              </a:r>
              <a:r>
                <a:rPr lang="en-US" sz="1600" dirty="0" err="1" smtClean="0">
                  <a:solidFill>
                    <a:srgbClr val="FF0000"/>
                  </a:solidFill>
                </a:rPr>
                <a:t>obref.method</a:t>
              </a:r>
              <a:r>
                <a:rPr lang="en-US" sz="1600" dirty="0" smtClean="0">
                  <a:solidFill>
                    <a:srgbClr val="FF0000"/>
                  </a:solidFill>
                </a:rPr>
                <a:t>(“</a:t>
              </a:r>
              <a:r>
                <a:rPr lang="en-US" sz="1600" dirty="0" err="1">
                  <a:solidFill>
                    <a:srgbClr val="FF0000"/>
                  </a:solidFill>
                </a:rPr>
                <a:t>param</a:t>
              </a:r>
              <a:r>
                <a:rPr lang="en-US" sz="1600" dirty="0">
                  <a:solidFill>
                    <a:srgbClr val="FF0000"/>
                  </a:solidFill>
                </a:rPr>
                <a:t>”) </a:t>
              </a:r>
            </a:p>
          </p:txBody>
        </p:sp>
        <p:sp>
          <p:nvSpPr>
            <p:cNvPr id="31" name="TextBox 30"/>
            <p:cNvSpPr txBox="1">
              <a:spLocks noChangeArrowheads="1"/>
            </p:cNvSpPr>
            <p:nvPr/>
          </p:nvSpPr>
          <p:spPr bwMode="auto">
            <a:xfrm>
              <a:off x="263352" y="1412776"/>
              <a:ext cx="3200400" cy="2554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>
                  <a:solidFill>
                    <a:srgbClr val="0070C0"/>
                  </a:solidFill>
                </a:rPr>
                <a:t>success = false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>
                  <a:solidFill>
                    <a:srgbClr val="0070C0"/>
                  </a:solidFill>
                </a:rPr>
                <a:t>while(!success) {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>
                  <a:solidFill>
                    <a:srgbClr val="0070C0"/>
                  </a:solidFill>
                </a:rPr>
                <a:t>     try {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>
                  <a:solidFill>
                    <a:srgbClr val="0070C0"/>
                  </a:solidFill>
                </a:rPr>
                <a:t>        </a:t>
              </a:r>
              <a:r>
                <a:rPr lang="en-US" sz="1600" dirty="0" err="1">
                  <a:solidFill>
                    <a:srgbClr val="0070C0"/>
                  </a:solidFill>
                </a:rPr>
                <a:t>obref</a:t>
              </a:r>
              <a:r>
                <a:rPr lang="en-US" sz="1600" dirty="0">
                  <a:solidFill>
                    <a:srgbClr val="0070C0"/>
                  </a:solidFill>
                </a:rPr>
                <a:t> = lookup(“</a:t>
              </a:r>
              <a:r>
                <a:rPr lang="en-US" sz="1600" dirty="0" err="1">
                  <a:solidFill>
                    <a:srgbClr val="0070C0"/>
                  </a:solidFill>
                </a:rPr>
                <a:t>MyName</a:t>
              </a:r>
              <a:r>
                <a:rPr lang="en-US" sz="1600" dirty="0" smtClean="0">
                  <a:solidFill>
                    <a:srgbClr val="0070C0"/>
                  </a:solidFill>
                </a:rPr>
                <a:t>”)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sz="1600" dirty="0" smtClean="0">
                <a:solidFill>
                  <a:srgbClr val="0070C0"/>
                </a:solidFill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 smtClean="0">
                  <a:solidFill>
                    <a:srgbClr val="0070C0"/>
                  </a:solidFill>
                </a:rPr>
                <a:t>        </a:t>
              </a:r>
              <a:r>
                <a:rPr lang="en-US" sz="1600" dirty="0">
                  <a:solidFill>
                    <a:srgbClr val="0070C0"/>
                  </a:solidFill>
                </a:rPr>
                <a:t>success = true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>
                  <a:solidFill>
                    <a:srgbClr val="0070C0"/>
                  </a:solidFill>
                </a:rPr>
                <a:t>     } catch(Exception e) {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 smtClean="0">
                  <a:solidFill>
                    <a:srgbClr val="0070C0"/>
                  </a:solidFill>
                </a:rPr>
                <a:t>        delay(2000</a:t>
              </a:r>
              <a:r>
                <a:rPr lang="en-US" sz="1600" dirty="0">
                  <a:solidFill>
                    <a:srgbClr val="0070C0"/>
                  </a:solidFill>
                </a:rPr>
                <a:t>)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>
                  <a:solidFill>
                    <a:srgbClr val="0070C0"/>
                  </a:solidFill>
                </a:rPr>
                <a:t>     </a:t>
              </a:r>
              <a:r>
                <a:rPr lang="en-US" sz="1600" dirty="0" smtClean="0">
                  <a:solidFill>
                    <a:srgbClr val="0070C0"/>
                  </a:solidFill>
                </a:rPr>
                <a:t>}</a:t>
              </a:r>
              <a:endParaRPr lang="en-US" sz="1600" dirty="0">
                <a:solidFill>
                  <a:srgbClr val="0070C0"/>
                </a:solidFill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>
                  <a:solidFill>
                    <a:srgbClr val="0070C0"/>
                  </a:solidFill>
                </a:rPr>
                <a:t>} 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5569" y="925904"/>
              <a:ext cx="524804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At least once using Failure Transparency</a:t>
              </a:r>
              <a:endParaRPr lang="en-IN" sz="2400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305417" y="2971991"/>
            <a:ext cx="3462991" cy="2231668"/>
            <a:chOff x="215569" y="1411343"/>
            <a:chExt cx="3462991" cy="2231668"/>
          </a:xfrm>
        </p:grpSpPr>
        <p:sp>
          <p:nvSpPr>
            <p:cNvPr id="34" name="TextBox 39"/>
            <p:cNvSpPr txBox="1">
              <a:spLocks noChangeArrowheads="1"/>
            </p:cNvSpPr>
            <p:nvPr/>
          </p:nvSpPr>
          <p:spPr bwMode="auto">
            <a:xfrm>
              <a:off x="706760" y="2416076"/>
              <a:ext cx="297180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>
                  <a:solidFill>
                    <a:srgbClr val="FF0000"/>
                  </a:solidFill>
                </a:rPr>
                <a:t>ret = </a:t>
              </a:r>
              <a:r>
                <a:rPr lang="en-US" sz="1600" dirty="0" err="1" smtClean="0">
                  <a:solidFill>
                    <a:srgbClr val="FF0000"/>
                  </a:solidFill>
                </a:rPr>
                <a:t>obref.method</a:t>
              </a:r>
              <a:r>
                <a:rPr lang="en-US" sz="1600" dirty="0" smtClean="0">
                  <a:solidFill>
                    <a:srgbClr val="FF0000"/>
                  </a:solidFill>
                </a:rPr>
                <a:t>(“</a:t>
              </a:r>
              <a:r>
                <a:rPr lang="en-US" sz="1600" dirty="0" err="1">
                  <a:solidFill>
                    <a:srgbClr val="FF0000"/>
                  </a:solidFill>
                </a:rPr>
                <a:t>param</a:t>
              </a:r>
              <a:r>
                <a:rPr lang="en-US" sz="1600" dirty="0">
                  <a:solidFill>
                    <a:srgbClr val="FF0000"/>
                  </a:solidFill>
                </a:rPr>
                <a:t>”) </a:t>
              </a:r>
            </a:p>
          </p:txBody>
        </p:sp>
        <p:sp>
          <p:nvSpPr>
            <p:cNvPr id="37" name="TextBox 36"/>
            <p:cNvSpPr txBox="1">
              <a:spLocks noChangeArrowheads="1"/>
            </p:cNvSpPr>
            <p:nvPr/>
          </p:nvSpPr>
          <p:spPr bwMode="auto">
            <a:xfrm>
              <a:off x="263352" y="1827129"/>
              <a:ext cx="3200400" cy="1815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 smtClean="0">
                  <a:solidFill>
                    <a:srgbClr val="0070C0"/>
                  </a:solidFill>
                </a:rPr>
                <a:t>try </a:t>
              </a:r>
              <a:r>
                <a:rPr lang="en-US" sz="1600" dirty="0">
                  <a:solidFill>
                    <a:srgbClr val="0070C0"/>
                  </a:solidFill>
                </a:rPr>
                <a:t>{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>
                  <a:solidFill>
                    <a:srgbClr val="0070C0"/>
                  </a:solidFill>
                </a:rPr>
                <a:t>        </a:t>
              </a:r>
              <a:r>
                <a:rPr lang="en-US" sz="1600" dirty="0" err="1">
                  <a:solidFill>
                    <a:srgbClr val="0070C0"/>
                  </a:solidFill>
                </a:rPr>
                <a:t>obref</a:t>
              </a:r>
              <a:r>
                <a:rPr lang="en-US" sz="1600" dirty="0">
                  <a:solidFill>
                    <a:srgbClr val="0070C0"/>
                  </a:solidFill>
                </a:rPr>
                <a:t> = lookup(“</a:t>
              </a:r>
              <a:r>
                <a:rPr lang="en-US" sz="1600" dirty="0" err="1">
                  <a:solidFill>
                    <a:srgbClr val="0070C0"/>
                  </a:solidFill>
                </a:rPr>
                <a:t>MyName</a:t>
              </a:r>
              <a:r>
                <a:rPr lang="en-US" sz="1600" dirty="0" smtClean="0">
                  <a:solidFill>
                    <a:srgbClr val="0070C0"/>
                  </a:solidFill>
                </a:rPr>
                <a:t>”)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sz="1600" dirty="0" smtClean="0">
                <a:solidFill>
                  <a:srgbClr val="0070C0"/>
                </a:solidFill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sz="1600" dirty="0" smtClean="0">
                <a:solidFill>
                  <a:srgbClr val="0070C0"/>
                </a:solidFill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 smtClean="0">
                  <a:solidFill>
                    <a:srgbClr val="0070C0"/>
                  </a:solidFill>
                </a:rPr>
                <a:t>} </a:t>
              </a:r>
              <a:r>
                <a:rPr lang="en-US" sz="1600" dirty="0">
                  <a:solidFill>
                    <a:srgbClr val="0070C0"/>
                  </a:solidFill>
                </a:rPr>
                <a:t>catch(Exception e) {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 smtClean="0">
                  <a:solidFill>
                    <a:srgbClr val="0070C0"/>
                  </a:solidFill>
                </a:rPr>
                <a:t>       </a:t>
              </a:r>
              <a:r>
                <a:rPr lang="en-US" sz="1600" dirty="0" smtClean="0">
                  <a:solidFill>
                    <a:srgbClr val="FF0000"/>
                  </a:solidFill>
                </a:rPr>
                <a:t>Report Failure         </a:t>
              </a:r>
              <a:endParaRPr lang="en-US" sz="1600" dirty="0">
                <a:solidFill>
                  <a:srgbClr val="FF0000"/>
                </a:solidFill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 smtClean="0">
                  <a:solidFill>
                    <a:srgbClr val="0070C0"/>
                  </a:solidFill>
                </a:rPr>
                <a:t>}</a:t>
              </a:r>
              <a:endParaRPr lang="en-US" sz="1600" dirty="0">
                <a:solidFill>
                  <a:srgbClr val="0070C0"/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15569" y="1411343"/>
              <a:ext cx="187423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At most once</a:t>
              </a:r>
              <a:endParaRPr lang="en-IN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7021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1056168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Crash failure </a:t>
            </a:r>
            <a:r>
              <a:rPr lang="en-US" dirty="0" smtClean="0"/>
              <a:t>: Client Crash</a:t>
            </a:r>
            <a:endParaRPr lang="en-US" dirty="0"/>
          </a:p>
        </p:txBody>
      </p:sp>
      <p:grpSp>
        <p:nvGrpSpPr>
          <p:cNvPr id="27" name="Group 19"/>
          <p:cNvGrpSpPr>
            <a:grpSpLocks/>
          </p:cNvGrpSpPr>
          <p:nvPr/>
        </p:nvGrpSpPr>
        <p:grpSpPr bwMode="auto">
          <a:xfrm>
            <a:off x="536104" y="1743757"/>
            <a:ext cx="2514600" cy="457200"/>
            <a:chOff x="2496" y="529"/>
            <a:chExt cx="1584" cy="288"/>
          </a:xfrm>
        </p:grpSpPr>
        <p:grpSp>
          <p:nvGrpSpPr>
            <p:cNvPr id="28" name="Group 8"/>
            <p:cNvGrpSpPr>
              <a:grpSpLocks/>
            </p:cNvGrpSpPr>
            <p:nvPr/>
          </p:nvGrpSpPr>
          <p:grpSpPr bwMode="auto">
            <a:xfrm>
              <a:off x="2496" y="529"/>
              <a:ext cx="336" cy="288"/>
              <a:chOff x="3744" y="1152"/>
              <a:chExt cx="336" cy="288"/>
            </a:xfrm>
          </p:grpSpPr>
          <p:sp>
            <p:nvSpPr>
              <p:cNvPr id="32" name="Oval 4"/>
              <p:cNvSpPr>
                <a:spLocks noChangeArrowheads="1"/>
              </p:cNvSpPr>
              <p:nvPr/>
            </p:nvSpPr>
            <p:spPr bwMode="auto">
              <a:xfrm>
                <a:off x="3744" y="1152"/>
                <a:ext cx="33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sz="1600"/>
              </a:p>
            </p:txBody>
          </p:sp>
          <p:sp>
            <p:nvSpPr>
              <p:cNvPr id="33" name="Text Box 6"/>
              <p:cNvSpPr txBox="1">
                <a:spLocks noChangeArrowheads="1"/>
              </p:cNvSpPr>
              <p:nvPr/>
            </p:nvSpPr>
            <p:spPr bwMode="auto">
              <a:xfrm>
                <a:off x="3799" y="118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600"/>
                  <a:t>C</a:t>
                </a:r>
              </a:p>
            </p:txBody>
          </p:sp>
        </p:grpSp>
        <p:grpSp>
          <p:nvGrpSpPr>
            <p:cNvPr id="29" name="Group 9"/>
            <p:cNvGrpSpPr>
              <a:grpSpLocks/>
            </p:cNvGrpSpPr>
            <p:nvPr/>
          </p:nvGrpSpPr>
          <p:grpSpPr bwMode="auto">
            <a:xfrm>
              <a:off x="3744" y="529"/>
              <a:ext cx="336" cy="288"/>
              <a:chOff x="4992" y="1152"/>
              <a:chExt cx="336" cy="288"/>
            </a:xfrm>
          </p:grpSpPr>
          <p:sp>
            <p:nvSpPr>
              <p:cNvPr id="30" name="Oval 5"/>
              <p:cNvSpPr>
                <a:spLocks noChangeArrowheads="1"/>
              </p:cNvSpPr>
              <p:nvPr/>
            </p:nvSpPr>
            <p:spPr bwMode="auto">
              <a:xfrm>
                <a:off x="4992" y="1152"/>
                <a:ext cx="33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sz="1600"/>
              </a:p>
            </p:txBody>
          </p:sp>
          <p:sp>
            <p:nvSpPr>
              <p:cNvPr id="31" name="Text Box 7"/>
              <p:cNvSpPr txBox="1">
                <a:spLocks noChangeArrowheads="1"/>
              </p:cNvSpPr>
              <p:nvPr/>
            </p:nvSpPr>
            <p:spPr bwMode="auto">
              <a:xfrm>
                <a:off x="5053" y="118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600"/>
                  <a:t>S</a:t>
                </a:r>
              </a:p>
            </p:txBody>
          </p:sp>
        </p:grpSp>
      </p:grpSp>
      <p:sp>
        <p:nvSpPr>
          <p:cNvPr id="44" name="Arc 18"/>
          <p:cNvSpPr>
            <a:spLocks/>
          </p:cNvSpPr>
          <p:nvPr/>
        </p:nvSpPr>
        <p:spPr bwMode="auto">
          <a:xfrm rot="21061151">
            <a:off x="686917" y="1064307"/>
            <a:ext cx="2060575" cy="855663"/>
          </a:xfrm>
          <a:custGeom>
            <a:avLst/>
            <a:gdLst>
              <a:gd name="T0" fmla="*/ 0 w 41507"/>
              <a:gd name="T1" fmla="*/ 2147483646 h 21954"/>
              <a:gd name="T2" fmla="*/ 2147483646 w 41507"/>
              <a:gd name="T3" fmla="*/ 2147483646 h 21954"/>
              <a:gd name="T4" fmla="*/ 2147483646 w 41507"/>
              <a:gd name="T5" fmla="*/ 2147483646 h 21954"/>
              <a:gd name="T6" fmla="*/ 0 60000 65536"/>
              <a:gd name="T7" fmla="*/ 0 60000 65536"/>
              <a:gd name="T8" fmla="*/ 0 60000 65536"/>
              <a:gd name="T9" fmla="*/ 0 w 41507"/>
              <a:gd name="T10" fmla="*/ 0 h 21954"/>
              <a:gd name="T11" fmla="*/ 41507 w 41507"/>
              <a:gd name="T12" fmla="*/ 21954 h 219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507" h="21954" fill="none" extrusionOk="0">
                <a:moveTo>
                  <a:pt x="-1" y="13217"/>
                </a:moveTo>
                <a:cubicBezTo>
                  <a:pt x="3372" y="5208"/>
                  <a:pt x="11216" y="-1"/>
                  <a:pt x="19907" y="0"/>
                </a:cubicBezTo>
                <a:cubicBezTo>
                  <a:pt x="31836" y="0"/>
                  <a:pt x="41507" y="9670"/>
                  <a:pt x="41507" y="21600"/>
                </a:cubicBezTo>
                <a:cubicBezTo>
                  <a:pt x="41507" y="21718"/>
                  <a:pt x="41506" y="21836"/>
                  <a:pt x="41504" y="21954"/>
                </a:cubicBezTo>
              </a:path>
              <a:path w="41507" h="21954" stroke="0" extrusionOk="0">
                <a:moveTo>
                  <a:pt x="-1" y="13217"/>
                </a:moveTo>
                <a:cubicBezTo>
                  <a:pt x="3372" y="5208"/>
                  <a:pt x="11216" y="-1"/>
                  <a:pt x="19907" y="0"/>
                </a:cubicBezTo>
                <a:cubicBezTo>
                  <a:pt x="31836" y="0"/>
                  <a:pt x="41507" y="9670"/>
                  <a:pt x="41507" y="21600"/>
                </a:cubicBezTo>
                <a:cubicBezTo>
                  <a:pt x="41507" y="21718"/>
                  <a:pt x="41506" y="21836"/>
                  <a:pt x="41504" y="21954"/>
                </a:cubicBezTo>
                <a:lnTo>
                  <a:pt x="19907" y="21600"/>
                </a:lnTo>
                <a:lnTo>
                  <a:pt x="-1" y="1321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" name="AutoShape 21"/>
          <p:cNvSpPr>
            <a:spLocks noChangeArrowheads="1"/>
          </p:cNvSpPr>
          <p:nvPr/>
        </p:nvSpPr>
        <p:spPr bwMode="auto">
          <a:xfrm>
            <a:off x="307504" y="1742170"/>
            <a:ext cx="1143000" cy="457200"/>
          </a:xfrm>
          <a:prstGeom prst="irregularSeal2">
            <a:avLst/>
          </a:prstGeom>
          <a:solidFill>
            <a:srgbClr val="FF0000">
              <a:alpha val="38823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IN" sz="1600"/>
          </a:p>
        </p:txBody>
      </p:sp>
      <p:sp>
        <p:nvSpPr>
          <p:cNvPr id="47" name="Rectangle 3"/>
          <p:cNvSpPr txBox="1">
            <a:spLocks noChangeArrowheads="1"/>
          </p:cNvSpPr>
          <p:nvPr/>
        </p:nvSpPr>
        <p:spPr>
          <a:xfrm>
            <a:off x="3359696" y="980728"/>
            <a:ext cx="864096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2400" dirty="0" smtClean="0"/>
              <a:t>Client Crashes:</a:t>
            </a:r>
          </a:p>
          <a:p>
            <a:pPr lvl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2200" dirty="0" smtClean="0">
                <a:solidFill>
                  <a:srgbClr val="FF0000"/>
                </a:solidFill>
              </a:rPr>
              <a:t>Orphan </a:t>
            </a:r>
            <a:r>
              <a:rPr lang="en-US" sz="2200" dirty="0" smtClean="0"/>
              <a:t>: Active Computation without parent.</a:t>
            </a:r>
          </a:p>
          <a:p>
            <a:pPr lvl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2200" dirty="0" smtClean="0"/>
              <a:t>Problems:</a:t>
            </a:r>
          </a:p>
          <a:p>
            <a:pPr lvl="2">
              <a:lnSpc>
                <a:spcPct val="80000"/>
              </a:lnSpc>
              <a:buClr>
                <a:schemeClr val="tx1"/>
              </a:buClr>
            </a:pPr>
            <a:r>
              <a:rPr lang="en-US" i="1" dirty="0" smtClean="0">
                <a:latin typeface="Times New Roman" panose="02020603050405020304" pitchFamily="18" charset="0"/>
              </a:rPr>
              <a:t>Waste CPU Cycle</a:t>
            </a:r>
          </a:p>
          <a:p>
            <a:pPr lvl="2">
              <a:lnSpc>
                <a:spcPct val="80000"/>
              </a:lnSpc>
              <a:buClr>
                <a:schemeClr val="tx1"/>
              </a:buClr>
            </a:pPr>
            <a:r>
              <a:rPr lang="en-US" i="1" dirty="0" smtClean="0">
                <a:latin typeface="Times New Roman" panose="02020603050405020304" pitchFamily="18" charset="0"/>
              </a:rPr>
              <a:t>Locked resources.</a:t>
            </a:r>
          </a:p>
          <a:p>
            <a:pPr lvl="2">
              <a:lnSpc>
                <a:spcPct val="80000"/>
              </a:lnSpc>
              <a:buClr>
                <a:schemeClr val="tx1"/>
              </a:buClr>
            </a:pPr>
            <a:r>
              <a:rPr lang="en-US" i="1" dirty="0" smtClean="0">
                <a:latin typeface="Times New Roman" panose="02020603050405020304" pitchFamily="18" charset="0"/>
              </a:rPr>
              <a:t>Confusion </a:t>
            </a:r>
            <a:r>
              <a:rPr lang="en-US" i="1" dirty="0" err="1" smtClean="0">
                <a:latin typeface="Times New Roman" panose="02020603050405020304" pitchFamily="18" charset="0"/>
              </a:rPr>
              <a:t>betw</a:t>
            </a:r>
            <a:r>
              <a:rPr lang="en-US" i="1" baseline="30000" dirty="0" err="1" smtClean="0">
                <a:latin typeface="Times New Roman" panose="02020603050405020304" pitchFamily="18" charset="0"/>
              </a:rPr>
              <a:t>n</a:t>
            </a:r>
            <a:r>
              <a:rPr lang="en-US" i="1" baseline="30000" dirty="0" smtClean="0">
                <a:latin typeface="Times New Roman" panose="02020603050405020304" pitchFamily="18" charset="0"/>
              </a:rPr>
              <a:t> </a:t>
            </a:r>
            <a:r>
              <a:rPr lang="en-US" i="1" dirty="0" smtClean="0">
                <a:latin typeface="Times New Roman" panose="02020603050405020304" pitchFamily="18" charset="0"/>
              </a:rPr>
              <a:t>recovered client reissue &amp; result from orphan</a:t>
            </a:r>
          </a:p>
          <a:p>
            <a:pPr lvl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2200" dirty="0" smtClean="0"/>
              <a:t>Solution:</a:t>
            </a:r>
          </a:p>
          <a:p>
            <a:pPr lvl="2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sz="2100" dirty="0" smtClean="0">
                <a:solidFill>
                  <a:srgbClr val="3333FF"/>
                </a:solidFill>
              </a:rPr>
              <a:t> </a:t>
            </a:r>
            <a:r>
              <a:rPr lang="en-US" b="1" dirty="0" smtClean="0">
                <a:solidFill>
                  <a:srgbClr val="3333FF"/>
                </a:solidFill>
              </a:rPr>
              <a:t>Extermination</a:t>
            </a:r>
            <a:r>
              <a:rPr lang="en-US" dirty="0" smtClean="0">
                <a:solidFill>
                  <a:srgbClr val="3333FF"/>
                </a:solidFill>
              </a:rPr>
              <a:t> :</a:t>
            </a:r>
            <a:r>
              <a:rPr lang="en-US" dirty="0" smtClean="0"/>
              <a:t> </a:t>
            </a:r>
          </a:p>
          <a:p>
            <a:pPr lvl="3">
              <a:lnSpc>
                <a:spcPct val="80000"/>
              </a:lnSpc>
              <a:buClr>
                <a:schemeClr val="tx1"/>
              </a:buClr>
              <a:buFontTx/>
              <a:buChar char="•"/>
            </a:pPr>
            <a:r>
              <a:rPr lang="en-US" sz="1800" dirty="0" smtClean="0"/>
              <a:t>Client stub maintains a log &amp; kills the orphans explicitly at reboot.</a:t>
            </a:r>
          </a:p>
          <a:p>
            <a:pPr lvl="3">
              <a:lnSpc>
                <a:spcPct val="80000"/>
              </a:lnSpc>
              <a:buClr>
                <a:schemeClr val="tx1"/>
              </a:buClr>
              <a:buFontTx/>
              <a:buChar char="•"/>
            </a:pPr>
            <a:r>
              <a:rPr lang="en-US" sz="1800" dirty="0" smtClean="0"/>
              <a:t>Disadvantage:</a:t>
            </a:r>
          </a:p>
          <a:p>
            <a:pPr lvl="4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ü"/>
            </a:pPr>
            <a:r>
              <a:rPr lang="en-US" sz="1800" dirty="0" smtClean="0"/>
              <a:t>Log maintenance is expensive.</a:t>
            </a:r>
          </a:p>
          <a:p>
            <a:pPr lvl="4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ü"/>
            </a:pPr>
            <a:r>
              <a:rPr lang="en-US" sz="1800" dirty="0" smtClean="0"/>
              <a:t>Orphans may create grand-orphans by doing RPCs. Its very difficult to locate them</a:t>
            </a:r>
          </a:p>
          <a:p>
            <a:pPr lvl="4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ü"/>
            </a:pPr>
            <a:r>
              <a:rPr lang="en-US" sz="1800" dirty="0" smtClean="0"/>
              <a:t>Even after locating they may not be killed due to partitioned network.</a:t>
            </a:r>
          </a:p>
          <a:p>
            <a:pPr lvl="2">
              <a:lnSpc>
                <a:spcPct val="80000"/>
              </a:lnSpc>
            </a:pPr>
            <a:endParaRPr lang="en-US" sz="2100" dirty="0" smtClean="0"/>
          </a:p>
        </p:txBody>
      </p:sp>
    </p:spTree>
    <p:extLst>
      <p:ext uri="{BB962C8B-B14F-4D97-AF65-F5344CB8AC3E}">
        <p14:creationId xmlns:p14="http://schemas.microsoft.com/office/powerpoint/2010/main" val="31017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1056168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Crash failure </a:t>
            </a:r>
            <a:r>
              <a:rPr lang="en-US" dirty="0" smtClean="0"/>
              <a:t>: Client Crash</a:t>
            </a:r>
            <a:endParaRPr lang="en-US" dirty="0"/>
          </a:p>
        </p:txBody>
      </p:sp>
      <p:grpSp>
        <p:nvGrpSpPr>
          <p:cNvPr id="27" name="Group 19"/>
          <p:cNvGrpSpPr>
            <a:grpSpLocks/>
          </p:cNvGrpSpPr>
          <p:nvPr/>
        </p:nvGrpSpPr>
        <p:grpSpPr bwMode="auto">
          <a:xfrm>
            <a:off x="536104" y="1743757"/>
            <a:ext cx="2514600" cy="457200"/>
            <a:chOff x="2496" y="529"/>
            <a:chExt cx="1584" cy="288"/>
          </a:xfrm>
        </p:grpSpPr>
        <p:grpSp>
          <p:nvGrpSpPr>
            <p:cNvPr id="28" name="Group 8"/>
            <p:cNvGrpSpPr>
              <a:grpSpLocks/>
            </p:cNvGrpSpPr>
            <p:nvPr/>
          </p:nvGrpSpPr>
          <p:grpSpPr bwMode="auto">
            <a:xfrm>
              <a:off x="2496" y="529"/>
              <a:ext cx="336" cy="288"/>
              <a:chOff x="3744" y="1152"/>
              <a:chExt cx="336" cy="288"/>
            </a:xfrm>
          </p:grpSpPr>
          <p:sp>
            <p:nvSpPr>
              <p:cNvPr id="32" name="Oval 4"/>
              <p:cNvSpPr>
                <a:spLocks noChangeArrowheads="1"/>
              </p:cNvSpPr>
              <p:nvPr/>
            </p:nvSpPr>
            <p:spPr bwMode="auto">
              <a:xfrm>
                <a:off x="3744" y="1152"/>
                <a:ext cx="33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sz="1600"/>
              </a:p>
            </p:txBody>
          </p:sp>
          <p:sp>
            <p:nvSpPr>
              <p:cNvPr id="33" name="Text Box 6"/>
              <p:cNvSpPr txBox="1">
                <a:spLocks noChangeArrowheads="1"/>
              </p:cNvSpPr>
              <p:nvPr/>
            </p:nvSpPr>
            <p:spPr bwMode="auto">
              <a:xfrm>
                <a:off x="3799" y="118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600"/>
                  <a:t>C</a:t>
                </a:r>
              </a:p>
            </p:txBody>
          </p:sp>
        </p:grpSp>
        <p:grpSp>
          <p:nvGrpSpPr>
            <p:cNvPr id="29" name="Group 9"/>
            <p:cNvGrpSpPr>
              <a:grpSpLocks/>
            </p:cNvGrpSpPr>
            <p:nvPr/>
          </p:nvGrpSpPr>
          <p:grpSpPr bwMode="auto">
            <a:xfrm>
              <a:off x="3744" y="529"/>
              <a:ext cx="336" cy="288"/>
              <a:chOff x="4992" y="1152"/>
              <a:chExt cx="336" cy="288"/>
            </a:xfrm>
          </p:grpSpPr>
          <p:sp>
            <p:nvSpPr>
              <p:cNvPr id="30" name="Oval 5"/>
              <p:cNvSpPr>
                <a:spLocks noChangeArrowheads="1"/>
              </p:cNvSpPr>
              <p:nvPr/>
            </p:nvSpPr>
            <p:spPr bwMode="auto">
              <a:xfrm>
                <a:off x="4992" y="1152"/>
                <a:ext cx="33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IN" sz="1600"/>
              </a:p>
            </p:txBody>
          </p:sp>
          <p:sp>
            <p:nvSpPr>
              <p:cNvPr id="31" name="Text Box 7"/>
              <p:cNvSpPr txBox="1">
                <a:spLocks noChangeArrowheads="1"/>
              </p:cNvSpPr>
              <p:nvPr/>
            </p:nvSpPr>
            <p:spPr bwMode="auto">
              <a:xfrm>
                <a:off x="5053" y="118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600"/>
                  <a:t>S</a:t>
                </a:r>
              </a:p>
            </p:txBody>
          </p:sp>
        </p:grpSp>
      </p:grpSp>
      <p:sp>
        <p:nvSpPr>
          <p:cNvPr id="44" name="Arc 18"/>
          <p:cNvSpPr>
            <a:spLocks/>
          </p:cNvSpPr>
          <p:nvPr/>
        </p:nvSpPr>
        <p:spPr bwMode="auto">
          <a:xfrm rot="21061151">
            <a:off x="686917" y="1064307"/>
            <a:ext cx="2060575" cy="855663"/>
          </a:xfrm>
          <a:custGeom>
            <a:avLst/>
            <a:gdLst>
              <a:gd name="T0" fmla="*/ 0 w 41507"/>
              <a:gd name="T1" fmla="*/ 2147483646 h 21954"/>
              <a:gd name="T2" fmla="*/ 2147483646 w 41507"/>
              <a:gd name="T3" fmla="*/ 2147483646 h 21954"/>
              <a:gd name="T4" fmla="*/ 2147483646 w 41507"/>
              <a:gd name="T5" fmla="*/ 2147483646 h 21954"/>
              <a:gd name="T6" fmla="*/ 0 60000 65536"/>
              <a:gd name="T7" fmla="*/ 0 60000 65536"/>
              <a:gd name="T8" fmla="*/ 0 60000 65536"/>
              <a:gd name="T9" fmla="*/ 0 w 41507"/>
              <a:gd name="T10" fmla="*/ 0 h 21954"/>
              <a:gd name="T11" fmla="*/ 41507 w 41507"/>
              <a:gd name="T12" fmla="*/ 21954 h 219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507" h="21954" fill="none" extrusionOk="0">
                <a:moveTo>
                  <a:pt x="-1" y="13217"/>
                </a:moveTo>
                <a:cubicBezTo>
                  <a:pt x="3372" y="5208"/>
                  <a:pt x="11216" y="-1"/>
                  <a:pt x="19907" y="0"/>
                </a:cubicBezTo>
                <a:cubicBezTo>
                  <a:pt x="31836" y="0"/>
                  <a:pt x="41507" y="9670"/>
                  <a:pt x="41507" y="21600"/>
                </a:cubicBezTo>
                <a:cubicBezTo>
                  <a:pt x="41507" y="21718"/>
                  <a:pt x="41506" y="21836"/>
                  <a:pt x="41504" y="21954"/>
                </a:cubicBezTo>
              </a:path>
              <a:path w="41507" h="21954" stroke="0" extrusionOk="0">
                <a:moveTo>
                  <a:pt x="-1" y="13217"/>
                </a:moveTo>
                <a:cubicBezTo>
                  <a:pt x="3372" y="5208"/>
                  <a:pt x="11216" y="-1"/>
                  <a:pt x="19907" y="0"/>
                </a:cubicBezTo>
                <a:cubicBezTo>
                  <a:pt x="31836" y="0"/>
                  <a:pt x="41507" y="9670"/>
                  <a:pt x="41507" y="21600"/>
                </a:cubicBezTo>
                <a:cubicBezTo>
                  <a:pt x="41507" y="21718"/>
                  <a:pt x="41506" y="21836"/>
                  <a:pt x="41504" y="21954"/>
                </a:cubicBezTo>
                <a:lnTo>
                  <a:pt x="19907" y="21600"/>
                </a:lnTo>
                <a:lnTo>
                  <a:pt x="-1" y="1321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" name="AutoShape 21"/>
          <p:cNvSpPr>
            <a:spLocks noChangeArrowheads="1"/>
          </p:cNvSpPr>
          <p:nvPr/>
        </p:nvSpPr>
        <p:spPr bwMode="auto">
          <a:xfrm>
            <a:off x="307504" y="1742170"/>
            <a:ext cx="1143000" cy="457200"/>
          </a:xfrm>
          <a:prstGeom prst="irregularSeal2">
            <a:avLst/>
          </a:prstGeom>
          <a:solidFill>
            <a:srgbClr val="FF0000">
              <a:alpha val="38823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IN" sz="1600"/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3796208" y="1052736"/>
            <a:ext cx="8395792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buClr>
                <a:schemeClr val="tx1"/>
              </a:buClr>
              <a:buFont typeface="Wingdings" pitchFamily="2" charset="2"/>
              <a:buChar char="q"/>
            </a:pPr>
            <a:r>
              <a:rPr lang="en-US" b="1" dirty="0" smtClean="0">
                <a:solidFill>
                  <a:srgbClr val="3333FF"/>
                </a:solidFill>
              </a:rPr>
              <a:t>Reincarnation</a:t>
            </a:r>
            <a:r>
              <a:rPr lang="en-US" dirty="0" smtClean="0">
                <a:solidFill>
                  <a:srgbClr val="3333FF"/>
                </a:solidFill>
              </a:rPr>
              <a:t> :</a:t>
            </a:r>
          </a:p>
          <a:p>
            <a:pPr lvl="3">
              <a:buClr>
                <a:schemeClr val="tx1"/>
              </a:buClr>
              <a:buFontTx/>
              <a:buChar char="•"/>
            </a:pPr>
            <a:r>
              <a:rPr lang="en-US" dirty="0" smtClean="0"/>
              <a:t>Divide times in epochs</a:t>
            </a:r>
          </a:p>
          <a:p>
            <a:pPr lvl="3">
              <a:buClr>
                <a:schemeClr val="tx1"/>
              </a:buClr>
              <a:buFontTx/>
              <a:buChar char="•"/>
            </a:pPr>
            <a:r>
              <a:rPr lang="en-US" dirty="0" smtClean="0"/>
              <a:t>Client broadcasts epoch when reboots </a:t>
            </a:r>
          </a:p>
          <a:p>
            <a:pPr lvl="3">
              <a:buClr>
                <a:schemeClr val="tx1"/>
              </a:buClr>
              <a:buFontTx/>
              <a:buChar char="•"/>
            </a:pPr>
            <a:r>
              <a:rPr lang="en-US" dirty="0" smtClean="0"/>
              <a:t>Upon hearing a new epoch servers kills the remote computation on behalf on that client</a:t>
            </a:r>
          </a:p>
          <a:p>
            <a:pPr lvl="3">
              <a:buClr>
                <a:schemeClr val="tx1"/>
              </a:buClr>
              <a:buFontTx/>
              <a:buChar char="•"/>
            </a:pPr>
            <a:endParaRPr lang="en-US" sz="1000" dirty="0" smtClean="0"/>
          </a:p>
          <a:p>
            <a:pPr lvl="2">
              <a:buClr>
                <a:schemeClr val="tx1"/>
              </a:buClr>
              <a:buFont typeface="Wingdings" pitchFamily="2" charset="2"/>
              <a:buChar char="q"/>
            </a:pPr>
            <a:r>
              <a:rPr lang="en-US" b="1" dirty="0" smtClean="0">
                <a:solidFill>
                  <a:srgbClr val="3333FF"/>
                </a:solidFill>
              </a:rPr>
              <a:t>Gentle Reincarnation </a:t>
            </a:r>
            <a:r>
              <a:rPr lang="en-US" dirty="0" smtClean="0">
                <a:solidFill>
                  <a:srgbClr val="3333FF"/>
                </a:solidFill>
              </a:rPr>
              <a:t>:</a:t>
            </a:r>
          </a:p>
          <a:p>
            <a:pPr lvl="3">
              <a:buClr>
                <a:schemeClr val="tx1"/>
              </a:buClr>
              <a:buFontTx/>
              <a:buChar char="•"/>
            </a:pPr>
            <a:r>
              <a:rPr lang="en-US" dirty="0" smtClean="0"/>
              <a:t>Upon hearing a new epoch servers kills the Orphan (RPC with non-void return type)</a:t>
            </a:r>
          </a:p>
          <a:p>
            <a:pPr lvl="3">
              <a:buClr>
                <a:schemeClr val="tx1"/>
              </a:buClr>
              <a:buFontTx/>
              <a:buChar char="•"/>
            </a:pPr>
            <a:endParaRPr lang="en-US" sz="1000" dirty="0" smtClean="0"/>
          </a:p>
          <a:p>
            <a:pPr lvl="2">
              <a:buClr>
                <a:schemeClr val="tx1"/>
              </a:buClr>
              <a:buFont typeface="Wingdings" pitchFamily="2" charset="2"/>
              <a:buChar char="q"/>
            </a:pPr>
            <a:r>
              <a:rPr lang="en-US" b="1" dirty="0" smtClean="0">
                <a:solidFill>
                  <a:srgbClr val="3333FF"/>
                </a:solidFill>
              </a:rPr>
              <a:t>Expiration</a:t>
            </a:r>
            <a:r>
              <a:rPr lang="en-US" dirty="0" smtClean="0">
                <a:solidFill>
                  <a:srgbClr val="3333FF"/>
                </a:solidFill>
              </a:rPr>
              <a:t> :</a:t>
            </a:r>
          </a:p>
          <a:p>
            <a:pPr lvl="3">
              <a:buClr>
                <a:schemeClr val="tx1"/>
              </a:buClr>
              <a:buFontTx/>
              <a:buChar char="•"/>
            </a:pPr>
            <a:r>
              <a:rPr lang="en-US" dirty="0" smtClean="0"/>
              <a:t>Each RPC is given a lease T to finish computation</a:t>
            </a:r>
          </a:p>
          <a:p>
            <a:pPr lvl="3">
              <a:buClr>
                <a:schemeClr val="tx1"/>
              </a:buClr>
              <a:buFontTx/>
              <a:buChar char="•"/>
            </a:pPr>
            <a:r>
              <a:rPr lang="en-US" dirty="0" smtClean="0"/>
              <a:t>If it does not, it needs to ask for another lease</a:t>
            </a:r>
          </a:p>
          <a:p>
            <a:pPr lvl="3">
              <a:buClr>
                <a:schemeClr val="tx1"/>
              </a:buClr>
              <a:buFontTx/>
              <a:buChar char="•"/>
            </a:pPr>
            <a:r>
              <a:rPr lang="en-US" dirty="0" smtClean="0"/>
              <a:t>If client reboots after T sec all orphans are gone </a:t>
            </a:r>
          </a:p>
          <a:p>
            <a:pPr lvl="3">
              <a:buClr>
                <a:schemeClr val="tx1"/>
              </a:buClr>
              <a:buFont typeface="Wingdings" pitchFamily="2" charset="2"/>
              <a:buChar char="ü"/>
            </a:pPr>
            <a:r>
              <a:rPr lang="en-US" dirty="0" smtClean="0"/>
              <a:t>Problem: what is a good value of T?</a:t>
            </a:r>
          </a:p>
          <a:p>
            <a:pPr lvl="3"/>
            <a:endParaRPr lang="en-US" dirty="0" smtClean="0"/>
          </a:p>
          <a:p>
            <a:pPr lvl="3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26351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660202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59" name="Title 1"/>
          <p:cNvSpPr txBox="1">
            <a:spLocks/>
          </p:cNvSpPr>
          <p:nvPr/>
        </p:nvSpPr>
        <p:spPr>
          <a:xfrm>
            <a:off x="119336" y="-588194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Byzantine Generals Problem (BGP)</a:t>
            </a:r>
            <a:endParaRPr lang="en-US" dirty="0"/>
          </a:p>
        </p:txBody>
      </p:sp>
      <p:pic>
        <p:nvPicPr>
          <p:cNvPr id="39" name="Content Placeholder 4" descr="A picture containing toy, graffiti&#10;&#10;Description automatically generated">
            <a:extLst>
              <a:ext uri="{FF2B5EF4-FFF2-40B4-BE49-F238E27FC236}">
                <a16:creationId xmlns="" xmlns:a16="http://schemas.microsoft.com/office/drawing/2014/main" id="{A243421D-C565-4A2F-B343-E39B1973F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171" y="980728"/>
            <a:ext cx="1604875" cy="1800225"/>
          </a:xfrm>
        </p:spPr>
      </p:pic>
      <p:sp>
        <p:nvSpPr>
          <p:cNvPr id="40" name="Rectangle 39">
            <a:extLst>
              <a:ext uri="{FF2B5EF4-FFF2-40B4-BE49-F238E27FC236}">
                <a16:creationId xmlns="" xmlns:a16="http://schemas.microsoft.com/office/drawing/2014/main" id="{36D89600-5122-4CC2-8293-ECEA0B8D4892}"/>
              </a:ext>
            </a:extLst>
          </p:cNvPr>
          <p:cNvSpPr/>
          <p:nvPr/>
        </p:nvSpPr>
        <p:spPr>
          <a:xfrm>
            <a:off x="1900171" y="2809528"/>
            <a:ext cx="1925715" cy="357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Commander</a:t>
            </a:r>
          </a:p>
        </p:txBody>
      </p:sp>
      <p:pic>
        <p:nvPicPr>
          <p:cNvPr id="41" name="Picture 40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3626BDCA-17CD-4649-A9CA-8459E05FC8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09" y="3453915"/>
            <a:ext cx="1012884" cy="2194581"/>
          </a:xfrm>
          <a:prstGeom prst="rect">
            <a:avLst/>
          </a:prstGeom>
        </p:spPr>
      </p:pic>
      <p:pic>
        <p:nvPicPr>
          <p:cNvPr id="42" name="Picture 41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2F28BAFF-2B37-457B-98FC-B8B54F0B2E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790" y="3844983"/>
            <a:ext cx="1012884" cy="2194581"/>
          </a:xfrm>
          <a:prstGeom prst="rect">
            <a:avLst/>
          </a:prstGeom>
        </p:spPr>
      </p:pic>
      <p:pic>
        <p:nvPicPr>
          <p:cNvPr id="43" name="Picture 42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F5647285-999F-4C2F-9EC8-07848B822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694" y="3343450"/>
            <a:ext cx="1012884" cy="2194581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="" xmlns:a16="http://schemas.microsoft.com/office/drawing/2014/main" id="{9CD44C79-92BE-4B66-A39E-1A0CF15FFF36}"/>
              </a:ext>
            </a:extLst>
          </p:cNvPr>
          <p:cNvSpPr/>
          <p:nvPr/>
        </p:nvSpPr>
        <p:spPr>
          <a:xfrm>
            <a:off x="47328" y="5733256"/>
            <a:ext cx="1811045" cy="292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</a:t>
            </a:r>
          </a:p>
        </p:txBody>
      </p:sp>
      <p:sp>
        <p:nvSpPr>
          <p:cNvPr id="49" name="Arrow: Right 3">
            <a:extLst>
              <a:ext uri="{FF2B5EF4-FFF2-40B4-BE49-F238E27FC236}">
                <a16:creationId xmlns="" xmlns:a16="http://schemas.microsoft.com/office/drawing/2014/main" id="{D56C58B7-7C04-471D-B5BA-77522DD88C47}"/>
              </a:ext>
            </a:extLst>
          </p:cNvPr>
          <p:cNvSpPr/>
          <p:nvPr/>
        </p:nvSpPr>
        <p:spPr>
          <a:xfrm rot="8364089">
            <a:off x="761950" y="2661617"/>
            <a:ext cx="1429305" cy="2929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0E419F6C-F9A1-4BB4-8656-51D432CE8746}"/>
              </a:ext>
            </a:extLst>
          </p:cNvPr>
          <p:cNvSpPr txBox="1"/>
          <p:nvPr/>
        </p:nvSpPr>
        <p:spPr>
          <a:xfrm>
            <a:off x="965859" y="2233571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Orders</a:t>
            </a:r>
          </a:p>
        </p:txBody>
      </p:sp>
      <p:sp>
        <p:nvSpPr>
          <p:cNvPr id="51" name="Arrow: Right 12">
            <a:extLst>
              <a:ext uri="{FF2B5EF4-FFF2-40B4-BE49-F238E27FC236}">
                <a16:creationId xmlns="" xmlns:a16="http://schemas.microsoft.com/office/drawing/2014/main" id="{52E15738-6143-40F1-AF66-5667BD2CFFE0}"/>
              </a:ext>
            </a:extLst>
          </p:cNvPr>
          <p:cNvSpPr/>
          <p:nvPr/>
        </p:nvSpPr>
        <p:spPr>
          <a:xfrm rot="5400000">
            <a:off x="2608149" y="3407360"/>
            <a:ext cx="534226" cy="2929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Right 18">
            <a:extLst>
              <a:ext uri="{FF2B5EF4-FFF2-40B4-BE49-F238E27FC236}">
                <a16:creationId xmlns="" xmlns:a16="http://schemas.microsoft.com/office/drawing/2014/main" id="{00C12A7E-D837-49E3-80EA-E751AFAF4D90}"/>
              </a:ext>
            </a:extLst>
          </p:cNvPr>
          <p:cNvSpPr/>
          <p:nvPr/>
        </p:nvSpPr>
        <p:spPr>
          <a:xfrm rot="2449536">
            <a:off x="3534414" y="2665142"/>
            <a:ext cx="1429305" cy="2929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="" xmlns:a16="http://schemas.microsoft.com/office/drawing/2014/main" id="{9CD44C79-92BE-4B66-A39E-1A0CF15FFF36}"/>
              </a:ext>
            </a:extLst>
          </p:cNvPr>
          <p:cNvSpPr/>
          <p:nvPr/>
        </p:nvSpPr>
        <p:spPr>
          <a:xfrm>
            <a:off x="4018613" y="5661248"/>
            <a:ext cx="1811045" cy="292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="" xmlns:a16="http://schemas.microsoft.com/office/drawing/2014/main" id="{9CD44C79-92BE-4B66-A39E-1A0CF15FFF36}"/>
              </a:ext>
            </a:extLst>
          </p:cNvPr>
          <p:cNvSpPr/>
          <p:nvPr/>
        </p:nvSpPr>
        <p:spPr>
          <a:xfrm>
            <a:off x="1969739" y="6165304"/>
            <a:ext cx="1811045" cy="292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</a:t>
            </a:r>
          </a:p>
        </p:txBody>
      </p:sp>
      <p:pic>
        <p:nvPicPr>
          <p:cNvPr id="55" name="Picture 4" descr="bg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91944" y="858285"/>
            <a:ext cx="5487975" cy="174548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825631" y="3166577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The commander sends an order to </a:t>
            </a:r>
            <a:r>
              <a:rPr lang="en-US" b="1" i="1" dirty="0"/>
              <a:t>n-1 </a:t>
            </a:r>
            <a:r>
              <a:rPr lang="en-US" b="1" dirty="0"/>
              <a:t>lieutenant generals</a:t>
            </a:r>
            <a:r>
              <a:rPr lang="en-US" b="1" dirty="0" smtClean="0"/>
              <a:t>.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Condition </a:t>
            </a:r>
            <a:r>
              <a:rPr lang="en-US" dirty="0">
                <a:solidFill>
                  <a:srgbClr val="0070C0"/>
                </a:solidFill>
              </a:rPr>
              <a:t>IC1</a:t>
            </a:r>
            <a:r>
              <a:rPr lang="en-US" dirty="0"/>
              <a:t>: All loyal lieutenant generals obey the same order</a:t>
            </a:r>
            <a:r>
              <a:rPr lang="en-US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Condition </a:t>
            </a:r>
            <a:r>
              <a:rPr lang="en-US" dirty="0">
                <a:solidFill>
                  <a:srgbClr val="0070C0"/>
                </a:solidFill>
              </a:rPr>
              <a:t>IC2</a:t>
            </a:r>
            <a:r>
              <a:rPr lang="en-US" dirty="0"/>
              <a:t>: If the commander is </a:t>
            </a:r>
            <a:r>
              <a:rPr lang="en-US" dirty="0">
                <a:solidFill>
                  <a:srgbClr val="00B050"/>
                </a:solidFill>
              </a:rPr>
              <a:t>loyal</a:t>
            </a:r>
            <a:r>
              <a:rPr lang="en-US" dirty="0"/>
              <a:t>, every loyal general obeys the order that the commander issues.</a:t>
            </a:r>
          </a:p>
        </p:txBody>
      </p:sp>
    </p:spTree>
    <p:extLst>
      <p:ext uri="{BB962C8B-B14F-4D97-AF65-F5344CB8AC3E}">
        <p14:creationId xmlns:p14="http://schemas.microsoft.com/office/powerpoint/2010/main" val="294041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660202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59" name="Title 1"/>
          <p:cNvSpPr txBox="1">
            <a:spLocks/>
          </p:cNvSpPr>
          <p:nvPr/>
        </p:nvSpPr>
        <p:spPr>
          <a:xfrm>
            <a:off x="119336" y="-588194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Byzantine Generals Problem (BGP)</a:t>
            </a:r>
            <a:endParaRPr lang="en-US" dirty="0"/>
          </a:p>
        </p:txBody>
      </p:sp>
      <p:pic>
        <p:nvPicPr>
          <p:cNvPr id="39" name="Content Placeholder 4" descr="A picture containing toy, graffiti&#10;&#10;Description automatically generated">
            <a:extLst>
              <a:ext uri="{FF2B5EF4-FFF2-40B4-BE49-F238E27FC236}">
                <a16:creationId xmlns="" xmlns:a16="http://schemas.microsoft.com/office/drawing/2014/main" id="{A243421D-C565-4A2F-B343-E39B1973F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163" y="980728"/>
            <a:ext cx="1604875" cy="1800225"/>
          </a:xfrm>
        </p:spPr>
      </p:pic>
      <p:sp>
        <p:nvSpPr>
          <p:cNvPr id="40" name="Rectangle 39">
            <a:extLst>
              <a:ext uri="{FF2B5EF4-FFF2-40B4-BE49-F238E27FC236}">
                <a16:creationId xmlns="" xmlns:a16="http://schemas.microsoft.com/office/drawing/2014/main" id="{36D89600-5122-4CC2-8293-ECEA0B8D4892}"/>
              </a:ext>
            </a:extLst>
          </p:cNvPr>
          <p:cNvSpPr/>
          <p:nvPr/>
        </p:nvSpPr>
        <p:spPr>
          <a:xfrm>
            <a:off x="1828163" y="2809528"/>
            <a:ext cx="1925715" cy="357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Commander</a:t>
            </a:r>
          </a:p>
        </p:txBody>
      </p:sp>
      <p:pic>
        <p:nvPicPr>
          <p:cNvPr id="41" name="Picture 40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3626BDCA-17CD-4649-A9CA-8459E05FC8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401" y="3453915"/>
            <a:ext cx="1012884" cy="2194581"/>
          </a:xfrm>
          <a:prstGeom prst="rect">
            <a:avLst/>
          </a:prstGeom>
        </p:spPr>
      </p:pic>
      <p:pic>
        <p:nvPicPr>
          <p:cNvPr id="42" name="Picture 41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2F28BAFF-2B37-457B-98FC-B8B54F0B2E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782" y="3844983"/>
            <a:ext cx="1012884" cy="2194581"/>
          </a:xfrm>
          <a:prstGeom prst="rect">
            <a:avLst/>
          </a:prstGeom>
        </p:spPr>
      </p:pic>
      <p:pic>
        <p:nvPicPr>
          <p:cNvPr id="43" name="Picture 42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F5647285-999F-4C2F-9EC8-07848B822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686" y="3343450"/>
            <a:ext cx="1012884" cy="2194581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="" xmlns:a16="http://schemas.microsoft.com/office/drawing/2014/main" id="{9CD44C79-92BE-4B66-A39E-1A0CF15FFF36}"/>
              </a:ext>
            </a:extLst>
          </p:cNvPr>
          <p:cNvSpPr/>
          <p:nvPr/>
        </p:nvSpPr>
        <p:spPr>
          <a:xfrm>
            <a:off x="-24680" y="5733256"/>
            <a:ext cx="1811045" cy="292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</a:t>
            </a:r>
          </a:p>
        </p:txBody>
      </p:sp>
      <p:sp>
        <p:nvSpPr>
          <p:cNvPr id="49" name="Arrow: Right 3">
            <a:extLst>
              <a:ext uri="{FF2B5EF4-FFF2-40B4-BE49-F238E27FC236}">
                <a16:creationId xmlns="" xmlns:a16="http://schemas.microsoft.com/office/drawing/2014/main" id="{D56C58B7-7C04-471D-B5BA-77522DD88C47}"/>
              </a:ext>
            </a:extLst>
          </p:cNvPr>
          <p:cNvSpPr/>
          <p:nvPr/>
        </p:nvSpPr>
        <p:spPr>
          <a:xfrm rot="8364089">
            <a:off x="689942" y="2661617"/>
            <a:ext cx="1429305" cy="2929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0E419F6C-F9A1-4BB4-8656-51D432CE8746}"/>
              </a:ext>
            </a:extLst>
          </p:cNvPr>
          <p:cNvSpPr txBox="1"/>
          <p:nvPr/>
        </p:nvSpPr>
        <p:spPr>
          <a:xfrm>
            <a:off x="893851" y="2233571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Orders</a:t>
            </a:r>
          </a:p>
        </p:txBody>
      </p:sp>
      <p:sp>
        <p:nvSpPr>
          <p:cNvPr id="51" name="Arrow: Right 12">
            <a:extLst>
              <a:ext uri="{FF2B5EF4-FFF2-40B4-BE49-F238E27FC236}">
                <a16:creationId xmlns="" xmlns:a16="http://schemas.microsoft.com/office/drawing/2014/main" id="{52E15738-6143-40F1-AF66-5667BD2CFFE0}"/>
              </a:ext>
            </a:extLst>
          </p:cNvPr>
          <p:cNvSpPr/>
          <p:nvPr/>
        </p:nvSpPr>
        <p:spPr>
          <a:xfrm rot="5400000">
            <a:off x="2536141" y="3407360"/>
            <a:ext cx="534226" cy="2929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Right 18">
            <a:extLst>
              <a:ext uri="{FF2B5EF4-FFF2-40B4-BE49-F238E27FC236}">
                <a16:creationId xmlns="" xmlns:a16="http://schemas.microsoft.com/office/drawing/2014/main" id="{00C12A7E-D837-49E3-80EA-E751AFAF4D90}"/>
              </a:ext>
            </a:extLst>
          </p:cNvPr>
          <p:cNvSpPr/>
          <p:nvPr/>
        </p:nvSpPr>
        <p:spPr>
          <a:xfrm rot="2449536">
            <a:off x="3462406" y="2665142"/>
            <a:ext cx="1429305" cy="2929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="" xmlns:a16="http://schemas.microsoft.com/office/drawing/2014/main" id="{9CD44C79-92BE-4B66-A39E-1A0CF15FFF36}"/>
              </a:ext>
            </a:extLst>
          </p:cNvPr>
          <p:cNvSpPr/>
          <p:nvPr/>
        </p:nvSpPr>
        <p:spPr>
          <a:xfrm>
            <a:off x="3946605" y="5661248"/>
            <a:ext cx="1811045" cy="292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="" xmlns:a16="http://schemas.microsoft.com/office/drawing/2014/main" id="{9CD44C79-92BE-4B66-A39E-1A0CF15FFF36}"/>
              </a:ext>
            </a:extLst>
          </p:cNvPr>
          <p:cNvSpPr/>
          <p:nvPr/>
        </p:nvSpPr>
        <p:spPr>
          <a:xfrm>
            <a:off x="1897731" y="6165304"/>
            <a:ext cx="1811045" cy="292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</a:t>
            </a:r>
          </a:p>
        </p:txBody>
      </p:sp>
      <p:pic>
        <p:nvPicPr>
          <p:cNvPr id="55" name="Picture 4" descr="bg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91944" y="858285"/>
            <a:ext cx="5487975" cy="174548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796481" y="2780953"/>
            <a:ext cx="6096000" cy="13542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There are 2 Types of Generals :   </a:t>
            </a:r>
            <a:r>
              <a:rPr lang="en-US" b="1" dirty="0" smtClean="0">
                <a:solidFill>
                  <a:srgbClr val="0070C0"/>
                </a:solidFill>
              </a:rPr>
              <a:t>loyal</a:t>
            </a:r>
            <a:r>
              <a:rPr lang="en-US" b="1" dirty="0" smtClean="0"/>
              <a:t>   and   </a:t>
            </a:r>
            <a:r>
              <a:rPr lang="en-US" b="1" dirty="0" smtClean="0">
                <a:solidFill>
                  <a:srgbClr val="0070C0"/>
                </a:solidFill>
              </a:rPr>
              <a:t>traitor</a:t>
            </a:r>
          </a:p>
          <a:p>
            <a:endParaRPr lang="en-US" sz="500" b="1" dirty="0"/>
          </a:p>
          <a:p>
            <a:pPr marL="342900" indent="-342900">
              <a:buAutoNum type="alphaUcPeriod"/>
            </a:pPr>
            <a:r>
              <a:rPr lang="en-US" b="1" dirty="0" smtClean="0"/>
              <a:t>All loyal generals decide the same plan of action.</a:t>
            </a:r>
          </a:p>
          <a:p>
            <a:pPr marL="342900" indent="-342900">
              <a:buAutoNum type="alphaUcPeriod"/>
            </a:pPr>
            <a:endParaRPr lang="en-US" sz="500" b="1" dirty="0" smtClean="0"/>
          </a:p>
          <a:p>
            <a:pPr marL="342900" indent="-342900">
              <a:buAutoNum type="alphaUcPeriod"/>
            </a:pPr>
            <a:r>
              <a:rPr lang="en-US" b="1" dirty="0" smtClean="0"/>
              <a:t>A small no. of traitors can’t cause loyal generals to adopt a bad plan.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25631" y="414908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+mj-lt"/>
              <a:buAutoNum type="alphaUcPeriod" startAt="2"/>
            </a:pPr>
            <a:r>
              <a:rPr lang="en-US" b="1" dirty="0" smtClean="0"/>
              <a:t>The generals should reach a decision.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796481" y="3645024"/>
            <a:ext cx="6125150" cy="288032"/>
            <a:chOff x="5796481" y="4077072"/>
            <a:chExt cx="6125150" cy="288032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5796481" y="4077072"/>
              <a:ext cx="612515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6020889" y="4365104"/>
              <a:ext cx="1371255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/>
          <p:cNvSpPr/>
          <p:nvPr/>
        </p:nvSpPr>
        <p:spPr>
          <a:xfrm>
            <a:off x="5807968" y="4750112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Byzantine Generals Problem : A commander must sends his order to n-1 generals such that</a:t>
            </a:r>
            <a:endParaRPr lang="en-US" b="1" dirty="0" smtClean="0"/>
          </a:p>
          <a:p>
            <a:endParaRPr lang="en-US" sz="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Condition </a:t>
            </a:r>
            <a:r>
              <a:rPr lang="en-US" dirty="0">
                <a:solidFill>
                  <a:srgbClr val="0070C0"/>
                </a:solidFill>
              </a:rPr>
              <a:t>IC1</a:t>
            </a:r>
            <a:r>
              <a:rPr lang="en-US" dirty="0"/>
              <a:t>: All loyal </a:t>
            </a:r>
            <a:r>
              <a:rPr lang="en-US" dirty="0" smtClean="0"/>
              <a:t>generals </a:t>
            </a:r>
            <a:r>
              <a:rPr lang="en-US" dirty="0"/>
              <a:t>obey the same order</a:t>
            </a:r>
            <a:r>
              <a:rPr lang="en-US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Condition </a:t>
            </a:r>
            <a:r>
              <a:rPr lang="en-US" dirty="0">
                <a:solidFill>
                  <a:srgbClr val="0070C0"/>
                </a:solidFill>
              </a:rPr>
              <a:t>IC2</a:t>
            </a:r>
            <a:r>
              <a:rPr lang="en-US" dirty="0"/>
              <a:t>: If the commander is </a:t>
            </a:r>
            <a:r>
              <a:rPr lang="en-US" dirty="0">
                <a:solidFill>
                  <a:srgbClr val="00B050"/>
                </a:solidFill>
              </a:rPr>
              <a:t>loyal</a:t>
            </a:r>
            <a:r>
              <a:rPr lang="en-US" dirty="0"/>
              <a:t>, every loyal general obeys the order that the commander issues.</a:t>
            </a:r>
          </a:p>
        </p:txBody>
      </p:sp>
    </p:spTree>
    <p:extLst>
      <p:ext uri="{BB962C8B-B14F-4D97-AF65-F5344CB8AC3E}">
        <p14:creationId xmlns:p14="http://schemas.microsoft.com/office/powerpoint/2010/main" val="36559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Impossibility for 3BGP</a:t>
            </a:r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="" xmlns:a16="http://schemas.microsoft.com/office/drawing/2014/main" id="{E1F28E36-4062-46A1-85BE-F2AA3A98C13C}"/>
              </a:ext>
            </a:extLst>
          </p:cNvPr>
          <p:cNvSpPr/>
          <p:nvPr/>
        </p:nvSpPr>
        <p:spPr>
          <a:xfrm>
            <a:off x="8355879" y="1111480"/>
            <a:ext cx="1935332" cy="6214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Commander</a:t>
            </a:r>
          </a:p>
        </p:txBody>
      </p:sp>
      <p:sp>
        <p:nvSpPr>
          <p:cNvPr id="32" name="Oval 31">
            <a:extLst>
              <a:ext uri="{FF2B5EF4-FFF2-40B4-BE49-F238E27FC236}">
                <a16:creationId xmlns="" xmlns:a16="http://schemas.microsoft.com/office/drawing/2014/main" id="{DF21ECAB-6E1F-41B7-86FA-A9B4BA0B11AD}"/>
              </a:ext>
            </a:extLst>
          </p:cNvPr>
          <p:cNvSpPr/>
          <p:nvPr/>
        </p:nvSpPr>
        <p:spPr>
          <a:xfrm>
            <a:off x="6928053" y="2560020"/>
            <a:ext cx="1935332" cy="62143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General </a:t>
            </a:r>
            <a:r>
              <a:rPr lang="en-US" dirty="0" smtClean="0"/>
              <a:t>1</a:t>
            </a:r>
          </a:p>
          <a:p>
            <a:pPr algn="ctr"/>
            <a:r>
              <a:rPr lang="en-US" dirty="0"/>
              <a:t>?</a:t>
            </a:r>
          </a:p>
        </p:txBody>
      </p:sp>
      <p:sp>
        <p:nvSpPr>
          <p:cNvPr id="33" name="Oval 32">
            <a:extLst>
              <a:ext uri="{FF2B5EF4-FFF2-40B4-BE49-F238E27FC236}">
                <a16:creationId xmlns="" xmlns:a16="http://schemas.microsoft.com/office/drawing/2014/main" id="{7FCED139-60AF-405E-9F5B-0061CC360AEA}"/>
              </a:ext>
            </a:extLst>
          </p:cNvPr>
          <p:cNvSpPr/>
          <p:nvPr/>
        </p:nvSpPr>
        <p:spPr>
          <a:xfrm>
            <a:off x="9921308" y="2560020"/>
            <a:ext cx="1935332" cy="62143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General 2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="" xmlns:a16="http://schemas.microsoft.com/office/drawing/2014/main" id="{C658B5A1-C356-405D-B3F6-2899DCC18611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7895719" y="1589103"/>
            <a:ext cx="557816" cy="970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461CC1FD-EEF0-4F24-B9AE-E0716F0A84E1}"/>
              </a:ext>
            </a:extLst>
          </p:cNvPr>
          <p:cNvCxnSpPr>
            <a:stCxn id="31" idx="5"/>
            <a:endCxn id="33" idx="0"/>
          </p:cNvCxnSpPr>
          <p:nvPr/>
        </p:nvCxnSpPr>
        <p:spPr>
          <a:xfrm>
            <a:off x="10007788" y="1641910"/>
            <a:ext cx="881186" cy="918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="" xmlns:a16="http://schemas.microsoft.com/office/drawing/2014/main" id="{80039440-BBDC-4E38-A9F8-7CA3B41C7229}"/>
              </a:ext>
            </a:extLst>
          </p:cNvPr>
          <p:cNvCxnSpPr>
            <a:stCxn id="33" idx="2"/>
            <a:endCxn id="32" idx="6"/>
          </p:cNvCxnSpPr>
          <p:nvPr/>
        </p:nvCxnSpPr>
        <p:spPr>
          <a:xfrm flipH="1">
            <a:off x="8863385" y="2870739"/>
            <a:ext cx="10579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857738B8-3674-4306-ACE3-22780DBAD631}"/>
              </a:ext>
            </a:extLst>
          </p:cNvPr>
          <p:cNvSpPr txBox="1"/>
          <p:nvPr/>
        </p:nvSpPr>
        <p:spPr>
          <a:xfrm>
            <a:off x="7402364" y="1755520"/>
            <a:ext cx="772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Attack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6B009749-AE72-4DEF-8B98-E7349D10BB49}"/>
              </a:ext>
            </a:extLst>
          </p:cNvPr>
          <p:cNvSpPr txBox="1"/>
          <p:nvPr/>
        </p:nvSpPr>
        <p:spPr>
          <a:xfrm>
            <a:off x="8954475" y="2870738"/>
            <a:ext cx="19175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Retreat</a:t>
            </a:r>
          </a:p>
          <a:p>
            <a:r>
              <a:rPr lang="en-US" dirty="0"/>
              <a:t>[Commander said]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3054E523-621F-46B9-A038-EA35BFC228E0}"/>
              </a:ext>
            </a:extLst>
          </p:cNvPr>
          <p:cNvSpPr txBox="1"/>
          <p:nvPr/>
        </p:nvSpPr>
        <p:spPr>
          <a:xfrm>
            <a:off x="10576871" y="1731633"/>
            <a:ext cx="874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Retreat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77F477B9-0804-4586-BD8D-3F5589D34E01}"/>
              </a:ext>
            </a:extLst>
          </p:cNvPr>
          <p:cNvSpPr/>
          <p:nvPr/>
        </p:nvSpPr>
        <p:spPr>
          <a:xfrm>
            <a:off x="8355879" y="4191763"/>
            <a:ext cx="1935332" cy="62143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Commander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9C194A61-711D-4113-A93A-3D9874D263F2}"/>
              </a:ext>
            </a:extLst>
          </p:cNvPr>
          <p:cNvSpPr/>
          <p:nvPr/>
        </p:nvSpPr>
        <p:spPr>
          <a:xfrm>
            <a:off x="6928053" y="5640303"/>
            <a:ext cx="1935332" cy="62143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General </a:t>
            </a:r>
            <a:r>
              <a:rPr lang="en-US" dirty="0" smtClean="0"/>
              <a:t>1</a:t>
            </a:r>
          </a:p>
          <a:p>
            <a:pPr algn="ctr"/>
            <a:r>
              <a:rPr lang="en-US" dirty="0"/>
              <a:t>?</a:t>
            </a:r>
          </a:p>
        </p:txBody>
      </p:sp>
      <p:sp>
        <p:nvSpPr>
          <p:cNvPr id="42" name="Oval 41">
            <a:extLst>
              <a:ext uri="{FF2B5EF4-FFF2-40B4-BE49-F238E27FC236}">
                <a16:creationId xmlns="" xmlns:a16="http://schemas.microsoft.com/office/drawing/2014/main" id="{114E681A-4F47-4B92-9B72-B7A94EA41A05}"/>
              </a:ext>
            </a:extLst>
          </p:cNvPr>
          <p:cNvSpPr/>
          <p:nvPr/>
        </p:nvSpPr>
        <p:spPr>
          <a:xfrm>
            <a:off x="9921308" y="5640303"/>
            <a:ext cx="1935332" cy="62143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 2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="" xmlns:a16="http://schemas.microsoft.com/office/drawing/2014/main" id="{EFFE49F6-AE80-4551-B52E-8E8090474E0E}"/>
              </a:ext>
            </a:extLst>
          </p:cNvPr>
          <p:cNvCxnSpPr>
            <a:cxnSpLocks/>
            <a:endCxn id="41" idx="0"/>
          </p:cNvCxnSpPr>
          <p:nvPr/>
        </p:nvCxnSpPr>
        <p:spPr>
          <a:xfrm flipH="1">
            <a:off x="7895719" y="4669386"/>
            <a:ext cx="557816" cy="970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58804068-B6C9-4ABC-87CB-EE8C67E4F180}"/>
              </a:ext>
            </a:extLst>
          </p:cNvPr>
          <p:cNvCxnSpPr>
            <a:stCxn id="40" idx="5"/>
            <a:endCxn id="42" idx="0"/>
          </p:cNvCxnSpPr>
          <p:nvPr/>
        </p:nvCxnSpPr>
        <p:spPr>
          <a:xfrm>
            <a:off x="10007788" y="4722193"/>
            <a:ext cx="881186" cy="918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="" xmlns:a16="http://schemas.microsoft.com/office/drawing/2014/main" id="{96674753-F7CD-4EE5-9C4E-57C7446BD01E}"/>
              </a:ext>
            </a:extLst>
          </p:cNvPr>
          <p:cNvCxnSpPr>
            <a:stCxn id="42" idx="2"/>
            <a:endCxn id="41" idx="6"/>
          </p:cNvCxnSpPr>
          <p:nvPr/>
        </p:nvCxnSpPr>
        <p:spPr>
          <a:xfrm flipH="1">
            <a:off x="8863385" y="5951022"/>
            <a:ext cx="10579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FD532D18-5239-4BDC-8F26-5770CE72FD46}"/>
              </a:ext>
            </a:extLst>
          </p:cNvPr>
          <p:cNvSpPr txBox="1"/>
          <p:nvPr/>
        </p:nvSpPr>
        <p:spPr>
          <a:xfrm>
            <a:off x="7402364" y="4835803"/>
            <a:ext cx="772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Attack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7D8CAAF9-BD23-407E-B679-1F491D5267F1}"/>
              </a:ext>
            </a:extLst>
          </p:cNvPr>
          <p:cNvSpPr txBox="1"/>
          <p:nvPr/>
        </p:nvSpPr>
        <p:spPr>
          <a:xfrm>
            <a:off x="8954475" y="5951021"/>
            <a:ext cx="19175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Retreat</a:t>
            </a:r>
          </a:p>
          <a:p>
            <a:r>
              <a:rPr lang="en-US" dirty="0"/>
              <a:t>[Commander said]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8509EBB2-F122-4EA4-8198-3633E4FEE6C6}"/>
              </a:ext>
            </a:extLst>
          </p:cNvPr>
          <p:cNvSpPr txBox="1"/>
          <p:nvPr/>
        </p:nvSpPr>
        <p:spPr>
          <a:xfrm>
            <a:off x="10448381" y="4836633"/>
            <a:ext cx="772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Attack</a:t>
            </a:r>
          </a:p>
        </p:txBody>
      </p:sp>
      <p:pic>
        <p:nvPicPr>
          <p:cNvPr id="49" name="Content Placeholder 4" descr="A picture containing toy, graffiti&#10;&#10;Description automatically generated">
            <a:extLst>
              <a:ext uri="{FF2B5EF4-FFF2-40B4-BE49-F238E27FC236}">
                <a16:creationId xmlns="" xmlns:a16="http://schemas.microsoft.com/office/drawing/2014/main" id="{A243421D-C565-4A2F-B343-E39B1973F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171" y="980728"/>
            <a:ext cx="1604875" cy="1800225"/>
          </a:xfrm>
        </p:spPr>
      </p:pic>
      <p:sp>
        <p:nvSpPr>
          <p:cNvPr id="50" name="Rectangle 49">
            <a:extLst>
              <a:ext uri="{FF2B5EF4-FFF2-40B4-BE49-F238E27FC236}">
                <a16:creationId xmlns="" xmlns:a16="http://schemas.microsoft.com/office/drawing/2014/main" id="{36D89600-5122-4CC2-8293-ECEA0B8D4892}"/>
              </a:ext>
            </a:extLst>
          </p:cNvPr>
          <p:cNvSpPr/>
          <p:nvPr/>
        </p:nvSpPr>
        <p:spPr>
          <a:xfrm>
            <a:off x="1900171" y="2809528"/>
            <a:ext cx="1925715" cy="357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Commander</a:t>
            </a:r>
          </a:p>
        </p:txBody>
      </p:sp>
      <p:pic>
        <p:nvPicPr>
          <p:cNvPr id="51" name="Picture 50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3626BDCA-17CD-4649-A9CA-8459E05FC8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09" y="3453915"/>
            <a:ext cx="1012884" cy="2194581"/>
          </a:xfrm>
          <a:prstGeom prst="rect">
            <a:avLst/>
          </a:prstGeom>
        </p:spPr>
      </p:pic>
      <p:pic>
        <p:nvPicPr>
          <p:cNvPr id="52" name="Picture 51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2F28BAFF-2B37-457B-98FC-B8B54F0B2E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790" y="3844983"/>
            <a:ext cx="1012884" cy="2194581"/>
          </a:xfrm>
          <a:prstGeom prst="rect">
            <a:avLst/>
          </a:prstGeom>
        </p:spPr>
      </p:pic>
      <p:pic>
        <p:nvPicPr>
          <p:cNvPr id="53" name="Picture 52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F5647285-999F-4C2F-9EC8-07848B822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694" y="3343450"/>
            <a:ext cx="1012884" cy="2194581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="" xmlns:a16="http://schemas.microsoft.com/office/drawing/2014/main" id="{9CD44C79-92BE-4B66-A39E-1A0CF15FFF36}"/>
              </a:ext>
            </a:extLst>
          </p:cNvPr>
          <p:cNvSpPr/>
          <p:nvPr/>
        </p:nvSpPr>
        <p:spPr>
          <a:xfrm>
            <a:off x="47328" y="5733256"/>
            <a:ext cx="1811045" cy="292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</a:t>
            </a:r>
          </a:p>
        </p:txBody>
      </p:sp>
      <p:sp>
        <p:nvSpPr>
          <p:cNvPr id="55" name="Arrow: Right 3">
            <a:extLst>
              <a:ext uri="{FF2B5EF4-FFF2-40B4-BE49-F238E27FC236}">
                <a16:creationId xmlns="" xmlns:a16="http://schemas.microsoft.com/office/drawing/2014/main" id="{D56C58B7-7C04-471D-B5BA-77522DD88C47}"/>
              </a:ext>
            </a:extLst>
          </p:cNvPr>
          <p:cNvSpPr/>
          <p:nvPr/>
        </p:nvSpPr>
        <p:spPr>
          <a:xfrm rot="8364089">
            <a:off x="761950" y="2661617"/>
            <a:ext cx="1429305" cy="2929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0E419F6C-F9A1-4BB4-8656-51D432CE8746}"/>
              </a:ext>
            </a:extLst>
          </p:cNvPr>
          <p:cNvSpPr txBox="1"/>
          <p:nvPr/>
        </p:nvSpPr>
        <p:spPr>
          <a:xfrm>
            <a:off x="965859" y="2233571"/>
            <a:ext cx="81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Orders</a:t>
            </a:r>
          </a:p>
        </p:txBody>
      </p:sp>
      <p:sp>
        <p:nvSpPr>
          <p:cNvPr id="57" name="Arrow: Right 12">
            <a:extLst>
              <a:ext uri="{FF2B5EF4-FFF2-40B4-BE49-F238E27FC236}">
                <a16:creationId xmlns="" xmlns:a16="http://schemas.microsoft.com/office/drawing/2014/main" id="{52E15738-6143-40F1-AF66-5667BD2CFFE0}"/>
              </a:ext>
            </a:extLst>
          </p:cNvPr>
          <p:cNvSpPr/>
          <p:nvPr/>
        </p:nvSpPr>
        <p:spPr>
          <a:xfrm rot="5400000">
            <a:off x="2608149" y="3407360"/>
            <a:ext cx="534226" cy="2929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Right 18">
            <a:extLst>
              <a:ext uri="{FF2B5EF4-FFF2-40B4-BE49-F238E27FC236}">
                <a16:creationId xmlns="" xmlns:a16="http://schemas.microsoft.com/office/drawing/2014/main" id="{00C12A7E-D837-49E3-80EA-E751AFAF4D90}"/>
              </a:ext>
            </a:extLst>
          </p:cNvPr>
          <p:cNvSpPr/>
          <p:nvPr/>
        </p:nvSpPr>
        <p:spPr>
          <a:xfrm rot="2449536">
            <a:off x="3534414" y="2665142"/>
            <a:ext cx="1429305" cy="2929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="" xmlns:a16="http://schemas.microsoft.com/office/drawing/2014/main" id="{9CD44C79-92BE-4B66-A39E-1A0CF15FFF36}"/>
              </a:ext>
            </a:extLst>
          </p:cNvPr>
          <p:cNvSpPr/>
          <p:nvPr/>
        </p:nvSpPr>
        <p:spPr>
          <a:xfrm>
            <a:off x="4018613" y="5661248"/>
            <a:ext cx="1811045" cy="292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="" xmlns:a16="http://schemas.microsoft.com/office/drawing/2014/main" id="{9CD44C79-92BE-4B66-A39E-1A0CF15FFF36}"/>
              </a:ext>
            </a:extLst>
          </p:cNvPr>
          <p:cNvSpPr/>
          <p:nvPr/>
        </p:nvSpPr>
        <p:spPr>
          <a:xfrm>
            <a:off x="1969739" y="6165304"/>
            <a:ext cx="1811045" cy="292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25886" y="1096224"/>
            <a:ext cx="30722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3333FF"/>
                </a:solidFill>
              </a:rPr>
              <a:t>For n Generals and m Traitors</a:t>
            </a:r>
          </a:p>
          <a:p>
            <a:r>
              <a:rPr lang="en-US" b="1" dirty="0">
                <a:solidFill>
                  <a:srgbClr val="3333FF"/>
                </a:solidFill>
              </a:rPr>
              <a:t> </a:t>
            </a:r>
            <a:r>
              <a:rPr lang="en-US" b="1" dirty="0" smtClean="0">
                <a:solidFill>
                  <a:srgbClr val="3333FF"/>
                </a:solidFill>
              </a:rPr>
              <a:t>                   n &gt; 3m </a:t>
            </a:r>
            <a:r>
              <a:rPr lang="en-US" dirty="0" smtClean="0">
                <a:solidFill>
                  <a:srgbClr val="3333FF"/>
                </a:solidFill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7814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Solution : Oral Message OM(m)</a:t>
            </a:r>
            <a:endParaRPr lang="en-US" dirty="0"/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>
          <a:xfrm>
            <a:off x="47328" y="764704"/>
            <a:ext cx="12039600" cy="202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dirty="0" smtClean="0"/>
              <a:t>Assumptions:</a:t>
            </a:r>
          </a:p>
          <a:p>
            <a:pPr lvl="1"/>
            <a:r>
              <a:rPr lang="en-CA" b="1" dirty="0" smtClean="0">
                <a:solidFill>
                  <a:schemeClr val="hlink"/>
                </a:solidFill>
              </a:rPr>
              <a:t>A1</a:t>
            </a:r>
            <a:r>
              <a:rPr lang="en-CA" dirty="0" smtClean="0"/>
              <a:t>: </a:t>
            </a:r>
            <a:r>
              <a:rPr lang="en-US" dirty="0"/>
              <a:t>Every message is delivered </a:t>
            </a:r>
            <a:r>
              <a:rPr lang="en-US" dirty="0">
                <a:solidFill>
                  <a:srgbClr val="00B050"/>
                </a:solidFill>
              </a:rPr>
              <a:t>correctly</a:t>
            </a:r>
            <a:r>
              <a:rPr lang="en-US" dirty="0"/>
              <a:t>. Message integrity is maintained.</a:t>
            </a:r>
          </a:p>
          <a:p>
            <a:pPr lvl="1"/>
            <a:r>
              <a:rPr lang="en-CA" b="1" dirty="0" smtClean="0">
                <a:solidFill>
                  <a:schemeClr val="hlink"/>
                </a:solidFill>
              </a:rPr>
              <a:t>A2</a:t>
            </a:r>
            <a:r>
              <a:rPr lang="en-CA" dirty="0" smtClean="0"/>
              <a:t>: The receiver of a message knows who sent it.</a:t>
            </a:r>
          </a:p>
          <a:p>
            <a:pPr lvl="1"/>
            <a:r>
              <a:rPr lang="en-CA" b="1" dirty="0" smtClean="0">
                <a:solidFill>
                  <a:schemeClr val="hlink"/>
                </a:solidFill>
              </a:rPr>
              <a:t>A3</a:t>
            </a:r>
            <a:r>
              <a:rPr lang="en-CA" dirty="0" smtClean="0"/>
              <a:t>: The absence of a message can be detected.</a:t>
            </a:r>
          </a:p>
          <a:p>
            <a:pPr lvl="1"/>
            <a:r>
              <a:rPr lang="en-CA" b="1" dirty="0" smtClean="0">
                <a:solidFill>
                  <a:srgbClr val="0070C0"/>
                </a:solidFill>
              </a:rPr>
              <a:t>Majority(v</a:t>
            </a:r>
            <a:r>
              <a:rPr lang="en-CA" b="1" baseline="-25000" dirty="0" smtClean="0">
                <a:solidFill>
                  <a:srgbClr val="0070C0"/>
                </a:solidFill>
              </a:rPr>
              <a:t>1</a:t>
            </a:r>
            <a:r>
              <a:rPr lang="en-CA" b="1" dirty="0" smtClean="0">
                <a:solidFill>
                  <a:srgbClr val="0070C0"/>
                </a:solidFill>
              </a:rPr>
              <a:t>,v</a:t>
            </a:r>
            <a:r>
              <a:rPr lang="en-CA" b="1" baseline="-25000" dirty="0" smtClean="0">
                <a:solidFill>
                  <a:srgbClr val="0070C0"/>
                </a:solidFill>
              </a:rPr>
              <a:t>2</a:t>
            </a:r>
            <a:r>
              <a:rPr lang="en-CA" b="1" dirty="0" smtClean="0">
                <a:solidFill>
                  <a:srgbClr val="0070C0"/>
                </a:solidFill>
              </a:rPr>
              <a:t>, …, </a:t>
            </a:r>
            <a:r>
              <a:rPr lang="en-CA" b="1" dirty="0" err="1" smtClean="0">
                <a:solidFill>
                  <a:srgbClr val="0070C0"/>
                </a:solidFill>
              </a:rPr>
              <a:t>v</a:t>
            </a:r>
            <a:r>
              <a:rPr lang="en-CA" b="1" baseline="-25000" dirty="0" err="1" smtClean="0">
                <a:solidFill>
                  <a:srgbClr val="0070C0"/>
                </a:solidFill>
              </a:rPr>
              <a:t>n</a:t>
            </a:r>
            <a:r>
              <a:rPr lang="en-CA" b="1" dirty="0" smtClean="0">
                <a:solidFill>
                  <a:srgbClr val="0070C0"/>
                </a:solidFill>
              </a:rPr>
              <a:t>) </a:t>
            </a:r>
            <a:r>
              <a:rPr lang="en-US" dirty="0" smtClean="0"/>
              <a:t>returns the </a:t>
            </a:r>
            <a:r>
              <a:rPr lang="en-US" dirty="0" smtClean="0">
                <a:solidFill>
                  <a:srgbClr val="FF0000"/>
                </a:solidFill>
              </a:rPr>
              <a:t>majority</a:t>
            </a:r>
            <a:r>
              <a:rPr lang="en-US" dirty="0" smtClean="0"/>
              <a:t> value. If the majority does not exist, return RETREAT.</a:t>
            </a:r>
          </a:p>
          <a:p>
            <a:pPr lvl="1"/>
            <a:endParaRPr lang="en-US" dirty="0"/>
          </a:p>
        </p:txBody>
      </p:sp>
      <p:pic>
        <p:nvPicPr>
          <p:cNvPr id="22" name="Picture 4" descr="NotBadPlan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20136" y="2996952"/>
            <a:ext cx="4343400" cy="163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6" name="Content Placeholder 2">
            <a:extLst>
              <a:ext uri="{FF2B5EF4-FFF2-40B4-BE49-F238E27FC236}">
                <a16:creationId xmlns="" xmlns:a16="http://schemas.microsoft.com/office/drawing/2014/main" id="{F70A8D96-BA1E-4485-8C06-5D745701EA31}"/>
              </a:ext>
            </a:extLst>
          </p:cNvPr>
          <p:cNvSpPr txBox="1">
            <a:spLocks/>
          </p:cNvSpPr>
          <p:nvPr/>
        </p:nvSpPr>
        <p:spPr>
          <a:xfrm>
            <a:off x="132300" y="2708920"/>
            <a:ext cx="6624736" cy="13255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1800" b="1" dirty="0" smtClean="0"/>
              <a:t>Step 1: OM(0)</a:t>
            </a:r>
          </a:p>
          <a:p>
            <a:pPr lvl="1"/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commander</a:t>
            </a:r>
            <a:r>
              <a:rPr lang="en-US" dirty="0" smtClean="0"/>
              <a:t> sends its </a:t>
            </a:r>
            <a:r>
              <a:rPr lang="en-US" dirty="0" smtClean="0">
                <a:solidFill>
                  <a:srgbClr val="00B050"/>
                </a:solidFill>
              </a:rPr>
              <a:t>value</a:t>
            </a:r>
            <a:r>
              <a:rPr lang="en-US" dirty="0" smtClean="0"/>
              <a:t> to each </a:t>
            </a:r>
            <a:r>
              <a:rPr lang="en-US" dirty="0" smtClean="0">
                <a:solidFill>
                  <a:srgbClr val="0070C0"/>
                </a:solidFill>
              </a:rPr>
              <a:t>general</a:t>
            </a:r>
            <a:endParaRPr lang="en-US" dirty="0" smtClean="0"/>
          </a:p>
          <a:p>
            <a:pPr lvl="1"/>
            <a:r>
              <a:rPr lang="en-US" dirty="0" smtClean="0"/>
              <a:t>Each </a:t>
            </a:r>
            <a:r>
              <a:rPr lang="en-US" dirty="0" smtClean="0">
                <a:solidFill>
                  <a:srgbClr val="0070C0"/>
                </a:solidFill>
              </a:rPr>
              <a:t>general </a:t>
            </a:r>
            <a:r>
              <a:rPr lang="en-US" dirty="0" smtClean="0"/>
              <a:t>accepts </a:t>
            </a:r>
            <a:r>
              <a:rPr lang="en-US" dirty="0" smtClean="0"/>
              <a:t>the </a:t>
            </a:r>
            <a:r>
              <a:rPr lang="en-US" dirty="0" smtClean="0">
                <a:solidFill>
                  <a:schemeClr val="accent1"/>
                </a:solidFill>
              </a:rPr>
              <a:t>value</a:t>
            </a:r>
            <a:r>
              <a:rPr lang="en-US" dirty="0" smtClean="0"/>
              <a:t> or accepts RETREAT if no message was sent.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72F1CE3C-A143-41A5-A40C-6CE2A4704E16}"/>
              </a:ext>
            </a:extLst>
          </p:cNvPr>
          <p:cNvSpPr txBox="1">
            <a:spLocks/>
          </p:cNvSpPr>
          <p:nvPr/>
        </p:nvSpPr>
        <p:spPr>
          <a:xfrm>
            <a:off x="119336" y="4077072"/>
            <a:ext cx="1169490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1800" b="1" dirty="0" smtClean="0"/>
              <a:t>Step 2: OM(m), m &gt; 0, total </a:t>
            </a:r>
            <a:r>
              <a:rPr lang="en-US" sz="1800" b="1" i="1" dirty="0" smtClean="0"/>
              <a:t>n</a:t>
            </a:r>
            <a:r>
              <a:rPr lang="en-US" sz="1800" b="1" dirty="0" smtClean="0"/>
              <a:t> generals including the </a:t>
            </a:r>
            <a:r>
              <a:rPr lang="en-US" sz="1800" b="1" dirty="0" smtClean="0">
                <a:solidFill>
                  <a:srgbClr val="FF0000"/>
                </a:solidFill>
              </a:rPr>
              <a:t>commander</a:t>
            </a:r>
          </a:p>
          <a:p>
            <a:pPr lvl="1"/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commander</a:t>
            </a:r>
            <a:r>
              <a:rPr lang="en-US" dirty="0" smtClean="0"/>
              <a:t> sends his value to every </a:t>
            </a:r>
            <a:r>
              <a:rPr lang="en-US" dirty="0" smtClean="0">
                <a:solidFill>
                  <a:srgbClr val="0070C0"/>
                </a:solidFill>
              </a:rPr>
              <a:t>general</a:t>
            </a:r>
            <a:endParaRPr lang="en-US" dirty="0" smtClean="0">
              <a:solidFill>
                <a:srgbClr val="0070C0"/>
              </a:solidFill>
            </a:endParaRPr>
          </a:p>
          <a:p>
            <a:pPr lvl="1"/>
            <a:r>
              <a:rPr lang="en-US" dirty="0" smtClean="0"/>
              <a:t>Let </a:t>
            </a:r>
            <a:r>
              <a:rPr lang="en-US" dirty="0" smtClean="0">
                <a:solidFill>
                  <a:srgbClr val="0070C0"/>
                </a:solidFill>
              </a:rPr>
              <a:t>general </a:t>
            </a:r>
            <a:r>
              <a:rPr lang="en-US" i="1" dirty="0" err="1" smtClean="0"/>
              <a:t>i</a:t>
            </a:r>
            <a:r>
              <a:rPr lang="en-US" i="1" dirty="0" smtClean="0"/>
              <a:t>, </a:t>
            </a:r>
            <a:r>
              <a:rPr lang="en-US" dirty="0" smtClean="0"/>
              <a:t>receive value v</a:t>
            </a:r>
            <a:r>
              <a:rPr lang="en-US" baseline="-25000" dirty="0" smtClean="0"/>
              <a:t>i</a:t>
            </a:r>
            <a:r>
              <a:rPr lang="en-US" dirty="0" smtClean="0"/>
              <a:t> from the </a:t>
            </a:r>
            <a:r>
              <a:rPr lang="en-US" dirty="0" smtClean="0">
                <a:solidFill>
                  <a:srgbClr val="FF0000"/>
                </a:solidFill>
              </a:rPr>
              <a:t>commander</a:t>
            </a:r>
            <a:r>
              <a:rPr lang="en-US" dirty="0" smtClean="0"/>
              <a:t>. </a:t>
            </a:r>
          </a:p>
          <a:p>
            <a:pPr lvl="2"/>
            <a:r>
              <a:rPr lang="en-US" sz="1800" dirty="0" smtClean="0"/>
              <a:t>It </a:t>
            </a:r>
            <a:r>
              <a:rPr lang="en-US" sz="1800" dirty="0" smtClean="0"/>
              <a:t>acts as a </a:t>
            </a:r>
            <a:r>
              <a:rPr lang="en-US" sz="1800" dirty="0" smtClean="0">
                <a:solidFill>
                  <a:srgbClr val="FF0000"/>
                </a:solidFill>
              </a:rPr>
              <a:t>commander</a:t>
            </a:r>
            <a:r>
              <a:rPr lang="en-US" sz="1800" dirty="0" smtClean="0"/>
              <a:t> </a:t>
            </a:r>
            <a:r>
              <a:rPr lang="en-US" sz="1800" dirty="0" smtClean="0"/>
              <a:t>and sends v</a:t>
            </a:r>
            <a:r>
              <a:rPr lang="en-US" sz="1800" baseline="-25000" dirty="0" smtClean="0"/>
              <a:t>i</a:t>
            </a:r>
            <a:r>
              <a:rPr lang="en-US" sz="1800" dirty="0" smtClean="0"/>
              <a:t> to </a:t>
            </a:r>
            <a:r>
              <a:rPr lang="en-US" sz="1800" dirty="0" smtClean="0"/>
              <a:t>the rest of the </a:t>
            </a:r>
            <a:r>
              <a:rPr lang="en-US" sz="1800" i="1" dirty="0" smtClean="0"/>
              <a:t>n-2</a:t>
            </a:r>
            <a:r>
              <a:rPr lang="en-US" sz="1800" dirty="0" smtClean="0"/>
              <a:t> </a:t>
            </a:r>
            <a:r>
              <a:rPr lang="en-US" sz="1800" dirty="0" smtClean="0">
                <a:solidFill>
                  <a:srgbClr val="0070C0"/>
                </a:solidFill>
              </a:rPr>
              <a:t>generals  </a:t>
            </a:r>
            <a:r>
              <a:rPr lang="en-US" sz="1800" dirty="0" smtClean="0">
                <a:solidFill>
                  <a:schemeClr val="tx1"/>
                </a:solidFill>
              </a:rPr>
              <a:t>using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smtClean="0">
                <a:solidFill>
                  <a:srgbClr val="7030A0"/>
                </a:solidFill>
              </a:rPr>
              <a:t>OM(m-1) </a:t>
            </a:r>
          </a:p>
          <a:p>
            <a:pPr lvl="2"/>
            <a:r>
              <a:rPr lang="en-US" sz="1800" dirty="0" smtClean="0"/>
              <a:t>The </a:t>
            </a:r>
            <a:r>
              <a:rPr lang="en-US" sz="1800" dirty="0" smtClean="0"/>
              <a:t>loyal generals in </a:t>
            </a:r>
            <a:r>
              <a:rPr lang="en-US" sz="1800" dirty="0" smtClean="0">
                <a:solidFill>
                  <a:srgbClr val="7030A0"/>
                </a:solidFill>
              </a:rPr>
              <a:t>OM(m-1)</a:t>
            </a:r>
            <a:r>
              <a:rPr lang="en-US" sz="1800" b="1" dirty="0" smtClean="0"/>
              <a:t> </a:t>
            </a:r>
            <a:r>
              <a:rPr lang="en-US" sz="1800" dirty="0" smtClean="0"/>
              <a:t>come to an agreement about the value received by 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lieutenant </a:t>
            </a:r>
            <a:r>
              <a:rPr lang="en-US" sz="1800" i="1" dirty="0" err="1" smtClean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lvl="2"/>
            <a:r>
              <a:rPr lang="en-US" sz="1800" dirty="0" smtClean="0"/>
              <a:t>For each </a:t>
            </a:r>
            <a:r>
              <a:rPr lang="en-US" sz="1800" dirty="0" err="1" smtClean="0"/>
              <a:t>i</a:t>
            </a:r>
            <a:r>
              <a:rPr lang="en-US" sz="1800" dirty="0" smtClean="0"/>
              <a:t> ≠ j, let </a:t>
            </a:r>
            <a:r>
              <a:rPr lang="en-US" sz="1800" dirty="0" err="1" smtClean="0"/>
              <a:t>v</a:t>
            </a:r>
            <a:r>
              <a:rPr lang="en-US" sz="1800" baseline="-25000" dirty="0" err="1" smtClean="0"/>
              <a:t>j</a:t>
            </a:r>
            <a:r>
              <a:rPr lang="en-US" sz="1800" dirty="0" smtClean="0"/>
              <a:t> be the value general </a:t>
            </a:r>
            <a:r>
              <a:rPr lang="en-US" sz="1800" dirty="0" err="1" smtClean="0"/>
              <a:t>i</a:t>
            </a:r>
            <a:r>
              <a:rPr lang="en-US" sz="1800" dirty="0" smtClean="0"/>
              <a:t> receives from general j using OM(m-1) </a:t>
            </a:r>
          </a:p>
          <a:p>
            <a:pPr lvl="2"/>
            <a:r>
              <a:rPr lang="en-US" sz="1800" dirty="0" smtClean="0"/>
              <a:t>It returns </a:t>
            </a:r>
            <a:r>
              <a:rPr lang="en-CA" sz="1800" b="1" dirty="0">
                <a:solidFill>
                  <a:srgbClr val="0070C0"/>
                </a:solidFill>
              </a:rPr>
              <a:t>Majority(v</a:t>
            </a:r>
            <a:r>
              <a:rPr lang="en-CA" sz="1800" b="1" baseline="-25000" dirty="0">
                <a:solidFill>
                  <a:srgbClr val="0070C0"/>
                </a:solidFill>
              </a:rPr>
              <a:t>1</a:t>
            </a:r>
            <a:r>
              <a:rPr lang="en-CA" sz="1800" b="1" dirty="0">
                <a:solidFill>
                  <a:srgbClr val="0070C0"/>
                </a:solidFill>
              </a:rPr>
              <a:t>,v</a:t>
            </a:r>
            <a:r>
              <a:rPr lang="en-CA" sz="1800" b="1" baseline="-25000" dirty="0">
                <a:solidFill>
                  <a:srgbClr val="0070C0"/>
                </a:solidFill>
              </a:rPr>
              <a:t>2</a:t>
            </a:r>
            <a:r>
              <a:rPr lang="en-CA" sz="1800" b="1" dirty="0">
                <a:solidFill>
                  <a:srgbClr val="0070C0"/>
                </a:solidFill>
              </a:rPr>
              <a:t>, …, </a:t>
            </a:r>
            <a:r>
              <a:rPr lang="en-CA" sz="1800" b="1" dirty="0" err="1">
                <a:solidFill>
                  <a:srgbClr val="0070C0"/>
                </a:solidFill>
              </a:rPr>
              <a:t>v</a:t>
            </a:r>
            <a:r>
              <a:rPr lang="en-CA" sz="1800" b="1" baseline="-25000" dirty="0" err="1">
                <a:solidFill>
                  <a:srgbClr val="0070C0"/>
                </a:solidFill>
              </a:rPr>
              <a:t>n</a:t>
            </a:r>
            <a:r>
              <a:rPr lang="en-CA" sz="1800" b="1" dirty="0">
                <a:solidFill>
                  <a:srgbClr val="0070C0"/>
                </a:solidFill>
              </a:rPr>
              <a:t>) </a:t>
            </a:r>
            <a:r>
              <a:rPr lang="en-CA" sz="1800" b="1" dirty="0" smtClean="0">
                <a:solidFill>
                  <a:srgbClr val="0070C0"/>
                </a:solidFill>
              </a:rPr>
              <a:t> </a:t>
            </a:r>
            <a:r>
              <a:rPr lang="en-CA" sz="1800" b="1" dirty="0" smtClean="0">
                <a:solidFill>
                  <a:schemeClr val="tx1"/>
                </a:solidFill>
              </a:rPr>
              <a:t>with the values it receives from OM(m-1)</a:t>
            </a:r>
            <a:endParaRPr lang="en-US" sz="1800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62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Solution : Oral Message OM(m)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8C0583FA-9196-4678-AF09-EBE52211DD1F}"/>
              </a:ext>
            </a:extLst>
          </p:cNvPr>
          <p:cNvSpPr/>
          <p:nvPr/>
        </p:nvSpPr>
        <p:spPr>
          <a:xfrm>
            <a:off x="407368" y="3597734"/>
            <a:ext cx="8534400" cy="13829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E857F107-D1BF-48A4-89B8-DB225E2C5070}"/>
              </a:ext>
            </a:extLst>
          </p:cNvPr>
          <p:cNvGrpSpPr/>
          <p:nvPr/>
        </p:nvGrpSpPr>
        <p:grpSpPr>
          <a:xfrm>
            <a:off x="1072502" y="2204864"/>
            <a:ext cx="7772400" cy="2319334"/>
            <a:chOff x="1543974" y="2868008"/>
            <a:chExt cx="7772400" cy="2319334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C50CEA6A-FA05-4841-B110-1E224C6A2F4A}"/>
                </a:ext>
              </a:extLst>
            </p:cNvPr>
            <p:cNvSpPr/>
            <p:nvPr/>
          </p:nvSpPr>
          <p:spPr>
            <a:xfrm>
              <a:off x="4518734" y="2868008"/>
              <a:ext cx="1935332" cy="62143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Commander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B62D5F0F-3CF8-45E5-828C-25D2155B9D5E}"/>
                </a:ext>
              </a:extLst>
            </p:cNvPr>
            <p:cNvSpPr/>
            <p:nvPr/>
          </p:nvSpPr>
          <p:spPr>
            <a:xfrm>
              <a:off x="1543974" y="4547360"/>
              <a:ext cx="1935332" cy="62143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General 1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1B09C2E1-CA49-49DE-A44C-C03CA89E2D0E}"/>
                </a:ext>
              </a:extLst>
            </p:cNvPr>
            <p:cNvSpPr/>
            <p:nvPr/>
          </p:nvSpPr>
          <p:spPr>
            <a:xfrm>
              <a:off x="3999020" y="4537164"/>
              <a:ext cx="1935332" cy="62143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General 2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50E607E4-6112-4F48-AB5E-8F964A9636B7}"/>
                </a:ext>
              </a:extLst>
            </p:cNvPr>
            <p:cNvCxnSpPr>
              <a:cxnSpLocks/>
              <a:stCxn id="10" idx="3"/>
              <a:endCxn id="11" idx="0"/>
            </p:cNvCxnSpPr>
            <p:nvPr/>
          </p:nvCxnSpPr>
          <p:spPr>
            <a:xfrm flipH="1">
              <a:off x="2511640" y="3398438"/>
              <a:ext cx="2290517" cy="11489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34FC4F2B-2A21-417D-BB6F-289D9529B120}"/>
                </a:ext>
              </a:extLst>
            </p:cNvPr>
            <p:cNvCxnSpPr>
              <a:cxnSpLocks/>
              <a:stCxn id="10" idx="4"/>
              <a:endCxn id="12" idx="0"/>
            </p:cNvCxnSpPr>
            <p:nvPr/>
          </p:nvCxnSpPr>
          <p:spPr>
            <a:xfrm flipH="1">
              <a:off x="4966686" y="3489445"/>
              <a:ext cx="519714" cy="10477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CB0FA0A7-D050-4795-92A8-A887A5536795}"/>
                </a:ext>
              </a:extLst>
            </p:cNvPr>
            <p:cNvSpPr/>
            <p:nvPr/>
          </p:nvSpPr>
          <p:spPr>
            <a:xfrm>
              <a:off x="7381042" y="4565905"/>
              <a:ext cx="1935332" cy="62143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General n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49C4C846-5AE1-4B1F-A181-5CA27AE0047D}"/>
                </a:ext>
              </a:extLst>
            </p:cNvPr>
            <p:cNvCxnSpPr>
              <a:cxnSpLocks/>
              <a:stCxn id="10" idx="5"/>
              <a:endCxn id="15" idx="0"/>
            </p:cNvCxnSpPr>
            <p:nvPr/>
          </p:nvCxnSpPr>
          <p:spPr>
            <a:xfrm>
              <a:off x="6170643" y="3398438"/>
              <a:ext cx="2178065" cy="11674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F374A9FD-83CC-43BA-8053-A194922CB7FF}"/>
                </a:ext>
              </a:extLst>
            </p:cNvPr>
            <p:cNvSpPr/>
            <p:nvPr/>
          </p:nvSpPr>
          <p:spPr>
            <a:xfrm>
              <a:off x="6217920" y="4778324"/>
              <a:ext cx="142240" cy="13051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94F8ED04-97A3-41AD-B565-34B6B100BB17}"/>
                </a:ext>
              </a:extLst>
            </p:cNvPr>
            <p:cNvSpPr/>
            <p:nvPr/>
          </p:nvSpPr>
          <p:spPr>
            <a:xfrm>
              <a:off x="6501488" y="4778324"/>
              <a:ext cx="142240" cy="13051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="" xmlns:a16="http://schemas.microsoft.com/office/drawing/2014/main" id="{D7E34F54-055A-4C20-8726-3ABE7259C3DE}"/>
                </a:ext>
              </a:extLst>
            </p:cNvPr>
            <p:cNvSpPr/>
            <p:nvPr/>
          </p:nvSpPr>
          <p:spPr>
            <a:xfrm>
              <a:off x="6768900" y="4778324"/>
              <a:ext cx="142240" cy="13051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Speech Bubble: Oval 15">
            <a:extLst>
              <a:ext uri="{FF2B5EF4-FFF2-40B4-BE49-F238E27FC236}">
                <a16:creationId xmlns="" xmlns:a16="http://schemas.microsoft.com/office/drawing/2014/main" id="{0A559C39-D62F-4826-BC32-4EF8A094454A}"/>
              </a:ext>
            </a:extLst>
          </p:cNvPr>
          <p:cNvSpPr/>
          <p:nvPr/>
        </p:nvSpPr>
        <p:spPr>
          <a:xfrm>
            <a:off x="8753808" y="2311756"/>
            <a:ext cx="2590800" cy="1325564"/>
          </a:xfrm>
          <a:prstGeom prst="wedgeEllipseCallout">
            <a:avLst>
              <a:gd name="adj1" fmla="val -68058"/>
              <a:gd name="adj2" fmla="val 716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 Don’t accept the value that the commander sends</a:t>
            </a:r>
          </a:p>
        </p:txBody>
      </p:sp>
      <p:sp>
        <p:nvSpPr>
          <p:cNvPr id="25" name="Speech Bubble: Oval 17">
            <a:extLst>
              <a:ext uri="{FF2B5EF4-FFF2-40B4-BE49-F238E27FC236}">
                <a16:creationId xmlns="" xmlns:a16="http://schemas.microsoft.com/office/drawing/2014/main" id="{1030FAB6-9E36-45E3-A180-FA516E9AFFB4}"/>
              </a:ext>
            </a:extLst>
          </p:cNvPr>
          <p:cNvSpPr/>
          <p:nvPr/>
        </p:nvSpPr>
        <p:spPr>
          <a:xfrm>
            <a:off x="7893835" y="4524198"/>
            <a:ext cx="3714933" cy="1582463"/>
          </a:xfrm>
          <a:prstGeom prst="wedgeEllipseCallout">
            <a:avLst>
              <a:gd name="adj1" fmla="val -53652"/>
              <a:gd name="adj2" fmla="val -500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 Ask the rest of the lieutenants and come to an agreement regarding the value sent by the commander 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71E5E50E-9CCE-4D85-894C-0EC0796D1AD0}"/>
              </a:ext>
            </a:extLst>
          </p:cNvPr>
          <p:cNvSpPr/>
          <p:nvPr/>
        </p:nvSpPr>
        <p:spPr>
          <a:xfrm>
            <a:off x="10633408" y="4188453"/>
            <a:ext cx="1127760" cy="48166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OM(m-1)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71E5E50E-9CCE-4D85-894C-0EC0796D1AD0}"/>
              </a:ext>
            </a:extLst>
          </p:cNvPr>
          <p:cNvSpPr/>
          <p:nvPr/>
        </p:nvSpPr>
        <p:spPr>
          <a:xfrm>
            <a:off x="4424600" y="1082508"/>
            <a:ext cx="1127760" cy="48166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OM(m)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71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Example : Oral Message OM(m)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91344" y="1051054"/>
            <a:ext cx="6436527" cy="2048982"/>
            <a:chOff x="191344" y="1051053"/>
            <a:chExt cx="7772400" cy="2377947"/>
          </a:xfrm>
        </p:grpSpPr>
        <p:sp>
          <p:nvSpPr>
            <p:cNvPr id="21" name="Oval 20">
              <a:extLst>
                <a:ext uri="{FF2B5EF4-FFF2-40B4-BE49-F238E27FC236}">
                  <a16:creationId xmlns="" xmlns:a16="http://schemas.microsoft.com/office/drawing/2014/main" id="{CB7B7D19-B3E8-4528-9D91-429CD35DECC0}"/>
                </a:ext>
              </a:extLst>
            </p:cNvPr>
            <p:cNvSpPr/>
            <p:nvPr/>
          </p:nvSpPr>
          <p:spPr>
            <a:xfrm>
              <a:off x="3166104" y="1051053"/>
              <a:ext cx="1935332" cy="62143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Commander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="" xmlns:a16="http://schemas.microsoft.com/office/drawing/2014/main" id="{FCCED982-70DD-4958-91F0-4EF9DFEBEC4F}"/>
                </a:ext>
              </a:extLst>
            </p:cNvPr>
            <p:cNvSpPr/>
            <p:nvPr/>
          </p:nvSpPr>
          <p:spPr>
            <a:xfrm>
              <a:off x="191344" y="2730405"/>
              <a:ext cx="1935332" cy="62143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General 1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="" xmlns:a16="http://schemas.microsoft.com/office/drawing/2014/main" id="{193D07A7-CFB0-427A-8CF7-80CDD0B47B4C}"/>
                </a:ext>
              </a:extLst>
            </p:cNvPr>
            <p:cNvSpPr/>
            <p:nvPr/>
          </p:nvSpPr>
          <p:spPr>
            <a:xfrm>
              <a:off x="3184599" y="2730405"/>
              <a:ext cx="1935332" cy="62143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General 2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="" xmlns:a16="http://schemas.microsoft.com/office/drawing/2014/main" id="{EBD99155-46C1-4925-A181-07D214D98284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 flipH="1">
              <a:off x="1159010" y="1460971"/>
              <a:ext cx="2045931" cy="12694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A71D0EAC-AAAB-4D72-9D55-9E0D80E750D9}"/>
                </a:ext>
              </a:extLst>
            </p:cNvPr>
            <p:cNvCxnSpPr>
              <a:cxnSpLocks/>
              <a:stCxn id="21" idx="4"/>
              <a:endCxn id="28" idx="0"/>
            </p:cNvCxnSpPr>
            <p:nvPr/>
          </p:nvCxnSpPr>
          <p:spPr>
            <a:xfrm>
              <a:off x="4133770" y="1672490"/>
              <a:ext cx="18495" cy="10579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1A11F982-F043-4507-9542-B7A821F01117}"/>
                </a:ext>
              </a:extLst>
            </p:cNvPr>
            <p:cNvCxnSpPr>
              <a:cxnSpLocks/>
              <a:stCxn id="22" idx="6"/>
              <a:endCxn id="28" idx="2"/>
            </p:cNvCxnSpPr>
            <p:nvPr/>
          </p:nvCxnSpPr>
          <p:spPr>
            <a:xfrm>
              <a:off x="2126676" y="3041124"/>
              <a:ext cx="10579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9A15540C-A8AE-4E2E-B7CC-E2C2FD182935}"/>
                </a:ext>
              </a:extLst>
            </p:cNvPr>
            <p:cNvSpPr txBox="1"/>
            <p:nvPr/>
          </p:nvSpPr>
          <p:spPr>
            <a:xfrm>
              <a:off x="1837814" y="177172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931C14AB-2A2F-4FC8-8A30-BFBE93E08CC4}"/>
                </a:ext>
              </a:extLst>
            </p:cNvPr>
            <p:cNvSpPr txBox="1"/>
            <p:nvPr/>
          </p:nvSpPr>
          <p:spPr>
            <a:xfrm>
              <a:off x="2458509" y="3041123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C3989AD0-43E7-4414-83FC-B176D984EFA3}"/>
                </a:ext>
              </a:extLst>
            </p:cNvPr>
            <p:cNvSpPr txBox="1"/>
            <p:nvPr/>
          </p:nvSpPr>
          <p:spPr>
            <a:xfrm>
              <a:off x="3829570" y="177172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="" xmlns:a16="http://schemas.microsoft.com/office/drawing/2014/main" id="{80214A37-D6D7-4F8D-B9CB-5FF4DBA10A84}"/>
                </a:ext>
              </a:extLst>
            </p:cNvPr>
            <p:cNvSpPr/>
            <p:nvPr/>
          </p:nvSpPr>
          <p:spPr>
            <a:xfrm>
              <a:off x="6028412" y="2748950"/>
              <a:ext cx="1935332" cy="621437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General 3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="" xmlns:a16="http://schemas.microsoft.com/office/drawing/2014/main" id="{1AAB52EF-294D-4D8B-9295-8BDB216C8189}"/>
                </a:ext>
              </a:extLst>
            </p:cNvPr>
            <p:cNvCxnSpPr>
              <a:cxnSpLocks/>
              <a:stCxn id="21" idx="6"/>
              <a:endCxn id="35" idx="0"/>
            </p:cNvCxnSpPr>
            <p:nvPr/>
          </p:nvCxnSpPr>
          <p:spPr>
            <a:xfrm>
              <a:off x="5101436" y="1361772"/>
              <a:ext cx="1894642" cy="13871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3F7D067F-FADE-4928-A194-A61D740E9045}"/>
                </a:ext>
              </a:extLst>
            </p:cNvPr>
            <p:cNvSpPr txBox="1"/>
            <p:nvPr/>
          </p:nvSpPr>
          <p:spPr>
            <a:xfrm>
              <a:off x="6282167" y="177172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C248C92C-F2B2-4B93-B3D3-D7756C5054D0}"/>
                </a:ext>
              </a:extLst>
            </p:cNvPr>
            <p:cNvCxnSpPr>
              <a:stCxn id="35" idx="2"/>
              <a:endCxn id="28" idx="6"/>
            </p:cNvCxnSpPr>
            <p:nvPr/>
          </p:nvCxnSpPr>
          <p:spPr>
            <a:xfrm flipH="1" flipV="1">
              <a:off x="5119931" y="3041124"/>
              <a:ext cx="908481" cy="185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4C6FC1F1-6F9F-4073-B8B7-D191D5D36424}"/>
                </a:ext>
              </a:extLst>
            </p:cNvPr>
            <p:cNvSpPr txBox="1"/>
            <p:nvPr/>
          </p:nvSpPr>
          <p:spPr>
            <a:xfrm>
              <a:off x="5407717" y="30596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6426598" y="1150291"/>
            <a:ext cx="51142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General 1 and General 2 compute majority (</a:t>
            </a:r>
            <a:r>
              <a:rPr lang="en-US" dirty="0" err="1"/>
              <a:t>v,v,x</a:t>
            </a:r>
            <a:r>
              <a:rPr lang="en-US" dirty="0"/>
              <a:t>) = v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91344" y="3573016"/>
            <a:ext cx="6984776" cy="2798425"/>
            <a:chOff x="2135560" y="3140968"/>
            <a:chExt cx="7772400" cy="3360086"/>
          </a:xfrm>
        </p:grpSpPr>
        <p:sp>
          <p:nvSpPr>
            <p:cNvPr id="40" name="Oval 39">
              <a:extLst>
                <a:ext uri="{FF2B5EF4-FFF2-40B4-BE49-F238E27FC236}">
                  <a16:creationId xmlns="" xmlns:a16="http://schemas.microsoft.com/office/drawing/2014/main" id="{CB7B7D19-B3E8-4528-9D91-429CD35DECC0}"/>
                </a:ext>
              </a:extLst>
            </p:cNvPr>
            <p:cNvSpPr/>
            <p:nvPr/>
          </p:nvSpPr>
          <p:spPr>
            <a:xfrm>
              <a:off x="5110320" y="3140968"/>
              <a:ext cx="1935332" cy="62143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/>
                <a:t>Commander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="" xmlns:a16="http://schemas.microsoft.com/office/drawing/2014/main" id="{FCCED982-70DD-4958-91F0-4EF9DFEBEC4F}"/>
                </a:ext>
              </a:extLst>
            </p:cNvPr>
            <p:cNvSpPr/>
            <p:nvPr/>
          </p:nvSpPr>
          <p:spPr>
            <a:xfrm>
              <a:off x="2135560" y="4820320"/>
              <a:ext cx="1935332" cy="62143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General 1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="" xmlns:a16="http://schemas.microsoft.com/office/drawing/2014/main" id="{193D07A7-CFB0-427A-8CF7-80CDD0B47B4C}"/>
                </a:ext>
              </a:extLst>
            </p:cNvPr>
            <p:cNvSpPr/>
            <p:nvPr/>
          </p:nvSpPr>
          <p:spPr>
            <a:xfrm>
              <a:off x="5128815" y="4820320"/>
              <a:ext cx="1935332" cy="62143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General 2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="" xmlns:a16="http://schemas.microsoft.com/office/drawing/2014/main" id="{EBD99155-46C1-4925-A181-07D214D98284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 flipH="1">
              <a:off x="3103226" y="3550886"/>
              <a:ext cx="2045931" cy="12694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A71D0EAC-AAAB-4D72-9D55-9E0D80E750D9}"/>
                </a:ext>
              </a:extLst>
            </p:cNvPr>
            <p:cNvCxnSpPr>
              <a:cxnSpLocks/>
              <a:stCxn id="40" idx="4"/>
              <a:endCxn id="42" idx="0"/>
            </p:cNvCxnSpPr>
            <p:nvPr/>
          </p:nvCxnSpPr>
          <p:spPr>
            <a:xfrm>
              <a:off x="6077986" y="3762405"/>
              <a:ext cx="18495" cy="10579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="" xmlns:a16="http://schemas.microsoft.com/office/drawing/2014/main" id="{1A11F982-F043-4507-9542-B7A821F01117}"/>
                </a:ext>
              </a:extLst>
            </p:cNvPr>
            <p:cNvCxnSpPr>
              <a:cxnSpLocks/>
              <a:stCxn id="41" idx="6"/>
              <a:endCxn id="42" idx="2"/>
            </p:cNvCxnSpPr>
            <p:nvPr/>
          </p:nvCxnSpPr>
          <p:spPr>
            <a:xfrm>
              <a:off x="4070892" y="5131039"/>
              <a:ext cx="10579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="" xmlns:a16="http://schemas.microsoft.com/office/drawing/2014/main" id="{9A15540C-A8AE-4E2E-B7CC-E2C2FD182935}"/>
                </a:ext>
              </a:extLst>
            </p:cNvPr>
            <p:cNvSpPr txBox="1"/>
            <p:nvPr/>
          </p:nvSpPr>
          <p:spPr>
            <a:xfrm>
              <a:off x="4019956" y="3786013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="" xmlns:a16="http://schemas.microsoft.com/office/drawing/2014/main" id="{931C14AB-2A2F-4FC8-8A30-BFBE93E08CC4}"/>
                </a:ext>
              </a:extLst>
            </p:cNvPr>
            <p:cNvSpPr txBox="1"/>
            <p:nvPr/>
          </p:nvSpPr>
          <p:spPr>
            <a:xfrm>
              <a:off x="4390523" y="5090970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C3989AD0-43E7-4414-83FC-B176D984EFA3}"/>
                </a:ext>
              </a:extLst>
            </p:cNvPr>
            <p:cNvSpPr txBox="1"/>
            <p:nvPr/>
          </p:nvSpPr>
          <p:spPr>
            <a:xfrm>
              <a:off x="5827961" y="3786013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="" xmlns:a16="http://schemas.microsoft.com/office/drawing/2014/main" id="{80214A37-D6D7-4F8D-B9CB-5FF4DBA10A84}"/>
                </a:ext>
              </a:extLst>
            </p:cNvPr>
            <p:cNvSpPr/>
            <p:nvPr/>
          </p:nvSpPr>
          <p:spPr>
            <a:xfrm>
              <a:off x="7972628" y="4838865"/>
              <a:ext cx="1935332" cy="62143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General 3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="" xmlns:a16="http://schemas.microsoft.com/office/drawing/2014/main" id="{1AAB52EF-294D-4D8B-9295-8BDB216C8189}"/>
                </a:ext>
              </a:extLst>
            </p:cNvPr>
            <p:cNvCxnSpPr>
              <a:cxnSpLocks/>
              <a:stCxn id="40" idx="6"/>
              <a:endCxn id="49" idx="0"/>
            </p:cNvCxnSpPr>
            <p:nvPr/>
          </p:nvCxnSpPr>
          <p:spPr>
            <a:xfrm>
              <a:off x="7045652" y="3451687"/>
              <a:ext cx="1894642" cy="13871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3F7D067F-FADE-4928-A194-A61D740E9045}"/>
                </a:ext>
              </a:extLst>
            </p:cNvPr>
            <p:cNvSpPr txBox="1"/>
            <p:nvPr/>
          </p:nvSpPr>
          <p:spPr>
            <a:xfrm>
              <a:off x="8052155" y="3786013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C248C92C-F2B2-4B93-B3D3-D7756C5054D0}"/>
                </a:ext>
              </a:extLst>
            </p:cNvPr>
            <p:cNvCxnSpPr>
              <a:stCxn id="49" idx="2"/>
              <a:endCxn id="42" idx="6"/>
            </p:cNvCxnSpPr>
            <p:nvPr/>
          </p:nvCxnSpPr>
          <p:spPr>
            <a:xfrm flipH="1" flipV="1">
              <a:off x="7064147" y="5131039"/>
              <a:ext cx="908481" cy="185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DCD74C4A-BCCC-4030-8DDC-CA182ECEB2CD}"/>
                </a:ext>
              </a:extLst>
            </p:cNvPr>
            <p:cNvSpPr txBox="1"/>
            <p:nvPr/>
          </p:nvSpPr>
          <p:spPr>
            <a:xfrm>
              <a:off x="7380368" y="5072425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="" xmlns:a16="http://schemas.microsoft.com/office/drawing/2014/main" id="{7748EE48-04C8-4FB6-9C7F-E56A4706F6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91726" y="5419788"/>
              <a:ext cx="947" cy="434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="" xmlns:a16="http://schemas.microsoft.com/office/drawing/2014/main" id="{352571F6-F2D6-4201-AB8A-52D60431FE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3227" y="5864664"/>
              <a:ext cx="2489446" cy="85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="" xmlns:a16="http://schemas.microsoft.com/office/drawing/2014/main" id="{A9A96BD0-F63A-4E35-A4B7-49C74E800F82}"/>
                </a:ext>
              </a:extLst>
            </p:cNvPr>
            <p:cNvCxnSpPr>
              <a:cxnSpLocks/>
              <a:endCxn id="41" idx="4"/>
            </p:cNvCxnSpPr>
            <p:nvPr/>
          </p:nvCxnSpPr>
          <p:spPr>
            <a:xfrm flipV="1">
              <a:off x="3103226" y="5441757"/>
              <a:ext cx="0" cy="4314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="" xmlns:a16="http://schemas.microsoft.com/office/drawing/2014/main" id="{9844CDB1-36B7-4048-8CC9-DEEA9C1FE888}"/>
                </a:ext>
              </a:extLst>
            </p:cNvPr>
            <p:cNvCxnSpPr/>
            <p:nvPr/>
          </p:nvCxnSpPr>
          <p:spPr>
            <a:xfrm>
              <a:off x="6401280" y="5419788"/>
              <a:ext cx="0" cy="4753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="" xmlns:a16="http://schemas.microsoft.com/office/drawing/2014/main" id="{1AA1775C-6885-456C-9473-2CA0D0C79DD8}"/>
                </a:ext>
              </a:extLst>
            </p:cNvPr>
            <p:cNvCxnSpPr>
              <a:cxnSpLocks/>
            </p:cNvCxnSpPr>
            <p:nvPr/>
          </p:nvCxnSpPr>
          <p:spPr>
            <a:xfrm>
              <a:off x="6401280" y="5895139"/>
              <a:ext cx="253901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="" xmlns:a16="http://schemas.microsoft.com/office/drawing/2014/main" id="{328A4D42-F590-4779-8E28-4BEC055B354E}"/>
                </a:ext>
              </a:extLst>
            </p:cNvPr>
            <p:cNvCxnSpPr>
              <a:cxnSpLocks/>
              <a:endCxn id="49" idx="4"/>
            </p:cNvCxnSpPr>
            <p:nvPr/>
          </p:nvCxnSpPr>
          <p:spPr>
            <a:xfrm flipV="1">
              <a:off x="8940294" y="5460302"/>
              <a:ext cx="0" cy="4348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028E2A31-1DF9-45EF-B203-8F03A4543AAB}"/>
                </a:ext>
              </a:extLst>
            </p:cNvPr>
            <p:cNvSpPr txBox="1"/>
            <p:nvPr/>
          </p:nvSpPr>
          <p:spPr>
            <a:xfrm>
              <a:off x="4359812" y="5537961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="" xmlns:a16="http://schemas.microsoft.com/office/drawing/2014/main" id="{CCD22BB2-3A1D-4DA6-BB31-4C8092293C8E}"/>
                </a:ext>
              </a:extLst>
            </p:cNvPr>
            <p:cNvSpPr txBox="1"/>
            <p:nvPr/>
          </p:nvSpPr>
          <p:spPr>
            <a:xfrm>
              <a:off x="7381925" y="5582127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="" xmlns:a16="http://schemas.microsoft.com/office/drawing/2014/main" id="{A85FF39C-8594-4263-9278-420388311A5F}"/>
                </a:ext>
              </a:extLst>
            </p:cNvPr>
            <p:cNvCxnSpPr/>
            <p:nvPr/>
          </p:nvCxnSpPr>
          <p:spPr>
            <a:xfrm>
              <a:off x="9268029" y="5460302"/>
              <a:ext cx="0" cy="7833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="" xmlns:a16="http://schemas.microsoft.com/office/drawing/2014/main" id="{192E182C-422D-4C52-BC44-D3D6FD1A1A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7331" y="6243632"/>
              <a:ext cx="64806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="" xmlns:a16="http://schemas.microsoft.com/office/drawing/2014/main" id="{677FB4EE-5324-45CB-88B9-0B9B8A1540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7330" y="5440045"/>
              <a:ext cx="0" cy="8035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26E14041-94F8-4D84-99D5-75180B130063}"/>
                </a:ext>
              </a:extLst>
            </p:cNvPr>
            <p:cNvSpPr txBox="1"/>
            <p:nvPr/>
          </p:nvSpPr>
          <p:spPr>
            <a:xfrm>
              <a:off x="7388337" y="5952334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="" xmlns:a16="http://schemas.microsoft.com/office/drawing/2014/main" id="{F8A7E8DA-EA6C-489A-BE2F-DAB524D81CD8}"/>
                </a:ext>
              </a:extLst>
            </p:cNvPr>
            <p:cNvCxnSpPr>
              <a:stCxn id="41" idx="3"/>
            </p:cNvCxnSpPr>
            <p:nvPr/>
          </p:nvCxnSpPr>
          <p:spPr>
            <a:xfrm>
              <a:off x="2418983" y="5350750"/>
              <a:ext cx="4362" cy="11503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="" xmlns:a16="http://schemas.microsoft.com/office/drawing/2014/main" id="{484FD611-67E1-45D6-8490-EF81E726A6FA}"/>
                </a:ext>
              </a:extLst>
            </p:cNvPr>
            <p:cNvCxnSpPr/>
            <p:nvPr/>
          </p:nvCxnSpPr>
          <p:spPr>
            <a:xfrm>
              <a:off x="2440360" y="6501054"/>
              <a:ext cx="711228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="" xmlns:a16="http://schemas.microsoft.com/office/drawing/2014/main" id="{4D647DFA-E42E-4887-B0B6-57DB045F8085}"/>
                </a:ext>
              </a:extLst>
            </p:cNvPr>
            <p:cNvCxnSpPr/>
            <p:nvPr/>
          </p:nvCxnSpPr>
          <p:spPr>
            <a:xfrm flipV="1">
              <a:off x="9552646" y="5350750"/>
              <a:ext cx="0" cy="11503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="" xmlns:a16="http://schemas.microsoft.com/office/drawing/2014/main" id="{57C6AD60-B84C-40DD-89C3-F65A8D261E26}"/>
                </a:ext>
              </a:extLst>
            </p:cNvPr>
            <p:cNvSpPr txBox="1"/>
            <p:nvPr/>
          </p:nvSpPr>
          <p:spPr>
            <a:xfrm>
              <a:off x="9552646" y="5802457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6155971" y="3929242"/>
            <a:ext cx="54091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Each general computes the same value: majority (</a:t>
            </a:r>
            <a:r>
              <a:rPr lang="en-US" dirty="0" err="1"/>
              <a:t>x,y,z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7708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Solution : Signed Message </a:t>
            </a:r>
            <a:r>
              <a:rPr lang="en-US" dirty="0"/>
              <a:t>S</a:t>
            </a:r>
            <a:r>
              <a:rPr lang="en-US" dirty="0" smtClean="0"/>
              <a:t>M(m)</a:t>
            </a:r>
            <a:endParaRPr lang="en-US" dirty="0"/>
          </a:p>
        </p:txBody>
      </p:sp>
      <p:pic>
        <p:nvPicPr>
          <p:cNvPr id="8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75520" y="1628800"/>
            <a:ext cx="8207375" cy="4044950"/>
          </a:xfrm>
          <a:prstGeom prst="rect">
            <a:avLst/>
          </a:prstGeom>
          <a:noFill/>
          <a:ln/>
        </p:spPr>
      </p:pic>
    </p:spTree>
    <p:extLst>
      <p:ext uri="{BB962C8B-B14F-4D97-AF65-F5344CB8AC3E}">
        <p14:creationId xmlns:p14="http://schemas.microsoft.com/office/powerpoint/2010/main" val="124486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17271.potx" id="{FAD70E18-2F21-4BAE-983F-13051C6D1C17}" vid="{4B4DF9DC-15EC-4671-A52A-56A08B977F11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project plan presentation (widescreen)</Template>
  <TotalTime>28327</TotalTime>
  <Words>953</Words>
  <Application>Microsoft Office PowerPoint</Application>
  <PresentationFormat>Widescreen</PresentationFormat>
  <Paragraphs>227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Corbel</vt:lpstr>
      <vt:lpstr>Euphemia</vt:lpstr>
      <vt:lpstr>Times New Roman</vt:lpstr>
      <vt:lpstr>Wingdings</vt:lpstr>
      <vt:lpstr>Banded Design Blue 16x9</vt:lpstr>
      <vt:lpstr>Dr. Sunirmal Khatua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Project Plan</dc:title>
  <dc:creator>Sunirmal Khatua</dc:creator>
  <cp:lastModifiedBy>Microsoft account</cp:lastModifiedBy>
  <cp:revision>361</cp:revision>
  <dcterms:created xsi:type="dcterms:W3CDTF">2018-05-13T16:49:43Z</dcterms:created>
  <dcterms:modified xsi:type="dcterms:W3CDTF">2026-02-17T09:00:36Z</dcterms:modified>
</cp:coreProperties>
</file>