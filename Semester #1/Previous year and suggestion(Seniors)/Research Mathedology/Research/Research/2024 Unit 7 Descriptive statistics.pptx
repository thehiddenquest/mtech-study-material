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heme/themeOverride1.xml" ContentType="application/vnd.openxmlformats-officedocument.themeOverride+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s/slide129.xml" ContentType="application/vnd.openxmlformats-officedocument.presentationml.slide+xml"/>
  <Override PartName="/ppt/notesSlides/notesSlide12.xml" ContentType="application/vnd.openxmlformats-officedocument.presentationml.notesSlide+xml"/>
  <Override PartName="/ppt/slides/slide99.xml" ContentType="application/vnd.openxmlformats-officedocument.presentationml.slide+xml"/>
  <Override PartName="/ppt/slides/slide118.xml" ContentType="application/vnd.openxmlformats-officedocument.presentationml.slide+xml"/>
  <Default Extension="xlsx" ContentType="application/vnd.openxmlformats-officedocument.spreadsheetml.sheet"/>
  <Override PartName="/ppt/notesSlides/notesSlide7.xml" ContentType="application/vnd.openxmlformats-officedocument.presentationml.notesSlide+xml"/>
  <Default Extension="doc" ContentType="application/msword"/>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20.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charts/chart1.xml" ContentType="application/vnd.openxmlformats-officedocument.drawingml.char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11.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31"/>
  </p:notesMasterIdLst>
  <p:handoutMasterIdLst>
    <p:handoutMasterId r:id="rId132"/>
  </p:handoutMasterIdLst>
  <p:sldIdLst>
    <p:sldId id="297" r:id="rId2"/>
    <p:sldId id="781" r:id="rId3"/>
    <p:sldId id="936" r:id="rId4"/>
    <p:sldId id="792" r:id="rId5"/>
    <p:sldId id="778" r:id="rId6"/>
    <p:sldId id="776" r:id="rId7"/>
    <p:sldId id="962" r:id="rId8"/>
    <p:sldId id="894" r:id="rId9"/>
    <p:sldId id="865" r:id="rId10"/>
    <p:sldId id="746" r:id="rId11"/>
    <p:sldId id="882" r:id="rId12"/>
    <p:sldId id="963" r:id="rId13"/>
    <p:sldId id="986" r:id="rId14"/>
    <p:sldId id="847" r:id="rId15"/>
    <p:sldId id="883" r:id="rId16"/>
    <p:sldId id="885" r:id="rId17"/>
    <p:sldId id="884" r:id="rId18"/>
    <p:sldId id="886" r:id="rId19"/>
    <p:sldId id="927" r:id="rId20"/>
    <p:sldId id="935" r:id="rId21"/>
    <p:sldId id="964" r:id="rId22"/>
    <p:sldId id="749" r:id="rId23"/>
    <p:sldId id="803" r:id="rId24"/>
    <p:sldId id="938" r:id="rId25"/>
    <p:sldId id="857" r:id="rId26"/>
    <p:sldId id="750" r:id="rId27"/>
    <p:sldId id="939" r:id="rId28"/>
    <p:sldId id="804" r:id="rId29"/>
    <p:sldId id="887" r:id="rId30"/>
    <p:sldId id="797" r:id="rId31"/>
    <p:sldId id="798" r:id="rId32"/>
    <p:sldId id="815" r:id="rId33"/>
    <p:sldId id="801" r:id="rId34"/>
    <p:sldId id="802" r:id="rId35"/>
    <p:sldId id="888" r:id="rId36"/>
    <p:sldId id="928" r:id="rId37"/>
    <p:sldId id="881" r:id="rId38"/>
    <p:sldId id="941" r:id="rId39"/>
    <p:sldId id="940" r:id="rId40"/>
    <p:sldId id="946" r:id="rId41"/>
    <p:sldId id="948" r:id="rId42"/>
    <p:sldId id="929" r:id="rId43"/>
    <p:sldId id="930" r:id="rId44"/>
    <p:sldId id="931" r:id="rId45"/>
    <p:sldId id="932" r:id="rId46"/>
    <p:sldId id="934" r:id="rId47"/>
    <p:sldId id="961" r:id="rId48"/>
    <p:sldId id="960" r:id="rId49"/>
    <p:sldId id="942" r:id="rId50"/>
    <p:sldId id="921" r:id="rId51"/>
    <p:sldId id="922" r:id="rId52"/>
    <p:sldId id="923" r:id="rId53"/>
    <p:sldId id="823" r:id="rId54"/>
    <p:sldId id="824" r:id="rId55"/>
    <p:sldId id="965" r:id="rId56"/>
    <p:sldId id="924" r:id="rId57"/>
    <p:sldId id="966" r:id="rId58"/>
    <p:sldId id="825" r:id="rId59"/>
    <p:sldId id="866" r:id="rId60"/>
    <p:sldId id="889" r:id="rId61"/>
    <p:sldId id="893" r:id="rId62"/>
    <p:sldId id="895" r:id="rId63"/>
    <p:sldId id="890" r:id="rId64"/>
    <p:sldId id="891" r:id="rId65"/>
    <p:sldId id="967" r:id="rId66"/>
    <p:sldId id="968" r:id="rId67"/>
    <p:sldId id="945" r:id="rId68"/>
    <p:sldId id="892" r:id="rId69"/>
    <p:sldId id="350" r:id="rId70"/>
    <p:sldId id="969" r:id="rId71"/>
    <p:sldId id="970" r:id="rId72"/>
    <p:sldId id="896" r:id="rId73"/>
    <p:sldId id="897" r:id="rId74"/>
    <p:sldId id="971" r:id="rId75"/>
    <p:sldId id="972" r:id="rId76"/>
    <p:sldId id="973" r:id="rId77"/>
    <p:sldId id="848" r:id="rId78"/>
    <p:sldId id="949" r:id="rId79"/>
    <p:sldId id="952" r:id="rId80"/>
    <p:sldId id="953" r:id="rId81"/>
    <p:sldId id="955" r:id="rId82"/>
    <p:sldId id="954" r:id="rId83"/>
    <p:sldId id="851" r:id="rId84"/>
    <p:sldId id="957" r:id="rId85"/>
    <p:sldId id="852" r:id="rId86"/>
    <p:sldId id="899" r:id="rId87"/>
    <p:sldId id="901" r:id="rId88"/>
    <p:sldId id="902" r:id="rId89"/>
    <p:sldId id="903" r:id="rId90"/>
    <p:sldId id="900" r:id="rId91"/>
    <p:sldId id="974" r:id="rId92"/>
    <p:sldId id="958" r:id="rId93"/>
    <p:sldId id="871" r:id="rId94"/>
    <p:sldId id="858" r:id="rId95"/>
    <p:sldId id="906" r:id="rId96"/>
    <p:sldId id="916" r:id="rId97"/>
    <p:sldId id="907" r:id="rId98"/>
    <p:sldId id="917" r:id="rId99"/>
    <p:sldId id="908" r:id="rId100"/>
    <p:sldId id="919" r:id="rId101"/>
    <p:sldId id="918" r:id="rId102"/>
    <p:sldId id="911" r:id="rId103"/>
    <p:sldId id="912" r:id="rId104"/>
    <p:sldId id="915" r:id="rId105"/>
    <p:sldId id="914" r:id="rId106"/>
    <p:sldId id="841" r:id="rId107"/>
    <p:sldId id="959" r:id="rId108"/>
    <p:sldId id="861" r:id="rId109"/>
    <p:sldId id="985" r:id="rId110"/>
    <p:sldId id="872" r:id="rId111"/>
    <p:sldId id="875" r:id="rId112"/>
    <p:sldId id="826" r:id="rId113"/>
    <p:sldId id="827" r:id="rId114"/>
    <p:sldId id="828" r:id="rId115"/>
    <p:sldId id="829" r:id="rId116"/>
    <p:sldId id="830" r:id="rId117"/>
    <p:sldId id="877" r:id="rId118"/>
    <p:sldId id="867" r:id="rId119"/>
    <p:sldId id="975" r:id="rId120"/>
    <p:sldId id="976" r:id="rId121"/>
    <p:sldId id="977" r:id="rId122"/>
    <p:sldId id="978" r:id="rId123"/>
    <p:sldId id="979" r:id="rId124"/>
    <p:sldId id="874" r:id="rId125"/>
    <p:sldId id="980" r:id="rId126"/>
    <p:sldId id="981" r:id="rId127"/>
    <p:sldId id="982" r:id="rId128"/>
    <p:sldId id="983" r:id="rId129"/>
    <p:sldId id="984" r:id="rId130"/>
  </p:sldIdLst>
  <p:sldSz cx="9144000" cy="6858000" type="screen4x3"/>
  <p:notesSz cx="68580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0000"/>
    <a:srgbClr val="FFFF99"/>
    <a:srgbClr val="FFFF00"/>
    <a:srgbClr val="FFFFCC"/>
    <a:srgbClr val="DDDDDD"/>
    <a:srgbClr val="EAEAEA"/>
    <a:srgbClr val="FF9900"/>
    <a:srgbClr val="FF99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063" autoAdjust="0"/>
    <p:restoredTop sz="87593" autoAdjust="0"/>
  </p:normalViewPr>
  <p:slideViewPr>
    <p:cSldViewPr>
      <p:cViewPr varScale="1">
        <p:scale>
          <a:sx n="71" d="100"/>
          <a:sy n="71" d="100"/>
        </p:scale>
        <p:origin x="-840"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07"/>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manualLayout>
          <c:layoutTarget val="inner"/>
          <c:xMode val="edge"/>
          <c:yMode val="edge"/>
          <c:x val="1.7892580500608195E-2"/>
          <c:y val="1.4069686243348041E-3"/>
          <c:w val="0.81709741550695869"/>
          <c:h val="0.88973384030419822"/>
        </c:manualLayout>
      </c:layout>
      <c:lineChart>
        <c:grouping val="standard"/>
        <c:ser>
          <c:idx val="0"/>
          <c:order val="0"/>
          <c:tx>
            <c:strRef>
              <c:f>Sheet1!$A$2</c:f>
              <c:strCache>
                <c:ptCount val="1"/>
              </c:strCache>
            </c:strRef>
          </c:tx>
          <c:cat>
            <c:numRef>
              <c:f>Sheet1!$B$1:$N$1</c:f>
              <c:numCache>
                <c:formatCode>General</c:formatCode>
                <c:ptCount val="13"/>
              </c:numCache>
            </c:numRef>
          </c:cat>
          <c:val>
            <c:numRef>
              <c:f>Sheet1!$B$2:$N$2</c:f>
              <c:numCache>
                <c:formatCode>General</c:formatCode>
                <c:ptCount val="13"/>
                <c:pt idx="0">
                  <c:v>1</c:v>
                </c:pt>
                <c:pt idx="1">
                  <c:v>22</c:v>
                </c:pt>
                <c:pt idx="2">
                  <c:v>25</c:v>
                </c:pt>
                <c:pt idx="3">
                  <c:v>23</c:v>
                </c:pt>
                <c:pt idx="4">
                  <c:v>14</c:v>
                </c:pt>
                <c:pt idx="5">
                  <c:v>7</c:v>
                </c:pt>
                <c:pt idx="6">
                  <c:v>4</c:v>
                </c:pt>
                <c:pt idx="7">
                  <c:v>3</c:v>
                </c:pt>
                <c:pt idx="8">
                  <c:v>2</c:v>
                </c:pt>
                <c:pt idx="9">
                  <c:v>1.8</c:v>
                </c:pt>
                <c:pt idx="10">
                  <c:v>1.5</c:v>
                </c:pt>
                <c:pt idx="11">
                  <c:v>1.2</c:v>
                </c:pt>
                <c:pt idx="12">
                  <c:v>1</c:v>
                </c:pt>
              </c:numCache>
            </c:numRef>
          </c:val>
        </c:ser>
        <c:ser>
          <c:idx val="1"/>
          <c:order val="1"/>
          <c:tx>
            <c:strRef>
              <c:f>Sheet1!$A$3</c:f>
              <c:strCache>
                <c:ptCount val="1"/>
              </c:strCache>
            </c:strRef>
          </c:tx>
          <c:cat>
            <c:numRef>
              <c:f>Sheet1!$B$1:$N$1</c:f>
              <c:numCache>
                <c:formatCode>General</c:formatCode>
                <c:ptCount val="13"/>
              </c:numCache>
            </c:numRef>
          </c:cat>
          <c:val>
            <c:numRef>
              <c:f>Sheet1!$B$3:$N$3</c:f>
              <c:numCache>
                <c:formatCode>General</c:formatCode>
                <c:ptCount val="13"/>
                <c:pt idx="0">
                  <c:v>1</c:v>
                </c:pt>
                <c:pt idx="1">
                  <c:v>1.2</c:v>
                </c:pt>
                <c:pt idx="2">
                  <c:v>1.5</c:v>
                </c:pt>
                <c:pt idx="3">
                  <c:v>1.8</c:v>
                </c:pt>
                <c:pt idx="4">
                  <c:v>2</c:v>
                </c:pt>
                <c:pt idx="5">
                  <c:v>3</c:v>
                </c:pt>
                <c:pt idx="6">
                  <c:v>4</c:v>
                </c:pt>
                <c:pt idx="7">
                  <c:v>7</c:v>
                </c:pt>
                <c:pt idx="8">
                  <c:v>14</c:v>
                </c:pt>
                <c:pt idx="9">
                  <c:v>23</c:v>
                </c:pt>
                <c:pt idx="10">
                  <c:v>25</c:v>
                </c:pt>
                <c:pt idx="11">
                  <c:v>22</c:v>
                </c:pt>
                <c:pt idx="12">
                  <c:v>1</c:v>
                </c:pt>
              </c:numCache>
            </c:numRef>
          </c:val>
        </c:ser>
        <c:ser>
          <c:idx val="2"/>
          <c:order val="2"/>
          <c:tx>
            <c:strRef>
              <c:f>Sheet1!$A$4</c:f>
              <c:strCache>
                <c:ptCount val="1"/>
              </c:strCache>
            </c:strRef>
          </c:tx>
          <c:cat>
            <c:numRef>
              <c:f>Sheet1!$B$1:$N$1</c:f>
              <c:numCache>
                <c:formatCode>General</c:formatCode>
                <c:ptCount val="13"/>
              </c:numCache>
            </c:numRef>
          </c:cat>
          <c:val>
            <c:numRef>
              <c:f>Sheet1!$B$4:$N$4</c:f>
              <c:numCache>
                <c:formatCode>General</c:formatCode>
                <c:ptCount val="13"/>
              </c:numCache>
            </c:numRef>
          </c:val>
        </c:ser>
        <c:marker val="1"/>
        <c:axId val="133379200"/>
        <c:axId val="133380736"/>
      </c:lineChart>
      <c:catAx>
        <c:axId val="133379200"/>
        <c:scaling>
          <c:orientation val="minMax"/>
        </c:scaling>
        <c:axPos val="b"/>
        <c:numFmt formatCode="General" sourceLinked="1"/>
        <c:tickLblPos val="nextTo"/>
        <c:txPr>
          <a:bodyPr rot="0" vert="horz"/>
          <a:lstStyle/>
          <a:p>
            <a:pPr>
              <a:defRPr lang="en-IN"/>
            </a:pPr>
            <a:endParaRPr lang="en-US"/>
          </a:p>
        </c:txPr>
        <c:crossAx val="133380736"/>
        <c:crosses val="autoZero"/>
        <c:lblAlgn val="ctr"/>
        <c:lblOffset val="100"/>
        <c:tickLblSkip val="1"/>
        <c:tickMarkSkip val="1"/>
      </c:catAx>
      <c:valAx>
        <c:axId val="133380736"/>
        <c:scaling>
          <c:orientation val="minMax"/>
        </c:scaling>
        <c:delete val="1"/>
        <c:axPos val="l"/>
        <c:majorGridlines/>
        <c:numFmt formatCode="General" sourceLinked="1"/>
        <c:tickLblPos val="nextTo"/>
        <c:crossAx val="133379200"/>
        <c:crosses val="autoZero"/>
        <c:crossBetween val="midCat"/>
      </c:valAx>
    </c:plotArea>
    <c:plotVisOnly val="1"/>
    <c:dispBlanksAs val="gap"/>
  </c:chart>
  <c:txPr>
    <a:bodyPr/>
    <a:lstStyle/>
    <a:p>
      <a:pPr>
        <a:defRPr sz="1800"/>
      </a:pPr>
      <a:endParaRPr lang="en-US"/>
    </a:p>
  </c:txPr>
  <c:externalData r:id="rId1"/>
</c:chartSpace>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5" Type="http://schemas.openxmlformats.org/officeDocument/2006/relationships/image" Target="../media/image17.wmf"/><Relationship Id="rId4"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png"/><Relationship Id="rId1" Type="http://schemas.openxmlformats.org/officeDocument/2006/relationships/image" Target="../media/image42.png"/><Relationship Id="rId4" Type="http://schemas.openxmlformats.org/officeDocument/2006/relationships/image" Target="../media/image4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1.png"/></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17.wmf"/><Relationship Id="rId1" Type="http://schemas.openxmlformats.org/officeDocument/2006/relationships/image" Target="../media/image116.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11.wmf"/><Relationship Id="rId1" Type="http://schemas.openxmlformats.org/officeDocument/2006/relationships/image" Target="../media/image115.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24.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25.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28.wmf"/><Relationship Id="rId1" Type="http://schemas.openxmlformats.org/officeDocument/2006/relationships/image" Target="../media/image127.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 Id="rId4" Type="http://schemas.openxmlformats.org/officeDocument/2006/relationships/image" Target="../media/image135.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38.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41.emf"/><Relationship Id="rId2" Type="http://schemas.openxmlformats.org/officeDocument/2006/relationships/image" Target="../media/image140.wmf"/><Relationship Id="rId1" Type="http://schemas.openxmlformats.org/officeDocument/2006/relationships/image" Target="../media/image139.wmf"/><Relationship Id="rId4" Type="http://schemas.openxmlformats.org/officeDocument/2006/relationships/image" Target="../media/image142.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image" Target="../media/image144.wmf"/><Relationship Id="rId1" Type="http://schemas.openxmlformats.org/officeDocument/2006/relationships/image" Target="../media/image143.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46.wmf"/><Relationship Id="rId1" Type="http://schemas.openxmlformats.org/officeDocument/2006/relationships/image" Target="../media/image145.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48.wmf"/><Relationship Id="rId1" Type="http://schemas.openxmlformats.org/officeDocument/2006/relationships/image" Target="../media/image147.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49.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51.wmf"/><Relationship Id="rId1" Type="http://schemas.openxmlformats.org/officeDocument/2006/relationships/image" Target="../media/image150.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56.wmf"/><Relationship Id="rId1" Type="http://schemas.openxmlformats.org/officeDocument/2006/relationships/image" Target="../media/image155.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 Id="rId5" Type="http://schemas.openxmlformats.org/officeDocument/2006/relationships/image" Target="../media/image169.wmf"/><Relationship Id="rId4" Type="http://schemas.openxmlformats.org/officeDocument/2006/relationships/image" Target="../media/image16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3891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3891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3891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6913D8E9-D068-45F0-A41A-057460E27C34}" type="slidenum">
              <a:rPr lang="en-US"/>
              <a:pPr>
                <a:defRPr/>
              </a:pPr>
              <a:t>‹#›</a:t>
            </a:fld>
            <a:endParaRPr lang="en-US"/>
          </a:p>
        </p:txBody>
      </p:sp>
    </p:spTree>
    <p:extLst>
      <p:ext uri="{BB962C8B-B14F-4D97-AF65-F5344CB8AC3E}">
        <p14:creationId xmlns="" xmlns:p14="http://schemas.microsoft.com/office/powerpoint/2010/main" val="939886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97283" name="Rectangle 3"/>
          <p:cNvSpPr>
            <a:spLocks noGrp="1" noChangeArrowheads="1"/>
          </p:cNvSpPr>
          <p:nvPr>
            <p:ph type="dt" idx="1"/>
          </p:nvPr>
        </p:nvSpPr>
        <p:spPr bwMode="auto">
          <a:xfrm>
            <a:off x="3884613"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208900" name="Rectangle 4"/>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p:spPr>
      </p:sp>
      <p:sp>
        <p:nvSpPr>
          <p:cNvPr id="97285" name="Rectangle 5"/>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97286" name="Rectangle 6"/>
          <p:cNvSpPr>
            <a:spLocks noGrp="1" noChangeArrowheads="1"/>
          </p:cNvSpPr>
          <p:nvPr>
            <p:ph type="ftr" sz="quarter" idx="4"/>
          </p:nvPr>
        </p:nvSpPr>
        <p:spPr bwMode="auto">
          <a:xfrm>
            <a:off x="0"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97287" name="Rectangle 7"/>
          <p:cNvSpPr>
            <a:spLocks noGrp="1" noChangeArrowheads="1"/>
          </p:cNvSpPr>
          <p:nvPr>
            <p:ph type="sldNum" sz="quarter" idx="5"/>
          </p:nvPr>
        </p:nvSpPr>
        <p:spPr bwMode="auto">
          <a:xfrm>
            <a:off x="3884613"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AB7DB0B8-1F1A-426D-A8E6-8D331275BBCA}" type="slidenum">
              <a:rPr lang="en-US"/>
              <a:pPr>
                <a:defRPr/>
              </a:pPr>
              <a:t>‹#›</a:t>
            </a:fld>
            <a:endParaRPr lang="en-US"/>
          </a:p>
        </p:txBody>
      </p:sp>
    </p:spTree>
    <p:extLst>
      <p:ext uri="{BB962C8B-B14F-4D97-AF65-F5344CB8AC3E}">
        <p14:creationId xmlns="" xmlns:p14="http://schemas.microsoft.com/office/powerpoint/2010/main" val="29039452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6C217B-4D87-4BB0-9A68-F1D5005CC346}" type="slidenum">
              <a:rPr lang="en-US"/>
              <a:pPr/>
              <a:t>24</a:t>
            </a:fld>
            <a:endParaRPr lang="en-US"/>
          </a:p>
        </p:txBody>
      </p:sp>
      <p:sp>
        <p:nvSpPr>
          <p:cNvPr id="195586" name="Rectangle 2"/>
          <p:cNvSpPr>
            <a:spLocks noGrp="1" noRot="1" noChangeAspect="1" noChangeArrowheads="1" noTextEdit="1"/>
          </p:cNvSpPr>
          <p:nvPr>
            <p:ph type="sldImg"/>
          </p:nvPr>
        </p:nvSpPr>
        <p:spPr>
          <a:ln/>
        </p:spPr>
      </p:sp>
      <p:sp>
        <p:nvSpPr>
          <p:cNvPr id="195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EF3E4A-BF4C-4491-B1A5-7CD3FCB8C8D1}" type="slidenum">
              <a:rPr lang="en-US"/>
              <a:pPr/>
              <a:t>27</a:t>
            </a:fld>
            <a:endParaRPr lang="en-US"/>
          </a:p>
        </p:txBody>
      </p:sp>
      <p:sp>
        <p:nvSpPr>
          <p:cNvPr id="198658" name="Rectangle 2"/>
          <p:cNvSpPr>
            <a:spLocks noGrp="1" noRot="1" noChangeAspect="1" noChangeArrowheads="1" noTextEdit="1"/>
          </p:cNvSpPr>
          <p:nvPr>
            <p:ph type="sldImg"/>
          </p:nvPr>
        </p:nvSpPr>
        <p:spPr>
          <a:ln/>
        </p:spPr>
      </p:sp>
      <p:sp>
        <p:nvSpPr>
          <p:cNvPr id="198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p>
            <a:fld id="{AF1CD7B7-76DB-4512-8DD2-CFFE061E3045}" type="slidenum">
              <a:rPr lang="en-US" smtClean="0"/>
              <a:pPr/>
              <a:t>29</a:t>
            </a:fld>
            <a:endParaRPr lang="en-US" smtClean="0"/>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a:ln/>
        </p:spPr>
        <p:txBody>
          <a:bodyPr/>
          <a:lstStyle/>
          <a:p>
            <a:pPr eaLnBrk="1" hangingPunct="1"/>
            <a:endParaRPr lang="nl-NL"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2E3761-40BF-495F-892A-1277E40D5655}" type="slidenum">
              <a:rPr lang="en-US"/>
              <a:pPr/>
              <a:t>41</a:t>
            </a:fld>
            <a:endParaRPr lang="en-US"/>
          </a:p>
        </p:txBody>
      </p:sp>
      <p:sp>
        <p:nvSpPr>
          <p:cNvPr id="91138" name="Rectangle 2"/>
          <p:cNvSpPr>
            <a:spLocks noGrp="1" noRot="1" noChangeAspect="1" noChangeArrowheads="1" noTextEdit="1"/>
          </p:cNvSpPr>
          <p:nvPr>
            <p:ph type="sldImg"/>
          </p:nvPr>
        </p:nvSpPr>
        <p:spPr>
          <a:xfrm>
            <a:off x="1104900" y="696913"/>
            <a:ext cx="4648200" cy="3486150"/>
          </a:xfrm>
          <a:ln/>
        </p:spPr>
      </p:sp>
      <p:sp>
        <p:nvSpPr>
          <p:cNvPr id="91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p>
            <a:fld id="{9B4E7276-CEE4-4F81-A635-DA3E0013EA5F}" type="slidenum">
              <a:rPr lang="en-US" smtClean="0"/>
              <a:pPr/>
              <a:t>42</a:t>
            </a:fld>
            <a:endParaRPr lang="en-US" smtClean="0"/>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p:spPr>
        <p:txBody>
          <a:bodyPr/>
          <a:lstStyle/>
          <a:p>
            <a:pPr eaLnBrk="1" hangingPunct="1"/>
            <a:endParaRPr lang="nl-NL"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B7DB0B8-1F1A-426D-A8E6-8D331275BBCA}" type="slidenum">
              <a:rPr lang="en-US" smtClean="0"/>
              <a:pPr>
                <a:defRPr/>
              </a:pPr>
              <a:t>46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CCB677-3971-48EE-9DBE-33A1F5002E0F}" type="slidenum">
              <a:rPr lang="en-US"/>
              <a:pPr/>
              <a:t>54</a:t>
            </a:fld>
            <a:endParaRPr lang="en-US"/>
          </a:p>
        </p:txBody>
      </p:sp>
      <p:sp>
        <p:nvSpPr>
          <p:cNvPr id="117762" name="Rectangle 2"/>
          <p:cNvSpPr>
            <a:spLocks noGrp="1" noRot="1" noChangeAspect="1" noChangeArrowheads="1" noTextEdit="1"/>
          </p:cNvSpPr>
          <p:nvPr>
            <p:ph type="sldImg"/>
          </p:nvPr>
        </p:nvSpPr>
        <p:spPr bwMode="auto">
          <a:xfrm>
            <a:off x="1114425" y="703263"/>
            <a:ext cx="4629150" cy="3473450"/>
          </a:xfrm>
          <a:prstGeom prst="rect">
            <a:avLst/>
          </a:prstGeom>
          <a:noFill/>
          <a:ln w="12700" cap="flat">
            <a:solidFill>
              <a:schemeClr val="tx1"/>
            </a:solidFill>
            <a:miter lim="800000"/>
            <a:headEnd/>
            <a:tailEnd/>
          </a:ln>
        </p:spPr>
      </p:sp>
      <p:sp>
        <p:nvSpPr>
          <p:cNvPr id="117763" name="Rectangle 3"/>
          <p:cNvSpPr>
            <a:spLocks noGrp="1" noChangeArrowheads="1"/>
          </p:cNvSpPr>
          <p:nvPr>
            <p:ph type="body" idx="1"/>
          </p:nvPr>
        </p:nvSpPr>
        <p:spPr bwMode="auto">
          <a:xfrm>
            <a:off x="912814" y="4414177"/>
            <a:ext cx="5030787" cy="4183380"/>
          </a:xfrm>
          <a:prstGeom prst="rect">
            <a:avLst/>
          </a:prstGeom>
          <a:noFill/>
          <a:ln>
            <a:miter lim="800000"/>
            <a:headEnd/>
            <a:tailEnd/>
          </a:ln>
        </p:spPr>
        <p:txBody>
          <a:bodyPr lIns="93663" tIns="46038" rIns="93663" bIns="46038"/>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470930-2F95-4308-90F9-735159666533}" type="slidenum">
              <a:rPr lang="en-US"/>
              <a:pPr/>
              <a:t>58</a:t>
            </a:fld>
            <a:endParaRPr lang="en-US"/>
          </a:p>
        </p:txBody>
      </p:sp>
      <p:sp>
        <p:nvSpPr>
          <p:cNvPr id="119810" name="Rectangle 2"/>
          <p:cNvSpPr>
            <a:spLocks noGrp="1" noRot="1" noChangeAspect="1" noChangeArrowheads="1" noTextEdit="1"/>
          </p:cNvSpPr>
          <p:nvPr>
            <p:ph type="sldImg"/>
          </p:nvPr>
        </p:nvSpPr>
        <p:spPr bwMode="auto">
          <a:xfrm>
            <a:off x="1114425" y="703263"/>
            <a:ext cx="4629150" cy="3473450"/>
          </a:xfrm>
          <a:prstGeom prst="rect">
            <a:avLst/>
          </a:prstGeom>
          <a:noFill/>
          <a:ln w="12700" cap="flat">
            <a:solidFill>
              <a:schemeClr val="tx1"/>
            </a:solidFill>
            <a:miter lim="800000"/>
            <a:headEnd/>
            <a:tailEnd/>
          </a:ln>
        </p:spPr>
      </p:sp>
      <p:sp>
        <p:nvSpPr>
          <p:cNvPr id="119811" name="Rectangle 3"/>
          <p:cNvSpPr>
            <a:spLocks noGrp="1" noChangeArrowheads="1"/>
          </p:cNvSpPr>
          <p:nvPr>
            <p:ph type="body" idx="1"/>
          </p:nvPr>
        </p:nvSpPr>
        <p:spPr bwMode="auto">
          <a:xfrm>
            <a:off x="912814" y="4414177"/>
            <a:ext cx="5030787" cy="4183380"/>
          </a:xfrm>
          <a:prstGeom prst="rect">
            <a:avLst/>
          </a:prstGeom>
          <a:noFill/>
          <a:ln>
            <a:miter lim="800000"/>
            <a:headEnd/>
            <a:tailEnd/>
          </a:ln>
        </p:spPr>
        <p:txBody>
          <a:bodyPr lIns="93663" tIns="46038" rIns="93663" bIns="46038"/>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smtClean="0"/>
          </a:p>
        </p:txBody>
      </p:sp>
      <p:sp>
        <p:nvSpPr>
          <p:cNvPr id="4" name="Slide Number Placeholder 3"/>
          <p:cNvSpPr>
            <a:spLocks noGrp="1"/>
          </p:cNvSpPr>
          <p:nvPr>
            <p:ph type="sldNum" sz="quarter" idx="5"/>
          </p:nvPr>
        </p:nvSpPr>
        <p:spPr/>
        <p:txBody>
          <a:bodyPr/>
          <a:lstStyle/>
          <a:p>
            <a:pPr>
              <a:defRPr/>
            </a:pPr>
            <a:fld id="{A9FA024B-5806-46B8-A50F-642A4AC389A9}" type="slidenum">
              <a:rPr lang="en-CA" smtClean="0"/>
              <a:pPr>
                <a:defRPr/>
              </a:pPr>
              <a:t>67</a:t>
            </a:fld>
            <a:endParaRPr lang="en-CA"/>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fld id="{78BF400D-6036-4503-801B-60607A8C8A2D}" type="slidenum">
              <a:rPr lang="en-US" smtClean="0"/>
              <a:pPr/>
              <a:t>69</a:t>
            </a:fld>
            <a:endParaRPr lang="en-US" smtClean="0"/>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xfrm>
            <a:off x="914400" y="4416425"/>
            <a:ext cx="5029200" cy="4183063"/>
          </a:xfrm>
          <a:noFill/>
          <a:ln/>
        </p:spPr>
        <p:txBody>
          <a:bodyPr/>
          <a:lstStyle/>
          <a:p>
            <a:pPr eaLnBrk="1" hangingPunct="1"/>
            <a:endParaRPr lang="nl-NL"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491C17-C260-431D-A32A-2CEA12B2931C}" type="slidenum">
              <a:rPr lang="en-US"/>
              <a:pPr/>
              <a:t>78</a:t>
            </a:fld>
            <a:endParaRPr lang="en-US"/>
          </a:p>
        </p:txBody>
      </p:sp>
      <p:sp>
        <p:nvSpPr>
          <p:cNvPr id="242690" name="Rectangle 2"/>
          <p:cNvSpPr>
            <a:spLocks noGrp="1" noRot="1" noChangeAspect="1" noChangeArrowheads="1" noTextEdit="1"/>
          </p:cNvSpPr>
          <p:nvPr>
            <p:ph type="sldImg"/>
          </p:nvPr>
        </p:nvSpPr>
        <p:spPr>
          <a:xfrm>
            <a:off x="1679575" y="620713"/>
            <a:ext cx="3500438" cy="2625725"/>
          </a:xfrm>
          <a:ln/>
        </p:spPr>
      </p:sp>
      <p:sp>
        <p:nvSpPr>
          <p:cNvPr id="242691" name="Rectangle 3"/>
          <p:cNvSpPr>
            <a:spLocks noGrp="1" noChangeArrowheads="1"/>
          </p:cNvSpPr>
          <p:nvPr>
            <p:ph type="body" idx="1"/>
          </p:nvPr>
        </p:nvSpPr>
        <p:spPr>
          <a:xfrm>
            <a:off x="913772" y="3331952"/>
            <a:ext cx="5030456" cy="5268172"/>
          </a:xfr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51C0B1-C4FC-4FAB-ADD7-740D7909E23C}" type="slidenum">
              <a:rPr lang="en-US"/>
              <a:pPr/>
              <a:t>80</a:t>
            </a:fld>
            <a:endParaRPr lang="en-US"/>
          </a:p>
        </p:txBody>
      </p:sp>
      <p:sp>
        <p:nvSpPr>
          <p:cNvPr id="248834" name="Rectangle 2"/>
          <p:cNvSpPr>
            <a:spLocks noGrp="1" noRot="1" noChangeAspect="1" noChangeArrowheads="1" noTextEdit="1"/>
          </p:cNvSpPr>
          <p:nvPr>
            <p:ph type="sldImg"/>
          </p:nvPr>
        </p:nvSpPr>
        <p:spPr>
          <a:xfrm>
            <a:off x="1679575" y="620713"/>
            <a:ext cx="3500438" cy="2625725"/>
          </a:xfrm>
          <a:ln/>
        </p:spPr>
      </p:sp>
      <p:sp>
        <p:nvSpPr>
          <p:cNvPr id="248835" name="Rectangle 3"/>
          <p:cNvSpPr>
            <a:spLocks noGrp="1" noChangeArrowheads="1"/>
          </p:cNvSpPr>
          <p:nvPr>
            <p:ph type="body" idx="1"/>
          </p:nvPr>
        </p:nvSpPr>
        <p:spPr>
          <a:xfrm>
            <a:off x="913772" y="3331952"/>
            <a:ext cx="5030456" cy="5268172"/>
          </a:xfrm>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CBE770-C8BD-4E7F-A689-547F8750E307}" type="slidenum">
              <a:rPr lang="en-US"/>
              <a:pPr/>
              <a:t>82</a:t>
            </a:fld>
            <a:endParaRPr lang="en-US"/>
          </a:p>
        </p:txBody>
      </p:sp>
      <p:sp>
        <p:nvSpPr>
          <p:cNvPr id="250882" name="Rectangle 2"/>
          <p:cNvSpPr>
            <a:spLocks noGrp="1" noRot="1" noChangeAspect="1" noChangeArrowheads="1" noTextEdit="1"/>
          </p:cNvSpPr>
          <p:nvPr>
            <p:ph type="sldImg"/>
          </p:nvPr>
        </p:nvSpPr>
        <p:spPr>
          <a:xfrm>
            <a:off x="1060450" y="687388"/>
            <a:ext cx="4687888" cy="3516312"/>
          </a:xfrm>
          <a:ln/>
        </p:spPr>
      </p:sp>
      <p:sp>
        <p:nvSpPr>
          <p:cNvPr id="250883" name="Rectangle 3"/>
          <p:cNvSpPr>
            <a:spLocks noGrp="1" noChangeArrowheads="1"/>
          </p:cNvSpPr>
          <p:nvPr>
            <p:ph type="body" idx="1"/>
          </p:nvPr>
        </p:nvSpPr>
        <p:spPr>
          <a:xfrm>
            <a:off x="898072" y="4432005"/>
            <a:ext cx="5011615" cy="4203092"/>
          </a:xfrm>
          <a:noFill/>
          <a:ln/>
          <a:extLst>
            <a:ext uri="{909E8E84-426E-40DD-AFC4-6F175D3DCCD1}">
              <a14:hiddenFill xmlns="" xmlns:a14="http://schemas.microsoft.com/office/drawing/2010/main">
                <a:solidFill>
                  <a:srgbClr val="000000"/>
                </a:solidFill>
              </a14:hiddenFill>
            </a:ext>
          </a:extLst>
        </p:spPr>
        <p:txBody>
          <a:bodyPr bIns="0"/>
          <a:lstStyle/>
          <a:p>
            <a:r>
              <a:rPr lang="en-US"/>
              <a:t>SAY: within 1 standard deviation either way of the mean</a:t>
            </a:r>
          </a:p>
          <a:p>
            <a:endParaRPr lang="en-US"/>
          </a:p>
          <a:p>
            <a:r>
              <a:rPr lang="en-US"/>
              <a:t>within 2 standard deviations of the mean</a:t>
            </a:r>
          </a:p>
          <a:p>
            <a:endParaRPr lang="en-US"/>
          </a:p>
          <a:p>
            <a:r>
              <a:rPr lang="en-US"/>
              <a:t>within 3 standard deviations either way of the mean</a:t>
            </a:r>
          </a:p>
          <a:p>
            <a:endParaRPr lang="en-US"/>
          </a:p>
          <a:p>
            <a:r>
              <a:rPr lang="en-US"/>
              <a:t>WORKS FOR ALL NORMAL CURVES NO MATTER HOW SKINNY OR FAT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95377A-F528-47D0-824E-85309245A29F}" type="slidenum">
              <a:rPr lang="en-US"/>
              <a:pPr/>
              <a:t>84</a:t>
            </a:fld>
            <a:endParaRPr lang="en-US"/>
          </a:p>
        </p:txBody>
      </p:sp>
      <p:sp>
        <p:nvSpPr>
          <p:cNvPr id="275458" name="Rectangle 2"/>
          <p:cNvSpPr>
            <a:spLocks noGrp="1" noRot="1" noChangeAspect="1" noChangeArrowheads="1" noTextEdit="1"/>
          </p:cNvSpPr>
          <p:nvPr>
            <p:ph type="sldImg"/>
          </p:nvPr>
        </p:nvSpPr>
        <p:spPr>
          <a:xfrm>
            <a:off x="1679575" y="620713"/>
            <a:ext cx="3500438" cy="2625725"/>
          </a:xfrm>
          <a:ln/>
        </p:spPr>
      </p:sp>
      <p:sp>
        <p:nvSpPr>
          <p:cNvPr id="275459" name="Rectangle 3"/>
          <p:cNvSpPr>
            <a:spLocks noGrp="1" noChangeArrowheads="1"/>
          </p:cNvSpPr>
          <p:nvPr>
            <p:ph type="body" idx="1"/>
          </p:nvPr>
        </p:nvSpPr>
        <p:spPr>
          <a:xfrm>
            <a:off x="913772" y="3331952"/>
            <a:ext cx="5030456" cy="5268172"/>
          </a:xfrm>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xfrm>
            <a:off x="1116013" y="704850"/>
            <a:ext cx="4625975" cy="3470275"/>
          </a:xfrm>
          <a:ln cap="flat"/>
        </p:spPr>
      </p:sp>
      <p:sp>
        <p:nvSpPr>
          <p:cNvPr id="11267" name="Rectangle 3"/>
          <p:cNvSpPr>
            <a:spLocks noGrp="1" noChangeArrowheads="1"/>
          </p:cNvSpPr>
          <p:nvPr>
            <p:ph type="body" idx="1"/>
          </p:nvPr>
        </p:nvSpPr>
        <p:spPr>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16013" y="704850"/>
            <a:ext cx="4625975" cy="3470275"/>
          </a:xfrm>
          <a:ln cap="flat"/>
        </p:spPr>
      </p:sp>
      <p:sp>
        <p:nvSpPr>
          <p:cNvPr id="13315" name="Rectangle 3"/>
          <p:cNvSpPr>
            <a:spLocks noGrp="1" noChangeArrowheads="1"/>
          </p:cNvSpPr>
          <p:nvPr>
            <p:ph type="body" idx="1"/>
          </p:nvPr>
        </p:nvSpPr>
        <p:spPr>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bwMode="auto">
          <a:xfrm>
            <a:off x="1116013" y="704850"/>
            <a:ext cx="4625975" cy="3470275"/>
          </a:xfrm>
          <a:prstGeom prst="rect">
            <a:avLst/>
          </a:prstGeom>
          <a:noFill/>
          <a:ln w="12700" cap="flat">
            <a:solidFill>
              <a:schemeClr val="tx1"/>
            </a:solidFill>
            <a:miter lim="800000"/>
            <a:headEnd/>
            <a:tailEnd/>
          </a:ln>
        </p:spPr>
      </p:sp>
      <p:sp>
        <p:nvSpPr>
          <p:cNvPr id="29699" name="Rectangle 3"/>
          <p:cNvSpPr>
            <a:spLocks noGrp="1" noChangeArrowheads="1"/>
          </p:cNvSpPr>
          <p:nvPr>
            <p:ph type="body" idx="1"/>
          </p:nvPr>
        </p:nvSpPr>
        <p:spPr bwMode="auto">
          <a:xfrm>
            <a:off x="914400" y="4414787"/>
            <a:ext cx="5029200" cy="4183781"/>
          </a:xfrm>
          <a:prstGeom prst="rect">
            <a:avLst/>
          </a:prstGeom>
          <a:noFill/>
          <a:ln>
            <a:miter lim="800000"/>
            <a:headEnd/>
            <a:tailEnd/>
          </a:ln>
        </p:spPr>
        <p:txBody>
          <a:bodyPr lIns="90488" tIns="44450" rIns="90488" bIns="44450"/>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bwMode="auto">
          <a:xfrm>
            <a:off x="1116013" y="704850"/>
            <a:ext cx="4625975" cy="3470275"/>
          </a:xfrm>
          <a:prstGeom prst="rect">
            <a:avLst/>
          </a:prstGeom>
          <a:noFill/>
          <a:ln w="12700" cap="flat">
            <a:solidFill>
              <a:schemeClr val="tx1"/>
            </a:solidFill>
            <a:miter lim="800000"/>
            <a:headEnd/>
            <a:tailEnd/>
          </a:ln>
        </p:spPr>
      </p:sp>
      <p:sp>
        <p:nvSpPr>
          <p:cNvPr id="33795" name="Rectangle 3"/>
          <p:cNvSpPr>
            <a:spLocks noGrp="1" noChangeArrowheads="1"/>
          </p:cNvSpPr>
          <p:nvPr>
            <p:ph type="body" idx="1"/>
          </p:nvPr>
        </p:nvSpPr>
        <p:spPr bwMode="auto">
          <a:xfrm>
            <a:off x="914400" y="4414787"/>
            <a:ext cx="5029200" cy="4183781"/>
          </a:xfrm>
          <a:prstGeom prst="rect">
            <a:avLst/>
          </a:prstGeom>
          <a:noFill/>
          <a:ln>
            <a:miter lim="800000"/>
            <a:headEnd/>
            <a:tailEnd/>
          </a:ln>
        </p:spPr>
        <p:txBody>
          <a:bodyPr lIns="90488" tIns="44450" rIns="90488" bIns="44450"/>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1116013" y="704850"/>
            <a:ext cx="4625975" cy="3470275"/>
          </a:xfrm>
          <a:ln cap="flat"/>
        </p:spPr>
      </p:sp>
      <p:sp>
        <p:nvSpPr>
          <p:cNvPr id="19459" name="Rectangle 3"/>
          <p:cNvSpPr>
            <a:spLocks noGrp="1" noChangeArrowheads="1"/>
          </p:cNvSpPr>
          <p:nvPr>
            <p:ph type="body" idx="1"/>
          </p:nvPr>
        </p:nvSpPr>
        <p:spPr>
          <a:ln/>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bwMode="auto">
          <a:xfrm>
            <a:off x="1116013" y="704850"/>
            <a:ext cx="4625975" cy="3470275"/>
          </a:xfrm>
          <a:prstGeom prst="rect">
            <a:avLst/>
          </a:prstGeom>
          <a:noFill/>
          <a:ln w="12700" cap="flat">
            <a:solidFill>
              <a:schemeClr val="tx1"/>
            </a:solidFill>
            <a:miter lim="800000"/>
            <a:headEnd/>
            <a:tailEnd/>
          </a:ln>
        </p:spPr>
      </p:sp>
      <p:sp>
        <p:nvSpPr>
          <p:cNvPr id="31747" name="Rectangle 3"/>
          <p:cNvSpPr>
            <a:spLocks noGrp="1" noChangeArrowheads="1"/>
          </p:cNvSpPr>
          <p:nvPr>
            <p:ph type="body" idx="1"/>
          </p:nvPr>
        </p:nvSpPr>
        <p:spPr bwMode="auto">
          <a:xfrm>
            <a:off x="914400" y="4414787"/>
            <a:ext cx="5029200" cy="4183781"/>
          </a:xfrm>
          <a:prstGeom prst="rect">
            <a:avLst/>
          </a:prstGeom>
          <a:noFill/>
          <a:ln>
            <a:miter lim="800000"/>
            <a:headEnd/>
            <a:tailEnd/>
          </a:ln>
        </p:spPr>
        <p:txBody>
          <a:bodyPr lIns="90488" tIns="44450" rIns="90488" bIns="44450"/>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xfrm>
            <a:off x="1116013" y="704850"/>
            <a:ext cx="4625975" cy="3470275"/>
          </a:xfrm>
          <a:ln cap="flat"/>
        </p:spPr>
      </p:sp>
      <p:sp>
        <p:nvSpPr>
          <p:cNvPr id="23555" name="Rectangle 3"/>
          <p:cNvSpPr>
            <a:spLocks noGrp="1" noChangeArrowheads="1"/>
          </p:cNvSpPr>
          <p:nvPr>
            <p:ph type="body" idx="1"/>
          </p:nvPr>
        </p:nvSpPr>
        <p:spPr>
          <a:ln/>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787BE86F-61DE-4C29-A3EF-A3D8B82A8802}" type="slidenum">
              <a:rPr lang="en-US" smtClean="0"/>
              <a:pPr/>
              <a:t>110</a:t>
            </a:fld>
            <a:endParaRPr lang="en-US" smtClean="0"/>
          </a:p>
        </p:txBody>
      </p:sp>
      <p:sp>
        <p:nvSpPr>
          <p:cNvPr id="231427" name="Rectangle 2"/>
          <p:cNvSpPr>
            <a:spLocks noGrp="1" noRot="1" noChangeAspect="1" noChangeArrowheads="1" noTextEdit="1"/>
          </p:cNvSpPr>
          <p:nvPr>
            <p:ph type="sldImg"/>
          </p:nvPr>
        </p:nvSpPr>
        <p:spPr>
          <a:ln/>
        </p:spPr>
      </p:sp>
      <p:sp>
        <p:nvSpPr>
          <p:cNvPr id="231428" name="Rectangle 3"/>
          <p:cNvSpPr>
            <a:spLocks noGrp="1" noChangeArrowheads="1"/>
          </p:cNvSpPr>
          <p:nvPr>
            <p:ph type="body" idx="1"/>
          </p:nvPr>
        </p:nvSpPr>
        <p:spPr>
          <a:noFill/>
          <a:ln/>
        </p:spPr>
        <p:txBody>
          <a:bodyPr/>
          <a:lstStyle/>
          <a:p>
            <a:pPr eaLnBrk="1" hangingPunct="1"/>
            <a:endParaRPr lang="nl-NL"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cxnSp>
        <p:nvCxnSpPr>
          <p:cNvPr id="9" name="Straight Connector 8"/>
          <p:cNvCxnSpPr/>
          <p:nvPr userDrawn="1"/>
        </p:nvCxnSpPr>
        <p:spPr bwMode="auto">
          <a:xfrm>
            <a:off x="533400" y="533400"/>
            <a:ext cx="8610600" cy="1588"/>
          </a:xfrm>
          <a:prstGeom prst="line">
            <a:avLst/>
          </a:prstGeom>
          <a:solidFill>
            <a:schemeClr val="accent1"/>
          </a:solidFill>
          <a:ln w="28575" cap="flat" cmpd="sng" algn="ctr">
            <a:solidFill>
              <a:schemeClr val="accent1">
                <a:lumMod val="50000"/>
              </a:schemeClr>
            </a:solidFill>
            <a:prstDash val="solid"/>
            <a:round/>
            <a:headEnd type="none" w="med" len="med"/>
            <a:tailEnd type="none" w="med" len="med"/>
          </a:ln>
          <a:effectLst/>
        </p:spPr>
      </p:cxnSp>
      <p:sp>
        <p:nvSpPr>
          <p:cNvPr id="5" name="Date Placeholder 4"/>
          <p:cNvSpPr>
            <a:spLocks noGrp="1"/>
          </p:cNvSpPr>
          <p:nvPr>
            <p:ph type="dt" sz="half" idx="10"/>
          </p:nvPr>
        </p:nvSpPr>
        <p:spPr/>
        <p:txBody>
          <a:bodyPr/>
          <a:lstStyle/>
          <a:p>
            <a:r>
              <a:rPr lang="en-US" smtClean="0"/>
              <a:t>Prof. A. K. Datta     University of Calcutta</a:t>
            </a:r>
            <a:endParaRPr lang="en-IN" dirty="0"/>
          </a:p>
        </p:txBody>
      </p:sp>
      <p:sp>
        <p:nvSpPr>
          <p:cNvPr id="6" name="Slide Number Placeholder 5"/>
          <p:cNvSpPr>
            <a:spLocks noGrp="1"/>
          </p:cNvSpPr>
          <p:nvPr>
            <p:ph type="sldNum" sz="quarter" idx="11"/>
          </p:nvPr>
        </p:nvSpPr>
        <p:spPr/>
        <p:txBody>
          <a:bodyPr/>
          <a:lstStyle/>
          <a:p>
            <a:fld id="{BF2D74FB-8EB9-4DEE-8258-980F8375AF4A}" type="slidenum">
              <a:rPr lang="en-IN" smtClean="0"/>
              <a:pPr/>
              <a:t>‹#›</a:t>
            </a:fld>
            <a:endParaRPr lang="en-IN" dirty="0"/>
          </a:p>
        </p:txBody>
      </p:sp>
      <p:sp>
        <p:nvSpPr>
          <p:cNvPr id="7" name="Footer Placeholder 6"/>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838200"/>
            <a:ext cx="8058150" cy="540067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62000" y="1268413"/>
            <a:ext cx="3952875" cy="54006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4867275" y="1268413"/>
            <a:ext cx="3952875" cy="54006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p>
            <a:r>
              <a:rPr lang="en-US" smtClean="0"/>
              <a:t>Prof. A. K. Datta     University of Calcutta</a:t>
            </a:r>
            <a:endParaRPr lang="en-IN" dirty="0"/>
          </a:p>
        </p:txBody>
      </p:sp>
      <p:sp>
        <p:nvSpPr>
          <p:cNvPr id="6" name="Slide Number Placeholder 5"/>
          <p:cNvSpPr>
            <a:spLocks noGrp="1"/>
          </p:cNvSpPr>
          <p:nvPr>
            <p:ph type="sldNum" sz="quarter" idx="11"/>
          </p:nvPr>
        </p:nvSpPr>
        <p:spPr/>
        <p:txBody>
          <a:bodyPr/>
          <a:lstStyle/>
          <a:p>
            <a:fld id="{BF2D74FB-8EB9-4DEE-8258-980F8375AF4A}" type="slidenum">
              <a:rPr lang="en-IN" smtClean="0"/>
              <a:pPr/>
              <a:t>‹#›</a:t>
            </a:fld>
            <a:endParaRPr lang="en-IN" dirty="0"/>
          </a:p>
        </p:txBody>
      </p:sp>
      <p:sp>
        <p:nvSpPr>
          <p:cNvPr id="7" name="Footer Placeholder 6"/>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p>
            <a:r>
              <a:rPr lang="en-US" smtClean="0"/>
              <a:t>Prof. A. K. Datta     University of Calcutta</a:t>
            </a:r>
            <a:endParaRPr lang="en-IN" dirty="0"/>
          </a:p>
        </p:txBody>
      </p:sp>
      <p:sp>
        <p:nvSpPr>
          <p:cNvPr id="8" name="Slide Number Placeholder 7"/>
          <p:cNvSpPr>
            <a:spLocks noGrp="1"/>
          </p:cNvSpPr>
          <p:nvPr>
            <p:ph type="sldNum" sz="quarter" idx="11"/>
          </p:nvPr>
        </p:nvSpPr>
        <p:spPr/>
        <p:txBody>
          <a:bodyPr/>
          <a:lstStyle/>
          <a:p>
            <a:fld id="{BF2D74FB-8EB9-4DEE-8258-980F8375AF4A}" type="slidenum">
              <a:rPr lang="en-IN" smtClean="0"/>
              <a:pPr/>
              <a:t>‹#›</a:t>
            </a:fld>
            <a:endParaRPr lang="en-IN" dirty="0"/>
          </a:p>
        </p:txBody>
      </p:sp>
      <p:sp>
        <p:nvSpPr>
          <p:cNvPr id="9" name="Footer Placeholder 8"/>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IN" dirty="0"/>
          </a:p>
        </p:txBody>
      </p:sp>
      <p:sp>
        <p:nvSpPr>
          <p:cNvPr id="3" name="Slide Number Placeholder 2"/>
          <p:cNvSpPr>
            <a:spLocks noGrp="1"/>
          </p:cNvSpPr>
          <p:nvPr>
            <p:ph type="sldNum" sz="quarter" idx="11"/>
          </p:nvPr>
        </p:nvSpPr>
        <p:spPr/>
        <p:txBody>
          <a:bodyPr/>
          <a:lstStyle/>
          <a:p>
            <a:fld id="{BF2D74FB-8EB9-4DEE-8258-980F8375AF4A}" type="slidenum">
              <a:rPr lang="en-IN" smtClean="0"/>
              <a:pPr/>
              <a:t>‹#›</a:t>
            </a:fld>
            <a:endParaRPr lang="en-IN" dirty="0"/>
          </a:p>
        </p:txBody>
      </p:sp>
      <p:sp>
        <p:nvSpPr>
          <p:cNvPr id="4" name="Footer Placeholder 3"/>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IN" dirty="0"/>
          </a:p>
        </p:txBody>
      </p:sp>
      <p:sp>
        <p:nvSpPr>
          <p:cNvPr id="3" name="Slide Number Placeholder 2"/>
          <p:cNvSpPr>
            <a:spLocks noGrp="1"/>
          </p:cNvSpPr>
          <p:nvPr>
            <p:ph type="sldNum" sz="quarter" idx="11"/>
          </p:nvPr>
        </p:nvSpPr>
        <p:spPr/>
        <p:txBody>
          <a:bodyPr/>
          <a:lstStyle/>
          <a:p>
            <a:fld id="{BF2D74FB-8EB9-4DEE-8258-980F8375AF4A}" type="slidenum">
              <a:rPr lang="en-IN" smtClean="0"/>
              <a:pPr/>
              <a:t>‹#›</a:t>
            </a:fld>
            <a:endParaRPr lang="en-IN" dirty="0"/>
          </a:p>
        </p:txBody>
      </p:sp>
      <p:sp>
        <p:nvSpPr>
          <p:cNvPr id="4" name="Footer Placeholder 3"/>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IN" dirty="0"/>
          </a:p>
        </p:txBody>
      </p:sp>
      <p:sp>
        <p:nvSpPr>
          <p:cNvPr id="3" name="Slide Number Placeholder 2"/>
          <p:cNvSpPr>
            <a:spLocks noGrp="1"/>
          </p:cNvSpPr>
          <p:nvPr>
            <p:ph type="sldNum" sz="quarter" idx="11"/>
          </p:nvPr>
        </p:nvSpPr>
        <p:spPr/>
        <p:txBody>
          <a:bodyPr/>
          <a:lstStyle/>
          <a:p>
            <a:fld id="{BF2D74FB-8EB9-4DEE-8258-980F8375AF4A}" type="slidenum">
              <a:rPr lang="en-IN" smtClean="0"/>
              <a:pPr/>
              <a:t>‹#›</a:t>
            </a:fld>
            <a:endParaRPr lang="en-IN" dirty="0"/>
          </a:p>
        </p:txBody>
      </p:sp>
      <p:sp>
        <p:nvSpPr>
          <p:cNvPr id="4" name="Footer Placeholder 3"/>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Prof. A. K. Datta     University of Calcutta</a:t>
            </a:r>
            <a:endParaRPr lang="en-IN" dirty="0"/>
          </a:p>
        </p:txBody>
      </p:sp>
      <p:sp>
        <p:nvSpPr>
          <p:cNvPr id="6" name="Slide Number Placeholder 5"/>
          <p:cNvSpPr>
            <a:spLocks noGrp="1"/>
          </p:cNvSpPr>
          <p:nvPr>
            <p:ph type="sldNum" sz="quarter" idx="11"/>
          </p:nvPr>
        </p:nvSpPr>
        <p:spPr/>
        <p:txBody>
          <a:bodyPr/>
          <a:lstStyle/>
          <a:p>
            <a:fld id="{BF2D74FB-8EB9-4DEE-8258-980F8375AF4A}" type="slidenum">
              <a:rPr lang="en-IN" smtClean="0"/>
              <a:pPr/>
              <a:t>‹#›</a:t>
            </a:fld>
            <a:endParaRPr lang="en-IN" dirty="0"/>
          </a:p>
        </p:txBody>
      </p:sp>
      <p:sp>
        <p:nvSpPr>
          <p:cNvPr id="7" name="Footer Placeholder 6"/>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Prof. A. K. Datta     University of Calcutta</a:t>
            </a:r>
            <a:endParaRPr lang="en-IN" dirty="0"/>
          </a:p>
        </p:txBody>
      </p:sp>
      <p:sp>
        <p:nvSpPr>
          <p:cNvPr id="6" name="Slide Number Placeholder 5"/>
          <p:cNvSpPr>
            <a:spLocks noGrp="1"/>
          </p:cNvSpPr>
          <p:nvPr>
            <p:ph type="sldNum" sz="quarter" idx="11"/>
          </p:nvPr>
        </p:nvSpPr>
        <p:spPr/>
        <p:txBody>
          <a:bodyPr/>
          <a:lstStyle/>
          <a:p>
            <a:fld id="{BF2D74FB-8EB9-4DEE-8258-980F8375AF4A}" type="slidenum">
              <a:rPr lang="en-IN" smtClean="0"/>
              <a:pPr/>
              <a:t>‹#›</a:t>
            </a:fld>
            <a:endParaRPr lang="en-IN" dirty="0"/>
          </a:p>
        </p:txBody>
      </p:sp>
      <p:sp>
        <p:nvSpPr>
          <p:cNvPr id="7" name="Footer Placeholder 6"/>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62000" y="838200"/>
            <a:ext cx="8058150" cy="540067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62000" y="260350"/>
            <a:ext cx="5891213" cy="64087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3" name="Table Placeholder 2"/>
          <p:cNvSpPr>
            <a:spLocks noGrp="1"/>
          </p:cNvSpPr>
          <p:nvPr>
            <p:ph type="tbl" idx="1"/>
          </p:nvPr>
        </p:nvSpPr>
        <p:spPr>
          <a:xfrm>
            <a:off x="762000" y="1268413"/>
            <a:ext cx="8058150" cy="5400675"/>
          </a:xfrm>
          <a:prstGeom prst="rect">
            <a:avLst/>
          </a:prstGeom>
        </p:spPr>
        <p:txBody>
          <a:bodyPr/>
          <a:lstStyle/>
          <a:p>
            <a:pPr lvl="0"/>
            <a:endParaRPr lang="nl-NL" noProof="0" smtClean="0"/>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762000" y="1268413"/>
            <a:ext cx="3952875" cy="540067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4867275" y="1268413"/>
            <a:ext cx="3952875" cy="540067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p>
            <a:r>
              <a:rPr lang="en-US" smtClean="0"/>
              <a:t>Prof. A. K. Datta     University of Calcutta</a:t>
            </a:r>
            <a:endParaRPr lang="en-IN" dirty="0"/>
          </a:p>
        </p:txBody>
      </p:sp>
      <p:sp>
        <p:nvSpPr>
          <p:cNvPr id="6" name="Slide Number Placeholder 5"/>
          <p:cNvSpPr>
            <a:spLocks noGrp="1"/>
          </p:cNvSpPr>
          <p:nvPr>
            <p:ph type="sldNum" sz="quarter" idx="11"/>
          </p:nvPr>
        </p:nvSpPr>
        <p:spPr/>
        <p:txBody>
          <a:bodyPr/>
          <a:lstStyle/>
          <a:p>
            <a:fld id="{BF2D74FB-8EB9-4DEE-8258-980F8375AF4A}" type="slidenum">
              <a:rPr lang="en-IN" smtClean="0"/>
              <a:pPr/>
              <a:t>‹#›</a:t>
            </a:fld>
            <a:endParaRPr lang="en-IN" dirty="0"/>
          </a:p>
        </p:txBody>
      </p:sp>
      <p:sp>
        <p:nvSpPr>
          <p:cNvPr id="7" name="Footer Placeholder 6"/>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and 2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762000" y="1268413"/>
            <a:ext cx="3952875" cy="540067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quarter" idx="2"/>
          </p:nvPr>
        </p:nvSpPr>
        <p:spPr>
          <a:xfrm>
            <a:off x="4867275" y="1268413"/>
            <a:ext cx="3952875" cy="2624137"/>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Content Placeholder 4"/>
          <p:cNvSpPr>
            <a:spLocks noGrp="1"/>
          </p:cNvSpPr>
          <p:nvPr>
            <p:ph sz="quarter" idx="3"/>
          </p:nvPr>
        </p:nvSpPr>
        <p:spPr>
          <a:xfrm>
            <a:off x="4867275" y="4044950"/>
            <a:ext cx="3952875" cy="26241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6" name="Date Placeholder 5"/>
          <p:cNvSpPr>
            <a:spLocks noGrp="1"/>
          </p:cNvSpPr>
          <p:nvPr>
            <p:ph type="dt" sz="half" idx="10"/>
          </p:nvPr>
        </p:nvSpPr>
        <p:spPr/>
        <p:txBody>
          <a:bodyPr/>
          <a:lstStyle/>
          <a:p>
            <a:r>
              <a:rPr lang="en-US" smtClean="0"/>
              <a:t>Prof. A. K. Datta     University of Calcutta</a:t>
            </a:r>
            <a:endParaRPr lang="en-IN" dirty="0"/>
          </a:p>
        </p:txBody>
      </p:sp>
      <p:sp>
        <p:nvSpPr>
          <p:cNvPr id="7" name="Slide Number Placeholder 6"/>
          <p:cNvSpPr>
            <a:spLocks noGrp="1"/>
          </p:cNvSpPr>
          <p:nvPr>
            <p:ph type="sldNum" sz="quarter" idx="11"/>
          </p:nvPr>
        </p:nvSpPr>
        <p:spPr/>
        <p:txBody>
          <a:bodyPr/>
          <a:lstStyle/>
          <a:p>
            <a:fld id="{BF2D74FB-8EB9-4DEE-8258-980F8375AF4A}" type="slidenum">
              <a:rPr lang="en-IN" smtClean="0"/>
              <a:pPr/>
              <a:t>‹#›</a:t>
            </a:fld>
            <a:endParaRPr lang="en-IN" dirty="0"/>
          </a:p>
        </p:txBody>
      </p:sp>
      <p:sp>
        <p:nvSpPr>
          <p:cNvPr id="8" name="Footer Placeholder 7"/>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41300" y="914400"/>
            <a:ext cx="4375150" cy="54864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8850" y="914400"/>
            <a:ext cx="4375150" cy="54864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Prof. A. K. Datta     University of Calcutta</a:t>
            </a:r>
            <a:endParaRPr lang="en-IN" dirty="0"/>
          </a:p>
        </p:txBody>
      </p:sp>
      <p:sp>
        <p:nvSpPr>
          <p:cNvPr id="6" name="Slide Number Placeholder 5"/>
          <p:cNvSpPr>
            <a:spLocks noGrp="1"/>
          </p:cNvSpPr>
          <p:nvPr>
            <p:ph type="sldNum" sz="quarter" idx="11"/>
          </p:nvPr>
        </p:nvSpPr>
        <p:spPr/>
        <p:txBody>
          <a:bodyPr/>
          <a:lstStyle/>
          <a:p>
            <a:fld id="{BF2D74FB-8EB9-4DEE-8258-980F8375AF4A}" type="slidenum">
              <a:rPr lang="en-IN" smtClean="0"/>
              <a:pPr/>
              <a:t>‹#›</a:t>
            </a:fld>
            <a:endParaRPr lang="en-IN" dirty="0"/>
          </a:p>
        </p:txBody>
      </p:sp>
      <p:sp>
        <p:nvSpPr>
          <p:cNvPr id="7" name="Footer Placeholder 6"/>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300" y="914400"/>
            <a:ext cx="8902700" cy="54864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Chart">
    <p:spTree>
      <p:nvGrpSpPr>
        <p:cNvPr id="1" name=""/>
        <p:cNvGrpSpPr/>
        <p:nvPr/>
      </p:nvGrpSpPr>
      <p:grpSpPr>
        <a:xfrm>
          <a:off x="0" y="0"/>
          <a:ext cx="0" cy="0"/>
          <a:chOff x="0" y="0"/>
          <a:chExt cx="0" cy="0"/>
        </a:xfrm>
      </p:grpSpPr>
      <p:sp>
        <p:nvSpPr>
          <p:cNvPr id="3" name="Chart Placeholder 2"/>
          <p:cNvSpPr>
            <a:spLocks noGrp="1"/>
          </p:cNvSpPr>
          <p:nvPr>
            <p:ph type="chart" idx="1"/>
          </p:nvPr>
        </p:nvSpPr>
        <p:spPr>
          <a:xfrm>
            <a:off x="685800" y="1981200"/>
            <a:ext cx="7772400" cy="4114800"/>
          </a:xfrm>
          <a:prstGeom prst="rect">
            <a:avLst/>
          </a:prstGeom>
        </p:spPr>
        <p:txBody>
          <a:bodyPr/>
          <a:lstStyle/>
          <a:p>
            <a:endParaRPr lang="en-US"/>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12/29/2023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Obj">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4675" y="304800"/>
            <a:ext cx="8001000" cy="1216025"/>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566738" y="1752600"/>
            <a:ext cx="3924300" cy="4267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19812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1981200" cy="476250"/>
          </a:xfrm>
        </p:spPr>
        <p:txBody>
          <a:bodyPr/>
          <a:lstStyle>
            <a:lvl1pPr>
              <a:defRPr/>
            </a:lvl1pPr>
          </a:lstStyle>
          <a:p>
            <a:fld id="{8933B049-AE40-4F0C-A067-57665664E57E}" type="slidenum">
              <a:rPr lang="en-US"/>
              <a:pPr/>
              <a:t>‹#›</a:t>
            </a:fld>
            <a:endParaRPr lang="en-US"/>
          </a:p>
        </p:txBody>
      </p:sp>
    </p:spTree>
    <p:extLst>
      <p:ext uri="{BB962C8B-B14F-4D97-AF65-F5344CB8AC3E}">
        <p14:creationId xmlns="" xmlns:p14="http://schemas.microsoft.com/office/powerpoint/2010/main" val="1339847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p:nvPr userDrawn="1"/>
        </p:nvSpPr>
        <p:spPr bwMode="auto">
          <a:xfrm>
            <a:off x="0" y="6553200"/>
            <a:ext cx="9144000" cy="304800"/>
          </a:xfrm>
          <a:prstGeom prst="rect">
            <a:avLst/>
          </a:prstGeom>
          <a:solidFill>
            <a:schemeClr val="accent1">
              <a:lumMod val="50000"/>
            </a:schemeClr>
          </a:solidFill>
          <a:ln w="9525" cap="flat" cmpd="sng" algn="ctr">
            <a:solidFill>
              <a:schemeClr val="tx1"/>
            </a:solidFill>
            <a:prstDash val="solid"/>
            <a:round/>
            <a:headEnd type="none" w="med" len="med"/>
            <a:tailEnd type="none" w="med" len="med"/>
          </a:ln>
          <a:effectLst>
            <a:outerShdw blurRad="50800" dist="38100" dir="18900000" algn="bl" rotWithShape="0">
              <a:prstClr val="black">
                <a:alpha val="40000"/>
              </a:prstClr>
            </a:outerShdw>
          </a:effectLst>
          <a:scene3d>
            <a:camera prst="orthographicFront"/>
            <a:lightRig rig="threePt" dir="t"/>
          </a:scene3d>
          <a:sp3d>
            <a:bevelT w="101600" prst="riblet"/>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smtClean="0">
              <a:ln>
                <a:noFill/>
              </a:ln>
              <a:solidFill>
                <a:schemeClr val="tx1"/>
              </a:solidFill>
              <a:effectLst/>
              <a:latin typeface="Arial" charset="0"/>
            </a:endParaRPr>
          </a:p>
        </p:txBody>
      </p:sp>
      <p:sp>
        <p:nvSpPr>
          <p:cNvPr id="1199107" name="Text Box 3"/>
          <p:cNvSpPr txBox="1">
            <a:spLocks noChangeArrowheads="1"/>
          </p:cNvSpPr>
          <p:nvPr/>
        </p:nvSpPr>
        <p:spPr bwMode="auto">
          <a:xfrm>
            <a:off x="179388" y="260350"/>
            <a:ext cx="184150" cy="823913"/>
          </a:xfrm>
          <a:prstGeom prst="rect">
            <a:avLst/>
          </a:prstGeom>
          <a:noFill/>
          <a:ln w="9525">
            <a:noFill/>
            <a:miter lim="800000"/>
            <a:headEnd/>
            <a:tailEnd/>
          </a:ln>
          <a:effectLst/>
        </p:spPr>
        <p:txBody>
          <a:bodyPr wrap="none">
            <a:spAutoFit/>
          </a:bodyPr>
          <a:lstStyle/>
          <a:p>
            <a:pPr eaLnBrk="1" hangingPunct="1">
              <a:defRPr/>
            </a:pPr>
            <a:endParaRPr lang="nl-NL" sz="4800">
              <a:solidFill>
                <a:schemeClr val="accent2"/>
              </a:solidFill>
              <a:latin typeface="Times New Roman" pitchFamily="18" charset="0"/>
            </a:endParaRPr>
          </a:p>
        </p:txBody>
      </p:sp>
      <p:sp>
        <p:nvSpPr>
          <p:cNvPr id="1199109" name="AutoShape 5"/>
          <p:cNvSpPr>
            <a:spLocks noChangeArrowheads="1"/>
          </p:cNvSpPr>
          <p:nvPr/>
        </p:nvSpPr>
        <p:spPr bwMode="auto">
          <a:xfrm rot="5400000">
            <a:off x="0" y="0"/>
            <a:ext cx="914400" cy="914400"/>
          </a:xfrm>
          <a:prstGeom prst="rtTriangle">
            <a:avLst/>
          </a:prstGeom>
          <a:solidFill>
            <a:srgbClr val="FF0000"/>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nl-NL"/>
          </a:p>
        </p:txBody>
      </p:sp>
      <p:sp>
        <p:nvSpPr>
          <p:cNvPr id="1199110" name="Text Box 6"/>
          <p:cNvSpPr txBox="1">
            <a:spLocks noChangeArrowheads="1"/>
          </p:cNvSpPr>
          <p:nvPr userDrawn="1"/>
        </p:nvSpPr>
        <p:spPr bwMode="auto">
          <a:xfrm>
            <a:off x="179388" y="260350"/>
            <a:ext cx="184150" cy="823913"/>
          </a:xfrm>
          <a:prstGeom prst="rect">
            <a:avLst/>
          </a:prstGeom>
          <a:noFill/>
          <a:ln w="9525">
            <a:noFill/>
            <a:miter lim="800000"/>
            <a:headEnd/>
            <a:tailEnd/>
          </a:ln>
          <a:effectLst/>
        </p:spPr>
        <p:txBody>
          <a:bodyPr wrap="none">
            <a:spAutoFit/>
          </a:bodyPr>
          <a:lstStyle/>
          <a:p>
            <a:pPr eaLnBrk="1" hangingPunct="1">
              <a:defRPr/>
            </a:pPr>
            <a:endParaRPr lang="nl-NL" sz="4800">
              <a:solidFill>
                <a:schemeClr val="accent2"/>
              </a:solidFill>
              <a:latin typeface="Times New Roman" pitchFamily="18" charset="0"/>
            </a:endParaRPr>
          </a:p>
        </p:txBody>
      </p:sp>
      <p:sp>
        <p:nvSpPr>
          <p:cNvPr id="1199111" name="AutoShape 7"/>
          <p:cNvSpPr>
            <a:spLocks noChangeArrowheads="1"/>
          </p:cNvSpPr>
          <p:nvPr userDrawn="1"/>
        </p:nvSpPr>
        <p:spPr bwMode="auto">
          <a:xfrm rot="5400000">
            <a:off x="0" y="0"/>
            <a:ext cx="914400" cy="914400"/>
          </a:xfrm>
          <a:prstGeom prst="rtTriangle">
            <a:avLst/>
          </a:prstGeom>
          <a:solidFill>
            <a:schemeClr val="accent1">
              <a:lumMod val="50000"/>
            </a:schemeClr>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nl-NL"/>
          </a:p>
        </p:txBody>
      </p:sp>
      <p:cxnSp>
        <p:nvCxnSpPr>
          <p:cNvPr id="11" name="Straight Connector 10"/>
          <p:cNvCxnSpPr/>
          <p:nvPr userDrawn="1"/>
        </p:nvCxnSpPr>
        <p:spPr bwMode="auto">
          <a:xfrm>
            <a:off x="533400" y="609600"/>
            <a:ext cx="8610600" cy="1588"/>
          </a:xfrm>
          <a:prstGeom prst="line">
            <a:avLst/>
          </a:prstGeom>
          <a:solidFill>
            <a:schemeClr val="accent1"/>
          </a:solidFill>
          <a:ln w="28575" cap="flat" cmpd="sng" algn="ctr">
            <a:solidFill>
              <a:schemeClr val="accent1">
                <a:lumMod val="50000"/>
              </a:schemeClr>
            </a:solidFill>
            <a:prstDash val="solid"/>
            <a:round/>
            <a:headEnd type="none" w="med" len="med"/>
            <a:tailEnd type="none" w="med" len="med"/>
          </a:ln>
          <a:effectLst/>
        </p:spPr>
      </p:cxnSp>
      <p:cxnSp>
        <p:nvCxnSpPr>
          <p:cNvPr id="12" name="Straight Connector 11"/>
          <p:cNvCxnSpPr/>
          <p:nvPr userDrawn="1"/>
        </p:nvCxnSpPr>
        <p:spPr bwMode="auto">
          <a:xfrm>
            <a:off x="533400" y="533400"/>
            <a:ext cx="8610600" cy="1588"/>
          </a:xfrm>
          <a:prstGeom prst="line">
            <a:avLst/>
          </a:prstGeom>
          <a:solidFill>
            <a:schemeClr val="accent1"/>
          </a:solidFill>
          <a:ln w="28575" cap="flat" cmpd="sng" algn="ctr">
            <a:solidFill>
              <a:schemeClr val="accent1">
                <a:lumMod val="50000"/>
              </a:schemeClr>
            </a:solidFill>
            <a:prstDash val="solid"/>
            <a:round/>
            <a:headEnd type="none" w="med" len="med"/>
            <a:tailEnd type="none" w="med" len="med"/>
          </a:ln>
          <a:effectLst/>
        </p:spPr>
      </p:cxnSp>
      <p:sp>
        <p:nvSpPr>
          <p:cNvPr id="9" name="Date Placeholder 8"/>
          <p:cNvSpPr>
            <a:spLocks noGrp="1"/>
          </p:cNvSpPr>
          <p:nvPr>
            <p:ph type="dt" sz="half" idx="2"/>
          </p:nvPr>
        </p:nvSpPr>
        <p:spPr>
          <a:xfrm>
            <a:off x="304800" y="6492875"/>
            <a:ext cx="3124200" cy="365125"/>
          </a:xfrm>
          <a:prstGeom prst="rect">
            <a:avLst/>
          </a:prstGeom>
        </p:spPr>
        <p:txBody>
          <a:bodyPr vert="horz" lIns="91440" tIns="45720" rIns="91440" bIns="45720" rtlCol="0" anchor="ctr"/>
          <a:lstStyle>
            <a:lvl1pPr algn="l">
              <a:defRPr sz="1200">
                <a:solidFill>
                  <a:schemeClr val="bg1"/>
                </a:solidFill>
              </a:defRPr>
            </a:lvl1pPr>
          </a:lstStyle>
          <a:p>
            <a:r>
              <a:rPr lang="en-US" smtClean="0"/>
              <a:t>Prof. A. K. Datta     University of Calcutta</a:t>
            </a:r>
            <a:endParaRPr lang="en-IN" dirty="0"/>
          </a:p>
        </p:txBody>
      </p:sp>
      <p:sp>
        <p:nvSpPr>
          <p:cNvPr id="13" name="Footer Placeholder 12"/>
          <p:cNvSpPr>
            <a:spLocks noGrp="1"/>
          </p:cNvSpPr>
          <p:nvPr>
            <p:ph type="ftr" sz="quarter" idx="3"/>
          </p:nvPr>
        </p:nvSpPr>
        <p:spPr>
          <a:xfrm>
            <a:off x="3124200" y="6492875"/>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IN" smtClean="0"/>
              <a:t>Ph.D Course Work on Research Methodology</a:t>
            </a:r>
            <a:endParaRPr lang="en-IN" dirty="0"/>
          </a:p>
        </p:txBody>
      </p:sp>
      <p:sp>
        <p:nvSpPr>
          <p:cNvPr id="14" name="Slide Number Placeholder 13"/>
          <p:cNvSpPr>
            <a:spLocks noGrp="1"/>
          </p:cNvSpPr>
          <p:nvPr>
            <p:ph type="sldNum" sz="quarter" idx="4"/>
          </p:nvPr>
        </p:nvSpPr>
        <p:spPr>
          <a:xfrm>
            <a:off x="8458200" y="6492875"/>
            <a:ext cx="457200" cy="365125"/>
          </a:xfrm>
          <a:prstGeom prst="rect">
            <a:avLst/>
          </a:prstGeom>
        </p:spPr>
        <p:txBody>
          <a:bodyPr vert="horz" lIns="91440" tIns="45720" rIns="91440" bIns="45720" rtlCol="0" anchor="ctr"/>
          <a:lstStyle>
            <a:lvl1pPr algn="r">
              <a:defRPr sz="1200">
                <a:solidFill>
                  <a:schemeClr val="bg1"/>
                </a:solidFill>
              </a:defRPr>
            </a:lvl1pPr>
          </a:lstStyle>
          <a:p>
            <a:fld id="{BF2D74FB-8EB9-4DEE-8258-980F8375AF4A}"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8" r:id="rId8"/>
    <p:sldLayoutId id="2147483661" r:id="rId9"/>
    <p:sldLayoutId id="2147483662" r:id="rId10"/>
    <p:sldLayoutId id="2147483663" r:id="rId11"/>
    <p:sldLayoutId id="2147483664" r:id="rId12"/>
    <p:sldLayoutId id="2147483665" r:id="rId13"/>
    <p:sldLayoutId id="2147483666" r:id="rId14"/>
    <p:sldLayoutId id="2147483667" r:id="rId15"/>
    <p:sldLayoutId id="2147483669" r:id="rId16"/>
    <p:sldLayoutId id="2147483670" r:id="rId17"/>
    <p:sldLayoutId id="2147483671" r:id="rId18"/>
    <p:sldLayoutId id="2147483676" r:id="rId19"/>
    <p:sldLayoutId id="2147483677" r:id="rId20"/>
    <p:sldLayoutId id="2147483678" r:id="rId21"/>
    <p:sldLayoutId id="2147483679" r:id="rId22"/>
  </p:sldLayoutIdLst>
  <p:hf hdr="0"/>
  <p:txStyles>
    <p:titleStyle>
      <a:lvl1pPr algn="ctr" rtl="0" eaLnBrk="0" fontAlgn="base" hangingPunct="0">
        <a:spcBef>
          <a:spcPct val="0"/>
        </a:spcBef>
        <a:spcAft>
          <a:spcPct val="0"/>
        </a:spcAft>
        <a:defRPr sz="2800" b="1">
          <a:solidFill>
            <a:schemeClr val="tx1"/>
          </a:solidFill>
          <a:latin typeface="+mj-lt"/>
          <a:ea typeface="+mj-ea"/>
          <a:cs typeface="+mj-cs"/>
        </a:defRPr>
      </a:lvl1pPr>
      <a:lvl2pPr algn="ctr" rtl="0" eaLnBrk="0" fontAlgn="base" hangingPunct="0">
        <a:spcBef>
          <a:spcPct val="0"/>
        </a:spcBef>
        <a:spcAft>
          <a:spcPct val="0"/>
        </a:spcAft>
        <a:defRPr sz="2800" b="1">
          <a:solidFill>
            <a:schemeClr val="tx1"/>
          </a:solidFill>
          <a:latin typeface="Times New Roman" pitchFamily="18" charset="0"/>
        </a:defRPr>
      </a:lvl2pPr>
      <a:lvl3pPr algn="ctr" rtl="0" eaLnBrk="0" fontAlgn="base" hangingPunct="0">
        <a:spcBef>
          <a:spcPct val="0"/>
        </a:spcBef>
        <a:spcAft>
          <a:spcPct val="0"/>
        </a:spcAft>
        <a:defRPr sz="2800" b="1">
          <a:solidFill>
            <a:schemeClr val="tx1"/>
          </a:solidFill>
          <a:latin typeface="Times New Roman" pitchFamily="18" charset="0"/>
        </a:defRPr>
      </a:lvl3pPr>
      <a:lvl4pPr algn="ctr" rtl="0" eaLnBrk="0" fontAlgn="base" hangingPunct="0">
        <a:spcBef>
          <a:spcPct val="0"/>
        </a:spcBef>
        <a:spcAft>
          <a:spcPct val="0"/>
        </a:spcAft>
        <a:defRPr sz="2800" b="1">
          <a:solidFill>
            <a:schemeClr val="tx1"/>
          </a:solidFill>
          <a:latin typeface="Times New Roman" pitchFamily="18" charset="0"/>
        </a:defRPr>
      </a:lvl4pPr>
      <a:lvl5pPr algn="ctr" rtl="0" eaLnBrk="0" fontAlgn="base" hangingPunct="0">
        <a:spcBef>
          <a:spcPct val="0"/>
        </a:spcBef>
        <a:spcAft>
          <a:spcPct val="0"/>
        </a:spcAft>
        <a:defRPr sz="2800" b="1">
          <a:solidFill>
            <a:schemeClr val="tx1"/>
          </a:solidFill>
          <a:latin typeface="Times New Roman" pitchFamily="18" charset="0"/>
        </a:defRPr>
      </a:lvl5pPr>
      <a:lvl6pPr marL="457200" algn="ctr" rtl="0" fontAlgn="base">
        <a:spcBef>
          <a:spcPct val="0"/>
        </a:spcBef>
        <a:spcAft>
          <a:spcPct val="0"/>
        </a:spcAft>
        <a:defRPr sz="2800" b="1">
          <a:solidFill>
            <a:schemeClr val="tx1"/>
          </a:solidFill>
          <a:latin typeface="Times New Roman" pitchFamily="18" charset="0"/>
        </a:defRPr>
      </a:lvl6pPr>
      <a:lvl7pPr marL="914400" algn="ctr" rtl="0" fontAlgn="base">
        <a:spcBef>
          <a:spcPct val="0"/>
        </a:spcBef>
        <a:spcAft>
          <a:spcPct val="0"/>
        </a:spcAft>
        <a:defRPr sz="2800" b="1">
          <a:solidFill>
            <a:schemeClr val="tx1"/>
          </a:solidFill>
          <a:latin typeface="Times New Roman" pitchFamily="18" charset="0"/>
        </a:defRPr>
      </a:lvl7pPr>
      <a:lvl8pPr marL="1371600" algn="ctr" rtl="0" fontAlgn="base">
        <a:spcBef>
          <a:spcPct val="0"/>
        </a:spcBef>
        <a:spcAft>
          <a:spcPct val="0"/>
        </a:spcAft>
        <a:defRPr sz="2800" b="1">
          <a:solidFill>
            <a:schemeClr val="tx1"/>
          </a:solidFill>
          <a:latin typeface="Times New Roman" pitchFamily="18" charset="0"/>
        </a:defRPr>
      </a:lvl8pPr>
      <a:lvl9pPr marL="1828800" algn="ctr" rtl="0" fontAlgn="base">
        <a:spcBef>
          <a:spcPct val="0"/>
        </a:spcBef>
        <a:spcAft>
          <a:spcPct val="0"/>
        </a:spcAft>
        <a:defRPr sz="2800" b="1">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6.xml"/><Relationship Id="rId1" Type="http://schemas.openxmlformats.org/officeDocument/2006/relationships/vmlDrawing" Target="../drawings/vmlDrawing5.vml"/><Relationship Id="rId4"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7.xml"/><Relationship Id="rId1" Type="http://schemas.openxmlformats.org/officeDocument/2006/relationships/vmlDrawing" Target="../drawings/vmlDrawing6.vml"/><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7.xml"/><Relationship Id="rId1" Type="http://schemas.openxmlformats.org/officeDocument/2006/relationships/vmlDrawing" Target="../drawings/vmlDrawing7.vml"/><Relationship Id="rId5" Type="http://schemas.openxmlformats.org/officeDocument/2006/relationships/oleObject" Target="../embeddings/oleObject17.bin"/><Relationship Id="rId4" Type="http://schemas.openxmlformats.org/officeDocument/2006/relationships/oleObject" Target="../embeddings/oleObject16.bin"/></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8.xml"/><Relationship Id="rId1" Type="http://schemas.openxmlformats.org/officeDocument/2006/relationships/vmlDrawing" Target="../drawings/vmlDrawing8.vml"/><Relationship Id="rId5" Type="http://schemas.openxmlformats.org/officeDocument/2006/relationships/oleObject" Target="../embeddings/oleObject19.bin"/><Relationship Id="rId4" Type="http://schemas.openxmlformats.org/officeDocument/2006/relationships/chart" Target="../charts/char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2.xml"/><Relationship Id="rId1" Type="http://schemas.openxmlformats.org/officeDocument/2006/relationships/vmlDrawing" Target="../drawings/vmlDrawing9.vml"/><Relationship Id="rId4" Type="http://schemas.openxmlformats.org/officeDocument/2006/relationships/oleObject" Target="../embeddings/oleObject20.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5.bin"/><Relationship Id="rId2" Type="http://schemas.openxmlformats.org/officeDocument/2006/relationships/slideLayout" Target="../slideLayouts/slideLayout17.xml"/><Relationship Id="rId1" Type="http://schemas.openxmlformats.org/officeDocument/2006/relationships/vmlDrawing" Target="../drawings/vmlDrawing10.vml"/><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oleObject" Target="../embeddings/oleObject22.bin"/></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2.xml"/><Relationship Id="rId1" Type="http://schemas.openxmlformats.org/officeDocument/2006/relationships/vmlDrawing" Target="../drawings/vmlDrawing11.vml"/><Relationship Id="rId4" Type="http://schemas.openxmlformats.org/officeDocument/2006/relationships/oleObject" Target="../embeddings/oleObject27.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8.xml"/><Relationship Id="rId1" Type="http://schemas.openxmlformats.org/officeDocument/2006/relationships/vmlDrawing" Target="../drawings/vmlDrawing12.vml"/><Relationship Id="rId4" Type="http://schemas.openxmlformats.org/officeDocument/2006/relationships/oleObject" Target="../embeddings/oleObject29.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6.xml"/><Relationship Id="rId1" Type="http://schemas.openxmlformats.org/officeDocument/2006/relationships/vmlDrawing" Target="../drawings/vmlDrawing13.vml"/><Relationship Id="rId6" Type="http://schemas.openxmlformats.org/officeDocument/2006/relationships/oleObject" Target="../embeddings/oleObject33.bin"/><Relationship Id="rId5" Type="http://schemas.openxmlformats.org/officeDocument/2006/relationships/oleObject" Target="../embeddings/oleObject32.bin"/><Relationship Id="rId4" Type="http://schemas.openxmlformats.org/officeDocument/2006/relationships/oleObject" Target="../embeddings/oleObject31.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oleObject" Target="../embeddings/oleObject34.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2.xml"/><Relationship Id="rId1" Type="http://schemas.openxmlformats.org/officeDocument/2006/relationships/vmlDrawing" Target="../drawings/vmlDrawing15.vml"/><Relationship Id="rId4" Type="http://schemas.openxmlformats.org/officeDocument/2006/relationships/oleObject" Target="../embeddings/oleObject35.bin"/></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oleObject" Target="../embeddings/oleObject37.bin"/><Relationship Id="rId2" Type="http://schemas.openxmlformats.org/officeDocument/2006/relationships/slideLayout" Target="../slideLayouts/slideLayout17.xml"/><Relationship Id="rId1" Type="http://schemas.openxmlformats.org/officeDocument/2006/relationships/vmlDrawing" Target="../drawings/vmlDrawing16.vml"/><Relationship Id="rId6" Type="http://schemas.openxmlformats.org/officeDocument/2006/relationships/oleObject" Target="../embeddings/oleObject36.bin"/><Relationship Id="rId5" Type="http://schemas.openxmlformats.org/officeDocument/2006/relationships/image" Target="../media/image58.png"/><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7.xml"/><Relationship Id="rId1" Type="http://schemas.openxmlformats.org/officeDocument/2006/relationships/vmlDrawing" Target="../drawings/vmlDrawing17.vml"/><Relationship Id="rId5" Type="http://schemas.openxmlformats.org/officeDocument/2006/relationships/oleObject" Target="../embeddings/oleObject40.bin"/><Relationship Id="rId4" Type="http://schemas.openxmlformats.org/officeDocument/2006/relationships/oleObject" Target="../embeddings/oleObject39.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17.xml"/><Relationship Id="rId1" Type="http://schemas.openxmlformats.org/officeDocument/2006/relationships/vmlDrawing" Target="../drawings/vmlDrawing18.vml"/><Relationship Id="rId5" Type="http://schemas.openxmlformats.org/officeDocument/2006/relationships/oleObject" Target="../embeddings/oleObject43.bin"/><Relationship Id="rId4" Type="http://schemas.openxmlformats.org/officeDocument/2006/relationships/oleObject" Target="../embeddings/oleObject42.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0.xml"/><Relationship Id="rId1" Type="http://schemas.openxmlformats.org/officeDocument/2006/relationships/vmlDrawing" Target="../drawings/vmlDrawing19.vml"/><Relationship Id="rId4" Type="http://schemas.openxmlformats.org/officeDocument/2006/relationships/oleObject" Target="../embeddings/oleObject45.bin"/></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1.xml"/><Relationship Id="rId1" Type="http://schemas.openxmlformats.org/officeDocument/2006/relationships/themeOverride" Target="../theme/themeOverride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1.xml"/><Relationship Id="rId5" Type="http://schemas.openxmlformats.org/officeDocument/2006/relationships/image" Target="../media/image5.png"/><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1.xml"/><Relationship Id="rId1" Type="http://schemas.openxmlformats.org/officeDocument/2006/relationships/vmlDrawing" Target="../drawings/vmlDrawing20.vml"/><Relationship Id="rId4" Type="http://schemas.openxmlformats.org/officeDocument/2006/relationships/image" Target="../media/image71.png"/></Relationships>
</file>

<file path=ppt/slides/_rels/slide6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72.png"/><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9.xml"/><Relationship Id="rId1" Type="http://schemas.openxmlformats.org/officeDocument/2006/relationships/vmlDrawing" Target="../drawings/vmlDrawing21.vml"/><Relationship Id="rId4" Type="http://schemas.openxmlformats.org/officeDocument/2006/relationships/oleObject" Target="../embeddings/oleObject47.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9.xml.rels><?xml version="1.0" encoding="UTF-8" standalone="yes"?>
<Relationships xmlns="http://schemas.openxmlformats.org/package/2006/relationships"><Relationship Id="rId3" Type="http://schemas.openxmlformats.org/officeDocument/2006/relationships/hyperlink" Target="http://en.wikipedia.org/wiki/Image:Poisson_distribution_PMF.png" TargetMode="External"/><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75.png"/></Relationships>
</file>

<file path=ppt/slides/_rels/slide7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4.xml"/><Relationship Id="rId1" Type="http://schemas.openxmlformats.org/officeDocument/2006/relationships/vmlDrawing" Target="../drawings/vmlDrawing22.v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7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slideLayout" Target="../slideLayouts/slideLayout19.xml"/><Relationship Id="rId1" Type="http://schemas.openxmlformats.org/officeDocument/2006/relationships/vmlDrawing" Target="../drawings/vmlDrawing23.vml"/><Relationship Id="rId5" Type="http://schemas.openxmlformats.org/officeDocument/2006/relationships/oleObject" Target="../embeddings/oleObject49.bin"/><Relationship Id="rId4" Type="http://schemas.openxmlformats.org/officeDocument/2006/relationships/image" Target="../media/image92.wmf"/></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19.xml"/><Relationship Id="rId1" Type="http://schemas.openxmlformats.org/officeDocument/2006/relationships/vmlDrawing" Target="../drawings/vmlDrawing24.vml"/></Relationships>
</file>

<file path=ppt/slides/_rels/slide8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25.v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9.xml"/><Relationship Id="rId1" Type="http://schemas.openxmlformats.org/officeDocument/2006/relationships/vmlDrawing" Target="../drawings/vmlDrawing26.vml"/><Relationship Id="rId5" Type="http://schemas.openxmlformats.org/officeDocument/2006/relationships/oleObject" Target="../embeddings/oleObject53.bin"/><Relationship Id="rId4" Type="http://schemas.openxmlformats.org/officeDocument/2006/relationships/oleObject" Target="../embeddings/oleObject52.bin"/></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27.vml"/></Relationships>
</file>

<file path=ppt/slides/_rels/slide8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8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9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oleObject" Target="../embeddings/oleObject56.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oleObject" Target="../embeddings/oleObject59.bin"/><Relationship Id="rId2" Type="http://schemas.openxmlformats.org/officeDocument/2006/relationships/slideLayout" Target="../slideLayouts/slideLayout19.xml"/><Relationship Id="rId1" Type="http://schemas.openxmlformats.org/officeDocument/2006/relationships/vmlDrawing" Target="../drawings/vmlDrawing29.vml"/><Relationship Id="rId6" Type="http://schemas.openxmlformats.org/officeDocument/2006/relationships/oleObject" Target="../embeddings/oleObject58.bin"/><Relationship Id="rId5" Type="http://schemas.openxmlformats.org/officeDocument/2006/relationships/oleObject" Target="../embeddings/oleObject57.bin"/><Relationship Id="rId4" Type="http://schemas.openxmlformats.org/officeDocument/2006/relationships/image" Target="../media/image114.png"/></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19.xml"/><Relationship Id="rId1" Type="http://schemas.openxmlformats.org/officeDocument/2006/relationships/vmlDrawing" Target="../drawings/vmlDrawing30.v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9.xml"/><Relationship Id="rId1" Type="http://schemas.openxmlformats.org/officeDocument/2006/relationships/vmlDrawing" Target="../drawings/vmlDrawing31.vml"/><Relationship Id="rId5" Type="http://schemas.openxmlformats.org/officeDocument/2006/relationships/oleObject" Target="../embeddings/oleObject62.bin"/><Relationship Id="rId4" Type="http://schemas.openxmlformats.org/officeDocument/2006/relationships/oleObject" Target="../embeddings/oleObject61.bin"/></Relationships>
</file>

<file path=ppt/slides/_rels/slide98.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9.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9.xml"/><Relationship Id="rId1" Type="http://schemas.openxmlformats.org/officeDocument/2006/relationships/vmlDrawing" Target="../drawings/vmlDrawing32.vml"/><Relationship Id="rId6" Type="http://schemas.openxmlformats.org/officeDocument/2006/relationships/oleObject" Target="../embeddings/oleObject65.bin"/><Relationship Id="rId5" Type="http://schemas.openxmlformats.org/officeDocument/2006/relationships/oleObject" Target="../embeddings/oleObject64.bin"/><Relationship Id="rId4" Type="http://schemas.openxmlformats.org/officeDocument/2006/relationships/oleObject" Target="../embeddings/oleObject63.bin"/></Relationships>
</file>

<file path=ppt/slides/_rels/slide100.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9.xml"/></Relationships>
</file>

<file path=ppt/slides/_rels/slide10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9.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9.xml"/><Relationship Id="rId1" Type="http://schemas.openxmlformats.org/officeDocument/2006/relationships/vmlDrawing" Target="../drawings/vmlDrawing33.vml"/><Relationship Id="rId6" Type="http://schemas.openxmlformats.org/officeDocument/2006/relationships/oleObject" Target="../embeddings/oleObject68.bin"/><Relationship Id="rId5" Type="http://schemas.openxmlformats.org/officeDocument/2006/relationships/oleObject" Target="../embeddings/oleObject67.bin"/><Relationship Id="rId4" Type="http://schemas.openxmlformats.org/officeDocument/2006/relationships/oleObject" Target="../embeddings/oleObject66.bin"/></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9.xml"/><Relationship Id="rId1" Type="http://schemas.openxmlformats.org/officeDocument/2006/relationships/vmlDrawing" Target="../drawings/vmlDrawing34.vml"/><Relationship Id="rId4" Type="http://schemas.openxmlformats.org/officeDocument/2006/relationships/oleObject" Target="../embeddings/oleObject69.bin"/></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9.xml"/><Relationship Id="rId1" Type="http://schemas.openxmlformats.org/officeDocument/2006/relationships/vmlDrawing" Target="../drawings/vmlDrawing35.vml"/><Relationship Id="rId5" Type="http://schemas.openxmlformats.org/officeDocument/2006/relationships/oleObject" Target="../embeddings/oleObject71.bin"/><Relationship Id="rId4" Type="http://schemas.openxmlformats.org/officeDocument/2006/relationships/oleObject" Target="../embeddings/oleObject70.bin"/></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9.xml"/><Relationship Id="rId1" Type="http://schemas.openxmlformats.org/officeDocument/2006/relationships/vmlDrawing" Target="../drawings/vmlDrawing36.vml"/><Relationship Id="rId5" Type="http://schemas.openxmlformats.org/officeDocument/2006/relationships/oleObject" Target="../embeddings/oleObject73.bin"/><Relationship Id="rId4" Type="http://schemas.openxmlformats.org/officeDocument/2006/relationships/oleObject" Target="../embeddings/oleObject72.bin"/></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37.vml"/><Relationship Id="rId5" Type="http://schemas.openxmlformats.org/officeDocument/2006/relationships/oleObject" Target="../embeddings/oleObject76.bin"/><Relationship Id="rId4" Type="http://schemas.openxmlformats.org/officeDocument/2006/relationships/oleObject" Target="../embeddings/oleObject75.bin"/></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oleObject" Target="../embeddings/oleObject80.bin"/><Relationship Id="rId5" Type="http://schemas.openxmlformats.org/officeDocument/2006/relationships/oleObject" Target="../embeddings/oleObject79.bin"/><Relationship Id="rId4" Type="http://schemas.openxmlformats.org/officeDocument/2006/relationships/oleObject" Target="../embeddings/oleObject78.bin"/></Relationships>
</file>

<file path=ppt/slides/_rels/slide108.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slideLayout" Target="../slideLayouts/slideLayout14.xml"/><Relationship Id="rId1" Type="http://schemas.openxmlformats.org/officeDocument/2006/relationships/vmlDrawing" Target="../drawings/vmlDrawing39.vml"/><Relationship Id="rId4" Type="http://schemas.openxmlformats.org/officeDocument/2006/relationships/oleObject" Target="../embeddings/oleObject81.bin"/></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14.xml"/><Relationship Id="rId1" Type="http://schemas.openxmlformats.org/officeDocument/2006/relationships/vmlDrawing" Target="../drawings/vmlDrawing40.vml"/></Relationships>
</file>

<file path=ppt/slides/_rels/slide110.xml.rels><?xml version="1.0" encoding="UTF-8" standalone="yes"?>
<Relationships xmlns="http://schemas.openxmlformats.org/package/2006/relationships"><Relationship Id="rId8" Type="http://schemas.openxmlformats.org/officeDocument/2006/relationships/oleObject" Target="../embeddings/oleObject87.bin"/><Relationship Id="rId3" Type="http://schemas.openxmlformats.org/officeDocument/2006/relationships/notesSlide" Target="../notesSlides/notesSlide22.xml"/><Relationship Id="rId7" Type="http://schemas.openxmlformats.org/officeDocument/2006/relationships/oleObject" Target="../embeddings/oleObject86.bin"/><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oleObject" Target="../embeddings/oleObject85.bin"/><Relationship Id="rId5" Type="http://schemas.openxmlformats.org/officeDocument/2006/relationships/oleObject" Target="../embeddings/oleObject84.bin"/><Relationship Id="rId4" Type="http://schemas.openxmlformats.org/officeDocument/2006/relationships/oleObject" Target="../embeddings/oleObject83.bin"/><Relationship Id="rId9" Type="http://schemas.openxmlformats.org/officeDocument/2006/relationships/oleObject" Target="../embeddings/oleObject88.bin"/></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2.xml"/><Relationship Id="rId1" Type="http://schemas.openxmlformats.org/officeDocument/2006/relationships/vmlDrawing" Target="../drawings/vmlDrawing42.vml"/><Relationship Id="rId5" Type="http://schemas.openxmlformats.org/officeDocument/2006/relationships/oleObject" Target="../embeddings/oleObject91.bin"/><Relationship Id="rId4" Type="http://schemas.openxmlformats.org/officeDocument/2006/relationships/oleObject" Target="../embeddings/oleObject90.bin"/></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1.xml"/><Relationship Id="rId1" Type="http://schemas.openxmlformats.org/officeDocument/2006/relationships/vmlDrawing" Target="../drawings/vmlDrawing43.vml"/><Relationship Id="rId4" Type="http://schemas.openxmlformats.org/officeDocument/2006/relationships/oleObject" Target="../embeddings/oleObject93.bin"/></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4.xml.rels><?xml version="1.0" encoding="UTF-8" standalone="yes"?>
<Relationships xmlns="http://schemas.openxmlformats.org/package/2006/relationships"><Relationship Id="rId3" Type="http://schemas.openxmlformats.org/officeDocument/2006/relationships/oleObject" Target="../embeddings/Microsoft_Office_Word_97_-_2003_Document1.doc"/><Relationship Id="rId2" Type="http://schemas.openxmlformats.org/officeDocument/2006/relationships/slideLayout" Target="../slideLayouts/slideLayout19.xml"/><Relationship Id="rId1" Type="http://schemas.openxmlformats.org/officeDocument/2006/relationships/vmlDrawing" Target="../drawings/vmlDrawing44.vml"/><Relationship Id="rId4" Type="http://schemas.openxmlformats.org/officeDocument/2006/relationships/oleObject" Target="../embeddings/oleObject94.bin"/></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21.xml"/><Relationship Id="rId1" Type="http://schemas.openxmlformats.org/officeDocument/2006/relationships/vmlDrawing" Target="../drawings/vmlDrawing45.vml"/></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21.xml"/><Relationship Id="rId1" Type="http://schemas.openxmlformats.org/officeDocument/2006/relationships/vmlDrawing" Target="../drawings/vmlDrawing46.vml"/><Relationship Id="rId4" Type="http://schemas.openxmlformats.org/officeDocument/2006/relationships/oleObject" Target="../embeddings/oleObject97.bin"/></Relationships>
</file>

<file path=ppt/slides/_rels/slide118.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21.xml"/><Relationship Id="rId1" Type="http://schemas.openxmlformats.org/officeDocument/2006/relationships/vmlDrawing" Target="../drawings/vmlDrawing47.vml"/><Relationship Id="rId5" Type="http://schemas.openxmlformats.org/officeDocument/2006/relationships/oleObject" Target="../embeddings/oleObject100.bin"/><Relationship Id="rId4" Type="http://schemas.openxmlformats.org/officeDocument/2006/relationships/oleObject" Target="../embeddings/oleObject99.bin"/></Relationships>
</file>

<file path=ppt/slides/_rels/slide119.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21.xml"/><Relationship Id="rId1" Type="http://schemas.openxmlformats.org/officeDocument/2006/relationships/vmlDrawing" Target="../drawings/vmlDrawing48.vml"/><Relationship Id="rId4" Type="http://schemas.openxmlformats.org/officeDocument/2006/relationships/oleObject" Target="../embeddings/oleObject102.bin"/></Relationships>
</file>

<file path=ppt/slides/_rels/slide12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1.xml"/></Relationships>
</file>

<file path=ppt/slides/_rels/slide121.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1.xml"/></Relationships>
</file>

<file path=ppt/slides/_rels/slide122.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21.xml"/></Relationships>
</file>

<file path=ppt/slides/_rels/slide123.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21.xml"/><Relationship Id="rId4" Type="http://schemas.openxmlformats.org/officeDocument/2006/relationships/image" Target="../media/image164.png"/></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103.bin"/><Relationship Id="rId7" Type="http://schemas.openxmlformats.org/officeDocument/2006/relationships/oleObject" Target="../embeddings/oleObject107.bin"/><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oleObject" Target="../embeddings/oleObject106.bin"/><Relationship Id="rId5" Type="http://schemas.openxmlformats.org/officeDocument/2006/relationships/oleObject" Target="../embeddings/oleObject105.bin"/><Relationship Id="rId4" Type="http://schemas.openxmlformats.org/officeDocument/2006/relationships/oleObject" Target="../embeddings/oleObject104.bin"/></Relationships>
</file>

<file path=ppt/slides/_rels/slide125.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p:cNvSpPr>
            <a:spLocks noGrp="1" noChangeArrowheads="1"/>
          </p:cNvSpPr>
          <p:nvPr>
            <p:ph type="ctrTitle" idx="4294967295"/>
          </p:nvPr>
        </p:nvSpPr>
        <p:spPr>
          <a:xfrm>
            <a:off x="609600" y="2514600"/>
            <a:ext cx="7772400" cy="685800"/>
          </a:xfrm>
          <a:prstGeom prst="rect">
            <a:avLst/>
          </a:prstGeom>
        </p:spPr>
        <p:txBody>
          <a:bodyPr/>
          <a:lstStyle/>
          <a:p>
            <a:pPr eaLnBrk="1" hangingPunct="1"/>
            <a:r>
              <a:rPr lang="en-US" sz="4000" b="0" dirty="0" smtClean="0"/>
              <a:t>Descriptive Statistics: </a:t>
            </a:r>
            <a:br>
              <a:rPr lang="en-US" sz="4000" b="0" dirty="0" smtClean="0"/>
            </a:br>
            <a:r>
              <a:rPr lang="en-US" sz="4000" b="0" dirty="0" smtClean="0"/>
              <a:t>Processing and Analysis of Data</a:t>
            </a:r>
          </a:p>
        </p:txBody>
      </p:sp>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609600" y="762000"/>
            <a:ext cx="8153400" cy="5800748"/>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i="0" u="none" strike="noStrike" kern="0" cap="none" spc="0" normalizeH="0" baseline="0" noProof="0" dirty="0" smtClean="0">
                <a:ln>
                  <a:noFill/>
                </a:ln>
                <a:solidFill>
                  <a:schemeClr val="tx1"/>
                </a:solidFill>
                <a:effectLst/>
                <a:uLnTx/>
                <a:uFillTx/>
                <a:latin typeface="+mj-lt"/>
                <a:cs typeface="Arial" pitchFamily="34" charset="0"/>
              </a:rPr>
              <a:t>1  </a:t>
            </a:r>
            <a:r>
              <a:rPr kumimoji="0" lang="en-US" sz="2400" i="0" u="none" strike="noStrike" kern="0" cap="none" spc="0" normalizeH="0" baseline="0" noProof="1" smtClean="0">
                <a:ln>
                  <a:noFill/>
                </a:ln>
                <a:solidFill>
                  <a:schemeClr val="tx1"/>
                </a:solidFill>
                <a:effectLst/>
                <a:uLnTx/>
                <a:uFillTx/>
                <a:latin typeface="+mj-lt"/>
                <a:cs typeface="Arial" pitchFamily="34" charset="0"/>
              </a:rPr>
              <a:t>Statistics: Descriptive and Inferential </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i="0" u="none" strike="noStrike" kern="0" cap="none" spc="0" normalizeH="0" baseline="0" noProof="1" smtClean="0">
                <a:ln>
                  <a:noFill/>
                </a:ln>
                <a:solidFill>
                  <a:schemeClr val="tx1"/>
                </a:solidFill>
                <a:effectLst/>
                <a:uLnTx/>
                <a:uFillTx/>
                <a:latin typeface="+mj-lt"/>
                <a:cs typeface="Arial" pitchFamily="34" charset="0"/>
              </a:rPr>
              <a:t>2  Data presentation</a:t>
            </a:r>
            <a:r>
              <a:rPr kumimoji="0" lang="en-US" sz="2400" i="0" u="none" strike="noStrike" kern="0" cap="none" spc="0" normalizeH="0" baseline="0" noProof="1" smtClean="0">
                <a:ln>
                  <a:noFill/>
                </a:ln>
                <a:solidFill>
                  <a:schemeClr val="tx1"/>
                </a:solidFill>
                <a:effectLst/>
                <a:uLnTx/>
                <a:uFillTx/>
                <a:latin typeface="+mj-lt"/>
                <a:cs typeface="Arial" pitchFamily="34" charset="0"/>
                <a:hlinkClick r:id="rId2" action="ppaction://hlinksldjump"/>
              </a:rPr>
              <a:t>.</a:t>
            </a:r>
            <a:endParaRPr kumimoji="0" lang="en-US" sz="2400" i="0" u="none" strike="noStrike" kern="0" cap="none" spc="0" normalizeH="0" baseline="0" noProof="1" smtClean="0">
              <a:ln>
                <a:noFill/>
              </a:ln>
              <a:solidFill>
                <a:schemeClr val="tx1"/>
              </a:solidFill>
              <a:effectLst/>
              <a:uLnTx/>
              <a:uFillTx/>
              <a:latin typeface="+mj-lt"/>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i="0" u="none" strike="noStrike" kern="0" cap="none" spc="0" normalizeH="0" baseline="0" noProof="1" smtClean="0">
                <a:ln>
                  <a:noFill/>
                </a:ln>
                <a:solidFill>
                  <a:schemeClr val="tx1"/>
                </a:solidFill>
                <a:effectLst/>
                <a:uLnTx/>
                <a:uFillTx/>
                <a:latin typeface="+mj-lt"/>
                <a:cs typeface="Arial" pitchFamily="34" charset="0"/>
              </a:rPr>
              <a:t>3  Data characteristics: Descriptive statistics</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i="0" u="none" strike="noStrike" kern="0" cap="none" spc="0" normalizeH="0" baseline="0" noProof="1" smtClean="0">
                <a:ln>
                  <a:noFill/>
                </a:ln>
                <a:solidFill>
                  <a:schemeClr val="tx1"/>
                </a:solidFill>
                <a:effectLst/>
                <a:uLnTx/>
                <a:uFillTx/>
                <a:latin typeface="+mj-lt"/>
                <a:cs typeface="Arial" pitchFamily="34" charset="0"/>
              </a:rPr>
              <a:t>4  Probability: Basic conepts and distribution</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i="0" u="none" strike="noStrike" kern="0" cap="none" spc="0" normalizeH="0" baseline="0" noProof="1" smtClean="0">
                <a:ln>
                  <a:noFill/>
                </a:ln>
                <a:solidFill>
                  <a:schemeClr val="tx1"/>
                </a:solidFill>
                <a:effectLst/>
                <a:uLnTx/>
                <a:uFillTx/>
                <a:latin typeface="+mj-lt"/>
                <a:cs typeface="Arial" pitchFamily="34" charset="0"/>
              </a:rPr>
              <a:t>6  Sampling Distributions</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i="0" u="none" strike="noStrike" kern="0" cap="none" spc="0" normalizeH="0" baseline="0" noProof="1" smtClean="0">
                <a:ln>
                  <a:noFill/>
                </a:ln>
                <a:solidFill>
                  <a:schemeClr val="tx1"/>
                </a:solidFill>
                <a:effectLst/>
                <a:uLnTx/>
                <a:uFillTx/>
                <a:latin typeface="+mj-lt"/>
                <a:cs typeface="Arial" pitchFamily="34" charset="0"/>
              </a:rPr>
              <a:t>7  Estimation</a:t>
            </a:r>
            <a:r>
              <a:rPr kumimoji="0" lang="en-US" sz="2400" i="0" u="none" strike="noStrike" kern="0" cap="none" spc="0" normalizeH="0" baseline="0" noProof="1" smtClean="0">
                <a:ln>
                  <a:noFill/>
                </a:ln>
                <a:solidFill>
                  <a:schemeClr val="tx1"/>
                </a:solidFill>
                <a:effectLst/>
                <a:uLnTx/>
                <a:uFillTx/>
                <a:latin typeface="+mj-lt"/>
                <a:cs typeface="Arial" pitchFamily="34" charset="0"/>
                <a:hlinkClick r:id="rId3" action="ppaction://hlinksldjump"/>
              </a:rPr>
              <a:t>.</a:t>
            </a:r>
            <a:endParaRPr kumimoji="0" lang="en-US" sz="2400" i="0" u="none" strike="noStrike" kern="0" cap="none" spc="0" normalizeH="0" baseline="0" noProof="1" smtClean="0">
              <a:ln>
                <a:noFill/>
              </a:ln>
              <a:solidFill>
                <a:schemeClr val="tx1"/>
              </a:solidFill>
              <a:effectLst/>
              <a:uLnTx/>
              <a:uFillTx/>
              <a:latin typeface="+mj-lt"/>
              <a:cs typeface="Arial" pitchFamily="34" charset="0"/>
            </a:endParaRPr>
          </a:p>
          <a:p>
            <a:pPr marL="342900" lvl="0" indent="-342900">
              <a:spcBef>
                <a:spcPct val="20000"/>
              </a:spcBef>
              <a:defRPr/>
            </a:pPr>
            <a:r>
              <a:rPr kumimoji="0" lang="en-US" sz="2400" i="0" u="none" strike="noStrike" kern="0" cap="none" spc="0" normalizeH="0" baseline="0" noProof="1" smtClean="0">
                <a:ln>
                  <a:noFill/>
                </a:ln>
                <a:solidFill>
                  <a:schemeClr val="tx1"/>
                </a:solidFill>
                <a:effectLst/>
                <a:uLnTx/>
                <a:uFillTx/>
                <a:latin typeface="+mj-lt"/>
                <a:cs typeface="Arial" pitchFamily="34" charset="0"/>
              </a:rPr>
              <a:t>8  Hypothesis Testing </a:t>
            </a:r>
          </a:p>
          <a:p>
            <a:pPr marL="342900" lvl="0" indent="-342900">
              <a:spcBef>
                <a:spcPct val="20000"/>
              </a:spcBef>
              <a:defRPr/>
            </a:pPr>
            <a:r>
              <a:rPr lang="en-US" sz="2400" kern="0" noProof="1" smtClean="0">
                <a:latin typeface="+mj-lt"/>
                <a:cs typeface="Arial" pitchFamily="34" charset="0"/>
              </a:rPr>
              <a:t>10  Categorical Data</a:t>
            </a:r>
            <a:r>
              <a:rPr lang="en-US" sz="2400" kern="0" noProof="1" smtClean="0">
                <a:latin typeface="+mj-lt"/>
                <a:cs typeface="Arial" pitchFamily="34" charset="0"/>
                <a:hlinkClick r:id="rId3" action="ppaction://hlinksldjump"/>
              </a:rPr>
              <a:t>.</a:t>
            </a:r>
            <a:r>
              <a:rPr lang="en-US" sz="2400" kern="0" noProof="1" smtClean="0">
                <a:latin typeface="+mj-lt"/>
                <a:cs typeface="Arial" pitchFamily="34" charset="0"/>
              </a:rPr>
              <a:t>Analysis and Analysis of variance</a:t>
            </a:r>
            <a:endParaRPr lang="en-US" sz="2400" kern="0" noProof="1" smtClean="0">
              <a:latin typeface="+mj-lt"/>
              <a:cs typeface="Arial" pitchFamily="34" charset="0"/>
              <a:hlinkClick r:id="rId3" action="ppaction://hlinksldjump"/>
            </a:endParaRPr>
          </a:p>
          <a:p>
            <a:pPr marL="342900" lvl="0" indent="-342900">
              <a:spcBef>
                <a:spcPct val="20000"/>
              </a:spcBef>
              <a:defRPr/>
            </a:pPr>
            <a:r>
              <a:rPr lang="en-US" sz="2400" kern="0" noProof="1" smtClean="0">
                <a:latin typeface="+mj-lt"/>
                <a:cs typeface="Arial" pitchFamily="34" charset="0"/>
              </a:rPr>
              <a:t>11  Simple Linear  regression and correlation</a:t>
            </a:r>
          </a:p>
          <a:p>
            <a:pPr marL="457200" lvl="0" indent="-457200">
              <a:spcBef>
                <a:spcPct val="20000"/>
              </a:spcBef>
              <a:buAutoNum type="arabicPlain" startAt="12"/>
              <a:defRPr/>
            </a:pPr>
            <a:r>
              <a:rPr lang="en-US" sz="2400" kern="0" noProof="1" smtClean="0">
                <a:latin typeface="+mj-lt"/>
                <a:cs typeface="Arial" pitchFamily="34" charset="0"/>
              </a:rPr>
              <a:t>Multivatiate analysis</a:t>
            </a:r>
          </a:p>
          <a:p>
            <a:pPr marL="457200" marR="0" lvl="0" indent="-457200" algn="l" defTabSz="914400" rtl="0" eaLnBrk="0" fontAlgn="base" latinLnBrk="0" hangingPunct="0">
              <a:lnSpc>
                <a:spcPct val="100000"/>
              </a:lnSpc>
              <a:spcBef>
                <a:spcPct val="20000"/>
              </a:spcBef>
              <a:spcAft>
                <a:spcPct val="0"/>
              </a:spcAft>
              <a:buClrTx/>
              <a:buSzTx/>
              <a:tabLst/>
              <a:defRPr/>
            </a:pPr>
            <a:endParaRPr kumimoji="0" lang="en-US" sz="2000" b="1" i="0" u="none" strike="noStrike" kern="0" cap="none" spc="0" normalizeH="0" baseline="0" noProof="1"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2000" b="1" i="0" u="none" strike="noStrike" kern="0" cap="none" spc="0" normalizeH="0" baseline="0" noProof="1" smtClean="0">
              <a:ln>
                <a:noFill/>
              </a:ln>
              <a:solidFill>
                <a:schemeClr val="tx1"/>
              </a:solidFill>
              <a:effectLst/>
              <a:uLnTx/>
              <a:uFillTx/>
              <a:latin typeface="+mj-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1800" b="0" i="0" u="none" strike="noStrike" kern="0" cap="none" spc="0" normalizeH="0" baseline="0" noProof="0" dirty="0">
              <a:ln>
                <a:noFill/>
              </a:ln>
              <a:solidFill>
                <a:schemeClr val="tx1"/>
              </a:solidFill>
              <a:effectLst/>
              <a:uLnTx/>
              <a:uFillTx/>
              <a:latin typeface="+mj-lt"/>
              <a:ea typeface="+mn-ea"/>
              <a:cs typeface="+mn-cs"/>
            </a:endParaRPr>
          </a:p>
        </p:txBody>
      </p:sp>
      <p:sp>
        <p:nvSpPr>
          <p:cNvPr id="5" name="Date Placeholder 4"/>
          <p:cNvSpPr>
            <a:spLocks noGrp="1"/>
          </p:cNvSpPr>
          <p:nvPr>
            <p:ph type="dt" sz="half" idx="10"/>
          </p:nvPr>
        </p:nvSpPr>
        <p:spPr/>
        <p:txBody>
          <a:bodyPr/>
          <a:lstStyle/>
          <a:p>
            <a:r>
              <a:rPr lang="en-US" smtClean="0"/>
              <a:t>Prof. A. K. Datta     University of Calcutta</a:t>
            </a:r>
            <a:endParaRPr lang="en-IN" dirty="0"/>
          </a:p>
        </p:txBody>
      </p:sp>
      <p:sp>
        <p:nvSpPr>
          <p:cNvPr id="6" name="Slide Number Placeholder 5"/>
          <p:cNvSpPr>
            <a:spLocks noGrp="1"/>
          </p:cNvSpPr>
          <p:nvPr>
            <p:ph type="sldNum" sz="quarter" idx="11"/>
          </p:nvPr>
        </p:nvSpPr>
        <p:spPr/>
        <p:txBody>
          <a:bodyPr/>
          <a:lstStyle/>
          <a:p>
            <a:fld id="{BF2D74FB-8EB9-4DEE-8258-980F8375AF4A}" type="slidenum">
              <a:rPr lang="en-IN" smtClean="0"/>
              <a:pPr/>
              <a:t>2</a:t>
            </a:fld>
            <a:endParaRPr lang="en-IN" dirty="0"/>
          </a:p>
        </p:txBody>
      </p:sp>
      <p:sp>
        <p:nvSpPr>
          <p:cNvPr id="7" name="Footer Placeholder 6"/>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3</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pic>
        <p:nvPicPr>
          <p:cNvPr id="6" name="Content Placeholder 5"/>
          <p:cNvPicPr>
            <a:picLocks noGrp="1" noChangeAspect="1" noChangeArrowheads="1"/>
          </p:cNvPicPr>
          <p:nvPr>
            <p:ph idx="1"/>
          </p:nvPr>
        </p:nvPicPr>
        <p:blipFill>
          <a:blip r:embed="rId2">
            <a:clrChange>
              <a:clrFrom>
                <a:srgbClr val="FFFFFF"/>
              </a:clrFrom>
              <a:clrTo>
                <a:srgbClr val="FFFFFF">
                  <a:alpha val="0"/>
                </a:srgbClr>
              </a:clrTo>
            </a:clrChange>
            <a:extLst>
              <a:ext uri="{28A0092B-C50C-407E-A947-70E740481C1C}">
                <a14:useLocalDpi xmlns="" xmlns:a14="http://schemas.microsoft.com/office/drawing/2010/main" val="0"/>
              </a:ext>
            </a:extLst>
          </a:blip>
          <a:srcRect/>
          <a:stretch>
            <a:fillRect/>
          </a:stretch>
        </p:blipFill>
        <p:spPr bwMode="auto">
          <a:xfrm>
            <a:off x="595393" y="457200"/>
            <a:ext cx="8534400" cy="64008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6924746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4"/>
          <p:cNvSpPr txBox="1">
            <a:spLocks noChangeArrowheads="1"/>
          </p:cNvSpPr>
          <p:nvPr/>
        </p:nvSpPr>
        <p:spPr bwMode="auto">
          <a:xfrm>
            <a:off x="762000" y="1447800"/>
            <a:ext cx="7620001" cy="4819870"/>
          </a:xfrm>
          <a:prstGeom prst="rect">
            <a:avLst/>
          </a:prstGeom>
          <a:noFill/>
          <a:ln w="9525">
            <a:noFill/>
            <a:miter lim="800000"/>
            <a:headEnd/>
            <a:tailEnd/>
          </a:ln>
          <a:effectLst/>
        </p:spPr>
        <p:txBody>
          <a:bodyPr wrap="square" lIns="94576" tIns="47288" rIns="94576" bIns="47288">
            <a:spAutoFit/>
          </a:bodyPr>
          <a:lstStyle/>
          <a:p>
            <a:r>
              <a:rPr lang="en-US" dirty="0"/>
              <a:t/>
            </a:r>
            <a:br>
              <a:rPr lang="en-US" dirty="0"/>
            </a:br>
            <a:r>
              <a:rPr lang="en-US" dirty="0"/>
              <a:t>				</a:t>
            </a:r>
            <a:endParaRPr lang="en-US" sz="2500" dirty="0">
              <a:solidFill>
                <a:srgbClr val="0000FF"/>
              </a:solidFill>
            </a:endParaRPr>
          </a:p>
          <a:p>
            <a:pPr algn="just"/>
            <a:r>
              <a:rPr lang="en-US" sz="2200" dirty="0">
                <a:latin typeface="+mj-lt"/>
              </a:rPr>
              <a:t>(Data, Information, Knowledge) these terms are loosely used </a:t>
            </a:r>
          </a:p>
          <a:p>
            <a:pPr algn="just"/>
            <a:r>
              <a:rPr lang="en-US" sz="2200" dirty="0">
                <a:latin typeface="+mj-lt"/>
              </a:rPr>
              <a:t>	Data   		</a:t>
            </a:r>
            <a:r>
              <a:rPr lang="en-US" sz="2200" dirty="0">
                <a:latin typeface="+mj-lt"/>
                <a:sym typeface="Monotype Sorts"/>
              </a:rPr>
              <a:t>&gt;</a:t>
            </a:r>
            <a:r>
              <a:rPr lang="en-US" sz="2200" dirty="0">
                <a:latin typeface="+mj-lt"/>
              </a:rPr>
              <a:t>	Any recorded event</a:t>
            </a:r>
          </a:p>
          <a:p>
            <a:pPr algn="just"/>
            <a:r>
              <a:rPr lang="en-US" sz="2200" dirty="0">
                <a:latin typeface="+mj-lt"/>
              </a:rPr>
              <a:t>	Information  	</a:t>
            </a:r>
            <a:r>
              <a:rPr lang="en-US" sz="2200" dirty="0">
                <a:latin typeface="+mj-lt"/>
                <a:sym typeface="Monotype Sorts"/>
              </a:rPr>
              <a:t>&gt;</a:t>
            </a:r>
            <a:r>
              <a:rPr lang="en-US" sz="2200" dirty="0">
                <a:latin typeface="+mj-lt"/>
              </a:rPr>
              <a:t>	Acquired data</a:t>
            </a:r>
          </a:p>
          <a:p>
            <a:pPr algn="just"/>
            <a:r>
              <a:rPr lang="en-US" sz="2200" dirty="0">
                <a:latin typeface="+mj-lt"/>
              </a:rPr>
              <a:t>	Knowledge	</a:t>
            </a:r>
            <a:r>
              <a:rPr lang="en-US" sz="2200" dirty="0">
                <a:latin typeface="+mj-lt"/>
                <a:sym typeface="Monotype Sorts"/>
              </a:rPr>
              <a:t>&gt;</a:t>
            </a:r>
            <a:r>
              <a:rPr lang="en-US" sz="2200" dirty="0">
                <a:latin typeface="+mj-lt"/>
              </a:rPr>
              <a:t>	Useful information</a:t>
            </a:r>
          </a:p>
          <a:p>
            <a:pPr algn="just"/>
            <a:endParaRPr lang="en-US" sz="2200" b="0" dirty="0">
              <a:latin typeface="+mj-lt"/>
            </a:endParaRPr>
          </a:p>
          <a:p>
            <a:pPr algn="just"/>
            <a:r>
              <a:rPr lang="en-US" sz="2200" dirty="0">
                <a:latin typeface="+mj-lt"/>
              </a:rPr>
              <a:t>Data becomes information if they are of interest to an observer, who makes effort to acquire, and then the useful data is knowledge</a:t>
            </a:r>
          </a:p>
          <a:p>
            <a:pPr algn="just"/>
            <a:endParaRPr lang="en-US" sz="2200" b="0" dirty="0">
              <a:latin typeface="+mj-lt"/>
            </a:endParaRPr>
          </a:p>
          <a:p>
            <a:pPr algn="just"/>
            <a:r>
              <a:rPr lang="en-US" sz="2200" dirty="0" smtClean="0">
                <a:latin typeface="+mj-lt"/>
              </a:rPr>
              <a:t>Information</a:t>
            </a:r>
            <a:r>
              <a:rPr lang="en-US" sz="2200" dirty="0">
                <a:latin typeface="+mj-lt"/>
              </a:rPr>
              <a:t>	</a:t>
            </a:r>
            <a:r>
              <a:rPr lang="en-US" sz="2200" dirty="0" smtClean="0">
                <a:latin typeface="+mj-lt"/>
                <a:sym typeface="Monotype Sorts"/>
              </a:rPr>
              <a:t>&gt;</a:t>
            </a:r>
            <a:r>
              <a:rPr lang="en-US" sz="2200" dirty="0" smtClean="0">
                <a:latin typeface="+mj-lt"/>
              </a:rPr>
              <a:t>Transmission </a:t>
            </a:r>
            <a:r>
              <a:rPr lang="en-US" sz="2200" dirty="0">
                <a:latin typeface="+mj-lt"/>
              </a:rPr>
              <a:t>+ </a:t>
            </a:r>
            <a:r>
              <a:rPr lang="en-US" sz="2200" dirty="0" smtClean="0">
                <a:latin typeface="+mj-lt"/>
              </a:rPr>
              <a:t>Reception = Communication</a:t>
            </a:r>
            <a:endParaRPr lang="en-US" sz="2200" dirty="0">
              <a:latin typeface="+mj-lt"/>
            </a:endParaRPr>
          </a:p>
          <a:p>
            <a:pPr algn="just"/>
            <a:r>
              <a:rPr lang="en-US" sz="2200" dirty="0">
                <a:latin typeface="+mj-lt"/>
              </a:rPr>
              <a:t>		</a:t>
            </a:r>
            <a:r>
              <a:rPr lang="en-US" sz="2200" dirty="0" smtClean="0">
                <a:latin typeface="+mj-lt"/>
              </a:rPr>
              <a:t>   Storage</a:t>
            </a:r>
            <a:endParaRPr lang="en-US" sz="2200" dirty="0">
              <a:latin typeface="+mj-lt"/>
            </a:endParaRPr>
          </a:p>
          <a:p>
            <a:pPr algn="just"/>
            <a:r>
              <a:rPr lang="en-US" sz="2200" dirty="0">
                <a:latin typeface="+mj-lt"/>
              </a:rPr>
              <a:t>		</a:t>
            </a:r>
            <a:r>
              <a:rPr lang="en-US" sz="2200" dirty="0" smtClean="0">
                <a:latin typeface="+mj-lt"/>
              </a:rPr>
              <a:t>   Utilization</a:t>
            </a:r>
            <a:endParaRPr lang="en-US" sz="2200" dirty="0">
              <a:latin typeface="+mj-lt"/>
            </a:endParaRPr>
          </a:p>
        </p:txBody>
      </p:sp>
      <p:grpSp>
        <p:nvGrpSpPr>
          <p:cNvPr id="4" name="Group 15"/>
          <p:cNvGrpSpPr>
            <a:grpSpLocks/>
          </p:cNvGrpSpPr>
          <p:nvPr/>
        </p:nvGrpSpPr>
        <p:grpSpPr bwMode="auto">
          <a:xfrm>
            <a:off x="1905000" y="990600"/>
            <a:ext cx="5494206" cy="942968"/>
            <a:chOff x="3780" y="5184"/>
            <a:chExt cx="5760" cy="937"/>
          </a:xfrm>
        </p:grpSpPr>
        <p:sp>
          <p:nvSpPr>
            <p:cNvPr id="5" name="Text Box 16"/>
            <p:cNvSpPr txBox="1">
              <a:spLocks noChangeArrowheads="1"/>
            </p:cNvSpPr>
            <p:nvPr/>
          </p:nvSpPr>
          <p:spPr bwMode="auto">
            <a:xfrm>
              <a:off x="3780" y="5184"/>
              <a:ext cx="1260" cy="540"/>
            </a:xfrm>
            <a:prstGeom prst="rect">
              <a:avLst/>
            </a:prstGeom>
            <a:solidFill>
              <a:schemeClr val="accent1">
                <a:lumMod val="60000"/>
                <a:lumOff val="40000"/>
              </a:schemeClr>
            </a:solidFill>
            <a:ln w="9525">
              <a:solidFill>
                <a:srgbClr val="000000"/>
              </a:solidFill>
              <a:miter lim="800000"/>
              <a:headEnd/>
              <a:tailEnd/>
            </a:ln>
          </p:spPr>
          <p:txBody>
            <a:bodyPr/>
            <a:lstStyle/>
            <a:p>
              <a:pPr algn="ctr"/>
              <a:r>
                <a:rPr lang="en-US" sz="2000" dirty="0">
                  <a:latin typeface="Cambria" pitchFamily="18" charset="0"/>
                </a:rPr>
                <a:t>Source</a:t>
              </a:r>
            </a:p>
          </p:txBody>
        </p:sp>
        <p:sp>
          <p:nvSpPr>
            <p:cNvPr id="6" name="Text Box 17"/>
            <p:cNvSpPr txBox="1">
              <a:spLocks noChangeArrowheads="1"/>
            </p:cNvSpPr>
            <p:nvPr/>
          </p:nvSpPr>
          <p:spPr bwMode="auto">
            <a:xfrm>
              <a:off x="7740" y="5184"/>
              <a:ext cx="1800" cy="540"/>
            </a:xfrm>
            <a:prstGeom prst="rect">
              <a:avLst/>
            </a:prstGeom>
            <a:solidFill>
              <a:schemeClr val="accent1">
                <a:lumMod val="60000"/>
                <a:lumOff val="40000"/>
              </a:schemeClr>
            </a:solidFill>
            <a:ln w="9525">
              <a:solidFill>
                <a:srgbClr val="000000"/>
              </a:solidFill>
              <a:miter lim="800000"/>
              <a:headEnd/>
              <a:tailEnd/>
            </a:ln>
          </p:spPr>
          <p:txBody>
            <a:bodyPr/>
            <a:lstStyle/>
            <a:p>
              <a:pPr algn="ctr"/>
              <a:r>
                <a:rPr lang="en-US" sz="2000" dirty="0">
                  <a:latin typeface="Cambria" pitchFamily="18" charset="0"/>
                </a:rPr>
                <a:t>Destination</a:t>
              </a:r>
            </a:p>
          </p:txBody>
        </p:sp>
        <p:sp>
          <p:nvSpPr>
            <p:cNvPr id="7" name="AutoShape 18"/>
            <p:cNvSpPr>
              <a:spLocks noChangeArrowheads="1"/>
            </p:cNvSpPr>
            <p:nvPr/>
          </p:nvSpPr>
          <p:spPr bwMode="auto">
            <a:xfrm>
              <a:off x="5580" y="5184"/>
              <a:ext cx="1800" cy="397"/>
            </a:xfrm>
            <a:prstGeom prst="rightArrow">
              <a:avLst>
                <a:gd name="adj1" fmla="val 50000"/>
                <a:gd name="adj2" fmla="val 83333"/>
              </a:avLst>
            </a:prstGeom>
            <a:solidFill>
              <a:schemeClr val="accent1">
                <a:lumMod val="60000"/>
                <a:lumOff val="40000"/>
              </a:schemeClr>
            </a:solidFill>
            <a:ln w="9525">
              <a:solidFill>
                <a:schemeClr val="accent1">
                  <a:lumMod val="75000"/>
                </a:schemeClr>
              </a:solidFill>
              <a:miter lim="800000"/>
              <a:headEnd/>
              <a:tailEnd/>
            </a:ln>
          </p:spPr>
          <p:txBody>
            <a:bodyPr/>
            <a:lstStyle/>
            <a:p>
              <a:endParaRPr lang="en-IN"/>
            </a:p>
          </p:txBody>
        </p:sp>
        <p:sp>
          <p:nvSpPr>
            <p:cNvPr id="8" name="Text Box 19"/>
            <p:cNvSpPr txBox="1">
              <a:spLocks noChangeArrowheads="1"/>
            </p:cNvSpPr>
            <p:nvPr/>
          </p:nvSpPr>
          <p:spPr bwMode="auto">
            <a:xfrm>
              <a:off x="5612" y="5581"/>
              <a:ext cx="1800" cy="540"/>
            </a:xfrm>
            <a:prstGeom prst="rect">
              <a:avLst/>
            </a:prstGeom>
            <a:noFill/>
            <a:ln w="9525">
              <a:noFill/>
              <a:miter lim="800000"/>
              <a:headEnd/>
              <a:tailEnd/>
            </a:ln>
          </p:spPr>
          <p:txBody>
            <a:bodyPr/>
            <a:lstStyle/>
            <a:p>
              <a:pPr algn="ctr"/>
              <a:r>
                <a:rPr lang="en-US" sz="2100" dirty="0" smtClean="0">
                  <a:latin typeface="Cambria" pitchFamily="18" charset="0"/>
                </a:rPr>
                <a:t>Information</a:t>
              </a:r>
              <a:endParaRPr lang="en-US" sz="2100" dirty="0">
                <a:latin typeface="Cambria" pitchFamily="18" charset="0"/>
              </a:endParaRPr>
            </a:p>
          </p:txBody>
        </p:sp>
      </p:grpSp>
      <p:sp>
        <p:nvSpPr>
          <p:cNvPr id="9" name="Date Placeholder 8"/>
          <p:cNvSpPr>
            <a:spLocks noGrp="1"/>
          </p:cNvSpPr>
          <p:nvPr>
            <p:ph type="dt" sz="half" idx="10"/>
          </p:nvPr>
        </p:nvSpPr>
        <p:spPr/>
        <p:txBody>
          <a:bodyPr/>
          <a:lstStyle/>
          <a:p>
            <a:r>
              <a:rPr lang="en-US" smtClean="0"/>
              <a:t>Prof. A. K. Datta     University of Calcutta</a:t>
            </a:r>
            <a:endParaRPr lang="en-IN" dirty="0"/>
          </a:p>
        </p:txBody>
      </p:sp>
      <p:sp>
        <p:nvSpPr>
          <p:cNvPr id="10" name="Slide Number Placeholder 9"/>
          <p:cNvSpPr>
            <a:spLocks noGrp="1"/>
          </p:cNvSpPr>
          <p:nvPr>
            <p:ph type="sldNum" sz="quarter" idx="11"/>
          </p:nvPr>
        </p:nvSpPr>
        <p:spPr/>
        <p:txBody>
          <a:bodyPr/>
          <a:lstStyle/>
          <a:p>
            <a:fld id="{BF2D74FB-8EB9-4DEE-8258-980F8375AF4A}" type="slidenum">
              <a:rPr lang="en-IN" smtClean="0"/>
              <a:pPr/>
              <a:t>4</a:t>
            </a:fld>
            <a:endParaRPr lang="en-IN" dirty="0"/>
          </a:p>
        </p:txBody>
      </p:sp>
      <p:sp>
        <p:nvSpPr>
          <p:cNvPr id="11" name="Footer Placeholder 10"/>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457200" y="2590800"/>
            <a:ext cx="3810000" cy="26670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i="0" u="none" strike="noStrike" kern="0" cap="none" spc="0" normalizeH="0" baseline="0" noProof="0" dirty="0" smtClean="0">
                <a:ln>
                  <a:noFill/>
                </a:ln>
                <a:solidFill>
                  <a:schemeClr val="tx1"/>
                </a:solidFill>
                <a:effectLst/>
                <a:uLnTx/>
                <a:uFillTx/>
                <a:latin typeface="+mj-lt"/>
                <a:ea typeface="+mn-ea"/>
                <a:cs typeface="+mn-cs"/>
              </a:rPr>
              <a:t>Descriptive Statistics</a:t>
            </a:r>
          </a:p>
          <a:p>
            <a:pPr marL="342900" marR="0" lvl="0" indent="-342900" algn="just"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j-lt"/>
                <a:ea typeface="+mn-ea"/>
                <a:cs typeface="+mn-cs"/>
              </a:rPr>
              <a:t>Gives numerical and graphic procedures to summarize a collection of data in a clear and understandable way.  </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chemeClr val="tx1"/>
              </a:solidFill>
              <a:effectLst/>
              <a:uLnTx/>
              <a:uFillTx/>
              <a:latin typeface="Tahoma" pitchFamily="34" charset="0"/>
              <a:ea typeface="+mn-ea"/>
              <a:cs typeface="+mn-cs"/>
            </a:endParaRPr>
          </a:p>
        </p:txBody>
      </p:sp>
      <p:sp>
        <p:nvSpPr>
          <p:cNvPr id="4" name="Rectangle 4"/>
          <p:cNvSpPr txBox="1">
            <a:spLocks noChangeArrowheads="1"/>
          </p:cNvSpPr>
          <p:nvPr/>
        </p:nvSpPr>
        <p:spPr>
          <a:xfrm>
            <a:off x="4876800" y="2590800"/>
            <a:ext cx="3886200" cy="32004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i="0" u="none" strike="noStrike" kern="0" cap="none" spc="0" normalizeH="0" baseline="0" noProof="0" dirty="0" smtClean="0">
                <a:ln>
                  <a:noFill/>
                </a:ln>
                <a:solidFill>
                  <a:schemeClr val="tx1"/>
                </a:solidFill>
                <a:effectLst/>
                <a:uLnTx/>
                <a:uFillTx/>
                <a:latin typeface="+mj-lt"/>
                <a:ea typeface="+mn-ea"/>
                <a:cs typeface="+mn-cs"/>
              </a:rPr>
              <a:t>Inferential Statistics </a:t>
            </a:r>
          </a:p>
          <a:p>
            <a:pPr marL="342900" marR="0" lvl="0" indent="-342900" algn="just"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j-lt"/>
                <a:ea typeface="+mn-ea"/>
                <a:cs typeface="+mn-cs"/>
              </a:rPr>
              <a:t>Provides procedures to draw inferences about a </a:t>
            </a:r>
            <a:r>
              <a:rPr kumimoji="0" lang="en-US" sz="2400" b="1" i="0" u="none" strike="noStrike" kern="0" cap="none" spc="0" normalizeH="0" baseline="0" noProof="0" dirty="0" smtClean="0">
                <a:ln>
                  <a:noFill/>
                </a:ln>
                <a:solidFill>
                  <a:schemeClr val="accent1">
                    <a:lumMod val="50000"/>
                  </a:schemeClr>
                </a:solidFill>
                <a:effectLst/>
                <a:uLnTx/>
                <a:uFillTx/>
                <a:latin typeface="+mj-lt"/>
                <a:ea typeface="+mn-ea"/>
                <a:cs typeface="+mn-cs"/>
              </a:rPr>
              <a:t>population</a:t>
            </a:r>
            <a:r>
              <a:rPr kumimoji="0" lang="en-US" sz="2400" b="0" i="0" u="none" strike="noStrike" kern="0" cap="none" spc="0" normalizeH="0" baseline="0" noProof="0" dirty="0" smtClean="0">
                <a:ln>
                  <a:noFill/>
                </a:ln>
                <a:solidFill>
                  <a:schemeClr val="tx1"/>
                </a:solidFill>
                <a:effectLst/>
                <a:uLnTx/>
                <a:uFillTx/>
                <a:latin typeface="+mj-lt"/>
                <a:ea typeface="+mn-ea"/>
                <a:cs typeface="+mn-cs"/>
              </a:rPr>
              <a:t> from a </a:t>
            </a:r>
            <a:r>
              <a:rPr kumimoji="0" lang="en-US" sz="2400" b="1" i="0" u="none" strike="noStrike" kern="0" cap="none" spc="0" normalizeH="0" baseline="0" noProof="0" dirty="0" smtClean="0">
                <a:ln>
                  <a:noFill/>
                </a:ln>
                <a:solidFill>
                  <a:schemeClr val="accent1">
                    <a:lumMod val="50000"/>
                  </a:schemeClr>
                </a:solidFill>
                <a:effectLst/>
                <a:uLnTx/>
                <a:uFillTx/>
                <a:latin typeface="+mj-lt"/>
                <a:ea typeface="+mn-ea"/>
                <a:cs typeface="+mn-cs"/>
              </a:rPr>
              <a:t>sample</a:t>
            </a:r>
            <a:r>
              <a:rPr lang="en-US" sz="2400" kern="0" baseline="0" dirty="0" smtClean="0">
                <a:latin typeface="+mj-lt"/>
              </a:rPr>
              <a:t>,</a:t>
            </a:r>
            <a:r>
              <a:rPr lang="en-US" sz="2400" kern="0" dirty="0" smtClean="0">
                <a:latin typeface="+mj-lt"/>
              </a:rPr>
              <a:t> mainly concerned with estimation of parameter values and testing of hypothesis</a:t>
            </a:r>
            <a:r>
              <a:rPr kumimoji="0" lang="en-US" sz="2400" i="0" u="none" strike="noStrike" kern="0" cap="none" spc="0" normalizeH="0" baseline="0" noProof="0" dirty="0" smtClean="0">
                <a:ln>
                  <a:noFill/>
                </a:ln>
                <a:effectLst/>
                <a:uLnTx/>
                <a:uFillTx/>
                <a:latin typeface="+mj-lt"/>
                <a:ea typeface="+mn-ea"/>
                <a:cs typeface="+mn-cs"/>
              </a:rPr>
              <a:t> </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chemeClr val="tx1"/>
              </a:solidFill>
              <a:effectLst/>
              <a:uLnTx/>
              <a:uFillTx/>
              <a:latin typeface="Tahoma" pitchFamily="34" charset="0"/>
              <a:ea typeface="+mn-ea"/>
              <a:cs typeface="+mn-cs"/>
            </a:endParaRPr>
          </a:p>
        </p:txBody>
      </p:sp>
      <p:sp>
        <p:nvSpPr>
          <p:cNvPr id="5" name="Rectangle 4"/>
          <p:cNvSpPr/>
          <p:nvPr/>
        </p:nvSpPr>
        <p:spPr>
          <a:xfrm>
            <a:off x="685800" y="990600"/>
            <a:ext cx="7924800" cy="757130"/>
          </a:xfrm>
          <a:prstGeom prst="rect">
            <a:avLst/>
          </a:prstGeom>
        </p:spPr>
        <p:txBody>
          <a:bodyPr wrap="square">
            <a:spAutoFit/>
          </a:bodyPr>
          <a:lstStyle/>
          <a:p>
            <a:pPr algn="just">
              <a:lnSpc>
                <a:spcPct val="90000"/>
              </a:lnSpc>
            </a:pPr>
            <a:r>
              <a:rPr lang="en-US" sz="2400" dirty="0" smtClean="0">
                <a:latin typeface="+mn-lt"/>
              </a:rPr>
              <a:t>Statistics is a collection of tools used for converting raw data into information to help decision makers in their works. </a:t>
            </a:r>
          </a:p>
        </p:txBody>
      </p:sp>
      <p:sp>
        <p:nvSpPr>
          <p:cNvPr id="6" name="Date Placeholder 5"/>
          <p:cNvSpPr>
            <a:spLocks noGrp="1"/>
          </p:cNvSpPr>
          <p:nvPr>
            <p:ph type="dt" sz="half" idx="10"/>
          </p:nvPr>
        </p:nvSpPr>
        <p:spPr/>
        <p:txBody>
          <a:bodyPr/>
          <a:lstStyle/>
          <a:p>
            <a:r>
              <a:rPr lang="en-US" smtClean="0"/>
              <a:t>Prof. A. K. Datta     University of Calcutta</a:t>
            </a:r>
            <a:endParaRPr lang="en-IN" dirty="0"/>
          </a:p>
        </p:txBody>
      </p:sp>
      <p:sp>
        <p:nvSpPr>
          <p:cNvPr id="7" name="Slide Number Placeholder 6"/>
          <p:cNvSpPr>
            <a:spLocks noGrp="1"/>
          </p:cNvSpPr>
          <p:nvPr>
            <p:ph type="sldNum" sz="quarter" idx="11"/>
          </p:nvPr>
        </p:nvSpPr>
        <p:spPr/>
        <p:txBody>
          <a:bodyPr/>
          <a:lstStyle/>
          <a:p>
            <a:fld id="{BF2D74FB-8EB9-4DEE-8258-980F8375AF4A}" type="slidenum">
              <a:rPr lang="en-IN" smtClean="0"/>
              <a:pPr/>
              <a:t>5</a:t>
            </a:fld>
            <a:endParaRPr lang="en-IN" dirty="0"/>
          </a:p>
        </p:txBody>
      </p:sp>
      <p:sp>
        <p:nvSpPr>
          <p:cNvPr id="8" name="Footer Placeholder 7"/>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304800" y="914400"/>
            <a:ext cx="8839200" cy="2209800"/>
          </a:xfrm>
          <a:prstGeom prst="rect">
            <a:avLst/>
          </a:prstGeom>
        </p:spPr>
        <p:txBody>
          <a:bodyPr/>
          <a:lstStyle/>
          <a:p>
            <a:pPr marL="342900" marR="0" lvl="0" indent="-342900" algn="l" defTabSz="914400" rtl="0" eaLnBrk="0" fontAlgn="base" latinLnBrk="0" hangingPunct="0">
              <a:lnSpc>
                <a:spcPts val="3000"/>
              </a:lnSpc>
              <a:spcBef>
                <a:spcPct val="20000"/>
              </a:spcBef>
              <a:spcAft>
                <a:spcPct val="0"/>
              </a:spcAft>
              <a:buClrTx/>
              <a:buSzTx/>
              <a:buFontTx/>
              <a:buChar char="•"/>
              <a:tabLst/>
              <a:defRPr/>
            </a:pPr>
            <a:r>
              <a:rPr kumimoji="0" lang="en-US" sz="2400" b="1" i="0" u="none" strike="noStrike" kern="0" cap="none" spc="0" normalizeH="0" baseline="0" noProof="0" dirty="0" smtClean="0">
                <a:ln>
                  <a:noFill/>
                </a:ln>
                <a:solidFill>
                  <a:schemeClr val="accent1">
                    <a:lumMod val="50000"/>
                  </a:schemeClr>
                </a:solidFill>
                <a:effectLst/>
                <a:uLnTx/>
                <a:uFillTx/>
                <a:latin typeface="+mj-lt"/>
                <a:cs typeface="Arial" pitchFamily="34" charset="0"/>
              </a:rPr>
              <a:t>Population:</a:t>
            </a:r>
            <a:r>
              <a:rPr kumimoji="0" lang="en-US" sz="2400" b="0" i="0" u="none" strike="noStrike" kern="0" cap="none" spc="0" normalizeH="0" baseline="0" noProof="0" dirty="0" smtClean="0">
                <a:ln>
                  <a:noFill/>
                </a:ln>
                <a:solidFill>
                  <a:schemeClr val="tx1"/>
                </a:solidFill>
                <a:effectLst/>
                <a:uLnTx/>
                <a:uFillTx/>
                <a:latin typeface="+mj-lt"/>
                <a:cs typeface="Arial" pitchFamily="34" charset="0"/>
              </a:rPr>
              <a:t> the whole set of a “universe”</a:t>
            </a:r>
          </a:p>
          <a:p>
            <a:pPr marL="342900" marR="0" lvl="0" indent="-342900" algn="l" defTabSz="914400" rtl="0" eaLnBrk="0" fontAlgn="base" latinLnBrk="0" hangingPunct="0">
              <a:lnSpc>
                <a:spcPts val="3000"/>
              </a:lnSpc>
              <a:spcBef>
                <a:spcPct val="20000"/>
              </a:spcBef>
              <a:spcAft>
                <a:spcPct val="0"/>
              </a:spcAft>
              <a:buClrTx/>
              <a:buSzTx/>
              <a:buFontTx/>
              <a:buChar char="•"/>
              <a:tabLst/>
              <a:defRPr/>
            </a:pPr>
            <a:r>
              <a:rPr kumimoji="0" lang="en-US" sz="2400" b="1" i="0" u="none" strike="noStrike" kern="0" cap="none" spc="0" normalizeH="0" baseline="0" noProof="0" dirty="0" smtClean="0">
                <a:ln>
                  <a:noFill/>
                </a:ln>
                <a:solidFill>
                  <a:schemeClr val="accent1">
                    <a:lumMod val="50000"/>
                  </a:schemeClr>
                </a:solidFill>
                <a:effectLst/>
                <a:uLnTx/>
                <a:uFillTx/>
                <a:latin typeface="+mj-lt"/>
                <a:cs typeface="Arial" pitchFamily="34" charset="0"/>
              </a:rPr>
              <a:t>Sample</a:t>
            </a:r>
            <a:r>
              <a:rPr kumimoji="0" lang="en-US" sz="2400" b="0" i="0" u="none" strike="noStrike" kern="0" cap="none" spc="0" normalizeH="0" baseline="0" noProof="0" dirty="0" smtClean="0">
                <a:ln>
                  <a:noFill/>
                </a:ln>
                <a:solidFill>
                  <a:schemeClr val="tx1"/>
                </a:solidFill>
                <a:effectLst/>
                <a:uLnTx/>
                <a:uFillTx/>
                <a:latin typeface="+mj-lt"/>
                <a:cs typeface="Arial" pitchFamily="34" charset="0"/>
              </a:rPr>
              <a:t>: a sub-set of a population</a:t>
            </a:r>
          </a:p>
          <a:p>
            <a:pPr marL="342900" marR="0" lvl="0" indent="-342900" algn="l" defTabSz="914400" rtl="0" eaLnBrk="0" fontAlgn="base" latinLnBrk="0" hangingPunct="0">
              <a:lnSpc>
                <a:spcPts val="3000"/>
              </a:lnSpc>
              <a:spcBef>
                <a:spcPct val="20000"/>
              </a:spcBef>
              <a:spcAft>
                <a:spcPct val="0"/>
              </a:spcAft>
              <a:buClrTx/>
              <a:buSzTx/>
              <a:buFontTx/>
              <a:buChar char="•"/>
              <a:tabLst/>
              <a:defRPr/>
            </a:pPr>
            <a:r>
              <a:rPr kumimoji="0" lang="en-US" sz="2400" b="1" i="0" u="none" strike="noStrike" kern="0" cap="none" spc="0" normalizeH="0" baseline="0" noProof="0" dirty="0" smtClean="0">
                <a:ln>
                  <a:noFill/>
                </a:ln>
                <a:solidFill>
                  <a:schemeClr val="accent1">
                    <a:lumMod val="50000"/>
                  </a:schemeClr>
                </a:solidFill>
                <a:effectLst/>
                <a:uLnTx/>
                <a:uFillTx/>
                <a:latin typeface="+mj-lt"/>
                <a:cs typeface="Arial" pitchFamily="34" charset="0"/>
              </a:rPr>
              <a:t>Parameter</a:t>
            </a:r>
            <a:r>
              <a:rPr kumimoji="0" lang="en-US" sz="2400" b="0" i="0" u="none" strike="noStrike" kern="0" cap="none" spc="0" normalizeH="0" baseline="0" noProof="0" dirty="0" smtClean="0">
                <a:ln>
                  <a:noFill/>
                </a:ln>
                <a:solidFill>
                  <a:schemeClr val="tx1"/>
                </a:solidFill>
                <a:effectLst/>
                <a:uLnTx/>
                <a:uFillTx/>
                <a:latin typeface="+mj-lt"/>
                <a:cs typeface="Arial" pitchFamily="34" charset="0"/>
              </a:rPr>
              <a:t>: an unknown “fixed” value of population characteristic</a:t>
            </a:r>
          </a:p>
          <a:p>
            <a:pPr marL="342900" marR="0" lvl="0" indent="-342900" algn="l" defTabSz="914400" rtl="0" eaLnBrk="0" fontAlgn="base" latinLnBrk="0" hangingPunct="0">
              <a:lnSpc>
                <a:spcPts val="3000"/>
              </a:lnSpc>
              <a:spcBef>
                <a:spcPct val="20000"/>
              </a:spcBef>
              <a:spcAft>
                <a:spcPct val="0"/>
              </a:spcAft>
              <a:buClrTx/>
              <a:buSzTx/>
              <a:buFontTx/>
              <a:buChar char="•"/>
              <a:tabLst/>
              <a:defRPr/>
            </a:pPr>
            <a:r>
              <a:rPr kumimoji="0" lang="en-US" sz="2400" b="1" i="0" u="none" strike="noStrike" kern="0" cap="none" spc="0" normalizeH="0" baseline="0" noProof="0" dirty="0" smtClean="0">
                <a:ln>
                  <a:noFill/>
                </a:ln>
                <a:solidFill>
                  <a:schemeClr val="accent1">
                    <a:lumMod val="50000"/>
                  </a:schemeClr>
                </a:solidFill>
                <a:effectLst/>
                <a:uLnTx/>
                <a:uFillTx/>
                <a:latin typeface="+mj-lt"/>
                <a:cs typeface="Arial" pitchFamily="34" charset="0"/>
              </a:rPr>
              <a:t>Statistics</a:t>
            </a:r>
            <a:r>
              <a:rPr kumimoji="0" lang="en-US" sz="2400" b="0" i="0" u="none" strike="noStrike" kern="0" cap="none" spc="0" normalizeH="0" baseline="0" noProof="0" dirty="0" smtClean="0">
                <a:ln>
                  <a:noFill/>
                </a:ln>
                <a:solidFill>
                  <a:schemeClr val="accent1">
                    <a:lumMod val="50000"/>
                  </a:schemeClr>
                </a:solidFill>
                <a:effectLst/>
                <a:uLnTx/>
                <a:uFillTx/>
                <a:latin typeface="+mj-lt"/>
                <a:cs typeface="Arial" pitchFamily="34" charset="0"/>
              </a:rPr>
              <a:t>:</a:t>
            </a:r>
            <a:r>
              <a:rPr kumimoji="0" lang="en-US" sz="2400" b="0" i="0" u="none" strike="noStrike" kern="0" cap="none" spc="0" normalizeH="0" baseline="0" noProof="0" dirty="0" smtClean="0">
                <a:ln>
                  <a:noFill/>
                </a:ln>
                <a:solidFill>
                  <a:schemeClr val="tx1"/>
                </a:solidFill>
                <a:effectLst/>
                <a:uLnTx/>
                <a:uFillTx/>
                <a:latin typeface="+mj-lt"/>
                <a:cs typeface="Arial" pitchFamily="34" charset="0"/>
              </a:rPr>
              <a:t> a known/calculable value of sample characteristic representing that of the population</a:t>
            </a:r>
            <a:r>
              <a:rPr kumimoji="0" lang="en-US" sz="2000" b="0" i="0" u="none" strike="noStrike" kern="0" cap="none" spc="0" normalizeH="0" baseline="0" noProof="0" dirty="0" smtClean="0">
                <a:ln>
                  <a:noFill/>
                </a:ln>
                <a:solidFill>
                  <a:schemeClr val="tx1"/>
                </a:solidFill>
                <a:effectLst/>
                <a:uLnTx/>
                <a:uFillTx/>
                <a:latin typeface="Arial" pitchFamily="34" charset="0"/>
                <a:cs typeface="Arial" pitchFamily="34" charset="0"/>
              </a:rPr>
              <a:t>. </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None/>
              <a:tabLst/>
              <a:defRPr/>
            </a:pPr>
            <a:r>
              <a:rPr kumimoji="0" lang="en-US" sz="2000" b="0" i="0" u="none" strike="noStrike" kern="0" cap="none" spc="0" normalizeH="0" baseline="0" noProof="0" dirty="0" smtClean="0">
                <a:ln>
                  <a:noFill/>
                </a:ln>
                <a:solidFill>
                  <a:schemeClr val="tx1"/>
                </a:solidFill>
                <a:effectLst/>
                <a:uLnTx/>
                <a:uFillTx/>
                <a:latin typeface="+mn-lt"/>
                <a:ea typeface="+mn-ea"/>
                <a:cs typeface="+mn-cs"/>
              </a:rPr>
              <a:t>    </a:t>
            </a:r>
          </a:p>
        </p:txBody>
      </p:sp>
      <p:sp>
        <p:nvSpPr>
          <p:cNvPr id="4" name="Rectangle 3"/>
          <p:cNvSpPr txBox="1">
            <a:spLocks noChangeArrowheads="1"/>
          </p:cNvSpPr>
          <p:nvPr/>
        </p:nvSpPr>
        <p:spPr>
          <a:xfrm>
            <a:off x="228600" y="3124201"/>
            <a:ext cx="8534400" cy="2971800"/>
          </a:xfrm>
          <a:prstGeom prst="rect">
            <a:avLst/>
          </a:prstGeom>
        </p:spPr>
        <p:txBody>
          <a:bodyPr/>
          <a:lstStyle/>
          <a:p>
            <a:pPr marL="342900" marR="0" lvl="0" indent="-342900" algn="l" defTabSz="914400" rtl="0" eaLnBrk="0" fontAlgn="base" latinLnBrk="0" hangingPunct="0">
              <a:lnSpc>
                <a:spcPts val="3000"/>
              </a:lnSpc>
              <a:spcBef>
                <a:spcPct val="20000"/>
              </a:spcBef>
              <a:spcAft>
                <a:spcPct val="0"/>
              </a:spcAft>
              <a:buClrTx/>
              <a:buSzTx/>
              <a:buFontTx/>
              <a:buChar char="•"/>
              <a:tabLst/>
              <a:defRPr/>
            </a:pPr>
            <a:r>
              <a:rPr kumimoji="0" lang="en-US" sz="2400" b="1" i="0" u="none" strike="noStrike" kern="0" cap="none" spc="0" normalizeH="0" baseline="0" noProof="0" dirty="0" smtClean="0">
                <a:ln>
                  <a:noFill/>
                </a:ln>
                <a:solidFill>
                  <a:schemeClr val="accent1">
                    <a:lumMod val="50000"/>
                  </a:schemeClr>
                </a:solidFill>
                <a:effectLst/>
                <a:uLnTx/>
                <a:uFillTx/>
                <a:latin typeface="+mj-lt"/>
                <a:cs typeface="Arial" pitchFamily="34" charset="0"/>
              </a:rPr>
              <a:t>Randomness</a:t>
            </a:r>
            <a:r>
              <a:rPr kumimoji="0" lang="en-US" sz="2400" b="1" i="0" u="none" strike="noStrike" kern="0" cap="none" spc="0" normalizeH="0" baseline="0" noProof="0" dirty="0" smtClean="0">
                <a:ln>
                  <a:noFill/>
                </a:ln>
                <a:solidFill>
                  <a:schemeClr val="tx1"/>
                </a:solidFill>
                <a:effectLst/>
                <a:uLnTx/>
                <a:uFillTx/>
                <a:latin typeface="+mj-lt"/>
                <a:cs typeface="Arial" pitchFamily="34" charset="0"/>
              </a:rPr>
              <a:t>:</a:t>
            </a:r>
            <a:r>
              <a:rPr kumimoji="0" lang="en-US" sz="2400" b="0" i="0" u="none" strike="noStrike" kern="0" cap="none" spc="0" normalizeH="0" baseline="0" noProof="0" dirty="0" smtClean="0">
                <a:ln>
                  <a:noFill/>
                </a:ln>
                <a:solidFill>
                  <a:schemeClr val="tx1"/>
                </a:solidFill>
                <a:effectLst/>
                <a:uLnTx/>
                <a:uFillTx/>
                <a:latin typeface="+mj-lt"/>
                <a:cs typeface="Arial" pitchFamily="34" charset="0"/>
              </a:rPr>
              <a:t> Many things occur by pure chances…rainfall, disease, birth, death,..</a:t>
            </a:r>
          </a:p>
          <a:p>
            <a:pPr marL="342900" marR="0" lvl="0" indent="-342900" algn="l" defTabSz="914400" rtl="0" eaLnBrk="0" fontAlgn="base" latinLnBrk="0" hangingPunct="0">
              <a:lnSpc>
                <a:spcPts val="3000"/>
              </a:lnSpc>
              <a:spcBef>
                <a:spcPct val="20000"/>
              </a:spcBef>
              <a:spcAft>
                <a:spcPct val="0"/>
              </a:spcAft>
              <a:buClrTx/>
              <a:buSzTx/>
              <a:buFontTx/>
              <a:buChar char="•"/>
              <a:tabLst/>
              <a:defRPr/>
            </a:pPr>
            <a:r>
              <a:rPr kumimoji="0" lang="en-US" sz="2400" b="1" i="0" u="none" strike="noStrike" kern="0" cap="none" spc="0" normalizeH="0" baseline="0" noProof="0" dirty="0" smtClean="0">
                <a:ln>
                  <a:noFill/>
                </a:ln>
                <a:solidFill>
                  <a:schemeClr val="accent1">
                    <a:lumMod val="50000"/>
                  </a:schemeClr>
                </a:solidFill>
                <a:effectLst/>
                <a:uLnTx/>
                <a:uFillTx/>
                <a:latin typeface="+mj-lt"/>
                <a:cs typeface="Arial" pitchFamily="34" charset="0"/>
              </a:rPr>
              <a:t>Variability</a:t>
            </a:r>
            <a:r>
              <a:rPr kumimoji="0" lang="en-US" sz="2400" b="0" i="0" u="none" strike="noStrike" kern="0" cap="none" spc="0" normalizeH="0" baseline="0" noProof="0" dirty="0" smtClean="0">
                <a:ln>
                  <a:noFill/>
                </a:ln>
                <a:solidFill>
                  <a:schemeClr val="tx1"/>
                </a:solidFill>
                <a:effectLst/>
                <a:uLnTx/>
                <a:uFillTx/>
                <a:latin typeface="+mj-lt"/>
                <a:cs typeface="Arial" pitchFamily="34" charset="0"/>
              </a:rPr>
              <a:t>: Stochastic processes bring in them various different dimensions, characteristics, properties, features, etc., in the population</a:t>
            </a:r>
          </a:p>
          <a:p>
            <a:pPr marL="342900" marR="0" lvl="0" indent="-342900" algn="l" defTabSz="914400" rtl="0" eaLnBrk="0" fontAlgn="base" latinLnBrk="0" hangingPunct="0">
              <a:lnSpc>
                <a:spcPts val="3000"/>
              </a:lnSpc>
              <a:spcBef>
                <a:spcPct val="20000"/>
              </a:spcBef>
              <a:spcAft>
                <a:spcPct val="0"/>
              </a:spcAft>
              <a:buClrTx/>
              <a:buSzTx/>
              <a:buFontTx/>
              <a:buChar char="•"/>
              <a:tabLst/>
              <a:defRPr/>
            </a:pPr>
            <a:r>
              <a:rPr kumimoji="0" lang="en-US" sz="2400" b="1" i="0" u="none" strike="noStrike" kern="0" cap="none" spc="0" normalizeH="0" baseline="0" noProof="0" dirty="0" smtClean="0">
                <a:ln>
                  <a:noFill/>
                </a:ln>
                <a:solidFill>
                  <a:schemeClr val="accent1">
                    <a:lumMod val="50000"/>
                  </a:schemeClr>
                </a:solidFill>
                <a:effectLst/>
                <a:uLnTx/>
                <a:uFillTx/>
                <a:latin typeface="+mj-lt"/>
                <a:cs typeface="Arial" pitchFamily="34" charset="0"/>
              </a:rPr>
              <a:t>Statistical analysis methods </a:t>
            </a:r>
            <a:r>
              <a:rPr kumimoji="0" lang="en-US" sz="2400" b="0" i="0" u="none" strike="noStrike" kern="0" cap="none" spc="0" normalizeH="0" baseline="0" noProof="0" dirty="0" smtClean="0">
                <a:ln>
                  <a:noFill/>
                </a:ln>
                <a:solidFill>
                  <a:schemeClr val="tx1"/>
                </a:solidFill>
                <a:effectLst/>
                <a:uLnTx/>
                <a:uFillTx/>
                <a:latin typeface="+mj-lt"/>
                <a:cs typeface="Arial" pitchFamily="34" charset="0"/>
              </a:rPr>
              <a:t>have been developed to deal with these very nature of real world.</a:t>
            </a:r>
            <a:endParaRPr kumimoji="0" lang="en-US" sz="2400" b="0" i="0" u="none" strike="noStrike" kern="0" cap="none" spc="0" normalizeH="0" baseline="0" noProof="0" dirty="0">
              <a:ln>
                <a:noFill/>
              </a:ln>
              <a:solidFill>
                <a:schemeClr val="tx1"/>
              </a:solidFill>
              <a:effectLst/>
              <a:uLnTx/>
              <a:uFillTx/>
              <a:latin typeface="+mj-lt"/>
              <a:cs typeface="Arial" pitchFamily="34" charset="0"/>
            </a:endParaRPr>
          </a:p>
        </p:txBody>
      </p:sp>
      <p:sp>
        <p:nvSpPr>
          <p:cNvPr id="5" name="TextBox 4"/>
          <p:cNvSpPr txBox="1"/>
          <p:nvPr/>
        </p:nvSpPr>
        <p:spPr>
          <a:xfrm>
            <a:off x="1752600" y="0"/>
            <a:ext cx="5943600" cy="523220"/>
          </a:xfrm>
          <a:prstGeom prst="rect">
            <a:avLst/>
          </a:prstGeom>
          <a:noFill/>
        </p:spPr>
        <p:txBody>
          <a:bodyPr wrap="square" rtlCol="0">
            <a:spAutoFit/>
          </a:bodyPr>
          <a:lstStyle/>
          <a:p>
            <a:pPr algn="ctr"/>
            <a:r>
              <a:rPr lang="en-IN" sz="2800" dirty="0" smtClean="0"/>
              <a:t>Basic terminology</a:t>
            </a:r>
            <a:endParaRPr lang="en-IN" sz="2800" dirty="0"/>
          </a:p>
        </p:txBody>
      </p:sp>
      <p:sp>
        <p:nvSpPr>
          <p:cNvPr id="6" name="Date Placeholder 5"/>
          <p:cNvSpPr>
            <a:spLocks noGrp="1"/>
          </p:cNvSpPr>
          <p:nvPr>
            <p:ph type="dt" sz="half" idx="10"/>
          </p:nvPr>
        </p:nvSpPr>
        <p:spPr/>
        <p:txBody>
          <a:bodyPr/>
          <a:lstStyle/>
          <a:p>
            <a:r>
              <a:rPr lang="en-US" smtClean="0"/>
              <a:t>Prof. A. K. Datta     University of Calcutta</a:t>
            </a:r>
            <a:endParaRPr lang="en-IN" dirty="0"/>
          </a:p>
        </p:txBody>
      </p:sp>
      <p:sp>
        <p:nvSpPr>
          <p:cNvPr id="7" name="Slide Number Placeholder 6"/>
          <p:cNvSpPr>
            <a:spLocks noGrp="1"/>
          </p:cNvSpPr>
          <p:nvPr>
            <p:ph type="sldNum" sz="quarter" idx="11"/>
          </p:nvPr>
        </p:nvSpPr>
        <p:spPr/>
        <p:txBody>
          <a:bodyPr/>
          <a:lstStyle/>
          <a:p>
            <a:fld id="{BF2D74FB-8EB9-4DEE-8258-980F8375AF4A}" type="slidenum">
              <a:rPr lang="en-IN" smtClean="0"/>
              <a:pPr/>
              <a:t>6</a:t>
            </a:fld>
            <a:endParaRPr lang="en-IN" dirty="0"/>
          </a:p>
        </p:txBody>
      </p:sp>
      <p:sp>
        <p:nvSpPr>
          <p:cNvPr id="8" name="Footer Placeholder 7"/>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00034" y="0"/>
            <a:ext cx="8229600" cy="1143000"/>
          </a:xfrm>
        </p:spPr>
        <p:txBody>
          <a:bodyPr/>
          <a:lstStyle/>
          <a:p>
            <a:r>
              <a:rPr lang="en-GB" dirty="0"/>
              <a:t>Types of </a:t>
            </a:r>
            <a:r>
              <a:rPr lang="en-GB" dirty="0" smtClean="0"/>
              <a:t>data</a:t>
            </a:r>
            <a:endParaRPr lang="en-GB" dirty="0"/>
          </a:p>
        </p:txBody>
      </p:sp>
      <p:sp>
        <p:nvSpPr>
          <p:cNvPr id="7171" name="Rectangle 3"/>
          <p:cNvSpPr>
            <a:spLocks noGrp="1" noChangeArrowheads="1"/>
          </p:cNvSpPr>
          <p:nvPr>
            <p:ph type="body" idx="1"/>
          </p:nvPr>
        </p:nvSpPr>
        <p:spPr>
          <a:xfrm>
            <a:off x="571472" y="785795"/>
            <a:ext cx="8229600" cy="2643206"/>
          </a:xfrm>
        </p:spPr>
        <p:txBody>
          <a:bodyPr/>
          <a:lstStyle/>
          <a:p>
            <a:r>
              <a:rPr lang="en-GB" b="1" dirty="0">
                <a:solidFill>
                  <a:srgbClr val="0000CC"/>
                </a:solidFill>
              </a:rPr>
              <a:t>Nominal data</a:t>
            </a:r>
            <a:r>
              <a:rPr lang="en-GB" b="1" dirty="0">
                <a:solidFill>
                  <a:schemeClr val="accent1"/>
                </a:solidFill>
              </a:rPr>
              <a:t>:</a:t>
            </a:r>
            <a:r>
              <a:rPr lang="en-GB" dirty="0"/>
              <a:t> data that has names. </a:t>
            </a:r>
            <a:r>
              <a:rPr lang="en-GB" dirty="0" err="1"/>
              <a:t>eg</a:t>
            </a:r>
            <a:r>
              <a:rPr lang="en-GB" dirty="0"/>
              <a:t>: rock types (sedimentary, igneous or metamorphic).</a:t>
            </a:r>
          </a:p>
          <a:p>
            <a:endParaRPr lang="en-GB" dirty="0"/>
          </a:p>
          <a:p>
            <a:r>
              <a:rPr lang="en-GB" b="1" dirty="0">
                <a:solidFill>
                  <a:srgbClr val="0000CC"/>
                </a:solidFill>
              </a:rPr>
              <a:t>Ordinal data</a:t>
            </a:r>
            <a:r>
              <a:rPr lang="en-GB" b="1" dirty="0">
                <a:solidFill>
                  <a:schemeClr val="accent1"/>
                </a:solidFill>
              </a:rPr>
              <a:t>:</a:t>
            </a:r>
            <a:r>
              <a:rPr lang="en-GB" dirty="0"/>
              <a:t> data that can be placed in ascending or descending order. </a:t>
            </a:r>
            <a:r>
              <a:rPr lang="en-GB" dirty="0" err="1"/>
              <a:t>eg</a:t>
            </a:r>
            <a:r>
              <a:rPr lang="en-GB" dirty="0"/>
              <a:t>: settlement type (city, town, village &amp; hamlet).</a:t>
            </a:r>
          </a:p>
        </p:txBody>
      </p:sp>
      <p:sp>
        <p:nvSpPr>
          <p:cNvPr id="5" name="Rectangle 3"/>
          <p:cNvSpPr txBox="1">
            <a:spLocks noChangeArrowheads="1"/>
          </p:cNvSpPr>
          <p:nvPr/>
        </p:nvSpPr>
        <p:spPr>
          <a:xfrm>
            <a:off x="557242" y="3429000"/>
            <a:ext cx="8229600" cy="2043114"/>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GB" sz="2400" b="1" i="0" u="none" strike="noStrike" kern="0" cap="none" spc="0" normalizeH="0" baseline="0" noProof="0" dirty="0" smtClean="0">
                <a:ln>
                  <a:noFill/>
                </a:ln>
                <a:solidFill>
                  <a:srgbClr val="0000CC"/>
                </a:solidFill>
                <a:effectLst/>
                <a:uLnTx/>
                <a:uFillTx/>
                <a:latin typeface="+mn-lt"/>
                <a:ea typeface="+mn-ea"/>
                <a:cs typeface="+mn-cs"/>
              </a:rPr>
              <a:t>Interval data:</a:t>
            </a:r>
            <a:r>
              <a:rPr kumimoji="0" lang="en-GB" sz="2400" b="0" i="0" u="none" strike="noStrike" kern="0" cap="none" spc="0" normalizeH="0" baseline="0" noProof="0" dirty="0" smtClean="0">
                <a:ln>
                  <a:noFill/>
                </a:ln>
                <a:solidFill>
                  <a:srgbClr val="0000CC"/>
                </a:solidFill>
                <a:effectLst/>
                <a:uLnTx/>
                <a:uFillTx/>
                <a:latin typeface="+mn-lt"/>
                <a:ea typeface="+mn-ea"/>
                <a:cs typeface="+mn-cs"/>
              </a:rPr>
              <a:t> </a:t>
            </a:r>
            <a:r>
              <a:rPr kumimoji="0" lang="en-GB" sz="2400" b="0" i="0" u="none" strike="noStrike" kern="0" cap="none" spc="0" normalizeH="0" baseline="0" noProof="0" dirty="0" smtClean="0">
                <a:ln>
                  <a:noFill/>
                </a:ln>
                <a:solidFill>
                  <a:schemeClr val="tx1"/>
                </a:solidFill>
                <a:effectLst/>
                <a:uLnTx/>
                <a:uFillTx/>
                <a:latin typeface="+mn-lt"/>
                <a:ea typeface="+mn-ea"/>
                <a:cs typeface="+mn-cs"/>
              </a:rPr>
              <a:t>data with no true zero. Very uncommon so don’t worry about it.</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GB"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GB" sz="2400" b="1" i="0" u="none" strike="noStrike" kern="0" cap="none" spc="0" normalizeH="0" baseline="0" noProof="0" dirty="0" smtClean="0">
                <a:ln>
                  <a:noFill/>
                </a:ln>
                <a:solidFill>
                  <a:srgbClr val="0000CC"/>
                </a:solidFill>
                <a:effectLst/>
                <a:uLnTx/>
                <a:uFillTx/>
                <a:latin typeface="+mn-lt"/>
                <a:ea typeface="+mn-ea"/>
                <a:cs typeface="+mn-cs"/>
              </a:rPr>
              <a:t>Ratio data:</a:t>
            </a:r>
            <a:r>
              <a:rPr kumimoji="0" lang="en-GB" sz="2400" b="0" i="0" u="none" strike="noStrike" kern="0" cap="none" spc="0" normalizeH="0" baseline="0" noProof="0" dirty="0" smtClean="0">
                <a:ln>
                  <a:noFill/>
                </a:ln>
                <a:solidFill>
                  <a:srgbClr val="0000CC"/>
                </a:solidFill>
                <a:effectLst/>
                <a:uLnTx/>
                <a:uFillTx/>
                <a:latin typeface="+mn-lt"/>
                <a:ea typeface="+mn-ea"/>
                <a:cs typeface="+mn-cs"/>
              </a:rPr>
              <a:t> </a:t>
            </a:r>
            <a:r>
              <a:rPr kumimoji="0" lang="en-GB" sz="2400" b="0" i="0" u="none" strike="noStrike" kern="0" cap="none" spc="0" normalizeH="0" baseline="0" noProof="0" dirty="0" smtClean="0">
                <a:ln>
                  <a:noFill/>
                </a:ln>
                <a:solidFill>
                  <a:schemeClr val="tx1"/>
                </a:solidFill>
                <a:effectLst/>
                <a:uLnTx/>
                <a:uFillTx/>
                <a:latin typeface="+mn-lt"/>
                <a:ea typeface="+mn-ea"/>
                <a:cs typeface="+mn-cs"/>
              </a:rPr>
              <a:t>most numerical data.</a:t>
            </a:r>
            <a:endParaRPr kumimoji="0" lang="en-GB"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859138" name="Picture 2"/>
          <p:cNvPicPr>
            <a:picLocks noChangeAspect="1" noChangeArrowheads="1"/>
          </p:cNvPicPr>
          <p:nvPr/>
        </p:nvPicPr>
        <p:blipFill>
          <a:blip r:embed="rId2"/>
          <a:srcRect b="9763"/>
          <a:stretch>
            <a:fillRect/>
          </a:stretch>
        </p:blipFill>
        <p:spPr bwMode="auto">
          <a:xfrm>
            <a:off x="609600" y="1066800"/>
            <a:ext cx="3420000" cy="2057400"/>
          </a:xfrm>
          <a:prstGeom prst="rect">
            <a:avLst/>
          </a:prstGeom>
          <a:noFill/>
          <a:ln w="9525">
            <a:noFill/>
            <a:miter lim="800000"/>
            <a:headEnd/>
            <a:tailEnd/>
          </a:ln>
          <a:effectLst/>
        </p:spPr>
      </p:pic>
      <p:pic>
        <p:nvPicPr>
          <p:cNvPr id="859139" name="Picture 3"/>
          <p:cNvPicPr>
            <a:picLocks noChangeAspect="1" noChangeArrowheads="1"/>
          </p:cNvPicPr>
          <p:nvPr/>
        </p:nvPicPr>
        <p:blipFill>
          <a:blip r:embed="rId3"/>
          <a:srcRect b="11647"/>
          <a:stretch>
            <a:fillRect/>
          </a:stretch>
        </p:blipFill>
        <p:spPr bwMode="auto">
          <a:xfrm>
            <a:off x="5105400" y="762000"/>
            <a:ext cx="3708000" cy="2286000"/>
          </a:xfrm>
          <a:prstGeom prst="rect">
            <a:avLst/>
          </a:prstGeom>
          <a:noFill/>
          <a:ln w="9525">
            <a:noFill/>
            <a:miter lim="800000"/>
            <a:headEnd/>
            <a:tailEnd/>
          </a:ln>
          <a:effectLst/>
        </p:spPr>
      </p:pic>
      <p:pic>
        <p:nvPicPr>
          <p:cNvPr id="859140" name="Picture 4"/>
          <p:cNvPicPr>
            <a:picLocks noChangeAspect="1" noChangeArrowheads="1"/>
          </p:cNvPicPr>
          <p:nvPr/>
        </p:nvPicPr>
        <p:blipFill>
          <a:blip r:embed="rId4"/>
          <a:srcRect b="5143"/>
          <a:stretch>
            <a:fillRect/>
          </a:stretch>
        </p:blipFill>
        <p:spPr bwMode="auto">
          <a:xfrm>
            <a:off x="609600" y="3810000"/>
            <a:ext cx="3204000" cy="2133600"/>
          </a:xfrm>
          <a:prstGeom prst="rect">
            <a:avLst/>
          </a:prstGeom>
          <a:noFill/>
          <a:ln w="9525">
            <a:noFill/>
            <a:miter lim="800000"/>
            <a:headEnd/>
            <a:tailEnd/>
          </a:ln>
          <a:effectLst/>
        </p:spPr>
      </p:pic>
      <p:pic>
        <p:nvPicPr>
          <p:cNvPr id="859141" name="Picture 5"/>
          <p:cNvPicPr>
            <a:picLocks noChangeAspect="1" noChangeArrowheads="1"/>
          </p:cNvPicPr>
          <p:nvPr/>
        </p:nvPicPr>
        <p:blipFill>
          <a:blip r:embed="rId5"/>
          <a:srcRect b="11830"/>
          <a:stretch>
            <a:fillRect/>
          </a:stretch>
        </p:blipFill>
        <p:spPr bwMode="auto">
          <a:xfrm>
            <a:off x="5334000" y="3733797"/>
            <a:ext cx="3348000" cy="2057403"/>
          </a:xfrm>
          <a:prstGeom prst="rect">
            <a:avLst/>
          </a:prstGeom>
          <a:noFill/>
          <a:ln w="9525">
            <a:noFill/>
            <a:miter lim="800000"/>
            <a:headEnd/>
            <a:tailEnd/>
          </a:ln>
          <a:effectLst/>
        </p:spPr>
      </p:pic>
      <p:sp>
        <p:nvSpPr>
          <p:cNvPr id="15" name="TextBox 14"/>
          <p:cNvSpPr txBox="1"/>
          <p:nvPr/>
        </p:nvSpPr>
        <p:spPr>
          <a:xfrm>
            <a:off x="1524000" y="0"/>
            <a:ext cx="6096000" cy="523220"/>
          </a:xfrm>
          <a:prstGeom prst="rect">
            <a:avLst/>
          </a:prstGeom>
          <a:noFill/>
        </p:spPr>
        <p:txBody>
          <a:bodyPr wrap="square" rtlCol="0">
            <a:spAutoFit/>
          </a:bodyPr>
          <a:lstStyle/>
          <a:p>
            <a:pPr algn="ctr"/>
            <a:r>
              <a:rPr lang="en-IN" sz="2800" dirty="0" smtClean="0"/>
              <a:t>Typical data distribution</a:t>
            </a:r>
            <a:endParaRPr lang="en-IN" sz="2800" dirty="0"/>
          </a:p>
        </p:txBody>
      </p:sp>
      <p:sp>
        <p:nvSpPr>
          <p:cNvPr id="16" name="TextBox 15"/>
          <p:cNvSpPr txBox="1"/>
          <p:nvPr/>
        </p:nvSpPr>
        <p:spPr>
          <a:xfrm>
            <a:off x="1143000" y="3200400"/>
            <a:ext cx="2362200" cy="369332"/>
          </a:xfrm>
          <a:prstGeom prst="rect">
            <a:avLst/>
          </a:prstGeom>
          <a:noFill/>
        </p:spPr>
        <p:txBody>
          <a:bodyPr wrap="square" rtlCol="0">
            <a:spAutoFit/>
          </a:bodyPr>
          <a:lstStyle/>
          <a:p>
            <a:r>
              <a:rPr lang="en-IN" dirty="0" smtClean="0"/>
              <a:t>Number of incidents</a:t>
            </a:r>
            <a:endParaRPr lang="en-IN" dirty="0"/>
          </a:p>
        </p:txBody>
      </p:sp>
      <p:sp>
        <p:nvSpPr>
          <p:cNvPr id="17" name="TextBox 16"/>
          <p:cNvSpPr txBox="1"/>
          <p:nvPr/>
        </p:nvSpPr>
        <p:spPr>
          <a:xfrm>
            <a:off x="1295400" y="5943600"/>
            <a:ext cx="2362200" cy="369332"/>
          </a:xfrm>
          <a:prstGeom prst="rect">
            <a:avLst/>
          </a:prstGeom>
          <a:noFill/>
        </p:spPr>
        <p:txBody>
          <a:bodyPr wrap="square" rtlCol="0">
            <a:spAutoFit/>
          </a:bodyPr>
          <a:lstStyle/>
          <a:p>
            <a:r>
              <a:rPr lang="en-IN" dirty="0" smtClean="0"/>
              <a:t>Number of incidents</a:t>
            </a:r>
            <a:endParaRPr lang="en-IN" dirty="0"/>
          </a:p>
        </p:txBody>
      </p:sp>
      <p:sp>
        <p:nvSpPr>
          <p:cNvPr id="18" name="TextBox 17"/>
          <p:cNvSpPr txBox="1"/>
          <p:nvPr/>
        </p:nvSpPr>
        <p:spPr>
          <a:xfrm>
            <a:off x="5943600" y="5867400"/>
            <a:ext cx="2362200" cy="369332"/>
          </a:xfrm>
          <a:prstGeom prst="rect">
            <a:avLst/>
          </a:prstGeom>
          <a:noFill/>
        </p:spPr>
        <p:txBody>
          <a:bodyPr wrap="square" rtlCol="0">
            <a:spAutoFit/>
          </a:bodyPr>
          <a:lstStyle/>
          <a:p>
            <a:r>
              <a:rPr lang="en-IN" dirty="0" smtClean="0"/>
              <a:t>Number of incidents</a:t>
            </a:r>
            <a:endParaRPr lang="en-IN" dirty="0"/>
          </a:p>
        </p:txBody>
      </p:sp>
      <p:sp>
        <p:nvSpPr>
          <p:cNvPr id="19" name="TextBox 18"/>
          <p:cNvSpPr txBox="1"/>
          <p:nvPr/>
        </p:nvSpPr>
        <p:spPr>
          <a:xfrm>
            <a:off x="5867400" y="3124200"/>
            <a:ext cx="2362200" cy="369332"/>
          </a:xfrm>
          <a:prstGeom prst="rect">
            <a:avLst/>
          </a:prstGeom>
          <a:noFill/>
        </p:spPr>
        <p:txBody>
          <a:bodyPr wrap="square" rtlCol="0">
            <a:spAutoFit/>
          </a:bodyPr>
          <a:lstStyle/>
          <a:p>
            <a:r>
              <a:rPr lang="en-IN" dirty="0" smtClean="0"/>
              <a:t>Number of incidents</a:t>
            </a:r>
            <a:endParaRPr lang="en-IN" dirty="0"/>
          </a:p>
        </p:txBody>
      </p:sp>
      <p:sp>
        <p:nvSpPr>
          <p:cNvPr id="20" name="TextBox 19"/>
          <p:cNvSpPr txBox="1"/>
          <p:nvPr/>
        </p:nvSpPr>
        <p:spPr>
          <a:xfrm>
            <a:off x="1143000" y="838200"/>
            <a:ext cx="2286000" cy="369332"/>
          </a:xfrm>
          <a:prstGeom prst="rect">
            <a:avLst/>
          </a:prstGeom>
          <a:noFill/>
        </p:spPr>
        <p:txBody>
          <a:bodyPr wrap="square" rtlCol="0">
            <a:spAutoFit/>
          </a:bodyPr>
          <a:lstStyle/>
          <a:p>
            <a:pPr algn="ctr"/>
            <a:r>
              <a:rPr lang="en-IN" dirty="0" smtClean="0"/>
              <a:t>Normal</a:t>
            </a:r>
            <a:endParaRPr lang="en-IN" dirty="0"/>
          </a:p>
        </p:txBody>
      </p:sp>
      <p:sp>
        <p:nvSpPr>
          <p:cNvPr id="21" name="TextBox 20"/>
          <p:cNvSpPr txBox="1"/>
          <p:nvPr/>
        </p:nvSpPr>
        <p:spPr>
          <a:xfrm>
            <a:off x="5867400" y="762000"/>
            <a:ext cx="2209800" cy="381000"/>
          </a:xfrm>
          <a:prstGeom prst="rect">
            <a:avLst/>
          </a:prstGeom>
          <a:noFill/>
        </p:spPr>
        <p:txBody>
          <a:bodyPr wrap="square" rtlCol="0">
            <a:spAutoFit/>
          </a:bodyPr>
          <a:lstStyle/>
          <a:p>
            <a:pPr algn="ctr"/>
            <a:r>
              <a:rPr lang="en-IN" dirty="0" smtClean="0"/>
              <a:t>Skewed </a:t>
            </a:r>
            <a:endParaRPr lang="en-IN" dirty="0"/>
          </a:p>
        </p:txBody>
      </p:sp>
      <p:sp>
        <p:nvSpPr>
          <p:cNvPr id="22" name="TextBox 21"/>
          <p:cNvSpPr txBox="1"/>
          <p:nvPr/>
        </p:nvSpPr>
        <p:spPr>
          <a:xfrm>
            <a:off x="1295400" y="3733800"/>
            <a:ext cx="2133600" cy="369332"/>
          </a:xfrm>
          <a:prstGeom prst="rect">
            <a:avLst/>
          </a:prstGeom>
          <a:noFill/>
        </p:spPr>
        <p:txBody>
          <a:bodyPr wrap="square" rtlCol="0">
            <a:spAutoFit/>
          </a:bodyPr>
          <a:lstStyle/>
          <a:p>
            <a:pPr algn="ctr"/>
            <a:r>
              <a:rPr lang="en-IN" dirty="0" smtClean="0"/>
              <a:t>Bimodal</a:t>
            </a:r>
            <a:endParaRPr lang="en-IN" dirty="0"/>
          </a:p>
        </p:txBody>
      </p:sp>
      <p:sp>
        <p:nvSpPr>
          <p:cNvPr id="23" name="TextBox 22"/>
          <p:cNvSpPr txBox="1"/>
          <p:nvPr/>
        </p:nvSpPr>
        <p:spPr>
          <a:xfrm>
            <a:off x="6172200" y="3657600"/>
            <a:ext cx="1981200" cy="381000"/>
          </a:xfrm>
          <a:prstGeom prst="rect">
            <a:avLst/>
          </a:prstGeom>
          <a:noFill/>
        </p:spPr>
        <p:txBody>
          <a:bodyPr wrap="square" rtlCol="0">
            <a:spAutoFit/>
          </a:bodyPr>
          <a:lstStyle/>
          <a:p>
            <a:pPr algn="ctr"/>
            <a:r>
              <a:rPr lang="en-IN" dirty="0" smtClean="0"/>
              <a:t>Outlier</a:t>
            </a:r>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241300" y="914400"/>
            <a:ext cx="8902700" cy="54864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rgbClr val="0000CC"/>
                </a:solidFill>
                <a:effectLst/>
                <a:uLnTx/>
                <a:uFillTx/>
                <a:latin typeface="+mn-lt"/>
                <a:ea typeface="+mn-ea"/>
                <a:cs typeface="+mn-cs"/>
              </a:rPr>
              <a:t>Measures of Central  Tendency</a:t>
            </a:r>
          </a:p>
          <a:p>
            <a:pPr marL="742950" marR="0" lvl="1" indent="-28575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rPr>
              <a:t>Mean (Arithmetic, Geometric and Harmonic), Median, Mode</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rgbClr val="0000CC"/>
                </a:solidFill>
                <a:effectLst/>
                <a:uLnTx/>
                <a:uFillTx/>
                <a:latin typeface="+mn-lt"/>
                <a:ea typeface="+mn-ea"/>
                <a:cs typeface="+mn-cs"/>
              </a:rPr>
              <a:t>Measures of Variability</a:t>
            </a:r>
          </a:p>
          <a:p>
            <a:pPr marL="742950" marR="0" lvl="1" indent="-28575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rPr>
              <a:t>Range, Standard Deviation, Variance, Coefficient of Variation</a:t>
            </a:r>
          </a:p>
          <a:p>
            <a:pPr marL="742950" marR="0" lvl="1" indent="-285750" algn="l" defTabSz="914400" rtl="0" eaLnBrk="0" fontAlgn="base" latinLnBrk="0" hangingPunct="0">
              <a:lnSpc>
                <a:spcPct val="100000"/>
              </a:lnSpc>
              <a:spcBef>
                <a:spcPct val="20000"/>
              </a:spcBef>
              <a:spcAft>
                <a:spcPct val="0"/>
              </a:spcAft>
              <a:buClrTx/>
              <a:buSzTx/>
              <a:buFontTx/>
              <a:buChar char="–"/>
              <a:tabLst/>
              <a:defRPr/>
            </a:pPr>
            <a:endParaRPr kumimoji="0" lang="en-US" sz="2000" b="0" i="0" u="none" strike="noStrike" kern="0" cap="none" spc="0" normalizeH="0" baseline="0" noProof="0" dirty="0" smtClean="0">
              <a:ln>
                <a:noFill/>
              </a:ln>
              <a:solidFill>
                <a:schemeClr val="tx1"/>
              </a:solidFill>
              <a:effectLst/>
              <a:uLnTx/>
              <a:uFillTx/>
              <a:latin typeface="+mn-lt"/>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rgbClr val="0000CC"/>
                </a:solidFill>
                <a:effectLst/>
                <a:uLnTx/>
                <a:uFillTx/>
                <a:latin typeface="+mn-lt"/>
                <a:ea typeface="+mn-ea"/>
                <a:cs typeface="+mn-cs"/>
              </a:rPr>
              <a:t>Measures of Relative Standing</a:t>
            </a:r>
          </a:p>
          <a:p>
            <a:pPr marL="742950" marR="0" lvl="1" indent="-28575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rPr>
              <a:t>Percentiles, Quartiles</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rgbClr val="0000CC"/>
                </a:solidFill>
                <a:effectLst/>
                <a:uLnTx/>
                <a:uFillTx/>
                <a:latin typeface="+mn-lt"/>
                <a:ea typeface="+mn-ea"/>
                <a:cs typeface="+mn-cs"/>
              </a:rPr>
              <a:t>Measures of Linear Relationship</a:t>
            </a:r>
          </a:p>
          <a:p>
            <a:pPr marL="742950" marR="0" lvl="1" indent="-28575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rPr>
              <a:t>Covariance, Correlation, Least Squares Line</a:t>
            </a:r>
            <a:endParaRPr kumimoji="0" lang="en-US" sz="2400" b="0" i="0" u="none" strike="noStrike" kern="0" cap="none" spc="0" normalizeH="0" baseline="0" noProof="0" dirty="0">
              <a:ln>
                <a:noFill/>
              </a:ln>
              <a:solidFill>
                <a:schemeClr val="tx1"/>
              </a:solidFill>
              <a:effectLst/>
              <a:uLnTx/>
              <a:uFillTx/>
              <a:latin typeface="+mn-lt"/>
            </a:endParaRPr>
          </a:p>
        </p:txBody>
      </p:sp>
      <p:sp>
        <p:nvSpPr>
          <p:cNvPr id="3" name="TextBox 2"/>
          <p:cNvSpPr txBox="1"/>
          <p:nvPr/>
        </p:nvSpPr>
        <p:spPr>
          <a:xfrm>
            <a:off x="1524000" y="0"/>
            <a:ext cx="6477000" cy="523220"/>
          </a:xfrm>
          <a:prstGeom prst="rect">
            <a:avLst/>
          </a:prstGeom>
          <a:noFill/>
        </p:spPr>
        <p:txBody>
          <a:bodyPr wrap="square" rtlCol="0">
            <a:spAutoFit/>
          </a:bodyPr>
          <a:lstStyle/>
          <a:p>
            <a:pPr algn="ctr"/>
            <a:r>
              <a:rPr lang="en-IN" sz="2800" dirty="0" smtClean="0"/>
              <a:t>Measures of data Characteristics</a:t>
            </a:r>
            <a:endParaRPr lang="en-IN" sz="2800" dirty="0"/>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6" name="Slide Number Placeholder 5"/>
          <p:cNvSpPr>
            <a:spLocks noGrp="1"/>
          </p:cNvSpPr>
          <p:nvPr>
            <p:ph type="sldNum" sz="quarter" idx="11"/>
          </p:nvPr>
        </p:nvSpPr>
        <p:spPr/>
        <p:txBody>
          <a:bodyPr/>
          <a:lstStyle/>
          <a:p>
            <a:fld id="{BF2D74FB-8EB9-4DEE-8258-980F8375AF4A}" type="slidenum">
              <a:rPr lang="en-IN" smtClean="0"/>
              <a:pPr/>
              <a:t>9</a:t>
            </a:fld>
            <a:endParaRPr lang="en-IN" dirty="0"/>
          </a:p>
        </p:txBody>
      </p:sp>
      <p:sp>
        <p:nvSpPr>
          <p:cNvPr id="7" name="Footer Placeholder 6"/>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241300" y="685800"/>
            <a:ext cx="8902700" cy="5486400"/>
          </a:xfrm>
          <a:prstGeom prst="rect">
            <a:avLst/>
          </a:prstGeom>
        </p:spPr>
        <p:txBody>
          <a:bodyPr/>
          <a:lstStyle/>
          <a:p>
            <a:pPr marL="342900" marR="0" lvl="0" indent="-342900" algn="l" defTabSz="914400" rtl="0" eaLnBrk="0" fontAlgn="base" latinLnBrk="0" hangingPunct="0">
              <a:lnSpc>
                <a:spcPct val="100000"/>
              </a:lnSpc>
              <a:spcBef>
                <a:spcPts val="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The arithmetic mean for a </a:t>
            </a:r>
            <a:r>
              <a:rPr kumimoji="0" lang="en-US" sz="2400" b="1" i="1" u="none" strike="noStrike" kern="0" cap="none" spc="0" normalizeH="0" baseline="0" noProof="0" dirty="0" smtClean="0">
                <a:ln>
                  <a:noFill/>
                </a:ln>
                <a:solidFill>
                  <a:schemeClr val="tx1"/>
                </a:solidFill>
                <a:effectLst/>
                <a:uLnTx/>
                <a:uFillTx/>
                <a:latin typeface="+mn-lt"/>
                <a:ea typeface="+mn-ea"/>
                <a:cs typeface="+mn-cs"/>
              </a:rPr>
              <a:t>data stream</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grpSp>
        <p:nvGrpSpPr>
          <p:cNvPr id="8" name="Group 7"/>
          <p:cNvGrpSpPr/>
          <p:nvPr/>
        </p:nvGrpSpPr>
        <p:grpSpPr>
          <a:xfrm>
            <a:off x="3619500" y="1371600"/>
            <a:ext cx="1676400" cy="2101789"/>
            <a:chOff x="533400" y="1981200"/>
            <a:chExt cx="2628900" cy="3425137"/>
          </a:xfrm>
        </p:grpSpPr>
        <p:sp>
          <p:nvSpPr>
            <p:cNvPr id="9" name="Rectangle 9"/>
            <p:cNvSpPr>
              <a:spLocks noChangeArrowheads="1"/>
            </p:cNvSpPr>
            <p:nvPr/>
          </p:nvSpPr>
          <p:spPr bwMode="auto">
            <a:xfrm>
              <a:off x="762000" y="4804463"/>
              <a:ext cx="289692" cy="601874"/>
            </a:xfrm>
            <a:prstGeom prst="rect">
              <a:avLst/>
            </a:prstGeom>
            <a:noFill/>
            <a:ln w="9525">
              <a:noFill/>
              <a:miter lim="800000"/>
              <a:headEnd/>
              <a:tailEnd/>
            </a:ln>
            <a:effectLst/>
          </p:spPr>
          <p:txBody>
            <a:bodyPr wrap="none" anchor="ctr">
              <a:spAutoFit/>
            </a:bodyPr>
            <a:lstStyle/>
            <a:p>
              <a:pPr eaLnBrk="1" hangingPunct="1">
                <a:spcBef>
                  <a:spcPct val="20000"/>
                </a:spcBef>
              </a:pPr>
              <a:endParaRPr lang="en-US" dirty="0"/>
            </a:p>
          </p:txBody>
        </p:sp>
        <p:pic>
          <p:nvPicPr>
            <p:cNvPr id="10" name="Picture 11"/>
            <p:cNvPicPr>
              <a:picLocks noChangeAspect="1" noChangeArrowheads="1"/>
            </p:cNvPicPr>
            <p:nvPr/>
          </p:nvPicPr>
          <p:blipFill>
            <a:blip r:embed="rId3"/>
            <a:srcRect/>
            <a:stretch>
              <a:fillRect/>
            </a:stretch>
          </p:blipFill>
          <p:spPr bwMode="auto">
            <a:xfrm>
              <a:off x="609600" y="1981200"/>
              <a:ext cx="2552700" cy="2717800"/>
            </a:xfrm>
            <a:prstGeom prst="rect">
              <a:avLst/>
            </a:prstGeom>
            <a:noFill/>
          </p:spPr>
        </p:pic>
        <p:sp>
          <p:nvSpPr>
            <p:cNvPr id="11" name="Oval 7"/>
            <p:cNvSpPr>
              <a:spLocks noChangeArrowheads="1"/>
            </p:cNvSpPr>
            <p:nvPr/>
          </p:nvSpPr>
          <p:spPr bwMode="auto">
            <a:xfrm rot="1319475">
              <a:off x="533400" y="3581400"/>
              <a:ext cx="2328863" cy="981075"/>
            </a:xfrm>
            <a:prstGeom prst="ellipse">
              <a:avLst/>
            </a:prstGeom>
            <a:solidFill>
              <a:srgbClr val="FFFF00">
                <a:alpha val="30000"/>
              </a:srgbClr>
            </a:solidFill>
            <a:ln w="9525">
              <a:noFill/>
              <a:round/>
              <a:headEnd/>
              <a:tailEnd/>
            </a:ln>
            <a:effectLst/>
          </p:spPr>
          <p:txBody>
            <a:bodyPr wrap="none" anchor="ctr"/>
            <a:lstStyle/>
            <a:p>
              <a:endParaRPr lang="en-US"/>
            </a:p>
          </p:txBody>
        </p:sp>
      </p:grpSp>
      <p:sp>
        <p:nvSpPr>
          <p:cNvPr id="16" name="Rectangle 15"/>
          <p:cNvSpPr/>
          <p:nvPr/>
        </p:nvSpPr>
        <p:spPr>
          <a:xfrm>
            <a:off x="381000" y="3733800"/>
            <a:ext cx="8534400" cy="1703351"/>
          </a:xfrm>
          <a:prstGeom prst="rect">
            <a:avLst/>
          </a:prstGeom>
        </p:spPr>
        <p:txBody>
          <a:bodyPr wrap="square">
            <a:spAutoFit/>
          </a:bodyPr>
          <a:lstStyle/>
          <a:p>
            <a:pPr marL="342900" lvl="0" indent="-342900" algn="just">
              <a:lnSpc>
                <a:spcPts val="3200"/>
              </a:lnSpc>
              <a:spcBef>
                <a:spcPts val="0"/>
              </a:spcBef>
              <a:defRPr/>
            </a:pPr>
            <a:r>
              <a:rPr lang="en-US" sz="2000" kern="0" dirty="0" smtClean="0">
                <a:latin typeface="+mj-lt"/>
              </a:rPr>
              <a:t>     Mean </a:t>
            </a:r>
            <a:r>
              <a:rPr lang="en-US" sz="2400" kern="0" dirty="0" smtClean="0">
                <a:latin typeface="+mj-lt"/>
              </a:rPr>
              <a:t>is seriously affected by extreme values called </a:t>
            </a:r>
            <a:r>
              <a:rPr lang="en-US" sz="2800" b="1" kern="0" dirty="0" smtClean="0">
                <a:solidFill>
                  <a:schemeClr val="accent2">
                    <a:lumMod val="75000"/>
                  </a:schemeClr>
                </a:solidFill>
                <a:latin typeface="+mj-lt"/>
              </a:rPr>
              <a:t>“outliers</a:t>
            </a:r>
            <a:r>
              <a:rPr lang="en-US" sz="2800" b="1" kern="0" dirty="0" smtClean="0">
                <a:solidFill>
                  <a:schemeClr val="accent1">
                    <a:lumMod val="50000"/>
                  </a:schemeClr>
                </a:solidFill>
                <a:latin typeface="+mj-lt"/>
              </a:rPr>
              <a:t>”. </a:t>
            </a:r>
            <a:r>
              <a:rPr lang="en-US" sz="2400" kern="0" dirty="0" smtClean="0">
                <a:latin typeface="+mj-lt"/>
              </a:rPr>
              <a:t>Ex:  As soon as a billionaire moves into a neighborhood, the average household income increases beyond what it was previously!</a:t>
            </a:r>
            <a:endParaRPr lang="en-US" sz="2400" kern="0" dirty="0">
              <a:latin typeface="+mj-lt"/>
            </a:endParaRPr>
          </a:p>
        </p:txBody>
      </p:sp>
      <p:sp>
        <p:nvSpPr>
          <p:cNvPr id="17" name="Date Placeholder 16"/>
          <p:cNvSpPr>
            <a:spLocks noGrp="1"/>
          </p:cNvSpPr>
          <p:nvPr>
            <p:ph type="dt" sz="half" idx="10"/>
          </p:nvPr>
        </p:nvSpPr>
        <p:spPr/>
        <p:txBody>
          <a:bodyPr/>
          <a:lstStyle/>
          <a:p>
            <a:r>
              <a:rPr lang="en-US" smtClean="0"/>
              <a:t>Prof. A. K. Datta     University of Calcutta</a:t>
            </a:r>
            <a:endParaRPr lang="en-IN" dirty="0"/>
          </a:p>
        </p:txBody>
      </p:sp>
      <p:sp>
        <p:nvSpPr>
          <p:cNvPr id="18" name="Slide Number Placeholder 17"/>
          <p:cNvSpPr>
            <a:spLocks noGrp="1"/>
          </p:cNvSpPr>
          <p:nvPr>
            <p:ph type="sldNum" sz="quarter" idx="11"/>
          </p:nvPr>
        </p:nvSpPr>
        <p:spPr/>
        <p:txBody>
          <a:bodyPr/>
          <a:lstStyle/>
          <a:p>
            <a:fld id="{BF2D74FB-8EB9-4DEE-8258-980F8375AF4A}" type="slidenum">
              <a:rPr lang="en-IN" smtClean="0"/>
              <a:pPr/>
              <a:t>10</a:t>
            </a:fld>
            <a:endParaRPr lang="en-IN" dirty="0"/>
          </a:p>
        </p:txBody>
      </p:sp>
      <p:sp>
        <p:nvSpPr>
          <p:cNvPr id="19" name="Footer Placeholder 18"/>
          <p:cNvSpPr>
            <a:spLocks noGrp="1"/>
          </p:cNvSpPr>
          <p:nvPr>
            <p:ph type="ftr" sz="quarter" idx="12"/>
          </p:nvPr>
        </p:nvSpPr>
        <p:spPr/>
        <p:txBody>
          <a:bodyPr/>
          <a:lstStyle/>
          <a:p>
            <a:r>
              <a:rPr lang="en-IN" smtClean="0"/>
              <a:t>Ph.D Course Work on Research Methodology</a:t>
            </a:r>
            <a:endParaRPr lang="en-IN" dirty="0"/>
          </a:p>
        </p:txBody>
      </p:sp>
      <p:sp>
        <p:nvSpPr>
          <p:cNvPr id="20" name="TextBox 19"/>
          <p:cNvSpPr txBox="1"/>
          <p:nvPr/>
        </p:nvSpPr>
        <p:spPr>
          <a:xfrm>
            <a:off x="1981200" y="0"/>
            <a:ext cx="4953000" cy="584775"/>
          </a:xfrm>
          <a:prstGeom prst="rect">
            <a:avLst/>
          </a:prstGeom>
          <a:noFill/>
        </p:spPr>
        <p:txBody>
          <a:bodyPr wrap="square" rtlCol="0">
            <a:spAutoFit/>
          </a:bodyPr>
          <a:lstStyle/>
          <a:p>
            <a:pPr algn="ctr"/>
            <a:r>
              <a:rPr lang="en-US" sz="3200" dirty="0" smtClean="0"/>
              <a:t>Mean</a:t>
            </a:r>
            <a:endParaRPr lang="en-GB" sz="3200" dirty="0"/>
          </a:p>
        </p:txBody>
      </p:sp>
      <p:graphicFrame>
        <p:nvGraphicFramePr>
          <p:cNvPr id="2" name="Object 1"/>
          <p:cNvGraphicFramePr>
            <a:graphicFrameLocks noChangeAspect="1"/>
          </p:cNvGraphicFramePr>
          <p:nvPr>
            <p:extLst>
              <p:ext uri="{D42A27DB-BD31-4B8C-83A1-F6EECF244321}">
                <p14:modId xmlns="" xmlns:p14="http://schemas.microsoft.com/office/powerpoint/2010/main" val="2318768034"/>
              </p:ext>
            </p:extLst>
          </p:nvPr>
        </p:nvGraphicFramePr>
        <p:xfrm>
          <a:off x="5486400" y="596399"/>
          <a:ext cx="439451" cy="667719"/>
        </p:xfrm>
        <a:graphic>
          <a:graphicData uri="http://schemas.openxmlformats.org/presentationml/2006/ole">
            <p:oleObj spid="_x0000_s922658" name="Equation" r:id="rId4" imgW="152280" imgH="228600" progId="Equation.3">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11</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TextBox 5"/>
          <p:cNvSpPr txBox="1"/>
          <p:nvPr/>
        </p:nvSpPr>
        <p:spPr>
          <a:xfrm>
            <a:off x="1066800" y="0"/>
            <a:ext cx="7848600" cy="523220"/>
          </a:xfrm>
          <a:prstGeom prst="rect">
            <a:avLst/>
          </a:prstGeom>
          <a:noFill/>
        </p:spPr>
        <p:txBody>
          <a:bodyPr wrap="square" rtlCol="0">
            <a:spAutoFit/>
          </a:bodyPr>
          <a:lstStyle/>
          <a:p>
            <a:pPr algn="ctr"/>
            <a:r>
              <a:rPr lang="en-US" sz="2800" dirty="0" smtClean="0">
                <a:latin typeface="+mj-lt"/>
              </a:rPr>
              <a:t>Mean  with frequency distribution for cluster data</a:t>
            </a:r>
            <a:endParaRPr lang="en-IN" sz="2800" dirty="0">
              <a:latin typeface="+mj-lt"/>
            </a:endParaRPr>
          </a:p>
        </p:txBody>
      </p:sp>
      <p:graphicFrame>
        <p:nvGraphicFramePr>
          <p:cNvPr id="7" name="Content Placeholder 6"/>
          <p:cNvGraphicFramePr>
            <a:graphicFrameLocks noGrp="1" noChangeAspect="1"/>
          </p:cNvGraphicFramePr>
          <p:nvPr>
            <p:ph idx="1"/>
            <p:extLst>
              <p:ext uri="{D42A27DB-BD31-4B8C-83A1-F6EECF244321}">
                <p14:modId xmlns="" xmlns:p14="http://schemas.microsoft.com/office/powerpoint/2010/main" val="1809101644"/>
              </p:ext>
            </p:extLst>
          </p:nvPr>
        </p:nvGraphicFramePr>
        <p:xfrm>
          <a:off x="2071670" y="685801"/>
          <a:ext cx="4500594" cy="1518512"/>
        </p:xfrm>
        <a:graphic>
          <a:graphicData uri="http://schemas.openxmlformats.org/presentationml/2006/ole">
            <p:oleObj spid="_x0000_s810098" name="Equation" r:id="rId3" imgW="2108160" imgH="711000" progId="Equation.3">
              <p:embed/>
            </p:oleObj>
          </a:graphicData>
        </a:graphic>
      </p:graphicFrame>
      <p:sp>
        <p:nvSpPr>
          <p:cNvPr id="8" name="TextBox 7"/>
          <p:cNvSpPr txBox="1"/>
          <p:nvPr/>
        </p:nvSpPr>
        <p:spPr>
          <a:xfrm>
            <a:off x="457200" y="1981200"/>
            <a:ext cx="8305800" cy="1138773"/>
          </a:xfrm>
          <a:prstGeom prst="rect">
            <a:avLst/>
          </a:prstGeom>
          <a:noFill/>
        </p:spPr>
        <p:txBody>
          <a:bodyPr wrap="square" rtlCol="0">
            <a:spAutoFit/>
          </a:bodyPr>
          <a:lstStyle/>
          <a:p>
            <a:r>
              <a:rPr lang="en-US" sz="2400" dirty="0" smtClean="0">
                <a:latin typeface="+mj-lt"/>
              </a:rPr>
              <a:t>Mean of frequency distribution is also thought of as weighted mean, where   replace </a:t>
            </a:r>
            <a:r>
              <a:rPr lang="en-US" sz="2400" i="1" dirty="0" smtClean="0">
                <a:latin typeface="+mj-lt"/>
              </a:rPr>
              <a:t>f</a:t>
            </a:r>
            <a:r>
              <a:rPr lang="en-US" sz="2400" baseline="-25000" dirty="0">
                <a:latin typeface="+mj-lt"/>
              </a:rPr>
              <a:t>i</a:t>
            </a:r>
            <a:r>
              <a:rPr lang="en-US" sz="2400" dirty="0" smtClean="0">
                <a:latin typeface="+mj-lt"/>
              </a:rPr>
              <a:t> by </a:t>
            </a:r>
            <a:r>
              <a:rPr lang="en-US" sz="2400" i="1" dirty="0" err="1" smtClean="0">
                <a:latin typeface="+mj-lt"/>
              </a:rPr>
              <a:t>w</a:t>
            </a:r>
            <a:r>
              <a:rPr lang="en-US" sz="2400" baseline="-25000" dirty="0" err="1">
                <a:latin typeface="+mj-lt"/>
              </a:rPr>
              <a:t>i</a:t>
            </a:r>
            <a:r>
              <a:rPr lang="en-US" sz="2400" dirty="0" smtClean="0">
                <a:latin typeface="+mj-lt"/>
              </a:rPr>
              <a:t>         </a:t>
            </a:r>
          </a:p>
          <a:p>
            <a:endParaRPr lang="en-US" sz="2000" dirty="0" smtClean="0"/>
          </a:p>
        </p:txBody>
      </p:sp>
      <p:graphicFrame>
        <p:nvGraphicFramePr>
          <p:cNvPr id="10" name="Table 9"/>
          <p:cNvGraphicFramePr>
            <a:graphicFrameLocks noGrp="1"/>
          </p:cNvGraphicFramePr>
          <p:nvPr/>
        </p:nvGraphicFramePr>
        <p:xfrm>
          <a:off x="1571604" y="3143248"/>
          <a:ext cx="6096000" cy="741680"/>
        </p:xfrm>
        <a:graphic>
          <a:graphicData uri="http://schemas.openxmlformats.org/drawingml/2006/table">
            <a:tbl>
              <a:tblPr firstRow="1" bandRow="1">
                <a:tableStyleId>{5C22544A-7EE6-4342-B048-85BDC9FD1C3A}</a:tableStyleId>
              </a:tblPr>
              <a:tblGrid>
                <a:gridCol w="1500198"/>
                <a:gridCol w="938202"/>
                <a:gridCol w="1219200"/>
                <a:gridCol w="1219200"/>
                <a:gridCol w="1219200"/>
              </a:tblGrid>
              <a:tr h="370840">
                <a:tc>
                  <a:txBody>
                    <a:bodyPr/>
                    <a:lstStyle/>
                    <a:p>
                      <a:r>
                        <a:rPr lang="en-US" dirty="0" smtClean="0"/>
                        <a:t>Scores (x)</a:t>
                      </a:r>
                      <a:endParaRPr lang="en-US" dirty="0"/>
                    </a:p>
                  </a:txBody>
                  <a:tcPr>
                    <a:solidFill>
                      <a:schemeClr val="bg2"/>
                    </a:solidFill>
                  </a:tcPr>
                </a:tc>
                <a:tc>
                  <a:txBody>
                    <a:bodyPr/>
                    <a:lstStyle/>
                    <a:p>
                      <a:r>
                        <a:rPr lang="en-US" dirty="0" smtClean="0"/>
                        <a:t>2</a:t>
                      </a:r>
                      <a:endParaRPr lang="en-US" dirty="0"/>
                    </a:p>
                  </a:txBody>
                  <a:tcPr>
                    <a:solidFill>
                      <a:schemeClr val="bg2"/>
                    </a:solidFill>
                  </a:tcPr>
                </a:tc>
                <a:tc>
                  <a:txBody>
                    <a:bodyPr/>
                    <a:lstStyle/>
                    <a:p>
                      <a:r>
                        <a:rPr lang="en-US" dirty="0" smtClean="0"/>
                        <a:t>5</a:t>
                      </a:r>
                      <a:endParaRPr lang="en-US" dirty="0"/>
                    </a:p>
                  </a:txBody>
                  <a:tcPr>
                    <a:solidFill>
                      <a:schemeClr val="bg2"/>
                    </a:solidFill>
                  </a:tcPr>
                </a:tc>
                <a:tc>
                  <a:txBody>
                    <a:bodyPr/>
                    <a:lstStyle/>
                    <a:p>
                      <a:r>
                        <a:rPr lang="en-US" dirty="0" smtClean="0"/>
                        <a:t>6</a:t>
                      </a:r>
                      <a:endParaRPr lang="en-US" dirty="0"/>
                    </a:p>
                  </a:txBody>
                  <a:tcPr>
                    <a:solidFill>
                      <a:schemeClr val="bg2"/>
                    </a:solidFill>
                  </a:tcPr>
                </a:tc>
                <a:tc>
                  <a:txBody>
                    <a:bodyPr/>
                    <a:lstStyle/>
                    <a:p>
                      <a:r>
                        <a:rPr lang="en-US" dirty="0" smtClean="0"/>
                        <a:t>8</a:t>
                      </a:r>
                      <a:endParaRPr lang="en-US" dirty="0"/>
                    </a:p>
                  </a:txBody>
                  <a:tcPr>
                    <a:solidFill>
                      <a:schemeClr val="bg2"/>
                    </a:solidFill>
                  </a:tcPr>
                </a:tc>
              </a:tr>
              <a:tr h="370840">
                <a:tc>
                  <a:txBody>
                    <a:bodyPr/>
                    <a:lstStyle/>
                    <a:p>
                      <a:r>
                        <a:rPr lang="en-US" dirty="0" smtClean="0">
                          <a:solidFill>
                            <a:schemeClr val="bg1"/>
                          </a:solidFill>
                        </a:rPr>
                        <a:t>Frequency (f)</a:t>
                      </a:r>
                      <a:endParaRPr lang="en-US" dirty="0">
                        <a:solidFill>
                          <a:schemeClr val="bg1"/>
                        </a:solidFill>
                      </a:endParaRPr>
                    </a:p>
                  </a:txBody>
                  <a:tcPr>
                    <a:solidFill>
                      <a:schemeClr val="bg2"/>
                    </a:solidFill>
                  </a:tcPr>
                </a:tc>
                <a:tc>
                  <a:txBody>
                    <a:bodyPr/>
                    <a:lstStyle/>
                    <a:p>
                      <a:r>
                        <a:rPr lang="en-US" dirty="0" smtClean="0">
                          <a:solidFill>
                            <a:schemeClr val="bg1"/>
                          </a:solidFill>
                        </a:rPr>
                        <a:t>1</a:t>
                      </a:r>
                      <a:endParaRPr lang="en-US" dirty="0">
                        <a:solidFill>
                          <a:schemeClr val="bg1"/>
                        </a:solidFill>
                      </a:endParaRPr>
                    </a:p>
                  </a:txBody>
                  <a:tcPr>
                    <a:solidFill>
                      <a:schemeClr val="bg2"/>
                    </a:solidFill>
                  </a:tcPr>
                </a:tc>
                <a:tc>
                  <a:txBody>
                    <a:bodyPr/>
                    <a:lstStyle/>
                    <a:p>
                      <a:r>
                        <a:rPr lang="en-US" dirty="0" smtClean="0">
                          <a:solidFill>
                            <a:schemeClr val="bg1"/>
                          </a:solidFill>
                        </a:rPr>
                        <a:t>3</a:t>
                      </a:r>
                      <a:endParaRPr lang="en-US" dirty="0">
                        <a:solidFill>
                          <a:schemeClr val="bg1"/>
                        </a:solidFill>
                      </a:endParaRPr>
                    </a:p>
                  </a:txBody>
                  <a:tcPr>
                    <a:solidFill>
                      <a:schemeClr val="bg2"/>
                    </a:solidFill>
                  </a:tcPr>
                </a:tc>
                <a:tc>
                  <a:txBody>
                    <a:bodyPr/>
                    <a:lstStyle/>
                    <a:p>
                      <a:r>
                        <a:rPr lang="en-US" dirty="0" smtClean="0">
                          <a:solidFill>
                            <a:schemeClr val="bg1"/>
                          </a:solidFill>
                        </a:rPr>
                        <a:t>4</a:t>
                      </a:r>
                      <a:endParaRPr lang="en-US" dirty="0">
                        <a:solidFill>
                          <a:schemeClr val="bg1"/>
                        </a:solidFill>
                      </a:endParaRPr>
                    </a:p>
                  </a:txBody>
                  <a:tcPr>
                    <a:solidFill>
                      <a:schemeClr val="bg2"/>
                    </a:solidFill>
                  </a:tcPr>
                </a:tc>
                <a:tc>
                  <a:txBody>
                    <a:bodyPr/>
                    <a:lstStyle/>
                    <a:p>
                      <a:r>
                        <a:rPr lang="en-US" dirty="0" smtClean="0">
                          <a:solidFill>
                            <a:schemeClr val="bg1"/>
                          </a:solidFill>
                        </a:rPr>
                        <a:t>2</a:t>
                      </a:r>
                      <a:endParaRPr lang="en-US" dirty="0">
                        <a:solidFill>
                          <a:schemeClr val="bg1"/>
                        </a:solidFill>
                      </a:endParaRPr>
                    </a:p>
                  </a:txBody>
                  <a:tcPr>
                    <a:solidFill>
                      <a:schemeClr val="bg2"/>
                    </a:solidFill>
                  </a:tcPr>
                </a:tc>
              </a:tr>
            </a:tbl>
          </a:graphicData>
        </a:graphic>
      </p:graphicFrame>
      <p:sp>
        <p:nvSpPr>
          <p:cNvPr id="11" name="TextBox 10"/>
          <p:cNvSpPr txBox="1"/>
          <p:nvPr/>
        </p:nvSpPr>
        <p:spPr>
          <a:xfrm>
            <a:off x="785786" y="4429132"/>
            <a:ext cx="7358114" cy="461665"/>
          </a:xfrm>
          <a:prstGeom prst="rect">
            <a:avLst/>
          </a:prstGeom>
          <a:noFill/>
        </p:spPr>
        <p:txBody>
          <a:bodyPr wrap="square" rtlCol="0">
            <a:spAutoFit/>
          </a:bodyPr>
          <a:lstStyle/>
          <a:p>
            <a:r>
              <a:rPr lang="en-US" sz="2400" dirty="0" smtClean="0">
                <a:latin typeface="+mn-lt"/>
              </a:rPr>
              <a:t>Then</a:t>
            </a:r>
            <a:r>
              <a:rPr lang="en-US" dirty="0" smtClean="0">
                <a:latin typeface="+mn-lt"/>
              </a:rPr>
              <a:t> </a:t>
            </a:r>
            <a:endParaRPr lang="en-US" dirty="0">
              <a:latin typeface="+mn-lt"/>
            </a:endParaRPr>
          </a:p>
        </p:txBody>
      </p:sp>
      <p:graphicFrame>
        <p:nvGraphicFramePr>
          <p:cNvPr id="810102" name="Object 118"/>
          <p:cNvGraphicFramePr>
            <a:graphicFrameLocks noGrp="1" noChangeAspect="1"/>
          </p:cNvGraphicFramePr>
          <p:nvPr/>
        </p:nvGraphicFramePr>
        <p:xfrm>
          <a:off x="1000100" y="4929198"/>
          <a:ext cx="6942138" cy="1333500"/>
        </p:xfrm>
        <a:graphic>
          <a:graphicData uri="http://schemas.openxmlformats.org/presentationml/2006/ole">
            <p:oleObj spid="_x0000_s810102" name="Equation" r:id="rId4" imgW="2946240" imgH="81252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12</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Rectangle 5"/>
          <p:cNvSpPr/>
          <p:nvPr/>
        </p:nvSpPr>
        <p:spPr>
          <a:xfrm>
            <a:off x="571472" y="785794"/>
            <a:ext cx="8215370" cy="830997"/>
          </a:xfrm>
          <a:prstGeom prst="rect">
            <a:avLst/>
          </a:prstGeom>
        </p:spPr>
        <p:txBody>
          <a:bodyPr wrap="square">
            <a:spAutoFit/>
          </a:bodyPr>
          <a:lstStyle/>
          <a:p>
            <a:r>
              <a:rPr lang="en-US" sz="2400" dirty="0" smtClean="0">
                <a:latin typeface="Book Antiqua" pitchFamily="18" charset="0"/>
              </a:rPr>
              <a:t>Mean is a measure of central tendency and called statistical average. If A is the assumed average, then                                 </a:t>
            </a:r>
            <a:r>
              <a:rPr lang="en-US" sz="2400" baseline="-25000" dirty="0" smtClean="0">
                <a:latin typeface="Book Antiqua" pitchFamily="18" charset="0"/>
              </a:rPr>
              <a:t>                                         </a:t>
            </a:r>
            <a:endParaRPr lang="en-IN" sz="2400" dirty="0">
              <a:latin typeface="Book Antiqua" pitchFamily="18" charset="0"/>
            </a:endParaRPr>
          </a:p>
        </p:txBody>
      </p:sp>
      <p:graphicFrame>
        <p:nvGraphicFramePr>
          <p:cNvPr id="961537" name="Object 1"/>
          <p:cNvGraphicFramePr>
            <a:graphicFrameLocks noChangeAspect="1"/>
          </p:cNvGraphicFramePr>
          <p:nvPr/>
        </p:nvGraphicFramePr>
        <p:xfrm>
          <a:off x="2857488" y="1928802"/>
          <a:ext cx="3048000" cy="2108200"/>
        </p:xfrm>
        <a:graphic>
          <a:graphicData uri="http://schemas.openxmlformats.org/presentationml/2006/ole">
            <p:oleObj spid="_x0000_s961537" name="Equation" r:id="rId3" imgW="1358640" imgH="939600" progId="Equation.3">
              <p:embed/>
            </p:oleObj>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13</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pic>
        <p:nvPicPr>
          <p:cNvPr id="1077250"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200025" y="280988"/>
            <a:ext cx="8743950" cy="6296025"/>
          </a:xfrm>
          <a:prstGeom prst="rect">
            <a:avLst/>
          </a:prstGeom>
          <a:noFill/>
          <a:ln w="9525">
            <a:noFill/>
            <a:miter lim="800000"/>
            <a:headEnd/>
            <a:tailEnd/>
          </a:ln>
          <a:effectLst/>
        </p:spPr>
      </p:pic>
      <p:pic>
        <p:nvPicPr>
          <p:cNvPr id="1077251" name="Picture 3"/>
          <p:cNvPicPr>
            <a:picLocks noChangeAspect="1" noChangeArrowheads="1"/>
          </p:cNvPicPr>
          <p:nvPr/>
        </p:nvPicPr>
        <p:blipFill>
          <a:blip r:embed="rId3">
            <a:duotone>
              <a:prstClr val="black"/>
              <a:schemeClr val="accent5">
                <a:tint val="45000"/>
                <a:satMod val="400000"/>
              </a:schemeClr>
            </a:duotone>
          </a:blip>
          <a:srcRect/>
          <a:stretch>
            <a:fillRect/>
          </a:stretch>
        </p:blipFill>
        <p:spPr bwMode="auto">
          <a:xfrm>
            <a:off x="5852244" y="3786190"/>
            <a:ext cx="2201155" cy="216694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14</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TextBox 5"/>
          <p:cNvSpPr txBox="1"/>
          <p:nvPr/>
        </p:nvSpPr>
        <p:spPr>
          <a:xfrm>
            <a:off x="1143000" y="0"/>
            <a:ext cx="7543800" cy="584775"/>
          </a:xfrm>
          <a:prstGeom prst="rect">
            <a:avLst/>
          </a:prstGeom>
          <a:noFill/>
        </p:spPr>
        <p:txBody>
          <a:bodyPr wrap="square" rtlCol="0">
            <a:spAutoFit/>
          </a:bodyPr>
          <a:lstStyle/>
          <a:p>
            <a:pPr algn="ctr"/>
            <a:r>
              <a:rPr lang="en-US" sz="3200" dirty="0" smtClean="0">
                <a:latin typeface="+mj-lt"/>
              </a:rPr>
              <a:t>Geometric mean and Harmonic mean</a:t>
            </a:r>
            <a:endParaRPr lang="en-US" sz="3200" dirty="0">
              <a:latin typeface="+mj-lt"/>
            </a:endParaRPr>
          </a:p>
        </p:txBody>
      </p:sp>
      <p:sp>
        <p:nvSpPr>
          <p:cNvPr id="7" name="TextBox 6"/>
          <p:cNvSpPr txBox="1"/>
          <p:nvPr/>
        </p:nvSpPr>
        <p:spPr>
          <a:xfrm>
            <a:off x="381000" y="914400"/>
            <a:ext cx="2667000" cy="461665"/>
          </a:xfrm>
          <a:prstGeom prst="rect">
            <a:avLst/>
          </a:prstGeom>
          <a:noFill/>
        </p:spPr>
        <p:txBody>
          <a:bodyPr wrap="square" rtlCol="0">
            <a:spAutoFit/>
          </a:bodyPr>
          <a:lstStyle/>
          <a:p>
            <a:r>
              <a:rPr lang="en-US" sz="2400" dirty="0" smtClean="0">
                <a:latin typeface="+mj-lt"/>
              </a:rPr>
              <a:t>Geometric mean  </a:t>
            </a:r>
            <a:r>
              <a:rPr lang="en-US" sz="2400" b="1" i="1" dirty="0" smtClean="0">
                <a:latin typeface="+mj-lt"/>
              </a:rPr>
              <a:t>g</a:t>
            </a:r>
            <a:endParaRPr lang="en-US" sz="2400" b="1" i="1" dirty="0">
              <a:latin typeface="+mj-lt"/>
            </a:endParaRPr>
          </a:p>
        </p:txBody>
      </p:sp>
      <p:graphicFrame>
        <p:nvGraphicFramePr>
          <p:cNvPr id="8" name="Object 7"/>
          <p:cNvGraphicFramePr>
            <a:graphicFrameLocks noChangeAspect="1"/>
          </p:cNvGraphicFramePr>
          <p:nvPr/>
        </p:nvGraphicFramePr>
        <p:xfrm>
          <a:off x="5410200" y="762000"/>
          <a:ext cx="2590800" cy="1371601"/>
        </p:xfrm>
        <a:graphic>
          <a:graphicData uri="http://schemas.openxmlformats.org/presentationml/2006/ole">
            <p:oleObj spid="_x0000_s623898" name="Equation" r:id="rId3" imgW="1155700" imgH="736600" progId="Equation.3">
              <p:embed/>
            </p:oleObj>
          </a:graphicData>
        </a:graphic>
      </p:graphicFrame>
      <p:graphicFrame>
        <p:nvGraphicFramePr>
          <p:cNvPr id="9" name="Object 8"/>
          <p:cNvGraphicFramePr>
            <a:graphicFrameLocks noChangeAspect="1"/>
          </p:cNvGraphicFramePr>
          <p:nvPr/>
        </p:nvGraphicFramePr>
        <p:xfrm>
          <a:off x="3276600" y="1676400"/>
          <a:ext cx="4419600" cy="1169207"/>
        </p:xfrm>
        <a:graphic>
          <a:graphicData uri="http://schemas.openxmlformats.org/presentationml/2006/ole">
            <p:oleObj spid="_x0000_s623899" name="Equation" r:id="rId4" imgW="2400300" imgH="635000" progId="Equation.3">
              <p:embed/>
            </p:oleObj>
          </a:graphicData>
        </a:graphic>
      </p:graphicFrame>
      <p:sp>
        <p:nvSpPr>
          <p:cNvPr id="10" name="TextBox 9"/>
          <p:cNvSpPr txBox="1"/>
          <p:nvPr/>
        </p:nvSpPr>
        <p:spPr>
          <a:xfrm>
            <a:off x="381000" y="1905000"/>
            <a:ext cx="1828800" cy="461665"/>
          </a:xfrm>
          <a:prstGeom prst="rect">
            <a:avLst/>
          </a:prstGeom>
          <a:noFill/>
          <a:ln>
            <a:solidFill>
              <a:schemeClr val="tx1"/>
            </a:solidFill>
          </a:ln>
        </p:spPr>
        <p:txBody>
          <a:bodyPr wrap="square" rtlCol="0">
            <a:spAutoFit/>
          </a:bodyPr>
          <a:lstStyle/>
          <a:p>
            <a:r>
              <a:rPr lang="en-US" sz="2400" dirty="0" smtClean="0">
                <a:latin typeface="+mj-lt"/>
              </a:rPr>
              <a:t>GM of 8,1,6</a:t>
            </a:r>
            <a:endParaRPr lang="en-US" sz="2400" dirty="0">
              <a:latin typeface="+mj-lt"/>
            </a:endParaRPr>
          </a:p>
        </p:txBody>
      </p:sp>
      <p:sp>
        <p:nvSpPr>
          <p:cNvPr id="11" name="TextBox 10"/>
          <p:cNvSpPr txBox="1"/>
          <p:nvPr/>
        </p:nvSpPr>
        <p:spPr>
          <a:xfrm>
            <a:off x="304800" y="2971800"/>
            <a:ext cx="2514600" cy="1200329"/>
          </a:xfrm>
          <a:prstGeom prst="rect">
            <a:avLst/>
          </a:prstGeom>
          <a:noFill/>
        </p:spPr>
        <p:txBody>
          <a:bodyPr wrap="square" rtlCol="0">
            <a:spAutoFit/>
          </a:bodyPr>
          <a:lstStyle/>
          <a:p>
            <a:r>
              <a:rPr lang="en-US" sz="2400" dirty="0" smtClean="0">
                <a:latin typeface="+mj-lt"/>
              </a:rPr>
              <a:t>Harmonic Mean  </a:t>
            </a:r>
            <a:r>
              <a:rPr lang="en-US" sz="2400" b="1" i="1" dirty="0" smtClean="0">
                <a:latin typeface="+mj-lt"/>
              </a:rPr>
              <a:t>h </a:t>
            </a:r>
            <a:r>
              <a:rPr lang="en-US" sz="2400" dirty="0" smtClean="0">
                <a:latin typeface="+mj-lt"/>
              </a:rPr>
              <a:t>is the reciprocal of arithmetic mean</a:t>
            </a:r>
            <a:endParaRPr lang="en-US" sz="2400" dirty="0">
              <a:latin typeface="+mj-lt"/>
            </a:endParaRPr>
          </a:p>
        </p:txBody>
      </p:sp>
      <p:graphicFrame>
        <p:nvGraphicFramePr>
          <p:cNvPr id="12" name="Object 11"/>
          <p:cNvGraphicFramePr>
            <a:graphicFrameLocks noChangeAspect="1"/>
          </p:cNvGraphicFramePr>
          <p:nvPr/>
        </p:nvGraphicFramePr>
        <p:xfrm>
          <a:off x="3429000" y="2895600"/>
          <a:ext cx="1828800" cy="1295400"/>
        </p:xfrm>
        <a:graphic>
          <a:graphicData uri="http://schemas.openxmlformats.org/presentationml/2006/ole">
            <p:oleObj spid="_x0000_s623900" name="Equation" r:id="rId5" imgW="622030" imgH="622030" progId="Equation.3">
              <p:embed/>
            </p:oleObj>
          </a:graphicData>
        </a:graphic>
      </p:graphicFrame>
      <p:sp>
        <p:nvSpPr>
          <p:cNvPr id="13" name="TextBox 12"/>
          <p:cNvSpPr txBox="1"/>
          <p:nvPr/>
        </p:nvSpPr>
        <p:spPr>
          <a:xfrm>
            <a:off x="381000" y="4267200"/>
            <a:ext cx="1828800" cy="461665"/>
          </a:xfrm>
          <a:prstGeom prst="rect">
            <a:avLst/>
          </a:prstGeom>
          <a:noFill/>
          <a:ln>
            <a:solidFill>
              <a:schemeClr val="tx1"/>
            </a:solidFill>
          </a:ln>
        </p:spPr>
        <p:txBody>
          <a:bodyPr wrap="square" rtlCol="0">
            <a:spAutoFit/>
          </a:bodyPr>
          <a:lstStyle/>
          <a:p>
            <a:r>
              <a:rPr lang="en-US" sz="2400" dirty="0" smtClean="0">
                <a:latin typeface="+mj-lt"/>
              </a:rPr>
              <a:t>HM of 8,1,6</a:t>
            </a:r>
            <a:endParaRPr lang="en-US" sz="2400" dirty="0">
              <a:latin typeface="+mj-lt"/>
            </a:endParaRPr>
          </a:p>
        </p:txBody>
      </p:sp>
      <p:graphicFrame>
        <p:nvGraphicFramePr>
          <p:cNvPr id="14" name="Object 13"/>
          <p:cNvGraphicFramePr>
            <a:graphicFrameLocks noChangeAspect="1"/>
          </p:cNvGraphicFramePr>
          <p:nvPr/>
        </p:nvGraphicFramePr>
        <p:xfrm>
          <a:off x="3200400" y="4191000"/>
          <a:ext cx="2895600" cy="1066800"/>
        </p:xfrm>
        <a:graphic>
          <a:graphicData uri="http://schemas.openxmlformats.org/presentationml/2006/ole">
            <p:oleObj spid="_x0000_s623901" name="Equation" r:id="rId6" imgW="1256755" imgH="583947" progId="Equation.3">
              <p:embed/>
            </p:oleObj>
          </a:graphicData>
        </a:graphic>
      </p:graphicFrame>
      <p:sp>
        <p:nvSpPr>
          <p:cNvPr id="15" name="TextBox 14"/>
          <p:cNvSpPr txBox="1"/>
          <p:nvPr/>
        </p:nvSpPr>
        <p:spPr>
          <a:xfrm>
            <a:off x="214282" y="5286388"/>
            <a:ext cx="8610600" cy="830997"/>
          </a:xfrm>
          <a:prstGeom prst="rect">
            <a:avLst/>
          </a:prstGeom>
          <a:noFill/>
        </p:spPr>
        <p:txBody>
          <a:bodyPr wrap="square" rtlCol="0">
            <a:spAutoFit/>
          </a:bodyPr>
          <a:lstStyle/>
          <a:p>
            <a:r>
              <a:rPr lang="en-US" sz="2400" dirty="0" smtClean="0">
                <a:solidFill>
                  <a:srgbClr val="0000CC"/>
                </a:solidFill>
                <a:latin typeface="+mj-lt"/>
              </a:rPr>
              <a:t>Data = 8,1,6,   AM = 5, GM = 3.63 and  HM = 2.32 AM&gt;GM&gt;HM</a:t>
            </a:r>
          </a:p>
          <a:p>
            <a:r>
              <a:rPr lang="en-US" sz="2400" dirty="0" smtClean="0">
                <a:solidFill>
                  <a:srgbClr val="0000CC"/>
                </a:solidFill>
                <a:latin typeface="+mj-lt"/>
              </a:rPr>
              <a:t>GM is used when there is outliner (extreme value), HM is not used</a:t>
            </a:r>
            <a:endParaRPr lang="en-US" sz="2400" dirty="0">
              <a:solidFill>
                <a:srgbClr val="0000CC"/>
              </a:solidFill>
              <a:latin typeface="+mj-lt"/>
            </a:endParaRPr>
          </a:p>
        </p:txBody>
      </p:sp>
      <p:graphicFrame>
        <p:nvGraphicFramePr>
          <p:cNvPr id="17" name="Object 16"/>
          <p:cNvGraphicFramePr>
            <a:graphicFrameLocks noChangeAspect="1"/>
          </p:cNvGraphicFramePr>
          <p:nvPr/>
        </p:nvGraphicFramePr>
        <p:xfrm>
          <a:off x="3048000" y="990599"/>
          <a:ext cx="1524000" cy="630621"/>
        </p:xfrm>
        <a:graphic>
          <a:graphicData uri="http://schemas.openxmlformats.org/presentationml/2006/ole">
            <p:oleObj spid="_x0000_s623902" name="Equation" r:id="rId7" imgW="736280" imgH="304668" progId="Equation.3">
              <p:embed/>
            </p:oleObj>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241300" y="685800"/>
            <a:ext cx="8902700" cy="54864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The </a:t>
            </a:r>
            <a:r>
              <a:rPr kumimoji="0" lang="en-US" sz="2400" b="1" i="1" u="none" strike="noStrike" kern="0" cap="none" spc="0" normalizeH="0" baseline="0" noProof="0" dirty="0" smtClean="0">
                <a:ln>
                  <a:noFill/>
                </a:ln>
                <a:solidFill>
                  <a:schemeClr val="tx1"/>
                </a:solidFill>
                <a:effectLst/>
                <a:uLnTx/>
                <a:uFillTx/>
                <a:latin typeface="+mn-lt"/>
                <a:ea typeface="+mn-ea"/>
                <a:cs typeface="+mn-cs"/>
              </a:rPr>
              <a:t>median </a:t>
            </a:r>
            <a:r>
              <a:rPr kumimoji="0" lang="en-US" sz="2400" b="0" i="0" u="none" strike="noStrike" kern="0" cap="none" spc="0" normalizeH="0" baseline="0" noProof="0" dirty="0" smtClean="0">
                <a:ln>
                  <a:noFill/>
                </a:ln>
                <a:solidFill>
                  <a:schemeClr val="tx1"/>
                </a:solidFill>
                <a:effectLst/>
                <a:uLnTx/>
                <a:uFillTx/>
                <a:latin typeface="+mn-lt"/>
                <a:ea typeface="+mn-ea"/>
                <a:cs typeface="+mn-cs"/>
              </a:rPr>
              <a:t>is calculated by placing all observations in a </a:t>
            </a:r>
            <a:r>
              <a:rPr kumimoji="0" lang="en-US" sz="2400" b="0" i="0" u="none" strike="noStrike" kern="0" cap="none" spc="0" normalizeH="0" baseline="0" noProof="0" dirty="0" smtClean="0">
                <a:ln>
                  <a:noFill/>
                </a:ln>
                <a:solidFill>
                  <a:srgbClr val="0000CC"/>
                </a:solidFill>
                <a:effectLst/>
                <a:uLnTx/>
                <a:uFillTx/>
                <a:latin typeface="+mn-lt"/>
                <a:ea typeface="+mn-ea"/>
                <a:cs typeface="+mn-cs"/>
              </a:rPr>
              <a:t>particular order;</a:t>
            </a:r>
            <a:r>
              <a:rPr kumimoji="0" lang="en-US" sz="2400" b="0" i="0" u="none" strike="noStrike" kern="0" cap="none" spc="0" normalizeH="0" baseline="0" noProof="0" dirty="0" smtClean="0">
                <a:ln>
                  <a:noFill/>
                </a:ln>
                <a:solidFill>
                  <a:schemeClr val="tx1"/>
                </a:solidFill>
                <a:effectLst/>
                <a:uLnTx/>
                <a:uFillTx/>
                <a:latin typeface="+mn-lt"/>
                <a:ea typeface="+mn-ea"/>
                <a:cs typeface="+mn-cs"/>
              </a:rPr>
              <a:t> the observation that falls in the </a:t>
            </a:r>
            <a:r>
              <a:rPr kumimoji="0" lang="en-US" sz="2400" b="0" i="1" u="none" strike="noStrike" kern="0" cap="none" spc="0" normalizeH="0" baseline="0" noProof="0" dirty="0" smtClean="0">
                <a:ln>
                  <a:noFill/>
                </a:ln>
                <a:solidFill>
                  <a:srgbClr val="0000CC"/>
                </a:solidFill>
                <a:effectLst/>
                <a:uLnTx/>
                <a:uFillTx/>
                <a:latin typeface="+mn-lt"/>
                <a:ea typeface="+mn-ea"/>
                <a:cs typeface="+mn-cs"/>
              </a:rPr>
              <a:t>middle</a:t>
            </a:r>
            <a:r>
              <a:rPr kumimoji="0" lang="en-US" sz="2400" b="0" i="0" u="none" strike="noStrike" kern="0" cap="none" spc="0" normalizeH="0" baseline="0" noProof="0" dirty="0" smtClean="0">
                <a:ln>
                  <a:noFill/>
                </a:ln>
                <a:solidFill>
                  <a:schemeClr val="tx1"/>
                </a:solidFill>
                <a:effectLst/>
                <a:uLnTx/>
                <a:uFillTx/>
                <a:latin typeface="+mn-lt"/>
                <a:ea typeface="+mn-ea"/>
                <a:cs typeface="+mn-cs"/>
              </a:rPr>
              <a:t> is the median. </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sp>
        <p:nvSpPr>
          <p:cNvPr id="8" name="Rectangle 4"/>
          <p:cNvSpPr>
            <a:spLocks noChangeArrowheads="1"/>
          </p:cNvSpPr>
          <p:nvPr/>
        </p:nvSpPr>
        <p:spPr bwMode="auto">
          <a:xfrm>
            <a:off x="609600" y="1676400"/>
            <a:ext cx="5977919" cy="1200329"/>
          </a:xfrm>
          <a:prstGeom prst="rect">
            <a:avLst/>
          </a:prstGeom>
          <a:noFill/>
          <a:ln w="9525">
            <a:noFill/>
            <a:miter lim="800000"/>
            <a:headEnd/>
            <a:tailEnd/>
          </a:ln>
          <a:effectLst/>
        </p:spPr>
        <p:txBody>
          <a:bodyPr wrap="none" anchor="ctr">
            <a:spAutoFit/>
          </a:bodyPr>
          <a:lstStyle/>
          <a:p>
            <a:pPr algn="l">
              <a:spcBef>
                <a:spcPts val="0"/>
              </a:spcBef>
              <a:spcAft>
                <a:spcPts val="0"/>
              </a:spcAft>
            </a:pPr>
            <a:r>
              <a:rPr lang="en-US" sz="2400" dirty="0">
                <a:latin typeface="+mj-lt"/>
              </a:rPr>
              <a:t>Data: {0, 7, 12, 5, 14, 8, 0, 9, 22}     N=9 (</a:t>
            </a:r>
            <a:r>
              <a:rPr lang="en-US" sz="2400" dirty="0">
                <a:solidFill>
                  <a:schemeClr val="accent1">
                    <a:lumMod val="50000"/>
                  </a:schemeClr>
                </a:solidFill>
                <a:latin typeface="+mj-lt"/>
              </a:rPr>
              <a:t>odd</a:t>
            </a:r>
            <a:r>
              <a:rPr lang="en-US" sz="2400" dirty="0">
                <a:latin typeface="+mj-lt"/>
              </a:rPr>
              <a:t>)</a:t>
            </a:r>
          </a:p>
          <a:p>
            <a:pPr algn="l">
              <a:spcBef>
                <a:spcPts val="0"/>
              </a:spcBef>
              <a:spcAft>
                <a:spcPts val="0"/>
              </a:spcAft>
            </a:pPr>
            <a:r>
              <a:rPr lang="en-US" sz="2400" b="1" dirty="0">
                <a:solidFill>
                  <a:schemeClr val="accent1">
                    <a:lumMod val="50000"/>
                  </a:schemeClr>
                </a:solidFill>
                <a:latin typeface="+mj-lt"/>
              </a:rPr>
              <a:t>Sort them </a:t>
            </a:r>
            <a:r>
              <a:rPr lang="en-US" sz="2400" dirty="0">
                <a:latin typeface="+mj-lt"/>
              </a:rPr>
              <a:t>bottom to top, find the middle:</a:t>
            </a:r>
          </a:p>
          <a:p>
            <a:pPr algn="l">
              <a:spcBef>
                <a:spcPts val="0"/>
              </a:spcBef>
              <a:spcAft>
                <a:spcPts val="0"/>
              </a:spcAft>
            </a:pPr>
            <a:r>
              <a:rPr lang="en-US" sz="2400" dirty="0">
                <a:latin typeface="+mj-lt"/>
              </a:rPr>
              <a:t>0   0   5   7   </a:t>
            </a:r>
            <a:r>
              <a:rPr lang="en-US" sz="2400" b="1" dirty="0">
                <a:solidFill>
                  <a:srgbClr val="FF0000"/>
                </a:solidFill>
                <a:latin typeface="+mj-lt"/>
              </a:rPr>
              <a:t>8  </a:t>
            </a:r>
            <a:r>
              <a:rPr lang="en-US" sz="2400" dirty="0">
                <a:latin typeface="+mj-lt"/>
              </a:rPr>
              <a:t> 9   12   14   22</a:t>
            </a:r>
          </a:p>
        </p:txBody>
      </p:sp>
      <p:sp>
        <p:nvSpPr>
          <p:cNvPr id="9" name="Rectangle 7"/>
          <p:cNvSpPr>
            <a:spLocks noChangeArrowheads="1"/>
          </p:cNvSpPr>
          <p:nvPr/>
        </p:nvSpPr>
        <p:spPr bwMode="auto">
          <a:xfrm>
            <a:off x="457200" y="2971800"/>
            <a:ext cx="7543800" cy="1938992"/>
          </a:xfrm>
          <a:prstGeom prst="rect">
            <a:avLst/>
          </a:prstGeom>
          <a:noFill/>
          <a:ln w="9525">
            <a:noFill/>
            <a:miter lim="800000"/>
            <a:headEnd/>
            <a:tailEnd/>
          </a:ln>
          <a:effectLst/>
        </p:spPr>
        <p:txBody>
          <a:bodyPr wrap="square" anchor="ctr">
            <a:spAutoFit/>
          </a:bodyPr>
          <a:lstStyle/>
          <a:p>
            <a:pPr algn="l">
              <a:spcBef>
                <a:spcPts val="0"/>
              </a:spcBef>
              <a:spcAft>
                <a:spcPts val="0"/>
              </a:spcAft>
            </a:pPr>
            <a:r>
              <a:rPr lang="en-US" sz="2400" dirty="0">
                <a:latin typeface="+mj-lt"/>
              </a:rPr>
              <a:t>Data: {0, 7, 12, 5, 14, 8, 0, 9, 22, 33} </a:t>
            </a:r>
            <a:r>
              <a:rPr lang="en-US" sz="2400" dirty="0" smtClean="0">
                <a:latin typeface="+mj-lt"/>
              </a:rPr>
              <a:t> N=10 </a:t>
            </a:r>
            <a:r>
              <a:rPr lang="en-US" sz="2400" dirty="0">
                <a:latin typeface="+mj-lt"/>
              </a:rPr>
              <a:t>(</a:t>
            </a:r>
            <a:r>
              <a:rPr lang="en-US" sz="2400" dirty="0">
                <a:solidFill>
                  <a:srgbClr val="0000FF"/>
                </a:solidFill>
                <a:latin typeface="+mj-lt"/>
              </a:rPr>
              <a:t>even</a:t>
            </a:r>
            <a:r>
              <a:rPr lang="en-US" sz="2000" dirty="0">
                <a:latin typeface="+mj-lt"/>
              </a:rPr>
              <a:t>)</a:t>
            </a:r>
          </a:p>
          <a:p>
            <a:pPr algn="l">
              <a:spcBef>
                <a:spcPts val="0"/>
              </a:spcBef>
              <a:spcAft>
                <a:spcPts val="0"/>
              </a:spcAft>
            </a:pPr>
            <a:r>
              <a:rPr lang="en-US" sz="2400" b="1" dirty="0" smtClean="0">
                <a:solidFill>
                  <a:schemeClr val="accent1">
                    <a:lumMod val="50000"/>
                  </a:schemeClr>
                </a:solidFill>
                <a:latin typeface="+mj-lt"/>
              </a:rPr>
              <a:t>Sort </a:t>
            </a:r>
            <a:r>
              <a:rPr lang="en-US" sz="2400" b="1" dirty="0">
                <a:solidFill>
                  <a:schemeClr val="accent1">
                    <a:lumMod val="50000"/>
                  </a:schemeClr>
                </a:solidFill>
                <a:latin typeface="+mj-lt"/>
              </a:rPr>
              <a:t>them </a:t>
            </a:r>
            <a:r>
              <a:rPr lang="en-US" sz="2400" dirty="0">
                <a:latin typeface="+mj-lt"/>
              </a:rPr>
              <a:t>bottom to top, the middle is the</a:t>
            </a:r>
          </a:p>
          <a:p>
            <a:pPr algn="l">
              <a:spcBef>
                <a:spcPts val="0"/>
              </a:spcBef>
              <a:spcAft>
                <a:spcPts val="0"/>
              </a:spcAft>
            </a:pPr>
            <a:r>
              <a:rPr lang="en-US" sz="2400" dirty="0">
                <a:latin typeface="+mj-lt"/>
              </a:rPr>
              <a:t>simple average between 8 &amp; 9:</a:t>
            </a:r>
          </a:p>
          <a:p>
            <a:pPr algn="l">
              <a:spcBef>
                <a:spcPts val="0"/>
              </a:spcBef>
              <a:spcAft>
                <a:spcPts val="0"/>
              </a:spcAft>
            </a:pPr>
            <a:r>
              <a:rPr lang="en-US" sz="2400" dirty="0">
                <a:latin typeface="+mj-lt"/>
              </a:rPr>
              <a:t>0   0   5   7   </a:t>
            </a:r>
            <a:r>
              <a:rPr lang="en-US" sz="2400" b="1" dirty="0">
                <a:solidFill>
                  <a:srgbClr val="0000FF"/>
                </a:solidFill>
                <a:latin typeface="+mj-lt"/>
              </a:rPr>
              <a:t>8   9</a:t>
            </a:r>
            <a:r>
              <a:rPr lang="en-US" sz="2400" dirty="0">
                <a:latin typeface="+mj-lt"/>
              </a:rPr>
              <a:t>   12   14   22   33</a:t>
            </a:r>
          </a:p>
          <a:p>
            <a:pPr algn="l">
              <a:spcBef>
                <a:spcPts val="0"/>
              </a:spcBef>
              <a:spcAft>
                <a:spcPts val="0"/>
              </a:spcAft>
            </a:pPr>
            <a:r>
              <a:rPr lang="en-US" sz="2400" dirty="0">
                <a:latin typeface="+mj-lt"/>
              </a:rPr>
              <a:t>median = (8+9</a:t>
            </a:r>
            <a:r>
              <a:rPr lang="en-US" sz="2400" dirty="0" smtClean="0">
                <a:latin typeface="+mj-lt"/>
              </a:rPr>
              <a:t>) ÷</a:t>
            </a:r>
            <a:r>
              <a:rPr lang="en-US" sz="2400" dirty="0">
                <a:latin typeface="+mj-lt"/>
              </a:rPr>
              <a:t>2 = </a:t>
            </a:r>
            <a:r>
              <a:rPr lang="en-US" sz="2400" b="1" dirty="0">
                <a:solidFill>
                  <a:srgbClr val="0000FF"/>
                </a:solidFill>
                <a:latin typeface="+mj-lt"/>
              </a:rPr>
              <a:t>8.5</a:t>
            </a:r>
            <a:endParaRPr lang="en-US" sz="2400" dirty="0">
              <a:latin typeface="+mj-lt"/>
            </a:endParaRPr>
          </a:p>
        </p:txBody>
      </p:sp>
      <p:sp>
        <p:nvSpPr>
          <p:cNvPr id="10" name="Rectangle 8"/>
          <p:cNvSpPr>
            <a:spLocks noChangeArrowheads="1"/>
          </p:cNvSpPr>
          <p:nvPr/>
        </p:nvSpPr>
        <p:spPr bwMode="auto">
          <a:xfrm>
            <a:off x="5791200" y="3886200"/>
            <a:ext cx="3124200" cy="1089529"/>
          </a:xfrm>
          <a:prstGeom prst="rect">
            <a:avLst/>
          </a:prstGeom>
          <a:noFill/>
          <a:ln w="9525">
            <a:noFill/>
            <a:miter lim="800000"/>
            <a:headEnd/>
            <a:tailEnd/>
          </a:ln>
          <a:effectLst/>
        </p:spPr>
        <p:txBody>
          <a:bodyPr wrap="square" anchor="ctr">
            <a:spAutoFit/>
          </a:bodyPr>
          <a:lstStyle/>
          <a:p>
            <a:pPr eaLnBrk="1" hangingPunct="1">
              <a:lnSpc>
                <a:spcPct val="90000"/>
              </a:lnSpc>
              <a:spcBef>
                <a:spcPct val="20000"/>
              </a:spcBef>
            </a:pPr>
            <a:r>
              <a:rPr lang="en-US" sz="2400" dirty="0">
                <a:latin typeface="+mj-lt"/>
              </a:rPr>
              <a:t>Sample and population medians are computed the same way.</a:t>
            </a:r>
          </a:p>
        </p:txBody>
      </p:sp>
      <p:sp>
        <p:nvSpPr>
          <p:cNvPr id="11" name="Rectangle 2"/>
          <p:cNvSpPr>
            <a:spLocks noGrp="1" noChangeArrowheads="1"/>
          </p:cNvSpPr>
          <p:nvPr>
            <p:ph type="title" idx="4294967295"/>
          </p:nvPr>
        </p:nvSpPr>
        <p:spPr>
          <a:xfrm>
            <a:off x="381000" y="0"/>
            <a:ext cx="8763000" cy="609600"/>
          </a:xfrm>
          <a:prstGeom prst="rect">
            <a:avLst/>
          </a:prstGeom>
        </p:spPr>
        <p:txBody>
          <a:bodyPr/>
          <a:lstStyle/>
          <a:p>
            <a:r>
              <a:rPr lang="en-US" b="0" dirty="0">
                <a:latin typeface="Arial" pitchFamily="34" charset="0"/>
                <a:cs typeface="Arial" pitchFamily="34" charset="0"/>
              </a:rPr>
              <a:t>Measures of Central </a:t>
            </a:r>
            <a:r>
              <a:rPr lang="en-US" b="0" dirty="0" smtClean="0">
                <a:latin typeface="Arial" pitchFamily="34" charset="0"/>
                <a:cs typeface="Arial" pitchFamily="34" charset="0"/>
              </a:rPr>
              <a:t>Location: Median and Mode</a:t>
            </a:r>
            <a:endParaRPr lang="en-US" dirty="0"/>
          </a:p>
        </p:txBody>
      </p:sp>
      <p:sp>
        <p:nvSpPr>
          <p:cNvPr id="12" name="Rectangle 3"/>
          <p:cNvSpPr txBox="1">
            <a:spLocks noChangeArrowheads="1"/>
          </p:cNvSpPr>
          <p:nvPr/>
        </p:nvSpPr>
        <p:spPr>
          <a:xfrm>
            <a:off x="0" y="5181600"/>
            <a:ext cx="8902700" cy="1219200"/>
          </a:xfrm>
          <a:prstGeom prst="rect">
            <a:avLst/>
          </a:prstGeom>
        </p:spPr>
        <p:txBody>
          <a:bodyPr/>
          <a:lstStyle/>
          <a:p>
            <a:pPr marL="342900" marR="0" lvl="0" indent="-342900" algn="just" defTabSz="914400" rtl="0" eaLnBrk="0" fontAlgn="base" latinLnBrk="0" hangingPunct="0">
              <a:lnSpc>
                <a:spcPct val="90000"/>
              </a:lnSpc>
              <a:spcBef>
                <a:spcPct val="20000"/>
              </a:spcBef>
              <a:spcAft>
                <a:spcPct val="0"/>
              </a:spcAft>
              <a:buClrTx/>
              <a:buSzTx/>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0" fontAlgn="base" latinLnBrk="0" hangingPunct="0">
              <a:lnSpc>
                <a:spcPct val="90000"/>
              </a:lnSpc>
              <a:spcBef>
                <a:spcPct val="20000"/>
              </a:spcBef>
              <a:spcAft>
                <a:spcPct val="0"/>
              </a:spcAft>
              <a:buClrTx/>
              <a:buSzTx/>
              <a:buFontTx/>
              <a:buChar char="•"/>
              <a:tabLst/>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Tx/>
              <a:buSzTx/>
              <a:buFontTx/>
              <a:buChar char="•"/>
              <a:tabLst/>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Tx/>
              <a:buSzTx/>
              <a:buFontTx/>
              <a:buChar char="•"/>
              <a:tabLst/>
              <a:defRPr/>
            </a:pPr>
            <a:endParaRPr kumimoji="0" lang="en-US" sz="2800" b="0" i="0" u="none" strike="noStrike" kern="0" cap="none" spc="0" normalizeH="0" baseline="0" noProof="0" dirty="0">
              <a:ln>
                <a:noFill/>
              </a:ln>
              <a:solidFill>
                <a:schemeClr val="tx1"/>
              </a:solidFill>
              <a:effectLst/>
              <a:uLnTx/>
              <a:uFillTx/>
              <a:latin typeface="+mn-lt"/>
              <a:ea typeface="+mn-ea"/>
              <a:cs typeface="+mn-cs"/>
            </a:endParaRPr>
          </a:p>
        </p:txBody>
      </p:sp>
      <p:sp>
        <p:nvSpPr>
          <p:cNvPr id="13" name="Date Placeholder 12"/>
          <p:cNvSpPr>
            <a:spLocks noGrp="1"/>
          </p:cNvSpPr>
          <p:nvPr>
            <p:ph type="dt" sz="half" idx="10"/>
          </p:nvPr>
        </p:nvSpPr>
        <p:spPr/>
        <p:txBody>
          <a:bodyPr/>
          <a:lstStyle/>
          <a:p>
            <a:r>
              <a:rPr lang="en-US" smtClean="0"/>
              <a:t>Prof. A. K. Datta     University of Calcutta</a:t>
            </a:r>
            <a:endParaRPr lang="en-IN" dirty="0"/>
          </a:p>
        </p:txBody>
      </p:sp>
      <p:sp>
        <p:nvSpPr>
          <p:cNvPr id="14" name="Slide Number Placeholder 13"/>
          <p:cNvSpPr>
            <a:spLocks noGrp="1"/>
          </p:cNvSpPr>
          <p:nvPr>
            <p:ph type="sldNum" sz="quarter" idx="11"/>
          </p:nvPr>
        </p:nvSpPr>
        <p:spPr/>
        <p:txBody>
          <a:bodyPr/>
          <a:lstStyle/>
          <a:p>
            <a:fld id="{BF2D74FB-8EB9-4DEE-8258-980F8375AF4A}" type="slidenum">
              <a:rPr lang="en-IN" smtClean="0"/>
              <a:pPr/>
              <a:t>15</a:t>
            </a:fld>
            <a:endParaRPr lang="en-IN" dirty="0"/>
          </a:p>
        </p:txBody>
      </p:sp>
      <p:sp>
        <p:nvSpPr>
          <p:cNvPr id="15" name="Footer Placeholder 14"/>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16</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
        <p:nvSpPr>
          <p:cNvPr id="7" name="Rectangle 3"/>
          <p:cNvSpPr txBox="1">
            <a:spLocks noChangeArrowheads="1"/>
          </p:cNvSpPr>
          <p:nvPr/>
        </p:nvSpPr>
        <p:spPr>
          <a:xfrm>
            <a:off x="241300" y="914400"/>
            <a:ext cx="8902700" cy="1219200"/>
          </a:xfrm>
          <a:prstGeom prst="rect">
            <a:avLst/>
          </a:prstGeom>
        </p:spPr>
        <p:txBody>
          <a:bodyPr/>
          <a:lstStyle/>
          <a:p>
            <a:pPr marL="342900" marR="0" lvl="0" indent="-342900" algn="just" defTabSz="914400" rtl="0" eaLnBrk="0" fontAlgn="base" latinLnBrk="0" hangingPunct="0">
              <a:lnSpc>
                <a:spcPct val="9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The </a:t>
            </a:r>
            <a:r>
              <a:rPr kumimoji="0" lang="en-US" sz="2400" b="1" i="1" u="none" strike="noStrike" kern="0" cap="none" spc="0" normalizeH="0" baseline="0" noProof="0" dirty="0" smtClean="0">
                <a:ln>
                  <a:noFill/>
                </a:ln>
                <a:solidFill>
                  <a:schemeClr val="tx1"/>
                </a:solidFill>
                <a:effectLst/>
                <a:uLnTx/>
                <a:uFillTx/>
                <a:latin typeface="+mn-lt"/>
                <a:ea typeface="+mn-ea"/>
                <a:cs typeface="+mn-cs"/>
              </a:rPr>
              <a:t>mode</a:t>
            </a:r>
            <a:r>
              <a:rPr kumimoji="0" lang="en-US" sz="2400" b="0" i="0" u="none" strike="noStrike" kern="0" cap="none" spc="0" normalizeH="0" baseline="0" noProof="0" dirty="0" smtClean="0">
                <a:ln>
                  <a:noFill/>
                </a:ln>
                <a:solidFill>
                  <a:schemeClr val="tx1"/>
                </a:solidFill>
                <a:effectLst/>
                <a:uLnTx/>
                <a:uFillTx/>
                <a:latin typeface="+mn-lt"/>
                <a:ea typeface="+mn-ea"/>
                <a:cs typeface="+mn-cs"/>
              </a:rPr>
              <a:t> of a set of observations is the value that occurs most </a:t>
            </a:r>
            <a:r>
              <a:rPr kumimoji="0" lang="en-US" sz="2400" b="0" i="1" u="none" strike="noStrike" kern="0" cap="none" spc="0" normalizeH="0" baseline="0" noProof="0" dirty="0" smtClean="0">
                <a:ln>
                  <a:noFill/>
                </a:ln>
                <a:solidFill>
                  <a:srgbClr val="0000CC"/>
                </a:solidFill>
                <a:effectLst/>
                <a:uLnTx/>
                <a:uFillTx/>
                <a:latin typeface="+mn-lt"/>
                <a:ea typeface="+mn-ea"/>
                <a:cs typeface="+mn-cs"/>
              </a:rPr>
              <a:t>frequently</a:t>
            </a:r>
            <a:r>
              <a:rPr kumimoji="0" lang="en-US" sz="2400" b="0" i="0" u="none" strike="noStrike" kern="0" cap="none" spc="0" normalizeH="0" baseline="0" noProof="0" dirty="0" smtClean="0">
                <a:ln>
                  <a:noFill/>
                </a:ln>
                <a:solidFill>
                  <a:schemeClr val="tx1"/>
                </a:solidFill>
                <a:effectLst/>
                <a:uLnTx/>
                <a:uFillTx/>
                <a:latin typeface="+mn-lt"/>
                <a:ea typeface="+mn-ea"/>
                <a:cs typeface="+mn-cs"/>
              </a:rPr>
              <a:t>. A set of data may have one mode (or modal class), or two, or more modes. </a:t>
            </a:r>
          </a:p>
          <a:p>
            <a:pPr marL="342900" marR="0" lvl="0" indent="-342900" algn="l" defTabSz="914400" rtl="0" eaLnBrk="0" fontAlgn="base" latinLnBrk="0" hangingPunct="0">
              <a:lnSpc>
                <a:spcPct val="90000"/>
              </a:lnSpc>
              <a:spcBef>
                <a:spcPct val="20000"/>
              </a:spcBef>
              <a:spcAft>
                <a:spcPct val="0"/>
              </a:spcAft>
              <a:buClrTx/>
              <a:buSzTx/>
              <a:buFontTx/>
              <a:buChar char="•"/>
              <a:tabLst/>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Tx/>
              <a:buSzTx/>
              <a:buFontTx/>
              <a:buChar char="•"/>
              <a:tabLst/>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r>
              <a:rPr lang="en-IN" sz="2400" dirty="0" smtClean="0">
                <a:latin typeface="+mj-lt"/>
              </a:rPr>
              <a:t>In the case where data is available in the form of a frequency distribution, the mode                                where        is the median and </a:t>
            </a:r>
            <a:r>
              <a:rPr lang="en-IN" sz="2400" i="1" dirty="0" smtClean="0">
                <a:latin typeface="+mj-lt"/>
              </a:rPr>
              <a:t>M</a:t>
            </a:r>
            <a:r>
              <a:rPr lang="en-IN" sz="2400" dirty="0" smtClean="0">
                <a:latin typeface="+mj-lt"/>
              </a:rPr>
              <a:t> is the mean of the given distribution of all mean</a:t>
            </a:r>
            <a:r>
              <a:rPr lang="en-IN" sz="2800" dirty="0" smtClean="0"/>
              <a:t>.</a:t>
            </a:r>
            <a:endParaRPr kumimoji="0" lang="en-US" sz="2800" b="0" i="0" u="none" strike="noStrike" kern="0" cap="none" spc="0" normalizeH="0" baseline="0" noProof="0" dirty="0">
              <a:ln>
                <a:noFill/>
              </a:ln>
              <a:solidFill>
                <a:schemeClr val="tx1"/>
              </a:solidFill>
              <a:effectLst/>
              <a:uLnTx/>
              <a:uFillTx/>
              <a:latin typeface="+mn-lt"/>
              <a:ea typeface="+mn-ea"/>
              <a:cs typeface="+mn-cs"/>
            </a:endParaRPr>
          </a:p>
        </p:txBody>
      </p:sp>
      <p:sp>
        <p:nvSpPr>
          <p:cNvPr id="8" name="TextBox 7"/>
          <p:cNvSpPr txBox="1"/>
          <p:nvPr/>
        </p:nvSpPr>
        <p:spPr>
          <a:xfrm>
            <a:off x="1447800" y="0"/>
            <a:ext cx="5638800" cy="584775"/>
          </a:xfrm>
          <a:prstGeom prst="rect">
            <a:avLst/>
          </a:prstGeom>
          <a:noFill/>
        </p:spPr>
        <p:txBody>
          <a:bodyPr wrap="square" rtlCol="0">
            <a:spAutoFit/>
          </a:bodyPr>
          <a:lstStyle/>
          <a:p>
            <a:pPr algn="ctr"/>
            <a:r>
              <a:rPr lang="en-US" sz="3200" dirty="0" smtClean="0"/>
              <a:t>Mode</a:t>
            </a:r>
            <a:endParaRPr lang="en-GB" sz="3200" dirty="0"/>
          </a:p>
        </p:txBody>
      </p:sp>
      <p:graphicFrame>
        <p:nvGraphicFramePr>
          <p:cNvPr id="10" name="Object 9"/>
          <p:cNvGraphicFramePr>
            <a:graphicFrameLocks noChangeAspect="1"/>
          </p:cNvGraphicFramePr>
          <p:nvPr/>
        </p:nvGraphicFramePr>
        <p:xfrm>
          <a:off x="3124200" y="3276600"/>
          <a:ext cx="2146300" cy="381000"/>
        </p:xfrm>
        <a:graphic>
          <a:graphicData uri="http://schemas.openxmlformats.org/presentationml/2006/ole">
            <p:oleObj spid="_x0000_s811121" name="Equation" r:id="rId3" imgW="2146300" imgH="381000" progId="Equation.3">
              <p:embed/>
            </p:oleObj>
          </a:graphicData>
        </a:graphic>
      </p:graphicFrame>
      <p:graphicFrame>
        <p:nvGraphicFramePr>
          <p:cNvPr id="811012" name="Object 4"/>
          <p:cNvGraphicFramePr>
            <a:graphicFrameLocks noChangeAspect="1"/>
          </p:cNvGraphicFramePr>
          <p:nvPr/>
        </p:nvGraphicFramePr>
        <p:xfrm>
          <a:off x="6248400" y="3276600"/>
          <a:ext cx="482600" cy="381000"/>
        </p:xfrm>
        <a:graphic>
          <a:graphicData uri="http://schemas.openxmlformats.org/presentationml/2006/ole">
            <p:oleObj spid="_x0000_s811122" name="Equation" r:id="rId4" imgW="482391" imgH="380835" progId="Equation.3">
              <p:embed/>
            </p:oleObj>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87"/>
          <p:cNvGraphicFramePr>
            <a:graphicFrameLocks noGrp="1"/>
          </p:cNvGraphicFramePr>
          <p:nvPr>
            <p:ph idx="1"/>
          </p:nvPr>
        </p:nvGraphicFramePr>
        <p:xfrm>
          <a:off x="304800" y="685800"/>
          <a:ext cx="8610600" cy="5335207"/>
        </p:xfrm>
        <a:graphic>
          <a:graphicData uri="http://schemas.openxmlformats.org/drawingml/2006/table">
            <a:tbl>
              <a:tblPr/>
              <a:tblGrid>
                <a:gridCol w="1295400"/>
                <a:gridCol w="3505200"/>
                <a:gridCol w="3810000"/>
              </a:tblGrid>
              <a:tr h="36830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dirty="0" smtClean="0">
                          <a:ln>
                            <a:noFill/>
                          </a:ln>
                          <a:solidFill>
                            <a:schemeClr val="tx1"/>
                          </a:solidFill>
                          <a:effectLst/>
                          <a:latin typeface="+mj-lt"/>
                          <a:cs typeface="Arial" charset="0"/>
                        </a:rPr>
                        <a:t>Measure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dirty="0" smtClean="0">
                          <a:ln>
                            <a:noFill/>
                          </a:ln>
                          <a:solidFill>
                            <a:schemeClr val="tx1"/>
                          </a:solidFill>
                          <a:effectLst/>
                          <a:latin typeface="+mj-lt"/>
                          <a:cs typeface="Arial" charset="0"/>
                        </a:rPr>
                        <a:t>Advantages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 typeface="Wingdings" pitchFamily="2" charset="2"/>
                        <a:buNone/>
                        <a:tabLst/>
                      </a:pPr>
                      <a:r>
                        <a:rPr kumimoji="0" lang="en-US" sz="2000" b="0" i="0" u="none" strike="noStrike" cap="none" normalizeH="0" baseline="0" dirty="0" smtClean="0">
                          <a:ln>
                            <a:noFill/>
                          </a:ln>
                          <a:solidFill>
                            <a:schemeClr val="tx1"/>
                          </a:solidFill>
                          <a:effectLst/>
                          <a:latin typeface="+mj-lt"/>
                          <a:cs typeface="Arial" charset="0"/>
                        </a:rPr>
                        <a:t>Disadvantages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39875">
                <a:tc>
                  <a:txBody>
                    <a:bodyPr/>
                    <a:lstStyle/>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rgbClr val="FF0066"/>
                          </a:solidFill>
                          <a:effectLst/>
                          <a:latin typeface="+mj-lt"/>
                          <a:cs typeface="Arial" charset="0"/>
                        </a:rPr>
                        <a:t>Mean</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rgbClr val="080808"/>
                          </a:solidFill>
                          <a:effectLst/>
                          <a:latin typeface="+mj-lt"/>
                          <a:cs typeface="Arial" charset="0"/>
                        </a:rPr>
                        <a:t>(Sum of all values ÷</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rgbClr val="080808"/>
                          </a:solidFill>
                          <a:effectLst/>
                          <a:latin typeface="+mj-lt"/>
                          <a:cs typeface="Arial" charset="0"/>
                        </a:rPr>
                        <a:t>no. of values)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Best known average</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Exactly calculable</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Make use of all data</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Useful for statistical analysis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Affected by extreme values (outlier)</a:t>
                      </a:r>
                    </a:p>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Char char="*"/>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Can be absurd for discrete data</a:t>
                      </a:r>
                    </a:p>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(e.g. Family size = 4.5 person)</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Cannot be obtained graphically</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endParaRPr kumimoji="0" lang="en-US" sz="1800" b="0" i="0" u="none" strike="noStrike" cap="none" normalizeH="0" baseline="0" dirty="0" smtClean="0">
                        <a:ln>
                          <a:noFill/>
                        </a:ln>
                        <a:solidFill>
                          <a:schemeClr val="tx1"/>
                        </a:solidFill>
                        <a:effectLst/>
                        <a:latin typeface="+mj-lt"/>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64004">
                <a:tc>
                  <a:txBody>
                    <a:bodyPr/>
                    <a:lstStyle/>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smtClean="0">
                          <a:ln>
                            <a:noFill/>
                          </a:ln>
                          <a:solidFill>
                            <a:srgbClr val="FF0066"/>
                          </a:solidFill>
                          <a:effectLst/>
                          <a:latin typeface="+mj-lt"/>
                          <a:cs typeface="Arial" charset="0"/>
                        </a:rPr>
                        <a:t>Median</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smtClean="0">
                          <a:ln>
                            <a:noFill/>
                          </a:ln>
                          <a:solidFill>
                            <a:schemeClr val="tx1"/>
                          </a:solidFill>
                          <a:effectLst/>
                          <a:latin typeface="+mj-lt"/>
                          <a:cs typeface="Arial" charset="0"/>
                        </a:rPr>
                        <a:t>(middle value)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Char char="*"/>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Not influenced by extreme  values</a:t>
                      </a:r>
                    </a:p>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Char char="*"/>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Obtainable even if data  distribution unknown </a:t>
                      </a:r>
                    </a:p>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Char char="*"/>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Unaffected by irregular class width</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Unaffected by open-ended class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Char char="*"/>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Needs interpolation for group/ aggregate data (cumulative frequency curve)</a:t>
                      </a:r>
                    </a:p>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Char char="*"/>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May not be characteristic of group </a:t>
                      </a:r>
                    </a:p>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when: (1) items are only few; (2) </a:t>
                      </a:r>
                    </a:p>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distribution irregular</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Very limited statistical use</a:t>
                      </a:r>
                      <a:endParaRPr kumimoji="0" lang="en-US" sz="1800" b="0" i="0" u="none" strike="noStrike" cap="none" normalizeH="0" baseline="0" dirty="0" smtClean="0">
                        <a:ln>
                          <a:noFill/>
                        </a:ln>
                        <a:solidFill>
                          <a:schemeClr val="tx1"/>
                        </a:solidFill>
                        <a:effectLst/>
                        <a:latin typeface="+mj-lt"/>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35088">
                <a:tc>
                  <a:txBody>
                    <a:bodyPr/>
                    <a:lstStyle/>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smtClean="0">
                          <a:ln>
                            <a:noFill/>
                          </a:ln>
                          <a:solidFill>
                            <a:srgbClr val="FF0066"/>
                          </a:solidFill>
                          <a:effectLst/>
                          <a:latin typeface="+mj-lt"/>
                          <a:cs typeface="Arial" charset="0"/>
                        </a:rPr>
                        <a:t>Mode</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smtClean="0">
                          <a:ln>
                            <a:noFill/>
                          </a:ln>
                          <a:solidFill>
                            <a:schemeClr val="tx1"/>
                          </a:solidFill>
                          <a:effectLst/>
                          <a:latin typeface="+mj-lt"/>
                          <a:cs typeface="Arial" charset="0"/>
                        </a:rPr>
                        <a:t>(most frequent value)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Unaffected by extreme values</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Easy to obtain from histogram</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Determinable from only values  </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near the modal class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Char char="*"/>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Cannot be determined exactly in </a:t>
                      </a:r>
                    </a:p>
                    <a:p>
                      <a:pPr marL="0" marR="0" lvl="0" indent="0" algn="l" defTabSz="914400" rtl="0" eaLnBrk="1" fontAlgn="base" latinLnBrk="0" hangingPunct="1">
                        <a:lnSpc>
                          <a:spcPct val="100000"/>
                        </a:lnSpc>
                        <a:spcBef>
                          <a:spcPts val="0"/>
                        </a:spcBef>
                        <a:spcAft>
                          <a:spcPct val="0"/>
                        </a:spcAft>
                        <a:buClr>
                          <a:schemeClr val="accent1"/>
                        </a:buClr>
                        <a:buSzTx/>
                        <a:buFont typeface="Symbol" pitchFamily="18"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group data</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r>
                        <a:rPr kumimoji="0" lang="en-US" sz="1800" b="0" i="0" u="none" strike="noStrike" cap="none" normalizeH="0" baseline="0" dirty="0" smtClean="0">
                          <a:ln>
                            <a:noFill/>
                          </a:ln>
                          <a:solidFill>
                            <a:schemeClr val="tx1"/>
                          </a:solidFill>
                          <a:effectLst/>
                          <a:latin typeface="+mj-lt"/>
                          <a:cs typeface="Arial" charset="0"/>
                          <a:sym typeface="Symbol" pitchFamily="18" charset="2"/>
                        </a:rPr>
                        <a:t> Very limited statistical use</a:t>
                      </a:r>
                    </a:p>
                    <a:p>
                      <a:pPr marL="0" marR="0" lvl="0" indent="0" algn="l" defTabSz="914400" rtl="0" eaLnBrk="1" fontAlgn="base" latinLnBrk="0" hangingPunct="1">
                        <a:lnSpc>
                          <a:spcPct val="100000"/>
                        </a:lnSpc>
                        <a:spcBef>
                          <a:spcPts val="0"/>
                        </a:spcBef>
                        <a:spcAft>
                          <a:spcPct val="0"/>
                        </a:spcAft>
                        <a:buClr>
                          <a:schemeClr val="accent1"/>
                        </a:buClr>
                        <a:buSzTx/>
                        <a:buFont typeface="Wingdings" pitchFamily="2" charset="2"/>
                        <a:buNone/>
                        <a:tabLst/>
                      </a:pPr>
                      <a:endParaRPr kumimoji="0" lang="en-US" sz="1800" b="0" i="0" u="none" strike="noStrike" cap="none" normalizeH="0" baseline="0" dirty="0" smtClean="0">
                        <a:ln>
                          <a:noFill/>
                        </a:ln>
                        <a:solidFill>
                          <a:schemeClr val="tx1"/>
                        </a:solidFill>
                        <a:effectLst/>
                        <a:latin typeface="+mj-lt"/>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17</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
        <p:nvSpPr>
          <p:cNvPr id="7" name="Rectangle 6"/>
          <p:cNvSpPr/>
          <p:nvPr/>
        </p:nvSpPr>
        <p:spPr>
          <a:xfrm>
            <a:off x="2971800" y="0"/>
            <a:ext cx="3565400" cy="523220"/>
          </a:xfrm>
          <a:prstGeom prst="rect">
            <a:avLst/>
          </a:prstGeom>
        </p:spPr>
        <p:txBody>
          <a:bodyPr wrap="none">
            <a:spAutoFit/>
          </a:bodyPr>
          <a:lstStyle/>
          <a:p>
            <a:r>
              <a:rPr lang="en-US" sz="2800" dirty="0" smtClean="0"/>
              <a:t>Mean, Median, Mode</a:t>
            </a:r>
            <a:endParaRPr 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381000" y="0"/>
            <a:ext cx="8763000" cy="609600"/>
          </a:xfrm>
          <a:prstGeom prst="rect">
            <a:avLst/>
          </a:prstGeom>
        </p:spPr>
        <p:txBody>
          <a:bodyPr/>
          <a:lstStyle/>
          <a:p>
            <a:r>
              <a:rPr lang="en-US" b="0" dirty="0" smtClean="0">
                <a:latin typeface="Arial" pitchFamily="34" charset="0"/>
                <a:cs typeface="Arial" pitchFamily="34" charset="0"/>
              </a:rPr>
              <a:t>Measure of Dispersion: Range</a:t>
            </a:r>
            <a:endParaRPr lang="en-US" b="0" dirty="0">
              <a:latin typeface="Arial" pitchFamily="34" charset="0"/>
              <a:cs typeface="Arial" pitchFamily="34" charset="0"/>
            </a:endParaRPr>
          </a:p>
        </p:txBody>
      </p:sp>
      <p:sp>
        <p:nvSpPr>
          <p:cNvPr id="29699" name="Rectangle 3"/>
          <p:cNvSpPr>
            <a:spLocks noGrp="1" noChangeArrowheads="1"/>
          </p:cNvSpPr>
          <p:nvPr>
            <p:ph type="body" idx="1"/>
          </p:nvPr>
        </p:nvSpPr>
        <p:spPr/>
        <p:txBody>
          <a:bodyPr/>
          <a:lstStyle/>
          <a:p>
            <a:r>
              <a:rPr lang="en-US" dirty="0"/>
              <a:t>The </a:t>
            </a:r>
            <a:r>
              <a:rPr lang="en-US" b="1" i="1" dirty="0"/>
              <a:t>range</a:t>
            </a:r>
            <a:r>
              <a:rPr lang="en-US" dirty="0"/>
              <a:t> is the simplest measure of variability, calculated as:</a:t>
            </a:r>
          </a:p>
          <a:p>
            <a:r>
              <a:rPr lang="en-US" dirty="0" smtClean="0">
                <a:solidFill>
                  <a:srgbClr val="0000FF"/>
                </a:solidFill>
              </a:rPr>
              <a:t>Range </a:t>
            </a:r>
            <a:r>
              <a:rPr lang="en-US" dirty="0">
                <a:solidFill>
                  <a:srgbClr val="0000FF"/>
                </a:solidFill>
              </a:rPr>
              <a:t>= Largest observation – Smallest observation</a:t>
            </a:r>
          </a:p>
          <a:p>
            <a:endParaRPr lang="en-US" dirty="0"/>
          </a:p>
          <a:p>
            <a:pPr>
              <a:buNone/>
            </a:pPr>
            <a:r>
              <a:rPr lang="en-US" dirty="0"/>
              <a:t>	Data: {4, 4, 4, 4, 50}		Range = </a:t>
            </a:r>
            <a:r>
              <a:rPr lang="en-US" dirty="0" smtClean="0"/>
              <a:t>(50-4) = 46</a:t>
            </a:r>
            <a:endParaRPr lang="en-US" dirty="0"/>
          </a:p>
          <a:p>
            <a:pPr>
              <a:buNone/>
            </a:pPr>
            <a:r>
              <a:rPr lang="en-US" dirty="0"/>
              <a:t>	Data: {4, 8, 15, 24, 39, 50}	</a:t>
            </a:r>
            <a:r>
              <a:rPr lang="en-US" dirty="0" smtClean="0"/>
              <a:t>	Range </a:t>
            </a:r>
            <a:r>
              <a:rPr lang="en-US" dirty="0"/>
              <a:t>= </a:t>
            </a:r>
            <a:r>
              <a:rPr lang="en-US" dirty="0" smtClean="0"/>
              <a:t>(50-4) = 46</a:t>
            </a:r>
            <a:endParaRPr lang="en-US" dirty="0"/>
          </a:p>
          <a:p>
            <a:pPr>
              <a:buNone/>
            </a:pPr>
            <a:r>
              <a:rPr lang="en-US" dirty="0"/>
              <a:t>	The range is the same in both cases,</a:t>
            </a:r>
          </a:p>
          <a:p>
            <a:pPr>
              <a:buNone/>
            </a:pPr>
            <a:r>
              <a:rPr lang="en-US" dirty="0"/>
              <a:t>	but the data sets have very different distributions…</a:t>
            </a:r>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18</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19</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TextBox 5"/>
          <p:cNvSpPr txBox="1"/>
          <p:nvPr/>
        </p:nvSpPr>
        <p:spPr>
          <a:xfrm>
            <a:off x="2438400" y="0"/>
            <a:ext cx="4419600" cy="523220"/>
          </a:xfrm>
          <a:prstGeom prst="rect">
            <a:avLst/>
          </a:prstGeom>
          <a:noFill/>
        </p:spPr>
        <p:txBody>
          <a:bodyPr wrap="square" rtlCol="0">
            <a:spAutoFit/>
          </a:bodyPr>
          <a:lstStyle/>
          <a:p>
            <a:pPr algn="ctr"/>
            <a:r>
              <a:rPr lang="en-US" sz="2800" dirty="0" smtClean="0">
                <a:latin typeface="+mj-lt"/>
              </a:rPr>
              <a:t>Mean deviations</a:t>
            </a:r>
            <a:endParaRPr lang="en-US" sz="2800" dirty="0">
              <a:latin typeface="+mj-lt"/>
            </a:endParaRPr>
          </a:p>
        </p:txBody>
      </p:sp>
      <p:sp>
        <p:nvSpPr>
          <p:cNvPr id="7" name="TextBox 6"/>
          <p:cNvSpPr txBox="1"/>
          <p:nvPr/>
        </p:nvSpPr>
        <p:spPr>
          <a:xfrm>
            <a:off x="533400" y="990600"/>
            <a:ext cx="7620000" cy="461665"/>
          </a:xfrm>
          <a:prstGeom prst="rect">
            <a:avLst/>
          </a:prstGeom>
          <a:noFill/>
        </p:spPr>
        <p:txBody>
          <a:bodyPr wrap="square" rtlCol="0">
            <a:spAutoFit/>
          </a:bodyPr>
          <a:lstStyle/>
          <a:p>
            <a:r>
              <a:rPr lang="en-US" sz="2400" dirty="0" smtClean="0">
                <a:latin typeface="+mj-lt"/>
              </a:rPr>
              <a:t>Mean deviation from the mean </a:t>
            </a:r>
            <a:endParaRPr lang="en-US" sz="2400" dirty="0">
              <a:latin typeface="+mj-lt"/>
            </a:endParaRPr>
          </a:p>
        </p:txBody>
      </p:sp>
      <p:sp>
        <p:nvSpPr>
          <p:cNvPr id="8" name="TextBox 7"/>
          <p:cNvSpPr txBox="1"/>
          <p:nvPr/>
        </p:nvSpPr>
        <p:spPr>
          <a:xfrm>
            <a:off x="381000" y="2590800"/>
            <a:ext cx="7620000" cy="461665"/>
          </a:xfrm>
          <a:prstGeom prst="rect">
            <a:avLst/>
          </a:prstGeom>
          <a:noFill/>
        </p:spPr>
        <p:txBody>
          <a:bodyPr wrap="square" rtlCol="0">
            <a:spAutoFit/>
          </a:bodyPr>
          <a:lstStyle/>
          <a:p>
            <a:r>
              <a:rPr lang="en-US" sz="2400" dirty="0" smtClean="0">
                <a:latin typeface="+mj-lt"/>
              </a:rPr>
              <a:t>Mean deviation from the median </a:t>
            </a:r>
            <a:endParaRPr lang="en-US" sz="2400" dirty="0">
              <a:latin typeface="+mj-lt"/>
            </a:endParaRPr>
          </a:p>
        </p:txBody>
      </p:sp>
      <p:sp>
        <p:nvSpPr>
          <p:cNvPr id="9" name="TextBox 8"/>
          <p:cNvSpPr txBox="1"/>
          <p:nvPr/>
        </p:nvSpPr>
        <p:spPr>
          <a:xfrm>
            <a:off x="384875" y="4495799"/>
            <a:ext cx="7620000" cy="461665"/>
          </a:xfrm>
          <a:prstGeom prst="rect">
            <a:avLst/>
          </a:prstGeom>
          <a:noFill/>
        </p:spPr>
        <p:txBody>
          <a:bodyPr wrap="square" rtlCol="0">
            <a:spAutoFit/>
          </a:bodyPr>
          <a:lstStyle/>
          <a:p>
            <a:r>
              <a:rPr lang="en-US" sz="2400" dirty="0" smtClean="0">
                <a:latin typeface="+mj-lt"/>
              </a:rPr>
              <a:t>Mean deviation from the mode</a:t>
            </a:r>
            <a:endParaRPr lang="en-US" sz="2400" dirty="0">
              <a:latin typeface="+mj-lt"/>
            </a:endParaRPr>
          </a:p>
        </p:txBody>
      </p:sp>
      <p:graphicFrame>
        <p:nvGraphicFramePr>
          <p:cNvPr id="10" name="Object 9"/>
          <p:cNvGraphicFramePr>
            <a:graphicFrameLocks noChangeAspect="1"/>
          </p:cNvGraphicFramePr>
          <p:nvPr>
            <p:extLst>
              <p:ext uri="{D42A27DB-BD31-4B8C-83A1-F6EECF244321}">
                <p14:modId xmlns="" xmlns:p14="http://schemas.microsoft.com/office/powerpoint/2010/main" val="609313902"/>
              </p:ext>
            </p:extLst>
          </p:nvPr>
        </p:nvGraphicFramePr>
        <p:xfrm>
          <a:off x="2714612" y="1500175"/>
          <a:ext cx="2428892" cy="937340"/>
        </p:xfrm>
        <a:graphic>
          <a:graphicData uri="http://schemas.openxmlformats.org/presentationml/2006/ole">
            <p:oleObj spid="_x0000_s909465" name="Equation" r:id="rId3" imgW="1371600" imgH="533160" progId="Equation.3">
              <p:embed/>
            </p:oleObj>
          </a:graphicData>
        </a:graphic>
      </p:graphicFrame>
      <p:graphicFrame>
        <p:nvGraphicFramePr>
          <p:cNvPr id="11" name="Object 10"/>
          <p:cNvGraphicFramePr>
            <a:graphicFrameLocks noChangeAspect="1"/>
          </p:cNvGraphicFramePr>
          <p:nvPr>
            <p:extLst>
              <p:ext uri="{D42A27DB-BD31-4B8C-83A1-F6EECF244321}">
                <p14:modId xmlns="" xmlns:p14="http://schemas.microsoft.com/office/powerpoint/2010/main" val="1760905646"/>
              </p:ext>
            </p:extLst>
          </p:nvPr>
        </p:nvGraphicFramePr>
        <p:xfrm>
          <a:off x="2571737" y="3214686"/>
          <a:ext cx="2500330" cy="908453"/>
        </p:xfrm>
        <a:graphic>
          <a:graphicData uri="http://schemas.openxmlformats.org/presentationml/2006/ole">
            <p:oleObj spid="_x0000_s909466" name="Equation" r:id="rId4" imgW="1396800" imgH="507960" progId="Equation.3">
              <p:embed/>
            </p:oleObj>
          </a:graphicData>
        </a:graphic>
      </p:graphicFrame>
      <p:graphicFrame>
        <p:nvGraphicFramePr>
          <p:cNvPr id="12" name="Object 11"/>
          <p:cNvGraphicFramePr>
            <a:graphicFrameLocks noChangeAspect="1"/>
          </p:cNvGraphicFramePr>
          <p:nvPr>
            <p:extLst>
              <p:ext uri="{D42A27DB-BD31-4B8C-83A1-F6EECF244321}">
                <p14:modId xmlns="" xmlns:p14="http://schemas.microsoft.com/office/powerpoint/2010/main" val="1427689728"/>
              </p:ext>
            </p:extLst>
          </p:nvPr>
        </p:nvGraphicFramePr>
        <p:xfrm>
          <a:off x="2676525" y="5014913"/>
          <a:ext cx="2466979" cy="948648"/>
        </p:xfrm>
        <a:graphic>
          <a:graphicData uri="http://schemas.openxmlformats.org/presentationml/2006/ole">
            <p:oleObj spid="_x0000_s909467" name="Equation" r:id="rId5" imgW="1307880" imgH="507960" progId="Equation.3">
              <p:embed/>
            </p:oleObj>
          </a:graphicData>
        </a:graphic>
      </p:graphicFrame>
    </p:spTree>
    <p:extLst>
      <p:ext uri="{BB962C8B-B14F-4D97-AF65-F5344CB8AC3E}">
        <p14:creationId xmlns="" xmlns:p14="http://schemas.microsoft.com/office/powerpoint/2010/main" val="23715360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20</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TextBox 5"/>
          <p:cNvSpPr txBox="1"/>
          <p:nvPr/>
        </p:nvSpPr>
        <p:spPr>
          <a:xfrm>
            <a:off x="2133600" y="0"/>
            <a:ext cx="5181600" cy="584775"/>
          </a:xfrm>
          <a:prstGeom prst="rect">
            <a:avLst/>
          </a:prstGeom>
          <a:noFill/>
        </p:spPr>
        <p:txBody>
          <a:bodyPr wrap="square" rtlCol="0">
            <a:spAutoFit/>
          </a:bodyPr>
          <a:lstStyle/>
          <a:p>
            <a:pPr algn="ctr"/>
            <a:r>
              <a:rPr lang="en-US" sz="3200" dirty="0" smtClean="0">
                <a:latin typeface="+mj-lt"/>
              </a:rPr>
              <a:t>Standard Deviation</a:t>
            </a:r>
            <a:endParaRPr lang="en-US" sz="3200" dirty="0">
              <a:latin typeface="+mj-lt"/>
            </a:endParaRPr>
          </a:p>
        </p:txBody>
      </p:sp>
      <p:sp>
        <p:nvSpPr>
          <p:cNvPr id="7" name="TextBox 6"/>
          <p:cNvSpPr txBox="1"/>
          <p:nvPr/>
        </p:nvSpPr>
        <p:spPr>
          <a:xfrm>
            <a:off x="304800" y="990600"/>
            <a:ext cx="8839200" cy="1200329"/>
          </a:xfrm>
          <a:prstGeom prst="rect">
            <a:avLst/>
          </a:prstGeom>
          <a:noFill/>
        </p:spPr>
        <p:txBody>
          <a:bodyPr wrap="square" rtlCol="0">
            <a:spAutoFit/>
          </a:bodyPr>
          <a:lstStyle/>
          <a:p>
            <a:r>
              <a:rPr lang="en-US" sz="2400" dirty="0" smtClean="0">
                <a:latin typeface="+mj-lt"/>
              </a:rPr>
              <a:t>Standard deviation is most widely used measure of dispersion of data, defined as the square root of the average of squares of deviation. It can be obtained form arithmetic average.</a:t>
            </a:r>
            <a:endParaRPr lang="en-US" sz="2400" dirty="0">
              <a:latin typeface="+mj-lt"/>
            </a:endParaRPr>
          </a:p>
        </p:txBody>
      </p:sp>
      <p:graphicFrame>
        <p:nvGraphicFramePr>
          <p:cNvPr id="8" name="Object 7"/>
          <p:cNvGraphicFramePr>
            <a:graphicFrameLocks noChangeAspect="1"/>
          </p:cNvGraphicFramePr>
          <p:nvPr>
            <p:extLst>
              <p:ext uri="{D42A27DB-BD31-4B8C-83A1-F6EECF244321}">
                <p14:modId xmlns="" xmlns:p14="http://schemas.microsoft.com/office/powerpoint/2010/main" val="2650671170"/>
              </p:ext>
            </p:extLst>
          </p:nvPr>
        </p:nvGraphicFramePr>
        <p:xfrm>
          <a:off x="3000364" y="2214555"/>
          <a:ext cx="2214578" cy="1280638"/>
        </p:xfrm>
        <a:graphic>
          <a:graphicData uri="http://schemas.openxmlformats.org/presentationml/2006/ole">
            <p:oleObj spid="_x0000_s910385" name="Equation" r:id="rId3" imgW="1536480" imgH="888840" progId="Equation.3">
              <p:embed/>
            </p:oleObj>
          </a:graphicData>
        </a:graphic>
      </p:graphicFrame>
      <p:sp>
        <p:nvSpPr>
          <p:cNvPr id="9" name="Rectangle 8"/>
          <p:cNvSpPr/>
          <p:nvPr/>
        </p:nvSpPr>
        <p:spPr>
          <a:xfrm>
            <a:off x="214282" y="3643314"/>
            <a:ext cx="8929718" cy="1938992"/>
          </a:xfrm>
          <a:prstGeom prst="rect">
            <a:avLst/>
          </a:prstGeom>
        </p:spPr>
        <p:txBody>
          <a:bodyPr wrap="square">
            <a:spAutoFit/>
          </a:bodyPr>
          <a:lstStyle/>
          <a:p>
            <a:endParaRPr lang="en-US" sz="2400" b="1" dirty="0" smtClean="0">
              <a:latin typeface="+mj-lt"/>
            </a:endParaRPr>
          </a:p>
          <a:p>
            <a:r>
              <a:rPr lang="en-US" sz="2400" b="1" dirty="0" smtClean="0">
                <a:latin typeface="+mj-lt"/>
              </a:rPr>
              <a:t>Coefficient of variation/dispersion </a:t>
            </a:r>
          </a:p>
          <a:p>
            <a:r>
              <a:rPr lang="en-IN" sz="2400" dirty="0" smtClean="0">
                <a:latin typeface="+mj-lt"/>
              </a:rPr>
              <a:t>This is a dimension less quantity that measures the relative variation between two data sets observed in different units. The distribution with smaller C.V is said to be better. </a:t>
            </a:r>
            <a:endParaRPr lang="en-US" sz="2400" dirty="0">
              <a:latin typeface="+mj-lt"/>
            </a:endParaRPr>
          </a:p>
        </p:txBody>
      </p:sp>
      <p:graphicFrame>
        <p:nvGraphicFramePr>
          <p:cNvPr id="10" name="Object 9"/>
          <p:cNvGraphicFramePr>
            <a:graphicFrameLocks noChangeAspect="1"/>
          </p:cNvGraphicFramePr>
          <p:nvPr/>
        </p:nvGraphicFramePr>
        <p:xfrm>
          <a:off x="3929058" y="5500702"/>
          <a:ext cx="1919301" cy="928694"/>
        </p:xfrm>
        <a:graphic>
          <a:graphicData uri="http://schemas.openxmlformats.org/presentationml/2006/ole">
            <p:oleObj spid="_x0000_s910386" name="Equation" r:id="rId4" imgW="1180800" imgH="571320" progId="Equation.3">
              <p:embed/>
            </p:oleObj>
          </a:graphicData>
        </a:graphic>
      </p:graphicFrame>
      <p:sp>
        <p:nvSpPr>
          <p:cNvPr id="11" name="TextBox 10"/>
          <p:cNvSpPr txBox="1"/>
          <p:nvPr/>
        </p:nvSpPr>
        <p:spPr>
          <a:xfrm>
            <a:off x="428596" y="3143248"/>
            <a:ext cx="2928958" cy="461665"/>
          </a:xfrm>
          <a:prstGeom prst="rect">
            <a:avLst/>
          </a:prstGeom>
          <a:noFill/>
        </p:spPr>
        <p:txBody>
          <a:bodyPr wrap="square" rtlCol="0">
            <a:spAutoFit/>
          </a:bodyPr>
          <a:lstStyle/>
          <a:p>
            <a:r>
              <a:rPr lang="en-US" sz="2400" b="1" dirty="0" smtClean="0">
                <a:latin typeface="+mj-lt"/>
              </a:rPr>
              <a:t>Variance</a:t>
            </a:r>
            <a:r>
              <a:rPr lang="en-US" sz="2400" dirty="0" smtClean="0">
                <a:latin typeface="+mj-lt"/>
              </a:rPr>
              <a:t> =</a:t>
            </a:r>
            <a:endParaRPr lang="en-US" sz="2400" dirty="0">
              <a:latin typeface="+mj-lt"/>
            </a:endParaRPr>
          </a:p>
        </p:txBody>
      </p:sp>
      <p:graphicFrame>
        <p:nvGraphicFramePr>
          <p:cNvPr id="12" name="Object 11"/>
          <p:cNvGraphicFramePr>
            <a:graphicFrameLocks noChangeAspect="1"/>
          </p:cNvGraphicFramePr>
          <p:nvPr/>
        </p:nvGraphicFramePr>
        <p:xfrm>
          <a:off x="2000232" y="3143248"/>
          <a:ext cx="452440" cy="428628"/>
        </p:xfrm>
        <a:graphic>
          <a:graphicData uri="http://schemas.openxmlformats.org/presentationml/2006/ole">
            <p:oleObj spid="_x0000_s910387" name="Equation" r:id="rId5" imgW="241200" imgH="228600" progId="Equation.3">
              <p:embed/>
            </p:oleObj>
          </a:graphicData>
        </a:graphic>
      </p:graphicFrame>
    </p:spTree>
    <p:extLst>
      <p:ext uri="{BB962C8B-B14F-4D97-AF65-F5344CB8AC3E}">
        <p14:creationId xmlns="" xmlns:p14="http://schemas.microsoft.com/office/powerpoint/2010/main" val="11876922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785794"/>
            <a:ext cx="8902700" cy="5486400"/>
          </a:xfrm>
        </p:spPr>
        <p:txBody>
          <a:bodyPr/>
          <a:lstStyle/>
          <a:p>
            <a:r>
              <a:rPr lang="en-IN" dirty="0" smtClean="0"/>
              <a:t>Given the data 5, 6, 9, 10, 12. Compute the variance, standard deviation and coefficient of variation</a:t>
            </a:r>
            <a:endParaRPr lang="en-US" dirty="0"/>
          </a:p>
        </p:txBody>
      </p:sp>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21</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pic>
        <p:nvPicPr>
          <p:cNvPr id="1046530"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0" y="1643050"/>
            <a:ext cx="6257925" cy="4772025"/>
          </a:xfrm>
          <a:prstGeom prst="rect">
            <a:avLst/>
          </a:prstGeom>
          <a:noFill/>
          <a:ln w="9525">
            <a:noFill/>
            <a:miter lim="800000"/>
            <a:headEnd/>
            <a:tailEnd/>
          </a:ln>
          <a:effectLst/>
        </p:spPr>
      </p:pic>
      <p:pic>
        <p:nvPicPr>
          <p:cNvPr id="1046531" name="Picture 3"/>
          <p:cNvPicPr>
            <a:picLocks noChangeAspect="1" noChangeArrowheads="1"/>
          </p:cNvPicPr>
          <p:nvPr/>
        </p:nvPicPr>
        <p:blipFill>
          <a:blip r:embed="rId3">
            <a:duotone>
              <a:prstClr val="black"/>
              <a:schemeClr val="accent5">
                <a:tint val="45000"/>
                <a:satMod val="400000"/>
              </a:schemeClr>
            </a:duotone>
          </a:blip>
          <a:srcRect/>
          <a:stretch>
            <a:fillRect/>
          </a:stretch>
        </p:blipFill>
        <p:spPr bwMode="auto">
          <a:xfrm>
            <a:off x="6186513" y="5357826"/>
            <a:ext cx="2028825" cy="981075"/>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381000" y="2438400"/>
            <a:ext cx="4343400" cy="2819400"/>
            <a:chOff x="1219200" y="2057400"/>
            <a:chExt cx="6477000" cy="3716338"/>
          </a:xfrm>
        </p:grpSpPr>
        <p:sp>
          <p:nvSpPr>
            <p:cNvPr id="9" name="Line 4"/>
            <p:cNvSpPr>
              <a:spLocks noChangeShapeType="1"/>
            </p:cNvSpPr>
            <p:nvPr/>
          </p:nvSpPr>
          <p:spPr bwMode="auto">
            <a:xfrm>
              <a:off x="1219200" y="5762625"/>
              <a:ext cx="6477000" cy="0"/>
            </a:xfrm>
            <a:prstGeom prst="line">
              <a:avLst/>
            </a:prstGeom>
            <a:noFill/>
            <a:ln w="38100">
              <a:solidFill>
                <a:schemeClr val="tx1"/>
              </a:solidFill>
              <a:round/>
              <a:headEnd/>
              <a:tailEnd/>
            </a:ln>
            <a:effectLst/>
          </p:spPr>
          <p:txBody>
            <a:bodyPr wrap="none" anchor="ctr"/>
            <a:lstStyle/>
            <a:p>
              <a:endParaRPr lang="en-US"/>
            </a:p>
          </p:txBody>
        </p:sp>
        <p:grpSp>
          <p:nvGrpSpPr>
            <p:cNvPr id="10" name="Group 5"/>
            <p:cNvGrpSpPr>
              <a:grpSpLocks/>
            </p:cNvGrpSpPr>
            <p:nvPr/>
          </p:nvGrpSpPr>
          <p:grpSpPr bwMode="auto">
            <a:xfrm>
              <a:off x="2009774" y="3657600"/>
              <a:ext cx="5054599" cy="2105025"/>
              <a:chOff x="1920" y="1907"/>
              <a:chExt cx="1968" cy="445"/>
            </a:xfrm>
          </p:grpSpPr>
          <p:sp>
            <p:nvSpPr>
              <p:cNvPr id="20" name="Freeform 6"/>
              <p:cNvSpPr>
                <a:spLocks/>
              </p:cNvSpPr>
              <p:nvPr/>
            </p:nvSpPr>
            <p:spPr bwMode="auto">
              <a:xfrm>
                <a:off x="1920" y="1912"/>
                <a:ext cx="1056" cy="440"/>
              </a:xfrm>
              <a:custGeom>
                <a:avLst/>
                <a:gdLst/>
                <a:ahLst/>
                <a:cxnLst>
                  <a:cxn ang="0">
                    <a:pos x="0" y="440"/>
                  </a:cxn>
                  <a:cxn ang="0">
                    <a:pos x="378" y="412"/>
                  </a:cxn>
                  <a:cxn ang="0">
                    <a:pos x="528" y="344"/>
                  </a:cxn>
                  <a:cxn ang="0">
                    <a:pos x="672" y="152"/>
                  </a:cxn>
                  <a:cxn ang="0">
                    <a:pos x="768" y="56"/>
                  </a:cxn>
                  <a:cxn ang="0">
                    <a:pos x="912" y="8"/>
                  </a:cxn>
                  <a:cxn ang="0">
                    <a:pos x="1056" y="8"/>
                  </a:cxn>
                </a:cxnLst>
                <a:rect l="0" t="0" r="r" b="b"/>
                <a:pathLst>
                  <a:path w="1056" h="440">
                    <a:moveTo>
                      <a:pt x="0" y="440"/>
                    </a:moveTo>
                    <a:cubicBezTo>
                      <a:pt x="145" y="434"/>
                      <a:pt x="290" y="428"/>
                      <a:pt x="378" y="412"/>
                    </a:cubicBezTo>
                    <a:cubicBezTo>
                      <a:pt x="466" y="396"/>
                      <a:pt x="479" y="387"/>
                      <a:pt x="528" y="344"/>
                    </a:cubicBezTo>
                    <a:cubicBezTo>
                      <a:pt x="577" y="301"/>
                      <a:pt x="632" y="200"/>
                      <a:pt x="672" y="152"/>
                    </a:cubicBezTo>
                    <a:cubicBezTo>
                      <a:pt x="712" y="104"/>
                      <a:pt x="728" y="80"/>
                      <a:pt x="768" y="56"/>
                    </a:cubicBezTo>
                    <a:cubicBezTo>
                      <a:pt x="808" y="32"/>
                      <a:pt x="864" y="16"/>
                      <a:pt x="912" y="8"/>
                    </a:cubicBezTo>
                    <a:cubicBezTo>
                      <a:pt x="960" y="0"/>
                      <a:pt x="1008" y="4"/>
                      <a:pt x="1056" y="8"/>
                    </a:cubicBezTo>
                  </a:path>
                </a:pathLst>
              </a:custGeom>
              <a:noFill/>
              <a:ln w="9525" cap="flat" cmpd="sng">
                <a:solidFill>
                  <a:schemeClr val="tx1"/>
                </a:solidFill>
                <a:prstDash val="solid"/>
                <a:round/>
                <a:headEnd type="none" w="med" len="med"/>
                <a:tailEnd type="none" w="med" len="med"/>
              </a:ln>
              <a:effectLst/>
            </p:spPr>
            <p:txBody>
              <a:bodyPr wrap="none" anchor="ctr"/>
              <a:lstStyle/>
              <a:p>
                <a:endParaRPr lang="en-US"/>
              </a:p>
            </p:txBody>
          </p:sp>
          <p:sp>
            <p:nvSpPr>
              <p:cNvPr id="21" name="Freeform 7"/>
              <p:cNvSpPr>
                <a:spLocks/>
              </p:cNvSpPr>
              <p:nvPr/>
            </p:nvSpPr>
            <p:spPr bwMode="auto">
              <a:xfrm flipH="1">
                <a:off x="2832" y="1907"/>
                <a:ext cx="1056" cy="440"/>
              </a:xfrm>
              <a:custGeom>
                <a:avLst/>
                <a:gdLst/>
                <a:ahLst/>
                <a:cxnLst>
                  <a:cxn ang="0">
                    <a:pos x="0" y="440"/>
                  </a:cxn>
                  <a:cxn ang="0">
                    <a:pos x="378" y="412"/>
                  </a:cxn>
                  <a:cxn ang="0">
                    <a:pos x="528" y="344"/>
                  </a:cxn>
                  <a:cxn ang="0">
                    <a:pos x="672" y="152"/>
                  </a:cxn>
                  <a:cxn ang="0">
                    <a:pos x="768" y="56"/>
                  </a:cxn>
                  <a:cxn ang="0">
                    <a:pos x="912" y="8"/>
                  </a:cxn>
                  <a:cxn ang="0">
                    <a:pos x="1056" y="8"/>
                  </a:cxn>
                </a:cxnLst>
                <a:rect l="0" t="0" r="r" b="b"/>
                <a:pathLst>
                  <a:path w="1056" h="440">
                    <a:moveTo>
                      <a:pt x="0" y="440"/>
                    </a:moveTo>
                    <a:cubicBezTo>
                      <a:pt x="145" y="434"/>
                      <a:pt x="290" y="428"/>
                      <a:pt x="378" y="412"/>
                    </a:cubicBezTo>
                    <a:cubicBezTo>
                      <a:pt x="466" y="396"/>
                      <a:pt x="479" y="387"/>
                      <a:pt x="528" y="344"/>
                    </a:cubicBezTo>
                    <a:cubicBezTo>
                      <a:pt x="577" y="301"/>
                      <a:pt x="632" y="200"/>
                      <a:pt x="672" y="152"/>
                    </a:cubicBezTo>
                    <a:cubicBezTo>
                      <a:pt x="712" y="104"/>
                      <a:pt x="728" y="80"/>
                      <a:pt x="768" y="56"/>
                    </a:cubicBezTo>
                    <a:cubicBezTo>
                      <a:pt x="808" y="32"/>
                      <a:pt x="864" y="16"/>
                      <a:pt x="912" y="8"/>
                    </a:cubicBezTo>
                    <a:cubicBezTo>
                      <a:pt x="960" y="0"/>
                      <a:pt x="1008" y="4"/>
                      <a:pt x="1056" y="8"/>
                    </a:cubicBezTo>
                  </a:path>
                </a:pathLst>
              </a:custGeom>
              <a:noFill/>
              <a:ln w="9525" cap="flat" cmpd="sng">
                <a:solidFill>
                  <a:schemeClr val="tx1"/>
                </a:solidFill>
                <a:prstDash val="solid"/>
                <a:round/>
                <a:headEnd type="none" w="med" len="med"/>
                <a:tailEnd type="none" w="med" len="med"/>
              </a:ln>
              <a:effectLst/>
            </p:spPr>
            <p:txBody>
              <a:bodyPr wrap="none" anchor="ctr"/>
              <a:lstStyle/>
              <a:p>
                <a:endParaRPr lang="en-US"/>
              </a:p>
            </p:txBody>
          </p:sp>
        </p:grpSp>
        <p:sp>
          <p:nvSpPr>
            <p:cNvPr id="11" name="Line 8"/>
            <p:cNvSpPr>
              <a:spLocks noChangeShapeType="1"/>
            </p:cNvSpPr>
            <p:nvPr/>
          </p:nvSpPr>
          <p:spPr bwMode="auto">
            <a:xfrm>
              <a:off x="4648200" y="3706813"/>
              <a:ext cx="0" cy="2055812"/>
            </a:xfrm>
            <a:prstGeom prst="line">
              <a:avLst/>
            </a:prstGeom>
            <a:noFill/>
            <a:ln w="38100">
              <a:solidFill>
                <a:schemeClr val="tx1"/>
              </a:solidFill>
              <a:round/>
              <a:headEnd/>
              <a:tailEnd/>
            </a:ln>
            <a:effectLst/>
          </p:spPr>
          <p:txBody>
            <a:bodyPr wrap="none" anchor="ctr"/>
            <a:lstStyle/>
            <a:p>
              <a:endParaRPr lang="en-US"/>
            </a:p>
          </p:txBody>
        </p:sp>
        <p:sp>
          <p:nvSpPr>
            <p:cNvPr id="12" name="Line 9"/>
            <p:cNvSpPr>
              <a:spLocks noChangeShapeType="1"/>
            </p:cNvSpPr>
            <p:nvPr/>
          </p:nvSpPr>
          <p:spPr bwMode="auto">
            <a:xfrm>
              <a:off x="4495800" y="3706813"/>
              <a:ext cx="0" cy="2066925"/>
            </a:xfrm>
            <a:prstGeom prst="line">
              <a:avLst/>
            </a:prstGeom>
            <a:noFill/>
            <a:ln w="38100">
              <a:solidFill>
                <a:srgbClr val="FF0000"/>
              </a:solidFill>
              <a:round/>
              <a:headEnd/>
              <a:tailEnd/>
            </a:ln>
            <a:effectLst/>
          </p:spPr>
          <p:txBody>
            <a:bodyPr wrap="none" anchor="ctr"/>
            <a:lstStyle/>
            <a:p>
              <a:endParaRPr lang="en-US"/>
            </a:p>
          </p:txBody>
        </p:sp>
        <p:sp>
          <p:nvSpPr>
            <p:cNvPr id="13" name="Line 10"/>
            <p:cNvSpPr>
              <a:spLocks noChangeShapeType="1"/>
            </p:cNvSpPr>
            <p:nvPr/>
          </p:nvSpPr>
          <p:spPr bwMode="auto">
            <a:xfrm>
              <a:off x="4572000" y="3657600"/>
              <a:ext cx="0" cy="2105025"/>
            </a:xfrm>
            <a:prstGeom prst="line">
              <a:avLst/>
            </a:prstGeom>
            <a:noFill/>
            <a:ln w="38100">
              <a:solidFill>
                <a:srgbClr val="0033CC"/>
              </a:solidFill>
              <a:round/>
              <a:headEnd/>
              <a:tailEnd/>
            </a:ln>
            <a:effectLst/>
          </p:spPr>
          <p:txBody>
            <a:bodyPr wrap="none" anchor="ctr"/>
            <a:lstStyle/>
            <a:p>
              <a:endParaRPr lang="en-US"/>
            </a:p>
          </p:txBody>
        </p:sp>
        <p:sp>
          <p:nvSpPr>
            <p:cNvPr id="14" name="Text Box 11"/>
            <p:cNvSpPr txBox="1">
              <a:spLocks noChangeArrowheads="1"/>
            </p:cNvSpPr>
            <p:nvPr/>
          </p:nvSpPr>
          <p:spPr bwMode="auto">
            <a:xfrm>
              <a:off x="1820863" y="2360613"/>
              <a:ext cx="933450" cy="460375"/>
            </a:xfrm>
            <a:prstGeom prst="rect">
              <a:avLst/>
            </a:prstGeom>
            <a:noFill/>
            <a:ln w="9525">
              <a:noFill/>
              <a:miter lim="800000"/>
              <a:headEnd/>
              <a:tailEnd/>
            </a:ln>
            <a:effectLst/>
          </p:spPr>
          <p:txBody>
            <a:bodyPr wrap="none" anchor="ctr">
              <a:spAutoFit/>
            </a:bodyPr>
            <a:lstStyle/>
            <a:p>
              <a:r>
                <a:rPr lang="en-US">
                  <a:solidFill>
                    <a:srgbClr val="FF0000"/>
                  </a:solidFill>
                  <a:latin typeface="Tahoma" pitchFamily="34" charset="0"/>
                </a:rPr>
                <a:t>mode</a:t>
              </a:r>
            </a:p>
          </p:txBody>
        </p:sp>
        <p:sp>
          <p:nvSpPr>
            <p:cNvPr id="15" name="Text Box 12"/>
            <p:cNvSpPr txBox="1">
              <a:spLocks noChangeArrowheads="1"/>
            </p:cNvSpPr>
            <p:nvPr/>
          </p:nvSpPr>
          <p:spPr bwMode="auto">
            <a:xfrm>
              <a:off x="6553200" y="3657600"/>
              <a:ext cx="930275" cy="460375"/>
            </a:xfrm>
            <a:prstGeom prst="rect">
              <a:avLst/>
            </a:prstGeom>
            <a:noFill/>
            <a:ln w="9525">
              <a:noFill/>
              <a:miter lim="800000"/>
              <a:headEnd/>
              <a:tailEnd/>
            </a:ln>
            <a:effectLst/>
          </p:spPr>
          <p:txBody>
            <a:bodyPr wrap="none" anchor="ctr">
              <a:spAutoFit/>
            </a:bodyPr>
            <a:lstStyle/>
            <a:p>
              <a:r>
                <a:rPr lang="en-US">
                  <a:latin typeface="Tahoma" pitchFamily="34" charset="0"/>
                </a:rPr>
                <a:t>mean</a:t>
              </a:r>
            </a:p>
          </p:txBody>
        </p:sp>
        <p:sp>
          <p:nvSpPr>
            <p:cNvPr id="16" name="Text Box 13"/>
            <p:cNvSpPr txBox="1">
              <a:spLocks noChangeArrowheads="1"/>
            </p:cNvSpPr>
            <p:nvPr/>
          </p:nvSpPr>
          <p:spPr bwMode="auto">
            <a:xfrm>
              <a:off x="4648200" y="2057400"/>
              <a:ext cx="1168400" cy="460375"/>
            </a:xfrm>
            <a:prstGeom prst="rect">
              <a:avLst/>
            </a:prstGeom>
            <a:noFill/>
            <a:ln w="9525">
              <a:noFill/>
              <a:miter lim="800000"/>
              <a:headEnd/>
              <a:tailEnd/>
            </a:ln>
            <a:effectLst/>
          </p:spPr>
          <p:txBody>
            <a:bodyPr wrap="none" anchor="ctr">
              <a:spAutoFit/>
            </a:bodyPr>
            <a:lstStyle/>
            <a:p>
              <a:r>
                <a:rPr lang="en-US" dirty="0">
                  <a:solidFill>
                    <a:srgbClr val="0000FF"/>
                  </a:solidFill>
                  <a:latin typeface="Tahoma" pitchFamily="34" charset="0"/>
                </a:rPr>
                <a:t>median</a:t>
              </a:r>
            </a:p>
          </p:txBody>
        </p:sp>
        <p:sp>
          <p:nvSpPr>
            <p:cNvPr id="17" name="Line 14"/>
            <p:cNvSpPr>
              <a:spLocks noChangeShapeType="1"/>
            </p:cNvSpPr>
            <p:nvPr/>
          </p:nvSpPr>
          <p:spPr bwMode="auto">
            <a:xfrm>
              <a:off x="2362200" y="2819400"/>
              <a:ext cx="2057400" cy="1295400"/>
            </a:xfrm>
            <a:prstGeom prst="line">
              <a:avLst/>
            </a:prstGeom>
            <a:noFill/>
            <a:ln w="9525">
              <a:solidFill>
                <a:srgbClr val="FF0000"/>
              </a:solidFill>
              <a:round/>
              <a:headEnd/>
              <a:tailEnd type="arrow" w="med" len="med"/>
            </a:ln>
            <a:effectLst/>
          </p:spPr>
          <p:txBody>
            <a:bodyPr wrap="none" anchor="ctr"/>
            <a:lstStyle/>
            <a:p>
              <a:endParaRPr lang="en-US"/>
            </a:p>
          </p:txBody>
        </p:sp>
        <p:sp>
          <p:nvSpPr>
            <p:cNvPr id="18" name="Line 15"/>
            <p:cNvSpPr>
              <a:spLocks noChangeShapeType="1"/>
            </p:cNvSpPr>
            <p:nvPr/>
          </p:nvSpPr>
          <p:spPr bwMode="auto">
            <a:xfrm flipH="1">
              <a:off x="4572000" y="2438400"/>
              <a:ext cx="685800" cy="1219200"/>
            </a:xfrm>
            <a:prstGeom prst="line">
              <a:avLst/>
            </a:prstGeom>
            <a:noFill/>
            <a:ln w="9525">
              <a:solidFill>
                <a:srgbClr val="0000FF"/>
              </a:solidFill>
              <a:round/>
              <a:headEnd/>
              <a:tailEnd type="arrow" w="med" len="med"/>
            </a:ln>
            <a:effectLst/>
          </p:spPr>
          <p:txBody>
            <a:bodyPr wrap="none" anchor="ctr"/>
            <a:lstStyle/>
            <a:p>
              <a:endParaRPr lang="en-US"/>
            </a:p>
          </p:txBody>
        </p:sp>
        <p:sp>
          <p:nvSpPr>
            <p:cNvPr id="19" name="Line 16"/>
            <p:cNvSpPr>
              <a:spLocks noChangeShapeType="1"/>
            </p:cNvSpPr>
            <p:nvPr/>
          </p:nvSpPr>
          <p:spPr bwMode="auto">
            <a:xfrm flipH="1">
              <a:off x="4724400" y="3962400"/>
              <a:ext cx="1828800" cy="533400"/>
            </a:xfrm>
            <a:prstGeom prst="line">
              <a:avLst/>
            </a:prstGeom>
            <a:noFill/>
            <a:ln w="9525">
              <a:solidFill>
                <a:schemeClr val="tx1"/>
              </a:solidFill>
              <a:round/>
              <a:headEnd/>
              <a:tailEnd type="arrow" w="med" len="med"/>
            </a:ln>
            <a:effectLst/>
          </p:spPr>
          <p:txBody>
            <a:bodyPr wrap="none" anchor="ctr"/>
            <a:lstStyle/>
            <a:p>
              <a:endParaRPr lang="en-US"/>
            </a:p>
          </p:txBody>
        </p:sp>
      </p:grpSp>
      <p:sp>
        <p:nvSpPr>
          <p:cNvPr id="22" name="Rectangle 3"/>
          <p:cNvSpPr txBox="1">
            <a:spLocks noChangeArrowheads="1"/>
          </p:cNvSpPr>
          <p:nvPr/>
        </p:nvSpPr>
        <p:spPr>
          <a:xfrm>
            <a:off x="381000" y="838200"/>
            <a:ext cx="3873500" cy="12954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If a distribution is symmetrical, the mean, median and mode may coincide…</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sp>
        <p:nvSpPr>
          <p:cNvPr id="23" name="Rectangle 3"/>
          <p:cNvSpPr txBox="1">
            <a:spLocks noChangeArrowheads="1"/>
          </p:cNvSpPr>
          <p:nvPr/>
        </p:nvSpPr>
        <p:spPr>
          <a:xfrm>
            <a:off x="4267200" y="914400"/>
            <a:ext cx="4648200" cy="16764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 If a distribution is asymmetrical, say skewed to the left or to the right, the three measures may differ</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grpSp>
        <p:nvGrpSpPr>
          <p:cNvPr id="24" name="Group 23"/>
          <p:cNvGrpSpPr/>
          <p:nvPr/>
        </p:nvGrpSpPr>
        <p:grpSpPr>
          <a:xfrm>
            <a:off x="4953000" y="2895600"/>
            <a:ext cx="3886200" cy="2362200"/>
            <a:chOff x="1676400" y="2439988"/>
            <a:chExt cx="6159500" cy="3236912"/>
          </a:xfrm>
        </p:grpSpPr>
        <p:pic>
          <p:nvPicPr>
            <p:cNvPr id="25" name="Picture 13"/>
            <p:cNvPicPr>
              <a:picLocks noChangeAspect="1" noChangeArrowheads="1"/>
            </p:cNvPicPr>
            <p:nvPr/>
          </p:nvPicPr>
          <p:blipFill>
            <a:blip r:embed="rId2"/>
            <a:srcRect/>
            <a:stretch>
              <a:fillRect/>
            </a:stretch>
          </p:blipFill>
          <p:spPr bwMode="auto">
            <a:xfrm>
              <a:off x="2927350" y="4403725"/>
              <a:ext cx="4908550" cy="1273175"/>
            </a:xfrm>
            <a:prstGeom prst="rect">
              <a:avLst/>
            </a:prstGeom>
            <a:noFill/>
            <a:ln w="9525">
              <a:noFill/>
              <a:miter lim="800000"/>
              <a:headEnd/>
              <a:tailEnd/>
            </a:ln>
            <a:effectLst/>
          </p:spPr>
        </p:pic>
        <p:sp>
          <p:nvSpPr>
            <p:cNvPr id="26" name="Line 14"/>
            <p:cNvSpPr>
              <a:spLocks noChangeShapeType="1"/>
            </p:cNvSpPr>
            <p:nvPr/>
          </p:nvSpPr>
          <p:spPr bwMode="auto">
            <a:xfrm>
              <a:off x="4267200" y="4400550"/>
              <a:ext cx="0" cy="1219200"/>
            </a:xfrm>
            <a:prstGeom prst="line">
              <a:avLst/>
            </a:prstGeom>
            <a:noFill/>
            <a:ln w="19050">
              <a:solidFill>
                <a:srgbClr val="FF0000"/>
              </a:solidFill>
              <a:round/>
              <a:headEnd/>
              <a:tailEnd/>
            </a:ln>
            <a:effectLst/>
          </p:spPr>
          <p:txBody>
            <a:bodyPr wrap="none" anchor="ctr"/>
            <a:lstStyle/>
            <a:p>
              <a:endParaRPr lang="en-US"/>
            </a:p>
          </p:txBody>
        </p:sp>
        <p:sp>
          <p:nvSpPr>
            <p:cNvPr id="27" name="Line 17"/>
            <p:cNvSpPr>
              <a:spLocks noChangeShapeType="1"/>
            </p:cNvSpPr>
            <p:nvPr/>
          </p:nvSpPr>
          <p:spPr bwMode="auto">
            <a:xfrm>
              <a:off x="4495800" y="4476750"/>
              <a:ext cx="0" cy="1143000"/>
            </a:xfrm>
            <a:prstGeom prst="line">
              <a:avLst/>
            </a:prstGeom>
            <a:noFill/>
            <a:ln w="19050">
              <a:solidFill>
                <a:srgbClr val="0033CC"/>
              </a:solidFill>
              <a:round/>
              <a:headEnd/>
              <a:tailEnd/>
            </a:ln>
            <a:effectLst/>
          </p:spPr>
          <p:txBody>
            <a:bodyPr wrap="none" anchor="ctr"/>
            <a:lstStyle/>
            <a:p>
              <a:endParaRPr lang="en-US"/>
            </a:p>
          </p:txBody>
        </p:sp>
        <p:sp>
          <p:nvSpPr>
            <p:cNvPr id="28" name="Line 18"/>
            <p:cNvSpPr>
              <a:spLocks noChangeShapeType="1"/>
            </p:cNvSpPr>
            <p:nvPr/>
          </p:nvSpPr>
          <p:spPr bwMode="auto">
            <a:xfrm>
              <a:off x="4876800" y="4572000"/>
              <a:ext cx="0" cy="1066800"/>
            </a:xfrm>
            <a:prstGeom prst="line">
              <a:avLst/>
            </a:prstGeom>
            <a:noFill/>
            <a:ln w="28575">
              <a:solidFill>
                <a:schemeClr val="tx1"/>
              </a:solidFill>
              <a:round/>
              <a:headEnd/>
              <a:tailEnd/>
            </a:ln>
            <a:effectLst/>
          </p:spPr>
          <p:txBody>
            <a:bodyPr wrap="none" anchor="ctr"/>
            <a:lstStyle/>
            <a:p>
              <a:endParaRPr lang="en-US"/>
            </a:p>
          </p:txBody>
        </p:sp>
        <p:sp>
          <p:nvSpPr>
            <p:cNvPr id="29" name="Line 19"/>
            <p:cNvSpPr>
              <a:spLocks noChangeShapeType="1"/>
            </p:cNvSpPr>
            <p:nvPr/>
          </p:nvSpPr>
          <p:spPr bwMode="auto">
            <a:xfrm>
              <a:off x="1752600" y="5638800"/>
              <a:ext cx="6053138" cy="0"/>
            </a:xfrm>
            <a:prstGeom prst="line">
              <a:avLst/>
            </a:prstGeom>
            <a:noFill/>
            <a:ln w="38100">
              <a:solidFill>
                <a:schemeClr val="tx1"/>
              </a:solidFill>
              <a:round/>
              <a:headEnd/>
              <a:tailEnd/>
            </a:ln>
            <a:effectLst/>
          </p:spPr>
          <p:txBody>
            <a:bodyPr wrap="none" anchor="ctr"/>
            <a:lstStyle/>
            <a:p>
              <a:endParaRPr lang="en-US"/>
            </a:p>
          </p:txBody>
        </p:sp>
        <p:sp>
          <p:nvSpPr>
            <p:cNvPr id="30" name="Text Box 20"/>
            <p:cNvSpPr txBox="1">
              <a:spLocks noChangeArrowheads="1"/>
            </p:cNvSpPr>
            <p:nvPr/>
          </p:nvSpPr>
          <p:spPr bwMode="auto">
            <a:xfrm>
              <a:off x="1676400" y="2743200"/>
              <a:ext cx="933450" cy="460375"/>
            </a:xfrm>
            <a:prstGeom prst="rect">
              <a:avLst/>
            </a:prstGeom>
            <a:noFill/>
            <a:ln w="9525">
              <a:noFill/>
              <a:miter lim="800000"/>
              <a:headEnd/>
              <a:tailEnd/>
            </a:ln>
            <a:effectLst/>
          </p:spPr>
          <p:txBody>
            <a:bodyPr wrap="none" anchor="ctr">
              <a:spAutoFit/>
            </a:bodyPr>
            <a:lstStyle/>
            <a:p>
              <a:r>
                <a:rPr lang="en-US">
                  <a:solidFill>
                    <a:srgbClr val="FF0000"/>
                  </a:solidFill>
                  <a:latin typeface="Tahoma" pitchFamily="34" charset="0"/>
                </a:rPr>
                <a:t>mode</a:t>
              </a:r>
            </a:p>
          </p:txBody>
        </p:sp>
        <p:sp>
          <p:nvSpPr>
            <p:cNvPr id="31" name="Text Box 21"/>
            <p:cNvSpPr txBox="1">
              <a:spLocks noChangeArrowheads="1"/>
            </p:cNvSpPr>
            <p:nvPr/>
          </p:nvSpPr>
          <p:spPr bwMode="auto">
            <a:xfrm>
              <a:off x="6408738" y="4040188"/>
              <a:ext cx="930275" cy="460375"/>
            </a:xfrm>
            <a:prstGeom prst="rect">
              <a:avLst/>
            </a:prstGeom>
            <a:noFill/>
            <a:ln w="9525">
              <a:noFill/>
              <a:miter lim="800000"/>
              <a:headEnd/>
              <a:tailEnd/>
            </a:ln>
            <a:effectLst/>
          </p:spPr>
          <p:txBody>
            <a:bodyPr wrap="none" anchor="ctr">
              <a:spAutoFit/>
            </a:bodyPr>
            <a:lstStyle/>
            <a:p>
              <a:r>
                <a:rPr lang="en-US">
                  <a:latin typeface="Tahoma" pitchFamily="34" charset="0"/>
                </a:rPr>
                <a:t>mean</a:t>
              </a:r>
            </a:p>
          </p:txBody>
        </p:sp>
        <p:sp>
          <p:nvSpPr>
            <p:cNvPr id="32" name="Text Box 22"/>
            <p:cNvSpPr txBox="1">
              <a:spLocks noChangeArrowheads="1"/>
            </p:cNvSpPr>
            <p:nvPr/>
          </p:nvSpPr>
          <p:spPr bwMode="auto">
            <a:xfrm>
              <a:off x="4503738" y="2439988"/>
              <a:ext cx="1168400" cy="460375"/>
            </a:xfrm>
            <a:prstGeom prst="rect">
              <a:avLst/>
            </a:prstGeom>
            <a:noFill/>
            <a:ln w="9525">
              <a:noFill/>
              <a:miter lim="800000"/>
              <a:headEnd/>
              <a:tailEnd/>
            </a:ln>
            <a:effectLst/>
          </p:spPr>
          <p:txBody>
            <a:bodyPr wrap="none" anchor="ctr">
              <a:spAutoFit/>
            </a:bodyPr>
            <a:lstStyle/>
            <a:p>
              <a:r>
                <a:rPr lang="en-US">
                  <a:solidFill>
                    <a:srgbClr val="0000FF"/>
                  </a:solidFill>
                  <a:latin typeface="Tahoma" pitchFamily="34" charset="0"/>
                </a:rPr>
                <a:t>median</a:t>
              </a:r>
            </a:p>
          </p:txBody>
        </p:sp>
        <p:sp>
          <p:nvSpPr>
            <p:cNvPr id="33" name="Line 23"/>
            <p:cNvSpPr>
              <a:spLocks noChangeShapeType="1"/>
            </p:cNvSpPr>
            <p:nvPr/>
          </p:nvSpPr>
          <p:spPr bwMode="auto">
            <a:xfrm>
              <a:off x="2217738" y="3201988"/>
              <a:ext cx="2057400" cy="1295400"/>
            </a:xfrm>
            <a:prstGeom prst="line">
              <a:avLst/>
            </a:prstGeom>
            <a:noFill/>
            <a:ln w="9525">
              <a:solidFill>
                <a:srgbClr val="FF0000"/>
              </a:solidFill>
              <a:round/>
              <a:headEnd/>
              <a:tailEnd type="arrow" w="med" len="med"/>
            </a:ln>
            <a:effectLst/>
          </p:spPr>
          <p:txBody>
            <a:bodyPr wrap="none" anchor="ctr"/>
            <a:lstStyle/>
            <a:p>
              <a:endParaRPr lang="en-US"/>
            </a:p>
          </p:txBody>
        </p:sp>
        <p:sp>
          <p:nvSpPr>
            <p:cNvPr id="34" name="Line 24"/>
            <p:cNvSpPr>
              <a:spLocks noChangeShapeType="1"/>
            </p:cNvSpPr>
            <p:nvPr/>
          </p:nvSpPr>
          <p:spPr bwMode="auto">
            <a:xfrm flipH="1">
              <a:off x="4572000" y="2820988"/>
              <a:ext cx="541338" cy="1598612"/>
            </a:xfrm>
            <a:prstGeom prst="line">
              <a:avLst/>
            </a:prstGeom>
            <a:noFill/>
            <a:ln w="9525">
              <a:solidFill>
                <a:srgbClr val="0000FF"/>
              </a:solidFill>
              <a:round/>
              <a:headEnd/>
              <a:tailEnd type="arrow" w="med" len="med"/>
            </a:ln>
            <a:effectLst/>
          </p:spPr>
          <p:txBody>
            <a:bodyPr wrap="none" anchor="ctr"/>
            <a:lstStyle/>
            <a:p>
              <a:endParaRPr lang="en-US"/>
            </a:p>
          </p:txBody>
        </p:sp>
        <p:sp>
          <p:nvSpPr>
            <p:cNvPr id="35" name="Line 25"/>
            <p:cNvSpPr>
              <a:spLocks noChangeShapeType="1"/>
            </p:cNvSpPr>
            <p:nvPr/>
          </p:nvSpPr>
          <p:spPr bwMode="auto">
            <a:xfrm flipH="1">
              <a:off x="4953000" y="4344988"/>
              <a:ext cx="1455738" cy="531812"/>
            </a:xfrm>
            <a:prstGeom prst="line">
              <a:avLst/>
            </a:prstGeom>
            <a:noFill/>
            <a:ln w="9525">
              <a:solidFill>
                <a:schemeClr val="tx1"/>
              </a:solidFill>
              <a:round/>
              <a:headEnd/>
              <a:tailEnd type="arrow" w="med" len="med"/>
            </a:ln>
            <a:effectLst/>
          </p:spPr>
          <p:txBody>
            <a:bodyPr wrap="none" anchor="ctr"/>
            <a:lstStyle/>
            <a:p>
              <a:endParaRPr lang="en-US"/>
            </a:p>
          </p:txBody>
        </p:sp>
      </p:grpSp>
      <p:sp>
        <p:nvSpPr>
          <p:cNvPr id="36" name="Rectangle 2"/>
          <p:cNvSpPr>
            <a:spLocks noGrp="1" noChangeArrowheads="1"/>
          </p:cNvSpPr>
          <p:nvPr>
            <p:ph type="title" idx="4294967295"/>
          </p:nvPr>
        </p:nvSpPr>
        <p:spPr>
          <a:xfrm>
            <a:off x="381000" y="0"/>
            <a:ext cx="8763000" cy="609600"/>
          </a:xfrm>
          <a:prstGeom prst="rect">
            <a:avLst/>
          </a:prstGeom>
        </p:spPr>
        <p:txBody>
          <a:bodyPr/>
          <a:lstStyle/>
          <a:p>
            <a:r>
              <a:rPr lang="en-US" dirty="0" smtClean="0"/>
              <a:t>Measurement of symmetry: Mean</a:t>
            </a:r>
            <a:r>
              <a:rPr lang="en-US" dirty="0"/>
              <a:t>, Median, </a:t>
            </a:r>
            <a:r>
              <a:rPr lang="en-US" dirty="0" smtClean="0"/>
              <a:t>Mode</a:t>
            </a:r>
            <a:endParaRPr lang="en-US" dirty="0"/>
          </a:p>
        </p:txBody>
      </p:sp>
      <p:sp>
        <p:nvSpPr>
          <p:cNvPr id="37" name="TextBox 36"/>
          <p:cNvSpPr txBox="1"/>
          <p:nvPr/>
        </p:nvSpPr>
        <p:spPr>
          <a:xfrm>
            <a:off x="381000" y="5562600"/>
            <a:ext cx="8534400" cy="830997"/>
          </a:xfrm>
          <a:prstGeom prst="rect">
            <a:avLst/>
          </a:prstGeom>
          <a:noFill/>
        </p:spPr>
        <p:txBody>
          <a:bodyPr wrap="square" rtlCol="0">
            <a:spAutoFit/>
          </a:bodyPr>
          <a:lstStyle/>
          <a:p>
            <a:r>
              <a:rPr lang="en-IN" sz="2400" dirty="0" smtClean="0">
                <a:latin typeface="+mj-lt"/>
              </a:rPr>
              <a:t>Mode (occurrence frequency), median is related to middle position and mean is the average (value) . Skew = (Mean-Mode)</a:t>
            </a:r>
            <a:endParaRPr lang="en-IN" sz="2400" dirty="0">
              <a:latin typeface="+mj-lt"/>
            </a:endParaRPr>
          </a:p>
        </p:txBody>
      </p:sp>
      <p:sp>
        <p:nvSpPr>
          <p:cNvPr id="38" name="Date Placeholder 37"/>
          <p:cNvSpPr>
            <a:spLocks noGrp="1"/>
          </p:cNvSpPr>
          <p:nvPr>
            <p:ph type="dt" sz="half" idx="10"/>
          </p:nvPr>
        </p:nvSpPr>
        <p:spPr/>
        <p:txBody>
          <a:bodyPr/>
          <a:lstStyle/>
          <a:p>
            <a:r>
              <a:rPr lang="en-US" smtClean="0"/>
              <a:t>Prof. A. K. Datta     University of Calcutta</a:t>
            </a:r>
            <a:endParaRPr lang="en-IN" dirty="0"/>
          </a:p>
        </p:txBody>
      </p:sp>
      <p:sp>
        <p:nvSpPr>
          <p:cNvPr id="39" name="Slide Number Placeholder 38"/>
          <p:cNvSpPr>
            <a:spLocks noGrp="1"/>
          </p:cNvSpPr>
          <p:nvPr>
            <p:ph type="sldNum" sz="quarter" idx="11"/>
          </p:nvPr>
        </p:nvSpPr>
        <p:spPr/>
        <p:txBody>
          <a:bodyPr/>
          <a:lstStyle/>
          <a:p>
            <a:fld id="{BF2D74FB-8EB9-4DEE-8258-980F8375AF4A}" type="slidenum">
              <a:rPr lang="en-IN" smtClean="0"/>
              <a:pPr/>
              <a:t>22</a:t>
            </a:fld>
            <a:endParaRPr lang="en-IN" dirty="0"/>
          </a:p>
        </p:txBody>
      </p:sp>
      <p:sp>
        <p:nvSpPr>
          <p:cNvPr id="40" name="Footer Placeholder 39"/>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914400" y="0"/>
            <a:ext cx="7772400" cy="1143000"/>
          </a:xfrm>
          <a:prstGeom prst="rect">
            <a:avLst/>
          </a:prstGeom>
          <a:noFill/>
          <a:ln/>
        </p:spPr>
        <p:txBody>
          <a:bodyPr/>
          <a:lstStyle/>
          <a:p>
            <a:r>
              <a:rPr lang="en-US" b="0" dirty="0" err="1">
                <a:latin typeface="Arial" pitchFamily="34" charset="0"/>
                <a:cs typeface="Arial" pitchFamily="34" charset="0"/>
              </a:rPr>
              <a:t>Skewness</a:t>
            </a:r>
            <a:endParaRPr lang="en-US" b="0" dirty="0">
              <a:latin typeface="Arial" pitchFamily="34" charset="0"/>
              <a:cs typeface="Arial" pitchFamily="34" charset="0"/>
            </a:endParaRPr>
          </a:p>
        </p:txBody>
      </p:sp>
      <p:sp>
        <p:nvSpPr>
          <p:cNvPr id="14" name="Date Placeholder 13"/>
          <p:cNvSpPr>
            <a:spLocks noGrp="1"/>
          </p:cNvSpPr>
          <p:nvPr>
            <p:ph type="dt" sz="half" idx="10"/>
          </p:nvPr>
        </p:nvSpPr>
        <p:spPr/>
        <p:txBody>
          <a:bodyPr/>
          <a:lstStyle/>
          <a:p>
            <a:r>
              <a:rPr lang="en-US" smtClean="0"/>
              <a:t>Prof. A. K. Datta     University of Calcutta</a:t>
            </a:r>
            <a:endParaRPr lang="en-IN" dirty="0"/>
          </a:p>
        </p:txBody>
      </p:sp>
      <p:sp>
        <p:nvSpPr>
          <p:cNvPr id="15" name="Slide Number Placeholder 14"/>
          <p:cNvSpPr>
            <a:spLocks noGrp="1"/>
          </p:cNvSpPr>
          <p:nvPr>
            <p:ph type="sldNum" sz="quarter" idx="11"/>
          </p:nvPr>
        </p:nvSpPr>
        <p:spPr/>
        <p:txBody>
          <a:bodyPr/>
          <a:lstStyle/>
          <a:p>
            <a:fld id="{BF2D74FB-8EB9-4DEE-8258-980F8375AF4A}" type="slidenum">
              <a:rPr lang="en-IN" smtClean="0"/>
              <a:pPr/>
              <a:t>23</a:t>
            </a:fld>
            <a:endParaRPr lang="en-IN" dirty="0"/>
          </a:p>
        </p:txBody>
      </p:sp>
      <p:sp>
        <p:nvSpPr>
          <p:cNvPr id="16" name="Footer Placeholder 15"/>
          <p:cNvSpPr>
            <a:spLocks noGrp="1"/>
          </p:cNvSpPr>
          <p:nvPr>
            <p:ph type="ftr" sz="quarter" idx="12"/>
          </p:nvPr>
        </p:nvSpPr>
        <p:spPr/>
        <p:txBody>
          <a:bodyPr/>
          <a:lstStyle/>
          <a:p>
            <a:r>
              <a:rPr lang="en-IN" smtClean="0"/>
              <a:t>Ph.D Course Work on Research Methodology</a:t>
            </a:r>
            <a:endParaRPr lang="en-IN" dirty="0"/>
          </a:p>
        </p:txBody>
      </p:sp>
      <p:graphicFrame>
        <p:nvGraphicFramePr>
          <p:cNvPr id="18" name="Object 17"/>
          <p:cNvGraphicFramePr>
            <a:graphicFrameLocks noChangeAspect="1"/>
          </p:cNvGraphicFramePr>
          <p:nvPr/>
        </p:nvGraphicFramePr>
        <p:xfrm>
          <a:off x="457200" y="4953000"/>
          <a:ext cx="3200400" cy="1447800"/>
        </p:xfrm>
        <a:graphic>
          <a:graphicData uri="http://schemas.openxmlformats.org/presentationml/2006/ole">
            <p:oleObj spid="_x0000_s690287" name="Equation" r:id="rId3" imgW="1905000" imgH="812800" progId="Equation.3">
              <p:embed/>
            </p:oleObj>
          </a:graphicData>
        </a:graphic>
      </p:graphicFrame>
      <p:grpSp>
        <p:nvGrpSpPr>
          <p:cNvPr id="23" name="Group 22"/>
          <p:cNvGrpSpPr/>
          <p:nvPr/>
        </p:nvGrpSpPr>
        <p:grpSpPr>
          <a:xfrm>
            <a:off x="762000" y="609600"/>
            <a:ext cx="7810500" cy="4179332"/>
            <a:chOff x="762000" y="1143000"/>
            <a:chExt cx="7810500" cy="4179332"/>
          </a:xfrm>
        </p:grpSpPr>
        <p:graphicFrame>
          <p:nvGraphicFramePr>
            <p:cNvPr id="13" name="Object 2"/>
            <p:cNvGraphicFramePr>
              <a:graphicFrameLocks/>
            </p:cNvGraphicFramePr>
            <p:nvPr/>
          </p:nvGraphicFramePr>
          <p:xfrm>
            <a:off x="762000" y="1143000"/>
            <a:ext cx="7810500" cy="4152900"/>
          </p:xfrm>
          <a:graphic>
            <a:graphicData uri="http://schemas.openxmlformats.org/drawingml/2006/chart">
              <c:chart xmlns:c="http://schemas.openxmlformats.org/drawingml/2006/chart" xmlns:r="http://schemas.openxmlformats.org/officeDocument/2006/relationships" r:id="rId4"/>
            </a:graphicData>
          </a:graphic>
        </p:graphicFrame>
        <p:sp>
          <p:nvSpPr>
            <p:cNvPr id="30724" name="Line 4"/>
            <p:cNvSpPr>
              <a:spLocks noChangeShapeType="1"/>
            </p:cNvSpPr>
            <p:nvPr/>
          </p:nvSpPr>
          <p:spPr bwMode="auto">
            <a:xfrm>
              <a:off x="1981200" y="1752600"/>
              <a:ext cx="0" cy="3144838"/>
            </a:xfrm>
            <a:prstGeom prst="line">
              <a:avLst/>
            </a:prstGeom>
            <a:noFill/>
            <a:ln w="12700">
              <a:solidFill>
                <a:srgbClr val="C00000"/>
              </a:solidFill>
              <a:round/>
              <a:headEnd/>
              <a:tailEnd/>
            </a:ln>
            <a:effectLst/>
          </p:spPr>
          <p:txBody>
            <a:bodyPr wrap="none" anchor="ctr"/>
            <a:lstStyle/>
            <a:p>
              <a:endParaRPr lang="en-US"/>
            </a:p>
          </p:txBody>
        </p:sp>
        <p:sp>
          <p:nvSpPr>
            <p:cNvPr id="30725" name="Line 5"/>
            <p:cNvSpPr>
              <a:spLocks noChangeShapeType="1"/>
            </p:cNvSpPr>
            <p:nvPr/>
          </p:nvSpPr>
          <p:spPr bwMode="auto">
            <a:xfrm>
              <a:off x="2286000" y="1981200"/>
              <a:ext cx="0" cy="2916238"/>
            </a:xfrm>
            <a:prstGeom prst="line">
              <a:avLst/>
            </a:prstGeom>
            <a:noFill/>
            <a:ln w="12700">
              <a:solidFill>
                <a:schemeClr val="tx1"/>
              </a:solidFill>
              <a:round/>
              <a:headEnd/>
              <a:tailEnd/>
            </a:ln>
            <a:effectLst/>
          </p:spPr>
          <p:txBody>
            <a:bodyPr wrap="none" anchor="ctr"/>
            <a:lstStyle/>
            <a:p>
              <a:endParaRPr lang="en-US"/>
            </a:p>
          </p:txBody>
        </p:sp>
        <p:sp>
          <p:nvSpPr>
            <p:cNvPr id="30726" name="Line 6"/>
            <p:cNvSpPr>
              <a:spLocks noChangeShapeType="1"/>
            </p:cNvSpPr>
            <p:nvPr/>
          </p:nvSpPr>
          <p:spPr bwMode="auto">
            <a:xfrm>
              <a:off x="2971800" y="3027362"/>
              <a:ext cx="0" cy="1773238"/>
            </a:xfrm>
            <a:prstGeom prst="line">
              <a:avLst/>
            </a:prstGeom>
            <a:noFill/>
            <a:ln w="12700">
              <a:solidFill>
                <a:srgbClr val="0000CC"/>
              </a:solidFill>
              <a:round/>
              <a:headEnd/>
              <a:tailEnd/>
            </a:ln>
            <a:effectLst/>
          </p:spPr>
          <p:txBody>
            <a:bodyPr wrap="none" anchor="ctr"/>
            <a:lstStyle/>
            <a:p>
              <a:endParaRPr lang="en-US"/>
            </a:p>
          </p:txBody>
        </p:sp>
        <p:sp>
          <p:nvSpPr>
            <p:cNvPr id="30729" name="Rectangle 9"/>
            <p:cNvSpPr>
              <a:spLocks noChangeArrowheads="1"/>
            </p:cNvSpPr>
            <p:nvPr/>
          </p:nvSpPr>
          <p:spPr bwMode="auto">
            <a:xfrm>
              <a:off x="6705600" y="1676400"/>
              <a:ext cx="1787525" cy="698500"/>
            </a:xfrm>
            <a:prstGeom prst="rect">
              <a:avLst/>
            </a:prstGeom>
            <a:noFill/>
            <a:ln w="12700">
              <a:noFill/>
              <a:miter lim="800000"/>
              <a:headEnd/>
              <a:tailEnd/>
            </a:ln>
            <a:effectLst/>
          </p:spPr>
          <p:txBody>
            <a:bodyPr lIns="90488" tIns="44450" rIns="90488" bIns="44450">
              <a:spAutoFit/>
            </a:bodyPr>
            <a:lstStyle/>
            <a:p>
              <a:r>
                <a:rPr lang="en-US" sz="2000" b="1" dirty="0">
                  <a:latin typeface="Arial" pitchFamily="34" charset="0"/>
                </a:rPr>
                <a:t>negative skew</a:t>
              </a:r>
              <a:endParaRPr lang="en-US" sz="2000" dirty="0">
                <a:latin typeface="Book Antiqua" pitchFamily="18" charset="0"/>
              </a:endParaRPr>
            </a:p>
          </p:txBody>
        </p:sp>
        <p:sp>
          <p:nvSpPr>
            <p:cNvPr id="30730" name="Rectangle 10"/>
            <p:cNvSpPr>
              <a:spLocks noChangeArrowheads="1"/>
            </p:cNvSpPr>
            <p:nvPr/>
          </p:nvSpPr>
          <p:spPr bwMode="auto">
            <a:xfrm rot="16200000">
              <a:off x="1541463" y="3205163"/>
              <a:ext cx="965200" cy="393700"/>
            </a:xfrm>
            <a:prstGeom prst="rect">
              <a:avLst/>
            </a:prstGeom>
            <a:noFill/>
            <a:ln w="12700">
              <a:noFill/>
              <a:miter lim="800000"/>
              <a:headEnd/>
              <a:tailEnd/>
            </a:ln>
            <a:effectLst/>
          </p:spPr>
          <p:txBody>
            <a:bodyPr lIns="90488" tIns="44450" rIns="90488" bIns="44450">
              <a:spAutoFit/>
            </a:bodyPr>
            <a:lstStyle/>
            <a:p>
              <a:r>
                <a:rPr lang="en-US" sz="2000" b="1" dirty="0">
                  <a:latin typeface="Arial" pitchFamily="34" charset="0"/>
                </a:rPr>
                <a:t>Mode</a:t>
              </a:r>
              <a:endParaRPr lang="en-US" sz="2000" dirty="0">
                <a:latin typeface="Book Antiqua" pitchFamily="18" charset="0"/>
              </a:endParaRPr>
            </a:p>
          </p:txBody>
        </p:sp>
        <p:sp>
          <p:nvSpPr>
            <p:cNvPr id="30731" name="Rectangle 11"/>
            <p:cNvSpPr>
              <a:spLocks noChangeArrowheads="1"/>
            </p:cNvSpPr>
            <p:nvPr/>
          </p:nvSpPr>
          <p:spPr bwMode="auto">
            <a:xfrm rot="16200000">
              <a:off x="1812925" y="3343276"/>
              <a:ext cx="1241425" cy="393700"/>
            </a:xfrm>
            <a:prstGeom prst="rect">
              <a:avLst/>
            </a:prstGeom>
            <a:noFill/>
            <a:ln w="12700">
              <a:noFill/>
              <a:miter lim="800000"/>
              <a:headEnd/>
              <a:tailEnd/>
            </a:ln>
            <a:effectLst/>
          </p:spPr>
          <p:txBody>
            <a:bodyPr lIns="90488" tIns="44450" rIns="90488" bIns="44450">
              <a:spAutoFit/>
            </a:bodyPr>
            <a:lstStyle/>
            <a:p>
              <a:r>
                <a:rPr lang="en-US" sz="2000" b="1">
                  <a:latin typeface="Arial" pitchFamily="34" charset="0"/>
                </a:rPr>
                <a:t>Median</a:t>
              </a:r>
              <a:endParaRPr lang="en-US" sz="2000">
                <a:latin typeface="Book Antiqua" pitchFamily="18" charset="0"/>
              </a:endParaRPr>
            </a:p>
          </p:txBody>
        </p:sp>
        <p:sp>
          <p:nvSpPr>
            <p:cNvPr id="30732" name="Rectangle 12"/>
            <p:cNvSpPr>
              <a:spLocks noChangeArrowheads="1"/>
            </p:cNvSpPr>
            <p:nvPr/>
          </p:nvSpPr>
          <p:spPr bwMode="auto">
            <a:xfrm rot="16200000">
              <a:off x="2251869" y="3234532"/>
              <a:ext cx="1681163" cy="393700"/>
            </a:xfrm>
            <a:prstGeom prst="rect">
              <a:avLst/>
            </a:prstGeom>
            <a:noFill/>
            <a:ln w="12700">
              <a:noFill/>
              <a:miter lim="800000"/>
              <a:headEnd/>
              <a:tailEnd/>
            </a:ln>
            <a:effectLst/>
          </p:spPr>
          <p:txBody>
            <a:bodyPr lIns="90488" tIns="44450" rIns="90488" bIns="44450">
              <a:spAutoFit/>
            </a:bodyPr>
            <a:lstStyle/>
            <a:p>
              <a:r>
                <a:rPr lang="en-US" sz="2000" b="1" dirty="0">
                  <a:latin typeface="Arial" pitchFamily="34" charset="0"/>
                </a:rPr>
                <a:t> Mean</a:t>
              </a:r>
              <a:endParaRPr lang="en-US" sz="2000" dirty="0">
                <a:latin typeface="Book Antiqua" pitchFamily="18" charset="0"/>
              </a:endParaRPr>
            </a:p>
          </p:txBody>
        </p:sp>
        <p:sp>
          <p:nvSpPr>
            <p:cNvPr id="17" name="TextBox 16"/>
            <p:cNvSpPr txBox="1"/>
            <p:nvPr/>
          </p:nvSpPr>
          <p:spPr>
            <a:xfrm>
              <a:off x="1447800" y="4953000"/>
              <a:ext cx="2133600" cy="369332"/>
            </a:xfrm>
            <a:prstGeom prst="rect">
              <a:avLst/>
            </a:prstGeom>
            <a:noFill/>
          </p:spPr>
          <p:txBody>
            <a:bodyPr wrap="square" rtlCol="0">
              <a:spAutoFit/>
            </a:bodyPr>
            <a:lstStyle/>
            <a:p>
              <a:r>
                <a:rPr lang="en-US" dirty="0" smtClean="0"/>
                <a:t>      Z  M       </a:t>
              </a:r>
              <a:r>
                <a:rPr lang="en-US" dirty="0" err="1" smtClean="0"/>
                <a:t>Xbar</a:t>
              </a:r>
              <a:endParaRPr lang="en-IN" dirty="0"/>
            </a:p>
          </p:txBody>
        </p:sp>
        <p:sp>
          <p:nvSpPr>
            <p:cNvPr id="19" name="Line 6"/>
            <p:cNvSpPr>
              <a:spLocks noChangeShapeType="1"/>
            </p:cNvSpPr>
            <p:nvPr/>
          </p:nvSpPr>
          <p:spPr bwMode="auto">
            <a:xfrm>
              <a:off x="5105400" y="3124200"/>
              <a:ext cx="0" cy="1773238"/>
            </a:xfrm>
            <a:prstGeom prst="line">
              <a:avLst/>
            </a:prstGeom>
            <a:noFill/>
            <a:ln w="12700">
              <a:solidFill>
                <a:srgbClr val="0000CC"/>
              </a:solidFill>
              <a:round/>
              <a:headEnd/>
              <a:tailEnd/>
            </a:ln>
            <a:effectLst/>
          </p:spPr>
          <p:txBody>
            <a:bodyPr wrap="none" anchor="ctr"/>
            <a:lstStyle/>
            <a:p>
              <a:endParaRPr lang="en-US"/>
            </a:p>
          </p:txBody>
        </p:sp>
        <p:sp>
          <p:nvSpPr>
            <p:cNvPr id="20" name="Line 5"/>
            <p:cNvSpPr>
              <a:spLocks noChangeShapeType="1"/>
            </p:cNvSpPr>
            <p:nvPr/>
          </p:nvSpPr>
          <p:spPr bwMode="auto">
            <a:xfrm>
              <a:off x="5867400" y="1981200"/>
              <a:ext cx="0" cy="2916238"/>
            </a:xfrm>
            <a:prstGeom prst="line">
              <a:avLst/>
            </a:prstGeom>
            <a:noFill/>
            <a:ln w="12700">
              <a:solidFill>
                <a:schemeClr val="tx1"/>
              </a:solidFill>
              <a:round/>
              <a:headEnd/>
              <a:tailEnd/>
            </a:ln>
            <a:effectLst/>
          </p:spPr>
          <p:txBody>
            <a:bodyPr wrap="none" anchor="ctr"/>
            <a:lstStyle/>
            <a:p>
              <a:endParaRPr lang="en-US"/>
            </a:p>
          </p:txBody>
        </p:sp>
        <p:sp>
          <p:nvSpPr>
            <p:cNvPr id="21" name="Line 4"/>
            <p:cNvSpPr>
              <a:spLocks noChangeShapeType="1"/>
            </p:cNvSpPr>
            <p:nvPr/>
          </p:nvSpPr>
          <p:spPr bwMode="auto">
            <a:xfrm>
              <a:off x="6202681" y="1828800"/>
              <a:ext cx="45719" cy="3048000"/>
            </a:xfrm>
            <a:prstGeom prst="line">
              <a:avLst/>
            </a:prstGeom>
            <a:noFill/>
            <a:ln w="12700">
              <a:solidFill>
                <a:srgbClr val="C00000"/>
              </a:solidFill>
              <a:round/>
              <a:headEnd/>
              <a:tailEnd/>
            </a:ln>
            <a:effectLst/>
          </p:spPr>
          <p:txBody>
            <a:bodyPr wrap="none" anchor="ctr"/>
            <a:lstStyle/>
            <a:p>
              <a:endParaRPr lang="en-US"/>
            </a:p>
          </p:txBody>
        </p:sp>
        <p:sp>
          <p:nvSpPr>
            <p:cNvPr id="22" name="Rectangle 9"/>
            <p:cNvSpPr>
              <a:spLocks noChangeArrowheads="1"/>
            </p:cNvSpPr>
            <p:nvPr/>
          </p:nvSpPr>
          <p:spPr bwMode="auto">
            <a:xfrm>
              <a:off x="2667000" y="1828800"/>
              <a:ext cx="1787525" cy="705321"/>
            </a:xfrm>
            <a:prstGeom prst="rect">
              <a:avLst/>
            </a:prstGeom>
            <a:noFill/>
            <a:ln w="12700">
              <a:noFill/>
              <a:miter lim="800000"/>
              <a:headEnd/>
              <a:tailEnd/>
            </a:ln>
            <a:effectLst/>
          </p:spPr>
          <p:txBody>
            <a:bodyPr lIns="90488" tIns="44450" rIns="90488" bIns="44450">
              <a:spAutoFit/>
            </a:bodyPr>
            <a:lstStyle/>
            <a:p>
              <a:r>
                <a:rPr lang="en-US" sz="2000" b="1" dirty="0" smtClean="0">
                  <a:latin typeface="Arial" pitchFamily="34" charset="0"/>
                </a:rPr>
                <a:t>positive </a:t>
              </a:r>
              <a:r>
                <a:rPr lang="en-US" sz="2000" b="1" dirty="0">
                  <a:latin typeface="Arial" pitchFamily="34" charset="0"/>
                </a:rPr>
                <a:t>skew</a:t>
              </a:r>
              <a:endParaRPr lang="en-US" sz="2000" dirty="0">
                <a:latin typeface="Book Antiqua" pitchFamily="18" charset="0"/>
              </a:endParaRPr>
            </a:p>
          </p:txBody>
        </p:sp>
      </p:grpSp>
      <p:graphicFrame>
        <p:nvGraphicFramePr>
          <p:cNvPr id="24" name="Object 23"/>
          <p:cNvGraphicFramePr>
            <a:graphicFrameLocks noChangeAspect="1"/>
          </p:cNvGraphicFramePr>
          <p:nvPr/>
        </p:nvGraphicFramePr>
        <p:xfrm>
          <a:off x="4800600" y="5105400"/>
          <a:ext cx="2590800" cy="393700"/>
        </p:xfrm>
        <a:graphic>
          <a:graphicData uri="http://schemas.openxmlformats.org/presentationml/2006/ole">
            <p:oleObj spid="_x0000_s690288" name="Equation" r:id="rId5" imgW="2590800" imgH="393700" progId="Equation.3">
              <p:embed/>
            </p:oleObj>
          </a:graphicData>
        </a:graphic>
      </p:graphicFrame>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609600" y="36163"/>
            <a:ext cx="8001000" cy="649637"/>
          </a:xfrm>
        </p:spPr>
        <p:txBody>
          <a:bodyPr/>
          <a:lstStyle/>
          <a:p>
            <a:r>
              <a:rPr lang="en-US" sz="3200" b="0" dirty="0" err="1"/>
              <a:t>Skewness</a:t>
            </a:r>
            <a:endParaRPr lang="en-US" sz="3200" b="0" dirty="0"/>
          </a:p>
        </p:txBody>
      </p:sp>
      <p:sp>
        <p:nvSpPr>
          <p:cNvPr id="194563" name="Rectangle 3"/>
          <p:cNvSpPr>
            <a:spLocks noGrp="1" noChangeArrowheads="1"/>
          </p:cNvSpPr>
          <p:nvPr>
            <p:ph type="body" sz="half" idx="1"/>
          </p:nvPr>
        </p:nvSpPr>
        <p:spPr>
          <a:xfrm>
            <a:off x="533400" y="990600"/>
            <a:ext cx="8348662" cy="5181600"/>
          </a:xfrm>
        </p:spPr>
        <p:txBody>
          <a:bodyPr/>
          <a:lstStyle/>
          <a:p>
            <a:r>
              <a:rPr lang="en-US" dirty="0"/>
              <a:t>Measures asymmetry of data </a:t>
            </a:r>
          </a:p>
          <a:p>
            <a:pPr lvl="1"/>
            <a:r>
              <a:rPr lang="en-US" sz="2400" dirty="0"/>
              <a:t>Positive or right skewed: Longer right tail</a:t>
            </a:r>
          </a:p>
          <a:p>
            <a:pPr lvl="1"/>
            <a:r>
              <a:rPr lang="en-US" sz="2400" dirty="0"/>
              <a:t>Negative or left skewed: Longer left tail</a:t>
            </a:r>
          </a:p>
          <a:p>
            <a:endParaRPr lang="en-US" dirty="0"/>
          </a:p>
        </p:txBody>
      </p:sp>
      <p:graphicFrame>
        <p:nvGraphicFramePr>
          <p:cNvPr id="194564" name="Object 4"/>
          <p:cNvGraphicFramePr>
            <a:graphicFrameLocks noGrp="1" noChangeAspect="1"/>
          </p:cNvGraphicFramePr>
          <p:nvPr>
            <p:ph sz="half" idx="2"/>
            <p:extLst>
              <p:ext uri="{D42A27DB-BD31-4B8C-83A1-F6EECF244321}">
                <p14:modId xmlns="" xmlns:p14="http://schemas.microsoft.com/office/powerpoint/2010/main" val="215461372"/>
              </p:ext>
            </p:extLst>
          </p:nvPr>
        </p:nvGraphicFramePr>
        <p:xfrm>
          <a:off x="1219200" y="2743200"/>
          <a:ext cx="5638800" cy="2667723"/>
        </p:xfrm>
        <a:graphic>
          <a:graphicData uri="http://schemas.openxmlformats.org/presentationml/2006/ole">
            <p:oleObj spid="_x0000_s916526" name="Equation" r:id="rId4" imgW="2362200" imgH="1117600" progId="Equation.3">
              <p:embed/>
            </p:oleObj>
          </a:graphicData>
        </a:graphic>
      </p:graphicFrame>
    </p:spTree>
    <p:extLst>
      <p:ext uri="{BB962C8B-B14F-4D97-AF65-F5344CB8AC3E}">
        <p14:creationId xmlns="" xmlns:p14="http://schemas.microsoft.com/office/powerpoint/2010/main" val="27534670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25</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TextBox 5"/>
          <p:cNvSpPr txBox="1"/>
          <p:nvPr/>
        </p:nvSpPr>
        <p:spPr>
          <a:xfrm>
            <a:off x="2514600" y="0"/>
            <a:ext cx="4724400" cy="523220"/>
          </a:xfrm>
          <a:prstGeom prst="rect">
            <a:avLst/>
          </a:prstGeom>
          <a:noFill/>
        </p:spPr>
        <p:txBody>
          <a:bodyPr wrap="square" rtlCol="0">
            <a:spAutoFit/>
          </a:bodyPr>
          <a:lstStyle/>
          <a:p>
            <a:pPr algn="ctr"/>
            <a:r>
              <a:rPr lang="en-US" sz="2800" dirty="0" smtClean="0">
                <a:latin typeface="+mj-lt"/>
              </a:rPr>
              <a:t>Moments</a:t>
            </a:r>
            <a:endParaRPr lang="en-US" sz="2800" dirty="0">
              <a:latin typeface="+mj-lt"/>
            </a:endParaRPr>
          </a:p>
        </p:txBody>
      </p:sp>
      <p:sp>
        <p:nvSpPr>
          <p:cNvPr id="7" name="TextBox 6"/>
          <p:cNvSpPr txBox="1"/>
          <p:nvPr/>
        </p:nvSpPr>
        <p:spPr>
          <a:xfrm>
            <a:off x="457200" y="1066800"/>
            <a:ext cx="8077200" cy="5632311"/>
          </a:xfrm>
          <a:prstGeom prst="rect">
            <a:avLst/>
          </a:prstGeom>
          <a:noFill/>
        </p:spPr>
        <p:txBody>
          <a:bodyPr wrap="square" rtlCol="0">
            <a:spAutoFit/>
          </a:bodyPr>
          <a:lstStyle/>
          <a:p>
            <a:r>
              <a:rPr lang="en-US" sz="2400" dirty="0" smtClean="0">
                <a:latin typeface="+mj-lt"/>
              </a:rPr>
              <a:t>Given </a:t>
            </a:r>
            <a:r>
              <a:rPr lang="en-US" sz="2400" i="1" dirty="0" smtClean="0">
                <a:latin typeface="+mj-lt"/>
              </a:rPr>
              <a:t>n</a:t>
            </a:r>
            <a:r>
              <a:rPr lang="en-US" sz="2400" dirty="0" smtClean="0">
                <a:latin typeface="+mj-lt"/>
              </a:rPr>
              <a:t> observations and an arbitrary constant </a:t>
            </a:r>
            <a:r>
              <a:rPr lang="en-US" sz="2400" i="1" dirty="0" smtClean="0">
                <a:latin typeface="+mj-lt"/>
              </a:rPr>
              <a:t>A</a:t>
            </a:r>
            <a:r>
              <a:rPr lang="en-US" sz="2400" dirty="0" smtClean="0">
                <a:latin typeface="+mj-lt"/>
              </a:rPr>
              <a:t>,</a:t>
            </a:r>
          </a:p>
          <a:p>
            <a:endParaRPr lang="en-US" sz="2400" dirty="0" smtClean="0">
              <a:latin typeface="+mj-lt"/>
            </a:endParaRPr>
          </a:p>
          <a:p>
            <a:r>
              <a:rPr lang="en-US" sz="2400" dirty="0" smtClean="0">
                <a:latin typeface="+mj-lt"/>
              </a:rPr>
              <a:t>1st moment about A is defined as, </a:t>
            </a:r>
          </a:p>
          <a:p>
            <a:endParaRPr lang="en-US" sz="2400" dirty="0" smtClean="0">
              <a:latin typeface="+mj-lt"/>
            </a:endParaRPr>
          </a:p>
          <a:p>
            <a:r>
              <a:rPr lang="en-US" sz="2400" dirty="0" smtClean="0">
                <a:latin typeface="+mj-lt"/>
              </a:rPr>
              <a:t>2nd moment about A is defined as, </a:t>
            </a:r>
          </a:p>
          <a:p>
            <a:endParaRPr lang="en-US" sz="2400" dirty="0" smtClean="0">
              <a:latin typeface="+mj-lt"/>
            </a:endParaRPr>
          </a:p>
          <a:p>
            <a:r>
              <a:rPr lang="en-US" sz="2400" i="1" dirty="0" smtClean="0">
                <a:latin typeface="+mj-lt"/>
              </a:rPr>
              <a:t>r</a:t>
            </a:r>
            <a:r>
              <a:rPr lang="en-US" sz="2400" dirty="0" smtClean="0">
                <a:latin typeface="+mj-lt"/>
              </a:rPr>
              <a:t>- </a:t>
            </a:r>
            <a:r>
              <a:rPr lang="en-US" sz="2400" dirty="0" err="1" smtClean="0">
                <a:latin typeface="+mj-lt"/>
              </a:rPr>
              <a:t>th</a:t>
            </a:r>
            <a:r>
              <a:rPr lang="en-US" sz="2400" dirty="0" smtClean="0">
                <a:latin typeface="+mj-lt"/>
              </a:rPr>
              <a:t> moment about A is defined as, </a:t>
            </a:r>
          </a:p>
          <a:p>
            <a:endParaRPr lang="en-US" sz="2400" dirty="0" smtClean="0">
              <a:latin typeface="+mj-lt"/>
            </a:endParaRPr>
          </a:p>
          <a:p>
            <a:endParaRPr lang="en-US" sz="2400" dirty="0" smtClean="0">
              <a:latin typeface="+mj-lt"/>
            </a:endParaRPr>
          </a:p>
          <a:p>
            <a:r>
              <a:rPr lang="en-US" sz="2400" dirty="0" smtClean="0">
                <a:latin typeface="+mj-lt"/>
              </a:rPr>
              <a:t>Evidently, moment about 0 is the mean </a:t>
            </a:r>
          </a:p>
          <a:p>
            <a:r>
              <a:rPr lang="en-US" sz="2400" dirty="0" smtClean="0">
                <a:latin typeface="+mj-lt"/>
              </a:rPr>
              <a:t>Similarly 1</a:t>
            </a:r>
            <a:r>
              <a:rPr lang="en-US" sz="2400" baseline="30000" dirty="0" smtClean="0">
                <a:latin typeface="+mj-lt"/>
              </a:rPr>
              <a:t>st</a:t>
            </a:r>
            <a:r>
              <a:rPr lang="en-US" sz="2400" dirty="0" smtClean="0">
                <a:latin typeface="+mj-lt"/>
              </a:rPr>
              <a:t> moments about mean is</a:t>
            </a:r>
          </a:p>
          <a:p>
            <a:endParaRPr lang="en-US" sz="2400" dirty="0" smtClean="0">
              <a:latin typeface="+mj-lt"/>
            </a:endParaRPr>
          </a:p>
          <a:p>
            <a:r>
              <a:rPr lang="en-US" sz="2400" dirty="0" smtClean="0">
                <a:latin typeface="+mj-lt"/>
              </a:rPr>
              <a:t>2</a:t>
            </a:r>
            <a:r>
              <a:rPr lang="en-US" sz="2400" baseline="30000" dirty="0" smtClean="0">
                <a:latin typeface="+mj-lt"/>
              </a:rPr>
              <a:t>nd</a:t>
            </a:r>
            <a:r>
              <a:rPr lang="en-US" sz="2400" dirty="0" smtClean="0">
                <a:latin typeface="+mj-lt"/>
              </a:rPr>
              <a:t> moment about mean is variance  </a:t>
            </a:r>
          </a:p>
          <a:p>
            <a:r>
              <a:rPr lang="en-US" sz="2400" dirty="0" smtClean="0">
                <a:latin typeface="+mj-lt"/>
              </a:rPr>
              <a:t>   </a:t>
            </a:r>
          </a:p>
          <a:p>
            <a:endParaRPr lang="en-US" sz="2400" dirty="0">
              <a:latin typeface="+mj-lt"/>
            </a:endParaRPr>
          </a:p>
        </p:txBody>
      </p:sp>
      <p:graphicFrame>
        <p:nvGraphicFramePr>
          <p:cNvPr id="8" name="Object 7"/>
          <p:cNvGraphicFramePr>
            <a:graphicFrameLocks noChangeAspect="1"/>
          </p:cNvGraphicFramePr>
          <p:nvPr/>
        </p:nvGraphicFramePr>
        <p:xfrm>
          <a:off x="4876800" y="1752600"/>
          <a:ext cx="1160206" cy="609600"/>
        </p:xfrm>
        <a:graphic>
          <a:graphicData uri="http://schemas.openxmlformats.org/presentationml/2006/ole">
            <p:oleObj spid="_x0000_s686419" name="Equation" r:id="rId3" imgW="748975" imgH="393529" progId="Equation.3">
              <p:embed/>
            </p:oleObj>
          </a:graphicData>
        </a:graphic>
      </p:graphicFrame>
      <p:graphicFrame>
        <p:nvGraphicFramePr>
          <p:cNvPr id="686083" name="Object 3"/>
          <p:cNvGraphicFramePr>
            <a:graphicFrameLocks noChangeAspect="1"/>
          </p:cNvGraphicFramePr>
          <p:nvPr/>
        </p:nvGraphicFramePr>
        <p:xfrm>
          <a:off x="5029200" y="3200400"/>
          <a:ext cx="1258887" cy="609600"/>
        </p:xfrm>
        <a:graphic>
          <a:graphicData uri="http://schemas.openxmlformats.org/presentationml/2006/ole">
            <p:oleObj spid="_x0000_s686420" name="Equation" r:id="rId4" imgW="812447" imgH="393529" progId="Equation.3">
              <p:embed/>
            </p:oleObj>
          </a:graphicData>
        </a:graphic>
      </p:graphicFrame>
      <p:graphicFrame>
        <p:nvGraphicFramePr>
          <p:cNvPr id="686085" name="Object 5"/>
          <p:cNvGraphicFramePr>
            <a:graphicFrameLocks noChangeAspect="1"/>
          </p:cNvGraphicFramePr>
          <p:nvPr/>
        </p:nvGraphicFramePr>
        <p:xfrm>
          <a:off x="4818063" y="2514600"/>
          <a:ext cx="1279525" cy="609600"/>
        </p:xfrm>
        <a:graphic>
          <a:graphicData uri="http://schemas.openxmlformats.org/presentationml/2006/ole">
            <p:oleObj spid="_x0000_s686421" name="Equation" r:id="rId5" imgW="825500" imgH="393700" progId="Equation.3">
              <p:embed/>
            </p:oleObj>
          </a:graphicData>
        </a:graphic>
      </p:graphicFrame>
      <p:graphicFrame>
        <p:nvGraphicFramePr>
          <p:cNvPr id="686086" name="Object 6"/>
          <p:cNvGraphicFramePr>
            <a:graphicFrameLocks noChangeAspect="1"/>
          </p:cNvGraphicFramePr>
          <p:nvPr/>
        </p:nvGraphicFramePr>
        <p:xfrm>
          <a:off x="5181600" y="4800600"/>
          <a:ext cx="1590675" cy="609600"/>
        </p:xfrm>
        <a:graphic>
          <a:graphicData uri="http://schemas.openxmlformats.org/presentationml/2006/ole">
            <p:oleObj spid="_x0000_s686422" name="Equation" r:id="rId6" imgW="1028254" imgH="393529" progId="Equation.3">
              <p:embed/>
            </p:oleObj>
          </a:graphicData>
        </a:graphic>
      </p:graphicFrame>
      <p:graphicFrame>
        <p:nvGraphicFramePr>
          <p:cNvPr id="686087" name="Object 7"/>
          <p:cNvGraphicFramePr>
            <a:graphicFrameLocks noChangeAspect="1"/>
          </p:cNvGraphicFramePr>
          <p:nvPr/>
        </p:nvGraphicFramePr>
        <p:xfrm>
          <a:off x="5181600" y="5562600"/>
          <a:ext cx="1766887" cy="609600"/>
        </p:xfrm>
        <a:graphic>
          <a:graphicData uri="http://schemas.openxmlformats.org/presentationml/2006/ole">
            <p:oleObj spid="_x0000_s686423" name="Equation" r:id="rId7" imgW="1143000" imgH="393700" progId="Equation.3">
              <p:embed/>
            </p:oleObj>
          </a:graphicData>
        </a:graphic>
      </p:graphicFrame>
      <p:graphicFrame>
        <p:nvGraphicFramePr>
          <p:cNvPr id="15" name="Object 14"/>
          <p:cNvGraphicFramePr>
            <a:graphicFrameLocks noChangeAspect="1"/>
          </p:cNvGraphicFramePr>
          <p:nvPr/>
        </p:nvGraphicFramePr>
        <p:xfrm>
          <a:off x="5410200" y="4419600"/>
          <a:ext cx="304800" cy="304800"/>
        </p:xfrm>
        <a:graphic>
          <a:graphicData uri="http://schemas.openxmlformats.org/presentationml/2006/ole">
            <p:oleObj spid="_x0000_s686424" name="Equation" r:id="rId8" imgW="126780" imgH="215526" progId="Equation.3">
              <p:embed/>
            </p:oleObj>
          </a:graphicData>
        </a:graphic>
      </p:graphicFrame>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381000" y="0"/>
            <a:ext cx="8763000" cy="609600"/>
          </a:xfrm>
          <a:prstGeom prst="rect">
            <a:avLst/>
          </a:prstGeom>
        </p:spPr>
        <p:txBody>
          <a:bodyPr/>
          <a:lstStyle/>
          <a:p>
            <a:r>
              <a:rPr lang="en-US" b="0" dirty="0">
                <a:cs typeface="Arial" pitchFamily="34" charset="0"/>
              </a:rPr>
              <a:t>Measures of </a:t>
            </a:r>
            <a:r>
              <a:rPr lang="en-US" b="0" dirty="0" smtClean="0">
                <a:cs typeface="Arial" pitchFamily="34" charset="0"/>
              </a:rPr>
              <a:t>Symmetry : Kurtosis</a:t>
            </a:r>
            <a:endParaRPr lang="en-US" b="0" dirty="0">
              <a:cs typeface="Arial" pitchFamily="34" charset="0"/>
            </a:endParaRPr>
          </a:p>
        </p:txBody>
      </p:sp>
      <p:sp>
        <p:nvSpPr>
          <p:cNvPr id="27651" name="Rectangle 3"/>
          <p:cNvSpPr>
            <a:spLocks noGrp="1" noChangeArrowheads="1"/>
          </p:cNvSpPr>
          <p:nvPr>
            <p:ph type="body" idx="1"/>
          </p:nvPr>
        </p:nvSpPr>
        <p:spPr>
          <a:xfrm>
            <a:off x="241300" y="838200"/>
            <a:ext cx="8902700" cy="5486400"/>
          </a:xfrm>
        </p:spPr>
        <p:txBody>
          <a:bodyPr/>
          <a:lstStyle/>
          <a:p>
            <a:r>
              <a:rPr lang="en-US" dirty="0"/>
              <a:t>Measures of central location fail to tell the whole story about the distribution; that is, how much are the observations spread out around the mean value?</a:t>
            </a:r>
          </a:p>
          <a:p>
            <a:endParaRPr lang="en-US" dirty="0"/>
          </a:p>
        </p:txBody>
      </p:sp>
      <p:pic>
        <p:nvPicPr>
          <p:cNvPr id="27652" name="Picture 4"/>
          <p:cNvPicPr>
            <a:picLocks noChangeAspect="1" noChangeArrowheads="1"/>
          </p:cNvPicPr>
          <p:nvPr/>
        </p:nvPicPr>
        <p:blipFill>
          <a:blip r:embed="rId2"/>
          <a:srcRect/>
          <a:stretch>
            <a:fillRect/>
          </a:stretch>
        </p:blipFill>
        <p:spPr bwMode="auto">
          <a:xfrm>
            <a:off x="1828800" y="2251075"/>
            <a:ext cx="7010400" cy="4073525"/>
          </a:xfrm>
          <a:prstGeom prst="rect">
            <a:avLst/>
          </a:prstGeom>
          <a:noFill/>
        </p:spPr>
      </p:pic>
      <p:sp>
        <p:nvSpPr>
          <p:cNvPr id="27653" name="Rectangle 5"/>
          <p:cNvSpPr>
            <a:spLocks noChangeArrowheads="1"/>
          </p:cNvSpPr>
          <p:nvPr/>
        </p:nvSpPr>
        <p:spPr bwMode="auto">
          <a:xfrm>
            <a:off x="228600" y="2698750"/>
            <a:ext cx="4648200" cy="2456057"/>
          </a:xfrm>
          <a:prstGeom prst="rect">
            <a:avLst/>
          </a:prstGeom>
          <a:noFill/>
          <a:ln w="9525">
            <a:noFill/>
            <a:miter lim="800000"/>
            <a:headEnd/>
            <a:tailEnd/>
          </a:ln>
          <a:effectLst/>
        </p:spPr>
        <p:txBody>
          <a:bodyPr anchor="ctr">
            <a:spAutoFit/>
          </a:bodyPr>
          <a:lstStyle/>
          <a:p>
            <a:pPr algn="l" eaLnBrk="1" hangingPunct="1">
              <a:spcBef>
                <a:spcPct val="20000"/>
              </a:spcBef>
            </a:pPr>
            <a:r>
              <a:rPr lang="en-US" sz="2400" dirty="0">
                <a:latin typeface="+mj-lt"/>
              </a:rPr>
              <a:t>For example, two sets of class grades are shown. The mean (=50) is the same in each case…</a:t>
            </a:r>
          </a:p>
          <a:p>
            <a:pPr algn="l" eaLnBrk="1" hangingPunct="1">
              <a:spcBef>
                <a:spcPct val="20000"/>
              </a:spcBef>
            </a:pPr>
            <a:r>
              <a:rPr lang="en-US" sz="2400" dirty="0" smtClean="0">
                <a:latin typeface="+mj-lt"/>
              </a:rPr>
              <a:t>But</a:t>
            </a:r>
            <a:r>
              <a:rPr lang="en-US" sz="2400" dirty="0">
                <a:latin typeface="+mj-lt"/>
              </a:rPr>
              <a:t>, the </a:t>
            </a:r>
            <a:r>
              <a:rPr lang="en-US" sz="2400" dirty="0">
                <a:solidFill>
                  <a:srgbClr val="FF0000"/>
                </a:solidFill>
                <a:latin typeface="+mj-lt"/>
              </a:rPr>
              <a:t>red</a:t>
            </a:r>
            <a:r>
              <a:rPr lang="en-US" sz="2400" dirty="0">
                <a:latin typeface="+mj-lt"/>
              </a:rPr>
              <a:t> class has greater variability than the </a:t>
            </a:r>
            <a:r>
              <a:rPr lang="en-US" sz="2400" dirty="0">
                <a:solidFill>
                  <a:srgbClr val="0000FF"/>
                </a:solidFill>
                <a:latin typeface="+mj-lt"/>
              </a:rPr>
              <a:t>blue</a:t>
            </a:r>
            <a:r>
              <a:rPr lang="en-US" sz="2400" dirty="0">
                <a:latin typeface="+mj-lt"/>
              </a:rPr>
              <a:t> </a:t>
            </a:r>
            <a:r>
              <a:rPr lang="en-US" sz="2400" dirty="0" smtClean="0">
                <a:latin typeface="+mj-lt"/>
              </a:rPr>
              <a:t>class. </a:t>
            </a:r>
          </a:p>
          <a:p>
            <a:pPr algn="l" eaLnBrk="1" hangingPunct="1">
              <a:spcBef>
                <a:spcPct val="20000"/>
              </a:spcBef>
            </a:pPr>
            <a:r>
              <a:rPr lang="en-US" sz="2400" dirty="0" smtClean="0">
                <a:latin typeface="+mj-lt"/>
              </a:rPr>
              <a:t>A measure is given by </a:t>
            </a:r>
            <a:r>
              <a:rPr lang="en-US" sz="2400" b="1" dirty="0" smtClean="0">
                <a:latin typeface="+mj-lt"/>
              </a:rPr>
              <a:t>kurtosis</a:t>
            </a:r>
            <a:endParaRPr lang="en-US" sz="2400" b="1" dirty="0">
              <a:latin typeface="+mj-lt"/>
            </a:endParaRPr>
          </a:p>
        </p:txBody>
      </p:sp>
      <p:sp>
        <p:nvSpPr>
          <p:cNvPr id="6" name="Date Placeholder 5"/>
          <p:cNvSpPr>
            <a:spLocks noGrp="1"/>
          </p:cNvSpPr>
          <p:nvPr>
            <p:ph type="dt" sz="half" idx="10"/>
          </p:nvPr>
        </p:nvSpPr>
        <p:spPr/>
        <p:txBody>
          <a:bodyPr/>
          <a:lstStyle/>
          <a:p>
            <a:r>
              <a:rPr lang="en-US" smtClean="0"/>
              <a:t>Prof. A. K. Datta     University of Calcutta</a:t>
            </a:r>
            <a:endParaRPr lang="en-IN" dirty="0"/>
          </a:p>
        </p:txBody>
      </p:sp>
      <p:sp>
        <p:nvSpPr>
          <p:cNvPr id="7" name="Slide Number Placeholder 6"/>
          <p:cNvSpPr>
            <a:spLocks noGrp="1"/>
          </p:cNvSpPr>
          <p:nvPr>
            <p:ph type="sldNum" sz="quarter" idx="11"/>
          </p:nvPr>
        </p:nvSpPr>
        <p:spPr/>
        <p:txBody>
          <a:bodyPr/>
          <a:lstStyle/>
          <a:p>
            <a:fld id="{BF2D74FB-8EB9-4DEE-8258-980F8375AF4A}" type="slidenum">
              <a:rPr lang="en-IN" smtClean="0"/>
              <a:pPr/>
              <a:t>26</a:t>
            </a:fld>
            <a:endParaRPr lang="en-IN" dirty="0"/>
          </a:p>
        </p:txBody>
      </p:sp>
      <p:sp>
        <p:nvSpPr>
          <p:cNvPr id="8" name="Footer Placeholder 7"/>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685800" y="19373"/>
            <a:ext cx="8001000" cy="818827"/>
          </a:xfrm>
        </p:spPr>
        <p:txBody>
          <a:bodyPr/>
          <a:lstStyle/>
          <a:p>
            <a:r>
              <a:rPr lang="en-US" sz="3600" b="0"/>
              <a:t>Kurtosis</a:t>
            </a:r>
          </a:p>
        </p:txBody>
      </p:sp>
      <p:sp>
        <p:nvSpPr>
          <p:cNvPr id="197635" name="Rectangle 3"/>
          <p:cNvSpPr>
            <a:spLocks noGrp="1" noChangeArrowheads="1"/>
          </p:cNvSpPr>
          <p:nvPr>
            <p:ph type="body" sz="half" idx="1"/>
          </p:nvPr>
        </p:nvSpPr>
        <p:spPr>
          <a:xfrm>
            <a:off x="457200" y="1143000"/>
            <a:ext cx="8305800" cy="4038600"/>
          </a:xfrm>
        </p:spPr>
        <p:txBody>
          <a:bodyPr/>
          <a:lstStyle/>
          <a:p>
            <a:r>
              <a:rPr lang="en-US" sz="2800" dirty="0">
                <a:latin typeface="Book Antiqua" pitchFamily="18" charset="0"/>
              </a:rPr>
              <a:t>Measures </a:t>
            </a:r>
            <a:r>
              <a:rPr lang="en-US" sz="2800" dirty="0" err="1">
                <a:latin typeface="Book Antiqua" pitchFamily="18" charset="0"/>
              </a:rPr>
              <a:t>peakedness</a:t>
            </a:r>
            <a:r>
              <a:rPr lang="en-US" sz="2800" dirty="0">
                <a:latin typeface="Book Antiqua" pitchFamily="18" charset="0"/>
              </a:rPr>
              <a:t> of the distribution of data. The kurtosis of normal distribution is 0</a:t>
            </a:r>
            <a:r>
              <a:rPr lang="en-US" sz="2800" dirty="0" smtClean="0">
                <a:latin typeface="Book Antiqua" pitchFamily="18" charset="0"/>
              </a:rPr>
              <a:t>.- </a:t>
            </a:r>
            <a:endParaRPr lang="en-US" sz="2800" dirty="0">
              <a:latin typeface="Book Antiqua" pitchFamily="18" charset="0"/>
            </a:endParaRPr>
          </a:p>
        </p:txBody>
      </p:sp>
      <p:graphicFrame>
        <p:nvGraphicFramePr>
          <p:cNvPr id="197636" name="Object 4"/>
          <p:cNvGraphicFramePr>
            <a:graphicFrameLocks noGrp="1" noChangeAspect="1"/>
          </p:cNvGraphicFramePr>
          <p:nvPr>
            <p:ph sz="half" idx="2"/>
            <p:extLst>
              <p:ext uri="{D42A27DB-BD31-4B8C-83A1-F6EECF244321}">
                <p14:modId xmlns="" xmlns:p14="http://schemas.microsoft.com/office/powerpoint/2010/main" val="3088378586"/>
              </p:ext>
            </p:extLst>
          </p:nvPr>
        </p:nvGraphicFramePr>
        <p:xfrm>
          <a:off x="1143000" y="2514600"/>
          <a:ext cx="5867400" cy="2777177"/>
        </p:xfrm>
        <a:graphic>
          <a:graphicData uri="http://schemas.openxmlformats.org/presentationml/2006/ole">
            <p:oleObj spid="_x0000_s917550" name="Equation" r:id="rId4" imgW="2362200" imgH="1117600" progId="Equation.3">
              <p:embed/>
            </p:oleObj>
          </a:graphicData>
        </a:graphic>
      </p:graphicFrame>
    </p:spTree>
    <p:extLst>
      <p:ext uri="{BB962C8B-B14F-4D97-AF65-F5344CB8AC3E}">
        <p14:creationId xmlns="" xmlns:p14="http://schemas.microsoft.com/office/powerpoint/2010/main" val="3378497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2743200" y="0"/>
            <a:ext cx="3810000" cy="639763"/>
          </a:xfrm>
          <a:prstGeom prst="rect">
            <a:avLst/>
          </a:prstGeom>
        </p:spPr>
        <p:txBody>
          <a:bodyPr>
            <a:noAutofit/>
          </a:bodyPr>
          <a:lstStyle/>
          <a:p>
            <a:pPr eaLnBrk="1" fontAlgn="auto" hangingPunct="1">
              <a:spcAft>
                <a:spcPts val="0"/>
              </a:spcAft>
              <a:defRPr/>
            </a:pPr>
            <a:r>
              <a:rPr lang="en-US" sz="3600" b="0" dirty="0" smtClean="0"/>
              <a:t>Kurtosis</a:t>
            </a:r>
          </a:p>
        </p:txBody>
      </p:sp>
      <p:sp>
        <p:nvSpPr>
          <p:cNvPr id="6" name="Content Placeholder 2"/>
          <p:cNvSpPr txBox="1">
            <a:spLocks/>
          </p:cNvSpPr>
          <p:nvPr/>
        </p:nvSpPr>
        <p:spPr>
          <a:xfrm>
            <a:off x="304800" y="3048000"/>
            <a:ext cx="8153400" cy="3429000"/>
          </a:xfrm>
          <a:prstGeom prst="rect">
            <a:avLst/>
          </a:prstGeom>
        </p:spPr>
        <p:txBody>
          <a:bodyPr>
            <a:normAutofit/>
          </a:bodyPr>
          <a:lstStyle/>
          <a:p>
            <a:pPr marL="274320" marR="0" lvl="0" indent="-274320" algn="just" defTabSz="914400" rtl="0" eaLnBrk="1" fontAlgn="auto" latinLnBrk="0" hangingPunct="1">
              <a:lnSpc>
                <a:spcPct val="100000"/>
              </a:lnSpc>
              <a:spcBef>
                <a:spcPts val="580"/>
              </a:spcBef>
              <a:spcAft>
                <a:spcPts val="0"/>
              </a:spcAft>
              <a:buClrTx/>
              <a:buSzTx/>
              <a:buFont typeface="Wingdings 2"/>
              <a:buChar char=""/>
              <a:tabLst/>
              <a:defRPr/>
            </a:pPr>
            <a:r>
              <a:rPr kumimoji="0" lang="en-US" sz="2400" b="0" i="0" u="none" strike="noStrike" kern="0" cap="none" spc="0" normalizeH="0" baseline="0" noProof="0" dirty="0" smtClean="0">
                <a:ln>
                  <a:noFill/>
                </a:ln>
                <a:solidFill>
                  <a:schemeClr val="tx1">
                    <a:lumMod val="95000"/>
                    <a:lumOff val="5000"/>
                  </a:schemeClr>
                </a:solidFill>
                <a:effectLst/>
                <a:uLnTx/>
                <a:uFillTx/>
                <a:latin typeface="+mn-lt"/>
                <a:ea typeface="+mn-ea"/>
                <a:cs typeface="+mn-cs"/>
              </a:rPr>
              <a:t>Kurtosis is a measure of whether the data are peaked or flat relative to a normal distribution. </a:t>
            </a:r>
          </a:p>
          <a:p>
            <a:pPr marL="274320" marR="0" lvl="0" indent="-274320" algn="just" defTabSz="914400" rtl="0" eaLnBrk="1" fontAlgn="auto" latinLnBrk="0" hangingPunct="1">
              <a:lnSpc>
                <a:spcPct val="100000"/>
              </a:lnSpc>
              <a:spcBef>
                <a:spcPts val="580"/>
              </a:spcBef>
              <a:spcAft>
                <a:spcPts val="0"/>
              </a:spcAft>
              <a:buClrTx/>
              <a:buSzTx/>
              <a:buFont typeface="Wingdings 2"/>
              <a:buChar char=""/>
              <a:tabLst/>
              <a:defRPr/>
            </a:pPr>
            <a:r>
              <a:rPr kumimoji="0" lang="en-US" sz="2400" b="0" i="0" u="none" strike="noStrike" kern="0" cap="none" spc="0" normalizeH="0" baseline="0" noProof="0" dirty="0" smtClean="0">
                <a:ln>
                  <a:noFill/>
                </a:ln>
                <a:solidFill>
                  <a:schemeClr val="tx1">
                    <a:lumMod val="95000"/>
                    <a:lumOff val="5000"/>
                  </a:schemeClr>
                </a:solidFill>
                <a:effectLst/>
                <a:uLnTx/>
                <a:uFillTx/>
                <a:latin typeface="+mn-lt"/>
                <a:ea typeface="+mn-ea"/>
                <a:cs typeface="+mn-cs"/>
              </a:rPr>
              <a:t>That is, data sets with high kurtosis tend to have a distinct peak near the mean, decline rather rapidly, and have heavy tails. </a:t>
            </a:r>
          </a:p>
          <a:p>
            <a:pPr marL="274320" marR="0" lvl="0" indent="-274320" algn="just" defTabSz="914400" rtl="0" eaLnBrk="1" fontAlgn="auto" latinLnBrk="0" hangingPunct="1">
              <a:lnSpc>
                <a:spcPct val="100000"/>
              </a:lnSpc>
              <a:spcBef>
                <a:spcPts val="580"/>
              </a:spcBef>
              <a:spcAft>
                <a:spcPts val="0"/>
              </a:spcAft>
              <a:buClrTx/>
              <a:buSzTx/>
              <a:buFont typeface="Wingdings 2"/>
              <a:buChar char=""/>
              <a:tabLst/>
              <a:defRPr/>
            </a:pPr>
            <a:r>
              <a:rPr kumimoji="0" lang="en-US" sz="2400" b="0" i="0" u="none" strike="noStrike" kern="0" cap="none" spc="0" normalizeH="0" baseline="0" noProof="0" dirty="0" smtClean="0">
                <a:ln>
                  <a:noFill/>
                </a:ln>
                <a:solidFill>
                  <a:schemeClr val="tx1">
                    <a:lumMod val="95000"/>
                    <a:lumOff val="5000"/>
                  </a:schemeClr>
                </a:solidFill>
                <a:effectLst/>
                <a:uLnTx/>
                <a:uFillTx/>
                <a:latin typeface="+mn-lt"/>
                <a:ea typeface="+mn-ea"/>
                <a:cs typeface="+mn-cs"/>
              </a:rPr>
              <a:t>Data sets with low kurtosis tend to have a flat top near the mean rather than a sharp peak. </a:t>
            </a:r>
          </a:p>
          <a:p>
            <a:pPr marL="274320" marR="0" lvl="0" indent="-274320" algn="just" defTabSz="914400" rtl="0" eaLnBrk="1" fontAlgn="auto" latinLnBrk="0" hangingPunct="1">
              <a:lnSpc>
                <a:spcPct val="100000"/>
              </a:lnSpc>
              <a:spcBef>
                <a:spcPts val="580"/>
              </a:spcBef>
              <a:spcAft>
                <a:spcPts val="0"/>
              </a:spcAft>
              <a:buClrTx/>
              <a:buSzTx/>
              <a:buFont typeface="Wingdings 2"/>
              <a:buChar char=""/>
              <a:tabLst/>
              <a:defRPr/>
            </a:pPr>
            <a:r>
              <a:rPr kumimoji="0" lang="en-US" sz="2400" b="0" i="0" u="none" strike="noStrike" kern="0" cap="none" spc="0" normalizeH="0" baseline="0" noProof="0" dirty="0" smtClean="0">
                <a:ln>
                  <a:noFill/>
                </a:ln>
                <a:solidFill>
                  <a:schemeClr val="tx1">
                    <a:lumMod val="95000"/>
                    <a:lumOff val="5000"/>
                  </a:schemeClr>
                </a:solidFill>
                <a:effectLst/>
                <a:uLnTx/>
                <a:uFillTx/>
                <a:latin typeface="+mn-lt"/>
                <a:ea typeface="+mn-ea"/>
                <a:cs typeface="+mn-cs"/>
              </a:rPr>
              <a:t>A uniform distribution would be the extreme case.</a:t>
            </a:r>
            <a:endParaRPr kumimoji="0" lang="en-US" sz="2400" b="0" i="0" u="none" strike="noStrike" kern="0" cap="none" spc="0" normalizeH="0" baseline="0" noProof="0" dirty="0">
              <a:ln>
                <a:noFill/>
              </a:ln>
              <a:solidFill>
                <a:schemeClr val="tx1">
                  <a:lumMod val="95000"/>
                  <a:lumOff val="5000"/>
                </a:schemeClr>
              </a:solidFill>
              <a:effectLst/>
              <a:uLnTx/>
              <a:uFillTx/>
              <a:latin typeface="+mn-lt"/>
              <a:ea typeface="+mn-ea"/>
              <a:cs typeface="+mn-cs"/>
            </a:endParaRPr>
          </a:p>
        </p:txBody>
      </p:sp>
      <p:sp>
        <p:nvSpPr>
          <p:cNvPr id="7" name="Date Placeholder 6"/>
          <p:cNvSpPr>
            <a:spLocks noGrp="1"/>
          </p:cNvSpPr>
          <p:nvPr>
            <p:ph type="dt" sz="half" idx="10"/>
          </p:nvPr>
        </p:nvSpPr>
        <p:spPr/>
        <p:txBody>
          <a:bodyPr/>
          <a:lstStyle/>
          <a:p>
            <a:r>
              <a:rPr lang="en-US" smtClean="0"/>
              <a:t>Prof. A. K. Datta     University of Calcutta</a:t>
            </a:r>
            <a:endParaRPr lang="en-IN" dirty="0"/>
          </a:p>
        </p:txBody>
      </p:sp>
      <p:sp>
        <p:nvSpPr>
          <p:cNvPr id="8" name="Slide Number Placeholder 7"/>
          <p:cNvSpPr>
            <a:spLocks noGrp="1"/>
          </p:cNvSpPr>
          <p:nvPr>
            <p:ph type="sldNum" sz="quarter" idx="11"/>
          </p:nvPr>
        </p:nvSpPr>
        <p:spPr/>
        <p:txBody>
          <a:bodyPr/>
          <a:lstStyle/>
          <a:p>
            <a:fld id="{BF2D74FB-8EB9-4DEE-8258-980F8375AF4A}" type="slidenum">
              <a:rPr lang="en-IN" smtClean="0"/>
              <a:pPr/>
              <a:t>28</a:t>
            </a:fld>
            <a:endParaRPr lang="en-IN" dirty="0"/>
          </a:p>
        </p:txBody>
      </p:sp>
      <p:sp>
        <p:nvSpPr>
          <p:cNvPr id="9" name="Footer Placeholder 8"/>
          <p:cNvSpPr>
            <a:spLocks noGrp="1"/>
          </p:cNvSpPr>
          <p:nvPr>
            <p:ph type="ftr" sz="quarter" idx="12"/>
          </p:nvPr>
        </p:nvSpPr>
        <p:spPr/>
        <p:txBody>
          <a:bodyPr/>
          <a:lstStyle/>
          <a:p>
            <a:r>
              <a:rPr lang="en-IN" smtClean="0"/>
              <a:t>Ph.D Course Work on Research Methodology</a:t>
            </a:r>
            <a:endParaRPr lang="en-IN" dirty="0"/>
          </a:p>
        </p:txBody>
      </p:sp>
      <p:sp>
        <p:nvSpPr>
          <p:cNvPr id="10" name="TextBox 9"/>
          <p:cNvSpPr txBox="1"/>
          <p:nvPr/>
        </p:nvSpPr>
        <p:spPr>
          <a:xfrm>
            <a:off x="152400" y="762000"/>
            <a:ext cx="8458200" cy="1908215"/>
          </a:xfrm>
          <a:prstGeom prst="rect">
            <a:avLst/>
          </a:prstGeom>
          <a:noFill/>
        </p:spPr>
        <p:txBody>
          <a:bodyPr wrap="square" rtlCol="0">
            <a:spAutoFit/>
          </a:bodyPr>
          <a:lstStyle/>
          <a:p>
            <a:r>
              <a:rPr lang="en-IN" sz="2400" dirty="0" smtClean="0">
                <a:latin typeface="+mj-lt"/>
              </a:rPr>
              <a:t>Kurtosis of a random variable </a:t>
            </a:r>
            <a:r>
              <a:rPr lang="en-IN" sz="2800" i="1" dirty="0" smtClean="0">
                <a:latin typeface="+mj-lt"/>
              </a:rPr>
              <a:t>x</a:t>
            </a:r>
            <a:r>
              <a:rPr lang="en-IN" sz="2400" dirty="0" smtClean="0">
                <a:latin typeface="+mj-lt"/>
              </a:rPr>
              <a:t> with mean </a:t>
            </a:r>
            <a:r>
              <a:rPr lang="en-IN" sz="2400" dirty="0" smtClean="0">
                <a:latin typeface="+mj-lt"/>
                <a:sym typeface="Symbol"/>
              </a:rPr>
              <a:t> and variance </a:t>
            </a:r>
            <a:r>
              <a:rPr lang="en-IN" sz="2400" baseline="30000" dirty="0" smtClean="0">
                <a:latin typeface="+mj-lt"/>
                <a:sym typeface="Symbol"/>
              </a:rPr>
              <a:t>2</a:t>
            </a:r>
            <a:r>
              <a:rPr lang="en-IN" sz="2400" dirty="0" smtClean="0">
                <a:latin typeface="+mj-lt"/>
                <a:sym typeface="Symbol"/>
              </a:rPr>
              <a:t>  is defined as,  </a:t>
            </a:r>
            <a:r>
              <a:rPr lang="en-IN" sz="2400" dirty="0" smtClean="0">
                <a:solidFill>
                  <a:srgbClr val="0000CC"/>
                </a:solidFill>
                <a:latin typeface="+mj-lt"/>
                <a:sym typeface="Symbol"/>
              </a:rPr>
              <a:t>(Mean-Mode)/standard deviation.</a:t>
            </a:r>
          </a:p>
          <a:p>
            <a:r>
              <a:rPr lang="en-US" sz="2400" dirty="0" smtClean="0">
                <a:latin typeface="+mj-lt"/>
                <a:sym typeface="Symbol"/>
              </a:rPr>
              <a:t>Alternatively,</a:t>
            </a:r>
            <a:endParaRPr lang="en-IN" sz="2400" dirty="0" smtClean="0">
              <a:latin typeface="+mj-lt"/>
              <a:sym typeface="Symbol"/>
            </a:endParaRPr>
          </a:p>
          <a:p>
            <a:r>
              <a:rPr lang="en-IN" sz="2400" dirty="0" smtClean="0">
                <a:latin typeface="+mj-lt"/>
                <a:sym typeface="Symbol"/>
              </a:rPr>
              <a:t> </a:t>
            </a:r>
            <a:endParaRPr lang="en-IN" sz="2400" baseline="30000" dirty="0" smtClean="0">
              <a:latin typeface="+mj-lt"/>
              <a:sym typeface="Symbol"/>
            </a:endParaRPr>
          </a:p>
          <a:p>
            <a:endParaRPr lang="en-IN" dirty="0"/>
          </a:p>
        </p:txBody>
      </p:sp>
      <p:graphicFrame>
        <p:nvGraphicFramePr>
          <p:cNvPr id="11" name="Object 10"/>
          <p:cNvGraphicFramePr>
            <a:graphicFrameLocks noChangeAspect="1"/>
          </p:cNvGraphicFramePr>
          <p:nvPr/>
        </p:nvGraphicFramePr>
        <p:xfrm>
          <a:off x="600075" y="1930400"/>
          <a:ext cx="2303463" cy="1128713"/>
        </p:xfrm>
        <a:graphic>
          <a:graphicData uri="http://schemas.openxmlformats.org/presentationml/2006/ole">
            <p:oleObj spid="_x0000_s359538" name="Equation" r:id="rId3" imgW="1091880" imgH="533160" progId="Equation.3">
              <p:embed/>
            </p:oleObj>
          </a:graphicData>
        </a:graphic>
      </p:graphicFrame>
      <p:sp>
        <p:nvSpPr>
          <p:cNvPr id="12" name="TextBox 11"/>
          <p:cNvSpPr txBox="1"/>
          <p:nvPr/>
        </p:nvSpPr>
        <p:spPr>
          <a:xfrm>
            <a:off x="3962400" y="2057400"/>
            <a:ext cx="2971800" cy="1015663"/>
          </a:xfrm>
          <a:prstGeom prst="rect">
            <a:avLst/>
          </a:prstGeom>
          <a:noFill/>
        </p:spPr>
        <p:txBody>
          <a:bodyPr wrap="square" rtlCol="0">
            <a:spAutoFit/>
          </a:bodyPr>
          <a:lstStyle/>
          <a:p>
            <a:r>
              <a:rPr lang="en-US" sz="2000" dirty="0" smtClean="0">
                <a:latin typeface="+mj-lt"/>
              </a:rPr>
              <a:t>       is the 4</a:t>
            </a:r>
            <a:r>
              <a:rPr lang="en-US" sz="2000" baseline="30000" dirty="0" smtClean="0">
                <a:latin typeface="+mj-lt"/>
              </a:rPr>
              <a:t>th</a:t>
            </a:r>
            <a:r>
              <a:rPr lang="en-US" sz="2000" dirty="0" smtClean="0">
                <a:latin typeface="+mj-lt"/>
              </a:rPr>
              <a:t> central moment and </a:t>
            </a:r>
            <a:r>
              <a:rPr lang="el-GR" sz="2000" dirty="0" smtClean="0">
                <a:latin typeface="+mj-lt"/>
              </a:rPr>
              <a:t>σ</a:t>
            </a:r>
            <a:r>
              <a:rPr lang="en-US" sz="2000" dirty="0" smtClean="0">
                <a:latin typeface="+mj-lt"/>
              </a:rPr>
              <a:t> is the standard deviation</a:t>
            </a:r>
            <a:endParaRPr lang="en-US" sz="2000" dirty="0">
              <a:latin typeface="+mj-lt"/>
            </a:endParaRPr>
          </a:p>
        </p:txBody>
      </p:sp>
      <p:graphicFrame>
        <p:nvGraphicFramePr>
          <p:cNvPr id="13" name="Object 12"/>
          <p:cNvGraphicFramePr>
            <a:graphicFrameLocks noChangeAspect="1"/>
          </p:cNvGraphicFramePr>
          <p:nvPr/>
        </p:nvGraphicFramePr>
        <p:xfrm>
          <a:off x="3962400" y="1981200"/>
          <a:ext cx="457200" cy="482600"/>
        </p:xfrm>
        <a:graphic>
          <a:graphicData uri="http://schemas.openxmlformats.org/presentationml/2006/ole">
            <p:oleObj spid="_x0000_s359539" name="Equation" r:id="rId4" imgW="228600" imgH="24130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7"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3" dur="50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7" presetClass="entr" presetSubtype="4" fill="hold" grpId="0"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 calcmode="lin" valueType="num">
                                      <p:cBhvr additive="base">
                                        <p:cTn id="18" dur="50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9" dur="50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7" presetClass="entr" presetSubtype="4" fill="hold" grpId="0" nodeType="click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 calcmode="lin" valueType="num">
                                      <p:cBhvr additive="base">
                                        <p:cTn id="24" dur="50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5" dur="50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7" presetClass="entr" presetSubtype="4" fill="hold" grpId="0"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 calcmode="lin" valueType="num">
                                      <p:cBhvr additive="base">
                                        <p:cTn id="30" dur="50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1" dur="50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762000" y="0"/>
            <a:ext cx="8058150" cy="501650"/>
          </a:xfrm>
          <a:prstGeom prst="rect">
            <a:avLst/>
          </a:prstGeom>
        </p:spPr>
        <p:txBody>
          <a:bodyPr/>
          <a:lstStyle/>
          <a:p>
            <a:pPr eaLnBrk="1" hangingPunct="1"/>
            <a:r>
              <a:rPr lang="en-US" sz="3200" b="0" dirty="0" smtClean="0">
                <a:cs typeface="Arial" pitchFamily="34" charset="0"/>
              </a:rPr>
              <a:t>Describing data</a:t>
            </a:r>
          </a:p>
        </p:txBody>
      </p:sp>
      <p:graphicFrame>
        <p:nvGraphicFramePr>
          <p:cNvPr id="8258" name="Group 66"/>
          <p:cNvGraphicFramePr>
            <a:graphicFrameLocks noGrp="1"/>
          </p:cNvGraphicFramePr>
          <p:nvPr>
            <p:ph type="tbl" idx="1"/>
          </p:nvPr>
        </p:nvGraphicFramePr>
        <p:xfrm>
          <a:off x="533400" y="1143000"/>
          <a:ext cx="8229599" cy="4045522"/>
        </p:xfrm>
        <a:graphic>
          <a:graphicData uri="http://schemas.openxmlformats.org/drawingml/2006/table">
            <a:tbl>
              <a:tblPr/>
              <a:tblGrid>
                <a:gridCol w="1600200"/>
                <a:gridCol w="3048000"/>
                <a:gridCol w="3581399"/>
              </a:tblGrid>
              <a:tr h="825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nl-NL" sz="2800" b="0" i="0" u="none" strike="noStrike" cap="none" normalizeH="0" baseline="0" dirty="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Moment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Non-mean based measure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495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Center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Mean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Mode, median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477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Spread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Variance (standard deviation)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Range (max-min),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Inter quartile range (1</a:t>
                      </a:r>
                      <a:r>
                        <a:rPr kumimoji="0" lang="en-US" sz="2800" b="0" i="0" u="none" strike="noStrike" cap="none" normalizeH="0" baseline="30000" dirty="0" smtClean="0">
                          <a:ln>
                            <a:noFill/>
                          </a:ln>
                          <a:solidFill>
                            <a:schemeClr val="tx1"/>
                          </a:solidFill>
                          <a:effectLst/>
                          <a:latin typeface="Times New Roman" pitchFamily="18" charset="0"/>
                        </a:rPr>
                        <a:t>st</a:t>
                      </a:r>
                      <a:r>
                        <a:rPr kumimoji="0" lang="en-US" sz="2800" b="0" i="0" u="none" strike="noStrike" cap="none" normalizeH="0" baseline="0" dirty="0" smtClean="0">
                          <a:ln>
                            <a:noFill/>
                          </a:ln>
                          <a:solidFill>
                            <a:schemeClr val="tx1"/>
                          </a:solidFill>
                          <a:effectLst/>
                          <a:latin typeface="Times New Roman" pitchFamily="18" charset="0"/>
                        </a:rPr>
                        <a:t>-3</a:t>
                      </a:r>
                      <a:r>
                        <a:rPr kumimoji="0" lang="en-US" sz="2800" b="0" i="0" u="none" strike="noStrike" cap="none" normalizeH="0" baseline="30000" dirty="0" smtClean="0">
                          <a:ln>
                            <a:noFill/>
                          </a:ln>
                          <a:solidFill>
                            <a:schemeClr val="tx1"/>
                          </a:solidFill>
                          <a:effectLst/>
                          <a:latin typeface="Times New Roman" pitchFamily="18" charset="0"/>
                        </a:rPr>
                        <a:t>rd</a:t>
                      </a:r>
                      <a:r>
                        <a:rPr kumimoji="0" lang="en-US" sz="2800" b="0" i="0" u="none" strike="noStrike" cap="none" normalizeH="0" baseline="0" dirty="0" smtClean="0">
                          <a:ln>
                            <a:noFill/>
                          </a:ln>
                          <a:solidFill>
                            <a:schemeClr val="tx1"/>
                          </a:solidFill>
                          <a:effectLst/>
                          <a:latin typeface="Times New Roman" pitchFamily="18" charset="0"/>
                        </a:rPr>
                        <a:t> quartile)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00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Skew</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smtClean="0">
                          <a:ln>
                            <a:noFill/>
                          </a:ln>
                          <a:solidFill>
                            <a:schemeClr val="tx1"/>
                          </a:solidFill>
                          <a:effectLst/>
                          <a:latin typeface="Times New Roman" pitchFamily="18" charset="0"/>
                        </a:rPr>
                        <a:t>Skewness</a:t>
                      </a:r>
                      <a:endParaRPr kumimoji="0" lang="en-US" sz="28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Peaked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Kurtosis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29</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p:cNvSpPr txBox="1">
            <a:spLocks noChangeArrowheads="1"/>
          </p:cNvSpPr>
          <p:nvPr/>
        </p:nvSpPr>
        <p:spPr bwMode="auto">
          <a:xfrm>
            <a:off x="990600" y="0"/>
            <a:ext cx="7848600" cy="584775"/>
          </a:xfrm>
          <a:prstGeom prst="rect">
            <a:avLst/>
          </a:prstGeom>
          <a:noFill/>
          <a:ln w="9525">
            <a:noFill/>
            <a:miter lim="800000"/>
            <a:headEnd/>
            <a:tailEnd/>
          </a:ln>
          <a:effectLst/>
        </p:spPr>
        <p:txBody>
          <a:bodyPr>
            <a:spAutoFit/>
          </a:bodyPr>
          <a:lstStyle/>
          <a:p>
            <a:pPr algn="ctr">
              <a:spcBef>
                <a:spcPct val="50000"/>
              </a:spcBef>
            </a:pPr>
            <a:r>
              <a:rPr lang="en-US" sz="3200" dirty="0" smtClean="0">
                <a:latin typeface="+mj-lt"/>
              </a:rPr>
              <a:t>Relative standing: Percentiles</a:t>
            </a:r>
            <a:endParaRPr lang="en-US" sz="3200" dirty="0">
              <a:latin typeface="+mj-lt"/>
            </a:endParaRPr>
          </a:p>
        </p:txBody>
      </p:sp>
      <p:sp>
        <p:nvSpPr>
          <p:cNvPr id="20484" name="Text Box 4"/>
          <p:cNvSpPr txBox="1">
            <a:spLocks noChangeArrowheads="1"/>
          </p:cNvSpPr>
          <p:nvPr/>
        </p:nvSpPr>
        <p:spPr bwMode="auto">
          <a:xfrm>
            <a:off x="381000" y="914400"/>
            <a:ext cx="8763000" cy="830997"/>
          </a:xfrm>
          <a:prstGeom prst="rect">
            <a:avLst/>
          </a:prstGeom>
          <a:noFill/>
          <a:ln w="9525">
            <a:noFill/>
            <a:miter lim="800000"/>
            <a:headEnd/>
            <a:tailEnd/>
          </a:ln>
          <a:effectLst/>
        </p:spPr>
        <p:txBody>
          <a:bodyPr wrap="square">
            <a:spAutoFit/>
          </a:bodyPr>
          <a:lstStyle/>
          <a:p>
            <a:pPr>
              <a:spcBef>
                <a:spcPct val="50000"/>
              </a:spcBef>
            </a:pPr>
            <a:r>
              <a:rPr lang="en-US" sz="2400" dirty="0" smtClean="0">
                <a:latin typeface="+mj-lt"/>
              </a:rPr>
              <a:t>Percentile </a:t>
            </a:r>
            <a:r>
              <a:rPr lang="en-US" sz="2400" dirty="0">
                <a:latin typeface="+mj-lt"/>
              </a:rPr>
              <a:t>of value x = ((number of values &lt; x)/ total number of values</a:t>
            </a:r>
            <a:r>
              <a:rPr lang="en-US" sz="2400" dirty="0" smtClean="0">
                <a:latin typeface="+mj-lt"/>
              </a:rPr>
              <a:t>) </a:t>
            </a:r>
            <a:r>
              <a:rPr lang="en-US" sz="2400" dirty="0" smtClean="0">
                <a:latin typeface="Arial" pitchFamily="34" charset="0"/>
                <a:cs typeface="Arial" pitchFamily="34" charset="0"/>
              </a:rPr>
              <a:t>x</a:t>
            </a:r>
            <a:r>
              <a:rPr lang="en-US" sz="2400" dirty="0" smtClean="0">
                <a:latin typeface="+mj-lt"/>
              </a:rPr>
              <a:t>100. </a:t>
            </a:r>
            <a:r>
              <a:rPr lang="en-US" sz="2400" dirty="0">
                <a:solidFill>
                  <a:schemeClr val="accent2"/>
                </a:solidFill>
                <a:latin typeface="+mj-lt"/>
              </a:rPr>
              <a:t>	</a:t>
            </a:r>
            <a:r>
              <a:rPr lang="en-US" sz="2400" dirty="0">
                <a:latin typeface="+mj-lt"/>
              </a:rPr>
              <a:t>(round the result to the nearest whole </a:t>
            </a:r>
            <a:r>
              <a:rPr lang="en-US" sz="2400" dirty="0" smtClean="0">
                <a:latin typeface="+mj-lt"/>
              </a:rPr>
              <a:t>number)</a:t>
            </a:r>
            <a:endParaRPr lang="en-US" sz="2400" dirty="0">
              <a:latin typeface="+mj-lt"/>
            </a:endParaRPr>
          </a:p>
        </p:txBody>
      </p:sp>
      <p:sp>
        <p:nvSpPr>
          <p:cNvPr id="20485" name="Text Box 5"/>
          <p:cNvSpPr txBox="1">
            <a:spLocks noChangeArrowheads="1"/>
          </p:cNvSpPr>
          <p:nvPr/>
        </p:nvSpPr>
        <p:spPr bwMode="auto">
          <a:xfrm>
            <a:off x="457200" y="1981200"/>
            <a:ext cx="8686800" cy="830997"/>
          </a:xfrm>
          <a:prstGeom prst="rect">
            <a:avLst/>
          </a:prstGeom>
          <a:noFill/>
          <a:ln w="9525">
            <a:noFill/>
            <a:miter lim="800000"/>
            <a:headEnd/>
            <a:tailEnd/>
          </a:ln>
          <a:effectLst/>
        </p:spPr>
        <p:txBody>
          <a:bodyPr wrap="square">
            <a:spAutoFit/>
          </a:bodyPr>
          <a:lstStyle/>
          <a:p>
            <a:pPr>
              <a:spcBef>
                <a:spcPct val="50000"/>
              </a:spcBef>
            </a:pPr>
            <a:r>
              <a:rPr lang="en-US" sz="2400" dirty="0">
                <a:latin typeface="+mj-lt"/>
              </a:rPr>
              <a:t>Suppose that in a class of 25 </a:t>
            </a:r>
            <a:r>
              <a:rPr lang="en-US" sz="2400" dirty="0" smtClean="0">
                <a:latin typeface="+mj-lt"/>
              </a:rPr>
              <a:t>students who obtained the following marks </a:t>
            </a:r>
            <a:r>
              <a:rPr lang="en-US" sz="2400" dirty="0">
                <a:latin typeface="+mj-lt"/>
              </a:rPr>
              <a:t>(</a:t>
            </a:r>
            <a:r>
              <a:rPr lang="en-US" sz="2400" dirty="0">
                <a:solidFill>
                  <a:srgbClr val="0000CC"/>
                </a:solidFill>
                <a:latin typeface="+mj-lt"/>
              </a:rPr>
              <a:t>ordered in ascending order</a:t>
            </a:r>
            <a:r>
              <a:rPr lang="en-US" sz="2400" dirty="0">
                <a:latin typeface="+mj-lt"/>
              </a:rPr>
              <a:t>)</a:t>
            </a:r>
          </a:p>
        </p:txBody>
      </p:sp>
      <p:sp>
        <p:nvSpPr>
          <p:cNvPr id="20486" name="Text Box 6"/>
          <p:cNvSpPr txBox="1">
            <a:spLocks noChangeArrowheads="1"/>
          </p:cNvSpPr>
          <p:nvPr/>
        </p:nvSpPr>
        <p:spPr bwMode="auto">
          <a:xfrm>
            <a:off x="304800" y="3352800"/>
            <a:ext cx="8839200" cy="830997"/>
          </a:xfrm>
          <a:prstGeom prst="rect">
            <a:avLst/>
          </a:prstGeom>
          <a:noFill/>
          <a:ln w="9525">
            <a:noFill/>
            <a:miter lim="800000"/>
            <a:headEnd/>
            <a:tailEnd/>
          </a:ln>
          <a:effectLst/>
        </p:spPr>
        <p:txBody>
          <a:bodyPr>
            <a:spAutoFit/>
          </a:bodyPr>
          <a:lstStyle/>
          <a:p>
            <a:pPr>
              <a:spcBef>
                <a:spcPct val="50000"/>
              </a:spcBef>
            </a:pPr>
            <a:r>
              <a:rPr lang="en-US" sz="2400" dirty="0">
                <a:latin typeface="+mj-lt"/>
              </a:rPr>
              <a:t>42, 59, 63, 67, 69, 69, 70, 73, 73, 74, 74, 74, </a:t>
            </a:r>
            <a:r>
              <a:rPr lang="en-US" sz="2400" dirty="0">
                <a:solidFill>
                  <a:srgbClr val="C00000"/>
                </a:solidFill>
                <a:latin typeface="+mj-lt"/>
              </a:rPr>
              <a:t>77</a:t>
            </a:r>
            <a:r>
              <a:rPr lang="en-US" sz="2400" dirty="0">
                <a:latin typeface="+mj-lt"/>
              </a:rPr>
              <a:t>, 78, 78, 79, 80, 81,  84, 85, 87, 89, 91, 94, 98</a:t>
            </a:r>
          </a:p>
        </p:txBody>
      </p:sp>
      <p:sp>
        <p:nvSpPr>
          <p:cNvPr id="20487" name="Text Box 7"/>
          <p:cNvSpPr txBox="1">
            <a:spLocks noChangeArrowheads="1"/>
          </p:cNvSpPr>
          <p:nvPr/>
        </p:nvSpPr>
        <p:spPr bwMode="auto">
          <a:xfrm>
            <a:off x="457200" y="4343400"/>
            <a:ext cx="8229600" cy="461665"/>
          </a:xfrm>
          <a:prstGeom prst="rect">
            <a:avLst/>
          </a:prstGeom>
          <a:noFill/>
          <a:ln w="9525">
            <a:noFill/>
            <a:miter lim="800000"/>
            <a:headEnd/>
            <a:tailEnd/>
          </a:ln>
          <a:effectLst/>
        </p:spPr>
        <p:txBody>
          <a:bodyPr>
            <a:spAutoFit/>
          </a:bodyPr>
          <a:lstStyle/>
          <a:p>
            <a:pPr>
              <a:spcBef>
                <a:spcPct val="50000"/>
              </a:spcBef>
            </a:pPr>
            <a:r>
              <a:rPr lang="en-US" sz="2400" dirty="0">
                <a:latin typeface="+mj-lt"/>
              </a:rPr>
              <a:t>If </a:t>
            </a:r>
            <a:r>
              <a:rPr lang="en-US" sz="2400" dirty="0" smtClean="0">
                <a:latin typeface="+mj-lt"/>
              </a:rPr>
              <a:t>a student </a:t>
            </a:r>
            <a:r>
              <a:rPr lang="en-US" sz="2400" dirty="0">
                <a:latin typeface="+mj-lt"/>
              </a:rPr>
              <a:t>received </a:t>
            </a:r>
            <a:r>
              <a:rPr lang="en-US" sz="2400" dirty="0" smtClean="0">
                <a:latin typeface="+mj-lt"/>
              </a:rPr>
              <a:t>77</a:t>
            </a:r>
            <a:r>
              <a:rPr lang="en-US" sz="2400" dirty="0">
                <a:latin typeface="+mj-lt"/>
              </a:rPr>
              <a:t>, </a:t>
            </a:r>
          </a:p>
        </p:txBody>
      </p:sp>
      <p:sp>
        <p:nvSpPr>
          <p:cNvPr id="20488" name="Text Box 8"/>
          <p:cNvSpPr txBox="1">
            <a:spLocks noChangeArrowheads="1"/>
          </p:cNvSpPr>
          <p:nvPr/>
        </p:nvSpPr>
        <p:spPr bwMode="auto">
          <a:xfrm>
            <a:off x="533400" y="4876800"/>
            <a:ext cx="8153400" cy="461665"/>
          </a:xfrm>
          <a:prstGeom prst="rect">
            <a:avLst/>
          </a:prstGeom>
          <a:noFill/>
          <a:ln w="9525">
            <a:noFill/>
            <a:miter lim="800000"/>
            <a:headEnd/>
            <a:tailEnd/>
          </a:ln>
          <a:effectLst/>
        </p:spPr>
        <p:txBody>
          <a:bodyPr>
            <a:spAutoFit/>
          </a:bodyPr>
          <a:lstStyle/>
          <a:p>
            <a:pPr>
              <a:spcBef>
                <a:spcPct val="50000"/>
              </a:spcBef>
            </a:pPr>
            <a:r>
              <a:rPr lang="en-US" sz="2400" dirty="0">
                <a:latin typeface="+mj-lt"/>
              </a:rPr>
              <a:t>percentile of 77 = (</a:t>
            </a:r>
            <a:r>
              <a:rPr lang="en-US" sz="2400" dirty="0" smtClean="0">
                <a:solidFill>
                  <a:srgbClr val="FF0000"/>
                </a:solidFill>
                <a:latin typeface="+mj-lt"/>
              </a:rPr>
              <a:t>12</a:t>
            </a:r>
            <a:r>
              <a:rPr lang="en-US" sz="2400" dirty="0" smtClean="0">
                <a:latin typeface="+mj-lt"/>
              </a:rPr>
              <a:t>/25)</a:t>
            </a:r>
            <a:r>
              <a:rPr lang="en-US" sz="2400" dirty="0" smtClean="0">
                <a:latin typeface="Arial" pitchFamily="34" charset="0"/>
                <a:cs typeface="Arial" pitchFamily="34" charset="0"/>
              </a:rPr>
              <a:t>x</a:t>
            </a:r>
            <a:r>
              <a:rPr lang="en-US" sz="2400" dirty="0" smtClean="0">
                <a:latin typeface="+mj-lt"/>
              </a:rPr>
              <a:t>100 </a:t>
            </a:r>
            <a:r>
              <a:rPr lang="en-US" sz="2400" dirty="0">
                <a:latin typeface="+mj-lt"/>
              </a:rPr>
              <a:t>= 48</a:t>
            </a:r>
          </a:p>
        </p:txBody>
      </p:sp>
      <p:sp>
        <p:nvSpPr>
          <p:cNvPr id="9" name="Date Placeholder 8"/>
          <p:cNvSpPr>
            <a:spLocks noGrp="1"/>
          </p:cNvSpPr>
          <p:nvPr>
            <p:ph type="dt" sz="half" idx="10"/>
          </p:nvPr>
        </p:nvSpPr>
        <p:spPr/>
        <p:txBody>
          <a:bodyPr/>
          <a:lstStyle/>
          <a:p>
            <a:r>
              <a:rPr lang="en-US" smtClean="0"/>
              <a:t>Prof. A. K. Datta     University of Calcutta</a:t>
            </a:r>
            <a:endParaRPr lang="en-IN" dirty="0"/>
          </a:p>
        </p:txBody>
      </p:sp>
      <p:sp>
        <p:nvSpPr>
          <p:cNvPr id="10" name="Slide Number Placeholder 9"/>
          <p:cNvSpPr>
            <a:spLocks noGrp="1"/>
          </p:cNvSpPr>
          <p:nvPr>
            <p:ph type="sldNum" sz="quarter" idx="11"/>
          </p:nvPr>
        </p:nvSpPr>
        <p:spPr/>
        <p:txBody>
          <a:bodyPr/>
          <a:lstStyle/>
          <a:p>
            <a:fld id="{BF2D74FB-8EB9-4DEE-8258-980F8375AF4A}" type="slidenum">
              <a:rPr lang="en-IN" smtClean="0"/>
              <a:pPr/>
              <a:t>30</a:t>
            </a:fld>
            <a:endParaRPr lang="en-IN" dirty="0"/>
          </a:p>
        </p:txBody>
      </p:sp>
      <p:sp>
        <p:nvSpPr>
          <p:cNvPr id="11" name="Footer Placeholder 10"/>
          <p:cNvSpPr>
            <a:spLocks noGrp="1"/>
          </p:cNvSpPr>
          <p:nvPr>
            <p:ph type="ftr" sz="quarter" idx="12"/>
          </p:nvPr>
        </p:nvSpPr>
        <p:spPr/>
        <p:txBody>
          <a:bodyPr/>
          <a:lstStyle/>
          <a:p>
            <a:r>
              <a:rPr lang="en-IN" smtClean="0"/>
              <a:t>Ph.D Course Work on Research Methodology</a:t>
            </a:r>
            <a:endParaRPr lang="en-IN" dirty="0"/>
          </a:p>
        </p:txBody>
      </p:sp>
      <p:sp>
        <p:nvSpPr>
          <p:cNvPr id="2" name="Up Arrow 1"/>
          <p:cNvSpPr/>
          <p:nvPr/>
        </p:nvSpPr>
        <p:spPr bwMode="auto">
          <a:xfrm flipV="1">
            <a:off x="5486400" y="2971800"/>
            <a:ext cx="152400" cy="381000"/>
          </a:xfrm>
          <a:prstGeom prst="up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3" name="TextBox 2"/>
          <p:cNvSpPr txBox="1"/>
          <p:nvPr/>
        </p:nvSpPr>
        <p:spPr>
          <a:xfrm>
            <a:off x="5654298" y="2952427"/>
            <a:ext cx="1828800" cy="381000"/>
          </a:xfrm>
          <a:prstGeom prst="rect">
            <a:avLst/>
          </a:prstGeom>
          <a:noFill/>
        </p:spPr>
        <p:txBody>
          <a:bodyPr wrap="square" rtlCol="0">
            <a:spAutoFit/>
          </a:bodyPr>
          <a:lstStyle/>
          <a:p>
            <a:r>
              <a:rPr lang="en-US" dirty="0" smtClean="0"/>
              <a:t>12</a:t>
            </a:r>
            <a:r>
              <a:rPr lang="en-US" baseline="30000" dirty="0" smtClean="0"/>
              <a:t>th</a:t>
            </a:r>
            <a:r>
              <a:rPr lang="en-US" dirty="0" smtClean="0"/>
              <a:t> position</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381000" y="0"/>
            <a:ext cx="8763000" cy="609600"/>
          </a:xfrm>
          <a:prstGeom prst="rect">
            <a:avLst/>
          </a:prstGeom>
        </p:spPr>
        <p:txBody>
          <a:bodyPr/>
          <a:lstStyle/>
          <a:p>
            <a:r>
              <a:rPr lang="en-US" altLang="zh-CN" sz="3200" b="0" dirty="0" smtClean="0"/>
              <a:t>Percentiles</a:t>
            </a:r>
            <a:endParaRPr lang="en-US" altLang="zh-CN" sz="3200" b="0" dirty="0"/>
          </a:p>
        </p:txBody>
      </p:sp>
      <p:graphicFrame>
        <p:nvGraphicFramePr>
          <p:cNvPr id="29699" name="Object 3"/>
          <p:cNvGraphicFramePr>
            <a:graphicFrameLocks noGrp="1" noChangeAspect="1"/>
          </p:cNvGraphicFramePr>
          <p:nvPr>
            <p:ph sz="half" idx="1"/>
          </p:nvPr>
        </p:nvGraphicFramePr>
        <p:xfrm>
          <a:off x="1905000" y="3276600"/>
          <a:ext cx="5351462" cy="2165350"/>
        </p:xfrm>
        <a:graphic>
          <a:graphicData uri="http://schemas.openxmlformats.org/presentationml/2006/ole">
            <p:oleObj spid="_x0000_s356574" name="Image" r:id="rId3" imgW="2099898" imgH="825870" progId="">
              <p:embed/>
            </p:oleObj>
          </a:graphicData>
        </a:graphic>
      </p:graphicFrame>
      <p:graphicFrame>
        <p:nvGraphicFramePr>
          <p:cNvPr id="29700" name="Object 4"/>
          <p:cNvGraphicFramePr>
            <a:graphicFrameLocks noGrp="1" noChangeAspect="1"/>
          </p:cNvGraphicFramePr>
          <p:nvPr>
            <p:ph sz="half" idx="2"/>
          </p:nvPr>
        </p:nvGraphicFramePr>
        <p:xfrm>
          <a:off x="381000" y="762000"/>
          <a:ext cx="8424138" cy="2286000"/>
        </p:xfrm>
        <a:graphic>
          <a:graphicData uri="http://schemas.openxmlformats.org/presentationml/2006/ole">
            <p:oleObj spid="_x0000_s356575" name="Image" r:id="rId4" imgW="3242804" imgH="914402" progId="">
              <p:embed/>
            </p:oleObj>
          </a:graphicData>
        </a:graphic>
      </p:graphicFrame>
      <p:sp>
        <p:nvSpPr>
          <p:cNvPr id="5" name="Date Placeholder 4"/>
          <p:cNvSpPr>
            <a:spLocks noGrp="1"/>
          </p:cNvSpPr>
          <p:nvPr>
            <p:ph type="dt" sz="half" idx="10"/>
          </p:nvPr>
        </p:nvSpPr>
        <p:spPr/>
        <p:txBody>
          <a:bodyPr/>
          <a:lstStyle/>
          <a:p>
            <a:r>
              <a:rPr lang="en-US" smtClean="0"/>
              <a:t>Prof. A. K. Datta     University of Calcutta</a:t>
            </a:r>
            <a:endParaRPr lang="en-IN" dirty="0"/>
          </a:p>
        </p:txBody>
      </p:sp>
      <p:sp>
        <p:nvSpPr>
          <p:cNvPr id="6" name="Slide Number Placeholder 5"/>
          <p:cNvSpPr>
            <a:spLocks noGrp="1"/>
          </p:cNvSpPr>
          <p:nvPr>
            <p:ph type="sldNum" sz="quarter" idx="11"/>
          </p:nvPr>
        </p:nvSpPr>
        <p:spPr/>
        <p:txBody>
          <a:bodyPr/>
          <a:lstStyle/>
          <a:p>
            <a:fld id="{BF2D74FB-8EB9-4DEE-8258-980F8375AF4A}" type="slidenum">
              <a:rPr lang="en-IN" smtClean="0"/>
              <a:pPr/>
              <a:t>31</a:t>
            </a:fld>
            <a:endParaRPr lang="en-IN" dirty="0"/>
          </a:p>
        </p:txBody>
      </p:sp>
      <p:sp>
        <p:nvSpPr>
          <p:cNvPr id="7" name="Footer Placeholder 6"/>
          <p:cNvSpPr>
            <a:spLocks noGrp="1"/>
          </p:cNvSpPr>
          <p:nvPr>
            <p:ph type="ftr" sz="quarter" idx="12"/>
          </p:nvPr>
        </p:nvSpPr>
        <p:spPr/>
        <p:txBody>
          <a:bodyPr/>
          <a:lstStyle/>
          <a:p>
            <a:r>
              <a:rPr lang="en-IN" smtClean="0"/>
              <a:t>Ph.D Course Work on Research Methodology</a:t>
            </a:r>
            <a:endParaRPr lang="en-IN" dirty="0"/>
          </a:p>
        </p:txBody>
      </p:sp>
      <p:sp>
        <p:nvSpPr>
          <p:cNvPr id="8" name="TextBox 7"/>
          <p:cNvSpPr txBox="1"/>
          <p:nvPr/>
        </p:nvSpPr>
        <p:spPr>
          <a:xfrm>
            <a:off x="2819400" y="3048000"/>
            <a:ext cx="609600" cy="369332"/>
          </a:xfrm>
          <a:prstGeom prst="rect">
            <a:avLst/>
          </a:prstGeom>
          <a:noFill/>
        </p:spPr>
        <p:txBody>
          <a:bodyPr wrap="square" rtlCol="0">
            <a:spAutoFit/>
          </a:bodyPr>
          <a:lstStyle/>
          <a:p>
            <a:r>
              <a:rPr lang="en-US" dirty="0" smtClean="0">
                <a:latin typeface="+mj-lt"/>
              </a:rPr>
              <a:t>75</a:t>
            </a:r>
            <a:endParaRPr lang="en-US" dirty="0">
              <a:latin typeface="+mj-lt"/>
            </a:endParaRPr>
          </a:p>
        </p:txBody>
      </p:sp>
      <p:graphicFrame>
        <p:nvGraphicFramePr>
          <p:cNvPr id="9" name="Object 8"/>
          <p:cNvGraphicFramePr>
            <a:graphicFrameLocks noChangeAspect="1"/>
          </p:cNvGraphicFramePr>
          <p:nvPr/>
        </p:nvGraphicFramePr>
        <p:xfrm>
          <a:off x="3997325" y="1355725"/>
          <a:ext cx="527050" cy="539750"/>
        </p:xfrm>
        <a:graphic>
          <a:graphicData uri="http://schemas.openxmlformats.org/presentationml/2006/ole">
            <p:oleObj spid="_x0000_s356576" name="Equation" r:id="rId5" imgW="406080" imgH="419040" progId="Equation.3">
              <p:embed/>
            </p:oleObj>
          </a:graphicData>
        </a:graphic>
      </p:graphicFrame>
      <p:graphicFrame>
        <p:nvGraphicFramePr>
          <p:cNvPr id="10" name="Object 9"/>
          <p:cNvGraphicFramePr>
            <a:graphicFrameLocks noChangeAspect="1"/>
          </p:cNvGraphicFramePr>
          <p:nvPr/>
        </p:nvGraphicFramePr>
        <p:xfrm>
          <a:off x="5486400" y="1371600"/>
          <a:ext cx="749300" cy="952500"/>
        </p:xfrm>
        <a:graphic>
          <a:graphicData uri="http://schemas.openxmlformats.org/presentationml/2006/ole">
            <p:oleObj spid="_x0000_s356577" name="Equation" r:id="rId6" imgW="583947" imgH="634725" progId="Equation.3">
              <p:embed/>
            </p:oleObj>
          </a:graphicData>
        </a:graphic>
      </p:graphicFrame>
      <p:sp>
        <p:nvSpPr>
          <p:cNvPr id="19" name="Rectangle 18"/>
          <p:cNvSpPr/>
          <p:nvPr/>
        </p:nvSpPr>
        <p:spPr>
          <a:xfrm>
            <a:off x="0" y="5410200"/>
            <a:ext cx="8686800" cy="1200329"/>
          </a:xfrm>
          <a:prstGeom prst="rect">
            <a:avLst/>
          </a:prstGeom>
        </p:spPr>
        <p:txBody>
          <a:bodyPr wrap="square">
            <a:spAutoFit/>
          </a:bodyPr>
          <a:lstStyle/>
          <a:p>
            <a:pPr lvl="1" algn="just">
              <a:spcBef>
                <a:spcPts val="600"/>
              </a:spcBef>
              <a:buFontTx/>
              <a:buNone/>
            </a:pPr>
            <a:r>
              <a:rPr lang="en-US" sz="2400" dirty="0" smtClean="0">
                <a:latin typeface="+mj-lt"/>
              </a:rPr>
              <a:t>The </a:t>
            </a:r>
            <a:r>
              <a:rPr lang="en-US" sz="2400" b="1" dirty="0" err="1" smtClean="0">
                <a:solidFill>
                  <a:srgbClr val="0000FF"/>
                </a:solidFill>
                <a:latin typeface="+mj-lt"/>
              </a:rPr>
              <a:t>pth</a:t>
            </a:r>
            <a:r>
              <a:rPr lang="en-US" sz="2400" b="1" dirty="0" smtClean="0">
                <a:solidFill>
                  <a:srgbClr val="0000FF"/>
                </a:solidFill>
                <a:latin typeface="+mj-lt"/>
              </a:rPr>
              <a:t> percentile</a:t>
            </a:r>
            <a:r>
              <a:rPr lang="en-US" sz="2400" dirty="0" smtClean="0">
                <a:latin typeface="+mj-lt"/>
              </a:rPr>
              <a:t> is a number such that p% of the observations of the data set fall below and (100 - p)% of the observations fall above it. </a:t>
            </a:r>
          </a:p>
        </p:txBody>
      </p:sp>
      <p:cxnSp>
        <p:nvCxnSpPr>
          <p:cNvPr id="22" name="Straight Arrow Connector 21"/>
          <p:cNvCxnSpPr/>
          <p:nvPr/>
        </p:nvCxnSpPr>
        <p:spPr bwMode="auto">
          <a:xfrm>
            <a:off x="3276600" y="3429000"/>
            <a:ext cx="1600200" cy="1447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4" name="Straight Arrow Connector 23"/>
          <p:cNvCxnSpPr/>
          <p:nvPr/>
        </p:nvCxnSpPr>
        <p:spPr bwMode="auto">
          <a:xfrm>
            <a:off x="3276600" y="1905000"/>
            <a:ext cx="2362200" cy="22860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6" name="Straight Arrow Connector 25"/>
          <p:cNvCxnSpPr/>
          <p:nvPr/>
        </p:nvCxnSpPr>
        <p:spPr bwMode="auto">
          <a:xfrm rot="5400000">
            <a:off x="4419600" y="2362200"/>
            <a:ext cx="1981200" cy="1828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304800" y="0"/>
            <a:ext cx="8591550" cy="501650"/>
          </a:xfrm>
          <a:prstGeom prst="rect">
            <a:avLst/>
          </a:prstGeom>
        </p:spPr>
        <p:txBody>
          <a:bodyPr/>
          <a:lstStyle/>
          <a:p>
            <a:pPr eaLnBrk="1" hangingPunct="1"/>
            <a:r>
              <a:rPr lang="en-US" b="0" dirty="0" smtClean="0">
                <a:latin typeface="Arial" pitchFamily="34" charset="0"/>
                <a:cs typeface="Arial" pitchFamily="34" charset="0"/>
              </a:rPr>
              <a:t>Relative Standing: Quartile</a:t>
            </a:r>
          </a:p>
        </p:txBody>
      </p:sp>
      <p:sp>
        <p:nvSpPr>
          <p:cNvPr id="80899" name="Rectangle 3"/>
          <p:cNvSpPr>
            <a:spLocks noGrp="1" noChangeArrowheads="1"/>
          </p:cNvSpPr>
          <p:nvPr>
            <p:ph type="body" idx="1"/>
          </p:nvPr>
        </p:nvSpPr>
        <p:spPr>
          <a:xfrm>
            <a:off x="152400" y="838200"/>
            <a:ext cx="8991600" cy="5400675"/>
          </a:xfrm>
          <a:ln>
            <a:noFill/>
          </a:ln>
        </p:spPr>
        <p:txBody>
          <a:bodyPr/>
          <a:lstStyle/>
          <a:p>
            <a:pPr eaLnBrk="1" hangingPunct="1"/>
            <a:r>
              <a:rPr lang="en-US" dirty="0" smtClean="0"/>
              <a:t>A </a:t>
            </a:r>
            <a:r>
              <a:rPr lang="en-US" b="1" dirty="0" smtClean="0"/>
              <a:t>quartile</a:t>
            </a:r>
            <a:r>
              <a:rPr lang="en-US" dirty="0" smtClean="0"/>
              <a:t> is any of the three values which divide the </a:t>
            </a:r>
            <a:r>
              <a:rPr lang="en-US" b="1" dirty="0" smtClean="0">
                <a:solidFill>
                  <a:schemeClr val="accent1">
                    <a:lumMod val="50000"/>
                  </a:schemeClr>
                </a:solidFill>
              </a:rPr>
              <a:t>sorted</a:t>
            </a:r>
            <a:r>
              <a:rPr lang="en-US" dirty="0" smtClean="0"/>
              <a:t> data set into four equal parts, so that each part represents </a:t>
            </a:r>
            <a:r>
              <a:rPr lang="en-US" b="1" dirty="0" smtClean="0">
                <a:solidFill>
                  <a:schemeClr val="accent1">
                    <a:lumMod val="50000"/>
                  </a:schemeClr>
                </a:solidFill>
              </a:rPr>
              <a:t>¼ </a:t>
            </a:r>
            <a:r>
              <a:rPr lang="en-US" b="1" dirty="0" err="1" smtClean="0">
                <a:solidFill>
                  <a:schemeClr val="accent1">
                    <a:lumMod val="50000"/>
                  </a:schemeClr>
                </a:solidFill>
              </a:rPr>
              <a:t>th</a:t>
            </a:r>
            <a:r>
              <a:rPr lang="en-US" b="1" dirty="0" smtClean="0">
                <a:solidFill>
                  <a:schemeClr val="accent1">
                    <a:lumMod val="50000"/>
                  </a:schemeClr>
                </a:solidFill>
              </a:rPr>
              <a:t> of the sample or population</a:t>
            </a:r>
            <a:r>
              <a:rPr lang="en-US" dirty="0" smtClean="0"/>
              <a:t>.</a:t>
            </a:r>
          </a:p>
          <a:p>
            <a:pPr lvl="1" eaLnBrk="1" hangingPunct="1"/>
            <a:r>
              <a:rPr lang="en-US" sz="2400" b="1" dirty="0" smtClean="0"/>
              <a:t>first quartile</a:t>
            </a:r>
            <a:r>
              <a:rPr lang="en-US" sz="2400" dirty="0" smtClean="0"/>
              <a:t> (designated Q1) = </a:t>
            </a:r>
            <a:r>
              <a:rPr lang="en-US" sz="2400" b="1" dirty="0" smtClean="0"/>
              <a:t>lower quartile</a:t>
            </a:r>
            <a:r>
              <a:rPr lang="en-US" sz="2400" dirty="0" smtClean="0"/>
              <a:t> </a:t>
            </a:r>
          </a:p>
          <a:p>
            <a:pPr lvl="2" eaLnBrk="1" hangingPunct="1"/>
            <a:r>
              <a:rPr lang="en-US" sz="2400" dirty="0" smtClean="0"/>
              <a:t> cuts off lowest 25% of data (</a:t>
            </a:r>
            <a:r>
              <a:rPr lang="en-US" sz="2400" i="1" dirty="0" smtClean="0"/>
              <a:t>25th percentile</a:t>
            </a:r>
            <a:r>
              <a:rPr lang="en-US" sz="2400" dirty="0" smtClean="0"/>
              <a:t> )</a:t>
            </a:r>
          </a:p>
          <a:p>
            <a:pPr lvl="1" eaLnBrk="1" hangingPunct="1"/>
            <a:r>
              <a:rPr lang="en-US" sz="2400" b="1" dirty="0" smtClean="0"/>
              <a:t>second quartile</a:t>
            </a:r>
            <a:r>
              <a:rPr lang="en-US" sz="2400" dirty="0" smtClean="0"/>
              <a:t> (designated Q2) = </a:t>
            </a:r>
            <a:r>
              <a:rPr lang="en-US" sz="2400" i="1" dirty="0" smtClean="0"/>
              <a:t>median</a:t>
            </a:r>
          </a:p>
          <a:p>
            <a:pPr lvl="2" eaLnBrk="1" hangingPunct="1"/>
            <a:r>
              <a:rPr lang="en-US" sz="2400" dirty="0" smtClean="0"/>
              <a:t>cuts data set in half (</a:t>
            </a:r>
            <a:r>
              <a:rPr lang="en-US" sz="2400" i="1" dirty="0" smtClean="0"/>
              <a:t>50th percentile</a:t>
            </a:r>
            <a:r>
              <a:rPr lang="en-US" sz="2400" dirty="0" smtClean="0"/>
              <a:t> )</a:t>
            </a:r>
          </a:p>
          <a:p>
            <a:pPr lvl="1" eaLnBrk="1" hangingPunct="1"/>
            <a:r>
              <a:rPr lang="en-US" sz="2400" b="1" dirty="0" smtClean="0"/>
              <a:t>third quartile</a:t>
            </a:r>
            <a:r>
              <a:rPr lang="en-US" sz="2400" dirty="0" smtClean="0"/>
              <a:t> (designated Q3) = </a:t>
            </a:r>
            <a:r>
              <a:rPr lang="en-US" sz="2400" b="1" dirty="0" smtClean="0"/>
              <a:t>upper quartile</a:t>
            </a:r>
          </a:p>
          <a:p>
            <a:pPr lvl="2" eaLnBrk="1" hangingPunct="1"/>
            <a:r>
              <a:rPr lang="en-US" sz="2400" dirty="0" smtClean="0"/>
              <a:t>cuts off highest 25% of data, or lowest 75% (</a:t>
            </a:r>
            <a:r>
              <a:rPr lang="en-US" sz="2400" i="1" dirty="0" smtClean="0"/>
              <a:t>75th percentile</a:t>
            </a:r>
            <a:r>
              <a:rPr lang="en-US" sz="2400" dirty="0" smtClean="0"/>
              <a:t> )</a:t>
            </a:r>
          </a:p>
          <a:p>
            <a:pPr eaLnBrk="1" hangingPunct="1"/>
            <a:endParaRPr lang="en-US" b="1" dirty="0" smtClean="0">
              <a:solidFill>
                <a:schemeClr val="accent1">
                  <a:lumMod val="50000"/>
                </a:schemeClr>
              </a:solidFill>
            </a:endParaRPr>
          </a:p>
          <a:p>
            <a:pPr eaLnBrk="1" hangingPunct="1"/>
            <a:r>
              <a:rPr lang="en-US" b="1" dirty="0" smtClean="0">
                <a:solidFill>
                  <a:schemeClr val="accent1">
                    <a:lumMod val="50000"/>
                  </a:schemeClr>
                </a:solidFill>
              </a:rPr>
              <a:t>The difference between the upper and lower quartiles is called the </a:t>
            </a:r>
            <a:r>
              <a:rPr lang="en-US" b="1" i="1" dirty="0" smtClean="0">
                <a:solidFill>
                  <a:schemeClr val="accent1">
                    <a:lumMod val="50000"/>
                  </a:schemeClr>
                </a:solidFill>
              </a:rPr>
              <a:t>inter quartile range</a:t>
            </a:r>
            <a:r>
              <a:rPr lang="en-US" b="1" dirty="0" smtClean="0">
                <a:solidFill>
                  <a:schemeClr val="accent1">
                    <a:lumMod val="50000"/>
                  </a:schemeClr>
                </a:solidFill>
              </a:rPr>
              <a:t>.</a:t>
            </a:r>
          </a:p>
        </p:txBody>
      </p:sp>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32</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295400" y="0"/>
            <a:ext cx="6858000" cy="584775"/>
          </a:xfrm>
          <a:prstGeom prst="rect">
            <a:avLst/>
          </a:prstGeom>
          <a:noFill/>
          <a:ln w="9525">
            <a:noFill/>
            <a:miter lim="800000"/>
            <a:headEnd/>
            <a:tailEnd/>
          </a:ln>
          <a:effectLst/>
        </p:spPr>
        <p:txBody>
          <a:bodyPr>
            <a:spAutoFit/>
          </a:bodyPr>
          <a:lstStyle/>
          <a:p>
            <a:pPr algn="ctr">
              <a:spcBef>
                <a:spcPct val="50000"/>
              </a:spcBef>
            </a:pPr>
            <a:r>
              <a:rPr lang="en-US" sz="3200" dirty="0">
                <a:latin typeface="+mj-lt"/>
              </a:rPr>
              <a:t>Relative Standing</a:t>
            </a:r>
          </a:p>
        </p:txBody>
      </p:sp>
      <p:sp>
        <p:nvSpPr>
          <p:cNvPr id="22531" name="Text Box 3"/>
          <p:cNvSpPr txBox="1">
            <a:spLocks noChangeArrowheads="1"/>
          </p:cNvSpPr>
          <p:nvPr/>
        </p:nvSpPr>
        <p:spPr bwMode="auto">
          <a:xfrm>
            <a:off x="533400" y="838200"/>
            <a:ext cx="7620000" cy="461665"/>
          </a:xfrm>
          <a:prstGeom prst="rect">
            <a:avLst/>
          </a:prstGeom>
          <a:noFill/>
          <a:ln w="9525">
            <a:noFill/>
            <a:miter lim="800000"/>
            <a:headEnd/>
            <a:tailEnd/>
          </a:ln>
          <a:effectLst/>
        </p:spPr>
        <p:txBody>
          <a:bodyPr>
            <a:spAutoFit/>
          </a:bodyPr>
          <a:lstStyle/>
          <a:p>
            <a:pPr>
              <a:spcBef>
                <a:spcPct val="50000"/>
              </a:spcBef>
            </a:pPr>
            <a:r>
              <a:rPr lang="en-US" sz="2400" dirty="0">
                <a:latin typeface="+mj-lt"/>
              </a:rPr>
              <a:t>Let’s separate the 25 class grades into four quartiles.</a:t>
            </a:r>
          </a:p>
        </p:txBody>
      </p:sp>
      <p:sp>
        <p:nvSpPr>
          <p:cNvPr id="22532" name="Text Box 4"/>
          <p:cNvSpPr txBox="1">
            <a:spLocks noChangeArrowheads="1"/>
          </p:cNvSpPr>
          <p:nvPr/>
        </p:nvSpPr>
        <p:spPr bwMode="auto">
          <a:xfrm>
            <a:off x="533400" y="1295400"/>
            <a:ext cx="7162800" cy="461665"/>
          </a:xfrm>
          <a:prstGeom prst="rect">
            <a:avLst/>
          </a:prstGeom>
          <a:noFill/>
          <a:ln w="9525">
            <a:noFill/>
            <a:miter lim="800000"/>
            <a:headEnd/>
            <a:tailEnd/>
          </a:ln>
          <a:effectLst/>
        </p:spPr>
        <p:txBody>
          <a:bodyPr>
            <a:spAutoFit/>
          </a:bodyPr>
          <a:lstStyle/>
          <a:p>
            <a:pPr>
              <a:spcBef>
                <a:spcPct val="50000"/>
              </a:spcBef>
            </a:pPr>
            <a:r>
              <a:rPr lang="en-US" sz="2400" dirty="0">
                <a:latin typeface="+mj-lt"/>
              </a:rPr>
              <a:t>Step 1 – order the data in ascending order</a:t>
            </a:r>
          </a:p>
        </p:txBody>
      </p:sp>
      <p:sp>
        <p:nvSpPr>
          <p:cNvPr id="22534" name="Text Box 6"/>
          <p:cNvSpPr txBox="1">
            <a:spLocks noChangeArrowheads="1"/>
          </p:cNvSpPr>
          <p:nvPr/>
        </p:nvSpPr>
        <p:spPr bwMode="auto">
          <a:xfrm>
            <a:off x="304800" y="2057400"/>
            <a:ext cx="8839200" cy="646331"/>
          </a:xfrm>
          <a:prstGeom prst="rect">
            <a:avLst/>
          </a:prstGeom>
          <a:noFill/>
          <a:ln w="9525">
            <a:noFill/>
            <a:miter lim="800000"/>
            <a:headEnd/>
            <a:tailEnd/>
          </a:ln>
          <a:effectLst/>
        </p:spPr>
        <p:txBody>
          <a:bodyPr>
            <a:spAutoFit/>
          </a:bodyPr>
          <a:lstStyle/>
          <a:p>
            <a:pPr>
              <a:spcBef>
                <a:spcPct val="50000"/>
              </a:spcBef>
            </a:pPr>
            <a:r>
              <a:rPr lang="en-US" sz="1800" b="1" dirty="0"/>
              <a:t>42, 59, 63, 67, 69, 69, 70, 73, 73, 74, 74, 74, 77, 78, 78, 79, 80, 81,  84, 85, 87, 89, 91, 94, 98</a:t>
            </a:r>
            <a:endParaRPr lang="en-US" dirty="0"/>
          </a:p>
        </p:txBody>
      </p:sp>
      <p:sp>
        <p:nvSpPr>
          <p:cNvPr id="22535" name="Text Box 7"/>
          <p:cNvSpPr txBox="1">
            <a:spLocks noChangeArrowheads="1"/>
          </p:cNvSpPr>
          <p:nvPr/>
        </p:nvSpPr>
        <p:spPr bwMode="auto">
          <a:xfrm>
            <a:off x="381000" y="3505200"/>
            <a:ext cx="8153400" cy="461665"/>
          </a:xfrm>
          <a:prstGeom prst="rect">
            <a:avLst/>
          </a:prstGeom>
          <a:noFill/>
          <a:ln w="9525">
            <a:noFill/>
            <a:miter lim="800000"/>
            <a:headEnd/>
            <a:tailEnd/>
          </a:ln>
          <a:effectLst/>
        </p:spPr>
        <p:txBody>
          <a:bodyPr>
            <a:spAutoFit/>
          </a:bodyPr>
          <a:lstStyle/>
          <a:p>
            <a:pPr>
              <a:spcBef>
                <a:spcPct val="50000"/>
              </a:spcBef>
            </a:pPr>
            <a:r>
              <a:rPr lang="en-US" sz="2400" dirty="0">
                <a:latin typeface="+mj-lt"/>
              </a:rPr>
              <a:t>Now find the 3 locators L</a:t>
            </a:r>
            <a:r>
              <a:rPr lang="en-US" sz="2400" baseline="-25000" dirty="0">
                <a:latin typeface="+mj-lt"/>
              </a:rPr>
              <a:t>25</a:t>
            </a:r>
            <a:r>
              <a:rPr lang="en-US" sz="2400" dirty="0">
                <a:latin typeface="+mj-lt"/>
              </a:rPr>
              <a:t>, L</a:t>
            </a:r>
            <a:r>
              <a:rPr lang="en-US" sz="2400" baseline="-25000" dirty="0">
                <a:latin typeface="+mj-lt"/>
              </a:rPr>
              <a:t>50</a:t>
            </a:r>
            <a:r>
              <a:rPr lang="en-US" sz="2400" dirty="0">
                <a:latin typeface="+mj-lt"/>
              </a:rPr>
              <a:t>, L</a:t>
            </a:r>
            <a:r>
              <a:rPr lang="en-US" sz="2400" baseline="-25000" dirty="0">
                <a:latin typeface="+mj-lt"/>
              </a:rPr>
              <a:t>75</a:t>
            </a:r>
            <a:r>
              <a:rPr lang="en-US" sz="2400" dirty="0">
                <a:latin typeface="+mj-lt"/>
              </a:rPr>
              <a:t>, </a:t>
            </a:r>
          </a:p>
        </p:txBody>
      </p:sp>
      <p:sp>
        <p:nvSpPr>
          <p:cNvPr id="22536" name="Text Box 8"/>
          <p:cNvSpPr txBox="1">
            <a:spLocks noChangeArrowheads="1"/>
          </p:cNvSpPr>
          <p:nvPr/>
        </p:nvSpPr>
        <p:spPr bwMode="auto">
          <a:xfrm>
            <a:off x="762000" y="4114800"/>
            <a:ext cx="6400800" cy="1723549"/>
          </a:xfrm>
          <a:prstGeom prst="rect">
            <a:avLst/>
          </a:prstGeom>
          <a:noFill/>
          <a:ln w="9525">
            <a:noFill/>
            <a:miter lim="800000"/>
            <a:headEnd/>
            <a:tailEnd/>
          </a:ln>
          <a:effectLst/>
        </p:spPr>
        <p:txBody>
          <a:bodyPr>
            <a:spAutoFit/>
          </a:bodyPr>
          <a:lstStyle/>
          <a:p>
            <a:pPr>
              <a:spcBef>
                <a:spcPct val="50000"/>
              </a:spcBef>
              <a:spcAft>
                <a:spcPts val="600"/>
              </a:spcAft>
            </a:pPr>
            <a:r>
              <a:rPr lang="en-US" sz="2400" dirty="0">
                <a:latin typeface="+mj-lt"/>
              </a:rPr>
              <a:t>L</a:t>
            </a:r>
            <a:r>
              <a:rPr lang="en-US" sz="2400" baseline="-25000" dirty="0">
                <a:latin typeface="+mj-lt"/>
              </a:rPr>
              <a:t>25</a:t>
            </a:r>
            <a:r>
              <a:rPr lang="en-US" sz="2400" dirty="0">
                <a:latin typeface="+mj-lt"/>
              </a:rPr>
              <a:t> = (25/100) * 25 = 6.25</a:t>
            </a:r>
          </a:p>
          <a:p>
            <a:pPr>
              <a:spcBef>
                <a:spcPct val="50000"/>
              </a:spcBef>
              <a:spcAft>
                <a:spcPts val="600"/>
              </a:spcAft>
            </a:pPr>
            <a:r>
              <a:rPr lang="en-US" sz="2400" dirty="0">
                <a:latin typeface="+mj-lt"/>
              </a:rPr>
              <a:t>L</a:t>
            </a:r>
            <a:r>
              <a:rPr lang="en-US" sz="2400" baseline="-25000" dirty="0">
                <a:latin typeface="+mj-lt"/>
              </a:rPr>
              <a:t>50</a:t>
            </a:r>
            <a:r>
              <a:rPr lang="en-US" sz="2400" dirty="0">
                <a:latin typeface="+mj-lt"/>
              </a:rPr>
              <a:t> = (50/100) * 25 = 12.5</a:t>
            </a:r>
          </a:p>
          <a:p>
            <a:pPr>
              <a:spcBef>
                <a:spcPct val="50000"/>
              </a:spcBef>
              <a:spcAft>
                <a:spcPts val="600"/>
              </a:spcAft>
            </a:pPr>
            <a:r>
              <a:rPr lang="en-US" sz="2400" dirty="0">
                <a:latin typeface="+mj-lt"/>
              </a:rPr>
              <a:t>L</a:t>
            </a:r>
            <a:r>
              <a:rPr lang="en-US" sz="2400" baseline="-25000" dirty="0">
                <a:latin typeface="+mj-lt"/>
              </a:rPr>
              <a:t>75</a:t>
            </a:r>
            <a:r>
              <a:rPr lang="en-US" sz="2400" dirty="0">
                <a:latin typeface="+mj-lt"/>
              </a:rPr>
              <a:t> = (75/100) * 25 = 18.75</a:t>
            </a:r>
          </a:p>
        </p:txBody>
      </p:sp>
      <p:grpSp>
        <p:nvGrpSpPr>
          <p:cNvPr id="2" name="Group 14"/>
          <p:cNvGrpSpPr>
            <a:grpSpLocks/>
          </p:cNvGrpSpPr>
          <p:nvPr/>
        </p:nvGrpSpPr>
        <p:grpSpPr bwMode="auto">
          <a:xfrm>
            <a:off x="4191000" y="4114814"/>
            <a:ext cx="1828800" cy="461964"/>
            <a:chOff x="2640" y="2592"/>
            <a:chExt cx="1152" cy="291"/>
          </a:xfrm>
        </p:grpSpPr>
        <p:sp>
          <p:nvSpPr>
            <p:cNvPr id="22540" name="Line 12"/>
            <p:cNvSpPr>
              <a:spLocks noChangeShapeType="1"/>
            </p:cNvSpPr>
            <p:nvPr/>
          </p:nvSpPr>
          <p:spPr bwMode="auto">
            <a:xfrm>
              <a:off x="2640" y="2736"/>
              <a:ext cx="624" cy="0"/>
            </a:xfrm>
            <a:prstGeom prst="line">
              <a:avLst/>
            </a:prstGeom>
            <a:noFill/>
            <a:ln w="28575">
              <a:solidFill>
                <a:schemeClr val="accent2"/>
              </a:solidFill>
              <a:round/>
              <a:headEnd/>
              <a:tailEnd type="triangle" w="med" len="med"/>
            </a:ln>
            <a:effectLst/>
          </p:spPr>
          <p:txBody>
            <a:bodyPr/>
            <a:lstStyle/>
            <a:p>
              <a:endParaRPr lang="en-US"/>
            </a:p>
          </p:txBody>
        </p:sp>
        <p:sp>
          <p:nvSpPr>
            <p:cNvPr id="22541" name="Text Box 13"/>
            <p:cNvSpPr txBox="1">
              <a:spLocks noChangeArrowheads="1"/>
            </p:cNvSpPr>
            <p:nvPr/>
          </p:nvSpPr>
          <p:spPr bwMode="auto">
            <a:xfrm>
              <a:off x="3312" y="2592"/>
              <a:ext cx="480" cy="291"/>
            </a:xfrm>
            <a:prstGeom prst="rect">
              <a:avLst/>
            </a:prstGeom>
            <a:noFill/>
            <a:ln w="9525">
              <a:noFill/>
              <a:miter lim="800000"/>
              <a:headEnd/>
              <a:tailEnd/>
            </a:ln>
            <a:effectLst/>
          </p:spPr>
          <p:txBody>
            <a:bodyPr>
              <a:spAutoFit/>
            </a:bodyPr>
            <a:lstStyle/>
            <a:p>
              <a:pPr>
                <a:spcBef>
                  <a:spcPct val="50000"/>
                </a:spcBef>
              </a:pPr>
              <a:r>
                <a:rPr lang="en-US" sz="2400" b="1" dirty="0">
                  <a:latin typeface="+mj-lt"/>
                </a:rPr>
                <a:t>7</a:t>
              </a:r>
            </a:p>
          </p:txBody>
        </p:sp>
      </p:grpSp>
      <p:grpSp>
        <p:nvGrpSpPr>
          <p:cNvPr id="3" name="Group 17"/>
          <p:cNvGrpSpPr>
            <a:grpSpLocks/>
          </p:cNvGrpSpPr>
          <p:nvPr/>
        </p:nvGrpSpPr>
        <p:grpSpPr bwMode="auto">
          <a:xfrm>
            <a:off x="4267200" y="4724400"/>
            <a:ext cx="1905000" cy="461964"/>
            <a:chOff x="2688" y="2928"/>
            <a:chExt cx="1200" cy="291"/>
          </a:xfrm>
        </p:grpSpPr>
        <p:sp>
          <p:nvSpPr>
            <p:cNvPr id="22543" name="Line 15"/>
            <p:cNvSpPr>
              <a:spLocks noChangeShapeType="1"/>
            </p:cNvSpPr>
            <p:nvPr/>
          </p:nvSpPr>
          <p:spPr bwMode="auto">
            <a:xfrm>
              <a:off x="2688" y="3072"/>
              <a:ext cx="576" cy="0"/>
            </a:xfrm>
            <a:prstGeom prst="line">
              <a:avLst/>
            </a:prstGeom>
            <a:noFill/>
            <a:ln w="28575">
              <a:solidFill>
                <a:schemeClr val="accent2"/>
              </a:solidFill>
              <a:round/>
              <a:headEnd/>
              <a:tailEnd type="triangle" w="med" len="med"/>
            </a:ln>
            <a:effectLst/>
          </p:spPr>
          <p:txBody>
            <a:bodyPr/>
            <a:lstStyle/>
            <a:p>
              <a:endParaRPr lang="en-US"/>
            </a:p>
          </p:txBody>
        </p:sp>
        <p:sp>
          <p:nvSpPr>
            <p:cNvPr id="22544" name="Text Box 16"/>
            <p:cNvSpPr txBox="1">
              <a:spLocks noChangeArrowheads="1"/>
            </p:cNvSpPr>
            <p:nvPr/>
          </p:nvSpPr>
          <p:spPr bwMode="auto">
            <a:xfrm>
              <a:off x="3312" y="2928"/>
              <a:ext cx="576" cy="291"/>
            </a:xfrm>
            <a:prstGeom prst="rect">
              <a:avLst/>
            </a:prstGeom>
            <a:noFill/>
            <a:ln w="9525">
              <a:noFill/>
              <a:miter lim="800000"/>
              <a:headEnd/>
              <a:tailEnd/>
            </a:ln>
            <a:effectLst/>
          </p:spPr>
          <p:txBody>
            <a:bodyPr>
              <a:spAutoFit/>
            </a:bodyPr>
            <a:lstStyle/>
            <a:p>
              <a:pPr>
                <a:spcBef>
                  <a:spcPct val="50000"/>
                </a:spcBef>
              </a:pPr>
              <a:r>
                <a:rPr lang="en-US" sz="2400" dirty="0">
                  <a:latin typeface="+mj-lt"/>
                </a:rPr>
                <a:t>13</a:t>
              </a:r>
            </a:p>
          </p:txBody>
        </p:sp>
      </p:grpSp>
      <p:grpSp>
        <p:nvGrpSpPr>
          <p:cNvPr id="4" name="Group 21"/>
          <p:cNvGrpSpPr>
            <a:grpSpLocks/>
          </p:cNvGrpSpPr>
          <p:nvPr/>
        </p:nvGrpSpPr>
        <p:grpSpPr bwMode="auto">
          <a:xfrm>
            <a:off x="4419600" y="5334000"/>
            <a:ext cx="1524000" cy="461964"/>
            <a:chOff x="2784" y="3264"/>
            <a:chExt cx="960" cy="291"/>
          </a:xfrm>
        </p:grpSpPr>
        <p:sp>
          <p:nvSpPr>
            <p:cNvPr id="22546" name="Line 18"/>
            <p:cNvSpPr>
              <a:spLocks noChangeShapeType="1"/>
            </p:cNvSpPr>
            <p:nvPr/>
          </p:nvSpPr>
          <p:spPr bwMode="auto">
            <a:xfrm>
              <a:off x="2784" y="3408"/>
              <a:ext cx="528" cy="0"/>
            </a:xfrm>
            <a:prstGeom prst="line">
              <a:avLst/>
            </a:prstGeom>
            <a:noFill/>
            <a:ln w="28575">
              <a:solidFill>
                <a:schemeClr val="accent2"/>
              </a:solidFill>
              <a:round/>
              <a:headEnd/>
              <a:tailEnd type="triangle" w="med" len="med"/>
            </a:ln>
            <a:effectLst/>
          </p:spPr>
          <p:txBody>
            <a:bodyPr/>
            <a:lstStyle/>
            <a:p>
              <a:endParaRPr lang="en-US"/>
            </a:p>
          </p:txBody>
        </p:sp>
        <p:sp>
          <p:nvSpPr>
            <p:cNvPr id="22548" name="Text Box 20"/>
            <p:cNvSpPr txBox="1">
              <a:spLocks noChangeArrowheads="1"/>
            </p:cNvSpPr>
            <p:nvPr/>
          </p:nvSpPr>
          <p:spPr bwMode="auto">
            <a:xfrm>
              <a:off x="3360" y="3264"/>
              <a:ext cx="384" cy="291"/>
            </a:xfrm>
            <a:prstGeom prst="rect">
              <a:avLst/>
            </a:prstGeom>
            <a:noFill/>
            <a:ln w="9525">
              <a:noFill/>
              <a:miter lim="800000"/>
              <a:headEnd/>
              <a:tailEnd/>
            </a:ln>
            <a:effectLst/>
          </p:spPr>
          <p:txBody>
            <a:bodyPr wrap="square">
              <a:spAutoFit/>
            </a:bodyPr>
            <a:lstStyle/>
            <a:p>
              <a:pPr>
                <a:spcBef>
                  <a:spcPct val="50000"/>
                </a:spcBef>
              </a:pPr>
              <a:r>
                <a:rPr lang="en-US" sz="2400" dirty="0">
                  <a:latin typeface="+mj-lt"/>
                </a:rPr>
                <a:t>19</a:t>
              </a:r>
            </a:p>
          </p:txBody>
        </p:sp>
      </p:grpSp>
      <p:sp>
        <p:nvSpPr>
          <p:cNvPr id="22551" name="Text Box 23"/>
          <p:cNvSpPr txBox="1">
            <a:spLocks noChangeArrowheads="1"/>
          </p:cNvSpPr>
          <p:nvPr/>
        </p:nvSpPr>
        <p:spPr bwMode="auto">
          <a:xfrm>
            <a:off x="6096000" y="4419600"/>
            <a:ext cx="2667000" cy="1200329"/>
          </a:xfrm>
          <a:prstGeom prst="rect">
            <a:avLst/>
          </a:prstGeom>
          <a:noFill/>
          <a:ln w="9525">
            <a:noFill/>
            <a:miter lim="800000"/>
            <a:headEnd/>
            <a:tailEnd/>
          </a:ln>
          <a:effectLst/>
        </p:spPr>
        <p:txBody>
          <a:bodyPr>
            <a:spAutoFit/>
          </a:bodyPr>
          <a:lstStyle/>
          <a:p>
            <a:pPr>
              <a:spcBef>
                <a:spcPct val="50000"/>
              </a:spcBef>
            </a:pPr>
            <a:r>
              <a:rPr lang="en-US" sz="2400" dirty="0">
                <a:latin typeface="+mj-lt"/>
              </a:rPr>
              <a:t>Round fraction part up to the next integer</a:t>
            </a:r>
          </a:p>
        </p:txBody>
      </p:sp>
      <p:grpSp>
        <p:nvGrpSpPr>
          <p:cNvPr id="5" name="Group 31"/>
          <p:cNvGrpSpPr>
            <a:grpSpLocks/>
          </p:cNvGrpSpPr>
          <p:nvPr/>
        </p:nvGrpSpPr>
        <p:grpSpPr bwMode="auto">
          <a:xfrm>
            <a:off x="457200" y="2743200"/>
            <a:ext cx="2286000" cy="381000"/>
            <a:chOff x="288" y="1728"/>
            <a:chExt cx="1440" cy="240"/>
          </a:xfrm>
        </p:grpSpPr>
        <p:sp>
          <p:nvSpPr>
            <p:cNvPr id="22552" name="Line 24"/>
            <p:cNvSpPr>
              <a:spLocks noChangeShapeType="1"/>
            </p:cNvSpPr>
            <p:nvPr/>
          </p:nvSpPr>
          <p:spPr bwMode="auto">
            <a:xfrm>
              <a:off x="288" y="1968"/>
              <a:ext cx="1440" cy="0"/>
            </a:xfrm>
            <a:prstGeom prst="line">
              <a:avLst/>
            </a:prstGeom>
            <a:noFill/>
            <a:ln w="9525">
              <a:solidFill>
                <a:schemeClr val="accent2"/>
              </a:solidFill>
              <a:prstDash val="dash"/>
              <a:round/>
              <a:headEnd/>
              <a:tailEnd type="triangle" w="med" len="med"/>
            </a:ln>
            <a:effectLst/>
          </p:spPr>
          <p:txBody>
            <a:bodyPr/>
            <a:lstStyle/>
            <a:p>
              <a:endParaRPr lang="en-US"/>
            </a:p>
          </p:txBody>
        </p:sp>
        <p:sp>
          <p:nvSpPr>
            <p:cNvPr id="22554" name="Text Box 26"/>
            <p:cNvSpPr txBox="1">
              <a:spLocks noChangeArrowheads="1"/>
            </p:cNvSpPr>
            <p:nvPr/>
          </p:nvSpPr>
          <p:spPr bwMode="auto">
            <a:xfrm>
              <a:off x="768" y="1728"/>
              <a:ext cx="480" cy="231"/>
            </a:xfrm>
            <a:prstGeom prst="rect">
              <a:avLst/>
            </a:prstGeom>
            <a:noFill/>
            <a:ln w="9525">
              <a:noFill/>
              <a:miter lim="800000"/>
              <a:headEnd/>
              <a:tailEnd/>
            </a:ln>
            <a:effectLst/>
          </p:spPr>
          <p:txBody>
            <a:bodyPr>
              <a:spAutoFit/>
            </a:bodyPr>
            <a:lstStyle/>
            <a:p>
              <a:pPr>
                <a:spcBef>
                  <a:spcPct val="50000"/>
                </a:spcBef>
              </a:pPr>
              <a:r>
                <a:rPr lang="en-US" sz="1800" b="1">
                  <a:solidFill>
                    <a:schemeClr val="accent2"/>
                  </a:solidFill>
                </a:rPr>
                <a:t>L</a:t>
              </a:r>
              <a:r>
                <a:rPr lang="en-US" sz="1800" b="1" baseline="-25000">
                  <a:solidFill>
                    <a:schemeClr val="accent2"/>
                  </a:solidFill>
                </a:rPr>
                <a:t>25</a:t>
              </a:r>
            </a:p>
          </p:txBody>
        </p:sp>
      </p:grpSp>
      <p:grpSp>
        <p:nvGrpSpPr>
          <p:cNvPr id="6" name="Group 30"/>
          <p:cNvGrpSpPr>
            <a:grpSpLocks/>
          </p:cNvGrpSpPr>
          <p:nvPr/>
        </p:nvGrpSpPr>
        <p:grpSpPr bwMode="auto">
          <a:xfrm>
            <a:off x="2590800" y="2286000"/>
            <a:ext cx="533400" cy="1128713"/>
            <a:chOff x="1584" y="1488"/>
            <a:chExt cx="336" cy="711"/>
          </a:xfrm>
        </p:grpSpPr>
        <p:sp>
          <p:nvSpPr>
            <p:cNvPr id="22537" name="Line 9"/>
            <p:cNvSpPr>
              <a:spLocks noChangeShapeType="1"/>
            </p:cNvSpPr>
            <p:nvPr/>
          </p:nvSpPr>
          <p:spPr bwMode="auto">
            <a:xfrm>
              <a:off x="1728" y="1488"/>
              <a:ext cx="0" cy="528"/>
            </a:xfrm>
            <a:prstGeom prst="line">
              <a:avLst/>
            </a:prstGeom>
            <a:noFill/>
            <a:ln w="9525">
              <a:solidFill>
                <a:schemeClr val="tx1"/>
              </a:solidFill>
              <a:round/>
              <a:headEnd/>
              <a:tailEnd/>
            </a:ln>
            <a:effectLst/>
          </p:spPr>
          <p:txBody>
            <a:bodyPr/>
            <a:lstStyle/>
            <a:p>
              <a:endParaRPr lang="en-US"/>
            </a:p>
          </p:txBody>
        </p:sp>
        <p:sp>
          <p:nvSpPr>
            <p:cNvPr id="22555" name="Text Box 27"/>
            <p:cNvSpPr txBox="1">
              <a:spLocks noChangeArrowheads="1"/>
            </p:cNvSpPr>
            <p:nvPr/>
          </p:nvSpPr>
          <p:spPr bwMode="auto">
            <a:xfrm>
              <a:off x="1584" y="1968"/>
              <a:ext cx="336" cy="231"/>
            </a:xfrm>
            <a:prstGeom prst="rect">
              <a:avLst/>
            </a:prstGeom>
            <a:noFill/>
            <a:ln w="9525">
              <a:noFill/>
              <a:miter lim="800000"/>
              <a:headEnd/>
              <a:tailEnd/>
            </a:ln>
            <a:effectLst/>
          </p:spPr>
          <p:txBody>
            <a:bodyPr>
              <a:spAutoFit/>
            </a:bodyPr>
            <a:lstStyle/>
            <a:p>
              <a:pPr>
                <a:spcBef>
                  <a:spcPct val="50000"/>
                </a:spcBef>
              </a:pPr>
              <a:r>
                <a:rPr lang="en-US" sz="1800" b="1"/>
                <a:t>Q</a:t>
              </a:r>
              <a:r>
                <a:rPr lang="en-US" sz="1800" b="1" baseline="-25000"/>
                <a:t>1</a:t>
              </a:r>
              <a:endParaRPr lang="en-US" sz="1800" b="1"/>
            </a:p>
          </p:txBody>
        </p:sp>
      </p:grpSp>
      <p:grpSp>
        <p:nvGrpSpPr>
          <p:cNvPr id="7" name="Group 32"/>
          <p:cNvGrpSpPr>
            <a:grpSpLocks/>
          </p:cNvGrpSpPr>
          <p:nvPr/>
        </p:nvGrpSpPr>
        <p:grpSpPr bwMode="auto">
          <a:xfrm>
            <a:off x="4953000" y="2286000"/>
            <a:ext cx="533400" cy="1052513"/>
            <a:chOff x="2880" y="1488"/>
            <a:chExt cx="336" cy="663"/>
          </a:xfrm>
        </p:grpSpPr>
        <p:sp>
          <p:nvSpPr>
            <p:cNvPr id="22538" name="Line 10"/>
            <p:cNvSpPr>
              <a:spLocks noChangeShapeType="1"/>
            </p:cNvSpPr>
            <p:nvPr/>
          </p:nvSpPr>
          <p:spPr bwMode="auto">
            <a:xfrm>
              <a:off x="3024" y="1488"/>
              <a:ext cx="0" cy="528"/>
            </a:xfrm>
            <a:prstGeom prst="line">
              <a:avLst/>
            </a:prstGeom>
            <a:noFill/>
            <a:ln w="9525">
              <a:solidFill>
                <a:schemeClr val="tx1"/>
              </a:solidFill>
              <a:round/>
              <a:headEnd/>
              <a:tailEnd/>
            </a:ln>
            <a:effectLst/>
          </p:spPr>
          <p:txBody>
            <a:bodyPr/>
            <a:lstStyle/>
            <a:p>
              <a:endParaRPr lang="en-US"/>
            </a:p>
          </p:txBody>
        </p:sp>
        <p:sp>
          <p:nvSpPr>
            <p:cNvPr id="22556" name="Text Box 28"/>
            <p:cNvSpPr txBox="1">
              <a:spLocks noChangeArrowheads="1"/>
            </p:cNvSpPr>
            <p:nvPr/>
          </p:nvSpPr>
          <p:spPr bwMode="auto">
            <a:xfrm>
              <a:off x="2880" y="1920"/>
              <a:ext cx="336" cy="231"/>
            </a:xfrm>
            <a:prstGeom prst="rect">
              <a:avLst/>
            </a:prstGeom>
            <a:noFill/>
            <a:ln w="9525">
              <a:noFill/>
              <a:miter lim="800000"/>
              <a:headEnd/>
              <a:tailEnd/>
            </a:ln>
            <a:effectLst/>
          </p:spPr>
          <p:txBody>
            <a:bodyPr>
              <a:spAutoFit/>
            </a:bodyPr>
            <a:lstStyle/>
            <a:p>
              <a:pPr>
                <a:spcBef>
                  <a:spcPct val="50000"/>
                </a:spcBef>
              </a:pPr>
              <a:r>
                <a:rPr lang="en-US" sz="1800" b="1"/>
                <a:t>Q</a:t>
              </a:r>
              <a:r>
                <a:rPr lang="en-US" sz="1800" b="1" baseline="-25000"/>
                <a:t>2</a:t>
              </a:r>
              <a:endParaRPr lang="en-US" sz="1800" b="1"/>
            </a:p>
          </p:txBody>
        </p:sp>
      </p:grpSp>
      <p:grpSp>
        <p:nvGrpSpPr>
          <p:cNvPr id="8" name="Group 33"/>
          <p:cNvGrpSpPr>
            <a:grpSpLocks/>
          </p:cNvGrpSpPr>
          <p:nvPr/>
        </p:nvGrpSpPr>
        <p:grpSpPr bwMode="auto">
          <a:xfrm>
            <a:off x="7239000" y="2362200"/>
            <a:ext cx="533400" cy="1204913"/>
            <a:chOff x="4224" y="1440"/>
            <a:chExt cx="336" cy="759"/>
          </a:xfrm>
        </p:grpSpPr>
        <p:sp>
          <p:nvSpPr>
            <p:cNvPr id="22539" name="Line 11"/>
            <p:cNvSpPr>
              <a:spLocks noChangeShapeType="1"/>
            </p:cNvSpPr>
            <p:nvPr/>
          </p:nvSpPr>
          <p:spPr bwMode="auto">
            <a:xfrm>
              <a:off x="4368" y="1440"/>
              <a:ext cx="0" cy="576"/>
            </a:xfrm>
            <a:prstGeom prst="line">
              <a:avLst/>
            </a:prstGeom>
            <a:noFill/>
            <a:ln w="9525">
              <a:solidFill>
                <a:schemeClr val="tx1"/>
              </a:solidFill>
              <a:round/>
              <a:headEnd/>
              <a:tailEnd/>
            </a:ln>
            <a:effectLst/>
          </p:spPr>
          <p:txBody>
            <a:bodyPr/>
            <a:lstStyle/>
            <a:p>
              <a:endParaRPr lang="en-US"/>
            </a:p>
          </p:txBody>
        </p:sp>
        <p:sp>
          <p:nvSpPr>
            <p:cNvPr id="22557" name="Text Box 29"/>
            <p:cNvSpPr txBox="1">
              <a:spLocks noChangeArrowheads="1"/>
            </p:cNvSpPr>
            <p:nvPr/>
          </p:nvSpPr>
          <p:spPr bwMode="auto">
            <a:xfrm>
              <a:off x="4224" y="1968"/>
              <a:ext cx="336" cy="231"/>
            </a:xfrm>
            <a:prstGeom prst="rect">
              <a:avLst/>
            </a:prstGeom>
            <a:noFill/>
            <a:ln w="9525">
              <a:noFill/>
              <a:miter lim="800000"/>
              <a:headEnd/>
              <a:tailEnd/>
            </a:ln>
            <a:effectLst/>
          </p:spPr>
          <p:txBody>
            <a:bodyPr>
              <a:spAutoFit/>
            </a:bodyPr>
            <a:lstStyle/>
            <a:p>
              <a:pPr>
                <a:spcBef>
                  <a:spcPct val="50000"/>
                </a:spcBef>
              </a:pPr>
              <a:r>
                <a:rPr lang="en-US" sz="1800" b="1"/>
                <a:t>Q</a:t>
              </a:r>
              <a:r>
                <a:rPr lang="en-US" sz="1800" b="1" baseline="-25000"/>
                <a:t>3</a:t>
              </a:r>
              <a:endParaRPr lang="en-US" sz="1800" b="1"/>
            </a:p>
          </p:txBody>
        </p:sp>
      </p:grpSp>
      <p:sp>
        <p:nvSpPr>
          <p:cNvPr id="30" name="Date Placeholder 29"/>
          <p:cNvSpPr>
            <a:spLocks noGrp="1"/>
          </p:cNvSpPr>
          <p:nvPr>
            <p:ph type="dt" sz="half" idx="10"/>
          </p:nvPr>
        </p:nvSpPr>
        <p:spPr/>
        <p:txBody>
          <a:bodyPr/>
          <a:lstStyle/>
          <a:p>
            <a:r>
              <a:rPr lang="en-US" smtClean="0"/>
              <a:t>Prof. A. K. Datta     University of Calcutta</a:t>
            </a:r>
            <a:endParaRPr lang="en-IN" dirty="0"/>
          </a:p>
        </p:txBody>
      </p:sp>
      <p:sp>
        <p:nvSpPr>
          <p:cNvPr id="31" name="Slide Number Placeholder 30"/>
          <p:cNvSpPr>
            <a:spLocks noGrp="1"/>
          </p:cNvSpPr>
          <p:nvPr>
            <p:ph type="sldNum" sz="quarter" idx="11"/>
          </p:nvPr>
        </p:nvSpPr>
        <p:spPr/>
        <p:txBody>
          <a:bodyPr/>
          <a:lstStyle/>
          <a:p>
            <a:fld id="{BF2D74FB-8EB9-4DEE-8258-980F8375AF4A}" type="slidenum">
              <a:rPr lang="en-IN" smtClean="0"/>
              <a:pPr/>
              <a:t>33</a:t>
            </a:fld>
            <a:endParaRPr lang="en-IN" dirty="0"/>
          </a:p>
        </p:txBody>
      </p:sp>
      <p:sp>
        <p:nvSpPr>
          <p:cNvPr id="32" name="Footer Placeholder 31"/>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1371600" y="0"/>
            <a:ext cx="6324600" cy="584775"/>
          </a:xfrm>
          <a:prstGeom prst="rect">
            <a:avLst/>
          </a:prstGeom>
          <a:noFill/>
          <a:ln w="9525">
            <a:noFill/>
            <a:miter lim="800000"/>
            <a:headEnd/>
            <a:tailEnd/>
          </a:ln>
          <a:effectLst/>
        </p:spPr>
        <p:txBody>
          <a:bodyPr>
            <a:spAutoFit/>
          </a:bodyPr>
          <a:lstStyle/>
          <a:p>
            <a:pPr algn="ctr">
              <a:spcBef>
                <a:spcPct val="50000"/>
              </a:spcBef>
            </a:pPr>
            <a:r>
              <a:rPr lang="en-US" sz="3200" dirty="0">
                <a:latin typeface="+mj-lt"/>
              </a:rPr>
              <a:t>Relative Standing</a:t>
            </a:r>
          </a:p>
        </p:txBody>
      </p:sp>
      <p:sp>
        <p:nvSpPr>
          <p:cNvPr id="23555" name="Text Box 3"/>
          <p:cNvSpPr txBox="1">
            <a:spLocks noChangeArrowheads="1"/>
          </p:cNvSpPr>
          <p:nvPr/>
        </p:nvSpPr>
        <p:spPr bwMode="auto">
          <a:xfrm>
            <a:off x="685800" y="838201"/>
            <a:ext cx="8153400" cy="2308324"/>
          </a:xfrm>
          <a:prstGeom prst="rect">
            <a:avLst/>
          </a:prstGeom>
          <a:noFill/>
          <a:ln w="9525">
            <a:noFill/>
            <a:miter lim="800000"/>
            <a:headEnd/>
            <a:tailEnd/>
          </a:ln>
          <a:effectLst/>
        </p:spPr>
        <p:txBody>
          <a:bodyPr wrap="square">
            <a:spAutoFit/>
          </a:bodyPr>
          <a:lstStyle/>
          <a:p>
            <a:pPr>
              <a:spcBef>
                <a:spcPts val="600"/>
              </a:spcBef>
            </a:pPr>
            <a:r>
              <a:rPr lang="en-US" sz="2400" dirty="0">
                <a:latin typeface="+mj-lt"/>
              </a:rPr>
              <a:t>Other measures of relative standing </a:t>
            </a:r>
            <a:r>
              <a:rPr lang="en-US" sz="2400" dirty="0" smtClean="0">
                <a:latin typeface="+mj-lt"/>
              </a:rPr>
              <a:t>include: </a:t>
            </a:r>
            <a:endParaRPr lang="en-US" sz="2400" dirty="0">
              <a:latin typeface="+mj-lt"/>
            </a:endParaRPr>
          </a:p>
          <a:p>
            <a:pPr>
              <a:spcBef>
                <a:spcPts val="600"/>
              </a:spcBef>
              <a:buFontTx/>
              <a:buChar char="•"/>
            </a:pPr>
            <a:r>
              <a:rPr lang="en-US" sz="2400" dirty="0" smtClean="0">
                <a:latin typeface="+mj-lt"/>
              </a:rPr>
              <a:t>Inter quartile </a:t>
            </a:r>
            <a:r>
              <a:rPr lang="en-US" sz="2400" dirty="0">
                <a:latin typeface="+mj-lt"/>
              </a:rPr>
              <a:t>range (IQR) = Q</a:t>
            </a:r>
            <a:r>
              <a:rPr lang="en-US" sz="2400" baseline="-25000" dirty="0">
                <a:latin typeface="+mj-lt"/>
              </a:rPr>
              <a:t>3</a:t>
            </a:r>
            <a:r>
              <a:rPr lang="en-US" sz="2400" dirty="0">
                <a:latin typeface="+mj-lt"/>
              </a:rPr>
              <a:t> - </a:t>
            </a:r>
            <a:r>
              <a:rPr lang="en-US" sz="2400" baseline="-25000" dirty="0">
                <a:latin typeface="+mj-lt"/>
              </a:rPr>
              <a:t> </a:t>
            </a:r>
            <a:r>
              <a:rPr lang="en-US" sz="2400" dirty="0">
                <a:latin typeface="+mj-lt"/>
              </a:rPr>
              <a:t>Q</a:t>
            </a:r>
            <a:r>
              <a:rPr lang="en-US" sz="2400" baseline="-25000" dirty="0">
                <a:latin typeface="+mj-lt"/>
              </a:rPr>
              <a:t>1</a:t>
            </a:r>
          </a:p>
          <a:p>
            <a:pPr>
              <a:spcBef>
                <a:spcPts val="600"/>
              </a:spcBef>
              <a:buFontTx/>
              <a:buChar char="•"/>
            </a:pPr>
            <a:r>
              <a:rPr lang="en-US" sz="2400" dirty="0" smtClean="0">
                <a:latin typeface="+mj-lt"/>
              </a:rPr>
              <a:t>Semi-inter quartile </a:t>
            </a:r>
            <a:r>
              <a:rPr lang="en-US" sz="2400" dirty="0">
                <a:latin typeface="+mj-lt"/>
              </a:rPr>
              <a:t>range = (Q</a:t>
            </a:r>
            <a:r>
              <a:rPr lang="en-US" sz="2400" baseline="-25000" dirty="0">
                <a:latin typeface="+mj-lt"/>
              </a:rPr>
              <a:t>3</a:t>
            </a:r>
            <a:r>
              <a:rPr lang="en-US" sz="2400" dirty="0">
                <a:latin typeface="+mj-lt"/>
              </a:rPr>
              <a:t> - </a:t>
            </a:r>
            <a:r>
              <a:rPr lang="en-US" sz="2400" baseline="-25000" dirty="0">
                <a:latin typeface="+mj-lt"/>
              </a:rPr>
              <a:t> </a:t>
            </a:r>
            <a:r>
              <a:rPr lang="en-US" sz="2400" dirty="0">
                <a:latin typeface="+mj-lt"/>
              </a:rPr>
              <a:t>Q</a:t>
            </a:r>
            <a:r>
              <a:rPr lang="en-US" sz="2400" baseline="-25000" dirty="0">
                <a:latin typeface="+mj-lt"/>
              </a:rPr>
              <a:t>1</a:t>
            </a:r>
            <a:r>
              <a:rPr lang="en-US" sz="2400" dirty="0">
                <a:latin typeface="+mj-lt"/>
              </a:rPr>
              <a:t>)/ 2</a:t>
            </a:r>
          </a:p>
          <a:p>
            <a:pPr>
              <a:spcBef>
                <a:spcPts val="600"/>
              </a:spcBef>
              <a:buFontTx/>
              <a:buChar char="•"/>
            </a:pPr>
            <a:r>
              <a:rPr lang="en-US" sz="2400" dirty="0" smtClean="0">
                <a:latin typeface="+mj-lt"/>
              </a:rPr>
              <a:t>Mid quartile </a:t>
            </a:r>
            <a:r>
              <a:rPr lang="en-US" sz="2400" dirty="0">
                <a:latin typeface="+mj-lt"/>
              </a:rPr>
              <a:t>= (Q</a:t>
            </a:r>
            <a:r>
              <a:rPr lang="en-US" sz="2400" baseline="-25000" dirty="0">
                <a:latin typeface="+mj-lt"/>
              </a:rPr>
              <a:t>3</a:t>
            </a:r>
            <a:r>
              <a:rPr lang="en-US" sz="2400" dirty="0">
                <a:latin typeface="+mj-lt"/>
              </a:rPr>
              <a:t> +</a:t>
            </a:r>
            <a:r>
              <a:rPr lang="en-US" sz="2400" baseline="-25000" dirty="0">
                <a:latin typeface="+mj-lt"/>
              </a:rPr>
              <a:t> </a:t>
            </a:r>
            <a:r>
              <a:rPr lang="en-US" sz="2400" dirty="0">
                <a:latin typeface="+mj-lt"/>
              </a:rPr>
              <a:t>Q</a:t>
            </a:r>
            <a:r>
              <a:rPr lang="en-US" sz="2400" baseline="-25000" dirty="0">
                <a:latin typeface="+mj-lt"/>
              </a:rPr>
              <a:t>1</a:t>
            </a:r>
            <a:r>
              <a:rPr lang="en-US" sz="2400" dirty="0">
                <a:latin typeface="+mj-lt"/>
              </a:rPr>
              <a:t>)/2</a:t>
            </a:r>
          </a:p>
          <a:p>
            <a:pPr>
              <a:spcBef>
                <a:spcPts val="600"/>
              </a:spcBef>
              <a:buFontTx/>
              <a:buChar char="•"/>
            </a:pPr>
            <a:r>
              <a:rPr lang="en-US" sz="2400" dirty="0">
                <a:latin typeface="+mj-lt"/>
              </a:rPr>
              <a:t>10 – 90 percentile range = P</a:t>
            </a:r>
            <a:r>
              <a:rPr lang="en-US" sz="2400" baseline="-25000" dirty="0">
                <a:latin typeface="+mj-lt"/>
              </a:rPr>
              <a:t>90</a:t>
            </a:r>
            <a:r>
              <a:rPr lang="en-US" sz="2400" dirty="0">
                <a:latin typeface="+mj-lt"/>
              </a:rPr>
              <a:t> - </a:t>
            </a:r>
            <a:r>
              <a:rPr lang="en-US" sz="2400" baseline="-25000" dirty="0">
                <a:latin typeface="+mj-lt"/>
              </a:rPr>
              <a:t> </a:t>
            </a:r>
            <a:r>
              <a:rPr lang="en-US" sz="2400" dirty="0" smtClean="0">
                <a:latin typeface="+mj-lt"/>
              </a:rPr>
              <a:t>P</a:t>
            </a:r>
            <a:r>
              <a:rPr lang="en-US" sz="2400" baseline="-25000" dirty="0" smtClean="0">
                <a:latin typeface="+mj-lt"/>
              </a:rPr>
              <a:t>10 </a:t>
            </a:r>
            <a:endParaRPr lang="en-US" sz="2000" dirty="0">
              <a:solidFill>
                <a:schemeClr val="accent2"/>
              </a:solidFill>
              <a:latin typeface="+mj-lt"/>
            </a:endParaRPr>
          </a:p>
        </p:txBody>
      </p:sp>
      <p:sp>
        <p:nvSpPr>
          <p:cNvPr id="23557" name="Text Box 5"/>
          <p:cNvSpPr txBox="1">
            <a:spLocks noChangeArrowheads="1"/>
          </p:cNvSpPr>
          <p:nvPr/>
        </p:nvSpPr>
        <p:spPr bwMode="auto">
          <a:xfrm>
            <a:off x="685800" y="3352800"/>
            <a:ext cx="7315200" cy="461665"/>
          </a:xfrm>
          <a:prstGeom prst="rect">
            <a:avLst/>
          </a:prstGeom>
          <a:noFill/>
          <a:ln w="9525">
            <a:noFill/>
            <a:miter lim="800000"/>
            <a:headEnd/>
            <a:tailEnd/>
          </a:ln>
          <a:effectLst/>
        </p:spPr>
        <p:txBody>
          <a:bodyPr>
            <a:spAutoFit/>
          </a:bodyPr>
          <a:lstStyle/>
          <a:p>
            <a:pPr>
              <a:spcBef>
                <a:spcPct val="50000"/>
              </a:spcBef>
            </a:pPr>
            <a:r>
              <a:rPr lang="en-US" sz="2400" u="sng" dirty="0">
                <a:latin typeface="+mj-lt"/>
              </a:rPr>
              <a:t>For the data on the previous page we have</a:t>
            </a:r>
            <a:r>
              <a:rPr lang="en-US" sz="2400" dirty="0">
                <a:latin typeface="+mj-lt"/>
              </a:rPr>
              <a:t>:</a:t>
            </a:r>
          </a:p>
        </p:txBody>
      </p:sp>
      <p:sp>
        <p:nvSpPr>
          <p:cNvPr id="23558" name="Text Box 6"/>
          <p:cNvSpPr txBox="1">
            <a:spLocks noChangeArrowheads="1"/>
          </p:cNvSpPr>
          <p:nvPr/>
        </p:nvSpPr>
        <p:spPr bwMode="auto">
          <a:xfrm>
            <a:off x="609600" y="4038600"/>
            <a:ext cx="6477000" cy="1569660"/>
          </a:xfrm>
          <a:prstGeom prst="rect">
            <a:avLst/>
          </a:prstGeom>
          <a:noFill/>
          <a:ln w="9525">
            <a:noFill/>
            <a:miter lim="800000"/>
            <a:headEnd/>
            <a:tailEnd/>
          </a:ln>
          <a:effectLst/>
        </p:spPr>
        <p:txBody>
          <a:bodyPr>
            <a:spAutoFit/>
          </a:bodyPr>
          <a:lstStyle/>
          <a:p>
            <a:pPr>
              <a:spcBef>
                <a:spcPct val="50000"/>
              </a:spcBef>
            </a:pPr>
            <a:r>
              <a:rPr lang="en-US" sz="2400" dirty="0">
                <a:latin typeface="+mj-lt"/>
              </a:rPr>
              <a:t>IQR = 84 – 70 = 16</a:t>
            </a:r>
          </a:p>
          <a:p>
            <a:pPr>
              <a:spcBef>
                <a:spcPct val="50000"/>
              </a:spcBef>
            </a:pPr>
            <a:r>
              <a:rPr lang="en-US" sz="2400" dirty="0">
                <a:latin typeface="+mj-lt"/>
              </a:rPr>
              <a:t>Semi IQR = (84 – 70)/2 = 8</a:t>
            </a:r>
          </a:p>
          <a:p>
            <a:pPr>
              <a:spcBef>
                <a:spcPct val="50000"/>
              </a:spcBef>
            </a:pPr>
            <a:r>
              <a:rPr lang="en-US" sz="2400" dirty="0" smtClean="0">
                <a:latin typeface="+mj-lt"/>
              </a:rPr>
              <a:t>Mid quartile </a:t>
            </a:r>
            <a:r>
              <a:rPr lang="en-US" sz="2400" dirty="0">
                <a:latin typeface="+mj-lt"/>
              </a:rPr>
              <a:t>= (84 + 70)/2 = 77 </a:t>
            </a:r>
          </a:p>
        </p:txBody>
      </p:sp>
      <p:grpSp>
        <p:nvGrpSpPr>
          <p:cNvPr id="2" name="Group 13"/>
          <p:cNvGrpSpPr>
            <a:grpSpLocks/>
          </p:cNvGrpSpPr>
          <p:nvPr/>
        </p:nvGrpSpPr>
        <p:grpSpPr bwMode="auto">
          <a:xfrm>
            <a:off x="4343400" y="4572000"/>
            <a:ext cx="4800600" cy="396875"/>
            <a:chOff x="2496" y="2976"/>
            <a:chExt cx="3024" cy="250"/>
          </a:xfrm>
        </p:grpSpPr>
        <p:sp>
          <p:nvSpPr>
            <p:cNvPr id="23560" name="Line 8"/>
            <p:cNvSpPr>
              <a:spLocks noChangeShapeType="1"/>
            </p:cNvSpPr>
            <p:nvPr/>
          </p:nvSpPr>
          <p:spPr bwMode="auto">
            <a:xfrm flipH="1">
              <a:off x="2496" y="3120"/>
              <a:ext cx="960" cy="0"/>
            </a:xfrm>
            <a:prstGeom prst="line">
              <a:avLst/>
            </a:prstGeom>
            <a:noFill/>
            <a:ln w="9525">
              <a:solidFill>
                <a:schemeClr val="accent2"/>
              </a:solidFill>
              <a:round/>
              <a:headEnd/>
              <a:tailEnd type="triangle" w="med" len="med"/>
            </a:ln>
            <a:effectLst/>
          </p:spPr>
          <p:txBody>
            <a:bodyPr/>
            <a:lstStyle/>
            <a:p>
              <a:endParaRPr lang="en-US"/>
            </a:p>
          </p:txBody>
        </p:sp>
        <p:sp>
          <p:nvSpPr>
            <p:cNvPr id="23561" name="Text Box 9"/>
            <p:cNvSpPr txBox="1">
              <a:spLocks noChangeArrowheads="1"/>
            </p:cNvSpPr>
            <p:nvPr/>
          </p:nvSpPr>
          <p:spPr bwMode="auto">
            <a:xfrm>
              <a:off x="3504" y="2976"/>
              <a:ext cx="2016" cy="250"/>
            </a:xfrm>
            <a:prstGeom prst="rect">
              <a:avLst/>
            </a:prstGeom>
            <a:noFill/>
            <a:ln w="9525">
              <a:noFill/>
              <a:miter lim="800000"/>
              <a:headEnd/>
              <a:tailEnd/>
            </a:ln>
            <a:effectLst/>
          </p:spPr>
          <p:txBody>
            <a:bodyPr>
              <a:spAutoFit/>
            </a:bodyPr>
            <a:lstStyle/>
            <a:p>
              <a:pPr>
                <a:spcBef>
                  <a:spcPct val="50000"/>
                </a:spcBef>
              </a:pPr>
              <a:r>
                <a:rPr lang="en-US" sz="2000" b="1" dirty="0">
                  <a:solidFill>
                    <a:schemeClr val="bg2"/>
                  </a:solidFill>
                </a:rPr>
                <a:t>Measures of variation</a:t>
              </a:r>
            </a:p>
          </p:txBody>
        </p:sp>
      </p:grpSp>
      <p:grpSp>
        <p:nvGrpSpPr>
          <p:cNvPr id="3" name="Group 12"/>
          <p:cNvGrpSpPr>
            <a:grpSpLocks/>
          </p:cNvGrpSpPr>
          <p:nvPr/>
        </p:nvGrpSpPr>
        <p:grpSpPr bwMode="auto">
          <a:xfrm>
            <a:off x="4572000" y="5105400"/>
            <a:ext cx="3581400" cy="701675"/>
            <a:chOff x="3312" y="3792"/>
            <a:chExt cx="2256" cy="442"/>
          </a:xfrm>
        </p:grpSpPr>
        <p:sp>
          <p:nvSpPr>
            <p:cNvPr id="23562" name="Line 10"/>
            <p:cNvSpPr>
              <a:spLocks noChangeShapeType="1"/>
            </p:cNvSpPr>
            <p:nvPr/>
          </p:nvSpPr>
          <p:spPr bwMode="auto">
            <a:xfrm flipH="1">
              <a:off x="3312" y="3936"/>
              <a:ext cx="384" cy="0"/>
            </a:xfrm>
            <a:prstGeom prst="line">
              <a:avLst/>
            </a:prstGeom>
            <a:noFill/>
            <a:ln w="9525">
              <a:solidFill>
                <a:schemeClr val="accent2"/>
              </a:solidFill>
              <a:round/>
              <a:headEnd/>
              <a:tailEnd type="triangle" w="med" len="med"/>
            </a:ln>
            <a:effectLst/>
          </p:spPr>
          <p:txBody>
            <a:bodyPr/>
            <a:lstStyle/>
            <a:p>
              <a:endParaRPr lang="en-US"/>
            </a:p>
          </p:txBody>
        </p:sp>
        <p:sp>
          <p:nvSpPr>
            <p:cNvPr id="23563" name="Text Box 11"/>
            <p:cNvSpPr txBox="1">
              <a:spLocks noChangeArrowheads="1"/>
            </p:cNvSpPr>
            <p:nvPr/>
          </p:nvSpPr>
          <p:spPr bwMode="auto">
            <a:xfrm>
              <a:off x="3984" y="3792"/>
              <a:ext cx="1584" cy="442"/>
            </a:xfrm>
            <a:prstGeom prst="rect">
              <a:avLst/>
            </a:prstGeom>
            <a:noFill/>
            <a:ln w="9525">
              <a:noFill/>
              <a:miter lim="800000"/>
              <a:headEnd/>
              <a:tailEnd/>
            </a:ln>
            <a:effectLst/>
          </p:spPr>
          <p:txBody>
            <a:bodyPr>
              <a:spAutoFit/>
            </a:bodyPr>
            <a:lstStyle/>
            <a:p>
              <a:pPr>
                <a:spcBef>
                  <a:spcPct val="50000"/>
                </a:spcBef>
              </a:pPr>
              <a:r>
                <a:rPr lang="en-US" sz="2000" b="1" dirty="0">
                  <a:solidFill>
                    <a:schemeClr val="bg2"/>
                  </a:solidFill>
                </a:rPr>
                <a:t>Measure of central tendency</a:t>
              </a:r>
            </a:p>
          </p:txBody>
        </p:sp>
      </p:grpSp>
      <p:sp>
        <p:nvSpPr>
          <p:cNvPr id="12" name="Date Placeholder 11"/>
          <p:cNvSpPr>
            <a:spLocks noGrp="1"/>
          </p:cNvSpPr>
          <p:nvPr>
            <p:ph type="dt" sz="half" idx="10"/>
          </p:nvPr>
        </p:nvSpPr>
        <p:spPr/>
        <p:txBody>
          <a:bodyPr/>
          <a:lstStyle/>
          <a:p>
            <a:r>
              <a:rPr lang="en-US" smtClean="0"/>
              <a:t>Prof. A. K. Datta     University of Calcutta</a:t>
            </a:r>
            <a:endParaRPr lang="en-IN" dirty="0"/>
          </a:p>
        </p:txBody>
      </p:sp>
      <p:sp>
        <p:nvSpPr>
          <p:cNvPr id="13" name="Slide Number Placeholder 12"/>
          <p:cNvSpPr>
            <a:spLocks noGrp="1"/>
          </p:cNvSpPr>
          <p:nvPr>
            <p:ph type="sldNum" sz="quarter" idx="11"/>
          </p:nvPr>
        </p:nvSpPr>
        <p:spPr/>
        <p:txBody>
          <a:bodyPr/>
          <a:lstStyle/>
          <a:p>
            <a:fld id="{BF2D74FB-8EB9-4DEE-8258-980F8375AF4A}" type="slidenum">
              <a:rPr lang="en-IN" smtClean="0"/>
              <a:pPr/>
              <a:t>34</a:t>
            </a:fld>
            <a:endParaRPr lang="en-IN" dirty="0"/>
          </a:p>
        </p:txBody>
      </p:sp>
      <p:sp>
        <p:nvSpPr>
          <p:cNvPr id="14" name="Footer Placeholder 13"/>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IN" dirty="0"/>
          </a:p>
        </p:txBody>
      </p:sp>
      <p:sp>
        <p:nvSpPr>
          <p:cNvPr id="3" name="Slide Number Placeholder 2"/>
          <p:cNvSpPr>
            <a:spLocks noGrp="1"/>
          </p:cNvSpPr>
          <p:nvPr>
            <p:ph type="sldNum" sz="quarter" idx="11"/>
          </p:nvPr>
        </p:nvSpPr>
        <p:spPr/>
        <p:txBody>
          <a:bodyPr/>
          <a:lstStyle/>
          <a:p>
            <a:fld id="{BF2D74FB-8EB9-4DEE-8258-980F8375AF4A}" type="slidenum">
              <a:rPr lang="en-IN" smtClean="0"/>
              <a:pPr/>
              <a:t>35</a:t>
            </a:fld>
            <a:endParaRPr lang="en-IN" dirty="0"/>
          </a:p>
        </p:txBody>
      </p:sp>
      <p:sp>
        <p:nvSpPr>
          <p:cNvPr id="4" name="Footer Placeholder 3"/>
          <p:cNvSpPr>
            <a:spLocks noGrp="1"/>
          </p:cNvSpPr>
          <p:nvPr>
            <p:ph type="ftr" sz="quarter" idx="12"/>
          </p:nvPr>
        </p:nvSpPr>
        <p:spPr/>
        <p:txBody>
          <a:bodyPr/>
          <a:lstStyle/>
          <a:p>
            <a:r>
              <a:rPr lang="en-IN" smtClean="0"/>
              <a:t>Ph.D Course Work on Research Methodology</a:t>
            </a:r>
            <a:endParaRPr lang="en-IN" dirty="0"/>
          </a:p>
        </p:txBody>
      </p:sp>
      <p:sp>
        <p:nvSpPr>
          <p:cNvPr id="5" name="TextBox 4"/>
          <p:cNvSpPr txBox="1"/>
          <p:nvPr/>
        </p:nvSpPr>
        <p:spPr>
          <a:xfrm>
            <a:off x="1600200" y="2209800"/>
            <a:ext cx="5791200" cy="646331"/>
          </a:xfrm>
          <a:prstGeom prst="rect">
            <a:avLst/>
          </a:prstGeom>
          <a:noFill/>
        </p:spPr>
        <p:txBody>
          <a:bodyPr wrap="square" rtlCol="0">
            <a:spAutoFit/>
          </a:bodyPr>
          <a:lstStyle/>
          <a:p>
            <a:pPr algn="ctr"/>
            <a:r>
              <a:rPr lang="en-US" sz="3600" dirty="0" smtClean="0">
                <a:latin typeface="Bookman Old Style" pitchFamily="18" charset="0"/>
              </a:rPr>
              <a:t>Sampling</a:t>
            </a:r>
            <a:endParaRPr lang="en-GB" sz="3600" dirty="0">
              <a:latin typeface="Bookman Old Style"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6"/>
          <p:cNvSpPr txBox="1">
            <a:spLocks noChangeArrowheads="1"/>
          </p:cNvSpPr>
          <p:nvPr/>
        </p:nvSpPr>
        <p:spPr bwMode="auto">
          <a:xfrm>
            <a:off x="457200" y="609600"/>
            <a:ext cx="8382000" cy="830997"/>
          </a:xfrm>
          <a:prstGeom prst="rect">
            <a:avLst/>
          </a:prstGeom>
          <a:noFill/>
          <a:ln w="9525">
            <a:noFill/>
            <a:miter lim="800000"/>
            <a:headEnd/>
            <a:tailEnd/>
          </a:ln>
          <a:effectLst/>
        </p:spPr>
        <p:txBody>
          <a:bodyPr wrap="square">
            <a:spAutoFit/>
          </a:bodyPr>
          <a:lstStyle/>
          <a:p>
            <a:pPr>
              <a:spcBef>
                <a:spcPct val="50000"/>
              </a:spcBef>
            </a:pPr>
            <a:r>
              <a:rPr lang="en-US" sz="2400" b="1" dirty="0">
                <a:latin typeface="+mj-lt"/>
              </a:rPr>
              <a:t>Statistical inference </a:t>
            </a:r>
            <a:r>
              <a:rPr lang="en-US" sz="2400" dirty="0">
                <a:latin typeface="+mj-lt"/>
              </a:rPr>
              <a:t>is the act of generalizing from a </a:t>
            </a:r>
            <a:r>
              <a:rPr lang="en-US" sz="2400" b="1" dirty="0">
                <a:latin typeface="+mj-lt"/>
              </a:rPr>
              <a:t>sample </a:t>
            </a:r>
            <a:r>
              <a:rPr lang="en-US" sz="2400" dirty="0">
                <a:latin typeface="+mj-lt"/>
              </a:rPr>
              <a:t>to a </a:t>
            </a:r>
            <a:r>
              <a:rPr lang="en-US" sz="2400" b="1" dirty="0">
                <a:latin typeface="+mj-lt"/>
              </a:rPr>
              <a:t>population </a:t>
            </a:r>
            <a:r>
              <a:rPr lang="en-US" sz="2400" dirty="0">
                <a:latin typeface="+mj-lt"/>
              </a:rPr>
              <a:t>with calculated degree of certainty.</a:t>
            </a:r>
          </a:p>
        </p:txBody>
      </p:sp>
      <p:sp>
        <p:nvSpPr>
          <p:cNvPr id="6" name="Text Box 64"/>
          <p:cNvSpPr txBox="1">
            <a:spLocks noChangeArrowheads="1"/>
          </p:cNvSpPr>
          <p:nvPr/>
        </p:nvSpPr>
        <p:spPr bwMode="auto">
          <a:xfrm>
            <a:off x="7086600" y="2209800"/>
            <a:ext cx="1806575" cy="1938992"/>
          </a:xfrm>
          <a:prstGeom prst="rect">
            <a:avLst/>
          </a:prstGeom>
          <a:noFill/>
          <a:ln w="9525">
            <a:noFill/>
            <a:miter lim="800000"/>
            <a:headEnd/>
            <a:tailEnd/>
          </a:ln>
          <a:effectLst/>
        </p:spPr>
        <p:txBody>
          <a:bodyPr>
            <a:spAutoFit/>
          </a:bodyPr>
          <a:lstStyle/>
          <a:p>
            <a:pPr>
              <a:spcBef>
                <a:spcPct val="50000"/>
              </a:spcBef>
            </a:pPr>
            <a:r>
              <a:rPr lang="en-US" sz="2400" dirty="0">
                <a:latin typeface="+mj-lt"/>
              </a:rPr>
              <a:t>…but we can only calculate </a:t>
            </a:r>
            <a:r>
              <a:rPr lang="en-US" sz="2400" i="1" dirty="0">
                <a:latin typeface="+mj-lt"/>
              </a:rPr>
              <a:t>sample</a:t>
            </a:r>
            <a:r>
              <a:rPr lang="en-US" sz="2400" dirty="0">
                <a:latin typeface="+mj-lt"/>
              </a:rPr>
              <a:t> </a:t>
            </a:r>
            <a:r>
              <a:rPr lang="en-US" sz="2400" i="1" dirty="0">
                <a:latin typeface="+mj-lt"/>
              </a:rPr>
              <a:t>statistics</a:t>
            </a:r>
          </a:p>
        </p:txBody>
      </p:sp>
      <p:sp>
        <p:nvSpPr>
          <p:cNvPr id="7" name="Text Box 65"/>
          <p:cNvSpPr txBox="1">
            <a:spLocks noChangeArrowheads="1"/>
          </p:cNvSpPr>
          <p:nvPr/>
        </p:nvSpPr>
        <p:spPr bwMode="auto">
          <a:xfrm>
            <a:off x="381000" y="2209800"/>
            <a:ext cx="2017713" cy="1631216"/>
          </a:xfrm>
          <a:prstGeom prst="rect">
            <a:avLst/>
          </a:prstGeom>
          <a:noFill/>
          <a:ln w="9525">
            <a:noFill/>
            <a:miter lim="800000"/>
            <a:headEnd/>
            <a:tailEnd/>
          </a:ln>
          <a:effectLst/>
        </p:spPr>
        <p:txBody>
          <a:bodyPr>
            <a:spAutoFit/>
          </a:bodyPr>
          <a:lstStyle/>
          <a:p>
            <a:pPr>
              <a:spcBef>
                <a:spcPct val="50000"/>
              </a:spcBef>
            </a:pPr>
            <a:r>
              <a:rPr lang="en-US" sz="2400" dirty="0">
                <a:latin typeface="+mj-lt"/>
              </a:rPr>
              <a:t>We want to learn about population  </a:t>
            </a:r>
            <a:r>
              <a:rPr lang="en-US" sz="2400" i="1" dirty="0">
                <a:latin typeface="+mj-lt"/>
              </a:rPr>
              <a:t>parameters</a:t>
            </a:r>
            <a:r>
              <a:rPr lang="en-US" sz="2800" i="1" dirty="0"/>
              <a:t>…</a:t>
            </a:r>
          </a:p>
        </p:txBody>
      </p:sp>
      <p:pic>
        <p:nvPicPr>
          <p:cNvPr id="5" name="Picture 62"/>
          <p:cNvPicPr>
            <a:picLocks noGrp="1" noChangeAspect="1" noChangeArrowheads="1"/>
          </p:cNvPicPr>
          <p:nvPr>
            <p:ph sz="half" idx="4294967295"/>
          </p:nvPr>
        </p:nvPicPr>
        <p:blipFill>
          <a:blip r:embed="rId3"/>
          <a:srcRect b="15858"/>
          <a:stretch>
            <a:fillRect/>
          </a:stretch>
        </p:blipFill>
        <p:spPr>
          <a:xfrm>
            <a:off x="2452688" y="2697163"/>
            <a:ext cx="4402137" cy="3944937"/>
          </a:xfrm>
          <a:noFill/>
          <a:ln/>
        </p:spPr>
      </p:pic>
      <p:sp>
        <p:nvSpPr>
          <p:cNvPr id="9" name="Rectangle 8"/>
          <p:cNvSpPr/>
          <p:nvPr/>
        </p:nvSpPr>
        <p:spPr>
          <a:xfrm>
            <a:off x="2895600" y="0"/>
            <a:ext cx="3401893" cy="523220"/>
          </a:xfrm>
          <a:prstGeom prst="rect">
            <a:avLst/>
          </a:prstGeom>
        </p:spPr>
        <p:txBody>
          <a:bodyPr wrap="none">
            <a:spAutoFit/>
          </a:bodyPr>
          <a:lstStyle/>
          <a:p>
            <a:r>
              <a:rPr lang="en-US" sz="2800" dirty="0" smtClean="0"/>
              <a:t>Statistical inference </a:t>
            </a:r>
            <a:endParaRPr lang="en-IN" sz="2800" dirty="0"/>
          </a:p>
        </p:txBody>
      </p:sp>
      <p:sp>
        <p:nvSpPr>
          <p:cNvPr id="10" name="Rectangle 9"/>
          <p:cNvSpPr/>
          <p:nvPr/>
        </p:nvSpPr>
        <p:spPr>
          <a:xfrm>
            <a:off x="0" y="4586609"/>
            <a:ext cx="8915400" cy="1751249"/>
          </a:xfrm>
          <a:prstGeom prst="rect">
            <a:avLst/>
          </a:prstGeom>
        </p:spPr>
        <p:txBody>
          <a:bodyPr wrap="square">
            <a:spAutoFit/>
          </a:bodyPr>
          <a:lstStyle/>
          <a:p>
            <a:pPr lvl="1" algn="just">
              <a:lnSpc>
                <a:spcPct val="90000"/>
              </a:lnSpc>
            </a:pPr>
            <a:r>
              <a:rPr lang="en-US" sz="2200" noProof="1" smtClean="0">
                <a:latin typeface="+mj-lt"/>
              </a:rPr>
              <a:t>A population is a whole, and a sample is a fraction of the whole.</a:t>
            </a:r>
          </a:p>
          <a:p>
            <a:pPr lvl="1" algn="just"/>
            <a:r>
              <a:rPr lang="en-US" sz="2200" noProof="1" smtClean="0">
                <a:latin typeface="+mj-lt"/>
              </a:rPr>
              <a:t>A </a:t>
            </a:r>
            <a:r>
              <a:rPr lang="en-US" sz="2200" dirty="0" smtClean="0">
                <a:latin typeface="+mj-lt"/>
              </a:rPr>
              <a:t>population</a:t>
            </a:r>
            <a:r>
              <a:rPr lang="en-US" sz="2200" noProof="1" smtClean="0">
                <a:latin typeface="+mj-lt"/>
              </a:rPr>
              <a:t> is a collection of all the elements we are studying and about which we are trying to draw conclusions. Such a population is often referred to as the </a:t>
            </a:r>
            <a:r>
              <a:rPr lang="en-US" sz="2200" b="1" dirty="0" smtClean="0">
                <a:solidFill>
                  <a:schemeClr val="accent2">
                    <a:lumMod val="75000"/>
                  </a:schemeClr>
                </a:solidFill>
                <a:latin typeface="+mj-lt"/>
              </a:rPr>
              <a:t>target population</a:t>
            </a:r>
            <a:r>
              <a:rPr lang="en-US" sz="2200" noProof="1" smtClean="0">
                <a:latin typeface="+mj-lt"/>
              </a:rPr>
              <a:t>. A </a:t>
            </a:r>
            <a:r>
              <a:rPr lang="en-US" sz="2200" dirty="0" smtClean="0">
                <a:latin typeface="+mj-lt"/>
              </a:rPr>
              <a:t>sample</a:t>
            </a:r>
            <a:r>
              <a:rPr lang="en-US" sz="2200" noProof="1" smtClean="0">
                <a:latin typeface="+mj-lt"/>
              </a:rPr>
              <a:t> is a collection of some, </a:t>
            </a:r>
            <a:r>
              <a:rPr lang="en-US" sz="2200" b="1" noProof="1" smtClean="0">
                <a:solidFill>
                  <a:schemeClr val="accent2">
                    <a:lumMod val="75000"/>
                  </a:schemeClr>
                </a:solidFill>
                <a:latin typeface="+mj-lt"/>
              </a:rPr>
              <a:t>but not all</a:t>
            </a:r>
            <a:r>
              <a:rPr lang="en-US" sz="2200" noProof="1" smtClean="0">
                <a:latin typeface="+mj-lt"/>
              </a:rPr>
              <a:t>, of the elements of the population</a:t>
            </a:r>
            <a:endParaRPr lang="en-US" sz="2200" dirty="0">
              <a:latin typeface="+mj-lt"/>
            </a:endParaRPr>
          </a:p>
        </p:txBody>
      </p:sp>
      <p:grpSp>
        <p:nvGrpSpPr>
          <p:cNvPr id="18" name="Group 17"/>
          <p:cNvGrpSpPr/>
          <p:nvPr/>
        </p:nvGrpSpPr>
        <p:grpSpPr>
          <a:xfrm>
            <a:off x="2590801" y="1524000"/>
            <a:ext cx="4038599" cy="3160931"/>
            <a:chOff x="2590801" y="1524000"/>
            <a:chExt cx="4038599" cy="3160931"/>
          </a:xfrm>
        </p:grpSpPr>
        <p:pic>
          <p:nvPicPr>
            <p:cNvPr id="8" name="Picture 31"/>
            <p:cNvPicPr>
              <a:picLocks noChangeAspect="1" noChangeArrowheads="1"/>
            </p:cNvPicPr>
            <p:nvPr/>
          </p:nvPicPr>
          <p:blipFill>
            <a:blip r:embed="rId3"/>
            <a:srcRect b="15858"/>
            <a:stretch>
              <a:fillRect/>
            </a:stretch>
          </p:blipFill>
          <p:spPr bwMode="auto">
            <a:xfrm>
              <a:off x="2590801" y="1524000"/>
              <a:ext cx="3886200" cy="3124200"/>
            </a:xfrm>
            <a:prstGeom prst="rect">
              <a:avLst/>
            </a:prstGeom>
            <a:noFill/>
            <a:ln w="3175">
              <a:noFill/>
              <a:miter lim="800000"/>
              <a:headEnd/>
              <a:tailEnd/>
            </a:ln>
            <a:effectLst/>
          </p:spPr>
        </p:pic>
        <p:sp>
          <p:nvSpPr>
            <p:cNvPr id="11" name="Text Box 32"/>
            <p:cNvSpPr txBox="1">
              <a:spLocks noChangeArrowheads="1"/>
            </p:cNvSpPr>
            <p:nvPr/>
          </p:nvSpPr>
          <p:spPr bwMode="auto">
            <a:xfrm>
              <a:off x="3352800" y="3429000"/>
              <a:ext cx="419100" cy="579438"/>
            </a:xfrm>
            <a:prstGeom prst="rect">
              <a:avLst/>
            </a:prstGeom>
            <a:noFill/>
            <a:ln w="9525">
              <a:noFill/>
              <a:miter lim="800000"/>
              <a:headEnd/>
              <a:tailEnd/>
            </a:ln>
            <a:effectLst/>
          </p:spPr>
          <p:txBody>
            <a:bodyPr>
              <a:spAutoFit/>
            </a:bodyPr>
            <a:lstStyle/>
            <a:p>
              <a:r>
                <a:rPr lang="en-US" sz="3200" dirty="0"/>
                <a:t>µ</a:t>
              </a:r>
            </a:p>
          </p:txBody>
        </p:sp>
        <p:graphicFrame>
          <p:nvGraphicFramePr>
            <p:cNvPr id="265217" name="Object 1"/>
            <p:cNvGraphicFramePr>
              <a:graphicFrameLocks noChangeAspect="1"/>
            </p:cNvGraphicFramePr>
            <p:nvPr/>
          </p:nvGraphicFramePr>
          <p:xfrm>
            <a:off x="5791200" y="3581400"/>
            <a:ext cx="444500" cy="523875"/>
          </p:xfrm>
          <a:graphic>
            <a:graphicData uri="http://schemas.openxmlformats.org/presentationml/2006/ole">
              <p:oleObj spid="_x0000_s911409" name="Equation" r:id="rId4" imgW="139579" imgH="164957" progId="Equation.3">
                <p:embed/>
              </p:oleObj>
            </a:graphicData>
          </a:graphic>
        </p:graphicFrame>
        <p:sp>
          <p:nvSpPr>
            <p:cNvPr id="12" name="Line 33"/>
            <p:cNvSpPr>
              <a:spLocks noChangeShapeType="1"/>
            </p:cNvSpPr>
            <p:nvPr/>
          </p:nvSpPr>
          <p:spPr bwMode="auto">
            <a:xfrm flipH="1">
              <a:off x="3733800" y="3810000"/>
              <a:ext cx="2063750" cy="0"/>
            </a:xfrm>
            <a:prstGeom prst="line">
              <a:avLst/>
            </a:prstGeom>
            <a:noFill/>
            <a:ln w="25400">
              <a:solidFill>
                <a:schemeClr val="tx1"/>
              </a:solidFill>
              <a:round/>
              <a:headEnd/>
              <a:tailEnd type="triangle" w="lg" len="lg"/>
            </a:ln>
            <a:effectLst/>
          </p:spPr>
          <p:txBody>
            <a:bodyPr/>
            <a:lstStyle/>
            <a:p>
              <a:endParaRPr lang="en-IN"/>
            </a:p>
          </p:txBody>
        </p:sp>
        <p:sp>
          <p:nvSpPr>
            <p:cNvPr id="13" name="TextBox 12"/>
            <p:cNvSpPr txBox="1"/>
            <p:nvPr/>
          </p:nvSpPr>
          <p:spPr>
            <a:xfrm>
              <a:off x="5410200" y="4038600"/>
              <a:ext cx="1219200" cy="646331"/>
            </a:xfrm>
            <a:prstGeom prst="rect">
              <a:avLst/>
            </a:prstGeom>
            <a:noFill/>
          </p:spPr>
          <p:txBody>
            <a:bodyPr wrap="square" rtlCol="0">
              <a:spAutoFit/>
            </a:bodyPr>
            <a:lstStyle/>
            <a:p>
              <a:r>
                <a:rPr lang="en-IN" b="1" dirty="0" smtClean="0">
                  <a:solidFill>
                    <a:schemeClr val="accent1">
                      <a:lumMod val="50000"/>
                    </a:schemeClr>
                  </a:solidFill>
                  <a:latin typeface="Times New Roman" pitchFamily="18" charset="0"/>
                  <a:cs typeface="Times New Roman" pitchFamily="18" charset="0"/>
                </a:rPr>
                <a:t>Mean of samples</a:t>
              </a:r>
              <a:endParaRPr lang="en-IN" b="1" dirty="0">
                <a:solidFill>
                  <a:schemeClr val="accent1">
                    <a:lumMod val="50000"/>
                  </a:schemeClr>
                </a:solidFill>
                <a:latin typeface="Times New Roman" pitchFamily="18" charset="0"/>
                <a:cs typeface="Times New Roman" pitchFamily="18" charset="0"/>
              </a:endParaRPr>
            </a:p>
          </p:txBody>
        </p:sp>
        <p:sp>
          <p:nvSpPr>
            <p:cNvPr id="14" name="Rectangle 13"/>
            <p:cNvSpPr/>
            <p:nvPr/>
          </p:nvSpPr>
          <p:spPr>
            <a:xfrm>
              <a:off x="2743200" y="4038600"/>
              <a:ext cx="2092239" cy="400110"/>
            </a:xfrm>
            <a:prstGeom prst="rect">
              <a:avLst/>
            </a:prstGeom>
          </p:spPr>
          <p:txBody>
            <a:bodyPr wrap="none">
              <a:spAutoFit/>
            </a:bodyPr>
            <a:lstStyle/>
            <a:p>
              <a:r>
                <a:rPr lang="en-US" sz="2000" b="1" dirty="0" smtClean="0">
                  <a:solidFill>
                    <a:schemeClr val="accent1">
                      <a:lumMod val="50000"/>
                    </a:schemeClr>
                  </a:solidFill>
                  <a:latin typeface="+mj-lt"/>
                </a:rPr>
                <a:t>Population mean </a:t>
              </a:r>
              <a:endParaRPr lang="en-IN" sz="2000" b="1" dirty="0">
                <a:solidFill>
                  <a:schemeClr val="accent1">
                    <a:lumMod val="50000"/>
                  </a:schemeClr>
                </a:solidFill>
                <a:latin typeface="+mj-lt"/>
              </a:endParaRPr>
            </a:p>
          </p:txBody>
        </p:sp>
      </p:grpSp>
      <p:sp>
        <p:nvSpPr>
          <p:cNvPr id="15" name="Date Placeholder 14"/>
          <p:cNvSpPr>
            <a:spLocks noGrp="1"/>
          </p:cNvSpPr>
          <p:nvPr>
            <p:ph type="dt" sz="half" idx="10"/>
          </p:nvPr>
        </p:nvSpPr>
        <p:spPr/>
        <p:txBody>
          <a:bodyPr/>
          <a:lstStyle/>
          <a:p>
            <a:r>
              <a:rPr lang="en-US" smtClean="0"/>
              <a:t>Prof. A. K. Datta     University of Calcutta</a:t>
            </a:r>
            <a:endParaRPr lang="en-IN" dirty="0"/>
          </a:p>
        </p:txBody>
      </p:sp>
      <p:sp>
        <p:nvSpPr>
          <p:cNvPr id="16" name="Slide Number Placeholder 15"/>
          <p:cNvSpPr>
            <a:spLocks noGrp="1"/>
          </p:cNvSpPr>
          <p:nvPr>
            <p:ph type="sldNum" sz="quarter" idx="11"/>
          </p:nvPr>
        </p:nvSpPr>
        <p:spPr/>
        <p:txBody>
          <a:bodyPr/>
          <a:lstStyle/>
          <a:p>
            <a:fld id="{BF2D74FB-8EB9-4DEE-8258-980F8375AF4A}" type="slidenum">
              <a:rPr lang="en-IN" smtClean="0"/>
              <a:pPr/>
              <a:t>36</a:t>
            </a:fld>
            <a:endParaRPr lang="en-IN" dirty="0"/>
          </a:p>
        </p:txBody>
      </p:sp>
      <p:sp>
        <p:nvSpPr>
          <p:cNvPr id="17" name="Footer Placeholder 16"/>
          <p:cNvSpPr>
            <a:spLocks noGrp="1"/>
          </p:cNvSpPr>
          <p:nvPr>
            <p:ph type="ftr" sz="quarter" idx="12"/>
          </p:nvPr>
        </p:nvSpPr>
        <p:spPr/>
        <p:txBody>
          <a:bodyPr/>
          <a:lstStyle/>
          <a:p>
            <a:r>
              <a:rPr lang="en-IN" smtClean="0"/>
              <a:t>Ph.D Course Work on Research Methodology</a:t>
            </a:r>
            <a:endParaRPr lang="en-IN" dirty="0"/>
          </a:p>
        </p:txBody>
      </p:sp>
      <p:sp>
        <p:nvSpPr>
          <p:cNvPr id="19" name="TextBox 18"/>
          <p:cNvSpPr txBox="1"/>
          <p:nvPr/>
        </p:nvSpPr>
        <p:spPr>
          <a:xfrm>
            <a:off x="4495800" y="3276600"/>
            <a:ext cx="762000" cy="523220"/>
          </a:xfrm>
          <a:prstGeom prst="rect">
            <a:avLst/>
          </a:prstGeom>
          <a:noFill/>
        </p:spPr>
        <p:txBody>
          <a:bodyPr wrap="square" rtlCol="0">
            <a:spAutoFit/>
          </a:bodyPr>
          <a:lstStyle/>
          <a:p>
            <a:pPr algn="ctr"/>
            <a:r>
              <a:rPr lang="en-US" sz="2800" dirty="0" smtClean="0"/>
              <a:t>?</a:t>
            </a:r>
            <a:endParaRPr lang="en-GB" sz="2800" dirty="0"/>
          </a:p>
        </p:txBody>
      </p:sp>
    </p:spTree>
    <p:extLst>
      <p:ext uri="{BB962C8B-B14F-4D97-AF65-F5344CB8AC3E}">
        <p14:creationId xmlns="" xmlns:p14="http://schemas.microsoft.com/office/powerpoint/2010/main" val="42707756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304800" y="762000"/>
            <a:ext cx="8534400" cy="41148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b="1" i="0" u="none" strike="noStrike" kern="0" cap="none" spc="0" normalizeH="0" baseline="0" noProof="0" dirty="0" smtClean="0">
                <a:ln>
                  <a:noFill/>
                </a:ln>
                <a:solidFill>
                  <a:srgbClr val="000066"/>
                </a:solidFill>
                <a:effectLst/>
                <a:uLnTx/>
                <a:uFillTx/>
                <a:latin typeface="Times New Roman" pitchFamily="18" charset="0"/>
                <a:ea typeface="+mn-ea"/>
                <a:cs typeface="Times New Roman" pitchFamily="18" charset="0"/>
              </a:rPr>
              <a:t>Sampling is :</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Times New Roman" pitchFamily="18" charset="0"/>
                <a:ea typeface="+mn-ea"/>
                <a:cs typeface="Times New Roman" pitchFamily="18" charset="0"/>
              </a:rPr>
              <a:t>Collecting sample data from a population and</a:t>
            </a:r>
          </a:p>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Times New Roman" pitchFamily="18" charset="0"/>
                <a:ea typeface="+mn-ea"/>
                <a:cs typeface="Times New Roman" pitchFamily="18" charset="0"/>
              </a:rPr>
              <a:t>Estimating population parameters</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b="0" i="0" u="none" strike="noStrike" kern="0" cap="none" spc="0" normalizeH="0" baseline="0" noProof="0" dirty="0" smtClean="0">
                <a:ln>
                  <a:noFill/>
                </a:ln>
                <a:solidFill>
                  <a:schemeClr val="tx1"/>
                </a:solidFill>
                <a:effectLst/>
                <a:uLnTx/>
                <a:uFillTx/>
                <a:latin typeface="Times New Roman" pitchFamily="18" charset="0"/>
                <a:ea typeface="+mn-ea"/>
                <a:cs typeface="Times New Roman" pitchFamily="18" charset="0"/>
              </a:rPr>
              <a:t>Sampling is an important tool in decisions since it is an effective and efficient way obtaining information about the population.</a:t>
            </a:r>
            <a:endParaRPr kumimoji="0" lang="en-US" sz="2400" b="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4" name="Rectangle 1027"/>
          <p:cNvSpPr txBox="1">
            <a:spLocks noChangeArrowheads="1"/>
          </p:cNvSpPr>
          <p:nvPr/>
        </p:nvSpPr>
        <p:spPr>
          <a:xfrm>
            <a:off x="304800" y="3124200"/>
            <a:ext cx="8153400" cy="27432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2400" b="1" i="0" u="none" strike="noStrike" kern="1200" cap="none" spc="0" normalizeH="0" baseline="0" noProof="0" dirty="0" smtClean="0">
                <a:ln>
                  <a:noFill/>
                </a:ln>
                <a:solidFill>
                  <a:srgbClr val="000066"/>
                </a:solidFill>
                <a:effectLst/>
                <a:uLnTx/>
                <a:uFillTx/>
                <a:latin typeface="Times New Roman" pitchFamily="18" charset="0"/>
                <a:cs typeface="Times New Roman" pitchFamily="18" charset="0"/>
              </a:rPr>
              <a:t>How good is the estimate obtained from the sample?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The means of multiple samples of a fixed size </a:t>
            </a:r>
            <a:r>
              <a:rPr kumimoji="0" lang="en-US" sz="2400" b="0" i="1" u="none" strike="noStrike" kern="1200" cap="none" spc="0" normalizeH="0" baseline="0" noProof="0" dirty="0" smtClean="0">
                <a:ln>
                  <a:noFill/>
                </a:ln>
                <a:solidFill>
                  <a:schemeClr val="accent2">
                    <a:lumMod val="75000"/>
                  </a:schemeClr>
                </a:solidFill>
                <a:effectLst/>
                <a:uLnTx/>
                <a:uFillTx/>
                <a:latin typeface="Times New Roman" pitchFamily="18" charset="0"/>
                <a:cs typeface="Times New Roman" pitchFamily="18" charset="0"/>
              </a:rPr>
              <a:t>n</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from some population will form a distribution called the </a:t>
            </a:r>
            <a:r>
              <a:rPr kumimoji="0" lang="en-US" sz="2400" b="1" i="0" u="none" strike="noStrike" kern="1200" cap="none" spc="0" normalizeH="0" baseline="0" noProof="0" dirty="0" smtClean="0">
                <a:ln>
                  <a:noFill/>
                </a:ln>
                <a:solidFill>
                  <a:srgbClr val="000066"/>
                </a:solidFill>
                <a:effectLst/>
                <a:uLnTx/>
                <a:uFillTx/>
                <a:latin typeface="Times New Roman" pitchFamily="18" charset="0"/>
                <a:cs typeface="Times New Roman" pitchFamily="18" charset="0"/>
              </a:rPr>
              <a:t>sampling distribution of the mean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The standard deviation of the sampling distribution of the mean is called the </a:t>
            </a:r>
            <a:r>
              <a:rPr kumimoji="0" lang="en-US" sz="2400" b="1" i="0" u="none" strike="noStrike" kern="1200" cap="none" spc="0" normalizeH="0" baseline="0" noProof="0" dirty="0" smtClean="0">
                <a:ln>
                  <a:noFill/>
                </a:ln>
                <a:solidFill>
                  <a:srgbClr val="000066"/>
                </a:solidFill>
                <a:effectLst/>
                <a:uLnTx/>
                <a:uFillTx/>
                <a:latin typeface="Times New Roman" pitchFamily="18" charset="0"/>
                <a:cs typeface="Times New Roman" pitchFamily="18" charset="0"/>
              </a:rPr>
              <a:t>standard error of the mean</a:t>
            </a:r>
            <a:endParaRPr kumimoji="0" lang="en-US" sz="2400" b="1" i="0" u="none" strike="noStrike" kern="1200" cap="none" spc="0" normalizeH="0" baseline="0" noProof="0" dirty="0">
              <a:ln>
                <a:noFill/>
              </a:ln>
              <a:solidFill>
                <a:srgbClr val="000066"/>
              </a:solidFill>
              <a:effectLst/>
              <a:uLnTx/>
              <a:uFillTx/>
              <a:latin typeface="Times New Roman" pitchFamily="18" charset="0"/>
              <a:cs typeface="Times New Roman" pitchFamily="18" charset="0"/>
            </a:endParaRPr>
          </a:p>
        </p:txBody>
      </p:sp>
      <p:sp>
        <p:nvSpPr>
          <p:cNvPr id="5" name="Rectangle 2"/>
          <p:cNvSpPr txBox="1">
            <a:spLocks noChangeArrowheads="1"/>
          </p:cNvSpPr>
          <p:nvPr/>
        </p:nvSpPr>
        <p:spPr>
          <a:xfrm>
            <a:off x="533400" y="0"/>
            <a:ext cx="8229600" cy="609600"/>
          </a:xfrm>
          <a:prstGeom prst="rect">
            <a:avLst/>
          </a:prstGeom>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0" cap="none" spc="0" normalizeH="0" baseline="0" noProof="0" smtClean="0">
                <a:ln>
                  <a:noFill/>
                </a:ln>
                <a:solidFill>
                  <a:schemeClr val="tx1"/>
                </a:solidFill>
                <a:effectLst/>
                <a:uLnTx/>
                <a:uFillTx/>
                <a:latin typeface="+mj-lt"/>
                <a:ea typeface="+mj-ea"/>
                <a:cs typeface="+mj-cs"/>
              </a:rPr>
              <a:t>Sampling</a:t>
            </a:r>
            <a:endParaRPr kumimoji="0" lang="en-US" sz="3200" b="1" i="0" u="none" strike="noStrike" kern="0" cap="none" spc="0" normalizeH="0" baseline="0" noProof="0" dirty="0">
              <a:ln>
                <a:noFill/>
              </a:ln>
              <a:solidFill>
                <a:schemeClr val="tx1"/>
              </a:solidFill>
              <a:effectLst/>
              <a:uLnTx/>
              <a:uFillTx/>
              <a:latin typeface="+mj-lt"/>
              <a:ea typeface="+mj-ea"/>
              <a:cs typeface="+mj-cs"/>
            </a:endParaRPr>
          </a:p>
        </p:txBody>
      </p:sp>
      <p:sp>
        <p:nvSpPr>
          <p:cNvPr id="6" name="Date Placeholder 5"/>
          <p:cNvSpPr>
            <a:spLocks noGrp="1"/>
          </p:cNvSpPr>
          <p:nvPr>
            <p:ph type="dt" sz="half" idx="10"/>
          </p:nvPr>
        </p:nvSpPr>
        <p:spPr/>
        <p:txBody>
          <a:bodyPr/>
          <a:lstStyle/>
          <a:p>
            <a:r>
              <a:rPr lang="en-US" smtClean="0"/>
              <a:t>Prof. A. K. Datta     University of Calcutta</a:t>
            </a:r>
            <a:endParaRPr lang="en-IN" dirty="0"/>
          </a:p>
        </p:txBody>
      </p:sp>
      <p:sp>
        <p:nvSpPr>
          <p:cNvPr id="7" name="Slide Number Placeholder 6"/>
          <p:cNvSpPr>
            <a:spLocks noGrp="1"/>
          </p:cNvSpPr>
          <p:nvPr>
            <p:ph type="sldNum" sz="quarter" idx="11"/>
          </p:nvPr>
        </p:nvSpPr>
        <p:spPr/>
        <p:txBody>
          <a:bodyPr/>
          <a:lstStyle/>
          <a:p>
            <a:fld id="{BF2D74FB-8EB9-4DEE-8258-980F8375AF4A}" type="slidenum">
              <a:rPr lang="en-IN" smtClean="0"/>
              <a:pPr/>
              <a:t>37</a:t>
            </a:fld>
            <a:endParaRPr lang="en-IN" dirty="0"/>
          </a:p>
        </p:txBody>
      </p:sp>
      <p:sp>
        <p:nvSpPr>
          <p:cNvPr id="8" name="Footer Placeholder 7"/>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1AE422F-92F3-49F9-8A75-1F0BCCEFF361}" type="datetime1">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Rectangle 3"/>
          <p:cNvSpPr txBox="1">
            <a:spLocks noChangeArrowheads="1"/>
          </p:cNvSpPr>
          <p:nvPr/>
        </p:nvSpPr>
        <p:spPr>
          <a:xfrm>
            <a:off x="290593" y="762000"/>
            <a:ext cx="8229600" cy="28194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24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Key Sampling issues are: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i="0" u="none" strike="noStrike" kern="1200" cap="none" spc="0" normalizeH="0" baseline="0" noProof="0" dirty="0" smtClean="0">
                <a:ln>
                  <a:noFill/>
                </a:ln>
                <a:solidFill>
                  <a:srgbClr val="000066"/>
                </a:solidFill>
                <a:effectLst/>
                <a:uLnTx/>
                <a:uFillTx/>
                <a:latin typeface="Times New Roman" pitchFamily="18" charset="0"/>
                <a:cs typeface="Times New Roman" pitchFamily="18" charset="0"/>
              </a:rPr>
              <a:t>Sample Design</a:t>
            </a:r>
            <a:r>
              <a:rPr kumimoji="0" lang="en-US" sz="24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(Planning)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i="0" u="none" strike="noStrike" kern="1200" cap="none" spc="0" normalizeH="0" baseline="0" noProof="0" dirty="0" smtClean="0">
                <a:ln>
                  <a:noFill/>
                </a:ln>
                <a:solidFill>
                  <a:srgbClr val="000066"/>
                </a:solidFill>
                <a:effectLst/>
                <a:uLnTx/>
                <a:uFillTx/>
                <a:latin typeface="Times New Roman" pitchFamily="18" charset="0"/>
                <a:cs typeface="Times New Roman" pitchFamily="18" charset="0"/>
              </a:rPr>
              <a:t>Sampling Methods</a:t>
            </a:r>
            <a:r>
              <a:rPr kumimoji="0" lang="en-US" sz="24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(Schemes)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i="0" u="none" strike="noStrike" kern="1200" cap="none" spc="0" normalizeH="0" baseline="0" noProof="0" dirty="0" smtClean="0">
                <a:ln>
                  <a:noFill/>
                </a:ln>
                <a:solidFill>
                  <a:srgbClr val="000066"/>
                </a:solidFill>
                <a:effectLst/>
                <a:uLnTx/>
                <a:uFillTx/>
                <a:latin typeface="Times New Roman" pitchFamily="18" charset="0"/>
                <a:cs typeface="Times New Roman" pitchFamily="18" charset="0"/>
              </a:rPr>
              <a:t>Sampling Error</a:t>
            </a:r>
            <a:endParaRPr kumimoji="0" lang="en-US" sz="24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i="0" u="none" strike="noStrike" kern="1200" cap="none" spc="0" normalizeH="0" baseline="0" noProof="0" dirty="0" smtClean="0">
                <a:ln>
                  <a:noFill/>
                </a:ln>
                <a:solidFill>
                  <a:srgbClr val="000066"/>
                </a:solidFill>
                <a:effectLst/>
                <a:uLnTx/>
                <a:uFillTx/>
                <a:latin typeface="Times New Roman" pitchFamily="18" charset="0"/>
                <a:cs typeface="Times New Roman" pitchFamily="18" charset="0"/>
              </a:rPr>
              <a:t>Sample Size Determination</a:t>
            </a:r>
            <a:r>
              <a:rPr kumimoji="0" lang="en-US" sz="24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400" dirty="0" smtClean="0">
                <a:latin typeface="Times New Roman" pitchFamily="18" charset="0"/>
                <a:cs typeface="Times New Roman" pitchFamily="18" charset="0"/>
              </a:rPr>
              <a:t>Confidence level and significance level.</a:t>
            </a:r>
            <a:endParaRPr kumimoji="0" lang="en-US" sz="240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8" name="Rectangle 3075"/>
          <p:cNvSpPr txBox="1">
            <a:spLocks noChangeArrowheads="1"/>
          </p:cNvSpPr>
          <p:nvPr/>
        </p:nvSpPr>
        <p:spPr>
          <a:xfrm>
            <a:off x="319007" y="3573651"/>
            <a:ext cx="8229600" cy="2750949"/>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buFontTx/>
              <a:buNone/>
            </a:pPr>
            <a:r>
              <a:rPr lang="en-US" b="1" dirty="0" smtClean="0">
                <a:solidFill>
                  <a:srgbClr val="000066"/>
                </a:solidFill>
                <a:latin typeface="Times New Roman" pitchFamily="18" charset="0"/>
                <a:cs typeface="Times New Roman" pitchFamily="18" charset="0"/>
              </a:rPr>
              <a:t>Sample Design</a:t>
            </a:r>
            <a:r>
              <a:rPr lang="en-US" dirty="0" smtClean="0">
                <a:latin typeface="Times New Roman" pitchFamily="18" charset="0"/>
                <a:cs typeface="Times New Roman" pitchFamily="18" charset="0"/>
              </a:rPr>
              <a:t> (Sample Planning) describes:</a:t>
            </a:r>
          </a:p>
          <a:p>
            <a:r>
              <a:rPr lang="en-US" dirty="0" smtClean="0">
                <a:latin typeface="Times New Roman" pitchFamily="18" charset="0"/>
                <a:cs typeface="Times New Roman" pitchFamily="18" charset="0"/>
              </a:rPr>
              <a:t>Objective of Sampling</a:t>
            </a:r>
          </a:p>
          <a:p>
            <a:r>
              <a:rPr lang="en-US" dirty="0" smtClean="0">
                <a:latin typeface="Times New Roman" pitchFamily="18" charset="0"/>
                <a:cs typeface="Times New Roman" pitchFamily="18" charset="0"/>
              </a:rPr>
              <a:t>Target Population</a:t>
            </a:r>
          </a:p>
          <a:p>
            <a:r>
              <a:rPr lang="en-US" dirty="0" smtClean="0">
                <a:latin typeface="Times New Roman" pitchFamily="18" charset="0"/>
                <a:cs typeface="Times New Roman" pitchFamily="18" charset="0"/>
              </a:rPr>
              <a:t>Population Frame</a:t>
            </a:r>
          </a:p>
          <a:p>
            <a:r>
              <a:rPr lang="en-US" dirty="0" smtClean="0">
                <a:latin typeface="Times New Roman" pitchFamily="18" charset="0"/>
                <a:cs typeface="Times New Roman" pitchFamily="18" charset="0"/>
              </a:rPr>
              <a:t>Method of Sampling</a:t>
            </a:r>
          </a:p>
          <a:p>
            <a:r>
              <a:rPr lang="en-US" dirty="0" smtClean="0">
                <a:latin typeface="Times New Roman" pitchFamily="18" charset="0"/>
                <a:cs typeface="Times New Roman" pitchFamily="18" charset="0"/>
              </a:rPr>
              <a:t>Statistical tools for Data Analysis</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114718490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457200" y="0"/>
            <a:ext cx="8229600" cy="609600"/>
          </a:xfrm>
          <a:ln/>
        </p:spPr>
        <p:txBody>
          <a:bodyPr/>
          <a:lstStyle/>
          <a:p>
            <a:r>
              <a:rPr lang="en-US" sz="3200" dirty="0"/>
              <a:t>Sampling Statistics</a:t>
            </a:r>
          </a:p>
        </p:txBody>
      </p:sp>
      <p:sp>
        <p:nvSpPr>
          <p:cNvPr id="145411" name="Rectangle 3"/>
          <p:cNvSpPr>
            <a:spLocks noGrp="1" noChangeArrowheads="1"/>
          </p:cNvSpPr>
          <p:nvPr>
            <p:ph type="body" idx="1"/>
          </p:nvPr>
        </p:nvSpPr>
        <p:spPr>
          <a:xfrm>
            <a:off x="304800" y="2301041"/>
            <a:ext cx="8534400" cy="2728160"/>
          </a:xfrm>
        </p:spPr>
        <p:txBody>
          <a:bodyPr/>
          <a:lstStyle/>
          <a:p>
            <a:pPr marL="0" indent="293688">
              <a:buFontTx/>
              <a:buNone/>
            </a:pPr>
            <a:r>
              <a:rPr lang="en-US" sz="2400" dirty="0">
                <a:latin typeface="Times New Roman" pitchFamily="18" charset="0"/>
                <a:cs typeface="Times New Roman" pitchFamily="18" charset="0"/>
              </a:rPr>
              <a:t>Sampling statistics are statistics that are based on values that are created by repeated sampling from a population,</a:t>
            </a:r>
          </a:p>
          <a:p>
            <a:pPr marL="0" indent="293688">
              <a:buFontTx/>
              <a:buNone/>
            </a:pPr>
            <a:r>
              <a:rPr lang="en-US" sz="2400" dirty="0">
                <a:latin typeface="Times New Roman" pitchFamily="18" charset="0"/>
                <a:cs typeface="Times New Roman" pitchFamily="18" charset="0"/>
              </a:rPr>
              <a:t>such as:</a:t>
            </a:r>
          </a:p>
          <a:p>
            <a:pPr marL="0" indent="293688"/>
            <a:r>
              <a:rPr lang="en-US" sz="2400" dirty="0">
                <a:latin typeface="Times New Roman" pitchFamily="18" charset="0"/>
                <a:cs typeface="Times New Roman" pitchFamily="18" charset="0"/>
              </a:rPr>
              <a:t>Mean of the sampling means</a:t>
            </a:r>
          </a:p>
          <a:p>
            <a:pPr marL="0" indent="293688"/>
            <a:r>
              <a:rPr lang="en-US" sz="2400" dirty="0">
                <a:latin typeface="Times New Roman" pitchFamily="18" charset="0"/>
                <a:cs typeface="Times New Roman" pitchFamily="18" charset="0"/>
              </a:rPr>
              <a:t>Standard Error of the sampling mean</a:t>
            </a:r>
          </a:p>
          <a:p>
            <a:pPr marL="0" indent="293688"/>
            <a:r>
              <a:rPr lang="en-US" sz="2400" dirty="0">
                <a:latin typeface="Times New Roman" pitchFamily="18" charset="0"/>
                <a:cs typeface="Times New Roman" pitchFamily="18" charset="0"/>
              </a:rPr>
              <a:t>Sampling distribution of the means</a:t>
            </a:r>
          </a:p>
        </p:txBody>
      </p:sp>
      <p:sp>
        <p:nvSpPr>
          <p:cNvPr id="2" name="Rectangle 1"/>
          <p:cNvSpPr/>
          <p:nvPr/>
        </p:nvSpPr>
        <p:spPr>
          <a:xfrm>
            <a:off x="304800" y="797511"/>
            <a:ext cx="8686800" cy="1200329"/>
          </a:xfrm>
          <a:prstGeom prst="rect">
            <a:avLst/>
          </a:prstGeom>
        </p:spPr>
        <p:txBody>
          <a:bodyPr wrap="square">
            <a:spAutoFit/>
          </a:bodyPr>
          <a:lstStyle/>
          <a:p>
            <a:r>
              <a:rPr lang="en-US" sz="2400" dirty="0">
                <a:latin typeface="+mj-lt"/>
              </a:rPr>
              <a:t>Sampling definition: Sampling is a technique of selecting individual members or a subset of the population to make statistical inferences from them and estimate characteristics of the whole population.</a:t>
            </a:r>
          </a:p>
        </p:txBody>
      </p:sp>
    </p:spTree>
    <p:extLst>
      <p:ext uri="{BB962C8B-B14F-4D97-AF65-F5344CB8AC3E}">
        <p14:creationId xmlns="" xmlns:p14="http://schemas.microsoft.com/office/powerpoint/2010/main" val="103827952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241300" y="685800"/>
            <a:ext cx="8902700" cy="5486400"/>
          </a:xfrm>
          <a:prstGeom prst="rect">
            <a:avLst/>
          </a:prstGeom>
        </p:spPr>
        <p:txBody>
          <a:bodyPr/>
          <a:lstStyle/>
          <a:p>
            <a:pPr marL="342900" marR="0" lvl="0" indent="-342900" algn="l" defTabSz="914400" rtl="0" eaLnBrk="0" fontAlgn="base" latinLnBrk="0" hangingPunct="0">
              <a:lnSpc>
                <a:spcPct val="100000"/>
              </a:lnSpc>
              <a:spcBef>
                <a:spcPts val="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When referring to the number of observations in a </a:t>
            </a:r>
            <a:r>
              <a:rPr kumimoji="0" lang="en-US" sz="2400" b="1" i="1" u="none" strike="noStrike" kern="0" cap="none" spc="0" normalizeH="0" baseline="0" noProof="0" dirty="0" smtClean="0">
                <a:ln>
                  <a:noFill/>
                </a:ln>
                <a:solidFill>
                  <a:schemeClr val="tx1"/>
                </a:solidFill>
                <a:effectLst/>
                <a:uLnTx/>
                <a:uFillTx/>
                <a:latin typeface="+mn-lt"/>
                <a:ea typeface="+mn-ea"/>
                <a:cs typeface="+mn-cs"/>
              </a:rPr>
              <a:t>population</a:t>
            </a:r>
            <a:r>
              <a:rPr kumimoji="0" lang="en-US" sz="2400" b="0" i="0" u="none" strike="noStrike" kern="0" cap="none" spc="0" normalizeH="0" baseline="0" noProof="0" dirty="0" smtClean="0">
                <a:ln>
                  <a:noFill/>
                </a:ln>
                <a:solidFill>
                  <a:schemeClr val="tx1"/>
                </a:solidFill>
                <a:effectLst/>
                <a:uLnTx/>
                <a:uFillTx/>
                <a:latin typeface="+mn-lt"/>
                <a:ea typeface="+mn-ea"/>
                <a:cs typeface="+mn-cs"/>
              </a:rPr>
              <a:t>, we use uppercase letter </a:t>
            </a:r>
            <a:r>
              <a:rPr kumimoji="0" lang="en-US" sz="2400" i="1" u="none" strike="noStrike" kern="0" cap="none" spc="0" normalizeH="0" baseline="0" noProof="0" dirty="0" smtClean="0">
                <a:ln>
                  <a:noFill/>
                </a:ln>
                <a:solidFill>
                  <a:schemeClr val="tx1"/>
                </a:solidFill>
                <a:effectLst/>
                <a:uLnTx/>
                <a:uFillTx/>
                <a:latin typeface="+mn-lt"/>
                <a:ea typeface="+mn-ea"/>
                <a:cs typeface="+mn-cs"/>
              </a:rPr>
              <a:t>N</a:t>
            </a:r>
          </a:p>
          <a:p>
            <a:pPr marL="342900" marR="0" lvl="0" indent="-342900" algn="l" defTabSz="914400" rtl="0" eaLnBrk="0" fontAlgn="base" latinLnBrk="0" hangingPunct="0">
              <a:lnSpc>
                <a:spcPct val="100000"/>
              </a:lnSpc>
              <a:spcBef>
                <a:spcPts val="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When referring to the number of observations in a  </a:t>
            </a:r>
            <a:r>
              <a:rPr kumimoji="0" lang="en-US" sz="2400" b="1" i="1" u="none" strike="noStrike" kern="0" cap="none" spc="0" normalizeH="0" baseline="0" noProof="0" dirty="0" smtClean="0">
                <a:ln>
                  <a:noFill/>
                </a:ln>
                <a:solidFill>
                  <a:schemeClr val="tx1"/>
                </a:solidFill>
                <a:effectLst/>
                <a:uLnTx/>
                <a:uFillTx/>
                <a:latin typeface="+mn-lt"/>
                <a:ea typeface="+mn-ea"/>
                <a:cs typeface="+mn-cs"/>
              </a:rPr>
              <a:t>sample</a:t>
            </a:r>
            <a:r>
              <a:rPr kumimoji="0" lang="en-US" sz="2400" b="0" i="0" u="none" strike="noStrike" kern="0" cap="none" spc="0" normalizeH="0" baseline="0" noProof="0" dirty="0" smtClean="0">
                <a:ln>
                  <a:noFill/>
                </a:ln>
                <a:solidFill>
                  <a:schemeClr val="tx1"/>
                </a:solidFill>
                <a:effectLst/>
                <a:uLnTx/>
                <a:uFillTx/>
                <a:latin typeface="+mn-lt"/>
                <a:ea typeface="+mn-ea"/>
                <a:cs typeface="+mn-cs"/>
              </a:rPr>
              <a:t>, we use lower case letter </a:t>
            </a:r>
            <a:r>
              <a:rPr kumimoji="0" lang="en-US" sz="2400" i="1" u="none" strike="noStrike" kern="0" cap="none" spc="0" normalizeH="0" baseline="0" noProof="0" dirty="0" smtClean="0">
                <a:ln>
                  <a:noFill/>
                </a:ln>
                <a:solidFill>
                  <a:schemeClr val="tx1"/>
                </a:solidFill>
                <a:effectLst/>
                <a:uLnTx/>
                <a:uFillTx/>
                <a:latin typeface="+mn-lt"/>
                <a:ea typeface="+mn-ea"/>
                <a:cs typeface="+mn-cs"/>
              </a:rPr>
              <a:t>n</a:t>
            </a:r>
          </a:p>
          <a:p>
            <a:pPr marL="342900" marR="0" lvl="0" indent="-342900" algn="l" defTabSz="914400" rtl="0" eaLnBrk="0" fontAlgn="base" latinLnBrk="0" hangingPunct="0">
              <a:lnSpc>
                <a:spcPct val="100000"/>
              </a:lnSpc>
              <a:spcBef>
                <a:spcPts val="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The arithmetic mean for a </a:t>
            </a:r>
            <a:r>
              <a:rPr kumimoji="0" lang="en-US" sz="2400" b="1" i="1" u="none" strike="noStrike" kern="0" cap="none" spc="0" normalizeH="0" baseline="0" noProof="0" dirty="0" smtClean="0">
                <a:ln>
                  <a:noFill/>
                </a:ln>
                <a:solidFill>
                  <a:schemeClr val="tx1"/>
                </a:solidFill>
                <a:effectLst/>
                <a:uLnTx/>
                <a:uFillTx/>
                <a:latin typeface="+mn-lt"/>
                <a:ea typeface="+mn-ea"/>
                <a:cs typeface="+mn-cs"/>
              </a:rPr>
              <a:t>population</a:t>
            </a:r>
            <a:r>
              <a:rPr kumimoji="0" lang="en-US" sz="2400" b="0" i="0" u="none" strike="noStrike" kern="0" cap="none" spc="0" normalizeH="0" baseline="0" noProof="0" dirty="0" smtClean="0">
                <a:ln>
                  <a:noFill/>
                </a:ln>
                <a:solidFill>
                  <a:schemeClr val="tx1"/>
                </a:solidFill>
                <a:effectLst/>
                <a:uLnTx/>
                <a:uFillTx/>
                <a:latin typeface="+mn-lt"/>
                <a:ea typeface="+mn-ea"/>
                <a:cs typeface="+mn-cs"/>
              </a:rPr>
              <a:t> is denoted with Greek letter “mu”: </a:t>
            </a:r>
          </a:p>
          <a:p>
            <a:pPr marL="342900" marR="0" lvl="0" indent="-342900" algn="l" defTabSz="914400" rtl="0" eaLnBrk="0" fontAlgn="base" latinLnBrk="0" hangingPunct="0">
              <a:lnSpc>
                <a:spcPct val="100000"/>
              </a:lnSpc>
              <a:spcBef>
                <a:spcPts val="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The arithmetic mean for a </a:t>
            </a:r>
            <a:r>
              <a:rPr kumimoji="0" lang="en-US" sz="2400" b="1" i="1" u="none" strike="noStrike" kern="0" cap="none" spc="0" normalizeH="0" baseline="0" noProof="0" dirty="0" smtClean="0">
                <a:ln>
                  <a:noFill/>
                </a:ln>
                <a:solidFill>
                  <a:schemeClr val="tx1"/>
                </a:solidFill>
                <a:effectLst/>
                <a:uLnTx/>
                <a:uFillTx/>
                <a:latin typeface="+mn-lt"/>
                <a:ea typeface="+mn-ea"/>
                <a:cs typeface="+mn-cs"/>
              </a:rPr>
              <a:t>sample</a:t>
            </a:r>
            <a:r>
              <a:rPr kumimoji="0" lang="en-US" sz="2400" b="0" i="0" u="none" strike="noStrike" kern="0" cap="none" spc="0" normalizeH="0" baseline="0" noProof="0" dirty="0" smtClean="0">
                <a:ln>
                  <a:noFill/>
                </a:ln>
                <a:solidFill>
                  <a:schemeClr val="tx1"/>
                </a:solidFill>
                <a:effectLst/>
                <a:uLnTx/>
                <a:uFillTx/>
                <a:latin typeface="+mn-lt"/>
                <a:ea typeface="+mn-ea"/>
                <a:cs typeface="+mn-cs"/>
              </a:rPr>
              <a:t> is denoted with an        “x-bar”:</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pic>
        <p:nvPicPr>
          <p:cNvPr id="6" name="Picture 7"/>
          <p:cNvPicPr>
            <a:picLocks noChangeAspect="1" noChangeArrowheads="1"/>
          </p:cNvPicPr>
          <p:nvPr/>
        </p:nvPicPr>
        <p:blipFill>
          <a:blip r:embed="rId2"/>
          <a:srcRect/>
          <a:stretch>
            <a:fillRect/>
          </a:stretch>
        </p:blipFill>
        <p:spPr bwMode="auto">
          <a:xfrm>
            <a:off x="1371600" y="2590800"/>
            <a:ext cx="343738" cy="381000"/>
          </a:xfrm>
          <a:prstGeom prst="rect">
            <a:avLst/>
          </a:prstGeom>
          <a:noFill/>
        </p:spPr>
      </p:pic>
      <p:pic>
        <p:nvPicPr>
          <p:cNvPr id="7" name="Picture 6"/>
          <p:cNvPicPr>
            <a:picLocks noChangeAspect="1" noChangeArrowheads="1"/>
          </p:cNvPicPr>
          <p:nvPr/>
        </p:nvPicPr>
        <p:blipFill>
          <a:blip r:embed="rId3"/>
          <a:srcRect/>
          <a:stretch>
            <a:fillRect/>
          </a:stretch>
        </p:blipFill>
        <p:spPr bwMode="auto">
          <a:xfrm>
            <a:off x="7162800" y="2971800"/>
            <a:ext cx="351832" cy="381000"/>
          </a:xfrm>
          <a:prstGeom prst="rect">
            <a:avLst/>
          </a:prstGeom>
          <a:noFill/>
        </p:spPr>
      </p:pic>
      <p:grpSp>
        <p:nvGrpSpPr>
          <p:cNvPr id="8" name="Group 7"/>
          <p:cNvGrpSpPr/>
          <p:nvPr/>
        </p:nvGrpSpPr>
        <p:grpSpPr>
          <a:xfrm>
            <a:off x="457200" y="3733800"/>
            <a:ext cx="1676400" cy="2057400"/>
            <a:chOff x="533400" y="1981200"/>
            <a:chExt cx="2628900" cy="3352800"/>
          </a:xfrm>
        </p:grpSpPr>
        <p:sp>
          <p:nvSpPr>
            <p:cNvPr id="9" name="Rectangle 9"/>
            <p:cNvSpPr>
              <a:spLocks noChangeArrowheads="1"/>
            </p:cNvSpPr>
            <p:nvPr/>
          </p:nvSpPr>
          <p:spPr bwMode="auto">
            <a:xfrm>
              <a:off x="762000" y="4876800"/>
              <a:ext cx="2273300" cy="457200"/>
            </a:xfrm>
            <a:prstGeom prst="rect">
              <a:avLst/>
            </a:prstGeom>
            <a:noFill/>
            <a:ln w="9525">
              <a:noFill/>
              <a:miter lim="800000"/>
              <a:headEnd/>
              <a:tailEnd/>
            </a:ln>
            <a:effectLst/>
          </p:spPr>
          <p:txBody>
            <a:bodyPr wrap="none" anchor="ctr">
              <a:spAutoFit/>
            </a:bodyPr>
            <a:lstStyle/>
            <a:p>
              <a:pPr eaLnBrk="1" hangingPunct="1">
                <a:spcBef>
                  <a:spcPct val="20000"/>
                </a:spcBef>
              </a:pPr>
              <a:r>
                <a:rPr lang="en-US"/>
                <a:t>Population Mean</a:t>
              </a:r>
            </a:p>
          </p:txBody>
        </p:sp>
        <p:pic>
          <p:nvPicPr>
            <p:cNvPr id="10" name="Picture 11"/>
            <p:cNvPicPr>
              <a:picLocks noChangeAspect="1" noChangeArrowheads="1"/>
            </p:cNvPicPr>
            <p:nvPr/>
          </p:nvPicPr>
          <p:blipFill>
            <a:blip r:embed="rId4"/>
            <a:srcRect/>
            <a:stretch>
              <a:fillRect/>
            </a:stretch>
          </p:blipFill>
          <p:spPr bwMode="auto">
            <a:xfrm>
              <a:off x="609600" y="1981200"/>
              <a:ext cx="2552700" cy="2717800"/>
            </a:xfrm>
            <a:prstGeom prst="rect">
              <a:avLst/>
            </a:prstGeom>
            <a:noFill/>
          </p:spPr>
        </p:pic>
        <p:sp>
          <p:nvSpPr>
            <p:cNvPr id="11" name="Oval 7"/>
            <p:cNvSpPr>
              <a:spLocks noChangeArrowheads="1"/>
            </p:cNvSpPr>
            <p:nvPr/>
          </p:nvSpPr>
          <p:spPr bwMode="auto">
            <a:xfrm rot="1319475">
              <a:off x="533400" y="3581400"/>
              <a:ext cx="2328863" cy="981075"/>
            </a:xfrm>
            <a:prstGeom prst="ellipse">
              <a:avLst/>
            </a:prstGeom>
            <a:solidFill>
              <a:srgbClr val="FFFF00">
                <a:alpha val="30000"/>
              </a:srgbClr>
            </a:solidFill>
            <a:ln w="9525">
              <a:noFill/>
              <a:round/>
              <a:headEnd/>
              <a:tailEnd/>
            </a:ln>
            <a:effectLst/>
          </p:spPr>
          <p:txBody>
            <a:bodyPr wrap="none" anchor="ctr"/>
            <a:lstStyle/>
            <a:p>
              <a:endParaRPr lang="en-US"/>
            </a:p>
          </p:txBody>
        </p:sp>
      </p:grpSp>
      <p:grpSp>
        <p:nvGrpSpPr>
          <p:cNvPr id="12" name="Group 11"/>
          <p:cNvGrpSpPr/>
          <p:nvPr/>
        </p:nvGrpSpPr>
        <p:grpSpPr>
          <a:xfrm>
            <a:off x="2514600" y="4038600"/>
            <a:ext cx="1905000" cy="1676400"/>
            <a:chOff x="5257800" y="2133600"/>
            <a:chExt cx="2971800" cy="3048000"/>
          </a:xfrm>
        </p:grpSpPr>
        <p:sp>
          <p:nvSpPr>
            <p:cNvPr id="13" name="Rectangle 10"/>
            <p:cNvSpPr>
              <a:spLocks noChangeArrowheads="1"/>
            </p:cNvSpPr>
            <p:nvPr/>
          </p:nvSpPr>
          <p:spPr bwMode="auto">
            <a:xfrm>
              <a:off x="6248400" y="4724400"/>
              <a:ext cx="1866900" cy="457200"/>
            </a:xfrm>
            <a:prstGeom prst="rect">
              <a:avLst/>
            </a:prstGeom>
            <a:noFill/>
            <a:ln w="9525">
              <a:noFill/>
              <a:miter lim="800000"/>
              <a:headEnd/>
              <a:tailEnd/>
            </a:ln>
            <a:effectLst/>
          </p:spPr>
          <p:txBody>
            <a:bodyPr wrap="none" anchor="ctr">
              <a:spAutoFit/>
            </a:bodyPr>
            <a:lstStyle/>
            <a:p>
              <a:pPr eaLnBrk="1" hangingPunct="1">
                <a:spcBef>
                  <a:spcPct val="20000"/>
                </a:spcBef>
              </a:pPr>
              <a:r>
                <a:rPr lang="en-US"/>
                <a:t>Sample Mean</a:t>
              </a:r>
            </a:p>
          </p:txBody>
        </p:sp>
        <p:pic>
          <p:nvPicPr>
            <p:cNvPr id="14" name="Picture 12"/>
            <p:cNvPicPr>
              <a:picLocks noChangeAspect="1" noChangeArrowheads="1"/>
            </p:cNvPicPr>
            <p:nvPr/>
          </p:nvPicPr>
          <p:blipFill>
            <a:blip r:embed="rId5"/>
            <a:srcRect/>
            <a:stretch>
              <a:fillRect/>
            </a:stretch>
          </p:blipFill>
          <p:spPr bwMode="auto">
            <a:xfrm>
              <a:off x="5486400" y="2133600"/>
              <a:ext cx="2743200" cy="2565400"/>
            </a:xfrm>
            <a:prstGeom prst="rect">
              <a:avLst/>
            </a:prstGeom>
            <a:noFill/>
          </p:spPr>
        </p:pic>
        <p:sp>
          <p:nvSpPr>
            <p:cNvPr id="15" name="Oval 8"/>
            <p:cNvSpPr>
              <a:spLocks noChangeArrowheads="1"/>
            </p:cNvSpPr>
            <p:nvPr/>
          </p:nvSpPr>
          <p:spPr bwMode="auto">
            <a:xfrm rot="1319475">
              <a:off x="5257800" y="3657600"/>
              <a:ext cx="2514600" cy="990600"/>
            </a:xfrm>
            <a:prstGeom prst="ellipse">
              <a:avLst/>
            </a:prstGeom>
            <a:solidFill>
              <a:srgbClr val="00FF00">
                <a:alpha val="30000"/>
              </a:srgbClr>
            </a:solidFill>
            <a:ln w="9525">
              <a:noFill/>
              <a:round/>
              <a:headEnd/>
              <a:tailEnd/>
            </a:ln>
            <a:effectLst/>
          </p:spPr>
          <p:txBody>
            <a:bodyPr wrap="none" anchor="ctr"/>
            <a:lstStyle/>
            <a:p>
              <a:endParaRPr lang="en-US"/>
            </a:p>
          </p:txBody>
        </p:sp>
      </p:grpSp>
      <p:sp>
        <p:nvSpPr>
          <p:cNvPr id="16" name="Rectangle 15"/>
          <p:cNvSpPr/>
          <p:nvPr/>
        </p:nvSpPr>
        <p:spPr>
          <a:xfrm>
            <a:off x="4876800" y="3733800"/>
            <a:ext cx="4038600" cy="2657138"/>
          </a:xfrm>
          <a:prstGeom prst="rect">
            <a:avLst/>
          </a:prstGeom>
        </p:spPr>
        <p:txBody>
          <a:bodyPr wrap="square">
            <a:spAutoFit/>
          </a:bodyPr>
          <a:lstStyle/>
          <a:p>
            <a:pPr marL="342900" lvl="0" indent="-342900" algn="just">
              <a:lnSpc>
                <a:spcPts val="2500"/>
              </a:lnSpc>
              <a:spcBef>
                <a:spcPts val="0"/>
              </a:spcBef>
              <a:defRPr/>
            </a:pPr>
            <a:r>
              <a:rPr lang="en-US" sz="2000" kern="0" dirty="0" smtClean="0">
                <a:latin typeface="+mj-lt"/>
              </a:rPr>
              <a:t>     …</a:t>
            </a:r>
            <a:r>
              <a:rPr lang="en-US" sz="2400" kern="0" dirty="0" smtClean="0">
                <a:latin typeface="+mj-lt"/>
              </a:rPr>
              <a:t>is seriously affected by extreme values called </a:t>
            </a:r>
            <a:r>
              <a:rPr lang="en-US" sz="2800" b="1" kern="0" dirty="0" smtClean="0">
                <a:solidFill>
                  <a:schemeClr val="accent2">
                    <a:lumMod val="75000"/>
                  </a:schemeClr>
                </a:solidFill>
                <a:latin typeface="+mj-lt"/>
              </a:rPr>
              <a:t>“outliers</a:t>
            </a:r>
            <a:r>
              <a:rPr lang="en-US" sz="2800" b="1" kern="0" dirty="0" smtClean="0">
                <a:solidFill>
                  <a:schemeClr val="accent1">
                    <a:lumMod val="50000"/>
                  </a:schemeClr>
                </a:solidFill>
                <a:latin typeface="+mj-lt"/>
              </a:rPr>
              <a:t>”. </a:t>
            </a:r>
            <a:r>
              <a:rPr lang="en-US" sz="2400" kern="0" dirty="0" smtClean="0">
                <a:latin typeface="+mj-lt"/>
              </a:rPr>
              <a:t>Ex:  As soon as a billionaire moves into a neighborhood, the average household income increases beyond what it was previously!</a:t>
            </a:r>
            <a:endParaRPr lang="en-US" sz="2400" kern="0" dirty="0">
              <a:latin typeface="+mj-lt"/>
            </a:endParaRPr>
          </a:p>
        </p:txBody>
      </p:sp>
      <p:sp>
        <p:nvSpPr>
          <p:cNvPr id="17" name="Date Placeholder 16"/>
          <p:cNvSpPr>
            <a:spLocks noGrp="1"/>
          </p:cNvSpPr>
          <p:nvPr>
            <p:ph type="dt" sz="half" idx="10"/>
          </p:nvPr>
        </p:nvSpPr>
        <p:spPr/>
        <p:txBody>
          <a:bodyPr/>
          <a:lstStyle/>
          <a:p>
            <a:r>
              <a:rPr lang="en-US" smtClean="0"/>
              <a:t>Prof. A. K. Datta     University of Calcutta</a:t>
            </a:r>
            <a:endParaRPr lang="en-IN" dirty="0"/>
          </a:p>
        </p:txBody>
      </p:sp>
      <p:sp>
        <p:nvSpPr>
          <p:cNvPr id="18" name="Slide Number Placeholder 17"/>
          <p:cNvSpPr>
            <a:spLocks noGrp="1"/>
          </p:cNvSpPr>
          <p:nvPr>
            <p:ph type="sldNum" sz="quarter" idx="11"/>
          </p:nvPr>
        </p:nvSpPr>
        <p:spPr/>
        <p:txBody>
          <a:bodyPr/>
          <a:lstStyle/>
          <a:p>
            <a:fld id="{BF2D74FB-8EB9-4DEE-8258-980F8375AF4A}" type="slidenum">
              <a:rPr lang="en-IN" smtClean="0"/>
              <a:pPr/>
              <a:t>40</a:t>
            </a:fld>
            <a:endParaRPr lang="en-IN" dirty="0"/>
          </a:p>
        </p:txBody>
      </p:sp>
      <p:sp>
        <p:nvSpPr>
          <p:cNvPr id="19" name="Footer Placeholder 18"/>
          <p:cNvSpPr>
            <a:spLocks noGrp="1"/>
          </p:cNvSpPr>
          <p:nvPr>
            <p:ph type="ftr" sz="quarter" idx="12"/>
          </p:nvPr>
        </p:nvSpPr>
        <p:spPr/>
        <p:txBody>
          <a:bodyPr/>
          <a:lstStyle/>
          <a:p>
            <a:r>
              <a:rPr lang="en-IN" smtClean="0"/>
              <a:t>Ph.D Course Work on Research Methodology</a:t>
            </a:r>
            <a:endParaRPr lang="en-IN" dirty="0"/>
          </a:p>
        </p:txBody>
      </p:sp>
      <p:sp>
        <p:nvSpPr>
          <p:cNvPr id="20" name="TextBox 19"/>
          <p:cNvSpPr txBox="1"/>
          <p:nvPr/>
        </p:nvSpPr>
        <p:spPr>
          <a:xfrm>
            <a:off x="1981200" y="0"/>
            <a:ext cx="4953000" cy="523220"/>
          </a:xfrm>
          <a:prstGeom prst="rect">
            <a:avLst/>
          </a:prstGeom>
          <a:noFill/>
        </p:spPr>
        <p:txBody>
          <a:bodyPr wrap="square" rtlCol="0">
            <a:spAutoFit/>
          </a:bodyPr>
          <a:lstStyle/>
          <a:p>
            <a:pPr algn="ctr"/>
            <a:r>
              <a:rPr lang="en-US" sz="2800" dirty="0" smtClean="0">
                <a:latin typeface="+mj-lt"/>
              </a:rPr>
              <a:t>Sample mean</a:t>
            </a:r>
            <a:endParaRPr lang="en-GB" sz="2800" dirty="0">
              <a:latin typeface="+mj-lt"/>
            </a:endParaRPr>
          </a:p>
        </p:txBody>
      </p:sp>
    </p:spTree>
    <p:extLst>
      <p:ext uri="{BB962C8B-B14F-4D97-AF65-F5344CB8AC3E}">
        <p14:creationId xmlns="" xmlns:p14="http://schemas.microsoft.com/office/powerpoint/2010/main" val="305859888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09600" y="5166"/>
            <a:ext cx="8001000" cy="1216025"/>
          </a:xfrm>
        </p:spPr>
        <p:txBody>
          <a:bodyPr/>
          <a:lstStyle/>
          <a:p>
            <a:r>
              <a:rPr lang="en-US" sz="3200" b="0" dirty="0"/>
              <a:t>What is an outlier?</a:t>
            </a:r>
          </a:p>
        </p:txBody>
      </p:sp>
      <p:sp>
        <p:nvSpPr>
          <p:cNvPr id="17411" name="Rectangle 3"/>
          <p:cNvSpPr>
            <a:spLocks noGrp="1" noChangeArrowheads="1"/>
          </p:cNvSpPr>
          <p:nvPr>
            <p:ph type="body" sz="half" idx="1"/>
          </p:nvPr>
        </p:nvSpPr>
        <p:spPr>
          <a:xfrm>
            <a:off x="457200" y="1143000"/>
            <a:ext cx="3924300" cy="4267200"/>
          </a:xfrm>
        </p:spPr>
        <p:txBody>
          <a:bodyPr/>
          <a:lstStyle/>
          <a:p>
            <a:pPr>
              <a:lnSpc>
                <a:spcPct val="90000"/>
              </a:lnSpc>
            </a:pPr>
            <a:r>
              <a:rPr lang="en-US" sz="2400" dirty="0"/>
              <a:t>Observations inconsistent with rest of the dataset – Global Outlier</a:t>
            </a:r>
          </a:p>
          <a:p>
            <a:pPr>
              <a:lnSpc>
                <a:spcPct val="90000"/>
              </a:lnSpc>
              <a:buFont typeface="Wingdings" pitchFamily="2" charset="2"/>
              <a:buNone/>
            </a:pPr>
            <a:endParaRPr lang="en-US" sz="2400" dirty="0"/>
          </a:p>
          <a:p>
            <a:pPr>
              <a:lnSpc>
                <a:spcPct val="90000"/>
              </a:lnSpc>
            </a:pPr>
            <a:r>
              <a:rPr lang="en-US" sz="2800" dirty="0"/>
              <a:t>Special outliers – Local Outlier</a:t>
            </a:r>
          </a:p>
          <a:p>
            <a:pPr lvl="1">
              <a:lnSpc>
                <a:spcPct val="90000"/>
              </a:lnSpc>
            </a:pPr>
            <a:r>
              <a:rPr lang="en-US" sz="2400" dirty="0"/>
              <a:t>Observations inconsistent with their neighborhoods</a:t>
            </a:r>
          </a:p>
          <a:p>
            <a:pPr lvl="1">
              <a:lnSpc>
                <a:spcPct val="90000"/>
              </a:lnSpc>
            </a:pPr>
            <a:r>
              <a:rPr lang="en-US" sz="2400" dirty="0"/>
              <a:t>A local instability or discontinuity</a:t>
            </a:r>
          </a:p>
          <a:p>
            <a:pPr lvl="1">
              <a:lnSpc>
                <a:spcPct val="90000"/>
              </a:lnSpc>
            </a:pPr>
            <a:endParaRPr lang="en-US" sz="2000" dirty="0"/>
          </a:p>
          <a:p>
            <a:pPr>
              <a:lnSpc>
                <a:spcPct val="90000"/>
              </a:lnSpc>
            </a:pPr>
            <a:endParaRPr lang="en-US" sz="2400" dirty="0"/>
          </a:p>
        </p:txBody>
      </p:sp>
      <p:graphicFrame>
        <p:nvGraphicFramePr>
          <p:cNvPr id="17412" name="Object 4"/>
          <p:cNvGraphicFramePr>
            <a:graphicFrameLocks noGrp="1" noChangeAspect="1"/>
          </p:cNvGraphicFramePr>
          <p:nvPr>
            <p:ph sz="half" idx="2"/>
            <p:extLst>
              <p:ext uri="{D42A27DB-BD31-4B8C-83A1-F6EECF244321}">
                <p14:modId xmlns="" xmlns:p14="http://schemas.microsoft.com/office/powerpoint/2010/main" val="60811972"/>
              </p:ext>
            </p:extLst>
          </p:nvPr>
        </p:nvGraphicFramePr>
        <p:xfrm>
          <a:off x="5029200" y="1676400"/>
          <a:ext cx="3581400" cy="3176588"/>
        </p:xfrm>
        <a:graphic>
          <a:graphicData uri="http://schemas.openxmlformats.org/presentationml/2006/ole">
            <p:oleObj spid="_x0000_s923679" name="Bitmap Image" r:id="rId4" imgW="3038095" imgH="2695951" progId="PBrush">
              <p:embed/>
            </p:oleObj>
          </a:graphicData>
        </a:graphic>
      </p:graphicFrame>
    </p:spTree>
    <p:extLst>
      <p:ext uri="{BB962C8B-B14F-4D97-AF65-F5344CB8AC3E}">
        <p14:creationId xmlns="" xmlns:p14="http://schemas.microsoft.com/office/powerpoint/2010/main" val="123311305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idx="4294967295"/>
          </p:nvPr>
        </p:nvSpPr>
        <p:spPr>
          <a:xfrm>
            <a:off x="762000" y="0"/>
            <a:ext cx="8058150" cy="922338"/>
          </a:xfrm>
          <a:prstGeom prst="rect">
            <a:avLst/>
          </a:prstGeom>
        </p:spPr>
        <p:txBody>
          <a:bodyPr/>
          <a:lstStyle/>
          <a:p>
            <a:pPr eaLnBrk="1" hangingPunct="1"/>
            <a:r>
              <a:rPr lang="en-US" b="0" dirty="0" smtClean="0">
                <a:cs typeface="Arial" pitchFamily="34" charset="0"/>
              </a:rPr>
              <a:t>Dispersion of sampled data : </a:t>
            </a:r>
            <a:br>
              <a:rPr lang="en-US" b="0" dirty="0" smtClean="0">
                <a:cs typeface="Arial" pitchFamily="34" charset="0"/>
              </a:rPr>
            </a:br>
            <a:r>
              <a:rPr lang="en-US" b="0" dirty="0" smtClean="0">
                <a:cs typeface="Arial" pitchFamily="34" charset="0"/>
              </a:rPr>
              <a:t>Standard deviation and Variance  </a:t>
            </a:r>
          </a:p>
        </p:txBody>
      </p:sp>
      <p:sp>
        <p:nvSpPr>
          <p:cNvPr id="14343" name="Text Box 7"/>
          <p:cNvSpPr txBox="1">
            <a:spLocks noChangeArrowheads="1"/>
          </p:cNvSpPr>
          <p:nvPr/>
        </p:nvSpPr>
        <p:spPr bwMode="auto">
          <a:xfrm>
            <a:off x="533400" y="4191000"/>
            <a:ext cx="2705100" cy="457200"/>
          </a:xfrm>
          <a:prstGeom prst="rect">
            <a:avLst/>
          </a:prstGeom>
          <a:noFill/>
          <a:ln w="9525">
            <a:noFill/>
            <a:miter lim="800000"/>
            <a:headEnd/>
            <a:tailEnd/>
          </a:ln>
        </p:spPr>
        <p:txBody>
          <a:bodyPr wrap="none">
            <a:spAutoFit/>
          </a:bodyPr>
          <a:lstStyle/>
          <a:p>
            <a:pPr eaLnBrk="1" hangingPunct="1"/>
            <a:r>
              <a:rPr lang="en-US" sz="2400" dirty="0">
                <a:latin typeface="Times New Roman" pitchFamily="18" charset="0"/>
              </a:rPr>
              <a:t>Degrees of freedom</a:t>
            </a:r>
          </a:p>
        </p:txBody>
      </p:sp>
      <p:sp>
        <p:nvSpPr>
          <p:cNvPr id="1030" name="Rectangle 8"/>
          <p:cNvSpPr>
            <a:spLocks noChangeArrowheads="1"/>
          </p:cNvSpPr>
          <p:nvPr/>
        </p:nvSpPr>
        <p:spPr bwMode="auto">
          <a:xfrm>
            <a:off x="381000" y="5105400"/>
            <a:ext cx="8636000" cy="1200329"/>
          </a:xfrm>
          <a:prstGeom prst="rect">
            <a:avLst/>
          </a:prstGeom>
          <a:noFill/>
          <a:ln w="9525">
            <a:solidFill>
              <a:schemeClr val="tx1"/>
            </a:solidFill>
            <a:miter lim="800000"/>
            <a:headEnd/>
            <a:tailEnd/>
          </a:ln>
        </p:spPr>
        <p:txBody>
          <a:bodyPr anchor="ctr">
            <a:spAutoFit/>
          </a:bodyPr>
          <a:lstStyle/>
          <a:p>
            <a:pPr algn="just" eaLnBrk="1" hangingPunct="1"/>
            <a:r>
              <a:rPr lang="en-US" sz="2400" dirty="0">
                <a:latin typeface="Times New Roman" pitchFamily="18" charset="0"/>
              </a:rPr>
              <a:t>In statistics, the term </a:t>
            </a:r>
            <a:r>
              <a:rPr lang="en-US" sz="2400" b="1" i="1" dirty="0">
                <a:latin typeface="Times New Roman" pitchFamily="18" charset="0"/>
              </a:rPr>
              <a:t>degrees of freedom</a:t>
            </a:r>
            <a:r>
              <a:rPr lang="en-US" sz="2400" b="1" dirty="0">
                <a:latin typeface="Times New Roman" pitchFamily="18" charset="0"/>
              </a:rPr>
              <a:t> (</a:t>
            </a:r>
            <a:r>
              <a:rPr lang="en-US" sz="2400" b="1" dirty="0" err="1">
                <a:latin typeface="Times New Roman" pitchFamily="18" charset="0"/>
              </a:rPr>
              <a:t>df</a:t>
            </a:r>
            <a:r>
              <a:rPr lang="en-US" sz="2400" b="1" dirty="0">
                <a:latin typeface="Times New Roman" pitchFamily="18" charset="0"/>
              </a:rPr>
              <a:t>) is a measure of the number of independent pieces of information on </a:t>
            </a:r>
            <a:r>
              <a:rPr lang="en-US" sz="2400" b="1" dirty="0" smtClean="0">
                <a:latin typeface="Times New Roman" pitchFamily="18" charset="0"/>
              </a:rPr>
              <a:t>which </a:t>
            </a:r>
            <a:r>
              <a:rPr lang="en-US" sz="2400" b="1" dirty="0">
                <a:latin typeface="Times New Roman" pitchFamily="18" charset="0"/>
              </a:rPr>
              <a:t>the precision of a </a:t>
            </a:r>
            <a:r>
              <a:rPr lang="en-US" sz="2400" dirty="0">
                <a:latin typeface="Times New Roman" pitchFamily="18" charset="0"/>
              </a:rPr>
              <a:t>parameter estimate is based</a:t>
            </a:r>
            <a:r>
              <a:rPr lang="en-US" sz="2400" b="1" dirty="0">
                <a:latin typeface="Times New Roman" pitchFamily="18" charset="0"/>
              </a:rPr>
              <a:t>.</a:t>
            </a:r>
          </a:p>
        </p:txBody>
      </p:sp>
      <p:sp>
        <p:nvSpPr>
          <p:cNvPr id="1031" name="Text Box 9"/>
          <p:cNvSpPr txBox="1">
            <a:spLocks noChangeArrowheads="1"/>
          </p:cNvSpPr>
          <p:nvPr/>
        </p:nvSpPr>
        <p:spPr bwMode="auto">
          <a:xfrm>
            <a:off x="304800" y="2743200"/>
            <a:ext cx="2916761" cy="1200329"/>
          </a:xfrm>
          <a:prstGeom prst="rect">
            <a:avLst/>
          </a:prstGeom>
          <a:noFill/>
          <a:ln w="9525">
            <a:noFill/>
            <a:miter lim="800000"/>
            <a:headEnd/>
            <a:tailEnd/>
          </a:ln>
        </p:spPr>
        <p:txBody>
          <a:bodyPr wrap="none">
            <a:spAutoFit/>
          </a:bodyPr>
          <a:lstStyle/>
          <a:p>
            <a:pPr eaLnBrk="1" hangingPunct="1"/>
            <a:r>
              <a:rPr lang="en-US" sz="2400" b="1" dirty="0" smtClean="0">
                <a:latin typeface="Times New Roman" pitchFamily="18" charset="0"/>
              </a:rPr>
              <a:t>Variance of a sample</a:t>
            </a:r>
          </a:p>
          <a:p>
            <a:pPr eaLnBrk="1" hangingPunct="1"/>
            <a:r>
              <a:rPr lang="en-US" sz="2400" dirty="0" smtClean="0">
                <a:latin typeface="Times New Roman" pitchFamily="18" charset="0"/>
              </a:rPr>
              <a:t>Constituted from a </a:t>
            </a:r>
          </a:p>
          <a:p>
            <a:pPr eaLnBrk="1" hangingPunct="1"/>
            <a:r>
              <a:rPr lang="en-US" sz="2400" dirty="0" smtClean="0">
                <a:latin typeface="Times New Roman" pitchFamily="18" charset="0"/>
              </a:rPr>
              <a:t>Population </a:t>
            </a:r>
            <a:endParaRPr lang="en-US" sz="2400" dirty="0">
              <a:latin typeface="Times New Roman" pitchFamily="18" charset="0"/>
            </a:endParaRPr>
          </a:p>
        </p:txBody>
      </p:sp>
      <p:sp>
        <p:nvSpPr>
          <p:cNvPr id="1032" name="Text Box 10"/>
          <p:cNvSpPr txBox="1">
            <a:spLocks noChangeArrowheads="1"/>
          </p:cNvSpPr>
          <p:nvPr/>
        </p:nvSpPr>
        <p:spPr bwMode="auto">
          <a:xfrm>
            <a:off x="304800" y="1905000"/>
            <a:ext cx="3048000" cy="461665"/>
          </a:xfrm>
          <a:prstGeom prst="rect">
            <a:avLst/>
          </a:prstGeom>
          <a:noFill/>
          <a:ln w="9525">
            <a:noFill/>
            <a:miter lim="800000"/>
            <a:headEnd/>
            <a:tailEnd/>
          </a:ln>
        </p:spPr>
        <p:txBody>
          <a:bodyPr wrap="square">
            <a:spAutoFit/>
          </a:bodyPr>
          <a:lstStyle/>
          <a:p>
            <a:pPr eaLnBrk="1" hangingPunct="1"/>
            <a:r>
              <a:rPr lang="en-US" sz="2400" b="1" dirty="0" smtClean="0">
                <a:latin typeface="Times New Roman" pitchFamily="18" charset="0"/>
              </a:rPr>
              <a:t>Standard deviation  </a:t>
            </a:r>
            <a:r>
              <a:rPr lang="en-US" sz="2400" dirty="0" smtClean="0">
                <a:latin typeface="Times New Roman" pitchFamily="18" charset="0"/>
                <a:sym typeface="Symbol"/>
              </a:rPr>
              <a:t></a:t>
            </a:r>
            <a:endParaRPr lang="en-US" sz="2400" dirty="0">
              <a:latin typeface="Times New Roman" pitchFamily="18" charset="0"/>
            </a:endParaRPr>
          </a:p>
        </p:txBody>
      </p:sp>
      <p:sp>
        <p:nvSpPr>
          <p:cNvPr id="14" name="Date Placeholder 13"/>
          <p:cNvSpPr>
            <a:spLocks noGrp="1"/>
          </p:cNvSpPr>
          <p:nvPr>
            <p:ph type="dt" sz="half" idx="10"/>
          </p:nvPr>
        </p:nvSpPr>
        <p:spPr/>
        <p:txBody>
          <a:bodyPr/>
          <a:lstStyle/>
          <a:p>
            <a:r>
              <a:rPr lang="en-US" smtClean="0"/>
              <a:t>Prof. A. K. Datta     University of Calcutta</a:t>
            </a:r>
            <a:endParaRPr lang="en-IN" dirty="0"/>
          </a:p>
        </p:txBody>
      </p:sp>
      <p:sp>
        <p:nvSpPr>
          <p:cNvPr id="15" name="Slide Number Placeholder 14"/>
          <p:cNvSpPr>
            <a:spLocks noGrp="1"/>
          </p:cNvSpPr>
          <p:nvPr>
            <p:ph type="sldNum" sz="quarter" idx="11"/>
          </p:nvPr>
        </p:nvSpPr>
        <p:spPr/>
        <p:txBody>
          <a:bodyPr/>
          <a:lstStyle/>
          <a:p>
            <a:fld id="{BF2D74FB-8EB9-4DEE-8258-980F8375AF4A}" type="slidenum">
              <a:rPr lang="en-IN" smtClean="0"/>
              <a:pPr/>
              <a:t>42</a:t>
            </a:fld>
            <a:endParaRPr lang="en-IN" dirty="0"/>
          </a:p>
        </p:txBody>
      </p:sp>
      <p:sp>
        <p:nvSpPr>
          <p:cNvPr id="16" name="Footer Placeholder 15"/>
          <p:cNvSpPr>
            <a:spLocks noGrp="1"/>
          </p:cNvSpPr>
          <p:nvPr>
            <p:ph type="ftr" sz="quarter" idx="12"/>
          </p:nvPr>
        </p:nvSpPr>
        <p:spPr/>
        <p:txBody>
          <a:bodyPr/>
          <a:lstStyle/>
          <a:p>
            <a:r>
              <a:rPr lang="en-IN" smtClean="0"/>
              <a:t>Ph.D Course Work on Research Methodology</a:t>
            </a:r>
            <a:endParaRPr lang="en-IN" dirty="0"/>
          </a:p>
        </p:txBody>
      </p:sp>
      <p:pic>
        <p:nvPicPr>
          <p:cNvPr id="12" name="Picture 14"/>
          <p:cNvPicPr>
            <a:picLocks noChangeAspect="1" noChangeArrowheads="1"/>
          </p:cNvPicPr>
          <p:nvPr/>
        </p:nvPicPr>
        <p:blipFill>
          <a:blip r:embed="rId3"/>
          <a:srcRect/>
          <a:stretch>
            <a:fillRect/>
          </a:stretch>
        </p:blipFill>
        <p:spPr bwMode="auto">
          <a:xfrm>
            <a:off x="3352800" y="1066800"/>
            <a:ext cx="2590800" cy="914400"/>
          </a:xfrm>
          <a:prstGeom prst="rect">
            <a:avLst/>
          </a:prstGeom>
          <a:noFill/>
        </p:spPr>
      </p:pic>
      <p:sp>
        <p:nvSpPr>
          <p:cNvPr id="13" name="TextBox 12"/>
          <p:cNvSpPr txBox="1"/>
          <p:nvPr/>
        </p:nvSpPr>
        <p:spPr>
          <a:xfrm>
            <a:off x="152400" y="1295400"/>
            <a:ext cx="3200400" cy="461665"/>
          </a:xfrm>
          <a:prstGeom prst="rect">
            <a:avLst/>
          </a:prstGeom>
          <a:noFill/>
        </p:spPr>
        <p:txBody>
          <a:bodyPr wrap="square" rtlCol="0">
            <a:spAutoFit/>
          </a:bodyPr>
          <a:lstStyle/>
          <a:p>
            <a:r>
              <a:rPr lang="en-US" sz="2400" b="1" dirty="0" smtClean="0">
                <a:latin typeface="+mj-lt"/>
              </a:rPr>
              <a:t>Variance of population  </a:t>
            </a:r>
            <a:endParaRPr lang="en-US" sz="2400" b="1" dirty="0">
              <a:latin typeface="+mj-lt"/>
            </a:endParaRPr>
          </a:p>
        </p:txBody>
      </p:sp>
      <p:sp>
        <p:nvSpPr>
          <p:cNvPr id="17" name="TextBox 16"/>
          <p:cNvSpPr txBox="1"/>
          <p:nvPr/>
        </p:nvSpPr>
        <p:spPr>
          <a:xfrm>
            <a:off x="6477000" y="685800"/>
            <a:ext cx="2438400" cy="3046988"/>
          </a:xfrm>
          <a:prstGeom prst="rect">
            <a:avLst/>
          </a:prstGeom>
          <a:noFill/>
        </p:spPr>
        <p:txBody>
          <a:bodyPr wrap="square" rtlCol="0">
            <a:spAutoFit/>
          </a:bodyPr>
          <a:lstStyle/>
          <a:p>
            <a:pPr>
              <a:buFont typeface="Symbol"/>
              <a:buChar char="m"/>
            </a:pPr>
            <a:r>
              <a:rPr lang="en-IN" sz="2400" dirty="0" smtClean="0">
                <a:latin typeface="+mj-lt"/>
                <a:sym typeface="Symbol"/>
              </a:rPr>
              <a:t>= mean of population</a:t>
            </a:r>
          </a:p>
          <a:p>
            <a:r>
              <a:rPr lang="en-IN" sz="2400" b="1" i="1" dirty="0" smtClean="0">
                <a:latin typeface="+mj-lt"/>
                <a:sym typeface="Symbol"/>
              </a:rPr>
              <a:t>N</a:t>
            </a:r>
            <a:r>
              <a:rPr lang="en-IN" sz="2400" dirty="0" smtClean="0">
                <a:latin typeface="+mj-lt"/>
                <a:sym typeface="Symbol"/>
              </a:rPr>
              <a:t> = number of observations in population</a:t>
            </a:r>
          </a:p>
          <a:p>
            <a:r>
              <a:rPr lang="en-IN" sz="2400" b="1" i="1" dirty="0" smtClean="0">
                <a:latin typeface="+mj-lt"/>
                <a:sym typeface="Symbol"/>
              </a:rPr>
              <a:t>n </a:t>
            </a:r>
            <a:r>
              <a:rPr lang="en-IN" sz="2400" dirty="0" smtClean="0">
                <a:latin typeface="+mj-lt"/>
                <a:sym typeface="Symbol"/>
              </a:rPr>
              <a:t>= number of observations in sample</a:t>
            </a:r>
            <a:endParaRPr lang="en-IN" sz="2400" dirty="0">
              <a:latin typeface="+mj-lt"/>
            </a:endParaRPr>
          </a:p>
        </p:txBody>
      </p:sp>
      <p:pic>
        <p:nvPicPr>
          <p:cNvPr id="2" name="Picture 3"/>
          <p:cNvPicPr>
            <a:picLocks noChangeAspect="1" noChangeArrowheads="1"/>
          </p:cNvPicPr>
          <p:nvPr/>
        </p:nvPicPr>
        <p:blipFill>
          <a:blip r:embed="rId4"/>
          <a:srcRect/>
          <a:stretch>
            <a:fillRect/>
          </a:stretch>
        </p:blipFill>
        <p:spPr bwMode="auto">
          <a:xfrm>
            <a:off x="3505200" y="2743200"/>
            <a:ext cx="2857500" cy="1085850"/>
          </a:xfrm>
          <a:prstGeom prst="rect">
            <a:avLst/>
          </a:prstGeom>
          <a:noFill/>
          <a:ln w="9525">
            <a:noFill/>
            <a:miter lim="800000"/>
            <a:headEnd/>
            <a:tailEnd/>
          </a:ln>
          <a:effectLst/>
        </p:spPr>
      </p:pic>
      <p:sp>
        <p:nvSpPr>
          <p:cNvPr id="14342" name="AutoShape 6"/>
          <p:cNvSpPr>
            <a:spLocks noChangeArrowheads="1"/>
          </p:cNvSpPr>
          <p:nvPr/>
        </p:nvSpPr>
        <p:spPr bwMode="auto">
          <a:xfrm flipH="1">
            <a:off x="4114800" y="3276600"/>
            <a:ext cx="1295400" cy="457200"/>
          </a:xfrm>
          <a:prstGeom prst="wedgeEllipseCallout">
            <a:avLst>
              <a:gd name="adj1" fmla="val 181711"/>
              <a:gd name="adj2" fmla="val 140760"/>
            </a:avLst>
          </a:prstGeom>
          <a:noFill/>
          <a:ln w="9525">
            <a:solidFill>
              <a:schemeClr val="tx1"/>
            </a:solidFill>
            <a:miter lim="800000"/>
            <a:headEnd/>
            <a:tailEnd/>
          </a:ln>
        </p:spPr>
        <p:txBody>
          <a:bodyPr/>
          <a:lstStyle/>
          <a:p>
            <a:pPr algn="ctr" eaLnBrk="1" hangingPunct="1"/>
            <a:endParaRPr lang="nl-NL" sz="2400" b="1">
              <a:latin typeface="Times New Roman" pitchFamily="18" charset="0"/>
            </a:endParaRPr>
          </a:p>
        </p:txBody>
      </p:sp>
      <p:sp>
        <p:nvSpPr>
          <p:cNvPr id="18" name="Text Box 10"/>
          <p:cNvSpPr txBox="1">
            <a:spLocks noChangeArrowheads="1"/>
          </p:cNvSpPr>
          <p:nvPr/>
        </p:nvSpPr>
        <p:spPr bwMode="auto">
          <a:xfrm>
            <a:off x="4038600" y="4114800"/>
            <a:ext cx="3200400" cy="523220"/>
          </a:xfrm>
          <a:prstGeom prst="rect">
            <a:avLst/>
          </a:prstGeom>
          <a:noFill/>
          <a:ln w="9525">
            <a:noFill/>
            <a:miter lim="800000"/>
            <a:headEnd/>
            <a:tailEnd/>
          </a:ln>
        </p:spPr>
        <p:txBody>
          <a:bodyPr wrap="square">
            <a:spAutoFit/>
          </a:bodyPr>
          <a:lstStyle/>
          <a:p>
            <a:pPr eaLnBrk="1" hangingPunct="1"/>
            <a:r>
              <a:rPr lang="en-US" sz="2400" b="1" dirty="0" smtClean="0">
                <a:latin typeface="Times New Roman" pitchFamily="18" charset="0"/>
              </a:rPr>
              <a:t>Standard deviation  </a:t>
            </a:r>
            <a:r>
              <a:rPr lang="en-US" sz="2800" b="1" i="1" dirty="0" smtClean="0">
                <a:latin typeface="Times New Roman" pitchFamily="18" charset="0"/>
                <a:sym typeface="Symbol"/>
              </a:rPr>
              <a:t>s</a:t>
            </a:r>
            <a:endParaRPr lang="en-US" sz="2400" b="1" i="1" dirty="0">
              <a:latin typeface="Times New Roman" pitchFamily="18" charset="0"/>
            </a:endParaRPr>
          </a:p>
        </p:txBody>
      </p:sp>
    </p:spTree>
    <p:extLst>
      <p:ext uri="{BB962C8B-B14F-4D97-AF65-F5344CB8AC3E}">
        <p14:creationId xmlns="" xmlns:p14="http://schemas.microsoft.com/office/powerpoint/2010/main" val="1256369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4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p:bldP spid="1030" grpId="0" animBg="1"/>
      <p:bldP spid="1434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76" name="Picture 12"/>
          <p:cNvPicPr>
            <a:picLocks noChangeAspect="1" noChangeArrowheads="1"/>
          </p:cNvPicPr>
          <p:nvPr/>
        </p:nvPicPr>
        <p:blipFill>
          <a:blip r:embed="rId3"/>
          <a:srcRect r="8140"/>
          <a:stretch>
            <a:fillRect/>
          </a:stretch>
        </p:blipFill>
        <p:spPr bwMode="auto">
          <a:xfrm>
            <a:off x="2590800" y="2514600"/>
            <a:ext cx="5372000" cy="612000"/>
          </a:xfrm>
          <a:prstGeom prst="rect">
            <a:avLst/>
          </a:prstGeom>
          <a:noFill/>
        </p:spPr>
      </p:pic>
      <p:sp>
        <p:nvSpPr>
          <p:cNvPr id="36866" name="Rectangle 2"/>
          <p:cNvSpPr>
            <a:spLocks noGrp="1" noChangeArrowheads="1"/>
          </p:cNvSpPr>
          <p:nvPr>
            <p:ph type="title" idx="4294967295"/>
          </p:nvPr>
        </p:nvSpPr>
        <p:spPr>
          <a:xfrm>
            <a:off x="381000" y="0"/>
            <a:ext cx="8763000" cy="609600"/>
          </a:xfrm>
          <a:prstGeom prst="rect">
            <a:avLst/>
          </a:prstGeom>
        </p:spPr>
        <p:txBody>
          <a:bodyPr/>
          <a:lstStyle/>
          <a:p>
            <a:r>
              <a:rPr lang="en-US" dirty="0" smtClean="0"/>
              <a:t>Mean </a:t>
            </a:r>
            <a:r>
              <a:rPr lang="en-US" dirty="0"/>
              <a:t>&amp; </a:t>
            </a:r>
            <a:r>
              <a:rPr lang="en-US" dirty="0" smtClean="0"/>
              <a:t>Variance</a:t>
            </a:r>
            <a:endParaRPr lang="en-US" dirty="0"/>
          </a:p>
        </p:txBody>
      </p:sp>
      <p:sp>
        <p:nvSpPr>
          <p:cNvPr id="36871" name="Line 7"/>
          <p:cNvSpPr>
            <a:spLocks noChangeShapeType="1"/>
          </p:cNvSpPr>
          <p:nvPr/>
        </p:nvSpPr>
        <p:spPr bwMode="auto">
          <a:xfrm>
            <a:off x="0" y="3352800"/>
            <a:ext cx="9144000" cy="0"/>
          </a:xfrm>
          <a:prstGeom prst="line">
            <a:avLst/>
          </a:prstGeom>
          <a:noFill/>
          <a:ln w="38100">
            <a:solidFill>
              <a:srgbClr val="003300"/>
            </a:solidFill>
            <a:round/>
            <a:headEnd/>
            <a:tailEnd/>
          </a:ln>
          <a:effectLst/>
        </p:spPr>
        <p:txBody>
          <a:bodyPr wrap="none" anchor="ctr"/>
          <a:lstStyle/>
          <a:p>
            <a:endParaRPr lang="en-US"/>
          </a:p>
        </p:txBody>
      </p:sp>
      <p:sp>
        <p:nvSpPr>
          <p:cNvPr id="36872" name="Line 8"/>
          <p:cNvSpPr>
            <a:spLocks noChangeShapeType="1"/>
          </p:cNvSpPr>
          <p:nvPr/>
        </p:nvSpPr>
        <p:spPr bwMode="auto">
          <a:xfrm>
            <a:off x="0" y="4800600"/>
            <a:ext cx="9144000" cy="0"/>
          </a:xfrm>
          <a:prstGeom prst="line">
            <a:avLst/>
          </a:prstGeom>
          <a:noFill/>
          <a:ln w="38100">
            <a:solidFill>
              <a:srgbClr val="003300"/>
            </a:solidFill>
            <a:round/>
            <a:headEnd/>
            <a:tailEnd/>
          </a:ln>
          <a:effectLst/>
        </p:spPr>
        <p:txBody>
          <a:bodyPr wrap="none" anchor="ctr"/>
          <a:lstStyle/>
          <a:p>
            <a:endParaRPr lang="en-US"/>
          </a:p>
        </p:txBody>
      </p:sp>
      <p:sp>
        <p:nvSpPr>
          <p:cNvPr id="36873" name="Text Box 9"/>
          <p:cNvSpPr txBox="1">
            <a:spLocks noChangeArrowheads="1"/>
          </p:cNvSpPr>
          <p:nvPr/>
        </p:nvSpPr>
        <p:spPr bwMode="auto">
          <a:xfrm>
            <a:off x="214282" y="2500306"/>
            <a:ext cx="1883849" cy="677108"/>
          </a:xfrm>
          <a:prstGeom prst="rect">
            <a:avLst/>
          </a:prstGeom>
          <a:noFill/>
          <a:ln w="9525">
            <a:noFill/>
            <a:miter lim="800000"/>
            <a:headEnd/>
            <a:tailEnd/>
          </a:ln>
          <a:effectLst/>
        </p:spPr>
        <p:txBody>
          <a:bodyPr wrap="square" anchor="ctr">
            <a:spAutoFit/>
          </a:bodyPr>
          <a:lstStyle/>
          <a:p>
            <a:r>
              <a:rPr lang="en-US" sz="2400" dirty="0">
                <a:solidFill>
                  <a:schemeClr val="accent1">
                    <a:lumMod val="50000"/>
                  </a:schemeClr>
                </a:solidFill>
                <a:latin typeface="+mj-lt"/>
              </a:rPr>
              <a:t>Sample </a:t>
            </a:r>
            <a:r>
              <a:rPr lang="en-US" sz="2400" dirty="0" smtClean="0">
                <a:solidFill>
                  <a:schemeClr val="accent1">
                    <a:lumMod val="50000"/>
                  </a:schemeClr>
                </a:solidFill>
                <a:latin typeface="+mj-lt"/>
              </a:rPr>
              <a:t>Mean</a:t>
            </a:r>
          </a:p>
          <a:p>
            <a:r>
              <a:rPr lang="en-US" sz="1400" dirty="0" smtClean="0">
                <a:solidFill>
                  <a:schemeClr val="accent1">
                    <a:lumMod val="50000"/>
                  </a:schemeClr>
                </a:solidFill>
                <a:latin typeface="+mj-lt"/>
              </a:rPr>
              <a:t>Sampled alternatively</a:t>
            </a:r>
            <a:endParaRPr lang="en-US" sz="1400" dirty="0">
              <a:solidFill>
                <a:schemeClr val="accent1">
                  <a:lumMod val="50000"/>
                </a:schemeClr>
              </a:solidFill>
              <a:latin typeface="+mj-lt"/>
            </a:endParaRPr>
          </a:p>
        </p:txBody>
      </p:sp>
      <p:sp>
        <p:nvSpPr>
          <p:cNvPr id="36874" name="Text Box 10"/>
          <p:cNvSpPr txBox="1">
            <a:spLocks noChangeArrowheads="1"/>
          </p:cNvSpPr>
          <p:nvPr/>
        </p:nvSpPr>
        <p:spPr bwMode="auto">
          <a:xfrm>
            <a:off x="381000" y="3352800"/>
            <a:ext cx="7620024" cy="461665"/>
          </a:xfrm>
          <a:prstGeom prst="rect">
            <a:avLst/>
          </a:prstGeom>
          <a:noFill/>
          <a:ln w="9525">
            <a:noFill/>
            <a:miter lim="800000"/>
            <a:headEnd/>
            <a:tailEnd/>
          </a:ln>
          <a:effectLst/>
        </p:spPr>
        <p:txBody>
          <a:bodyPr wrap="square" anchor="ctr">
            <a:spAutoFit/>
          </a:bodyPr>
          <a:lstStyle/>
          <a:p>
            <a:r>
              <a:rPr lang="en-US" sz="2400" dirty="0">
                <a:solidFill>
                  <a:schemeClr val="accent1">
                    <a:lumMod val="50000"/>
                  </a:schemeClr>
                </a:solidFill>
                <a:latin typeface="+mj-lt"/>
              </a:rPr>
              <a:t>Sample </a:t>
            </a:r>
            <a:r>
              <a:rPr lang="en-US" sz="2400" dirty="0" smtClean="0">
                <a:solidFill>
                  <a:schemeClr val="accent1">
                    <a:lumMod val="50000"/>
                  </a:schemeClr>
                </a:solidFill>
                <a:latin typeface="+mj-lt"/>
              </a:rPr>
              <a:t>Variance (</a:t>
            </a:r>
            <a:r>
              <a:rPr lang="en-US" sz="2000" dirty="0" smtClean="0">
                <a:solidFill>
                  <a:schemeClr val="accent1">
                    <a:lumMod val="50000"/>
                  </a:schemeClr>
                </a:solidFill>
                <a:latin typeface="+mj-lt"/>
              </a:rPr>
              <a:t>how it differs from the mean</a:t>
            </a:r>
            <a:r>
              <a:rPr lang="en-US" sz="2400" dirty="0" smtClean="0">
                <a:solidFill>
                  <a:schemeClr val="accent1">
                    <a:lumMod val="50000"/>
                  </a:schemeClr>
                </a:solidFill>
                <a:latin typeface="+mj-lt"/>
              </a:rPr>
              <a:t>)</a:t>
            </a:r>
            <a:endParaRPr lang="en-US" sz="2400" dirty="0">
              <a:solidFill>
                <a:schemeClr val="accent1">
                  <a:lumMod val="50000"/>
                </a:schemeClr>
              </a:solidFill>
              <a:latin typeface="+mj-lt"/>
            </a:endParaRPr>
          </a:p>
        </p:txBody>
      </p:sp>
      <p:sp>
        <p:nvSpPr>
          <p:cNvPr id="36875" name="Text Box 11"/>
          <p:cNvSpPr txBox="1">
            <a:spLocks noChangeArrowheads="1"/>
          </p:cNvSpPr>
          <p:nvPr/>
        </p:nvSpPr>
        <p:spPr bwMode="auto">
          <a:xfrm>
            <a:off x="0" y="4876800"/>
            <a:ext cx="8818824" cy="461665"/>
          </a:xfrm>
          <a:prstGeom prst="rect">
            <a:avLst/>
          </a:prstGeom>
          <a:noFill/>
          <a:ln w="9525">
            <a:noFill/>
            <a:miter lim="800000"/>
            <a:headEnd/>
            <a:tailEnd/>
          </a:ln>
          <a:effectLst/>
        </p:spPr>
        <p:txBody>
          <a:bodyPr wrap="none" anchor="ctr">
            <a:spAutoFit/>
          </a:bodyPr>
          <a:lstStyle/>
          <a:p>
            <a:r>
              <a:rPr lang="en-US" sz="2400" dirty="0">
                <a:solidFill>
                  <a:schemeClr val="accent1">
                    <a:lumMod val="50000"/>
                  </a:schemeClr>
                </a:solidFill>
                <a:latin typeface="+mj-lt"/>
              </a:rPr>
              <a:t>Sample Variance (shortcut </a:t>
            </a:r>
            <a:r>
              <a:rPr lang="en-US" sz="2400" dirty="0" smtClean="0">
                <a:solidFill>
                  <a:schemeClr val="accent1">
                    <a:lumMod val="50000"/>
                  </a:schemeClr>
                </a:solidFill>
                <a:latin typeface="+mj-lt"/>
              </a:rPr>
              <a:t>method used in software based calculation)</a:t>
            </a:r>
            <a:endParaRPr lang="en-US" sz="2400" dirty="0">
              <a:solidFill>
                <a:schemeClr val="accent1">
                  <a:lumMod val="50000"/>
                </a:schemeClr>
              </a:solidFill>
              <a:latin typeface="+mj-lt"/>
            </a:endParaRPr>
          </a:p>
        </p:txBody>
      </p:sp>
      <p:pic>
        <p:nvPicPr>
          <p:cNvPr id="36877" name="Picture 13"/>
          <p:cNvPicPr>
            <a:picLocks noChangeAspect="1" noChangeArrowheads="1"/>
          </p:cNvPicPr>
          <p:nvPr/>
        </p:nvPicPr>
        <p:blipFill>
          <a:blip r:embed="rId4"/>
          <a:srcRect/>
          <a:stretch>
            <a:fillRect/>
          </a:stretch>
        </p:blipFill>
        <p:spPr bwMode="auto">
          <a:xfrm>
            <a:off x="381001" y="3886200"/>
            <a:ext cx="7500743" cy="648000"/>
          </a:xfrm>
          <a:prstGeom prst="rect">
            <a:avLst/>
          </a:prstGeom>
          <a:noFill/>
        </p:spPr>
      </p:pic>
      <p:pic>
        <p:nvPicPr>
          <p:cNvPr id="36878" name="Picture 14"/>
          <p:cNvPicPr>
            <a:picLocks noChangeAspect="1" noChangeArrowheads="1"/>
          </p:cNvPicPr>
          <p:nvPr/>
        </p:nvPicPr>
        <p:blipFill>
          <a:blip r:embed="rId5"/>
          <a:srcRect/>
          <a:stretch>
            <a:fillRect/>
          </a:stretch>
        </p:blipFill>
        <p:spPr bwMode="auto">
          <a:xfrm>
            <a:off x="152401" y="5410200"/>
            <a:ext cx="7970938" cy="828000"/>
          </a:xfrm>
          <a:prstGeom prst="rect">
            <a:avLst/>
          </a:prstGeom>
          <a:noFill/>
        </p:spPr>
      </p:pic>
      <p:sp>
        <p:nvSpPr>
          <p:cNvPr id="11" name="Date Placeholder 10"/>
          <p:cNvSpPr>
            <a:spLocks noGrp="1"/>
          </p:cNvSpPr>
          <p:nvPr>
            <p:ph type="dt" sz="half" idx="10"/>
          </p:nvPr>
        </p:nvSpPr>
        <p:spPr/>
        <p:txBody>
          <a:bodyPr/>
          <a:lstStyle/>
          <a:p>
            <a:r>
              <a:rPr lang="en-US" smtClean="0"/>
              <a:t>Prof. A. K. Datta     University of Calcutta</a:t>
            </a:r>
            <a:endParaRPr lang="en-IN" dirty="0"/>
          </a:p>
        </p:txBody>
      </p:sp>
      <p:sp>
        <p:nvSpPr>
          <p:cNvPr id="12" name="Slide Number Placeholder 11"/>
          <p:cNvSpPr>
            <a:spLocks noGrp="1"/>
          </p:cNvSpPr>
          <p:nvPr>
            <p:ph type="sldNum" sz="quarter" idx="11"/>
          </p:nvPr>
        </p:nvSpPr>
        <p:spPr/>
        <p:txBody>
          <a:bodyPr/>
          <a:lstStyle/>
          <a:p>
            <a:fld id="{BF2D74FB-8EB9-4DEE-8258-980F8375AF4A}" type="slidenum">
              <a:rPr lang="en-IN" smtClean="0"/>
              <a:pPr/>
              <a:t>43</a:t>
            </a:fld>
            <a:endParaRPr lang="en-IN" dirty="0"/>
          </a:p>
        </p:txBody>
      </p:sp>
      <p:sp>
        <p:nvSpPr>
          <p:cNvPr id="13" name="Footer Placeholder 12"/>
          <p:cNvSpPr>
            <a:spLocks noGrp="1"/>
          </p:cNvSpPr>
          <p:nvPr>
            <p:ph type="ftr" sz="quarter" idx="12"/>
          </p:nvPr>
        </p:nvSpPr>
        <p:spPr/>
        <p:txBody>
          <a:bodyPr/>
          <a:lstStyle/>
          <a:p>
            <a:r>
              <a:rPr lang="en-IN" smtClean="0"/>
              <a:t>Ph.D Course Work on Research Methodology</a:t>
            </a:r>
            <a:endParaRPr lang="en-IN" dirty="0"/>
          </a:p>
        </p:txBody>
      </p:sp>
      <p:sp>
        <p:nvSpPr>
          <p:cNvPr id="14" name="Line 7"/>
          <p:cNvSpPr>
            <a:spLocks noChangeShapeType="1"/>
          </p:cNvSpPr>
          <p:nvPr/>
        </p:nvSpPr>
        <p:spPr bwMode="auto">
          <a:xfrm>
            <a:off x="0" y="2438400"/>
            <a:ext cx="9144000" cy="0"/>
          </a:xfrm>
          <a:prstGeom prst="line">
            <a:avLst/>
          </a:prstGeom>
          <a:noFill/>
          <a:ln w="38100">
            <a:solidFill>
              <a:srgbClr val="003300"/>
            </a:solidFill>
            <a:round/>
            <a:headEnd/>
            <a:tailEnd/>
          </a:ln>
          <a:effectLst/>
        </p:spPr>
        <p:txBody>
          <a:bodyPr wrap="none" anchor="ctr"/>
          <a:lstStyle/>
          <a:p>
            <a:endParaRPr lang="en-US"/>
          </a:p>
        </p:txBody>
      </p:sp>
      <p:sp>
        <p:nvSpPr>
          <p:cNvPr id="15" name="Text Box 9"/>
          <p:cNvSpPr txBox="1">
            <a:spLocks noChangeArrowheads="1"/>
          </p:cNvSpPr>
          <p:nvPr/>
        </p:nvSpPr>
        <p:spPr bwMode="auto">
          <a:xfrm>
            <a:off x="0" y="762000"/>
            <a:ext cx="2973891" cy="1569660"/>
          </a:xfrm>
          <a:prstGeom prst="rect">
            <a:avLst/>
          </a:prstGeom>
          <a:noFill/>
          <a:ln w="9525">
            <a:noFill/>
            <a:miter lim="800000"/>
            <a:headEnd/>
            <a:tailEnd/>
          </a:ln>
          <a:effectLst/>
        </p:spPr>
        <p:txBody>
          <a:bodyPr wrap="none" anchor="ctr">
            <a:spAutoFit/>
          </a:bodyPr>
          <a:lstStyle/>
          <a:p>
            <a:r>
              <a:rPr lang="en-US" sz="2400" dirty="0" smtClean="0">
                <a:solidFill>
                  <a:schemeClr val="accent1">
                    <a:lumMod val="50000"/>
                  </a:schemeClr>
                </a:solidFill>
                <a:latin typeface="+mj-lt"/>
              </a:rPr>
              <a:t>Population Mean</a:t>
            </a:r>
          </a:p>
          <a:p>
            <a:r>
              <a:rPr lang="en-US" sz="2400" dirty="0" smtClean="0">
                <a:solidFill>
                  <a:schemeClr val="accent1">
                    <a:lumMod val="50000"/>
                  </a:schemeClr>
                </a:solidFill>
                <a:latin typeface="+mj-lt"/>
              </a:rPr>
              <a:t>Number of books =12,</a:t>
            </a:r>
          </a:p>
          <a:p>
            <a:r>
              <a:rPr lang="en-US" sz="2400" dirty="0" smtClean="0">
                <a:solidFill>
                  <a:schemeClr val="accent1">
                    <a:lumMod val="50000"/>
                  </a:schemeClr>
                </a:solidFill>
                <a:latin typeface="+mj-lt"/>
              </a:rPr>
              <a:t>Chapters in books are</a:t>
            </a:r>
          </a:p>
          <a:p>
            <a:r>
              <a:rPr lang="en-US" sz="2400" dirty="0" smtClean="0">
                <a:solidFill>
                  <a:schemeClr val="accent1">
                    <a:lumMod val="50000"/>
                  </a:schemeClr>
                </a:solidFill>
                <a:latin typeface="+mj-lt"/>
              </a:rPr>
              <a:t> given</a:t>
            </a:r>
            <a:endParaRPr lang="en-US" sz="2400" dirty="0">
              <a:solidFill>
                <a:schemeClr val="accent1">
                  <a:lumMod val="50000"/>
                </a:schemeClr>
              </a:solidFill>
              <a:latin typeface="+mj-lt"/>
            </a:endParaRPr>
          </a:p>
        </p:txBody>
      </p:sp>
      <p:graphicFrame>
        <p:nvGraphicFramePr>
          <p:cNvPr id="16" name="Object 15"/>
          <p:cNvGraphicFramePr>
            <a:graphicFrameLocks noChangeAspect="1"/>
          </p:cNvGraphicFramePr>
          <p:nvPr/>
        </p:nvGraphicFramePr>
        <p:xfrm>
          <a:off x="3048000" y="761999"/>
          <a:ext cx="5943600" cy="685801"/>
        </p:xfrm>
        <a:graphic>
          <a:graphicData uri="http://schemas.openxmlformats.org/presentationml/2006/ole">
            <p:oleObj spid="_x0000_s912480" name="Equation" r:id="rId6" imgW="3746500" imgH="393700" progId="Equation.3">
              <p:embed/>
            </p:oleObj>
          </a:graphicData>
        </a:graphic>
      </p:graphicFrame>
      <p:graphicFrame>
        <p:nvGraphicFramePr>
          <p:cNvPr id="18" name="Object 17"/>
          <p:cNvGraphicFramePr>
            <a:graphicFrameLocks noChangeAspect="1"/>
          </p:cNvGraphicFramePr>
          <p:nvPr/>
        </p:nvGraphicFramePr>
        <p:xfrm>
          <a:off x="3021389" y="1371601"/>
          <a:ext cx="5908329" cy="747586"/>
        </p:xfrm>
        <a:graphic>
          <a:graphicData uri="http://schemas.openxmlformats.org/presentationml/2006/ole">
            <p:oleObj spid="_x0000_s912481" name="Equation" r:id="rId7" imgW="7696200" imgH="812800" progId="Equation.3">
              <p:embed/>
            </p:oleObj>
          </a:graphicData>
        </a:graphic>
      </p:graphicFrame>
      <p:sp>
        <p:nvSpPr>
          <p:cNvPr id="19" name="TextBox 18"/>
          <p:cNvSpPr txBox="1"/>
          <p:nvPr/>
        </p:nvSpPr>
        <p:spPr>
          <a:xfrm>
            <a:off x="1643042" y="2000240"/>
            <a:ext cx="4429156" cy="369332"/>
          </a:xfrm>
          <a:prstGeom prst="rect">
            <a:avLst/>
          </a:prstGeom>
          <a:noFill/>
        </p:spPr>
        <p:txBody>
          <a:bodyPr wrap="square" rtlCol="0">
            <a:spAutoFit/>
          </a:bodyPr>
          <a:lstStyle/>
          <a:p>
            <a:r>
              <a:rPr lang="en-US" dirty="0" smtClean="0"/>
              <a:t>Variance, where standard deviation is </a:t>
            </a:r>
            <a:r>
              <a:rPr lang="el-GR" dirty="0" smtClean="0"/>
              <a:t>σ</a:t>
            </a:r>
            <a:r>
              <a:rPr lang="en-US" dirty="0" smtClean="0"/>
              <a:t> </a:t>
            </a:r>
            <a:endParaRPr lang="en-US" dirty="0"/>
          </a:p>
        </p:txBody>
      </p:sp>
      <p:sp>
        <p:nvSpPr>
          <p:cNvPr id="20" name="TextBox 19"/>
          <p:cNvSpPr txBox="1"/>
          <p:nvPr/>
        </p:nvSpPr>
        <p:spPr>
          <a:xfrm>
            <a:off x="6215074" y="3500438"/>
            <a:ext cx="2928926" cy="369332"/>
          </a:xfrm>
          <a:prstGeom prst="rect">
            <a:avLst/>
          </a:prstGeom>
          <a:noFill/>
        </p:spPr>
        <p:txBody>
          <a:bodyPr wrap="square" rtlCol="0">
            <a:spAutoFit/>
          </a:bodyPr>
          <a:lstStyle/>
          <a:p>
            <a:r>
              <a:rPr lang="en-US" dirty="0" smtClean="0"/>
              <a:t>Standard deviation is s</a:t>
            </a:r>
            <a:endParaRPr lang="en-US" dirty="0"/>
          </a:p>
        </p:txBody>
      </p:sp>
    </p:spTree>
    <p:extLst>
      <p:ext uri="{BB962C8B-B14F-4D97-AF65-F5344CB8AC3E}">
        <p14:creationId xmlns="" xmlns:p14="http://schemas.microsoft.com/office/powerpoint/2010/main" val="210982996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44</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grpSp>
        <p:nvGrpSpPr>
          <p:cNvPr id="6" name="Group 3"/>
          <p:cNvGrpSpPr>
            <a:grpSpLocks/>
          </p:cNvGrpSpPr>
          <p:nvPr/>
        </p:nvGrpSpPr>
        <p:grpSpPr bwMode="auto">
          <a:xfrm>
            <a:off x="381000" y="990600"/>
            <a:ext cx="5257800" cy="5254625"/>
            <a:chOff x="43" y="674"/>
            <a:chExt cx="3544" cy="4823"/>
          </a:xfrm>
        </p:grpSpPr>
        <p:sp>
          <p:nvSpPr>
            <p:cNvPr id="7" name="Rectangle 4"/>
            <p:cNvSpPr>
              <a:spLocks noChangeArrowheads="1"/>
            </p:cNvSpPr>
            <p:nvPr/>
          </p:nvSpPr>
          <p:spPr bwMode="auto">
            <a:xfrm>
              <a:off x="43" y="674"/>
              <a:ext cx="886" cy="442"/>
            </a:xfrm>
            <a:prstGeom prst="rect">
              <a:avLst/>
            </a:prstGeom>
            <a:noFill/>
            <a:ln w="9525">
              <a:noFill/>
              <a:miter lim="800000"/>
              <a:headEnd/>
              <a:tailEnd/>
            </a:ln>
          </p:spPr>
          <p:txBody>
            <a:bodyPr/>
            <a:lstStyle/>
            <a:p>
              <a:r>
                <a:rPr lang="en-US" sz="2000">
                  <a:latin typeface="+mn-lt"/>
                </a:rPr>
                <a:t>Subj</a:t>
              </a:r>
              <a:endParaRPr lang="en-US" sz="1600">
                <a:latin typeface="+mn-lt"/>
              </a:endParaRPr>
            </a:p>
            <a:p>
              <a:pPr eaLnBrk="0" hangingPunct="0"/>
              <a:endParaRPr lang="en-US" sz="2400">
                <a:latin typeface="+mn-lt"/>
              </a:endParaRPr>
            </a:p>
          </p:txBody>
        </p:sp>
        <p:sp>
          <p:nvSpPr>
            <p:cNvPr id="8" name="Rectangle 5"/>
            <p:cNvSpPr>
              <a:spLocks noChangeArrowheads="1"/>
            </p:cNvSpPr>
            <p:nvPr/>
          </p:nvSpPr>
          <p:spPr bwMode="auto">
            <a:xfrm>
              <a:off x="929" y="674"/>
              <a:ext cx="886" cy="442"/>
            </a:xfrm>
            <a:prstGeom prst="rect">
              <a:avLst/>
            </a:prstGeom>
            <a:noFill/>
            <a:ln w="9525">
              <a:noFill/>
              <a:miter lim="800000"/>
              <a:headEnd/>
              <a:tailEnd/>
            </a:ln>
          </p:spPr>
          <p:txBody>
            <a:bodyPr/>
            <a:lstStyle/>
            <a:p>
              <a:r>
                <a:rPr lang="en-US" sz="2000">
                  <a:latin typeface="+mn-lt"/>
                </a:rPr>
                <a:t>Score (x)</a:t>
              </a:r>
              <a:endParaRPr lang="en-US" sz="1600">
                <a:latin typeface="+mn-lt"/>
              </a:endParaRPr>
            </a:p>
            <a:p>
              <a:pPr eaLnBrk="0" hangingPunct="0"/>
              <a:endParaRPr lang="en-US" sz="2400">
                <a:latin typeface="+mn-lt"/>
              </a:endParaRPr>
            </a:p>
          </p:txBody>
        </p:sp>
        <p:sp>
          <p:nvSpPr>
            <p:cNvPr id="9" name="Rectangle 6"/>
            <p:cNvSpPr>
              <a:spLocks noChangeArrowheads="1"/>
            </p:cNvSpPr>
            <p:nvPr/>
          </p:nvSpPr>
          <p:spPr bwMode="auto">
            <a:xfrm>
              <a:off x="1815" y="674"/>
              <a:ext cx="886" cy="442"/>
            </a:xfrm>
            <a:prstGeom prst="rect">
              <a:avLst/>
            </a:prstGeom>
            <a:noFill/>
            <a:ln w="9525">
              <a:noFill/>
              <a:miter lim="800000"/>
              <a:headEnd/>
              <a:tailEnd/>
            </a:ln>
          </p:spPr>
          <p:txBody>
            <a:bodyPr/>
            <a:lstStyle/>
            <a:p>
              <a:r>
                <a:rPr lang="en-US" sz="2000">
                  <a:latin typeface="+mn-lt"/>
                </a:rPr>
                <a:t>Deviation</a:t>
              </a:r>
              <a:endParaRPr lang="en-US" sz="1600">
                <a:latin typeface="+mn-lt"/>
              </a:endParaRPr>
            </a:p>
            <a:p>
              <a:pPr eaLnBrk="0" hangingPunct="0"/>
              <a:endParaRPr lang="en-US" sz="2400">
                <a:latin typeface="+mn-lt"/>
              </a:endParaRPr>
            </a:p>
          </p:txBody>
        </p:sp>
        <p:sp>
          <p:nvSpPr>
            <p:cNvPr id="10" name="Rectangle 7"/>
            <p:cNvSpPr>
              <a:spLocks noChangeArrowheads="1"/>
            </p:cNvSpPr>
            <p:nvPr/>
          </p:nvSpPr>
          <p:spPr bwMode="auto">
            <a:xfrm>
              <a:off x="2701" y="674"/>
              <a:ext cx="886" cy="442"/>
            </a:xfrm>
            <a:prstGeom prst="rect">
              <a:avLst/>
            </a:prstGeom>
            <a:noFill/>
            <a:ln w="9525">
              <a:noFill/>
              <a:miter lim="800000"/>
              <a:headEnd/>
              <a:tailEnd/>
            </a:ln>
          </p:spPr>
          <p:txBody>
            <a:bodyPr/>
            <a:lstStyle/>
            <a:p>
              <a:r>
                <a:rPr lang="en-US" sz="2000" dirty="0" smtClean="0">
                  <a:latin typeface="+mn-lt"/>
                </a:rPr>
                <a:t>(dev)</a:t>
              </a:r>
              <a:r>
                <a:rPr lang="en-US" sz="2000" baseline="30000" dirty="0" smtClean="0">
                  <a:latin typeface="+mn-lt"/>
                </a:rPr>
                <a:t>2</a:t>
              </a:r>
              <a:endParaRPr lang="en-US" sz="1600" dirty="0">
                <a:latin typeface="+mn-lt"/>
              </a:endParaRPr>
            </a:p>
            <a:p>
              <a:pPr eaLnBrk="0" hangingPunct="0"/>
              <a:endParaRPr lang="en-US" sz="2400" dirty="0">
                <a:latin typeface="+mn-lt"/>
              </a:endParaRPr>
            </a:p>
          </p:txBody>
        </p:sp>
        <p:sp>
          <p:nvSpPr>
            <p:cNvPr id="11" name="Rectangle 8"/>
            <p:cNvSpPr>
              <a:spLocks noChangeArrowheads="1"/>
            </p:cNvSpPr>
            <p:nvPr/>
          </p:nvSpPr>
          <p:spPr bwMode="auto">
            <a:xfrm>
              <a:off x="43" y="1116"/>
              <a:ext cx="886" cy="442"/>
            </a:xfrm>
            <a:prstGeom prst="rect">
              <a:avLst/>
            </a:prstGeom>
            <a:noFill/>
            <a:ln w="9525">
              <a:noFill/>
              <a:miter lim="800000"/>
              <a:headEnd/>
              <a:tailEnd/>
            </a:ln>
          </p:spPr>
          <p:txBody>
            <a:bodyPr/>
            <a:lstStyle/>
            <a:p>
              <a:r>
                <a:rPr lang="en-US" sz="2000" dirty="0">
                  <a:latin typeface="+mn-lt"/>
                </a:rPr>
                <a:t>1</a:t>
              </a:r>
              <a:endParaRPr lang="en-US" sz="1600" dirty="0">
                <a:latin typeface="+mn-lt"/>
              </a:endParaRPr>
            </a:p>
            <a:p>
              <a:pPr eaLnBrk="0" hangingPunct="0"/>
              <a:endParaRPr lang="en-US" sz="2400" dirty="0">
                <a:latin typeface="+mn-lt"/>
              </a:endParaRPr>
            </a:p>
          </p:txBody>
        </p:sp>
        <p:sp>
          <p:nvSpPr>
            <p:cNvPr id="12" name="Rectangle 9"/>
            <p:cNvSpPr>
              <a:spLocks noChangeArrowheads="1"/>
            </p:cNvSpPr>
            <p:nvPr/>
          </p:nvSpPr>
          <p:spPr bwMode="auto">
            <a:xfrm>
              <a:off x="929" y="1116"/>
              <a:ext cx="886" cy="442"/>
            </a:xfrm>
            <a:prstGeom prst="rect">
              <a:avLst/>
            </a:prstGeom>
            <a:noFill/>
            <a:ln w="9525">
              <a:noFill/>
              <a:miter lim="800000"/>
              <a:headEnd/>
              <a:tailEnd/>
            </a:ln>
          </p:spPr>
          <p:txBody>
            <a:bodyPr/>
            <a:lstStyle/>
            <a:p>
              <a:r>
                <a:rPr lang="en-US" sz="2000">
                  <a:latin typeface="+mn-lt"/>
                </a:rPr>
                <a:t>216</a:t>
              </a:r>
              <a:endParaRPr lang="en-US" sz="1600">
                <a:latin typeface="+mn-lt"/>
              </a:endParaRPr>
            </a:p>
            <a:p>
              <a:pPr eaLnBrk="0" hangingPunct="0"/>
              <a:endParaRPr lang="en-US" sz="2400">
                <a:latin typeface="+mn-lt"/>
              </a:endParaRPr>
            </a:p>
          </p:txBody>
        </p:sp>
        <p:sp>
          <p:nvSpPr>
            <p:cNvPr id="13" name="Rectangle 10"/>
            <p:cNvSpPr>
              <a:spLocks noChangeArrowheads="1"/>
            </p:cNvSpPr>
            <p:nvPr/>
          </p:nvSpPr>
          <p:spPr bwMode="auto">
            <a:xfrm>
              <a:off x="1815" y="1116"/>
              <a:ext cx="886" cy="442"/>
            </a:xfrm>
            <a:prstGeom prst="rect">
              <a:avLst/>
            </a:prstGeom>
            <a:noFill/>
            <a:ln w="9525">
              <a:noFill/>
              <a:miter lim="800000"/>
              <a:headEnd/>
              <a:tailEnd/>
            </a:ln>
          </p:spPr>
          <p:txBody>
            <a:bodyPr/>
            <a:lstStyle/>
            <a:p>
              <a:r>
                <a:rPr lang="en-US" sz="2000" dirty="0" smtClean="0">
                  <a:latin typeface="+mn-lt"/>
                </a:rPr>
                <a:t>  22.7</a:t>
              </a:r>
              <a:endParaRPr lang="en-US" sz="1600" dirty="0">
                <a:latin typeface="+mn-lt"/>
              </a:endParaRPr>
            </a:p>
            <a:p>
              <a:pPr eaLnBrk="0" hangingPunct="0"/>
              <a:endParaRPr lang="en-US" sz="2400" dirty="0">
                <a:latin typeface="+mn-lt"/>
              </a:endParaRPr>
            </a:p>
          </p:txBody>
        </p:sp>
        <p:sp>
          <p:nvSpPr>
            <p:cNvPr id="14" name="Rectangle 11"/>
            <p:cNvSpPr>
              <a:spLocks noChangeArrowheads="1"/>
            </p:cNvSpPr>
            <p:nvPr/>
          </p:nvSpPr>
          <p:spPr bwMode="auto">
            <a:xfrm>
              <a:off x="2701" y="1116"/>
              <a:ext cx="886" cy="442"/>
            </a:xfrm>
            <a:prstGeom prst="rect">
              <a:avLst/>
            </a:prstGeom>
            <a:noFill/>
            <a:ln w="9525">
              <a:noFill/>
              <a:miter lim="800000"/>
              <a:headEnd/>
              <a:tailEnd/>
            </a:ln>
          </p:spPr>
          <p:txBody>
            <a:bodyPr/>
            <a:lstStyle/>
            <a:p>
              <a:r>
                <a:rPr lang="en-US" sz="2000">
                  <a:latin typeface="+mn-lt"/>
                </a:rPr>
                <a:t>515.29</a:t>
              </a:r>
              <a:endParaRPr lang="en-US" sz="1600">
                <a:latin typeface="+mn-lt"/>
              </a:endParaRPr>
            </a:p>
            <a:p>
              <a:pPr eaLnBrk="0" hangingPunct="0"/>
              <a:endParaRPr lang="en-US" sz="2400">
                <a:latin typeface="+mn-lt"/>
              </a:endParaRPr>
            </a:p>
          </p:txBody>
        </p:sp>
        <p:sp>
          <p:nvSpPr>
            <p:cNvPr id="15" name="Rectangle 12"/>
            <p:cNvSpPr>
              <a:spLocks noChangeArrowheads="1"/>
            </p:cNvSpPr>
            <p:nvPr/>
          </p:nvSpPr>
          <p:spPr bwMode="auto">
            <a:xfrm>
              <a:off x="43" y="1558"/>
              <a:ext cx="886" cy="442"/>
            </a:xfrm>
            <a:prstGeom prst="rect">
              <a:avLst/>
            </a:prstGeom>
            <a:noFill/>
            <a:ln w="9525">
              <a:noFill/>
              <a:miter lim="800000"/>
              <a:headEnd/>
              <a:tailEnd/>
            </a:ln>
          </p:spPr>
          <p:txBody>
            <a:bodyPr/>
            <a:lstStyle/>
            <a:p>
              <a:r>
                <a:rPr lang="en-US" sz="2000">
                  <a:latin typeface="+mn-lt"/>
                </a:rPr>
                <a:t>2</a:t>
              </a:r>
              <a:endParaRPr lang="en-US" sz="1600">
                <a:latin typeface="+mn-lt"/>
              </a:endParaRPr>
            </a:p>
            <a:p>
              <a:pPr eaLnBrk="0" hangingPunct="0"/>
              <a:endParaRPr lang="en-US" sz="2400">
                <a:latin typeface="+mn-lt"/>
              </a:endParaRPr>
            </a:p>
          </p:txBody>
        </p:sp>
        <p:sp>
          <p:nvSpPr>
            <p:cNvPr id="16" name="Rectangle 13"/>
            <p:cNvSpPr>
              <a:spLocks noChangeArrowheads="1"/>
            </p:cNvSpPr>
            <p:nvPr/>
          </p:nvSpPr>
          <p:spPr bwMode="auto">
            <a:xfrm>
              <a:off x="929" y="1558"/>
              <a:ext cx="886" cy="442"/>
            </a:xfrm>
            <a:prstGeom prst="rect">
              <a:avLst/>
            </a:prstGeom>
            <a:noFill/>
            <a:ln w="9525">
              <a:noFill/>
              <a:miter lim="800000"/>
              <a:headEnd/>
              <a:tailEnd/>
            </a:ln>
          </p:spPr>
          <p:txBody>
            <a:bodyPr/>
            <a:lstStyle/>
            <a:p>
              <a:r>
                <a:rPr lang="en-US" sz="2000">
                  <a:latin typeface="+mn-lt"/>
                </a:rPr>
                <a:t>144</a:t>
              </a:r>
              <a:endParaRPr lang="en-US" sz="1600">
                <a:latin typeface="+mn-lt"/>
              </a:endParaRPr>
            </a:p>
            <a:p>
              <a:pPr eaLnBrk="0" hangingPunct="0"/>
              <a:endParaRPr lang="en-US" sz="2400">
                <a:latin typeface="+mn-lt"/>
              </a:endParaRPr>
            </a:p>
          </p:txBody>
        </p:sp>
        <p:sp>
          <p:nvSpPr>
            <p:cNvPr id="17" name="Rectangle 14"/>
            <p:cNvSpPr>
              <a:spLocks noChangeArrowheads="1"/>
            </p:cNvSpPr>
            <p:nvPr/>
          </p:nvSpPr>
          <p:spPr bwMode="auto">
            <a:xfrm>
              <a:off x="1815" y="1558"/>
              <a:ext cx="886" cy="442"/>
            </a:xfrm>
            <a:prstGeom prst="rect">
              <a:avLst/>
            </a:prstGeom>
            <a:noFill/>
            <a:ln w="9525">
              <a:noFill/>
              <a:miter lim="800000"/>
              <a:headEnd/>
              <a:tailEnd/>
            </a:ln>
          </p:spPr>
          <p:txBody>
            <a:bodyPr/>
            <a:lstStyle/>
            <a:p>
              <a:r>
                <a:rPr lang="en-US" sz="2000">
                  <a:latin typeface="+mn-lt"/>
                </a:rPr>
                <a:t>-49.3</a:t>
              </a:r>
              <a:endParaRPr lang="en-US" sz="1600">
                <a:latin typeface="+mn-lt"/>
              </a:endParaRPr>
            </a:p>
            <a:p>
              <a:pPr eaLnBrk="0" hangingPunct="0"/>
              <a:endParaRPr lang="en-US" sz="2400">
                <a:latin typeface="+mn-lt"/>
              </a:endParaRPr>
            </a:p>
          </p:txBody>
        </p:sp>
        <p:sp>
          <p:nvSpPr>
            <p:cNvPr id="18" name="Rectangle 15"/>
            <p:cNvSpPr>
              <a:spLocks noChangeArrowheads="1"/>
            </p:cNvSpPr>
            <p:nvPr/>
          </p:nvSpPr>
          <p:spPr bwMode="auto">
            <a:xfrm>
              <a:off x="2701" y="1558"/>
              <a:ext cx="886" cy="442"/>
            </a:xfrm>
            <a:prstGeom prst="rect">
              <a:avLst/>
            </a:prstGeom>
            <a:noFill/>
            <a:ln w="9525">
              <a:noFill/>
              <a:miter lim="800000"/>
              <a:headEnd/>
              <a:tailEnd/>
            </a:ln>
          </p:spPr>
          <p:txBody>
            <a:bodyPr/>
            <a:lstStyle/>
            <a:p>
              <a:r>
                <a:rPr lang="en-US" sz="2000">
                  <a:latin typeface="+mn-lt"/>
                </a:rPr>
                <a:t>2430.49</a:t>
              </a:r>
              <a:endParaRPr lang="en-US" sz="1600">
                <a:latin typeface="+mn-lt"/>
              </a:endParaRPr>
            </a:p>
            <a:p>
              <a:pPr eaLnBrk="0" hangingPunct="0"/>
              <a:endParaRPr lang="en-US" sz="2400">
                <a:latin typeface="+mn-lt"/>
              </a:endParaRPr>
            </a:p>
          </p:txBody>
        </p:sp>
        <p:sp>
          <p:nvSpPr>
            <p:cNvPr id="19" name="Rectangle 16"/>
            <p:cNvSpPr>
              <a:spLocks noChangeArrowheads="1"/>
            </p:cNvSpPr>
            <p:nvPr/>
          </p:nvSpPr>
          <p:spPr bwMode="auto">
            <a:xfrm>
              <a:off x="43" y="2000"/>
              <a:ext cx="886" cy="442"/>
            </a:xfrm>
            <a:prstGeom prst="rect">
              <a:avLst/>
            </a:prstGeom>
            <a:noFill/>
            <a:ln w="9525">
              <a:noFill/>
              <a:miter lim="800000"/>
              <a:headEnd/>
              <a:tailEnd/>
            </a:ln>
          </p:spPr>
          <p:txBody>
            <a:bodyPr/>
            <a:lstStyle/>
            <a:p>
              <a:r>
                <a:rPr lang="en-US" sz="2000">
                  <a:latin typeface="+mn-lt"/>
                </a:rPr>
                <a:t>3</a:t>
              </a:r>
              <a:endParaRPr lang="en-US" sz="1600">
                <a:latin typeface="+mn-lt"/>
              </a:endParaRPr>
            </a:p>
            <a:p>
              <a:pPr eaLnBrk="0" hangingPunct="0"/>
              <a:endParaRPr lang="en-US" sz="2400">
                <a:latin typeface="+mn-lt"/>
              </a:endParaRPr>
            </a:p>
          </p:txBody>
        </p:sp>
        <p:sp>
          <p:nvSpPr>
            <p:cNvPr id="20" name="Rectangle 17"/>
            <p:cNvSpPr>
              <a:spLocks noChangeArrowheads="1"/>
            </p:cNvSpPr>
            <p:nvPr/>
          </p:nvSpPr>
          <p:spPr bwMode="auto">
            <a:xfrm>
              <a:off x="929" y="2000"/>
              <a:ext cx="886" cy="442"/>
            </a:xfrm>
            <a:prstGeom prst="rect">
              <a:avLst/>
            </a:prstGeom>
            <a:noFill/>
            <a:ln w="9525">
              <a:noFill/>
              <a:miter lim="800000"/>
              <a:headEnd/>
              <a:tailEnd/>
            </a:ln>
          </p:spPr>
          <p:txBody>
            <a:bodyPr/>
            <a:lstStyle/>
            <a:p>
              <a:r>
                <a:rPr lang="en-US" sz="2000">
                  <a:latin typeface="+mn-lt"/>
                </a:rPr>
                <a:t>183</a:t>
              </a:r>
              <a:endParaRPr lang="en-US" sz="1600">
                <a:latin typeface="+mn-lt"/>
              </a:endParaRPr>
            </a:p>
            <a:p>
              <a:pPr eaLnBrk="0" hangingPunct="0"/>
              <a:endParaRPr lang="en-US" sz="2400">
                <a:latin typeface="+mn-lt"/>
              </a:endParaRPr>
            </a:p>
          </p:txBody>
        </p:sp>
        <p:sp>
          <p:nvSpPr>
            <p:cNvPr id="21" name="Rectangle 18"/>
            <p:cNvSpPr>
              <a:spLocks noChangeArrowheads="1"/>
            </p:cNvSpPr>
            <p:nvPr/>
          </p:nvSpPr>
          <p:spPr bwMode="auto">
            <a:xfrm>
              <a:off x="1815" y="2000"/>
              <a:ext cx="886" cy="442"/>
            </a:xfrm>
            <a:prstGeom prst="rect">
              <a:avLst/>
            </a:prstGeom>
            <a:noFill/>
            <a:ln w="9525">
              <a:noFill/>
              <a:miter lim="800000"/>
              <a:headEnd/>
              <a:tailEnd/>
            </a:ln>
          </p:spPr>
          <p:txBody>
            <a:bodyPr/>
            <a:lstStyle/>
            <a:p>
              <a:r>
                <a:rPr lang="en-US" sz="2000">
                  <a:latin typeface="+mn-lt"/>
                </a:rPr>
                <a:t>-10.3</a:t>
              </a:r>
              <a:endParaRPr lang="en-US" sz="1600">
                <a:latin typeface="+mn-lt"/>
              </a:endParaRPr>
            </a:p>
            <a:p>
              <a:pPr eaLnBrk="0" hangingPunct="0"/>
              <a:endParaRPr lang="en-US" sz="2400">
                <a:latin typeface="+mn-lt"/>
              </a:endParaRPr>
            </a:p>
          </p:txBody>
        </p:sp>
        <p:sp>
          <p:nvSpPr>
            <p:cNvPr id="22" name="Rectangle 19"/>
            <p:cNvSpPr>
              <a:spLocks noChangeArrowheads="1"/>
            </p:cNvSpPr>
            <p:nvPr/>
          </p:nvSpPr>
          <p:spPr bwMode="auto">
            <a:xfrm>
              <a:off x="2701" y="2000"/>
              <a:ext cx="886" cy="442"/>
            </a:xfrm>
            <a:prstGeom prst="rect">
              <a:avLst/>
            </a:prstGeom>
            <a:noFill/>
            <a:ln w="9525">
              <a:noFill/>
              <a:miter lim="800000"/>
              <a:headEnd/>
              <a:tailEnd/>
            </a:ln>
          </p:spPr>
          <p:txBody>
            <a:bodyPr/>
            <a:lstStyle/>
            <a:p>
              <a:r>
                <a:rPr lang="en-US" sz="2000">
                  <a:latin typeface="+mn-lt"/>
                </a:rPr>
                <a:t>106.09</a:t>
              </a:r>
              <a:endParaRPr lang="en-US" sz="1600">
                <a:latin typeface="+mn-lt"/>
              </a:endParaRPr>
            </a:p>
            <a:p>
              <a:pPr eaLnBrk="0" hangingPunct="0"/>
              <a:endParaRPr lang="en-US" sz="2400">
                <a:latin typeface="+mn-lt"/>
              </a:endParaRPr>
            </a:p>
          </p:txBody>
        </p:sp>
        <p:sp>
          <p:nvSpPr>
            <p:cNvPr id="23" name="Rectangle 20"/>
            <p:cNvSpPr>
              <a:spLocks noChangeArrowheads="1"/>
            </p:cNvSpPr>
            <p:nvPr/>
          </p:nvSpPr>
          <p:spPr bwMode="auto">
            <a:xfrm>
              <a:off x="43" y="2442"/>
              <a:ext cx="886" cy="442"/>
            </a:xfrm>
            <a:prstGeom prst="rect">
              <a:avLst/>
            </a:prstGeom>
            <a:noFill/>
            <a:ln w="9525">
              <a:noFill/>
              <a:miter lim="800000"/>
              <a:headEnd/>
              <a:tailEnd/>
            </a:ln>
          </p:spPr>
          <p:txBody>
            <a:bodyPr/>
            <a:lstStyle/>
            <a:p>
              <a:r>
                <a:rPr lang="en-US" sz="2000">
                  <a:latin typeface="+mn-lt"/>
                </a:rPr>
                <a:t>4</a:t>
              </a:r>
              <a:endParaRPr lang="en-US" sz="1600">
                <a:latin typeface="+mn-lt"/>
              </a:endParaRPr>
            </a:p>
            <a:p>
              <a:pPr eaLnBrk="0" hangingPunct="0"/>
              <a:endParaRPr lang="en-US" sz="2400">
                <a:latin typeface="+mn-lt"/>
              </a:endParaRPr>
            </a:p>
          </p:txBody>
        </p:sp>
        <p:sp>
          <p:nvSpPr>
            <p:cNvPr id="24" name="Rectangle 21"/>
            <p:cNvSpPr>
              <a:spLocks noChangeArrowheads="1"/>
            </p:cNvSpPr>
            <p:nvPr/>
          </p:nvSpPr>
          <p:spPr bwMode="auto">
            <a:xfrm>
              <a:off x="929" y="2442"/>
              <a:ext cx="886" cy="442"/>
            </a:xfrm>
            <a:prstGeom prst="rect">
              <a:avLst/>
            </a:prstGeom>
            <a:noFill/>
            <a:ln w="9525">
              <a:noFill/>
              <a:miter lim="800000"/>
              <a:headEnd/>
              <a:tailEnd/>
            </a:ln>
          </p:spPr>
          <p:txBody>
            <a:bodyPr/>
            <a:lstStyle/>
            <a:p>
              <a:r>
                <a:rPr lang="en-US" sz="2000">
                  <a:latin typeface="+mn-lt"/>
                </a:rPr>
                <a:t>138</a:t>
              </a:r>
              <a:endParaRPr lang="en-US" sz="1600">
                <a:latin typeface="+mn-lt"/>
              </a:endParaRPr>
            </a:p>
            <a:p>
              <a:pPr eaLnBrk="0" hangingPunct="0"/>
              <a:endParaRPr lang="en-US" sz="2400">
                <a:latin typeface="+mn-lt"/>
              </a:endParaRPr>
            </a:p>
          </p:txBody>
        </p:sp>
        <p:sp>
          <p:nvSpPr>
            <p:cNvPr id="25" name="Rectangle 22"/>
            <p:cNvSpPr>
              <a:spLocks noChangeArrowheads="1"/>
            </p:cNvSpPr>
            <p:nvPr/>
          </p:nvSpPr>
          <p:spPr bwMode="auto">
            <a:xfrm>
              <a:off x="1815" y="2442"/>
              <a:ext cx="886" cy="442"/>
            </a:xfrm>
            <a:prstGeom prst="rect">
              <a:avLst/>
            </a:prstGeom>
            <a:noFill/>
            <a:ln w="9525">
              <a:noFill/>
              <a:miter lim="800000"/>
              <a:headEnd/>
              <a:tailEnd/>
            </a:ln>
          </p:spPr>
          <p:txBody>
            <a:bodyPr/>
            <a:lstStyle/>
            <a:p>
              <a:r>
                <a:rPr lang="en-US" sz="2000">
                  <a:latin typeface="+mn-lt"/>
                </a:rPr>
                <a:t>-55.3</a:t>
              </a:r>
              <a:endParaRPr lang="en-US" sz="1600">
                <a:latin typeface="+mn-lt"/>
              </a:endParaRPr>
            </a:p>
            <a:p>
              <a:pPr eaLnBrk="0" hangingPunct="0"/>
              <a:endParaRPr lang="en-US" sz="2400">
                <a:latin typeface="+mn-lt"/>
              </a:endParaRPr>
            </a:p>
          </p:txBody>
        </p:sp>
        <p:sp>
          <p:nvSpPr>
            <p:cNvPr id="26" name="Rectangle 23"/>
            <p:cNvSpPr>
              <a:spLocks noChangeArrowheads="1"/>
            </p:cNvSpPr>
            <p:nvPr/>
          </p:nvSpPr>
          <p:spPr bwMode="auto">
            <a:xfrm>
              <a:off x="2701" y="2442"/>
              <a:ext cx="886" cy="442"/>
            </a:xfrm>
            <a:prstGeom prst="rect">
              <a:avLst/>
            </a:prstGeom>
            <a:noFill/>
            <a:ln w="9525">
              <a:noFill/>
              <a:miter lim="800000"/>
              <a:headEnd/>
              <a:tailEnd/>
            </a:ln>
          </p:spPr>
          <p:txBody>
            <a:bodyPr/>
            <a:lstStyle/>
            <a:p>
              <a:r>
                <a:rPr lang="en-US" sz="2000">
                  <a:latin typeface="+mn-lt"/>
                </a:rPr>
                <a:t>3058.09</a:t>
              </a:r>
              <a:endParaRPr lang="en-US" sz="1600">
                <a:latin typeface="+mn-lt"/>
              </a:endParaRPr>
            </a:p>
            <a:p>
              <a:pPr eaLnBrk="0" hangingPunct="0"/>
              <a:endParaRPr lang="en-US" sz="2400">
                <a:latin typeface="+mn-lt"/>
              </a:endParaRPr>
            </a:p>
          </p:txBody>
        </p:sp>
        <p:sp>
          <p:nvSpPr>
            <p:cNvPr id="27" name="Rectangle 24"/>
            <p:cNvSpPr>
              <a:spLocks noChangeArrowheads="1"/>
            </p:cNvSpPr>
            <p:nvPr/>
          </p:nvSpPr>
          <p:spPr bwMode="auto">
            <a:xfrm>
              <a:off x="43" y="2884"/>
              <a:ext cx="886" cy="442"/>
            </a:xfrm>
            <a:prstGeom prst="rect">
              <a:avLst/>
            </a:prstGeom>
            <a:noFill/>
            <a:ln w="9525">
              <a:noFill/>
              <a:miter lim="800000"/>
              <a:headEnd/>
              <a:tailEnd/>
            </a:ln>
          </p:spPr>
          <p:txBody>
            <a:bodyPr/>
            <a:lstStyle/>
            <a:p>
              <a:r>
                <a:rPr lang="en-US" sz="2000">
                  <a:latin typeface="+mn-lt"/>
                </a:rPr>
                <a:t>5</a:t>
              </a:r>
              <a:endParaRPr lang="en-US" sz="1600">
                <a:latin typeface="+mn-lt"/>
              </a:endParaRPr>
            </a:p>
            <a:p>
              <a:pPr eaLnBrk="0" hangingPunct="0"/>
              <a:endParaRPr lang="en-US" sz="2400">
                <a:latin typeface="+mn-lt"/>
              </a:endParaRPr>
            </a:p>
          </p:txBody>
        </p:sp>
        <p:sp>
          <p:nvSpPr>
            <p:cNvPr id="28" name="Rectangle 25"/>
            <p:cNvSpPr>
              <a:spLocks noChangeArrowheads="1"/>
            </p:cNvSpPr>
            <p:nvPr/>
          </p:nvSpPr>
          <p:spPr bwMode="auto">
            <a:xfrm>
              <a:off x="929" y="2884"/>
              <a:ext cx="886" cy="442"/>
            </a:xfrm>
            <a:prstGeom prst="rect">
              <a:avLst/>
            </a:prstGeom>
            <a:noFill/>
            <a:ln w="9525">
              <a:noFill/>
              <a:miter lim="800000"/>
              <a:headEnd/>
              <a:tailEnd/>
            </a:ln>
          </p:spPr>
          <p:txBody>
            <a:bodyPr/>
            <a:lstStyle/>
            <a:p>
              <a:r>
                <a:rPr lang="en-US" sz="2000">
                  <a:latin typeface="+mn-lt"/>
                </a:rPr>
                <a:t>212</a:t>
              </a:r>
              <a:endParaRPr lang="en-US" sz="1600">
                <a:latin typeface="+mn-lt"/>
              </a:endParaRPr>
            </a:p>
            <a:p>
              <a:pPr eaLnBrk="0" hangingPunct="0"/>
              <a:endParaRPr lang="en-US" sz="2400">
                <a:latin typeface="+mn-lt"/>
              </a:endParaRPr>
            </a:p>
          </p:txBody>
        </p:sp>
        <p:sp>
          <p:nvSpPr>
            <p:cNvPr id="29" name="Rectangle 26"/>
            <p:cNvSpPr>
              <a:spLocks noChangeArrowheads="1"/>
            </p:cNvSpPr>
            <p:nvPr/>
          </p:nvSpPr>
          <p:spPr bwMode="auto">
            <a:xfrm>
              <a:off x="1815" y="2884"/>
              <a:ext cx="886" cy="442"/>
            </a:xfrm>
            <a:prstGeom prst="rect">
              <a:avLst/>
            </a:prstGeom>
            <a:noFill/>
            <a:ln w="9525">
              <a:noFill/>
              <a:miter lim="800000"/>
              <a:headEnd/>
              <a:tailEnd/>
            </a:ln>
          </p:spPr>
          <p:txBody>
            <a:bodyPr/>
            <a:lstStyle/>
            <a:p>
              <a:r>
                <a:rPr lang="en-US" sz="2000" dirty="0" smtClean="0">
                  <a:latin typeface="+mn-lt"/>
                </a:rPr>
                <a:t> 18.7</a:t>
              </a:r>
              <a:endParaRPr lang="en-US" sz="1600" dirty="0">
                <a:latin typeface="+mn-lt"/>
              </a:endParaRPr>
            </a:p>
            <a:p>
              <a:pPr eaLnBrk="0" hangingPunct="0"/>
              <a:endParaRPr lang="en-US" sz="2400" dirty="0">
                <a:latin typeface="+mn-lt"/>
              </a:endParaRPr>
            </a:p>
          </p:txBody>
        </p:sp>
        <p:sp>
          <p:nvSpPr>
            <p:cNvPr id="30" name="Rectangle 27"/>
            <p:cNvSpPr>
              <a:spLocks noChangeArrowheads="1"/>
            </p:cNvSpPr>
            <p:nvPr/>
          </p:nvSpPr>
          <p:spPr bwMode="auto">
            <a:xfrm>
              <a:off x="2701" y="2884"/>
              <a:ext cx="886" cy="442"/>
            </a:xfrm>
            <a:prstGeom prst="rect">
              <a:avLst/>
            </a:prstGeom>
            <a:noFill/>
            <a:ln w="9525">
              <a:noFill/>
              <a:miter lim="800000"/>
              <a:headEnd/>
              <a:tailEnd/>
            </a:ln>
          </p:spPr>
          <p:txBody>
            <a:bodyPr/>
            <a:lstStyle/>
            <a:p>
              <a:r>
                <a:rPr lang="en-US" sz="2000">
                  <a:latin typeface="+mn-lt"/>
                </a:rPr>
                <a:t>349.69</a:t>
              </a:r>
              <a:endParaRPr lang="en-US" sz="1600">
                <a:latin typeface="+mn-lt"/>
              </a:endParaRPr>
            </a:p>
            <a:p>
              <a:pPr eaLnBrk="0" hangingPunct="0"/>
              <a:endParaRPr lang="en-US" sz="2400">
                <a:latin typeface="+mn-lt"/>
              </a:endParaRPr>
            </a:p>
          </p:txBody>
        </p:sp>
        <p:sp>
          <p:nvSpPr>
            <p:cNvPr id="31" name="Rectangle 28"/>
            <p:cNvSpPr>
              <a:spLocks noChangeArrowheads="1"/>
            </p:cNvSpPr>
            <p:nvPr/>
          </p:nvSpPr>
          <p:spPr bwMode="auto">
            <a:xfrm>
              <a:off x="43" y="3326"/>
              <a:ext cx="886" cy="442"/>
            </a:xfrm>
            <a:prstGeom prst="rect">
              <a:avLst/>
            </a:prstGeom>
            <a:noFill/>
            <a:ln w="9525">
              <a:noFill/>
              <a:miter lim="800000"/>
              <a:headEnd/>
              <a:tailEnd/>
            </a:ln>
          </p:spPr>
          <p:txBody>
            <a:bodyPr/>
            <a:lstStyle/>
            <a:p>
              <a:r>
                <a:rPr lang="en-US" sz="2000">
                  <a:latin typeface="+mn-lt"/>
                </a:rPr>
                <a:t>6</a:t>
              </a:r>
              <a:endParaRPr lang="en-US" sz="1600">
                <a:latin typeface="+mn-lt"/>
              </a:endParaRPr>
            </a:p>
            <a:p>
              <a:pPr eaLnBrk="0" hangingPunct="0"/>
              <a:endParaRPr lang="en-US" sz="2400">
                <a:latin typeface="+mn-lt"/>
              </a:endParaRPr>
            </a:p>
          </p:txBody>
        </p:sp>
        <p:sp>
          <p:nvSpPr>
            <p:cNvPr id="32" name="Rectangle 29"/>
            <p:cNvSpPr>
              <a:spLocks noChangeArrowheads="1"/>
            </p:cNvSpPr>
            <p:nvPr/>
          </p:nvSpPr>
          <p:spPr bwMode="auto">
            <a:xfrm>
              <a:off x="929" y="3326"/>
              <a:ext cx="886" cy="442"/>
            </a:xfrm>
            <a:prstGeom prst="rect">
              <a:avLst/>
            </a:prstGeom>
            <a:noFill/>
            <a:ln w="9525">
              <a:noFill/>
              <a:miter lim="800000"/>
              <a:headEnd/>
              <a:tailEnd/>
            </a:ln>
          </p:spPr>
          <p:txBody>
            <a:bodyPr/>
            <a:lstStyle/>
            <a:p>
              <a:r>
                <a:rPr lang="en-US" sz="2000">
                  <a:latin typeface="+mn-lt"/>
                </a:rPr>
                <a:t>180</a:t>
              </a:r>
              <a:endParaRPr lang="en-US" sz="1600">
                <a:latin typeface="+mn-lt"/>
              </a:endParaRPr>
            </a:p>
            <a:p>
              <a:pPr eaLnBrk="0" hangingPunct="0"/>
              <a:endParaRPr lang="en-US" sz="2400">
                <a:latin typeface="+mn-lt"/>
              </a:endParaRPr>
            </a:p>
          </p:txBody>
        </p:sp>
        <p:sp>
          <p:nvSpPr>
            <p:cNvPr id="33" name="Rectangle 30"/>
            <p:cNvSpPr>
              <a:spLocks noChangeArrowheads="1"/>
            </p:cNvSpPr>
            <p:nvPr/>
          </p:nvSpPr>
          <p:spPr bwMode="auto">
            <a:xfrm>
              <a:off x="1815" y="3326"/>
              <a:ext cx="886" cy="442"/>
            </a:xfrm>
            <a:prstGeom prst="rect">
              <a:avLst/>
            </a:prstGeom>
            <a:noFill/>
            <a:ln w="9525">
              <a:noFill/>
              <a:miter lim="800000"/>
              <a:headEnd/>
              <a:tailEnd/>
            </a:ln>
          </p:spPr>
          <p:txBody>
            <a:bodyPr/>
            <a:lstStyle/>
            <a:p>
              <a:r>
                <a:rPr lang="en-US" sz="2000">
                  <a:latin typeface="+mn-lt"/>
                </a:rPr>
                <a:t>-13.3</a:t>
              </a:r>
              <a:endParaRPr lang="en-US" sz="1600">
                <a:latin typeface="+mn-lt"/>
              </a:endParaRPr>
            </a:p>
            <a:p>
              <a:pPr eaLnBrk="0" hangingPunct="0"/>
              <a:endParaRPr lang="en-US" sz="2400">
                <a:latin typeface="+mn-lt"/>
              </a:endParaRPr>
            </a:p>
          </p:txBody>
        </p:sp>
        <p:sp>
          <p:nvSpPr>
            <p:cNvPr id="34" name="Rectangle 31"/>
            <p:cNvSpPr>
              <a:spLocks noChangeArrowheads="1"/>
            </p:cNvSpPr>
            <p:nvPr/>
          </p:nvSpPr>
          <p:spPr bwMode="auto">
            <a:xfrm>
              <a:off x="2701" y="3326"/>
              <a:ext cx="886" cy="442"/>
            </a:xfrm>
            <a:prstGeom prst="rect">
              <a:avLst/>
            </a:prstGeom>
            <a:noFill/>
            <a:ln w="9525">
              <a:noFill/>
              <a:miter lim="800000"/>
              <a:headEnd/>
              <a:tailEnd/>
            </a:ln>
          </p:spPr>
          <p:txBody>
            <a:bodyPr/>
            <a:lstStyle/>
            <a:p>
              <a:r>
                <a:rPr lang="en-US" sz="2000">
                  <a:latin typeface="+mn-lt"/>
                </a:rPr>
                <a:t>176.89</a:t>
              </a:r>
              <a:endParaRPr lang="en-US" sz="1600">
                <a:latin typeface="+mn-lt"/>
              </a:endParaRPr>
            </a:p>
            <a:p>
              <a:pPr eaLnBrk="0" hangingPunct="0"/>
              <a:endParaRPr lang="en-US" sz="2400">
                <a:latin typeface="+mn-lt"/>
              </a:endParaRPr>
            </a:p>
          </p:txBody>
        </p:sp>
        <p:sp>
          <p:nvSpPr>
            <p:cNvPr id="35" name="Rectangle 32"/>
            <p:cNvSpPr>
              <a:spLocks noChangeArrowheads="1"/>
            </p:cNvSpPr>
            <p:nvPr/>
          </p:nvSpPr>
          <p:spPr bwMode="auto">
            <a:xfrm>
              <a:off x="43" y="3768"/>
              <a:ext cx="886" cy="442"/>
            </a:xfrm>
            <a:prstGeom prst="rect">
              <a:avLst/>
            </a:prstGeom>
            <a:noFill/>
            <a:ln w="9525">
              <a:noFill/>
              <a:miter lim="800000"/>
              <a:headEnd/>
              <a:tailEnd/>
            </a:ln>
          </p:spPr>
          <p:txBody>
            <a:bodyPr/>
            <a:lstStyle/>
            <a:p>
              <a:r>
                <a:rPr lang="en-US" sz="2000">
                  <a:latin typeface="+mn-lt"/>
                </a:rPr>
                <a:t>7</a:t>
              </a:r>
              <a:endParaRPr lang="en-US" sz="1600">
                <a:latin typeface="+mn-lt"/>
              </a:endParaRPr>
            </a:p>
            <a:p>
              <a:pPr eaLnBrk="0" hangingPunct="0"/>
              <a:endParaRPr lang="en-US" sz="2400">
                <a:latin typeface="+mn-lt"/>
              </a:endParaRPr>
            </a:p>
          </p:txBody>
        </p:sp>
        <p:sp>
          <p:nvSpPr>
            <p:cNvPr id="36" name="Rectangle 33"/>
            <p:cNvSpPr>
              <a:spLocks noChangeArrowheads="1"/>
            </p:cNvSpPr>
            <p:nvPr/>
          </p:nvSpPr>
          <p:spPr bwMode="auto">
            <a:xfrm>
              <a:off x="929" y="3768"/>
              <a:ext cx="886" cy="442"/>
            </a:xfrm>
            <a:prstGeom prst="rect">
              <a:avLst/>
            </a:prstGeom>
            <a:noFill/>
            <a:ln w="9525">
              <a:noFill/>
              <a:miter lim="800000"/>
              <a:headEnd/>
              <a:tailEnd/>
            </a:ln>
          </p:spPr>
          <p:txBody>
            <a:bodyPr/>
            <a:lstStyle/>
            <a:p>
              <a:r>
                <a:rPr lang="en-US" sz="2000">
                  <a:latin typeface="+mn-lt"/>
                </a:rPr>
                <a:t>200</a:t>
              </a:r>
              <a:endParaRPr lang="en-US" sz="1600">
                <a:latin typeface="+mn-lt"/>
              </a:endParaRPr>
            </a:p>
            <a:p>
              <a:pPr eaLnBrk="0" hangingPunct="0"/>
              <a:endParaRPr lang="en-US" sz="2400">
                <a:latin typeface="+mn-lt"/>
              </a:endParaRPr>
            </a:p>
          </p:txBody>
        </p:sp>
        <p:sp>
          <p:nvSpPr>
            <p:cNvPr id="37" name="Rectangle 34"/>
            <p:cNvSpPr>
              <a:spLocks noChangeArrowheads="1"/>
            </p:cNvSpPr>
            <p:nvPr/>
          </p:nvSpPr>
          <p:spPr bwMode="auto">
            <a:xfrm>
              <a:off x="1815" y="3768"/>
              <a:ext cx="886" cy="442"/>
            </a:xfrm>
            <a:prstGeom prst="rect">
              <a:avLst/>
            </a:prstGeom>
            <a:noFill/>
            <a:ln w="9525">
              <a:noFill/>
              <a:miter lim="800000"/>
              <a:headEnd/>
              <a:tailEnd/>
            </a:ln>
          </p:spPr>
          <p:txBody>
            <a:bodyPr/>
            <a:lstStyle/>
            <a:p>
              <a:r>
                <a:rPr lang="en-US" sz="2000" dirty="0" smtClean="0">
                  <a:latin typeface="+mn-lt"/>
                </a:rPr>
                <a:t>  6.7</a:t>
              </a:r>
              <a:endParaRPr lang="en-US" sz="1600" dirty="0">
                <a:latin typeface="+mn-lt"/>
              </a:endParaRPr>
            </a:p>
            <a:p>
              <a:pPr eaLnBrk="0" hangingPunct="0"/>
              <a:endParaRPr lang="en-US" sz="2400" dirty="0">
                <a:latin typeface="+mn-lt"/>
              </a:endParaRPr>
            </a:p>
          </p:txBody>
        </p:sp>
        <p:sp>
          <p:nvSpPr>
            <p:cNvPr id="38" name="Rectangle 35"/>
            <p:cNvSpPr>
              <a:spLocks noChangeArrowheads="1"/>
            </p:cNvSpPr>
            <p:nvPr/>
          </p:nvSpPr>
          <p:spPr bwMode="auto">
            <a:xfrm>
              <a:off x="2701" y="3768"/>
              <a:ext cx="886" cy="442"/>
            </a:xfrm>
            <a:prstGeom prst="rect">
              <a:avLst/>
            </a:prstGeom>
            <a:noFill/>
            <a:ln w="9525">
              <a:noFill/>
              <a:miter lim="800000"/>
              <a:headEnd/>
              <a:tailEnd/>
            </a:ln>
          </p:spPr>
          <p:txBody>
            <a:bodyPr/>
            <a:lstStyle/>
            <a:p>
              <a:r>
                <a:rPr lang="en-US" sz="2000">
                  <a:latin typeface="+mn-lt"/>
                </a:rPr>
                <a:t>44.89</a:t>
              </a:r>
              <a:endParaRPr lang="en-US" sz="1600">
                <a:latin typeface="+mn-lt"/>
              </a:endParaRPr>
            </a:p>
            <a:p>
              <a:pPr eaLnBrk="0" hangingPunct="0"/>
              <a:endParaRPr lang="en-US" sz="2400">
                <a:latin typeface="+mn-lt"/>
              </a:endParaRPr>
            </a:p>
          </p:txBody>
        </p:sp>
        <p:sp>
          <p:nvSpPr>
            <p:cNvPr id="39" name="Rectangle 36"/>
            <p:cNvSpPr>
              <a:spLocks noChangeArrowheads="1"/>
            </p:cNvSpPr>
            <p:nvPr/>
          </p:nvSpPr>
          <p:spPr bwMode="auto">
            <a:xfrm>
              <a:off x="43" y="4210"/>
              <a:ext cx="886" cy="442"/>
            </a:xfrm>
            <a:prstGeom prst="rect">
              <a:avLst/>
            </a:prstGeom>
            <a:noFill/>
            <a:ln w="9525">
              <a:noFill/>
              <a:miter lim="800000"/>
              <a:headEnd/>
              <a:tailEnd/>
            </a:ln>
          </p:spPr>
          <p:txBody>
            <a:bodyPr/>
            <a:lstStyle/>
            <a:p>
              <a:r>
                <a:rPr lang="en-US" sz="2000">
                  <a:latin typeface="+mn-lt"/>
                </a:rPr>
                <a:t>8</a:t>
              </a:r>
              <a:endParaRPr lang="en-US" sz="1600">
                <a:latin typeface="+mn-lt"/>
              </a:endParaRPr>
            </a:p>
            <a:p>
              <a:pPr eaLnBrk="0" hangingPunct="0"/>
              <a:endParaRPr lang="en-US" sz="2400">
                <a:latin typeface="+mn-lt"/>
              </a:endParaRPr>
            </a:p>
          </p:txBody>
        </p:sp>
        <p:sp>
          <p:nvSpPr>
            <p:cNvPr id="40" name="Rectangle 37"/>
            <p:cNvSpPr>
              <a:spLocks noChangeArrowheads="1"/>
            </p:cNvSpPr>
            <p:nvPr/>
          </p:nvSpPr>
          <p:spPr bwMode="auto">
            <a:xfrm>
              <a:off x="929" y="4210"/>
              <a:ext cx="886" cy="442"/>
            </a:xfrm>
            <a:prstGeom prst="rect">
              <a:avLst/>
            </a:prstGeom>
            <a:noFill/>
            <a:ln w="9525">
              <a:noFill/>
              <a:miter lim="800000"/>
              <a:headEnd/>
              <a:tailEnd/>
            </a:ln>
          </p:spPr>
          <p:txBody>
            <a:bodyPr/>
            <a:lstStyle/>
            <a:p>
              <a:r>
                <a:rPr lang="en-US" sz="2000">
                  <a:latin typeface="+mn-lt"/>
                </a:rPr>
                <a:t>264</a:t>
              </a:r>
              <a:endParaRPr lang="en-US" sz="1600">
                <a:latin typeface="+mn-lt"/>
              </a:endParaRPr>
            </a:p>
            <a:p>
              <a:pPr eaLnBrk="0" hangingPunct="0"/>
              <a:endParaRPr lang="en-US" sz="2400">
                <a:latin typeface="+mn-lt"/>
              </a:endParaRPr>
            </a:p>
          </p:txBody>
        </p:sp>
        <p:sp>
          <p:nvSpPr>
            <p:cNvPr id="41" name="Rectangle 38"/>
            <p:cNvSpPr>
              <a:spLocks noChangeArrowheads="1"/>
            </p:cNvSpPr>
            <p:nvPr/>
          </p:nvSpPr>
          <p:spPr bwMode="auto">
            <a:xfrm>
              <a:off x="1815" y="4210"/>
              <a:ext cx="886" cy="442"/>
            </a:xfrm>
            <a:prstGeom prst="rect">
              <a:avLst/>
            </a:prstGeom>
            <a:noFill/>
            <a:ln w="9525">
              <a:noFill/>
              <a:miter lim="800000"/>
              <a:headEnd/>
              <a:tailEnd/>
            </a:ln>
          </p:spPr>
          <p:txBody>
            <a:bodyPr/>
            <a:lstStyle/>
            <a:p>
              <a:r>
                <a:rPr lang="en-US" sz="2000" dirty="0" smtClean="0">
                  <a:latin typeface="+mn-lt"/>
                </a:rPr>
                <a:t> 70.7</a:t>
              </a:r>
              <a:endParaRPr lang="en-US" sz="1600" dirty="0">
                <a:latin typeface="+mn-lt"/>
              </a:endParaRPr>
            </a:p>
            <a:p>
              <a:pPr eaLnBrk="0" hangingPunct="0"/>
              <a:endParaRPr lang="en-US" sz="2400" dirty="0">
                <a:latin typeface="+mn-lt"/>
              </a:endParaRPr>
            </a:p>
          </p:txBody>
        </p:sp>
        <p:sp>
          <p:nvSpPr>
            <p:cNvPr id="42" name="Rectangle 39"/>
            <p:cNvSpPr>
              <a:spLocks noChangeArrowheads="1"/>
            </p:cNvSpPr>
            <p:nvPr/>
          </p:nvSpPr>
          <p:spPr bwMode="auto">
            <a:xfrm>
              <a:off x="2701" y="4210"/>
              <a:ext cx="886" cy="442"/>
            </a:xfrm>
            <a:prstGeom prst="rect">
              <a:avLst/>
            </a:prstGeom>
            <a:noFill/>
            <a:ln w="9525">
              <a:noFill/>
              <a:miter lim="800000"/>
              <a:headEnd/>
              <a:tailEnd/>
            </a:ln>
          </p:spPr>
          <p:txBody>
            <a:bodyPr/>
            <a:lstStyle/>
            <a:p>
              <a:r>
                <a:rPr lang="en-US" sz="2000">
                  <a:latin typeface="+mn-lt"/>
                </a:rPr>
                <a:t>4998.49</a:t>
              </a:r>
              <a:endParaRPr lang="en-US" sz="1600">
                <a:latin typeface="+mn-lt"/>
              </a:endParaRPr>
            </a:p>
            <a:p>
              <a:pPr eaLnBrk="0" hangingPunct="0"/>
              <a:endParaRPr lang="en-US" sz="2400">
                <a:latin typeface="+mn-lt"/>
              </a:endParaRPr>
            </a:p>
          </p:txBody>
        </p:sp>
        <p:sp>
          <p:nvSpPr>
            <p:cNvPr id="43" name="Rectangle 40"/>
            <p:cNvSpPr>
              <a:spLocks noChangeArrowheads="1"/>
            </p:cNvSpPr>
            <p:nvPr/>
          </p:nvSpPr>
          <p:spPr bwMode="auto">
            <a:xfrm>
              <a:off x="43" y="4652"/>
              <a:ext cx="886" cy="442"/>
            </a:xfrm>
            <a:prstGeom prst="rect">
              <a:avLst/>
            </a:prstGeom>
            <a:noFill/>
            <a:ln w="9525">
              <a:noFill/>
              <a:miter lim="800000"/>
              <a:headEnd/>
              <a:tailEnd/>
            </a:ln>
          </p:spPr>
          <p:txBody>
            <a:bodyPr/>
            <a:lstStyle/>
            <a:p>
              <a:r>
                <a:rPr lang="en-US" sz="2000">
                  <a:latin typeface="+mn-lt"/>
                </a:rPr>
                <a:t>9</a:t>
              </a:r>
              <a:endParaRPr lang="en-US" sz="1600">
                <a:latin typeface="+mn-lt"/>
              </a:endParaRPr>
            </a:p>
            <a:p>
              <a:pPr eaLnBrk="0" hangingPunct="0"/>
              <a:endParaRPr lang="en-US" sz="2400">
                <a:latin typeface="+mn-lt"/>
              </a:endParaRPr>
            </a:p>
          </p:txBody>
        </p:sp>
        <p:sp>
          <p:nvSpPr>
            <p:cNvPr id="44" name="Rectangle 41"/>
            <p:cNvSpPr>
              <a:spLocks noChangeArrowheads="1"/>
            </p:cNvSpPr>
            <p:nvPr/>
          </p:nvSpPr>
          <p:spPr bwMode="auto">
            <a:xfrm>
              <a:off x="929" y="4652"/>
              <a:ext cx="886" cy="442"/>
            </a:xfrm>
            <a:prstGeom prst="rect">
              <a:avLst/>
            </a:prstGeom>
            <a:noFill/>
            <a:ln w="9525">
              <a:noFill/>
              <a:miter lim="800000"/>
              <a:headEnd/>
              <a:tailEnd/>
            </a:ln>
          </p:spPr>
          <p:txBody>
            <a:bodyPr/>
            <a:lstStyle/>
            <a:p>
              <a:r>
                <a:rPr lang="en-US" sz="2000" u="sng">
                  <a:latin typeface="+mn-lt"/>
                </a:rPr>
                <a:t>203</a:t>
              </a:r>
              <a:endParaRPr lang="en-US" sz="1600">
                <a:latin typeface="+mn-lt"/>
              </a:endParaRPr>
            </a:p>
            <a:p>
              <a:pPr eaLnBrk="0" hangingPunct="0"/>
              <a:endParaRPr lang="en-US" sz="2400">
                <a:latin typeface="+mn-lt"/>
              </a:endParaRPr>
            </a:p>
          </p:txBody>
        </p:sp>
        <p:sp>
          <p:nvSpPr>
            <p:cNvPr id="45" name="Rectangle 42"/>
            <p:cNvSpPr>
              <a:spLocks noChangeArrowheads="1"/>
            </p:cNvSpPr>
            <p:nvPr/>
          </p:nvSpPr>
          <p:spPr bwMode="auto">
            <a:xfrm>
              <a:off x="1815" y="4652"/>
              <a:ext cx="886" cy="442"/>
            </a:xfrm>
            <a:prstGeom prst="rect">
              <a:avLst/>
            </a:prstGeom>
            <a:noFill/>
            <a:ln w="9525">
              <a:noFill/>
              <a:miter lim="800000"/>
              <a:headEnd/>
              <a:tailEnd/>
            </a:ln>
          </p:spPr>
          <p:txBody>
            <a:bodyPr/>
            <a:lstStyle/>
            <a:p>
              <a:r>
                <a:rPr lang="en-US" sz="2000" u="sng" dirty="0" smtClean="0">
                  <a:latin typeface="+mn-lt"/>
                </a:rPr>
                <a:t>  9.7</a:t>
              </a:r>
              <a:endParaRPr lang="en-US" sz="1600" dirty="0">
                <a:latin typeface="+mn-lt"/>
              </a:endParaRPr>
            </a:p>
            <a:p>
              <a:pPr eaLnBrk="0" hangingPunct="0"/>
              <a:endParaRPr lang="en-US" sz="2400" dirty="0">
                <a:latin typeface="+mn-lt"/>
              </a:endParaRPr>
            </a:p>
          </p:txBody>
        </p:sp>
        <p:sp>
          <p:nvSpPr>
            <p:cNvPr id="46" name="Rectangle 43"/>
            <p:cNvSpPr>
              <a:spLocks noChangeArrowheads="1"/>
            </p:cNvSpPr>
            <p:nvPr/>
          </p:nvSpPr>
          <p:spPr bwMode="auto">
            <a:xfrm>
              <a:off x="2701" y="4652"/>
              <a:ext cx="886" cy="442"/>
            </a:xfrm>
            <a:prstGeom prst="rect">
              <a:avLst/>
            </a:prstGeom>
            <a:noFill/>
            <a:ln w="9525">
              <a:noFill/>
              <a:miter lim="800000"/>
              <a:headEnd/>
              <a:tailEnd/>
            </a:ln>
          </p:spPr>
          <p:txBody>
            <a:bodyPr/>
            <a:lstStyle/>
            <a:p>
              <a:r>
                <a:rPr lang="en-US" sz="2000" u="sng">
                  <a:latin typeface="+mn-lt"/>
                </a:rPr>
                <a:t>94.09</a:t>
              </a:r>
              <a:endParaRPr lang="en-US" sz="1600">
                <a:latin typeface="+mn-lt"/>
              </a:endParaRPr>
            </a:p>
            <a:p>
              <a:pPr eaLnBrk="0" hangingPunct="0"/>
              <a:endParaRPr lang="en-US" sz="2400">
                <a:latin typeface="+mn-lt"/>
              </a:endParaRPr>
            </a:p>
          </p:txBody>
        </p:sp>
        <p:sp>
          <p:nvSpPr>
            <p:cNvPr id="47" name="Rectangle 44"/>
            <p:cNvSpPr>
              <a:spLocks noChangeArrowheads="1"/>
            </p:cNvSpPr>
            <p:nvPr/>
          </p:nvSpPr>
          <p:spPr bwMode="auto">
            <a:xfrm>
              <a:off x="43" y="5094"/>
              <a:ext cx="886" cy="403"/>
            </a:xfrm>
            <a:prstGeom prst="rect">
              <a:avLst/>
            </a:prstGeom>
            <a:noFill/>
            <a:ln w="9525">
              <a:noFill/>
              <a:miter lim="800000"/>
              <a:headEnd/>
              <a:tailEnd/>
            </a:ln>
          </p:spPr>
          <p:txBody>
            <a:bodyPr/>
            <a:lstStyle/>
            <a:p>
              <a:r>
                <a:rPr lang="en-US" sz="1600">
                  <a:latin typeface="+mn-lt"/>
                </a:rPr>
                <a:t> </a:t>
              </a:r>
            </a:p>
            <a:p>
              <a:pPr eaLnBrk="0" hangingPunct="0"/>
              <a:endParaRPr lang="en-US" sz="2400">
                <a:latin typeface="+mn-lt"/>
              </a:endParaRPr>
            </a:p>
          </p:txBody>
        </p:sp>
        <p:sp>
          <p:nvSpPr>
            <p:cNvPr id="48" name="Rectangle 45"/>
            <p:cNvSpPr>
              <a:spLocks noChangeArrowheads="1"/>
            </p:cNvSpPr>
            <p:nvPr/>
          </p:nvSpPr>
          <p:spPr bwMode="auto">
            <a:xfrm>
              <a:off x="929" y="5094"/>
              <a:ext cx="886" cy="403"/>
            </a:xfrm>
            <a:prstGeom prst="rect">
              <a:avLst/>
            </a:prstGeom>
            <a:noFill/>
            <a:ln w="9525">
              <a:noFill/>
              <a:miter lim="800000"/>
              <a:headEnd/>
              <a:tailEnd/>
            </a:ln>
          </p:spPr>
          <p:txBody>
            <a:bodyPr/>
            <a:lstStyle/>
            <a:p>
              <a:r>
                <a:rPr lang="en-US" sz="2000">
                  <a:solidFill>
                    <a:srgbClr val="FF0000"/>
                  </a:solidFill>
                  <a:latin typeface="+mn-lt"/>
                  <a:sym typeface="Symbol" pitchFamily="18" charset="2"/>
                </a:rPr>
                <a:t></a:t>
              </a:r>
              <a:r>
                <a:rPr lang="en-US" sz="2000">
                  <a:solidFill>
                    <a:srgbClr val="FF0000"/>
                  </a:solidFill>
                  <a:latin typeface="+mn-lt"/>
                </a:rPr>
                <a:t>=1740</a:t>
              </a:r>
              <a:endParaRPr lang="en-US" sz="1600">
                <a:solidFill>
                  <a:srgbClr val="FF0000"/>
                </a:solidFill>
                <a:latin typeface="+mn-lt"/>
                <a:sym typeface="Symbol" pitchFamily="18" charset="2"/>
              </a:endParaRPr>
            </a:p>
            <a:p>
              <a:pPr eaLnBrk="0" hangingPunct="0"/>
              <a:endParaRPr lang="en-US" sz="2000">
                <a:solidFill>
                  <a:schemeClr val="accent1"/>
                </a:solidFill>
                <a:latin typeface="+mn-lt"/>
                <a:sym typeface="Symbol" pitchFamily="18" charset="2"/>
              </a:endParaRPr>
            </a:p>
          </p:txBody>
        </p:sp>
        <p:sp>
          <p:nvSpPr>
            <p:cNvPr id="49" name="Rectangle 46"/>
            <p:cNvSpPr>
              <a:spLocks noChangeArrowheads="1"/>
            </p:cNvSpPr>
            <p:nvPr/>
          </p:nvSpPr>
          <p:spPr bwMode="auto">
            <a:xfrm>
              <a:off x="1815" y="5094"/>
              <a:ext cx="886" cy="403"/>
            </a:xfrm>
            <a:prstGeom prst="rect">
              <a:avLst/>
            </a:prstGeom>
            <a:noFill/>
            <a:ln w="9525">
              <a:noFill/>
              <a:miter lim="800000"/>
              <a:headEnd/>
              <a:tailEnd/>
            </a:ln>
          </p:spPr>
          <p:txBody>
            <a:bodyPr/>
            <a:lstStyle/>
            <a:p>
              <a:r>
                <a:rPr lang="en-US" sz="2000">
                  <a:solidFill>
                    <a:srgbClr val="FF0000"/>
                  </a:solidFill>
                  <a:latin typeface="+mn-lt"/>
                  <a:sym typeface="Symbol" pitchFamily="18" charset="2"/>
                </a:rPr>
                <a:t></a:t>
              </a:r>
              <a:r>
                <a:rPr lang="en-US" sz="2000">
                  <a:solidFill>
                    <a:srgbClr val="FF0000"/>
                  </a:solidFill>
                  <a:latin typeface="+mn-lt"/>
                </a:rPr>
                <a:t>=0</a:t>
              </a:r>
              <a:endParaRPr lang="en-US" sz="1600">
                <a:solidFill>
                  <a:srgbClr val="FF0000"/>
                </a:solidFill>
                <a:latin typeface="+mn-lt"/>
                <a:sym typeface="Symbol" pitchFamily="18" charset="2"/>
              </a:endParaRPr>
            </a:p>
            <a:p>
              <a:pPr eaLnBrk="0" hangingPunct="0"/>
              <a:endParaRPr lang="en-US" sz="2000">
                <a:solidFill>
                  <a:schemeClr val="accent1"/>
                </a:solidFill>
                <a:latin typeface="+mn-lt"/>
                <a:sym typeface="Symbol" pitchFamily="18" charset="2"/>
              </a:endParaRPr>
            </a:p>
          </p:txBody>
        </p:sp>
        <p:sp>
          <p:nvSpPr>
            <p:cNvPr id="50" name="Rectangle 47"/>
            <p:cNvSpPr>
              <a:spLocks noChangeArrowheads="1"/>
            </p:cNvSpPr>
            <p:nvPr/>
          </p:nvSpPr>
          <p:spPr bwMode="auto">
            <a:xfrm>
              <a:off x="2508" y="5094"/>
              <a:ext cx="1079" cy="403"/>
            </a:xfrm>
            <a:prstGeom prst="rect">
              <a:avLst/>
            </a:prstGeom>
            <a:noFill/>
            <a:ln w="9525">
              <a:noFill/>
              <a:miter lim="800000"/>
              <a:headEnd/>
              <a:tailEnd/>
            </a:ln>
          </p:spPr>
          <p:txBody>
            <a:bodyPr/>
            <a:lstStyle/>
            <a:p>
              <a:r>
                <a:rPr lang="en-US" sz="2000" dirty="0">
                  <a:solidFill>
                    <a:srgbClr val="FF0000"/>
                  </a:solidFill>
                  <a:latin typeface="+mn-lt"/>
                  <a:sym typeface="Symbol" pitchFamily="18" charset="2"/>
                </a:rPr>
                <a:t></a:t>
              </a:r>
              <a:r>
                <a:rPr lang="en-US" sz="2000" dirty="0">
                  <a:solidFill>
                    <a:srgbClr val="FF0000"/>
                  </a:solidFill>
                  <a:latin typeface="+mn-lt"/>
                </a:rPr>
                <a:t>=11774.01</a:t>
              </a:r>
              <a:endParaRPr lang="en-US" sz="1600" dirty="0">
                <a:solidFill>
                  <a:srgbClr val="FF0000"/>
                </a:solidFill>
                <a:latin typeface="+mn-lt"/>
                <a:sym typeface="Symbol" pitchFamily="18" charset="2"/>
              </a:endParaRPr>
            </a:p>
            <a:p>
              <a:pPr eaLnBrk="0" hangingPunct="0"/>
              <a:endParaRPr lang="en-US" sz="2000" dirty="0">
                <a:solidFill>
                  <a:schemeClr val="accent1"/>
                </a:solidFill>
                <a:latin typeface="+mn-lt"/>
                <a:sym typeface="Symbol" pitchFamily="18" charset="2"/>
              </a:endParaRPr>
            </a:p>
          </p:txBody>
        </p:sp>
      </p:grpSp>
      <p:graphicFrame>
        <p:nvGraphicFramePr>
          <p:cNvPr id="52273" name="Object 49"/>
          <p:cNvGraphicFramePr>
            <a:graphicFrameLocks noChangeAspect="1"/>
          </p:cNvGraphicFramePr>
          <p:nvPr/>
        </p:nvGraphicFramePr>
        <p:xfrm>
          <a:off x="5486400" y="1219200"/>
          <a:ext cx="3200400" cy="836613"/>
        </p:xfrm>
        <a:graphic>
          <a:graphicData uri="http://schemas.openxmlformats.org/presentationml/2006/ole">
            <p:oleObj spid="_x0000_s913551" name="Equation" r:id="rId3" imgW="1587500" imgH="431800" progId="Equation.3">
              <p:embed/>
            </p:oleObj>
          </a:graphicData>
        </a:graphic>
      </p:graphicFrame>
      <p:graphicFrame>
        <p:nvGraphicFramePr>
          <p:cNvPr id="52274" name="Object 50"/>
          <p:cNvGraphicFramePr>
            <a:graphicFrameLocks noChangeAspect="1"/>
          </p:cNvGraphicFramePr>
          <p:nvPr/>
        </p:nvGraphicFramePr>
        <p:xfrm>
          <a:off x="5638800" y="2895600"/>
          <a:ext cx="3505200" cy="728663"/>
        </p:xfrm>
        <a:graphic>
          <a:graphicData uri="http://schemas.openxmlformats.org/presentationml/2006/ole">
            <p:oleObj spid="_x0000_s913552" name="Equation" r:id="rId4" imgW="2349500" imgH="406400" progId="Equation.3">
              <p:embed/>
            </p:oleObj>
          </a:graphicData>
        </a:graphic>
      </p:graphicFrame>
      <p:graphicFrame>
        <p:nvGraphicFramePr>
          <p:cNvPr id="52275" name="Object 51"/>
          <p:cNvGraphicFramePr>
            <a:graphicFrameLocks noChangeAspect="1"/>
          </p:cNvGraphicFramePr>
          <p:nvPr/>
        </p:nvGraphicFramePr>
        <p:xfrm>
          <a:off x="5943600" y="4572000"/>
          <a:ext cx="2438400" cy="922338"/>
        </p:xfrm>
        <a:graphic>
          <a:graphicData uri="http://schemas.openxmlformats.org/presentationml/2006/ole">
            <p:oleObj spid="_x0000_s913553" name="Equation" r:id="rId5" imgW="1536700" imgH="482600" progId="Equation.3">
              <p:embed/>
            </p:oleObj>
          </a:graphicData>
        </a:graphic>
      </p:graphicFrame>
      <p:sp>
        <p:nvSpPr>
          <p:cNvPr id="54" name="TextBox 53"/>
          <p:cNvSpPr txBox="1"/>
          <p:nvPr/>
        </p:nvSpPr>
        <p:spPr>
          <a:xfrm>
            <a:off x="2057400" y="0"/>
            <a:ext cx="5181600" cy="523220"/>
          </a:xfrm>
          <a:prstGeom prst="rect">
            <a:avLst/>
          </a:prstGeom>
          <a:noFill/>
        </p:spPr>
        <p:txBody>
          <a:bodyPr wrap="square" rtlCol="0">
            <a:spAutoFit/>
          </a:bodyPr>
          <a:lstStyle/>
          <a:p>
            <a:r>
              <a:rPr lang="en-US" sz="2800" dirty="0" smtClean="0">
                <a:latin typeface="+mj-lt"/>
              </a:rPr>
              <a:t>Calculation of Sample Variance</a:t>
            </a:r>
            <a:endParaRPr lang="en-US" sz="2800" dirty="0">
              <a:latin typeface="+mj-lt"/>
            </a:endParaRPr>
          </a:p>
        </p:txBody>
      </p:sp>
      <p:sp>
        <p:nvSpPr>
          <p:cNvPr id="55" name="TextBox 54"/>
          <p:cNvSpPr txBox="1"/>
          <p:nvPr/>
        </p:nvSpPr>
        <p:spPr>
          <a:xfrm>
            <a:off x="5562600" y="762000"/>
            <a:ext cx="2667000" cy="400110"/>
          </a:xfrm>
          <a:prstGeom prst="rect">
            <a:avLst/>
          </a:prstGeom>
          <a:noFill/>
        </p:spPr>
        <p:txBody>
          <a:bodyPr wrap="square" rtlCol="0">
            <a:spAutoFit/>
          </a:bodyPr>
          <a:lstStyle/>
          <a:p>
            <a:r>
              <a:rPr lang="en-US" sz="2000" dirty="0" smtClean="0">
                <a:latin typeface="+mj-lt"/>
              </a:rPr>
              <a:t>Sample mean</a:t>
            </a:r>
            <a:r>
              <a:rPr lang="en-US" dirty="0" smtClean="0"/>
              <a:t>: </a:t>
            </a:r>
            <a:endParaRPr lang="en-IN" dirty="0"/>
          </a:p>
        </p:txBody>
      </p:sp>
      <p:sp>
        <p:nvSpPr>
          <p:cNvPr id="56" name="TextBox 55"/>
          <p:cNvSpPr txBox="1"/>
          <p:nvPr/>
        </p:nvSpPr>
        <p:spPr>
          <a:xfrm>
            <a:off x="5638800" y="2286000"/>
            <a:ext cx="2590800" cy="400110"/>
          </a:xfrm>
          <a:prstGeom prst="rect">
            <a:avLst/>
          </a:prstGeom>
          <a:noFill/>
        </p:spPr>
        <p:txBody>
          <a:bodyPr wrap="square" rtlCol="0">
            <a:spAutoFit/>
          </a:bodyPr>
          <a:lstStyle/>
          <a:p>
            <a:r>
              <a:rPr lang="en-US" sz="2000" dirty="0" smtClean="0">
                <a:latin typeface="+mj-lt"/>
              </a:rPr>
              <a:t>Sample variance </a:t>
            </a:r>
            <a:r>
              <a:rPr lang="en-US" sz="2000" i="1" dirty="0" smtClean="0">
                <a:latin typeface="+mj-lt"/>
              </a:rPr>
              <a:t>S</a:t>
            </a:r>
            <a:r>
              <a:rPr lang="en-US" sz="2000" i="1" baseline="30000" dirty="0" smtClean="0">
                <a:latin typeface="+mj-lt"/>
              </a:rPr>
              <a:t>2</a:t>
            </a:r>
            <a:r>
              <a:rPr lang="en-US" sz="2000" dirty="0" smtClean="0">
                <a:latin typeface="+mj-lt"/>
              </a:rPr>
              <a:t>:</a:t>
            </a:r>
            <a:endParaRPr lang="en-IN" sz="2000" dirty="0">
              <a:latin typeface="+mj-lt"/>
            </a:endParaRPr>
          </a:p>
        </p:txBody>
      </p:sp>
      <p:sp>
        <p:nvSpPr>
          <p:cNvPr id="57" name="TextBox 56"/>
          <p:cNvSpPr txBox="1"/>
          <p:nvPr/>
        </p:nvSpPr>
        <p:spPr>
          <a:xfrm>
            <a:off x="3000364" y="1785926"/>
            <a:ext cx="1071570" cy="285752"/>
          </a:xfrm>
          <a:prstGeom prst="rect">
            <a:avLst/>
          </a:prstGeom>
          <a:noFill/>
        </p:spPr>
        <p:txBody>
          <a:bodyPr wrap="square" rtlCol="0">
            <a:spAutoFit/>
          </a:bodyPr>
          <a:lstStyle/>
          <a:p>
            <a:r>
              <a:rPr lang="en-US" sz="1200" dirty="0" smtClean="0">
                <a:solidFill>
                  <a:srgbClr val="FF0000"/>
                </a:solidFill>
              </a:rPr>
              <a:t>(216-193.3 )</a:t>
            </a:r>
            <a:endParaRPr lang="en-US" sz="1200" dirty="0">
              <a:solidFill>
                <a:srgbClr val="FF0000"/>
              </a:solidFill>
            </a:endParaRPr>
          </a:p>
        </p:txBody>
      </p:sp>
      <p:sp>
        <p:nvSpPr>
          <p:cNvPr id="58" name="Oval 57"/>
          <p:cNvSpPr/>
          <p:nvPr/>
        </p:nvSpPr>
        <p:spPr bwMode="auto">
          <a:xfrm>
            <a:off x="6215074" y="3286124"/>
            <a:ext cx="785818" cy="357190"/>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59" name="TextBox 58"/>
          <p:cNvSpPr txBox="1"/>
          <p:nvPr/>
        </p:nvSpPr>
        <p:spPr>
          <a:xfrm>
            <a:off x="5786446" y="4000504"/>
            <a:ext cx="2571768" cy="400110"/>
          </a:xfrm>
          <a:prstGeom prst="rect">
            <a:avLst/>
          </a:prstGeom>
          <a:noFill/>
        </p:spPr>
        <p:txBody>
          <a:bodyPr wrap="square" rtlCol="0">
            <a:spAutoFit/>
          </a:bodyPr>
          <a:lstStyle/>
          <a:p>
            <a:r>
              <a:rPr lang="en-US" sz="2000" dirty="0" smtClean="0">
                <a:latin typeface="+mj-lt"/>
              </a:rPr>
              <a:t>Standard deviation s</a:t>
            </a:r>
            <a:endParaRPr lang="en-US" sz="2000" dirty="0">
              <a:latin typeface="+mj-lt"/>
            </a:endParaRPr>
          </a:p>
        </p:txBody>
      </p:sp>
    </p:spTree>
    <p:extLst>
      <p:ext uri="{BB962C8B-B14F-4D97-AF65-F5344CB8AC3E}">
        <p14:creationId xmlns="" xmlns:p14="http://schemas.microsoft.com/office/powerpoint/2010/main" val="39812579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22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22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914400"/>
            <a:ext cx="8674100" cy="5486400"/>
          </a:xfrm>
        </p:spPr>
        <p:txBody>
          <a:bodyPr/>
          <a:lstStyle/>
          <a:p>
            <a:pPr algn="just"/>
            <a:r>
              <a:rPr lang="en-IN" dirty="0" smtClean="0"/>
              <a:t>Standard deviation and variance are the measure of absolute variations and depend on the scale of measurement. To compare the variance of several dataset relative variance needs to be assessed. This is given by Coefficient of Variation CV.</a:t>
            </a:r>
          </a:p>
          <a:p>
            <a:endParaRPr lang="en-IN" dirty="0"/>
          </a:p>
        </p:txBody>
      </p:sp>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45</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graphicFrame>
        <p:nvGraphicFramePr>
          <p:cNvPr id="8" name="Object 7"/>
          <p:cNvGraphicFramePr>
            <a:graphicFrameLocks noChangeAspect="1"/>
          </p:cNvGraphicFramePr>
          <p:nvPr/>
        </p:nvGraphicFramePr>
        <p:xfrm>
          <a:off x="3428992" y="2714620"/>
          <a:ext cx="1703390" cy="808528"/>
        </p:xfrm>
        <a:graphic>
          <a:graphicData uri="http://schemas.openxmlformats.org/presentationml/2006/ole">
            <p:oleObj spid="_x0000_s914575" name="Equation" r:id="rId3" imgW="1143000" imgH="545760" progId="Equation.3">
              <p:embed/>
            </p:oleObj>
          </a:graphicData>
        </a:graphic>
      </p:graphicFrame>
      <p:grpSp>
        <p:nvGrpSpPr>
          <p:cNvPr id="6" name="Group 13"/>
          <p:cNvGrpSpPr/>
          <p:nvPr/>
        </p:nvGrpSpPr>
        <p:grpSpPr>
          <a:xfrm>
            <a:off x="241300" y="3333750"/>
            <a:ext cx="8902700" cy="2609850"/>
            <a:chOff x="241300" y="3333750"/>
            <a:chExt cx="8902700" cy="2609850"/>
          </a:xfrm>
        </p:grpSpPr>
        <p:graphicFrame>
          <p:nvGraphicFramePr>
            <p:cNvPr id="7" name="Object 6"/>
            <p:cNvGraphicFramePr>
              <a:graphicFrameLocks noChangeAspect="1"/>
            </p:cNvGraphicFramePr>
            <p:nvPr/>
          </p:nvGraphicFramePr>
          <p:xfrm>
            <a:off x="4114800" y="3333750"/>
            <a:ext cx="914400" cy="190500"/>
          </p:xfrm>
          <a:graphic>
            <a:graphicData uri="http://schemas.openxmlformats.org/presentationml/2006/ole">
              <p:oleObj spid="_x0000_s914576" name="Equation" r:id="rId4" imgW="384378" imgH="720709" progId="Equation.3">
                <p:embed/>
              </p:oleObj>
            </a:graphicData>
          </a:graphic>
        </p:graphicFrame>
        <p:sp>
          <p:nvSpPr>
            <p:cNvPr id="9" name="Rectangle 3"/>
            <p:cNvSpPr txBox="1">
              <a:spLocks noChangeArrowheads="1"/>
            </p:cNvSpPr>
            <p:nvPr/>
          </p:nvSpPr>
          <p:spPr>
            <a:xfrm>
              <a:off x="241300" y="3657600"/>
              <a:ext cx="8902700" cy="22860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The formula for combined variance of two groups is given by,</a:t>
              </a: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graphicFrame>
          <p:nvGraphicFramePr>
            <p:cNvPr id="354309" name="Object 5"/>
            <p:cNvGraphicFramePr>
              <a:graphicFrameLocks noChangeAspect="1"/>
            </p:cNvGraphicFramePr>
            <p:nvPr/>
          </p:nvGraphicFramePr>
          <p:xfrm>
            <a:off x="1828800" y="4343400"/>
            <a:ext cx="5486400" cy="1600200"/>
          </p:xfrm>
          <a:graphic>
            <a:graphicData uri="http://schemas.openxmlformats.org/presentationml/2006/ole">
              <p:oleObj spid="_x0000_s914577" name="Equation" r:id="rId5" imgW="7340600" imgH="2349500" progId="">
                <p:embed/>
              </p:oleObj>
            </a:graphicData>
          </a:graphic>
        </p:graphicFrame>
        <p:sp>
          <p:nvSpPr>
            <p:cNvPr id="11" name="TextBox 10"/>
            <p:cNvSpPr txBox="1"/>
            <p:nvPr/>
          </p:nvSpPr>
          <p:spPr>
            <a:xfrm>
              <a:off x="7543800" y="5486400"/>
              <a:ext cx="1295400" cy="369332"/>
            </a:xfrm>
            <a:prstGeom prst="rect">
              <a:avLst/>
            </a:prstGeom>
            <a:noFill/>
          </p:spPr>
          <p:txBody>
            <a:bodyPr wrap="square" rtlCol="0">
              <a:spAutoFit/>
            </a:bodyPr>
            <a:lstStyle/>
            <a:p>
              <a:r>
                <a:rPr lang="en-IN" dirty="0" smtClean="0"/>
                <a:t>Mean</a:t>
              </a:r>
              <a:endParaRPr lang="en-IN" dirty="0"/>
            </a:p>
          </p:txBody>
        </p:sp>
        <p:cxnSp>
          <p:nvCxnSpPr>
            <p:cNvPr id="13" name="Straight Arrow Connector 12"/>
            <p:cNvCxnSpPr/>
            <p:nvPr/>
          </p:nvCxnSpPr>
          <p:spPr bwMode="auto">
            <a:xfrm rot="10800000">
              <a:off x="6172200" y="4953000"/>
              <a:ext cx="1371600" cy="609600"/>
            </a:xfrm>
            <a:prstGeom prst="straightConnector1">
              <a:avLst/>
            </a:prstGeom>
            <a:solidFill>
              <a:schemeClr val="accent1"/>
            </a:solidFill>
            <a:ln w="28575" cap="flat" cmpd="sng" algn="ctr">
              <a:solidFill>
                <a:schemeClr val="accent6">
                  <a:lumMod val="75000"/>
                </a:schemeClr>
              </a:solidFill>
              <a:prstDash val="solid"/>
              <a:round/>
              <a:headEnd type="none" w="med" len="med"/>
              <a:tailEnd type="arrow"/>
            </a:ln>
            <a:effectLst/>
          </p:spPr>
        </p:cxnSp>
      </p:grpSp>
      <p:sp>
        <p:nvSpPr>
          <p:cNvPr id="15" name="Rectangle 14"/>
          <p:cNvSpPr/>
          <p:nvPr/>
        </p:nvSpPr>
        <p:spPr>
          <a:xfrm>
            <a:off x="2209800" y="0"/>
            <a:ext cx="4800600" cy="584775"/>
          </a:xfrm>
          <a:prstGeom prst="rect">
            <a:avLst/>
          </a:prstGeom>
        </p:spPr>
        <p:txBody>
          <a:bodyPr wrap="square">
            <a:spAutoFit/>
          </a:bodyPr>
          <a:lstStyle/>
          <a:p>
            <a:pPr algn="ctr"/>
            <a:r>
              <a:rPr lang="en-IN" sz="3200" dirty="0" smtClean="0">
                <a:latin typeface="+mj-lt"/>
              </a:rPr>
              <a:t>Coefficient of Variation </a:t>
            </a:r>
            <a:endParaRPr lang="en-IN" sz="3200" dirty="0">
              <a:latin typeface="+mj-lt"/>
            </a:endParaRPr>
          </a:p>
        </p:txBody>
      </p:sp>
    </p:spTree>
    <p:extLst>
      <p:ext uri="{BB962C8B-B14F-4D97-AF65-F5344CB8AC3E}">
        <p14:creationId xmlns="" xmlns:p14="http://schemas.microsoft.com/office/powerpoint/2010/main" val="310994039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46</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Text Box 2"/>
          <p:cNvSpPr txBox="1">
            <a:spLocks noChangeArrowheads="1"/>
          </p:cNvSpPr>
          <p:nvPr/>
        </p:nvSpPr>
        <p:spPr bwMode="auto">
          <a:xfrm>
            <a:off x="838200" y="0"/>
            <a:ext cx="8153400" cy="523220"/>
          </a:xfrm>
          <a:prstGeom prst="rect">
            <a:avLst/>
          </a:prstGeom>
          <a:noFill/>
          <a:ln w="9525">
            <a:noFill/>
            <a:miter lim="800000"/>
            <a:headEnd/>
            <a:tailEnd/>
          </a:ln>
          <a:effectLst/>
        </p:spPr>
        <p:txBody>
          <a:bodyPr wrap="square">
            <a:spAutoFit/>
          </a:bodyPr>
          <a:lstStyle/>
          <a:p>
            <a:pPr algn="ctr"/>
            <a:r>
              <a:rPr lang="en-US" sz="2800" dirty="0">
                <a:latin typeface="+mj-lt"/>
              </a:rPr>
              <a:t>Basic </a:t>
            </a:r>
            <a:r>
              <a:rPr lang="en-US" sz="2800" dirty="0" smtClean="0">
                <a:latin typeface="+mj-lt"/>
              </a:rPr>
              <a:t>Statistical data analysis</a:t>
            </a:r>
            <a:endParaRPr lang="en-US" sz="2800" dirty="0">
              <a:latin typeface="+mj-lt"/>
            </a:endParaRPr>
          </a:p>
        </p:txBody>
      </p:sp>
      <p:sp>
        <p:nvSpPr>
          <p:cNvPr id="7" name="Line 3"/>
          <p:cNvSpPr>
            <a:spLocks noChangeShapeType="1"/>
          </p:cNvSpPr>
          <p:nvPr/>
        </p:nvSpPr>
        <p:spPr bwMode="auto">
          <a:xfrm>
            <a:off x="685800" y="685800"/>
            <a:ext cx="7848600" cy="0"/>
          </a:xfrm>
          <a:prstGeom prst="line">
            <a:avLst/>
          </a:prstGeom>
          <a:noFill/>
          <a:ln w="38100">
            <a:solidFill>
              <a:schemeClr val="bg1"/>
            </a:solidFill>
            <a:round/>
            <a:headEnd/>
            <a:tailEnd/>
          </a:ln>
          <a:effectLst/>
        </p:spPr>
        <p:txBody>
          <a:bodyPr wrap="none" anchor="ctr"/>
          <a:lstStyle/>
          <a:p>
            <a:endParaRPr lang="en-US" sz="2000">
              <a:latin typeface="+mj-lt"/>
            </a:endParaRPr>
          </a:p>
        </p:txBody>
      </p:sp>
      <p:sp>
        <p:nvSpPr>
          <p:cNvPr id="8" name="Text Box 4"/>
          <p:cNvSpPr txBox="1">
            <a:spLocks noChangeArrowheads="1"/>
          </p:cNvSpPr>
          <p:nvPr/>
        </p:nvSpPr>
        <p:spPr bwMode="auto">
          <a:xfrm>
            <a:off x="685800" y="741363"/>
            <a:ext cx="1237839" cy="400110"/>
          </a:xfrm>
          <a:prstGeom prst="rect">
            <a:avLst/>
          </a:prstGeom>
          <a:noFill/>
          <a:ln w="9525">
            <a:noFill/>
            <a:miter lim="800000"/>
            <a:headEnd/>
            <a:tailEnd/>
          </a:ln>
          <a:effectLst/>
        </p:spPr>
        <p:txBody>
          <a:bodyPr wrap="none">
            <a:spAutoFit/>
          </a:bodyPr>
          <a:lstStyle/>
          <a:p>
            <a:r>
              <a:rPr lang="en-US" sz="2000" b="1" dirty="0">
                <a:latin typeface="+mj-lt"/>
              </a:rPr>
              <a:t>Example:</a:t>
            </a:r>
          </a:p>
        </p:txBody>
      </p:sp>
      <p:sp>
        <p:nvSpPr>
          <p:cNvPr id="9" name="Text Box 5"/>
          <p:cNvSpPr txBox="1">
            <a:spLocks noChangeArrowheads="1"/>
          </p:cNvSpPr>
          <p:nvPr/>
        </p:nvSpPr>
        <p:spPr bwMode="auto">
          <a:xfrm>
            <a:off x="2743200" y="838200"/>
            <a:ext cx="2257349" cy="584775"/>
          </a:xfrm>
          <a:prstGeom prst="rect">
            <a:avLst/>
          </a:prstGeom>
          <a:noFill/>
          <a:ln w="28575">
            <a:solidFill>
              <a:srgbClr val="00FFFF"/>
            </a:solidFill>
            <a:miter lim="800000"/>
            <a:headEnd/>
            <a:tailEnd/>
          </a:ln>
          <a:effectLst/>
        </p:spPr>
        <p:txBody>
          <a:bodyPr wrap="none">
            <a:spAutoFit/>
          </a:bodyPr>
          <a:lstStyle/>
          <a:p>
            <a:r>
              <a:rPr lang="en-US" sz="1600" b="1">
                <a:latin typeface="+mj-lt"/>
              </a:rPr>
              <a:t>Sample of student ages:</a:t>
            </a:r>
          </a:p>
          <a:p>
            <a:r>
              <a:rPr lang="en-US" sz="1600" b="1">
                <a:latin typeface="+mj-lt"/>
              </a:rPr>
              <a:t>19, 21, 21, 24, 30, 20</a:t>
            </a:r>
          </a:p>
        </p:txBody>
      </p:sp>
      <p:sp>
        <p:nvSpPr>
          <p:cNvPr id="10" name="Text Box 6"/>
          <p:cNvSpPr txBox="1">
            <a:spLocks noChangeArrowheads="1"/>
          </p:cNvSpPr>
          <p:nvPr/>
        </p:nvSpPr>
        <p:spPr bwMode="auto">
          <a:xfrm>
            <a:off x="285720" y="1643050"/>
            <a:ext cx="3475631" cy="830997"/>
          </a:xfrm>
          <a:prstGeom prst="rect">
            <a:avLst/>
          </a:prstGeom>
          <a:noFill/>
          <a:ln w="28575">
            <a:solidFill>
              <a:srgbClr val="00FFFF"/>
            </a:solidFill>
            <a:miter lim="800000"/>
            <a:headEnd/>
            <a:tailEnd/>
          </a:ln>
          <a:effectLst/>
        </p:spPr>
        <p:txBody>
          <a:bodyPr wrap="none">
            <a:spAutoFit/>
          </a:bodyPr>
          <a:lstStyle/>
          <a:p>
            <a:r>
              <a:rPr lang="en-US" sz="1600" b="1" dirty="0">
                <a:latin typeface="+mj-lt"/>
              </a:rPr>
              <a:t>Mean </a:t>
            </a:r>
            <a:r>
              <a:rPr lang="en-US" sz="1600" b="1" dirty="0" smtClean="0">
                <a:latin typeface="+mj-lt"/>
              </a:rPr>
              <a:t> age</a:t>
            </a:r>
            <a:r>
              <a:rPr lang="en-US" sz="1600" b="1" dirty="0">
                <a:latin typeface="+mj-lt"/>
              </a:rPr>
              <a:t>:</a:t>
            </a:r>
          </a:p>
          <a:p>
            <a:r>
              <a:rPr lang="en-US" sz="1600" b="1" dirty="0">
                <a:latin typeface="+mj-lt"/>
              </a:rPr>
              <a:t>mean = 19 + 21 + 21 + 24 + 30 + 20 / 6</a:t>
            </a:r>
          </a:p>
          <a:p>
            <a:r>
              <a:rPr lang="en-US" sz="1600" b="1" dirty="0">
                <a:latin typeface="+mj-lt"/>
              </a:rPr>
              <a:t>mean = 22.5</a:t>
            </a:r>
          </a:p>
        </p:txBody>
      </p:sp>
      <p:sp>
        <p:nvSpPr>
          <p:cNvPr id="11" name="Text Box 8"/>
          <p:cNvSpPr txBox="1">
            <a:spLocks noChangeArrowheads="1"/>
          </p:cNvSpPr>
          <p:nvPr/>
        </p:nvSpPr>
        <p:spPr bwMode="auto">
          <a:xfrm>
            <a:off x="285720" y="2643182"/>
            <a:ext cx="2895600" cy="830997"/>
          </a:xfrm>
          <a:prstGeom prst="rect">
            <a:avLst/>
          </a:prstGeom>
          <a:noFill/>
          <a:ln w="28575">
            <a:solidFill>
              <a:srgbClr val="00FFFF"/>
            </a:solidFill>
            <a:miter lim="800000"/>
            <a:headEnd/>
            <a:tailEnd/>
          </a:ln>
          <a:effectLst/>
        </p:spPr>
        <p:txBody>
          <a:bodyPr>
            <a:spAutoFit/>
          </a:bodyPr>
          <a:lstStyle/>
          <a:p>
            <a:r>
              <a:rPr lang="en-US" sz="1600" b="1">
                <a:latin typeface="+mj-lt"/>
              </a:rPr>
              <a:t>Variance of the mean:</a:t>
            </a:r>
          </a:p>
          <a:p>
            <a:r>
              <a:rPr lang="en-US" sz="1600" b="1">
                <a:latin typeface="+mj-lt"/>
              </a:rPr>
              <a:t>s</a:t>
            </a:r>
            <a:r>
              <a:rPr lang="en-US" sz="1600" b="1" baseline="30000">
                <a:latin typeface="+mj-lt"/>
              </a:rPr>
              <a:t>2</a:t>
            </a:r>
            <a:r>
              <a:rPr lang="en-US" sz="1600" b="1">
                <a:latin typeface="+mj-lt"/>
              </a:rPr>
              <a:t> = 81.5 / 5</a:t>
            </a:r>
          </a:p>
          <a:p>
            <a:r>
              <a:rPr lang="en-US" sz="1600" b="1">
                <a:latin typeface="+mj-lt"/>
              </a:rPr>
              <a:t>s</a:t>
            </a:r>
            <a:r>
              <a:rPr lang="en-US" sz="1600" b="1" baseline="30000">
                <a:latin typeface="+mj-lt"/>
              </a:rPr>
              <a:t>2</a:t>
            </a:r>
            <a:r>
              <a:rPr lang="en-US" sz="1600" b="1">
                <a:latin typeface="+mj-lt"/>
              </a:rPr>
              <a:t> = 16.3</a:t>
            </a:r>
          </a:p>
        </p:txBody>
      </p:sp>
      <p:sp>
        <p:nvSpPr>
          <p:cNvPr id="12" name="Text Box 9"/>
          <p:cNvSpPr txBox="1">
            <a:spLocks noChangeArrowheads="1"/>
          </p:cNvSpPr>
          <p:nvPr/>
        </p:nvSpPr>
        <p:spPr bwMode="auto">
          <a:xfrm>
            <a:off x="285720" y="3571876"/>
            <a:ext cx="2895600" cy="1077218"/>
          </a:xfrm>
          <a:prstGeom prst="rect">
            <a:avLst/>
          </a:prstGeom>
          <a:noFill/>
          <a:ln w="28575">
            <a:solidFill>
              <a:srgbClr val="00FFFF"/>
            </a:solidFill>
            <a:miter lim="800000"/>
            <a:headEnd/>
            <a:tailEnd/>
          </a:ln>
          <a:effectLst/>
        </p:spPr>
        <p:txBody>
          <a:bodyPr>
            <a:spAutoFit/>
          </a:bodyPr>
          <a:lstStyle/>
          <a:p>
            <a:r>
              <a:rPr lang="en-US" sz="1600" b="1" dirty="0">
                <a:latin typeface="+mj-lt"/>
              </a:rPr>
              <a:t>Standard Deviation of the mean:</a:t>
            </a:r>
          </a:p>
          <a:p>
            <a:r>
              <a:rPr lang="en-US" sz="1600" b="1" dirty="0" smtClean="0">
                <a:latin typeface="+mj-lt"/>
              </a:rPr>
              <a:t>SD</a:t>
            </a:r>
            <a:r>
              <a:rPr lang="en-US" sz="1600" b="1" baseline="30000" dirty="0" smtClean="0">
                <a:latin typeface="+mj-lt"/>
              </a:rPr>
              <a:t>2</a:t>
            </a:r>
            <a:r>
              <a:rPr lang="en-US" sz="1600" b="1" dirty="0" smtClean="0">
                <a:latin typeface="+mj-lt"/>
              </a:rPr>
              <a:t> </a:t>
            </a:r>
            <a:r>
              <a:rPr lang="en-US" sz="1600" b="1" dirty="0">
                <a:latin typeface="+mj-lt"/>
              </a:rPr>
              <a:t>= </a:t>
            </a:r>
            <a:r>
              <a:rPr lang="en-US" sz="1600" b="1" dirty="0">
                <a:latin typeface="+mj-lt"/>
                <a:sym typeface="Symbol" pitchFamily="18" charset="2"/>
              </a:rPr>
              <a:t> 16.3</a:t>
            </a:r>
            <a:endParaRPr lang="en-US" sz="1600" b="1" baseline="30000" dirty="0">
              <a:latin typeface="+mj-lt"/>
              <a:sym typeface="Symbol" pitchFamily="18" charset="2"/>
            </a:endParaRPr>
          </a:p>
          <a:p>
            <a:r>
              <a:rPr lang="en-US" sz="1600" b="1" dirty="0">
                <a:latin typeface="+mj-lt"/>
                <a:sym typeface="Symbol" pitchFamily="18" charset="2"/>
              </a:rPr>
              <a:t>SD = 4.04</a:t>
            </a:r>
            <a:endParaRPr lang="en-US" sz="1600" b="1" dirty="0">
              <a:latin typeface="+mj-lt"/>
            </a:endParaRPr>
          </a:p>
        </p:txBody>
      </p:sp>
      <p:sp>
        <p:nvSpPr>
          <p:cNvPr id="13" name="Text Box 10"/>
          <p:cNvSpPr txBox="1">
            <a:spLocks noChangeArrowheads="1"/>
          </p:cNvSpPr>
          <p:nvPr/>
        </p:nvSpPr>
        <p:spPr bwMode="auto">
          <a:xfrm>
            <a:off x="285720" y="4714884"/>
            <a:ext cx="2895600" cy="830997"/>
          </a:xfrm>
          <a:prstGeom prst="rect">
            <a:avLst/>
          </a:prstGeom>
          <a:noFill/>
          <a:ln w="28575">
            <a:solidFill>
              <a:srgbClr val="00FFFF"/>
            </a:solidFill>
            <a:miter lim="800000"/>
            <a:headEnd/>
            <a:tailEnd/>
          </a:ln>
          <a:effectLst/>
        </p:spPr>
        <p:txBody>
          <a:bodyPr>
            <a:spAutoFit/>
          </a:bodyPr>
          <a:lstStyle/>
          <a:p>
            <a:r>
              <a:rPr lang="en-US" sz="1600" b="1" dirty="0">
                <a:latin typeface="+mj-lt"/>
              </a:rPr>
              <a:t>Standard Error of the mean:</a:t>
            </a:r>
          </a:p>
          <a:p>
            <a:r>
              <a:rPr lang="en-US" sz="1600" b="1" dirty="0">
                <a:latin typeface="+mj-lt"/>
              </a:rPr>
              <a:t>SE = </a:t>
            </a:r>
            <a:r>
              <a:rPr lang="en-US" sz="1600" b="1" dirty="0" smtClean="0">
                <a:latin typeface="+mj-lt"/>
              </a:rPr>
              <a:t> SD/</a:t>
            </a:r>
            <a:r>
              <a:rPr lang="en-US" sz="1600" b="1" dirty="0" smtClean="0">
                <a:latin typeface="+mj-lt"/>
                <a:sym typeface="Symbol"/>
              </a:rPr>
              <a:t>n = </a:t>
            </a:r>
            <a:r>
              <a:rPr lang="en-US" sz="1600" b="1" dirty="0" smtClean="0">
                <a:latin typeface="+mj-lt"/>
              </a:rPr>
              <a:t>4.04 </a:t>
            </a:r>
            <a:r>
              <a:rPr lang="en-US" sz="1600" b="1" dirty="0">
                <a:latin typeface="+mj-lt"/>
              </a:rPr>
              <a:t>/ 2.45</a:t>
            </a:r>
            <a:endParaRPr lang="en-US" sz="1600" b="1" dirty="0">
              <a:latin typeface="+mj-lt"/>
              <a:sym typeface="Symbol" pitchFamily="18" charset="2"/>
            </a:endParaRPr>
          </a:p>
          <a:p>
            <a:r>
              <a:rPr lang="en-US" sz="1600" b="1" dirty="0">
                <a:latin typeface="+mj-lt"/>
                <a:sym typeface="Symbol" pitchFamily="18" charset="2"/>
              </a:rPr>
              <a:t>SE = 1.65</a:t>
            </a:r>
            <a:endParaRPr lang="en-US" sz="1600" b="1" dirty="0">
              <a:latin typeface="+mj-lt"/>
            </a:endParaRPr>
          </a:p>
        </p:txBody>
      </p:sp>
      <p:sp>
        <p:nvSpPr>
          <p:cNvPr id="14" name="Text Box 11"/>
          <p:cNvSpPr txBox="1">
            <a:spLocks noChangeArrowheads="1"/>
          </p:cNvSpPr>
          <p:nvPr/>
        </p:nvSpPr>
        <p:spPr bwMode="auto">
          <a:xfrm>
            <a:off x="5257800" y="838200"/>
            <a:ext cx="1276311" cy="584775"/>
          </a:xfrm>
          <a:prstGeom prst="rect">
            <a:avLst/>
          </a:prstGeom>
          <a:noFill/>
          <a:ln w="28575">
            <a:solidFill>
              <a:srgbClr val="00FFFF"/>
            </a:solidFill>
            <a:miter lim="800000"/>
            <a:headEnd/>
            <a:tailEnd/>
          </a:ln>
          <a:effectLst/>
        </p:spPr>
        <p:txBody>
          <a:bodyPr wrap="none">
            <a:spAutoFit/>
          </a:bodyPr>
          <a:lstStyle/>
          <a:p>
            <a:r>
              <a:rPr lang="en-US" sz="1600" b="1">
                <a:latin typeface="+mj-lt"/>
              </a:rPr>
              <a:t>Sample size:</a:t>
            </a:r>
          </a:p>
          <a:p>
            <a:r>
              <a:rPr lang="en-US" sz="1600" b="1">
                <a:latin typeface="+mj-lt"/>
              </a:rPr>
              <a:t>n = 6</a:t>
            </a:r>
          </a:p>
        </p:txBody>
      </p:sp>
      <p:graphicFrame>
        <p:nvGraphicFramePr>
          <p:cNvPr id="15" name="Group 961"/>
          <p:cNvGraphicFramePr>
            <a:graphicFrameLocks noGrp="1"/>
          </p:cNvGraphicFramePr>
          <p:nvPr/>
        </p:nvGraphicFramePr>
        <p:xfrm>
          <a:off x="4038600" y="1651000"/>
          <a:ext cx="4791075" cy="4517392"/>
        </p:xfrm>
        <a:graphic>
          <a:graphicData uri="http://schemas.openxmlformats.org/drawingml/2006/table">
            <a:tbl>
              <a:tblPr/>
              <a:tblGrid>
                <a:gridCol w="958850"/>
                <a:gridCol w="957263"/>
                <a:gridCol w="958850"/>
                <a:gridCol w="957262"/>
                <a:gridCol w="958850"/>
              </a:tblGrid>
              <a:tr h="544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rPr>
                        <a:t>x</a:t>
                      </a:r>
                    </a:p>
                  </a:txBody>
                  <a:tcPr anchor="ctr" anchorCtr="1" horzOverflow="overflow">
                    <a:lnL w="28575" cap="flat" cmpd="sng" algn="ctr">
                      <a:solidFill>
                        <a:srgbClr val="00FFCC"/>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rgbClr val="00FFCC"/>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rPr>
                        <a:t>n</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rgbClr val="00FFCC"/>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rPr>
                        <a:t>mean</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rgbClr val="00FFCC"/>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rPr>
                        <a:t>(x–mean)</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rgbClr val="00FFCC"/>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rPr>
                        <a:t>(x-mean)</a:t>
                      </a:r>
                      <a:r>
                        <a:rPr kumimoji="0" lang="en-US" sz="2000" b="0" i="0" u="none" strike="noStrike" cap="none" normalizeH="0" baseline="30000" dirty="0" smtClean="0">
                          <a:ln>
                            <a:noFill/>
                          </a:ln>
                          <a:solidFill>
                            <a:schemeClr val="tx1"/>
                          </a:solidFill>
                          <a:effectLst/>
                          <a:latin typeface="Times New Roman" pitchFamily="18" charset="0"/>
                        </a:rPr>
                        <a:t>2</a:t>
                      </a:r>
                    </a:p>
                  </a:txBody>
                  <a:tcPr anchor="ctr" anchorCtr="1" horzOverflow="overflow">
                    <a:lnL w="19050" cap="flat" cmpd="sng" algn="ctr">
                      <a:solidFill>
                        <a:schemeClr val="bg2"/>
                      </a:solidFill>
                      <a:prstDash val="solid"/>
                      <a:round/>
                      <a:headEnd type="none" w="med" len="med"/>
                      <a:tailEnd type="none" w="med" len="med"/>
                    </a:lnL>
                    <a:lnR w="28575" cap="flat" cmpd="sng" algn="ctr">
                      <a:solidFill>
                        <a:srgbClr val="00FFCC"/>
                      </a:solidFill>
                      <a:prstDash val="solid"/>
                      <a:round/>
                      <a:headEnd type="none" w="med" len="med"/>
                      <a:tailEnd type="none" w="med" len="med"/>
                    </a:lnR>
                    <a:lnT w="28575" cap="flat" cmpd="sng" algn="ctr">
                      <a:solidFill>
                        <a:srgbClr val="00FFCC"/>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r h="5461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19</a:t>
                      </a:r>
                    </a:p>
                  </a:txBody>
                  <a:tcPr anchor="ctr" anchorCtr="1" horzOverflow="overflow">
                    <a:lnL w="28575" cap="flat" cmpd="sng" algn="ctr">
                      <a:solidFill>
                        <a:srgbClr val="00FFCC"/>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6</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22.5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-3.5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12.25</a:t>
                      </a:r>
                    </a:p>
                  </a:txBody>
                  <a:tcPr anchor="ctr" anchorCtr="1" horzOverflow="overflow">
                    <a:lnL w="19050" cap="flat" cmpd="sng" algn="ctr">
                      <a:solidFill>
                        <a:schemeClr val="bg2"/>
                      </a:solidFill>
                      <a:prstDash val="solid"/>
                      <a:round/>
                      <a:headEnd type="none" w="med" len="med"/>
                      <a:tailEnd type="none" w="med" len="med"/>
                    </a:lnL>
                    <a:lnR w="28575" cap="flat" cmpd="sng" algn="ctr">
                      <a:solidFill>
                        <a:srgbClr val="00FFCC"/>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r>
              <a:tr h="544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21</a:t>
                      </a:r>
                    </a:p>
                  </a:txBody>
                  <a:tcPr anchor="ctr" anchorCtr="1" horzOverflow="overflow">
                    <a:lnL w="28575" cap="flat" cmpd="sng" algn="ctr">
                      <a:solidFill>
                        <a:srgbClr val="00FFCC"/>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6</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22.5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-1.5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2.25</a:t>
                      </a:r>
                    </a:p>
                  </a:txBody>
                  <a:tcPr anchor="ctr" anchorCtr="1" horzOverflow="overflow">
                    <a:lnL w="19050" cap="flat" cmpd="sng" algn="ctr">
                      <a:solidFill>
                        <a:schemeClr val="bg2"/>
                      </a:solidFill>
                      <a:prstDash val="solid"/>
                      <a:round/>
                      <a:headEnd type="none" w="med" len="med"/>
                      <a:tailEnd type="none" w="med" len="med"/>
                    </a:lnL>
                    <a:lnR w="28575" cap="flat" cmpd="sng" algn="ctr">
                      <a:solidFill>
                        <a:srgbClr val="00FFCC"/>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r>
              <a:tr h="5461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21</a:t>
                      </a:r>
                    </a:p>
                  </a:txBody>
                  <a:tcPr anchor="ctr" anchorCtr="1" horzOverflow="overflow">
                    <a:lnL w="28575" cap="flat" cmpd="sng" algn="ctr">
                      <a:solidFill>
                        <a:srgbClr val="00FFCC"/>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6</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22.5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-1.5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2.25</a:t>
                      </a:r>
                    </a:p>
                  </a:txBody>
                  <a:tcPr anchor="ctr" anchorCtr="1" horzOverflow="overflow">
                    <a:lnL w="19050" cap="flat" cmpd="sng" algn="ctr">
                      <a:solidFill>
                        <a:schemeClr val="bg2"/>
                      </a:solidFill>
                      <a:prstDash val="solid"/>
                      <a:round/>
                      <a:headEnd type="none" w="med" len="med"/>
                      <a:tailEnd type="none" w="med" len="med"/>
                    </a:lnL>
                    <a:lnR w="28575" cap="flat" cmpd="sng" algn="ctr">
                      <a:solidFill>
                        <a:srgbClr val="00FFCC"/>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r>
              <a:tr h="544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24</a:t>
                      </a:r>
                    </a:p>
                  </a:txBody>
                  <a:tcPr anchor="ctr" anchorCtr="1" horzOverflow="overflow">
                    <a:lnL w="28575" cap="flat" cmpd="sng" algn="ctr">
                      <a:solidFill>
                        <a:srgbClr val="00FFCC"/>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6</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22.5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1.5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2.25</a:t>
                      </a:r>
                    </a:p>
                  </a:txBody>
                  <a:tcPr anchor="ctr" anchorCtr="1" horzOverflow="overflow">
                    <a:lnL w="19050" cap="flat" cmpd="sng" algn="ctr">
                      <a:solidFill>
                        <a:schemeClr val="bg2"/>
                      </a:solidFill>
                      <a:prstDash val="solid"/>
                      <a:round/>
                      <a:headEnd type="none" w="med" len="med"/>
                      <a:tailEnd type="none" w="med" len="med"/>
                    </a:lnL>
                    <a:lnR w="28575" cap="flat" cmpd="sng" algn="ctr">
                      <a:solidFill>
                        <a:srgbClr val="00FFCC"/>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r>
              <a:tr h="544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30</a:t>
                      </a:r>
                    </a:p>
                  </a:txBody>
                  <a:tcPr anchor="ctr" anchorCtr="1" horzOverflow="overflow">
                    <a:lnL w="28575" cap="flat" cmpd="sng" algn="ctr">
                      <a:solidFill>
                        <a:srgbClr val="00FFCC"/>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6</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22.5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7.5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56.25</a:t>
                      </a:r>
                    </a:p>
                  </a:txBody>
                  <a:tcPr anchor="ctr" anchorCtr="1" horzOverflow="overflow">
                    <a:lnL w="19050" cap="flat" cmpd="sng" algn="ctr">
                      <a:solidFill>
                        <a:schemeClr val="bg2"/>
                      </a:solidFill>
                      <a:prstDash val="solid"/>
                      <a:round/>
                      <a:headEnd type="none" w="med" len="med"/>
                      <a:tailEnd type="none" w="med" len="med"/>
                    </a:lnL>
                    <a:lnR w="28575" cap="flat" cmpd="sng" algn="ctr">
                      <a:solidFill>
                        <a:srgbClr val="00FFCC"/>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bg1"/>
                    </a:solidFill>
                  </a:tcPr>
                </a:tc>
              </a:tr>
              <a:tr h="5461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20</a:t>
                      </a:r>
                    </a:p>
                  </a:txBody>
                  <a:tcPr anchor="ctr" anchorCtr="1" horzOverflow="overflow">
                    <a:lnL w="28575" cap="flat" cmpd="sng" algn="ctr">
                      <a:solidFill>
                        <a:srgbClr val="00FFCC"/>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6</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22.5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rPr>
                        <a:t>-2.5</a:t>
                      </a: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6.25</a:t>
                      </a:r>
                    </a:p>
                  </a:txBody>
                  <a:tcPr anchor="ctr" anchorCtr="1" horzOverflow="overflow">
                    <a:lnL w="19050" cap="flat" cmpd="sng" algn="ctr">
                      <a:solidFill>
                        <a:schemeClr val="bg2"/>
                      </a:solidFill>
                      <a:prstDash val="solid"/>
                      <a:round/>
                      <a:headEnd type="none" w="med" len="med"/>
                      <a:tailEnd type="none" w="med" len="med"/>
                    </a:lnL>
                    <a:lnR w="28575" cap="flat" cmpd="sng" algn="ctr">
                      <a:solidFill>
                        <a:srgbClr val="00FFCC"/>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r h="5445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ndParaRPr>
                    </a:p>
                  </a:txBody>
                  <a:tcPr anchor="ctr" anchorCtr="1" horzOverflow="overflow">
                    <a:lnL w="28575" cap="flat" cmpd="sng" algn="ctr">
                      <a:solidFill>
                        <a:srgbClr val="00FFCC"/>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00FFCC"/>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ndParaRP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00FFCC"/>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Times New Roman" pitchFamily="18" charset="0"/>
                      </a:endParaRP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00FFCC"/>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sym typeface="Symbol" pitchFamily="18" charset="2"/>
                        </a:rPr>
                        <a:t></a:t>
                      </a:r>
                      <a:endParaRPr kumimoji="0" lang="en-US" sz="1800" b="1" i="0" u="none" strike="noStrike" cap="none" normalizeH="0" baseline="0" smtClean="0">
                        <a:ln>
                          <a:noFill/>
                        </a:ln>
                        <a:solidFill>
                          <a:schemeClr val="tx1"/>
                        </a:solidFill>
                        <a:effectLst/>
                        <a:latin typeface="Times New Roman" pitchFamily="18" charset="0"/>
                      </a:endParaRPr>
                    </a:p>
                  </a:txBody>
                  <a:tcPr anchor="ctr" anchorCtr="1" horzOverflow="overflow">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00FFCC"/>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rPr>
                        <a:t>81.5</a:t>
                      </a:r>
                    </a:p>
                  </a:txBody>
                  <a:tcPr anchor="ctr" anchorCtr="1" horzOverflow="overflow">
                    <a:lnL w="19050" cap="flat" cmpd="sng" algn="ctr">
                      <a:solidFill>
                        <a:schemeClr val="bg2"/>
                      </a:solidFill>
                      <a:prstDash val="solid"/>
                      <a:round/>
                      <a:headEnd type="none" w="med" len="med"/>
                      <a:tailEnd type="none" w="med" len="med"/>
                    </a:lnL>
                    <a:lnR w="28575" cap="flat" cmpd="sng" algn="ctr">
                      <a:solidFill>
                        <a:srgbClr val="00FFCC"/>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00FFCC"/>
                      </a:solidFill>
                      <a:prstDash val="solid"/>
                      <a:round/>
                      <a:headEnd type="none" w="med" len="med"/>
                      <a:tailEnd type="none" w="med" len="med"/>
                    </a:lnB>
                    <a:lnTlToBr>
                      <a:noFill/>
                    </a:lnTlToBr>
                    <a:lnBlToTr>
                      <a:noFill/>
                    </a:lnBlToTr>
                    <a:solidFill>
                      <a:schemeClr val="bg1"/>
                    </a:solidFill>
                  </a:tcPr>
                </a:tc>
              </a:tr>
            </a:tbl>
          </a:graphicData>
        </a:graphic>
      </p:graphicFrame>
      <p:sp>
        <p:nvSpPr>
          <p:cNvPr id="16" name="Text Box 962"/>
          <p:cNvSpPr txBox="1">
            <a:spLocks noChangeArrowheads="1"/>
          </p:cNvSpPr>
          <p:nvPr/>
        </p:nvSpPr>
        <p:spPr bwMode="auto">
          <a:xfrm>
            <a:off x="6934200" y="838200"/>
            <a:ext cx="989373" cy="584775"/>
          </a:xfrm>
          <a:prstGeom prst="rect">
            <a:avLst/>
          </a:prstGeom>
          <a:noFill/>
          <a:ln w="28575">
            <a:solidFill>
              <a:srgbClr val="00FFFF"/>
            </a:solidFill>
            <a:miter lim="800000"/>
            <a:headEnd/>
            <a:tailEnd/>
          </a:ln>
          <a:effectLst/>
        </p:spPr>
        <p:txBody>
          <a:bodyPr wrap="none">
            <a:spAutoFit/>
          </a:bodyPr>
          <a:lstStyle/>
          <a:p>
            <a:r>
              <a:rPr lang="en-US" sz="1600" b="1">
                <a:latin typeface="+mj-lt"/>
              </a:rPr>
              <a:t>df = 5</a:t>
            </a:r>
          </a:p>
          <a:p>
            <a:r>
              <a:rPr lang="en-US" sz="1600" b="1">
                <a:latin typeface="+mj-lt"/>
                <a:sym typeface="Symbol" pitchFamily="18" charset="2"/>
              </a:rPr>
              <a:t>n = 2.45</a:t>
            </a:r>
          </a:p>
        </p:txBody>
      </p:sp>
      <p:sp>
        <p:nvSpPr>
          <p:cNvPr id="17" name="Text Box 967"/>
          <p:cNvSpPr txBox="1">
            <a:spLocks noChangeArrowheads="1"/>
          </p:cNvSpPr>
          <p:nvPr/>
        </p:nvSpPr>
        <p:spPr bwMode="auto">
          <a:xfrm>
            <a:off x="285720" y="5572140"/>
            <a:ext cx="2895600" cy="830997"/>
          </a:xfrm>
          <a:prstGeom prst="rect">
            <a:avLst/>
          </a:prstGeom>
          <a:noFill/>
          <a:ln w="28575">
            <a:solidFill>
              <a:srgbClr val="00FFFF"/>
            </a:solidFill>
            <a:miter lim="800000"/>
            <a:headEnd/>
            <a:tailEnd/>
          </a:ln>
          <a:effectLst/>
        </p:spPr>
        <p:txBody>
          <a:bodyPr>
            <a:spAutoFit/>
          </a:bodyPr>
          <a:lstStyle/>
          <a:p>
            <a:r>
              <a:rPr lang="en-US" sz="1600" b="1" dirty="0">
                <a:latin typeface="+mj-lt"/>
              </a:rPr>
              <a:t>Coefficient of Variation:</a:t>
            </a:r>
          </a:p>
          <a:p>
            <a:r>
              <a:rPr lang="en-US" sz="1600" b="1" dirty="0">
                <a:latin typeface="+mj-lt"/>
              </a:rPr>
              <a:t>CV </a:t>
            </a:r>
            <a:r>
              <a:rPr lang="en-US" sz="1600" b="1" dirty="0" smtClean="0">
                <a:latin typeface="+mj-lt"/>
              </a:rPr>
              <a:t>= SD/mean=  </a:t>
            </a:r>
            <a:r>
              <a:rPr lang="en-US" sz="1600" b="1" dirty="0">
                <a:latin typeface="+mj-lt"/>
              </a:rPr>
              <a:t>4.04 / 22.5</a:t>
            </a:r>
            <a:endParaRPr lang="en-US" sz="1600" b="1" dirty="0">
              <a:latin typeface="+mj-lt"/>
              <a:sym typeface="Symbol" pitchFamily="18" charset="2"/>
            </a:endParaRPr>
          </a:p>
          <a:p>
            <a:r>
              <a:rPr lang="en-US" sz="1600" b="1" dirty="0" smtClean="0">
                <a:latin typeface="+mj-lt"/>
                <a:sym typeface="Symbol" pitchFamily="18" charset="2"/>
              </a:rPr>
              <a:t>CV </a:t>
            </a:r>
            <a:r>
              <a:rPr lang="en-US" sz="1600" b="1" dirty="0">
                <a:latin typeface="+mj-lt"/>
                <a:sym typeface="Symbol" pitchFamily="18" charset="2"/>
              </a:rPr>
              <a:t>= 0.18 or 18%</a:t>
            </a:r>
            <a:endParaRPr lang="en-US" sz="1600" b="1" dirty="0">
              <a:latin typeface="+mj-lt"/>
            </a:endParaRPr>
          </a:p>
        </p:txBody>
      </p:sp>
    </p:spTree>
    <p:extLst>
      <p:ext uri="{BB962C8B-B14F-4D97-AF65-F5344CB8AC3E}">
        <p14:creationId xmlns="" xmlns:p14="http://schemas.microsoft.com/office/powerpoint/2010/main" val="167921013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90BDC2-8038-429E-8961-ADEC91BBC876}" type="datetime1">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7" name="TextBox 6"/>
          <p:cNvSpPr txBox="1"/>
          <p:nvPr/>
        </p:nvSpPr>
        <p:spPr>
          <a:xfrm>
            <a:off x="1143000" y="2514600"/>
            <a:ext cx="6781800" cy="707886"/>
          </a:xfrm>
          <a:prstGeom prst="rect">
            <a:avLst/>
          </a:prstGeom>
          <a:noFill/>
        </p:spPr>
        <p:txBody>
          <a:bodyPr wrap="square" rtlCol="0">
            <a:spAutoFit/>
          </a:bodyPr>
          <a:lstStyle/>
          <a:p>
            <a:pPr algn="ctr"/>
            <a:r>
              <a:rPr lang="en-US" sz="4000" dirty="0" smtClean="0">
                <a:latin typeface="+mj-lt"/>
              </a:rPr>
              <a:t>Sampling methods</a:t>
            </a:r>
            <a:endParaRPr lang="en-US" sz="4000" dirty="0">
              <a:latin typeface="+mj-lt"/>
            </a:endParaRPr>
          </a:p>
        </p:txBody>
      </p:sp>
    </p:spTree>
    <p:extLst>
      <p:ext uri="{BB962C8B-B14F-4D97-AF65-F5344CB8AC3E}">
        <p14:creationId xmlns="" xmlns:p14="http://schemas.microsoft.com/office/powerpoint/2010/main" val="297258698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C34510-CB37-42AE-AEEE-8EFA33AF11D2}" type="datetime1">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ext Box 5"/>
          <p:cNvSpPr txBox="1">
            <a:spLocks noChangeArrowheads="1"/>
          </p:cNvSpPr>
          <p:nvPr/>
        </p:nvSpPr>
        <p:spPr bwMode="auto">
          <a:xfrm>
            <a:off x="914400" y="0"/>
            <a:ext cx="7467600" cy="584775"/>
          </a:xfrm>
          <a:prstGeom prst="rect">
            <a:avLst/>
          </a:prstGeom>
          <a:noFill/>
          <a:ln w="9525">
            <a:noFill/>
            <a:miter lim="800000"/>
            <a:headEnd/>
            <a:tailEnd/>
          </a:ln>
          <a:effectLst/>
        </p:spPr>
        <p:txBody>
          <a:bodyPr>
            <a:spAutoFit/>
          </a:bodyPr>
          <a:lstStyle/>
          <a:p>
            <a:pPr algn="ctr">
              <a:spcBef>
                <a:spcPct val="50000"/>
              </a:spcBef>
            </a:pPr>
            <a:r>
              <a:rPr lang="en-US" sz="3200" dirty="0">
                <a:solidFill>
                  <a:schemeClr val="accent6">
                    <a:lumMod val="50000"/>
                  </a:schemeClr>
                </a:solidFill>
                <a:latin typeface="+mj-lt"/>
              </a:rPr>
              <a:t>Sampling Methods (Sampling Schemes)</a:t>
            </a:r>
            <a:endParaRPr lang="en-US" dirty="0">
              <a:solidFill>
                <a:schemeClr val="accent6">
                  <a:lumMod val="50000"/>
                </a:schemeClr>
              </a:solidFill>
              <a:latin typeface="+mj-lt"/>
            </a:endParaRPr>
          </a:p>
        </p:txBody>
      </p:sp>
      <p:sp>
        <p:nvSpPr>
          <p:cNvPr id="8" name="Rectangle 3"/>
          <p:cNvSpPr txBox="1">
            <a:spLocks noChangeArrowheads="1"/>
          </p:cNvSpPr>
          <p:nvPr/>
        </p:nvSpPr>
        <p:spPr>
          <a:xfrm>
            <a:off x="285720" y="914400"/>
            <a:ext cx="8324879" cy="23622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2400" b="0" i="0" u="sng"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Subjective Methods </a:t>
            </a:r>
            <a:r>
              <a:rPr kumimoji="0" lang="en-US" sz="2400" b="0" i="0"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(Non probabilistic, where the probability cannot be determined)</a:t>
            </a:r>
          </a:p>
          <a:p>
            <a:pPr marL="742950" marR="0" lvl="1"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Judgmental Sampling</a:t>
            </a:r>
          </a:p>
          <a:p>
            <a:pPr marL="742950" marR="0" lvl="1" indent="-285750" algn="l" defTabSz="914400" rtl="0" eaLnBrk="1" fontAlgn="auto" latinLnBrk="0" hangingPunct="1">
              <a:lnSpc>
                <a:spcPct val="100000"/>
              </a:lnSpc>
              <a:spcBef>
                <a:spcPts val="0"/>
              </a:spcBef>
              <a:spcAft>
                <a:spcPts val="0"/>
              </a:spcAft>
              <a:buClrTx/>
              <a:buSzTx/>
              <a:tabLst/>
              <a:defRPr/>
            </a:pPr>
            <a:r>
              <a:rPr lang="en-US" sz="2000" dirty="0" smtClean="0">
                <a:latin typeface="Times New Roman" pitchFamily="18" charset="0"/>
                <a:cs typeface="Times New Roman" pitchFamily="18" charset="0"/>
              </a:rPr>
              <a:t>    (Purposive sampling)</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Convenience Sampling</a:t>
            </a:r>
          </a:p>
          <a:p>
            <a:pPr marL="742950" marR="0" lvl="1" indent="-285750" algn="l" defTabSz="914400" rtl="0" eaLnBrk="1" fontAlgn="auto" latinLnBrk="0" hangingPunct="1">
              <a:lnSpc>
                <a:spcPct val="100000"/>
              </a:lnSpc>
              <a:spcBef>
                <a:spcPts val="0"/>
              </a:spcBef>
              <a:spcAft>
                <a:spcPts val="0"/>
              </a:spcAft>
              <a:buClrTx/>
              <a:buSzTx/>
              <a:tabLst/>
              <a:defRPr/>
            </a:pPr>
            <a:r>
              <a:rPr lang="en-US" sz="2000" dirty="0" smtClean="0">
                <a:latin typeface="Times New Roman" pitchFamily="18" charset="0"/>
                <a:cs typeface="Times New Roman" pitchFamily="18" charset="0"/>
              </a:rPr>
              <a:t>    (Haphazard sampling)</a:t>
            </a:r>
          </a:p>
          <a:p>
            <a:pPr marL="742950" marR="0" lvl="1" indent="-285750" algn="l" defTabSz="914400" rtl="0" eaLnBrk="1" fontAlgn="auto" latinLnBrk="0" hangingPunct="1">
              <a:lnSpc>
                <a:spcPct val="100000"/>
              </a:lnSpc>
              <a:spcBef>
                <a:spcPts val="0"/>
              </a:spcBef>
              <a:spcAft>
                <a:spcPts val="0"/>
              </a:spcAft>
              <a:buClrTx/>
              <a:buSzTx/>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Quota sampling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Rectangle 4"/>
          <p:cNvSpPr txBox="1">
            <a:spLocks noChangeArrowheads="1"/>
          </p:cNvSpPr>
          <p:nvPr/>
        </p:nvSpPr>
        <p:spPr>
          <a:xfrm>
            <a:off x="214282" y="3786190"/>
            <a:ext cx="8643998" cy="22860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2400" b="0" i="0" u="sng"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Probabilistic Methods (any data has equal probability of selection)</a:t>
            </a: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Simple Random Sampling</a:t>
            </a: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Systematic Sampling</a:t>
            </a: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Stratified Sampling</a:t>
            </a:r>
          </a:p>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Cluster Sampling</a:t>
            </a:r>
            <a:endPar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extLst>
      <p:ext uri="{BB962C8B-B14F-4D97-AF65-F5344CB8AC3E}">
        <p14:creationId xmlns="" xmlns:p14="http://schemas.microsoft.com/office/powerpoint/2010/main" val="53950476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074"/>
          <p:cNvSpPr>
            <a:spLocks noGrp="1" noChangeArrowheads="1"/>
          </p:cNvSpPr>
          <p:nvPr>
            <p:ph type="title"/>
          </p:nvPr>
        </p:nvSpPr>
        <p:spPr>
          <a:xfrm>
            <a:off x="457200" y="0"/>
            <a:ext cx="8229600" cy="533400"/>
          </a:xfrm>
          <a:ln/>
        </p:spPr>
        <p:txBody>
          <a:bodyPr/>
          <a:lstStyle/>
          <a:p>
            <a:r>
              <a:rPr lang="en-US" sz="3200" dirty="0"/>
              <a:t>Sampling: </a:t>
            </a:r>
            <a:r>
              <a:rPr lang="en-US" sz="2800" dirty="0"/>
              <a:t>Design</a:t>
            </a:r>
            <a:endParaRPr lang="en-US" sz="3200" dirty="0"/>
          </a:p>
        </p:txBody>
      </p:sp>
      <p:sp>
        <p:nvSpPr>
          <p:cNvPr id="3" name="Rectangle 2"/>
          <p:cNvSpPr/>
          <p:nvPr/>
        </p:nvSpPr>
        <p:spPr>
          <a:xfrm>
            <a:off x="457200" y="1295400"/>
            <a:ext cx="8476281" cy="4154984"/>
          </a:xfrm>
          <a:prstGeom prst="rect">
            <a:avLst/>
          </a:prstGeom>
        </p:spPr>
        <p:txBody>
          <a:bodyPr wrap="square">
            <a:spAutoFit/>
          </a:bodyPr>
          <a:lstStyle/>
          <a:p>
            <a:r>
              <a:rPr lang="en-US" sz="2400" b="1" dirty="0">
                <a:latin typeface="+mj-lt"/>
              </a:rPr>
              <a:t>Probability sampling</a:t>
            </a:r>
            <a:r>
              <a:rPr lang="en-US" sz="2400" dirty="0">
                <a:latin typeface="+mj-lt"/>
              </a:rPr>
              <a:t>: Probability sampling is a sampling technique where a researcher </a:t>
            </a:r>
            <a:r>
              <a:rPr lang="en-US" sz="2400" b="1" dirty="0">
                <a:latin typeface="+mj-lt"/>
              </a:rPr>
              <a:t>sets a selection of a few criteria and chooses members of a population randomly. </a:t>
            </a:r>
            <a:r>
              <a:rPr lang="en-US" sz="2400" dirty="0">
                <a:latin typeface="+mj-lt"/>
              </a:rPr>
              <a:t>All the members have an </a:t>
            </a:r>
            <a:r>
              <a:rPr lang="en-US" sz="2400" b="1" dirty="0">
                <a:latin typeface="+mj-lt"/>
              </a:rPr>
              <a:t>equal opportunity </a:t>
            </a:r>
            <a:r>
              <a:rPr lang="en-US" sz="2400" dirty="0">
                <a:latin typeface="+mj-lt"/>
              </a:rPr>
              <a:t>to be a part of the sample with this selection parameter</a:t>
            </a:r>
            <a:r>
              <a:rPr lang="en-US" sz="2400" dirty="0" smtClean="0">
                <a:latin typeface="+mj-lt"/>
              </a:rPr>
              <a:t>.</a:t>
            </a:r>
          </a:p>
          <a:p>
            <a:endParaRPr lang="en-US" sz="2400" dirty="0">
              <a:latin typeface="+mj-lt"/>
            </a:endParaRPr>
          </a:p>
          <a:p>
            <a:r>
              <a:rPr lang="en-US" sz="2400" b="1" dirty="0">
                <a:latin typeface="+mj-lt"/>
              </a:rPr>
              <a:t>Non-probability sampling</a:t>
            </a:r>
            <a:r>
              <a:rPr lang="en-US" sz="2400" dirty="0">
                <a:latin typeface="+mj-lt"/>
              </a:rPr>
              <a:t>: In non-probability sampling, the researcher </a:t>
            </a:r>
            <a:r>
              <a:rPr lang="en-US" sz="2400" b="1" dirty="0">
                <a:latin typeface="+mj-lt"/>
              </a:rPr>
              <a:t>chooses</a:t>
            </a:r>
            <a:r>
              <a:rPr lang="en-US" sz="2400" dirty="0">
                <a:latin typeface="+mj-lt"/>
              </a:rPr>
              <a:t> </a:t>
            </a:r>
            <a:r>
              <a:rPr lang="en-US" sz="2400" b="1" dirty="0">
                <a:latin typeface="+mj-lt"/>
              </a:rPr>
              <a:t>members for research at random</a:t>
            </a:r>
            <a:r>
              <a:rPr lang="en-US" sz="2400" dirty="0">
                <a:latin typeface="+mj-lt"/>
              </a:rPr>
              <a:t>. This sampling method is not a fixed or predefined selection process. This makes it </a:t>
            </a:r>
            <a:r>
              <a:rPr lang="en-US" sz="2400" b="1" dirty="0" smtClean="0">
                <a:latin typeface="+mj-lt"/>
              </a:rPr>
              <a:t>difficult for all elements of a population to have equal opportunities </a:t>
            </a:r>
            <a:r>
              <a:rPr lang="en-US" sz="2400" dirty="0">
                <a:latin typeface="+mj-lt"/>
              </a:rPr>
              <a:t>to be included in a sample.</a:t>
            </a:r>
          </a:p>
        </p:txBody>
      </p:sp>
    </p:spTree>
    <p:extLst>
      <p:ext uri="{BB962C8B-B14F-4D97-AF65-F5344CB8AC3E}">
        <p14:creationId xmlns="" xmlns:p14="http://schemas.microsoft.com/office/powerpoint/2010/main" val="124157162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A9A300-A2CC-4270-8D20-05AB4D4C2D20}" type="datetime1">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Rectangle 6"/>
          <p:cNvSpPr/>
          <p:nvPr/>
        </p:nvSpPr>
        <p:spPr>
          <a:xfrm>
            <a:off x="237641" y="685800"/>
            <a:ext cx="8686800" cy="5262979"/>
          </a:xfrm>
          <a:prstGeom prst="rect">
            <a:avLst/>
          </a:prstGeom>
        </p:spPr>
        <p:txBody>
          <a:bodyPr wrap="square">
            <a:spAutoFit/>
          </a:bodyPr>
          <a:lstStyle/>
          <a:p>
            <a:pPr algn="ctr"/>
            <a:r>
              <a:rPr lang="en-US" sz="2400" b="1" dirty="0">
                <a:latin typeface="+mj-lt"/>
              </a:rPr>
              <a:t>Uses of probability sampling</a:t>
            </a:r>
          </a:p>
          <a:p>
            <a:endParaRPr lang="en-US" sz="2400" dirty="0">
              <a:latin typeface="+mj-lt"/>
            </a:endParaRPr>
          </a:p>
          <a:p>
            <a:r>
              <a:rPr lang="en-US" sz="2400" b="1" dirty="0">
                <a:latin typeface="+mj-lt"/>
              </a:rPr>
              <a:t>Reduce Sample Bias</a:t>
            </a:r>
            <a:r>
              <a:rPr lang="en-US" sz="2400" dirty="0">
                <a:latin typeface="+mj-lt"/>
              </a:rPr>
              <a:t>: </a:t>
            </a:r>
            <a:r>
              <a:rPr lang="en-US" sz="2400" dirty="0" smtClean="0">
                <a:latin typeface="+mj-lt"/>
              </a:rPr>
              <a:t>The </a:t>
            </a:r>
            <a:r>
              <a:rPr lang="en-US" sz="2400" dirty="0">
                <a:latin typeface="+mj-lt"/>
              </a:rPr>
              <a:t>bias in the sample derived from a population is negligible to non-existent. </a:t>
            </a:r>
            <a:r>
              <a:rPr lang="en-US" sz="2400" dirty="0" smtClean="0">
                <a:latin typeface="+mj-lt"/>
              </a:rPr>
              <a:t>Probability </a:t>
            </a:r>
            <a:r>
              <a:rPr lang="en-US" sz="2400" dirty="0">
                <a:latin typeface="+mj-lt"/>
              </a:rPr>
              <a:t>sampling leads to higher quality </a:t>
            </a:r>
            <a:r>
              <a:rPr lang="en-US" sz="2400" dirty="0" smtClean="0">
                <a:latin typeface="+mj-lt"/>
              </a:rPr>
              <a:t>sampled data as </a:t>
            </a:r>
            <a:r>
              <a:rPr lang="en-US" sz="2400" dirty="0">
                <a:latin typeface="+mj-lt"/>
              </a:rPr>
              <a:t>the sample appropriately represents the population.</a:t>
            </a:r>
          </a:p>
          <a:p>
            <a:endParaRPr lang="en-US" sz="2400" b="1" dirty="0" smtClean="0">
              <a:latin typeface="+mj-lt"/>
            </a:endParaRPr>
          </a:p>
          <a:p>
            <a:r>
              <a:rPr lang="en-US" sz="2400" b="1" dirty="0" smtClean="0">
                <a:latin typeface="+mj-lt"/>
              </a:rPr>
              <a:t>Diverse </a:t>
            </a:r>
            <a:r>
              <a:rPr lang="en-US" sz="2400" b="1" dirty="0">
                <a:latin typeface="+mj-lt"/>
              </a:rPr>
              <a:t>Population</a:t>
            </a:r>
            <a:r>
              <a:rPr lang="en-US" sz="2400" dirty="0">
                <a:latin typeface="+mj-lt"/>
              </a:rPr>
              <a:t>: When the population is vast and diverse, it is essential to have adequate representation so that the data is not skewed towards one demographic. </a:t>
            </a:r>
            <a:endParaRPr lang="en-US" sz="2400" dirty="0" smtClean="0">
              <a:latin typeface="+mj-lt"/>
            </a:endParaRPr>
          </a:p>
          <a:p>
            <a:endParaRPr lang="en-US" sz="2400" dirty="0">
              <a:latin typeface="+mj-lt"/>
            </a:endParaRPr>
          </a:p>
          <a:p>
            <a:r>
              <a:rPr lang="en-US" sz="2400" b="1" dirty="0" smtClean="0">
                <a:latin typeface="+mj-lt"/>
              </a:rPr>
              <a:t>Create </a:t>
            </a:r>
            <a:r>
              <a:rPr lang="en-US" sz="2400" b="1" dirty="0">
                <a:latin typeface="+mj-lt"/>
              </a:rPr>
              <a:t>an Accurate Sample</a:t>
            </a:r>
            <a:r>
              <a:rPr lang="en-US" sz="2400" dirty="0">
                <a:latin typeface="+mj-lt"/>
              </a:rPr>
              <a:t>: Probability sampling helps the researchers plan and create an accurate sample. This helps to obtain well-defined data.</a:t>
            </a:r>
          </a:p>
        </p:txBody>
      </p:sp>
      <p:sp>
        <p:nvSpPr>
          <p:cNvPr id="2" name="Rectangle 1"/>
          <p:cNvSpPr/>
          <p:nvPr/>
        </p:nvSpPr>
        <p:spPr>
          <a:xfrm>
            <a:off x="2667000" y="-25809"/>
            <a:ext cx="3183885" cy="523220"/>
          </a:xfrm>
          <a:prstGeom prst="rect">
            <a:avLst/>
          </a:prstGeom>
        </p:spPr>
        <p:txBody>
          <a:bodyPr wrap="none">
            <a:spAutoFit/>
          </a:bodyPr>
          <a:lstStyle/>
          <a:p>
            <a:r>
              <a:rPr lang="en-US" sz="2800" dirty="0">
                <a:latin typeface="+mj-lt"/>
              </a:rPr>
              <a:t>P</a:t>
            </a:r>
            <a:r>
              <a:rPr lang="en-US" sz="2800" dirty="0" smtClean="0">
                <a:latin typeface="+mj-lt"/>
              </a:rPr>
              <a:t>robability </a:t>
            </a:r>
            <a:r>
              <a:rPr lang="en-US" sz="2800" dirty="0">
                <a:latin typeface="+mj-lt"/>
              </a:rPr>
              <a:t>sampling</a:t>
            </a:r>
          </a:p>
        </p:txBody>
      </p:sp>
    </p:spTree>
    <p:extLst>
      <p:ext uri="{BB962C8B-B14F-4D97-AF65-F5344CB8AC3E}">
        <p14:creationId xmlns="" xmlns:p14="http://schemas.microsoft.com/office/powerpoint/2010/main" val="1814304484"/>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3B0AD52-805D-4EBD-AC38-C2C2CE32653C}" type="datetime1">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Rectangle 6"/>
          <p:cNvSpPr/>
          <p:nvPr/>
        </p:nvSpPr>
        <p:spPr>
          <a:xfrm>
            <a:off x="266054" y="762000"/>
            <a:ext cx="8610600" cy="5262979"/>
          </a:xfrm>
          <a:prstGeom prst="rect">
            <a:avLst/>
          </a:prstGeom>
        </p:spPr>
        <p:txBody>
          <a:bodyPr wrap="square">
            <a:spAutoFit/>
          </a:bodyPr>
          <a:lstStyle/>
          <a:p>
            <a:pPr algn="ctr"/>
            <a:r>
              <a:rPr lang="en-US" sz="2400" b="1" dirty="0">
                <a:latin typeface="+mn-lt"/>
              </a:rPr>
              <a:t>Uses of non-probability sampling</a:t>
            </a:r>
          </a:p>
          <a:p>
            <a:pPr algn="ctr"/>
            <a:r>
              <a:rPr lang="en-US" sz="2400" b="1" dirty="0" smtClean="0">
                <a:latin typeface="+mn-lt"/>
              </a:rPr>
              <a:t>:</a:t>
            </a:r>
            <a:endParaRPr lang="en-US" sz="2400" b="1" dirty="0">
              <a:latin typeface="+mn-lt"/>
            </a:endParaRPr>
          </a:p>
          <a:p>
            <a:r>
              <a:rPr lang="en-US" sz="2400" b="1" dirty="0" smtClean="0">
                <a:latin typeface="+mn-lt"/>
              </a:rPr>
              <a:t>Create </a:t>
            </a:r>
            <a:r>
              <a:rPr lang="en-US" sz="2400" b="1" dirty="0">
                <a:latin typeface="+mn-lt"/>
              </a:rPr>
              <a:t>a hypothesis</a:t>
            </a:r>
            <a:r>
              <a:rPr lang="en-US" sz="2400" dirty="0">
                <a:latin typeface="+mn-lt"/>
              </a:rPr>
              <a:t>: Researchers use the non-probability sampling method to create an assumption when limited to no prior information is available. This method helps with the immediate return of data and builds a base for further research</a:t>
            </a:r>
            <a:r>
              <a:rPr lang="en-US" sz="2400" dirty="0" smtClean="0">
                <a:latin typeface="+mn-lt"/>
              </a:rPr>
              <a:t>.</a:t>
            </a:r>
          </a:p>
          <a:p>
            <a:endParaRPr lang="en-US" sz="2400" dirty="0">
              <a:latin typeface="+mn-lt"/>
            </a:endParaRPr>
          </a:p>
          <a:p>
            <a:r>
              <a:rPr lang="en-US" sz="2400" b="1" dirty="0">
                <a:latin typeface="+mn-lt"/>
              </a:rPr>
              <a:t>Exploratory research</a:t>
            </a:r>
            <a:r>
              <a:rPr lang="en-US" sz="2400" dirty="0">
                <a:latin typeface="+mn-lt"/>
              </a:rPr>
              <a:t>: Researchers use this sampling technique widely when conducting qualitative research, pilot studies, or exploratory research.</a:t>
            </a:r>
          </a:p>
          <a:p>
            <a:endParaRPr lang="en-US" sz="2400" dirty="0" smtClean="0">
              <a:latin typeface="+mn-lt"/>
            </a:endParaRPr>
          </a:p>
          <a:p>
            <a:r>
              <a:rPr lang="en-US" sz="2400" b="1" dirty="0" smtClean="0">
                <a:latin typeface="+mn-lt"/>
              </a:rPr>
              <a:t>Budget </a:t>
            </a:r>
            <a:r>
              <a:rPr lang="en-US" sz="2400" b="1" dirty="0">
                <a:latin typeface="+mn-lt"/>
              </a:rPr>
              <a:t>and time constraints</a:t>
            </a:r>
            <a:r>
              <a:rPr lang="en-US" sz="2400" dirty="0">
                <a:latin typeface="+mn-lt"/>
              </a:rPr>
              <a:t>: The non-probability method when there are budget and time constraints, and some preliminary data must be collected. </a:t>
            </a:r>
          </a:p>
        </p:txBody>
      </p:sp>
      <p:sp>
        <p:nvSpPr>
          <p:cNvPr id="2" name="Rectangle 1"/>
          <p:cNvSpPr/>
          <p:nvPr/>
        </p:nvSpPr>
        <p:spPr>
          <a:xfrm>
            <a:off x="2768032" y="0"/>
            <a:ext cx="3902030" cy="523220"/>
          </a:xfrm>
          <a:prstGeom prst="rect">
            <a:avLst/>
          </a:prstGeom>
        </p:spPr>
        <p:txBody>
          <a:bodyPr wrap="none">
            <a:spAutoFit/>
          </a:bodyPr>
          <a:lstStyle/>
          <a:p>
            <a:r>
              <a:rPr lang="en-US" sz="2800" dirty="0" smtClean="0">
                <a:latin typeface="+mj-lt"/>
              </a:rPr>
              <a:t>Non-probability </a:t>
            </a:r>
            <a:r>
              <a:rPr lang="en-US" sz="2800" dirty="0">
                <a:latin typeface="+mj-lt"/>
              </a:rPr>
              <a:t>sampling</a:t>
            </a:r>
          </a:p>
        </p:txBody>
      </p:sp>
    </p:spTree>
    <p:extLst>
      <p:ext uri="{BB962C8B-B14F-4D97-AF65-F5344CB8AC3E}">
        <p14:creationId xmlns="" xmlns:p14="http://schemas.microsoft.com/office/powerpoint/2010/main" val="216526301"/>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39E2DAC-922E-47C0-A22B-04E5E6619C0D}" type="datetime1">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graphicFrame>
        <p:nvGraphicFramePr>
          <p:cNvPr id="7" name="Table 6"/>
          <p:cNvGraphicFramePr>
            <a:graphicFrameLocks noGrp="1"/>
          </p:cNvGraphicFramePr>
          <p:nvPr>
            <p:extLst>
              <p:ext uri="{D42A27DB-BD31-4B8C-83A1-F6EECF244321}">
                <p14:modId xmlns="" xmlns:p14="http://schemas.microsoft.com/office/powerpoint/2010/main" val="3236973764"/>
              </p:ext>
            </p:extLst>
          </p:nvPr>
        </p:nvGraphicFramePr>
        <p:xfrm>
          <a:off x="152400" y="228600"/>
          <a:ext cx="8839199" cy="6248399"/>
        </p:xfrm>
        <a:graphic>
          <a:graphicData uri="http://schemas.openxmlformats.org/drawingml/2006/table">
            <a:tbl>
              <a:tblPr/>
              <a:tblGrid>
                <a:gridCol w="1408014"/>
                <a:gridCol w="3754704"/>
                <a:gridCol w="3676481"/>
              </a:tblGrid>
              <a:tr h="278038">
                <a:tc>
                  <a:txBody>
                    <a:bodyPr/>
                    <a:lstStyle/>
                    <a:p>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1">
                          <a:effectLst/>
                          <a:latin typeface="+mj-lt"/>
                        </a:rPr>
                        <a:t>Probability Sampling Methods</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1">
                          <a:effectLst/>
                          <a:latin typeface="+mj-lt"/>
                        </a:rPr>
                        <a:t>Non-Probability Sampling Methods</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276987">
                <a:tc>
                  <a:txBody>
                    <a:bodyPr/>
                    <a:lstStyle/>
                    <a:p>
                      <a:r>
                        <a:rPr lang="en-US" sz="1600" b="1">
                          <a:effectLst/>
                          <a:latin typeface="+mj-lt"/>
                        </a:rPr>
                        <a:t>Definition</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Probability Sampling is a sampling technique in which samples from a larger population are chosen using a method based on the theory of probability.</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Non-probability sampling is a sampling technique in which the researcher selects samples based on the researcher’s subjective judgment rather than random selection.</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527775">
                <a:tc>
                  <a:txBody>
                    <a:bodyPr/>
                    <a:lstStyle/>
                    <a:p>
                      <a:r>
                        <a:rPr lang="en-US" sz="1600" b="1">
                          <a:effectLst/>
                          <a:latin typeface="+mj-lt"/>
                        </a:rPr>
                        <a:t>Alternatively Known as</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Random sampling method.</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Non-random sampling method</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527775">
                <a:tc>
                  <a:txBody>
                    <a:bodyPr/>
                    <a:lstStyle/>
                    <a:p>
                      <a:r>
                        <a:rPr lang="en-US" sz="1600" b="1">
                          <a:effectLst/>
                          <a:latin typeface="+mj-lt"/>
                        </a:rPr>
                        <a:t>Population selection</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The population is selected randomly.</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The population is selected arbitrarily.</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78038">
                <a:tc>
                  <a:txBody>
                    <a:bodyPr/>
                    <a:lstStyle/>
                    <a:p>
                      <a:r>
                        <a:rPr lang="en-US" sz="1600" b="1">
                          <a:effectLst/>
                          <a:latin typeface="+mj-lt"/>
                        </a:rPr>
                        <a:t>Nature</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The research is conclusive.</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The research is exploratory.</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777512">
                <a:tc>
                  <a:txBody>
                    <a:bodyPr/>
                    <a:lstStyle/>
                    <a:p>
                      <a:r>
                        <a:rPr lang="en-US" sz="1600" b="1">
                          <a:effectLst/>
                          <a:latin typeface="+mj-lt"/>
                        </a:rPr>
                        <a:t>Sample</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Since there is a method for deciding the sample, the population demographics are conclusively represented.</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dirty="0">
                          <a:effectLst/>
                          <a:latin typeface="+mj-lt"/>
                        </a:rPr>
                        <a:t>Since the sampling method is arbitrary, the population demographics representation is almost always skewed.</a:t>
                      </a:r>
                      <a:endParaRPr lang="en-US" sz="1600" dirty="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777512">
                <a:tc>
                  <a:txBody>
                    <a:bodyPr/>
                    <a:lstStyle/>
                    <a:p>
                      <a:r>
                        <a:rPr lang="en-US" sz="1600" b="1">
                          <a:effectLst/>
                          <a:latin typeface="+mj-lt"/>
                        </a:rPr>
                        <a:t>Time Taken</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Takes longer to conduct since the research design defines the selection parameters before the market research study begins.</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This type of sampling method is quick since neither the sample or selection criteria of the sample are undefined.</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777512">
                <a:tc>
                  <a:txBody>
                    <a:bodyPr/>
                    <a:lstStyle/>
                    <a:p>
                      <a:r>
                        <a:rPr lang="en-US" sz="1600" b="1">
                          <a:effectLst/>
                          <a:latin typeface="+mj-lt"/>
                        </a:rPr>
                        <a:t>Results</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This type of sampling is entirely unbiased and hence the results are unbiased too and conclusive.</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This type of sampling is entirely biased and hence the results are biased too, rendering the research speculative.</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1027250">
                <a:tc>
                  <a:txBody>
                    <a:bodyPr/>
                    <a:lstStyle/>
                    <a:p>
                      <a:r>
                        <a:rPr lang="en-US" sz="1600" b="1">
                          <a:effectLst/>
                          <a:latin typeface="+mj-lt"/>
                        </a:rPr>
                        <a:t>Hypothesis</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a:effectLst/>
                          <a:latin typeface="+mj-lt"/>
                        </a:rPr>
                        <a:t>In probability sampling, there is an underlying hypothesis before the study begins and the objective of this method is to prove the hypothesis.</a:t>
                      </a:r>
                      <a:endParaRPr lang="en-US" sz="160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en-US" sz="1600" b="0" dirty="0">
                          <a:effectLst/>
                          <a:latin typeface="+mj-lt"/>
                        </a:rPr>
                        <a:t>In non-probability sampling, the hypothesis is derived after conducting the research study.</a:t>
                      </a:r>
                      <a:endParaRPr lang="en-US" sz="1600" dirty="0">
                        <a:effectLst/>
                        <a:latin typeface="+mj-lt"/>
                      </a:endParaRPr>
                    </a:p>
                  </a:txBody>
                  <a:tcPr marL="27631" marR="27631" marT="13816" marB="13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
        <p:nvSpPr>
          <p:cNvPr id="8" name="Rectangle 1"/>
          <p:cNvSpPr>
            <a:spLocks noChangeArrowheads="1"/>
          </p:cNvSpPr>
          <p:nvPr/>
        </p:nvSpPr>
        <p:spPr bwMode="auto">
          <a:xfrm>
            <a:off x="3203575" y="1285875"/>
            <a:ext cx="9144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chemeClr val="tx1"/>
                </a:solidFill>
                <a:effectLst/>
                <a:latin typeface="Fira Sans"/>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 xmlns:p14="http://schemas.microsoft.com/office/powerpoint/2010/main" val="83859020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533400" y="0"/>
            <a:ext cx="8229600" cy="533400"/>
          </a:xfrm>
          <a:ln/>
        </p:spPr>
        <p:txBody>
          <a:bodyPr/>
          <a:lstStyle/>
          <a:p>
            <a:r>
              <a:rPr lang="en-US" sz="3200" b="0" dirty="0" smtClean="0"/>
              <a:t>Probability Sampling</a:t>
            </a:r>
            <a:r>
              <a:rPr lang="en-US" sz="3200" b="0" dirty="0"/>
              <a:t>:</a:t>
            </a:r>
            <a:r>
              <a:rPr lang="en-US" b="0" dirty="0"/>
              <a:t> Methods </a:t>
            </a:r>
            <a:endParaRPr lang="en-US" dirty="0"/>
          </a:p>
        </p:txBody>
      </p:sp>
      <p:sp>
        <p:nvSpPr>
          <p:cNvPr id="88067" name="Rectangle 3"/>
          <p:cNvSpPr>
            <a:spLocks noGrp="1" noChangeArrowheads="1"/>
          </p:cNvSpPr>
          <p:nvPr>
            <p:ph type="body" idx="1"/>
          </p:nvPr>
        </p:nvSpPr>
        <p:spPr>
          <a:xfrm>
            <a:off x="381000" y="685800"/>
            <a:ext cx="8229600" cy="5334000"/>
          </a:xfrm>
        </p:spPr>
        <p:txBody>
          <a:bodyPr/>
          <a:lstStyle/>
          <a:p>
            <a:pPr>
              <a:buFontTx/>
              <a:buNone/>
            </a:pPr>
            <a:r>
              <a:rPr lang="en-US" sz="2400" b="1" dirty="0">
                <a:solidFill>
                  <a:srgbClr val="000066"/>
                </a:solidFill>
                <a:latin typeface="Times New Roman" pitchFamily="18" charset="0"/>
                <a:cs typeface="Times New Roman" pitchFamily="18" charset="0"/>
              </a:rPr>
              <a:t>Simple Random Sampling</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refers to a method of selecting items from a population such that every possible sample of a specified size </a:t>
            </a:r>
            <a:r>
              <a:rPr lang="en-US" sz="2400" i="1" dirty="0">
                <a:latin typeface="Times New Roman" pitchFamily="18" charset="0"/>
                <a:cs typeface="Times New Roman" pitchFamily="18" charset="0"/>
              </a:rPr>
              <a:t>has an equal chance</a:t>
            </a:r>
            <a:r>
              <a:rPr lang="en-US" sz="2400" dirty="0">
                <a:latin typeface="Times New Roman" pitchFamily="18" charset="0"/>
                <a:cs typeface="Times New Roman" pitchFamily="18" charset="0"/>
              </a:rPr>
              <a:t> of being selected</a:t>
            </a:r>
          </a:p>
          <a:p>
            <a:r>
              <a:rPr lang="en-US" sz="2400" dirty="0">
                <a:latin typeface="Times New Roman" pitchFamily="18" charset="0"/>
                <a:cs typeface="Times New Roman" pitchFamily="18" charset="0"/>
              </a:rPr>
              <a:t>with or without replacement</a:t>
            </a:r>
          </a:p>
          <a:p>
            <a:pPr>
              <a:buFontTx/>
              <a:buNone/>
            </a:pPr>
            <a:endParaRPr lang="en-US" dirty="0"/>
          </a:p>
        </p:txBody>
      </p:sp>
      <p:sp>
        <p:nvSpPr>
          <p:cNvPr id="7" name="Rectangle 3"/>
          <p:cNvSpPr txBox="1">
            <a:spLocks noChangeArrowheads="1"/>
          </p:cNvSpPr>
          <p:nvPr/>
        </p:nvSpPr>
        <p:spPr>
          <a:xfrm>
            <a:off x="381000" y="3048000"/>
            <a:ext cx="8229600" cy="29718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2400" b="1" i="0" u="none" strike="noStrike" kern="1200" cap="none" spc="0" normalizeH="0" baseline="0" noProof="0" dirty="0" smtClean="0">
                <a:ln>
                  <a:noFill/>
                </a:ln>
                <a:solidFill>
                  <a:srgbClr val="000066"/>
                </a:solidFill>
                <a:effectLst/>
                <a:uLnTx/>
                <a:uFillTx/>
                <a:latin typeface="Times New Roman" pitchFamily="18" charset="0"/>
                <a:cs typeface="Times New Roman" pitchFamily="18" charset="0"/>
              </a:rPr>
              <a:t>Stratified Sampling</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Method: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Population is divided into natural subsets (Strata)</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Items are randomly selected from stratum</a:t>
            </a:r>
            <a:r>
              <a:rPr kumimoji="0" lang="en-US" sz="2400" b="0"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a:t>
            </a:r>
            <a:r>
              <a:rPr lang="en-US" sz="2400" dirty="0" smtClean="0">
                <a:latin typeface="Times New Roman" pitchFamily="18" charset="0"/>
                <a:cs typeface="Times New Roman" pitchFamily="18" charset="0"/>
              </a:rPr>
              <a:t>  p</a:t>
            </a:r>
            <a:r>
              <a:rPr kumimoji="0" lang="en-US" sz="24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roportional</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to the size of stratum</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400" dirty="0" smtClean="0">
                <a:latin typeface="+mn-lt"/>
              </a:rPr>
              <a:t>The questions are: How to form strata ? How items be selected from stratum? What will be the sample size?</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p:cNvSpPr>
            <a:spLocks noChangeArrowheads="1"/>
          </p:cNvSpPr>
          <p:nvPr/>
        </p:nvSpPr>
        <p:spPr bwMode="auto">
          <a:xfrm>
            <a:off x="381000" y="838200"/>
            <a:ext cx="8231187" cy="1016305"/>
          </a:xfrm>
          <a:prstGeom prst="rect">
            <a:avLst/>
          </a:prstGeom>
          <a:noFill/>
          <a:ln w="25400">
            <a:solidFill>
              <a:schemeClr val="tx1"/>
            </a:solidFill>
            <a:miter lim="800000"/>
            <a:headEnd/>
            <a:tailEnd/>
          </a:ln>
          <a:effectLst/>
        </p:spPr>
        <p:txBody>
          <a:bodyPr lIns="92075" tIns="46038" rIns="92075" bIns="46038">
            <a:spAutoFit/>
          </a:bodyPr>
          <a:lstStyle/>
          <a:p>
            <a:pPr algn="ctr">
              <a:spcBef>
                <a:spcPct val="50000"/>
              </a:spcBef>
            </a:pPr>
            <a:r>
              <a:rPr lang="en-US" sz="2400" b="1" dirty="0">
                <a:solidFill>
                  <a:srgbClr val="990000"/>
                </a:solidFill>
                <a:effectLst>
                  <a:outerShdw blurRad="38100" dist="38100" dir="2700000" algn="tl">
                    <a:srgbClr val="C0C0C0"/>
                  </a:outerShdw>
                </a:effectLst>
                <a:latin typeface="Times New Roman" pitchFamily="18" charset="0"/>
                <a:cs typeface="Times New Roman" pitchFamily="18" charset="0"/>
              </a:rPr>
              <a:t>Population</a:t>
            </a:r>
            <a:endParaRPr lang="en-US" sz="2400" dirty="0">
              <a:latin typeface="Times New Roman" pitchFamily="18" charset="0"/>
              <a:cs typeface="Times New Roman" pitchFamily="18" charset="0"/>
            </a:endParaRPr>
          </a:p>
          <a:p>
            <a:pPr algn="ctr">
              <a:spcBef>
                <a:spcPct val="50000"/>
              </a:spcBef>
            </a:pPr>
            <a:r>
              <a:rPr lang="en-US" sz="2400" dirty="0">
                <a:latin typeface="Times New Roman" pitchFamily="18" charset="0"/>
                <a:cs typeface="Times New Roman" pitchFamily="18" charset="0"/>
              </a:rPr>
              <a:t>Cash holdings of All Financial Institutions in the Country</a:t>
            </a:r>
          </a:p>
        </p:txBody>
      </p:sp>
      <p:grpSp>
        <p:nvGrpSpPr>
          <p:cNvPr id="2" name="Group 23"/>
          <p:cNvGrpSpPr>
            <a:grpSpLocks/>
          </p:cNvGrpSpPr>
          <p:nvPr/>
        </p:nvGrpSpPr>
        <p:grpSpPr bwMode="auto">
          <a:xfrm>
            <a:off x="0" y="2057400"/>
            <a:ext cx="8229600" cy="1951038"/>
            <a:chOff x="816" y="2688"/>
            <a:chExt cx="5184" cy="1229"/>
          </a:xfrm>
        </p:grpSpPr>
        <p:sp>
          <p:nvSpPr>
            <p:cNvPr id="116740" name="Rectangle 4"/>
            <p:cNvSpPr>
              <a:spLocks noChangeArrowheads="1"/>
            </p:cNvSpPr>
            <p:nvPr/>
          </p:nvSpPr>
          <p:spPr bwMode="auto">
            <a:xfrm>
              <a:off x="2351" y="3023"/>
              <a:ext cx="2402" cy="834"/>
            </a:xfrm>
            <a:prstGeom prst="rect">
              <a:avLst/>
            </a:prstGeom>
            <a:noFill/>
            <a:ln w="25400">
              <a:solidFill>
                <a:schemeClr val="tx1"/>
              </a:solidFill>
              <a:miter lim="800000"/>
              <a:headEnd/>
              <a:tailEnd/>
            </a:ln>
            <a:effectLst/>
          </p:spPr>
          <p:txBody>
            <a:bodyPr lIns="92075" tIns="46038" rIns="92075" bIns="46038">
              <a:spAutoFit/>
            </a:bodyPr>
            <a:lstStyle/>
            <a:p>
              <a:pPr algn="ctr">
                <a:spcBef>
                  <a:spcPct val="50000"/>
                </a:spcBef>
              </a:pPr>
              <a:r>
                <a:rPr lang="en-US" sz="2000" dirty="0"/>
                <a:t>Large Institutions</a:t>
              </a:r>
            </a:p>
            <a:p>
              <a:pPr algn="ctr">
                <a:spcBef>
                  <a:spcPct val="50000"/>
                </a:spcBef>
              </a:pPr>
              <a:r>
                <a:rPr lang="en-US" sz="2000" dirty="0"/>
                <a:t>Medium Size Institutions</a:t>
              </a:r>
            </a:p>
            <a:p>
              <a:pPr algn="ctr">
                <a:spcBef>
                  <a:spcPct val="50000"/>
                </a:spcBef>
              </a:pPr>
              <a:r>
                <a:rPr lang="en-US" sz="2000" dirty="0"/>
                <a:t>Small Institutions</a:t>
              </a:r>
            </a:p>
          </p:txBody>
        </p:sp>
        <p:sp>
          <p:nvSpPr>
            <p:cNvPr id="116743" name="Rectangle 7"/>
            <p:cNvSpPr>
              <a:spLocks noChangeArrowheads="1"/>
            </p:cNvSpPr>
            <p:nvPr/>
          </p:nvSpPr>
          <p:spPr bwMode="auto">
            <a:xfrm>
              <a:off x="2544" y="2688"/>
              <a:ext cx="2064" cy="291"/>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2400" b="1" dirty="0">
                  <a:solidFill>
                    <a:srgbClr val="990000"/>
                  </a:solidFill>
                  <a:effectLst>
                    <a:outerShdw blurRad="38100" dist="38100" dir="2700000" algn="tl">
                      <a:srgbClr val="C0C0C0"/>
                    </a:outerShdw>
                  </a:effectLst>
                </a:rPr>
                <a:t>Stratified Population</a:t>
              </a:r>
            </a:p>
          </p:txBody>
        </p:sp>
        <p:sp>
          <p:nvSpPr>
            <p:cNvPr id="116744" name="Rectangle 8"/>
            <p:cNvSpPr>
              <a:spLocks noChangeArrowheads="1"/>
            </p:cNvSpPr>
            <p:nvPr/>
          </p:nvSpPr>
          <p:spPr bwMode="auto">
            <a:xfrm>
              <a:off x="816" y="3024"/>
              <a:ext cx="1152" cy="269"/>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2200" b="1" dirty="0"/>
                <a:t>Stratum 1</a:t>
              </a:r>
            </a:p>
          </p:txBody>
        </p:sp>
        <p:sp>
          <p:nvSpPr>
            <p:cNvPr id="116745" name="Rectangle 9"/>
            <p:cNvSpPr>
              <a:spLocks noChangeArrowheads="1"/>
            </p:cNvSpPr>
            <p:nvPr/>
          </p:nvSpPr>
          <p:spPr bwMode="auto">
            <a:xfrm>
              <a:off x="816" y="3360"/>
              <a:ext cx="1152" cy="269"/>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2200" b="1" dirty="0"/>
                <a:t>Stratum 2</a:t>
              </a:r>
            </a:p>
          </p:txBody>
        </p:sp>
        <p:sp>
          <p:nvSpPr>
            <p:cNvPr id="116746" name="Rectangle 10"/>
            <p:cNvSpPr>
              <a:spLocks noChangeArrowheads="1"/>
            </p:cNvSpPr>
            <p:nvPr/>
          </p:nvSpPr>
          <p:spPr bwMode="auto">
            <a:xfrm>
              <a:off x="816" y="3648"/>
              <a:ext cx="1152" cy="269"/>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2200" b="1" dirty="0"/>
                <a:t>Stratum 3</a:t>
              </a:r>
            </a:p>
          </p:txBody>
        </p:sp>
        <p:sp>
          <p:nvSpPr>
            <p:cNvPr id="116747" name="Line 11"/>
            <p:cNvSpPr>
              <a:spLocks noChangeShapeType="1"/>
            </p:cNvSpPr>
            <p:nvPr/>
          </p:nvSpPr>
          <p:spPr bwMode="auto">
            <a:xfrm>
              <a:off x="1824" y="3168"/>
              <a:ext cx="719" cy="0"/>
            </a:xfrm>
            <a:prstGeom prst="line">
              <a:avLst/>
            </a:prstGeom>
            <a:noFill/>
            <a:ln w="25400">
              <a:solidFill>
                <a:schemeClr val="tx1"/>
              </a:solidFill>
              <a:round/>
              <a:headEnd type="none" w="sm" len="sm"/>
              <a:tailEnd type="stealth" w="med" len="med"/>
            </a:ln>
            <a:effectLst/>
          </p:spPr>
          <p:txBody>
            <a:bodyPr/>
            <a:lstStyle/>
            <a:p>
              <a:endParaRPr lang="en-US"/>
            </a:p>
          </p:txBody>
        </p:sp>
        <p:sp>
          <p:nvSpPr>
            <p:cNvPr id="116748" name="Line 12"/>
            <p:cNvSpPr>
              <a:spLocks noChangeShapeType="1"/>
            </p:cNvSpPr>
            <p:nvPr/>
          </p:nvSpPr>
          <p:spPr bwMode="auto">
            <a:xfrm>
              <a:off x="1824" y="3456"/>
              <a:ext cx="719" cy="0"/>
            </a:xfrm>
            <a:prstGeom prst="line">
              <a:avLst/>
            </a:prstGeom>
            <a:noFill/>
            <a:ln w="25400">
              <a:solidFill>
                <a:schemeClr val="tx1"/>
              </a:solidFill>
              <a:round/>
              <a:headEnd type="none" w="sm" len="sm"/>
              <a:tailEnd type="stealth" w="med" len="med"/>
            </a:ln>
            <a:effectLst/>
          </p:spPr>
          <p:txBody>
            <a:bodyPr/>
            <a:lstStyle/>
            <a:p>
              <a:endParaRPr lang="en-US"/>
            </a:p>
          </p:txBody>
        </p:sp>
        <p:sp>
          <p:nvSpPr>
            <p:cNvPr id="116749" name="Line 13"/>
            <p:cNvSpPr>
              <a:spLocks noChangeShapeType="1"/>
            </p:cNvSpPr>
            <p:nvPr/>
          </p:nvSpPr>
          <p:spPr bwMode="auto">
            <a:xfrm>
              <a:off x="1872" y="3744"/>
              <a:ext cx="719" cy="0"/>
            </a:xfrm>
            <a:prstGeom prst="line">
              <a:avLst/>
            </a:prstGeom>
            <a:noFill/>
            <a:ln w="25400">
              <a:solidFill>
                <a:schemeClr val="tx1"/>
              </a:solidFill>
              <a:round/>
              <a:headEnd type="none" w="sm" len="sm"/>
              <a:tailEnd type="stealth" w="med" len="med"/>
            </a:ln>
            <a:effectLst/>
          </p:spPr>
          <p:txBody>
            <a:bodyPr/>
            <a:lstStyle/>
            <a:p>
              <a:endParaRPr lang="en-US"/>
            </a:p>
          </p:txBody>
        </p:sp>
        <p:sp>
          <p:nvSpPr>
            <p:cNvPr id="116750" name="Rectangle 14"/>
            <p:cNvSpPr>
              <a:spLocks noChangeArrowheads="1"/>
            </p:cNvSpPr>
            <p:nvPr/>
          </p:nvSpPr>
          <p:spPr bwMode="auto">
            <a:xfrm>
              <a:off x="4896" y="2976"/>
              <a:ext cx="1056" cy="250"/>
            </a:xfrm>
            <a:prstGeom prst="rect">
              <a:avLst/>
            </a:prstGeom>
            <a:noFill/>
            <a:ln w="9525">
              <a:noFill/>
              <a:miter lim="800000"/>
              <a:headEnd/>
              <a:tailEnd/>
            </a:ln>
            <a:effectLst/>
          </p:spPr>
          <p:txBody>
            <a:bodyPr lIns="92075" tIns="46038" rIns="92075" bIns="46038">
              <a:spAutoFit/>
            </a:bodyPr>
            <a:lstStyle/>
            <a:p>
              <a:pPr>
                <a:spcBef>
                  <a:spcPct val="50000"/>
                </a:spcBef>
              </a:pPr>
              <a:r>
                <a:rPr lang="en-US" sz="2000" b="1" dirty="0"/>
                <a:t>Select </a:t>
              </a:r>
              <a:r>
                <a:rPr lang="en-US" sz="2000" b="1" i="1" dirty="0"/>
                <a:t>n</a:t>
              </a:r>
              <a:r>
                <a:rPr lang="en-US" sz="2000" b="1" i="1" baseline="-25000" dirty="0"/>
                <a:t>1</a:t>
              </a:r>
            </a:p>
          </p:txBody>
        </p:sp>
        <p:sp>
          <p:nvSpPr>
            <p:cNvPr id="116751" name="Rectangle 15"/>
            <p:cNvSpPr>
              <a:spLocks noChangeArrowheads="1"/>
            </p:cNvSpPr>
            <p:nvPr/>
          </p:nvSpPr>
          <p:spPr bwMode="auto">
            <a:xfrm>
              <a:off x="4944" y="3312"/>
              <a:ext cx="1056" cy="250"/>
            </a:xfrm>
            <a:prstGeom prst="rect">
              <a:avLst/>
            </a:prstGeom>
            <a:noFill/>
            <a:ln w="9525">
              <a:noFill/>
              <a:miter lim="800000"/>
              <a:headEnd/>
              <a:tailEnd/>
            </a:ln>
            <a:effectLst/>
          </p:spPr>
          <p:txBody>
            <a:bodyPr lIns="92075" tIns="46038" rIns="92075" bIns="46038">
              <a:spAutoFit/>
            </a:bodyPr>
            <a:lstStyle/>
            <a:p>
              <a:pPr>
                <a:spcBef>
                  <a:spcPct val="50000"/>
                </a:spcBef>
              </a:pPr>
              <a:r>
                <a:rPr lang="en-US" sz="2000" b="1" dirty="0"/>
                <a:t>Select </a:t>
              </a:r>
              <a:r>
                <a:rPr lang="en-US" sz="2000" b="1" i="1" dirty="0"/>
                <a:t>n</a:t>
              </a:r>
              <a:r>
                <a:rPr lang="en-US" sz="2000" b="1" i="1" baseline="-25000" dirty="0"/>
                <a:t>2</a:t>
              </a:r>
            </a:p>
          </p:txBody>
        </p:sp>
        <p:sp>
          <p:nvSpPr>
            <p:cNvPr id="116752" name="Rectangle 16"/>
            <p:cNvSpPr>
              <a:spLocks noChangeArrowheads="1"/>
            </p:cNvSpPr>
            <p:nvPr/>
          </p:nvSpPr>
          <p:spPr bwMode="auto">
            <a:xfrm>
              <a:off x="4944" y="3600"/>
              <a:ext cx="1056" cy="250"/>
            </a:xfrm>
            <a:prstGeom prst="rect">
              <a:avLst/>
            </a:prstGeom>
            <a:noFill/>
            <a:ln w="9525">
              <a:noFill/>
              <a:miter lim="800000"/>
              <a:headEnd/>
              <a:tailEnd/>
            </a:ln>
            <a:effectLst/>
          </p:spPr>
          <p:txBody>
            <a:bodyPr lIns="92075" tIns="46038" rIns="92075" bIns="46038">
              <a:spAutoFit/>
            </a:bodyPr>
            <a:lstStyle/>
            <a:p>
              <a:pPr>
                <a:spcBef>
                  <a:spcPct val="50000"/>
                </a:spcBef>
              </a:pPr>
              <a:r>
                <a:rPr lang="en-US" sz="2000" b="1" dirty="0"/>
                <a:t>Select </a:t>
              </a:r>
              <a:r>
                <a:rPr lang="en-US" sz="2000" b="1" i="1" dirty="0"/>
                <a:t>n</a:t>
              </a:r>
              <a:r>
                <a:rPr lang="en-US" sz="2000" b="1" i="1" baseline="-25000" dirty="0"/>
                <a:t>3</a:t>
              </a:r>
            </a:p>
          </p:txBody>
        </p:sp>
        <p:sp>
          <p:nvSpPr>
            <p:cNvPr id="116753" name="Line 17"/>
            <p:cNvSpPr>
              <a:spLocks noChangeShapeType="1"/>
            </p:cNvSpPr>
            <p:nvPr/>
          </p:nvSpPr>
          <p:spPr bwMode="auto">
            <a:xfrm>
              <a:off x="4560" y="3120"/>
              <a:ext cx="335" cy="0"/>
            </a:xfrm>
            <a:prstGeom prst="line">
              <a:avLst/>
            </a:prstGeom>
            <a:noFill/>
            <a:ln w="25400">
              <a:solidFill>
                <a:srgbClr val="3333CC"/>
              </a:solidFill>
              <a:round/>
              <a:headEnd type="none" w="sm" len="sm"/>
              <a:tailEnd type="stealth" w="med" len="med"/>
            </a:ln>
            <a:effectLst/>
          </p:spPr>
          <p:txBody>
            <a:bodyPr/>
            <a:lstStyle/>
            <a:p>
              <a:endParaRPr lang="en-US"/>
            </a:p>
          </p:txBody>
        </p:sp>
        <p:sp>
          <p:nvSpPr>
            <p:cNvPr id="116754" name="Line 18"/>
            <p:cNvSpPr>
              <a:spLocks noChangeShapeType="1"/>
            </p:cNvSpPr>
            <p:nvPr/>
          </p:nvSpPr>
          <p:spPr bwMode="auto">
            <a:xfrm>
              <a:off x="4560" y="3456"/>
              <a:ext cx="335" cy="0"/>
            </a:xfrm>
            <a:prstGeom prst="line">
              <a:avLst/>
            </a:prstGeom>
            <a:noFill/>
            <a:ln w="25400">
              <a:solidFill>
                <a:srgbClr val="3333CC"/>
              </a:solidFill>
              <a:round/>
              <a:headEnd type="none" w="sm" len="sm"/>
              <a:tailEnd type="stealth" w="med" len="med"/>
            </a:ln>
            <a:effectLst/>
          </p:spPr>
          <p:txBody>
            <a:bodyPr/>
            <a:lstStyle/>
            <a:p>
              <a:endParaRPr lang="en-US"/>
            </a:p>
          </p:txBody>
        </p:sp>
        <p:sp>
          <p:nvSpPr>
            <p:cNvPr id="116755" name="Line 19"/>
            <p:cNvSpPr>
              <a:spLocks noChangeShapeType="1"/>
            </p:cNvSpPr>
            <p:nvPr/>
          </p:nvSpPr>
          <p:spPr bwMode="auto">
            <a:xfrm>
              <a:off x="4560" y="3696"/>
              <a:ext cx="335" cy="0"/>
            </a:xfrm>
            <a:prstGeom prst="line">
              <a:avLst/>
            </a:prstGeom>
            <a:noFill/>
            <a:ln w="25400">
              <a:solidFill>
                <a:srgbClr val="3333CC"/>
              </a:solidFill>
              <a:round/>
              <a:headEnd type="none" w="sm" len="sm"/>
              <a:tailEnd type="stealth" w="med" len="med"/>
            </a:ln>
            <a:effectLst/>
          </p:spPr>
          <p:txBody>
            <a:bodyPr/>
            <a:lstStyle/>
            <a:p>
              <a:endParaRPr lang="en-US"/>
            </a:p>
          </p:txBody>
        </p:sp>
      </p:grpSp>
      <p:sp>
        <p:nvSpPr>
          <p:cNvPr id="116757" name="Rectangle 21"/>
          <p:cNvSpPr>
            <a:spLocks noChangeArrowheads="1"/>
          </p:cNvSpPr>
          <p:nvPr/>
        </p:nvSpPr>
        <p:spPr bwMode="auto">
          <a:xfrm>
            <a:off x="2667000" y="4038600"/>
            <a:ext cx="3581400" cy="1016305"/>
          </a:xfrm>
          <a:prstGeom prst="rect">
            <a:avLst/>
          </a:prstGeom>
          <a:noFill/>
          <a:ln w="9525">
            <a:noFill/>
            <a:miter lim="800000"/>
            <a:headEnd/>
            <a:tailEnd/>
          </a:ln>
          <a:effectLst/>
        </p:spPr>
        <p:txBody>
          <a:bodyPr wrap="square" lIns="92075" tIns="46038" rIns="92075" bIns="46038">
            <a:spAutoFit/>
          </a:bodyPr>
          <a:lstStyle/>
          <a:p>
            <a:pPr algn="ctr">
              <a:spcBef>
                <a:spcPct val="50000"/>
              </a:spcBef>
            </a:pPr>
            <a:r>
              <a:rPr lang="en-US" sz="2000" b="1" dirty="0"/>
              <a:t>Stratified Sample of  Cash Holdings of Financial Institutions</a:t>
            </a:r>
          </a:p>
        </p:txBody>
      </p:sp>
      <p:sp>
        <p:nvSpPr>
          <p:cNvPr id="116761" name="Rectangle 25"/>
          <p:cNvSpPr>
            <a:spLocks noGrp="1" noChangeArrowheads="1"/>
          </p:cNvSpPr>
          <p:nvPr>
            <p:ph type="title"/>
          </p:nvPr>
        </p:nvSpPr>
        <p:spPr>
          <a:xfrm>
            <a:off x="609600" y="0"/>
            <a:ext cx="8229600" cy="609600"/>
          </a:xfrm>
          <a:ln/>
        </p:spPr>
        <p:txBody>
          <a:bodyPr/>
          <a:lstStyle/>
          <a:p>
            <a:r>
              <a:rPr lang="en-US" sz="3200" b="0" dirty="0"/>
              <a:t>Stratified Sampling Example</a:t>
            </a:r>
          </a:p>
        </p:txBody>
      </p:sp>
      <p:sp>
        <p:nvSpPr>
          <p:cNvPr id="20" name="TextBox 19"/>
          <p:cNvSpPr txBox="1"/>
          <p:nvPr/>
        </p:nvSpPr>
        <p:spPr>
          <a:xfrm>
            <a:off x="228600" y="5105400"/>
            <a:ext cx="8915400" cy="1200329"/>
          </a:xfrm>
          <a:prstGeom prst="rect">
            <a:avLst/>
          </a:prstGeom>
          <a:noFill/>
        </p:spPr>
        <p:txBody>
          <a:bodyPr wrap="square" rtlCol="0">
            <a:spAutoFit/>
          </a:bodyPr>
          <a:lstStyle/>
          <a:p>
            <a:r>
              <a:rPr lang="en-US" sz="2400" dirty="0" smtClean="0">
                <a:latin typeface="+mn-lt"/>
              </a:rPr>
              <a:t>If </a:t>
            </a:r>
            <a:r>
              <a:rPr lang="en-US" sz="2400" i="1" dirty="0" smtClean="0">
                <a:latin typeface="+mn-lt"/>
              </a:rPr>
              <a:t>P</a:t>
            </a:r>
            <a:r>
              <a:rPr lang="en-US" sz="2400" i="1" baseline="-25000" dirty="0" smtClean="0">
                <a:latin typeface="+mn-lt"/>
              </a:rPr>
              <a:t>i</a:t>
            </a:r>
            <a:r>
              <a:rPr lang="en-US" sz="2400" i="1" dirty="0" smtClean="0">
                <a:latin typeface="+mn-lt"/>
              </a:rPr>
              <a:t> </a:t>
            </a:r>
            <a:r>
              <a:rPr lang="en-US" sz="2400" dirty="0" smtClean="0">
                <a:latin typeface="+mn-lt"/>
              </a:rPr>
              <a:t> represents </a:t>
            </a:r>
            <a:r>
              <a:rPr lang="en-US" sz="2400" dirty="0" smtClean="0">
                <a:solidFill>
                  <a:srgbClr val="FF0000"/>
                </a:solidFill>
                <a:latin typeface="+mn-lt"/>
              </a:rPr>
              <a:t>proportional population </a:t>
            </a:r>
            <a:r>
              <a:rPr lang="en-US" sz="2400" dirty="0" smtClean="0">
                <a:latin typeface="+mn-lt"/>
              </a:rPr>
              <a:t>included in stratum </a:t>
            </a:r>
            <a:r>
              <a:rPr lang="en-US" sz="2400" i="1" dirty="0" err="1" smtClean="0">
                <a:latin typeface="+mn-lt"/>
              </a:rPr>
              <a:t>i</a:t>
            </a:r>
            <a:r>
              <a:rPr lang="en-US" sz="2400" dirty="0" smtClean="0">
                <a:latin typeface="+mn-lt"/>
              </a:rPr>
              <a:t>, and </a:t>
            </a:r>
            <a:r>
              <a:rPr lang="en-US" sz="2400" i="1" dirty="0" smtClean="0">
                <a:latin typeface="+mn-lt"/>
              </a:rPr>
              <a:t>n</a:t>
            </a:r>
            <a:r>
              <a:rPr lang="en-US" sz="2400" dirty="0" smtClean="0">
                <a:latin typeface="+mn-lt"/>
              </a:rPr>
              <a:t> is the total number of sample size , the number of elements selected from stratum </a:t>
            </a:r>
            <a:r>
              <a:rPr lang="en-US" sz="2400" i="1" dirty="0" err="1" smtClean="0">
                <a:latin typeface="+mn-lt"/>
              </a:rPr>
              <a:t>i</a:t>
            </a:r>
            <a:r>
              <a:rPr lang="en-US" sz="2400" dirty="0" smtClean="0">
                <a:latin typeface="+mn-lt"/>
              </a:rPr>
              <a:t> = </a:t>
            </a:r>
            <a:r>
              <a:rPr lang="en-US" sz="2400" i="1" dirty="0" err="1" smtClean="0">
                <a:latin typeface="+mn-lt"/>
              </a:rPr>
              <a:t>n.P</a:t>
            </a:r>
            <a:r>
              <a:rPr lang="en-US" sz="2400" i="1" baseline="-25000" dirty="0" err="1" smtClean="0">
                <a:latin typeface="+mn-lt"/>
              </a:rPr>
              <a:t>i</a:t>
            </a:r>
            <a:endParaRPr lang="en-IN" sz="2000" i="1" dirty="0">
              <a:latin typeface="+mn-lt"/>
            </a:endParaRPr>
          </a:p>
        </p:txBody>
      </p:sp>
    </p:spTree>
  </p:cSld>
  <p:clrMapOvr>
    <a:masterClrMapping/>
  </p:clrMapOvr>
  <p:transition spd="med">
    <p:rand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55</a:t>
            </a:fld>
            <a:endParaRPr lang="en-US"/>
          </a:p>
        </p:txBody>
      </p:sp>
      <p:sp>
        <p:nvSpPr>
          <p:cNvPr id="6" name="Rectangle 5"/>
          <p:cNvSpPr/>
          <p:nvPr/>
        </p:nvSpPr>
        <p:spPr>
          <a:xfrm>
            <a:off x="428596" y="889844"/>
            <a:ext cx="8501122" cy="4893647"/>
          </a:xfrm>
          <a:prstGeom prst="rect">
            <a:avLst/>
          </a:prstGeom>
        </p:spPr>
        <p:txBody>
          <a:bodyPr wrap="square">
            <a:spAutoFit/>
          </a:bodyPr>
          <a:lstStyle/>
          <a:p>
            <a:r>
              <a:rPr lang="en-IN" sz="2400" dirty="0" smtClean="0">
                <a:latin typeface="+mj-lt"/>
              </a:rPr>
              <a:t>Let us suppose that we want a sample of size </a:t>
            </a:r>
            <a:r>
              <a:rPr lang="en-IN" sz="2400" i="1" dirty="0" smtClean="0">
                <a:latin typeface="+mj-lt"/>
              </a:rPr>
              <a:t>n = 30,  </a:t>
            </a:r>
            <a:r>
              <a:rPr lang="en-IN" sz="2400" dirty="0" smtClean="0">
                <a:latin typeface="+mj-lt"/>
              </a:rPr>
              <a:t>to be drawn from a population of size </a:t>
            </a:r>
            <a:r>
              <a:rPr lang="en-IN" sz="2400" i="1" dirty="0" smtClean="0">
                <a:latin typeface="+mj-lt"/>
              </a:rPr>
              <a:t>N = 8000  </a:t>
            </a:r>
            <a:r>
              <a:rPr lang="en-IN" sz="2400" dirty="0" smtClean="0">
                <a:latin typeface="+mj-lt"/>
              </a:rPr>
              <a:t>which is divided into three strata of size </a:t>
            </a:r>
            <a:r>
              <a:rPr lang="en-IN" sz="2400" i="1" dirty="0" smtClean="0">
                <a:latin typeface="+mj-lt"/>
              </a:rPr>
              <a:t>N</a:t>
            </a:r>
            <a:r>
              <a:rPr lang="en-IN" sz="2400" i="1" baseline="-25000" dirty="0" smtClean="0">
                <a:latin typeface="+mj-lt"/>
              </a:rPr>
              <a:t>1</a:t>
            </a:r>
            <a:r>
              <a:rPr lang="en-IN" sz="2400" i="1" dirty="0" smtClean="0">
                <a:latin typeface="+mj-lt"/>
              </a:rPr>
              <a:t> = 4000, N</a:t>
            </a:r>
            <a:r>
              <a:rPr lang="en-IN" sz="2400" i="1" baseline="-25000" dirty="0" smtClean="0">
                <a:latin typeface="+mj-lt"/>
              </a:rPr>
              <a:t>2</a:t>
            </a:r>
            <a:r>
              <a:rPr lang="en-IN" sz="2400" i="1" dirty="0" smtClean="0">
                <a:latin typeface="+mj-lt"/>
              </a:rPr>
              <a:t> = 2400 and N</a:t>
            </a:r>
            <a:r>
              <a:rPr lang="en-IN" sz="2400" i="1" baseline="-25000" dirty="0" smtClean="0">
                <a:latin typeface="+mj-lt"/>
              </a:rPr>
              <a:t>3</a:t>
            </a:r>
            <a:r>
              <a:rPr lang="en-IN" sz="2400" i="1" dirty="0" smtClean="0">
                <a:latin typeface="+mj-lt"/>
              </a:rPr>
              <a:t> = 1600. </a:t>
            </a:r>
            <a:r>
              <a:rPr lang="en-IN" sz="2400" dirty="0" smtClean="0">
                <a:latin typeface="+mj-lt"/>
              </a:rPr>
              <a:t>Adopting proportional allocation, samples to be tankan from each strata are</a:t>
            </a:r>
          </a:p>
          <a:p>
            <a:endParaRPr lang="en-IN" sz="2400" dirty="0" smtClean="0">
              <a:latin typeface="+mj-lt"/>
            </a:endParaRPr>
          </a:p>
          <a:p>
            <a:r>
              <a:rPr lang="en-IN" sz="2400" dirty="0" smtClean="0">
                <a:latin typeface="+mj-lt"/>
              </a:rPr>
              <a:t>For strata with </a:t>
            </a:r>
            <a:r>
              <a:rPr lang="en-IN" sz="2400" i="1" dirty="0" smtClean="0">
                <a:latin typeface="+mj-lt"/>
              </a:rPr>
              <a:t>N</a:t>
            </a:r>
            <a:r>
              <a:rPr lang="en-IN" sz="2400" i="1" baseline="-25000" dirty="0" smtClean="0">
                <a:latin typeface="+mj-lt"/>
              </a:rPr>
              <a:t>1</a:t>
            </a:r>
            <a:r>
              <a:rPr lang="en-IN" sz="2400" i="1" dirty="0" smtClean="0">
                <a:latin typeface="+mj-lt"/>
              </a:rPr>
              <a:t> = 4000, </a:t>
            </a:r>
            <a:r>
              <a:rPr lang="en-IN" sz="2400" dirty="0" smtClean="0">
                <a:latin typeface="+mj-lt"/>
              </a:rPr>
              <a:t>we have </a:t>
            </a:r>
            <a:r>
              <a:rPr lang="en-IN" sz="2400" i="1" dirty="0" smtClean="0">
                <a:latin typeface="+mj-lt"/>
              </a:rPr>
              <a:t>P</a:t>
            </a:r>
            <a:r>
              <a:rPr lang="en-IN" sz="2400" i="1" baseline="-25000" dirty="0" smtClean="0">
                <a:latin typeface="+mj-lt"/>
              </a:rPr>
              <a:t>1</a:t>
            </a:r>
            <a:r>
              <a:rPr lang="en-IN" sz="2400" i="1" dirty="0" smtClean="0">
                <a:latin typeface="+mj-lt"/>
              </a:rPr>
              <a:t> = 4000/8000 ; </a:t>
            </a:r>
            <a:r>
              <a:rPr lang="en-US" sz="2400" dirty="0" smtClean="0">
                <a:latin typeface="+mj-lt"/>
              </a:rPr>
              <a:t>and hence </a:t>
            </a:r>
            <a:r>
              <a:rPr lang="en-US" sz="2400" i="1" dirty="0" smtClean="0">
                <a:latin typeface="+mj-lt"/>
              </a:rPr>
              <a:t>n</a:t>
            </a:r>
            <a:r>
              <a:rPr lang="en-US" sz="2400" i="1" baseline="-25000" dirty="0" smtClean="0">
                <a:latin typeface="+mj-lt"/>
              </a:rPr>
              <a:t>1</a:t>
            </a:r>
            <a:r>
              <a:rPr lang="en-US" sz="2400" i="1" dirty="0" smtClean="0">
                <a:latin typeface="+mj-lt"/>
              </a:rPr>
              <a:t> = n . P</a:t>
            </a:r>
            <a:r>
              <a:rPr lang="en-US" sz="2400" i="1" baseline="-25000" dirty="0" smtClean="0">
                <a:latin typeface="+mj-lt"/>
              </a:rPr>
              <a:t>1</a:t>
            </a:r>
            <a:r>
              <a:rPr lang="en-US" sz="2400" i="1" dirty="0" smtClean="0">
                <a:latin typeface="+mj-lt"/>
              </a:rPr>
              <a:t> = 30 (4000/8000) = 15</a:t>
            </a:r>
          </a:p>
          <a:p>
            <a:endParaRPr lang="en-IN" sz="2400" dirty="0" smtClean="0">
              <a:latin typeface="+mj-lt"/>
            </a:endParaRPr>
          </a:p>
          <a:p>
            <a:r>
              <a:rPr lang="en-IN" sz="2400" dirty="0" smtClean="0">
                <a:latin typeface="+mj-lt"/>
              </a:rPr>
              <a:t>Similarly, for strata with </a:t>
            </a:r>
            <a:r>
              <a:rPr lang="en-IN" sz="2400" i="1" dirty="0" smtClean="0">
                <a:latin typeface="+mj-lt"/>
              </a:rPr>
              <a:t>N</a:t>
            </a:r>
            <a:r>
              <a:rPr lang="en-IN" sz="2400" i="1" baseline="-25000" dirty="0" smtClean="0">
                <a:latin typeface="+mj-lt"/>
              </a:rPr>
              <a:t>2</a:t>
            </a:r>
            <a:r>
              <a:rPr lang="en-IN" sz="2400" i="1" dirty="0" smtClean="0">
                <a:latin typeface="+mj-lt"/>
              </a:rPr>
              <a:t> = 2400, </a:t>
            </a:r>
            <a:r>
              <a:rPr lang="en-IN" sz="2400" dirty="0" smtClean="0">
                <a:latin typeface="+mj-lt"/>
              </a:rPr>
              <a:t>we have </a:t>
            </a:r>
            <a:r>
              <a:rPr lang="pt-BR" sz="2400" i="1" dirty="0" smtClean="0">
                <a:latin typeface="+mj-lt"/>
              </a:rPr>
              <a:t>n</a:t>
            </a:r>
            <a:r>
              <a:rPr lang="pt-BR" sz="2400" i="1" baseline="-25000" dirty="0" smtClean="0">
                <a:latin typeface="+mj-lt"/>
              </a:rPr>
              <a:t>2</a:t>
            </a:r>
            <a:r>
              <a:rPr lang="pt-BR" sz="2400" i="1" dirty="0" smtClean="0">
                <a:latin typeface="+mj-lt"/>
              </a:rPr>
              <a:t> = n . P</a:t>
            </a:r>
            <a:r>
              <a:rPr lang="pt-BR" sz="2400" i="1" baseline="-25000" dirty="0" smtClean="0">
                <a:latin typeface="+mj-lt"/>
              </a:rPr>
              <a:t>2</a:t>
            </a:r>
            <a:r>
              <a:rPr lang="pt-BR" sz="2400" i="1" dirty="0" smtClean="0">
                <a:latin typeface="+mj-lt"/>
              </a:rPr>
              <a:t> = 30 (2400/8000) = 9, and</a:t>
            </a:r>
          </a:p>
          <a:p>
            <a:endParaRPr lang="en-IN" sz="2400" dirty="0" smtClean="0">
              <a:latin typeface="+mj-lt"/>
            </a:endParaRPr>
          </a:p>
          <a:p>
            <a:r>
              <a:rPr lang="en-IN" sz="2400" dirty="0" smtClean="0">
                <a:latin typeface="+mj-lt"/>
              </a:rPr>
              <a:t>for strata with </a:t>
            </a:r>
            <a:r>
              <a:rPr lang="en-IN" sz="2400" i="1" dirty="0" smtClean="0">
                <a:latin typeface="+mj-lt"/>
              </a:rPr>
              <a:t>N</a:t>
            </a:r>
            <a:r>
              <a:rPr lang="en-IN" sz="2400" i="1" baseline="-25000" dirty="0" smtClean="0">
                <a:latin typeface="+mj-lt"/>
              </a:rPr>
              <a:t>3</a:t>
            </a:r>
            <a:r>
              <a:rPr lang="en-IN" sz="2400" i="1" dirty="0" smtClean="0">
                <a:latin typeface="+mj-lt"/>
              </a:rPr>
              <a:t> = 1600, </a:t>
            </a:r>
            <a:r>
              <a:rPr lang="en-IN" sz="2400" dirty="0" smtClean="0">
                <a:latin typeface="+mj-lt"/>
              </a:rPr>
              <a:t>we have </a:t>
            </a:r>
            <a:r>
              <a:rPr lang="pt-BR" sz="2400" i="1" dirty="0" smtClean="0">
                <a:latin typeface="+mj-lt"/>
              </a:rPr>
              <a:t>n</a:t>
            </a:r>
            <a:r>
              <a:rPr lang="pt-BR" sz="2400" i="1" baseline="-25000" dirty="0" smtClean="0">
                <a:latin typeface="+mj-lt"/>
              </a:rPr>
              <a:t>3</a:t>
            </a:r>
            <a:r>
              <a:rPr lang="pt-BR" sz="2400" i="1" dirty="0" smtClean="0">
                <a:latin typeface="+mj-lt"/>
              </a:rPr>
              <a:t> = n . P</a:t>
            </a:r>
            <a:r>
              <a:rPr lang="pt-BR" sz="2400" i="1" baseline="-25000" dirty="0" smtClean="0">
                <a:latin typeface="+mj-lt"/>
              </a:rPr>
              <a:t>3</a:t>
            </a:r>
            <a:r>
              <a:rPr lang="pt-BR" sz="2400" i="1" dirty="0" smtClean="0">
                <a:latin typeface="+mj-lt"/>
              </a:rPr>
              <a:t> = 30 (1600/8000) = 6.</a:t>
            </a:r>
            <a:endParaRPr lang="en-US" sz="2400" dirty="0">
              <a:latin typeface="+mj-lt"/>
            </a:endParaRPr>
          </a:p>
        </p:txBody>
      </p:sp>
      <p:sp>
        <p:nvSpPr>
          <p:cNvPr id="7" name="TextBox 6"/>
          <p:cNvSpPr txBox="1"/>
          <p:nvPr/>
        </p:nvSpPr>
        <p:spPr>
          <a:xfrm>
            <a:off x="1142976" y="0"/>
            <a:ext cx="4929222" cy="584775"/>
          </a:xfrm>
          <a:prstGeom prst="rect">
            <a:avLst/>
          </a:prstGeom>
          <a:noFill/>
        </p:spPr>
        <p:txBody>
          <a:bodyPr wrap="square" rtlCol="0">
            <a:spAutoFit/>
          </a:bodyPr>
          <a:lstStyle/>
          <a:p>
            <a:r>
              <a:rPr lang="en-US" sz="3200" dirty="0" smtClean="0">
                <a:latin typeface="+mj-lt"/>
              </a:rPr>
              <a:t>Example</a:t>
            </a:r>
            <a:endParaRPr lang="en-US" sz="3200" dirty="0">
              <a:latin typeface="+mj-l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56</a:t>
            </a:fld>
            <a:endParaRPr lang="en-US"/>
          </a:p>
        </p:txBody>
      </p:sp>
      <p:sp>
        <p:nvSpPr>
          <p:cNvPr id="6" name="Rectangle 25"/>
          <p:cNvSpPr>
            <a:spLocks noGrp="1" noChangeArrowheads="1"/>
          </p:cNvSpPr>
          <p:nvPr>
            <p:ph type="title"/>
          </p:nvPr>
        </p:nvSpPr>
        <p:spPr>
          <a:xfrm>
            <a:off x="609600" y="0"/>
            <a:ext cx="8229600" cy="609600"/>
          </a:xfrm>
          <a:ln/>
        </p:spPr>
        <p:txBody>
          <a:bodyPr/>
          <a:lstStyle/>
          <a:p>
            <a:r>
              <a:rPr lang="en-US" sz="3200" b="0" dirty="0">
                <a:latin typeface="+mn-lt"/>
              </a:rPr>
              <a:t>Stratified Sampling Example</a:t>
            </a:r>
          </a:p>
        </p:txBody>
      </p:sp>
      <p:sp>
        <p:nvSpPr>
          <p:cNvPr id="7" name="TextBox 6"/>
          <p:cNvSpPr txBox="1"/>
          <p:nvPr/>
        </p:nvSpPr>
        <p:spPr>
          <a:xfrm>
            <a:off x="357158" y="785794"/>
            <a:ext cx="8153400" cy="1200329"/>
          </a:xfrm>
          <a:prstGeom prst="rect">
            <a:avLst/>
          </a:prstGeom>
          <a:noFill/>
        </p:spPr>
        <p:txBody>
          <a:bodyPr wrap="square" rtlCol="0">
            <a:spAutoFit/>
          </a:bodyPr>
          <a:lstStyle/>
          <a:p>
            <a:r>
              <a:rPr lang="en-US" sz="2400" dirty="0" smtClean="0">
                <a:latin typeface="+mn-lt"/>
              </a:rPr>
              <a:t>If the strata differ not only in size , but also in variability the optimum allocation (disproportionate) using standard deviation is considered</a:t>
            </a:r>
            <a:endParaRPr lang="en-IN" sz="2400" dirty="0">
              <a:latin typeface="+mn-lt"/>
            </a:endParaRPr>
          </a:p>
        </p:txBody>
      </p:sp>
      <p:graphicFrame>
        <p:nvGraphicFramePr>
          <p:cNvPr id="8" name="Object 7"/>
          <p:cNvGraphicFramePr>
            <a:graphicFrameLocks noChangeAspect="1"/>
          </p:cNvGraphicFramePr>
          <p:nvPr>
            <p:extLst>
              <p:ext uri="{D42A27DB-BD31-4B8C-83A1-F6EECF244321}">
                <p14:modId xmlns="" xmlns:p14="http://schemas.microsoft.com/office/powerpoint/2010/main" val="1930577780"/>
              </p:ext>
            </p:extLst>
          </p:nvPr>
        </p:nvGraphicFramePr>
        <p:xfrm>
          <a:off x="2743200" y="2486024"/>
          <a:ext cx="3479800" cy="800100"/>
        </p:xfrm>
        <a:graphic>
          <a:graphicData uri="http://schemas.openxmlformats.org/presentationml/2006/ole">
            <p:oleObj spid="_x0000_s907330" name="Equation" r:id="rId3" imgW="3479800" imgH="800100" progId="Equation.3">
              <p:embed/>
            </p:oleObj>
          </a:graphicData>
        </a:graphic>
      </p:graphicFrame>
      <p:graphicFrame>
        <p:nvGraphicFramePr>
          <p:cNvPr id="10" name="Object 9"/>
          <p:cNvGraphicFramePr>
            <a:graphicFrameLocks noChangeAspect="1"/>
          </p:cNvGraphicFramePr>
          <p:nvPr>
            <p:extLst>
              <p:ext uri="{D42A27DB-BD31-4B8C-83A1-F6EECF244321}">
                <p14:modId xmlns="" xmlns:p14="http://schemas.microsoft.com/office/powerpoint/2010/main" val="1672833847"/>
              </p:ext>
            </p:extLst>
          </p:nvPr>
        </p:nvGraphicFramePr>
        <p:xfrm>
          <a:off x="3429000" y="5057792"/>
          <a:ext cx="1143000" cy="800100"/>
        </p:xfrm>
        <a:graphic>
          <a:graphicData uri="http://schemas.openxmlformats.org/presentationml/2006/ole">
            <p:oleObj spid="_x0000_s907331" name="Equation" r:id="rId4" imgW="1143000" imgH="800100" progId="Equation.3">
              <p:embed/>
            </p:oleObj>
          </a:graphicData>
        </a:graphic>
      </p:graphicFrame>
      <p:sp>
        <p:nvSpPr>
          <p:cNvPr id="11" name="TextBox 10"/>
          <p:cNvSpPr txBox="1"/>
          <p:nvPr/>
        </p:nvSpPr>
        <p:spPr>
          <a:xfrm>
            <a:off x="500034" y="3714752"/>
            <a:ext cx="8215370" cy="830997"/>
          </a:xfrm>
          <a:prstGeom prst="rect">
            <a:avLst/>
          </a:prstGeom>
          <a:noFill/>
        </p:spPr>
        <p:txBody>
          <a:bodyPr wrap="square" rtlCol="0">
            <a:spAutoFit/>
          </a:bodyPr>
          <a:lstStyle/>
          <a:p>
            <a:r>
              <a:rPr lang="en-US" sz="2400" dirty="0" smtClean="0">
                <a:latin typeface="+mj-lt"/>
              </a:rPr>
              <a:t>Stratum sampling cost: Usually cost is proportional to </a:t>
            </a:r>
            <a:r>
              <a:rPr lang="en-US" sz="2400" dirty="0" err="1" smtClean="0">
                <a:latin typeface="+mj-lt"/>
              </a:rPr>
              <a:t>variate</a:t>
            </a:r>
            <a:r>
              <a:rPr lang="en-US" sz="2400" dirty="0" smtClean="0">
                <a:latin typeface="+mj-lt"/>
              </a:rPr>
              <a:t>. Therefore root over of the cost C is introduced  </a:t>
            </a:r>
            <a:endParaRPr lang="en-US" sz="2400" dirty="0">
              <a:latin typeface="+mj-lt"/>
            </a:endParaRPr>
          </a:p>
        </p:txBody>
      </p:sp>
    </p:spTree>
    <p:extLst>
      <p:ext uri="{BB962C8B-B14F-4D97-AF65-F5344CB8AC3E}">
        <p14:creationId xmlns="" xmlns:p14="http://schemas.microsoft.com/office/powerpoint/2010/main" val="179098897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57</a:t>
            </a:fld>
            <a:endParaRPr lang="en-US"/>
          </a:p>
        </p:txBody>
      </p:sp>
      <p:sp>
        <p:nvSpPr>
          <p:cNvPr id="6" name="Rectangle 5"/>
          <p:cNvSpPr/>
          <p:nvPr/>
        </p:nvSpPr>
        <p:spPr>
          <a:xfrm>
            <a:off x="214282" y="714356"/>
            <a:ext cx="8715436" cy="1569660"/>
          </a:xfrm>
          <a:prstGeom prst="rect">
            <a:avLst/>
          </a:prstGeom>
        </p:spPr>
        <p:txBody>
          <a:bodyPr wrap="square">
            <a:spAutoFit/>
          </a:bodyPr>
          <a:lstStyle/>
          <a:p>
            <a:r>
              <a:rPr lang="en-IN" sz="2400" dirty="0" smtClean="0">
                <a:latin typeface="+mj-lt"/>
              </a:rPr>
              <a:t>A population is divided into three strata so that </a:t>
            </a:r>
            <a:r>
              <a:rPr lang="en-IN" sz="2400" i="1" dirty="0" smtClean="0">
                <a:latin typeface="+mj-lt"/>
              </a:rPr>
              <a:t>N</a:t>
            </a:r>
            <a:r>
              <a:rPr lang="en-IN" sz="2400" i="1" baseline="-25000" dirty="0" smtClean="0">
                <a:latin typeface="+mj-lt"/>
              </a:rPr>
              <a:t>1</a:t>
            </a:r>
            <a:r>
              <a:rPr lang="en-IN" sz="2400" i="1" dirty="0" smtClean="0">
                <a:latin typeface="+mj-lt"/>
              </a:rPr>
              <a:t> = 5000, N</a:t>
            </a:r>
            <a:r>
              <a:rPr lang="en-IN" sz="2400" i="1" baseline="-25000" dirty="0" smtClean="0">
                <a:latin typeface="+mj-lt"/>
              </a:rPr>
              <a:t>2</a:t>
            </a:r>
            <a:r>
              <a:rPr lang="en-IN" sz="2400" i="1" dirty="0" smtClean="0">
                <a:latin typeface="+mj-lt"/>
              </a:rPr>
              <a:t> = 2000 and N</a:t>
            </a:r>
            <a:r>
              <a:rPr lang="en-IN" sz="2400" i="1" baseline="-25000" dirty="0" smtClean="0">
                <a:latin typeface="+mj-lt"/>
              </a:rPr>
              <a:t>3</a:t>
            </a:r>
            <a:r>
              <a:rPr lang="en-IN" sz="2400" i="1" dirty="0" smtClean="0">
                <a:latin typeface="+mj-lt"/>
              </a:rPr>
              <a:t> = 3000. Respective </a:t>
            </a:r>
            <a:r>
              <a:rPr lang="en-US" sz="2400" dirty="0" smtClean="0">
                <a:latin typeface="+mj-lt"/>
              </a:rPr>
              <a:t>standard deviations are:</a:t>
            </a:r>
          </a:p>
          <a:p>
            <a:r>
              <a:rPr lang="el-GR" sz="2400" dirty="0" smtClean="0">
                <a:latin typeface="+mj-lt"/>
              </a:rPr>
              <a:t>σ</a:t>
            </a:r>
            <a:r>
              <a:rPr lang="en-IN" sz="2400" baseline="-25000" dirty="0" smtClean="0">
                <a:latin typeface="+mj-lt"/>
              </a:rPr>
              <a:t>1</a:t>
            </a:r>
            <a:r>
              <a:rPr lang="en-IN" sz="2400" dirty="0" smtClean="0">
                <a:latin typeface="+mj-lt"/>
              </a:rPr>
              <a:t> = 15, </a:t>
            </a:r>
            <a:r>
              <a:rPr lang="el-GR" sz="2000" dirty="0" smtClean="0"/>
              <a:t>σ</a:t>
            </a:r>
            <a:r>
              <a:rPr lang="en-IN" sz="2400" baseline="-25000" dirty="0" smtClean="0">
                <a:latin typeface="+mj-lt"/>
              </a:rPr>
              <a:t>2</a:t>
            </a:r>
            <a:r>
              <a:rPr lang="en-IN" sz="2400" dirty="0" smtClean="0">
                <a:latin typeface="+mj-lt"/>
              </a:rPr>
              <a:t> = 18 and </a:t>
            </a:r>
            <a:r>
              <a:rPr lang="el-GR" sz="2400" dirty="0" smtClean="0">
                <a:solidFill>
                  <a:srgbClr val="000000"/>
                </a:solidFill>
                <a:latin typeface="Times New Roman"/>
              </a:rPr>
              <a:t>σ</a:t>
            </a:r>
            <a:r>
              <a:rPr lang="en-IN" sz="2400" baseline="-25000" dirty="0" smtClean="0">
                <a:latin typeface="+mj-lt"/>
              </a:rPr>
              <a:t>3</a:t>
            </a:r>
            <a:r>
              <a:rPr lang="en-IN" sz="2400" dirty="0" smtClean="0">
                <a:latin typeface="+mj-lt"/>
              </a:rPr>
              <a:t> = 5</a:t>
            </a:r>
            <a:r>
              <a:rPr lang="en-IN" sz="2400" i="1" dirty="0" smtClean="0">
                <a:latin typeface="+mj-lt"/>
              </a:rPr>
              <a:t>.  </a:t>
            </a:r>
            <a:r>
              <a:rPr lang="en-IN" sz="2400" dirty="0" smtClean="0">
                <a:latin typeface="+mj-lt"/>
              </a:rPr>
              <a:t>How should a sample of size </a:t>
            </a:r>
            <a:r>
              <a:rPr lang="en-IN" sz="2400" i="1" dirty="0" smtClean="0">
                <a:latin typeface="+mj-lt"/>
              </a:rPr>
              <a:t>n = 84 </a:t>
            </a:r>
            <a:r>
              <a:rPr lang="en-IN" sz="2400" dirty="0" smtClean="0">
                <a:latin typeface="+mj-lt"/>
              </a:rPr>
              <a:t>be allocated to the three strata, </a:t>
            </a:r>
            <a:r>
              <a:rPr lang="en-US" sz="2400" dirty="0" smtClean="0">
                <a:latin typeface="+mj-lt"/>
              </a:rPr>
              <a:t>using disproportionate sampling design?</a:t>
            </a:r>
            <a:endParaRPr lang="en-US" sz="2400" dirty="0">
              <a:latin typeface="+mj-lt"/>
            </a:endParaRPr>
          </a:p>
        </p:txBody>
      </p:sp>
      <p:pic>
        <p:nvPicPr>
          <p:cNvPr id="1047554"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714348" y="2214554"/>
            <a:ext cx="6609684" cy="4286280"/>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788" name="Rectangle 4"/>
          <p:cNvSpPr>
            <a:spLocks noGrp="1" noChangeArrowheads="1"/>
          </p:cNvSpPr>
          <p:nvPr>
            <p:ph type="subTitle" idx="1"/>
          </p:nvPr>
        </p:nvSpPr>
        <p:spPr>
          <a:xfrm>
            <a:off x="609600" y="990600"/>
            <a:ext cx="8153400" cy="1371600"/>
          </a:xfrm>
        </p:spPr>
        <p:txBody>
          <a:bodyPr/>
          <a:lstStyle/>
          <a:p>
            <a:pPr algn="l"/>
            <a:r>
              <a:rPr lang="en-US" sz="2400" b="1" dirty="0">
                <a:solidFill>
                  <a:schemeClr val="tx1"/>
                </a:solidFill>
                <a:latin typeface="Times New Roman" pitchFamily="18" charset="0"/>
                <a:cs typeface="Times New Roman" pitchFamily="18" charset="0"/>
              </a:rPr>
              <a:t>Cluster sampling </a:t>
            </a:r>
            <a:r>
              <a:rPr lang="en-US" sz="2400" dirty="0">
                <a:solidFill>
                  <a:schemeClr val="tx1"/>
                </a:solidFill>
                <a:latin typeface="Times New Roman" pitchFamily="18" charset="0"/>
                <a:cs typeface="Times New Roman" pitchFamily="18" charset="0"/>
              </a:rPr>
              <a:t>refers to a method by which the population is divided into groups, or clusters, that are each intended to be mini-populations.  A random sample of </a:t>
            </a:r>
            <a:r>
              <a:rPr lang="en-US" sz="2400" i="1" dirty="0">
                <a:solidFill>
                  <a:schemeClr val="tx1"/>
                </a:solidFill>
                <a:latin typeface="Times New Roman" pitchFamily="18" charset="0"/>
                <a:cs typeface="Times New Roman" pitchFamily="18" charset="0"/>
              </a:rPr>
              <a:t>m</a:t>
            </a:r>
            <a:r>
              <a:rPr lang="en-US" sz="2400" dirty="0">
                <a:solidFill>
                  <a:schemeClr val="tx1"/>
                </a:solidFill>
                <a:latin typeface="Times New Roman" pitchFamily="18" charset="0"/>
                <a:cs typeface="Times New Roman" pitchFamily="18" charset="0"/>
              </a:rPr>
              <a:t> clusters is selected.</a:t>
            </a:r>
          </a:p>
        </p:txBody>
      </p:sp>
      <p:sp>
        <p:nvSpPr>
          <p:cNvPr id="118789" name="Rectangle 5"/>
          <p:cNvSpPr>
            <a:spLocks noChangeArrowheads="1"/>
          </p:cNvSpPr>
          <p:nvPr/>
        </p:nvSpPr>
        <p:spPr bwMode="auto">
          <a:xfrm>
            <a:off x="838200" y="0"/>
            <a:ext cx="7772400" cy="457200"/>
          </a:xfrm>
          <a:prstGeom prst="rect">
            <a:avLst/>
          </a:prstGeom>
          <a:noFill/>
          <a:ln w="57150" cmpd="thickThin">
            <a:noFill/>
            <a:miter lim="800000"/>
            <a:headEnd/>
            <a:tailEnd/>
          </a:ln>
          <a:effectLst/>
        </p:spPr>
        <p:txBody>
          <a:bodyPr anchor="ctr"/>
          <a:lstStyle/>
          <a:p>
            <a:pPr algn="ctr"/>
            <a:r>
              <a:rPr lang="en-US" sz="3200" dirty="0">
                <a:latin typeface="+mj-lt"/>
              </a:rPr>
              <a:t>Cluster Sampling</a:t>
            </a:r>
          </a:p>
        </p:txBody>
      </p:sp>
      <p:sp>
        <p:nvSpPr>
          <p:cNvPr id="6" name="Rectangle 1047"/>
          <p:cNvSpPr>
            <a:spLocks noChangeArrowheads="1"/>
          </p:cNvSpPr>
          <p:nvPr/>
        </p:nvSpPr>
        <p:spPr bwMode="auto">
          <a:xfrm>
            <a:off x="914400" y="2362200"/>
            <a:ext cx="7391400" cy="462307"/>
          </a:xfrm>
          <a:prstGeom prst="rect">
            <a:avLst/>
          </a:prstGeom>
          <a:noFill/>
          <a:ln w="12700">
            <a:solidFill>
              <a:schemeClr val="tx2"/>
            </a:solidFill>
            <a:miter lim="800000"/>
            <a:headEnd/>
            <a:tailEnd/>
          </a:ln>
          <a:effectLst/>
        </p:spPr>
        <p:txBody>
          <a:bodyPr lIns="92075" tIns="46038" rIns="92075" bIns="46038">
            <a:spAutoFit/>
          </a:bodyPr>
          <a:lstStyle/>
          <a:p>
            <a:pPr algn="ctr">
              <a:spcBef>
                <a:spcPct val="50000"/>
              </a:spcBef>
            </a:pPr>
            <a:r>
              <a:rPr lang="en-US" sz="2400" dirty="0">
                <a:solidFill>
                  <a:srgbClr val="990000"/>
                </a:solidFill>
                <a:latin typeface="Times New Roman" pitchFamily="18" charset="0"/>
                <a:cs typeface="Times New Roman" pitchFamily="18" charset="0"/>
              </a:rPr>
              <a:t>Mid-Level </a:t>
            </a:r>
            <a:r>
              <a:rPr lang="en-US" sz="2400" dirty="0" smtClean="0">
                <a:solidFill>
                  <a:srgbClr val="990000"/>
                </a:solidFill>
                <a:latin typeface="Times New Roman" pitchFamily="18" charset="0"/>
                <a:cs typeface="Times New Roman" pitchFamily="18" charset="0"/>
              </a:rPr>
              <a:t>Professors by </a:t>
            </a:r>
            <a:r>
              <a:rPr lang="en-US" sz="2400" dirty="0">
                <a:solidFill>
                  <a:srgbClr val="990000"/>
                </a:solidFill>
                <a:latin typeface="Times New Roman" pitchFamily="18" charset="0"/>
                <a:cs typeface="Times New Roman" pitchFamily="18" charset="0"/>
              </a:rPr>
              <a:t>Location for </a:t>
            </a:r>
            <a:r>
              <a:rPr lang="en-US" sz="2400" dirty="0" smtClean="0">
                <a:solidFill>
                  <a:srgbClr val="990000"/>
                </a:solidFill>
                <a:latin typeface="Times New Roman" pitchFamily="18" charset="0"/>
                <a:cs typeface="Times New Roman" pitchFamily="18" charset="0"/>
              </a:rPr>
              <a:t>a city</a:t>
            </a:r>
            <a:endParaRPr lang="en-US" sz="2400" dirty="0">
              <a:solidFill>
                <a:srgbClr val="990000"/>
              </a:solidFill>
              <a:latin typeface="Times New Roman" pitchFamily="18" charset="0"/>
              <a:cs typeface="Times New Roman" pitchFamily="18" charset="0"/>
            </a:endParaRPr>
          </a:p>
        </p:txBody>
      </p:sp>
      <p:grpSp>
        <p:nvGrpSpPr>
          <p:cNvPr id="2" name="Group 1048"/>
          <p:cNvGrpSpPr>
            <a:grpSpLocks/>
          </p:cNvGrpSpPr>
          <p:nvPr/>
        </p:nvGrpSpPr>
        <p:grpSpPr bwMode="auto">
          <a:xfrm>
            <a:off x="1447800" y="3200400"/>
            <a:ext cx="6324600" cy="938213"/>
            <a:chOff x="576" y="2016"/>
            <a:chExt cx="3984" cy="591"/>
          </a:xfrm>
        </p:grpSpPr>
        <p:sp>
          <p:nvSpPr>
            <p:cNvPr id="8" name="Rectangle 1028"/>
            <p:cNvSpPr>
              <a:spLocks noChangeArrowheads="1"/>
            </p:cNvSpPr>
            <p:nvPr/>
          </p:nvSpPr>
          <p:spPr bwMode="auto">
            <a:xfrm>
              <a:off x="672" y="2303"/>
              <a:ext cx="386" cy="304"/>
            </a:xfrm>
            <a:prstGeom prst="rect">
              <a:avLst/>
            </a:prstGeom>
            <a:noFill/>
            <a:ln w="25400">
              <a:solidFill>
                <a:schemeClr val="tx2"/>
              </a:solidFill>
              <a:miter lim="800000"/>
              <a:headEnd/>
              <a:tailEnd/>
            </a:ln>
            <a:effectLst/>
          </p:spPr>
          <p:txBody>
            <a:bodyPr lIns="92075" tIns="46038" rIns="92075" bIns="46038">
              <a:spAutoFit/>
            </a:bodyPr>
            <a:lstStyle/>
            <a:p>
              <a:pPr algn="ctr">
                <a:spcBef>
                  <a:spcPct val="50000"/>
                </a:spcBef>
              </a:pPr>
              <a:r>
                <a:rPr lang="en-US"/>
                <a:t>42</a:t>
              </a:r>
            </a:p>
          </p:txBody>
        </p:sp>
        <p:sp>
          <p:nvSpPr>
            <p:cNvPr id="9" name="Rectangle 1029"/>
            <p:cNvSpPr>
              <a:spLocks noChangeArrowheads="1"/>
            </p:cNvSpPr>
            <p:nvPr/>
          </p:nvSpPr>
          <p:spPr bwMode="auto">
            <a:xfrm>
              <a:off x="1247" y="2303"/>
              <a:ext cx="386" cy="304"/>
            </a:xfrm>
            <a:prstGeom prst="rect">
              <a:avLst/>
            </a:prstGeom>
            <a:noFill/>
            <a:ln w="25400">
              <a:solidFill>
                <a:schemeClr val="tx2"/>
              </a:solidFill>
              <a:miter lim="800000"/>
              <a:headEnd/>
              <a:tailEnd/>
            </a:ln>
            <a:effectLst/>
          </p:spPr>
          <p:txBody>
            <a:bodyPr lIns="92075" tIns="46038" rIns="92075" bIns="46038">
              <a:spAutoFit/>
            </a:bodyPr>
            <a:lstStyle/>
            <a:p>
              <a:pPr algn="ctr">
                <a:spcBef>
                  <a:spcPct val="50000"/>
                </a:spcBef>
              </a:pPr>
              <a:r>
                <a:rPr lang="en-US"/>
                <a:t>22</a:t>
              </a:r>
            </a:p>
          </p:txBody>
        </p:sp>
        <p:sp>
          <p:nvSpPr>
            <p:cNvPr id="10" name="Rectangle 1030"/>
            <p:cNvSpPr>
              <a:spLocks noChangeArrowheads="1"/>
            </p:cNvSpPr>
            <p:nvPr/>
          </p:nvSpPr>
          <p:spPr bwMode="auto">
            <a:xfrm>
              <a:off x="1823" y="2303"/>
              <a:ext cx="434" cy="304"/>
            </a:xfrm>
            <a:prstGeom prst="rect">
              <a:avLst/>
            </a:prstGeom>
            <a:noFill/>
            <a:ln w="25400">
              <a:solidFill>
                <a:schemeClr val="tx2"/>
              </a:solidFill>
              <a:miter lim="800000"/>
              <a:headEnd/>
              <a:tailEnd/>
            </a:ln>
            <a:effectLst/>
          </p:spPr>
          <p:txBody>
            <a:bodyPr lIns="92075" tIns="46038" rIns="92075" bIns="46038">
              <a:spAutoFit/>
            </a:bodyPr>
            <a:lstStyle/>
            <a:p>
              <a:pPr algn="ctr">
                <a:spcBef>
                  <a:spcPct val="50000"/>
                </a:spcBef>
              </a:pPr>
              <a:r>
                <a:rPr lang="en-US"/>
                <a:t>105</a:t>
              </a:r>
            </a:p>
          </p:txBody>
        </p:sp>
        <p:sp>
          <p:nvSpPr>
            <p:cNvPr id="11" name="Rectangle 1031"/>
            <p:cNvSpPr>
              <a:spLocks noChangeArrowheads="1"/>
            </p:cNvSpPr>
            <p:nvPr/>
          </p:nvSpPr>
          <p:spPr bwMode="auto">
            <a:xfrm>
              <a:off x="2447" y="2303"/>
              <a:ext cx="386" cy="304"/>
            </a:xfrm>
            <a:prstGeom prst="rect">
              <a:avLst/>
            </a:prstGeom>
            <a:noFill/>
            <a:ln w="25400">
              <a:solidFill>
                <a:schemeClr val="tx2"/>
              </a:solidFill>
              <a:miter lim="800000"/>
              <a:headEnd/>
              <a:tailEnd/>
            </a:ln>
            <a:effectLst/>
          </p:spPr>
          <p:txBody>
            <a:bodyPr lIns="92075" tIns="46038" rIns="92075" bIns="46038">
              <a:spAutoFit/>
            </a:bodyPr>
            <a:lstStyle/>
            <a:p>
              <a:pPr algn="ctr">
                <a:spcBef>
                  <a:spcPct val="50000"/>
                </a:spcBef>
              </a:pPr>
              <a:r>
                <a:rPr lang="en-US"/>
                <a:t>20</a:t>
              </a:r>
            </a:p>
          </p:txBody>
        </p:sp>
        <p:sp>
          <p:nvSpPr>
            <p:cNvPr id="12" name="Rectangle 1032"/>
            <p:cNvSpPr>
              <a:spLocks noChangeArrowheads="1"/>
            </p:cNvSpPr>
            <p:nvPr/>
          </p:nvSpPr>
          <p:spPr bwMode="auto">
            <a:xfrm>
              <a:off x="3023" y="2303"/>
              <a:ext cx="386" cy="304"/>
            </a:xfrm>
            <a:prstGeom prst="rect">
              <a:avLst/>
            </a:prstGeom>
            <a:noFill/>
            <a:ln w="25400">
              <a:solidFill>
                <a:schemeClr val="tx2"/>
              </a:solidFill>
              <a:miter lim="800000"/>
              <a:headEnd/>
              <a:tailEnd/>
            </a:ln>
            <a:effectLst/>
          </p:spPr>
          <p:txBody>
            <a:bodyPr lIns="92075" tIns="46038" rIns="92075" bIns="46038">
              <a:spAutoFit/>
            </a:bodyPr>
            <a:lstStyle/>
            <a:p>
              <a:pPr algn="ctr">
                <a:spcBef>
                  <a:spcPct val="50000"/>
                </a:spcBef>
              </a:pPr>
              <a:r>
                <a:rPr lang="en-US"/>
                <a:t>36</a:t>
              </a:r>
            </a:p>
          </p:txBody>
        </p:sp>
        <p:sp>
          <p:nvSpPr>
            <p:cNvPr id="13" name="Rectangle 1033"/>
            <p:cNvSpPr>
              <a:spLocks noChangeArrowheads="1"/>
            </p:cNvSpPr>
            <p:nvPr/>
          </p:nvSpPr>
          <p:spPr bwMode="auto">
            <a:xfrm>
              <a:off x="3551" y="2303"/>
              <a:ext cx="386" cy="304"/>
            </a:xfrm>
            <a:prstGeom prst="rect">
              <a:avLst/>
            </a:prstGeom>
            <a:noFill/>
            <a:ln w="25400">
              <a:solidFill>
                <a:schemeClr val="tx2"/>
              </a:solidFill>
              <a:miter lim="800000"/>
              <a:headEnd/>
              <a:tailEnd/>
            </a:ln>
            <a:effectLst/>
          </p:spPr>
          <p:txBody>
            <a:bodyPr lIns="92075" tIns="46038" rIns="92075" bIns="46038">
              <a:spAutoFit/>
            </a:bodyPr>
            <a:lstStyle/>
            <a:p>
              <a:pPr algn="ctr">
                <a:spcBef>
                  <a:spcPct val="50000"/>
                </a:spcBef>
              </a:pPr>
              <a:r>
                <a:rPr lang="en-US"/>
                <a:t>52</a:t>
              </a:r>
            </a:p>
          </p:txBody>
        </p:sp>
        <p:sp>
          <p:nvSpPr>
            <p:cNvPr id="14" name="Rectangle 1035"/>
            <p:cNvSpPr>
              <a:spLocks noChangeArrowheads="1"/>
            </p:cNvSpPr>
            <p:nvPr/>
          </p:nvSpPr>
          <p:spPr bwMode="auto">
            <a:xfrm>
              <a:off x="4080" y="2303"/>
              <a:ext cx="386" cy="304"/>
            </a:xfrm>
            <a:prstGeom prst="rect">
              <a:avLst/>
            </a:prstGeom>
            <a:noFill/>
            <a:ln w="25400">
              <a:solidFill>
                <a:schemeClr val="tx2"/>
              </a:solidFill>
              <a:miter lim="800000"/>
              <a:headEnd/>
              <a:tailEnd/>
            </a:ln>
            <a:effectLst/>
          </p:spPr>
          <p:txBody>
            <a:bodyPr lIns="92075" tIns="46038" rIns="92075" bIns="46038">
              <a:spAutoFit/>
            </a:bodyPr>
            <a:lstStyle/>
            <a:p>
              <a:pPr algn="ctr">
                <a:spcBef>
                  <a:spcPct val="50000"/>
                </a:spcBef>
              </a:pPr>
              <a:r>
                <a:rPr lang="en-US"/>
                <a:t>76</a:t>
              </a:r>
            </a:p>
          </p:txBody>
        </p:sp>
        <p:sp>
          <p:nvSpPr>
            <p:cNvPr id="15" name="Rectangle 1037"/>
            <p:cNvSpPr>
              <a:spLocks noChangeArrowheads="1"/>
            </p:cNvSpPr>
            <p:nvPr/>
          </p:nvSpPr>
          <p:spPr bwMode="auto">
            <a:xfrm>
              <a:off x="576" y="2016"/>
              <a:ext cx="576" cy="212"/>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1600" b="1" dirty="0" smtClean="0"/>
                <a:t>1</a:t>
              </a:r>
              <a:endParaRPr lang="en-US" sz="1600" b="1" dirty="0"/>
            </a:p>
          </p:txBody>
        </p:sp>
        <p:sp>
          <p:nvSpPr>
            <p:cNvPr id="16" name="Rectangle 1039"/>
            <p:cNvSpPr>
              <a:spLocks noChangeArrowheads="1"/>
            </p:cNvSpPr>
            <p:nvPr/>
          </p:nvSpPr>
          <p:spPr bwMode="auto">
            <a:xfrm>
              <a:off x="1104" y="2016"/>
              <a:ext cx="624" cy="212"/>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1600" b="1" dirty="0" smtClean="0"/>
                <a:t>2</a:t>
              </a:r>
              <a:endParaRPr lang="en-US" sz="1600" b="1" dirty="0"/>
            </a:p>
          </p:txBody>
        </p:sp>
        <p:sp>
          <p:nvSpPr>
            <p:cNvPr id="17" name="Rectangle 1040"/>
            <p:cNvSpPr>
              <a:spLocks noChangeArrowheads="1"/>
            </p:cNvSpPr>
            <p:nvPr/>
          </p:nvSpPr>
          <p:spPr bwMode="auto">
            <a:xfrm>
              <a:off x="1632" y="2016"/>
              <a:ext cx="720" cy="212"/>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1600" b="1" dirty="0" smtClean="0"/>
                <a:t>3</a:t>
              </a:r>
              <a:endParaRPr lang="en-US" sz="1600" b="1" dirty="0"/>
            </a:p>
          </p:txBody>
        </p:sp>
        <p:sp>
          <p:nvSpPr>
            <p:cNvPr id="18" name="Rectangle 1041"/>
            <p:cNvSpPr>
              <a:spLocks noChangeArrowheads="1"/>
            </p:cNvSpPr>
            <p:nvPr/>
          </p:nvSpPr>
          <p:spPr bwMode="auto">
            <a:xfrm>
              <a:off x="2304" y="2016"/>
              <a:ext cx="576" cy="212"/>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1600" b="1" dirty="0" smtClean="0"/>
                <a:t>4</a:t>
              </a:r>
              <a:endParaRPr lang="en-US" sz="1600" b="1" dirty="0"/>
            </a:p>
          </p:txBody>
        </p:sp>
        <p:sp>
          <p:nvSpPr>
            <p:cNvPr id="19" name="Rectangle 1042"/>
            <p:cNvSpPr>
              <a:spLocks noChangeArrowheads="1"/>
            </p:cNvSpPr>
            <p:nvPr/>
          </p:nvSpPr>
          <p:spPr bwMode="auto">
            <a:xfrm>
              <a:off x="2832" y="2016"/>
              <a:ext cx="720" cy="212"/>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1600" b="1" dirty="0" smtClean="0"/>
                <a:t>5</a:t>
              </a:r>
              <a:endParaRPr lang="en-US" sz="1600" b="1" dirty="0"/>
            </a:p>
          </p:txBody>
        </p:sp>
        <p:sp>
          <p:nvSpPr>
            <p:cNvPr id="20" name="Rectangle 1043"/>
            <p:cNvSpPr>
              <a:spLocks noChangeArrowheads="1"/>
            </p:cNvSpPr>
            <p:nvPr/>
          </p:nvSpPr>
          <p:spPr bwMode="auto">
            <a:xfrm>
              <a:off x="3456" y="2016"/>
              <a:ext cx="576" cy="212"/>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1600" b="1" dirty="0" smtClean="0"/>
                <a:t>6</a:t>
              </a:r>
              <a:endParaRPr lang="en-US" sz="1600" b="1" dirty="0"/>
            </a:p>
          </p:txBody>
        </p:sp>
        <p:sp>
          <p:nvSpPr>
            <p:cNvPr id="21" name="Rectangle 1045"/>
            <p:cNvSpPr>
              <a:spLocks noChangeArrowheads="1"/>
            </p:cNvSpPr>
            <p:nvPr/>
          </p:nvSpPr>
          <p:spPr bwMode="auto">
            <a:xfrm>
              <a:off x="3984" y="2016"/>
              <a:ext cx="576" cy="212"/>
            </a:xfrm>
            <a:prstGeom prst="rect">
              <a:avLst/>
            </a:prstGeom>
            <a:noFill/>
            <a:ln w="9525">
              <a:noFill/>
              <a:miter lim="800000"/>
              <a:headEnd/>
              <a:tailEnd/>
            </a:ln>
            <a:effectLst/>
          </p:spPr>
          <p:txBody>
            <a:bodyPr lIns="92075" tIns="46038" rIns="92075" bIns="46038">
              <a:spAutoFit/>
            </a:bodyPr>
            <a:lstStyle/>
            <a:p>
              <a:pPr algn="ctr">
                <a:spcBef>
                  <a:spcPct val="50000"/>
                </a:spcBef>
              </a:pPr>
              <a:r>
                <a:rPr lang="en-US" sz="1600" b="1" dirty="0" smtClean="0"/>
                <a:t>7</a:t>
              </a:r>
              <a:endParaRPr lang="en-US" sz="1600" b="1" dirty="0"/>
            </a:p>
          </p:txBody>
        </p:sp>
      </p:grpSp>
    </p:spTree>
  </p:cSld>
  <p:clrMapOvr>
    <a:overrideClrMapping bg1="lt1" tx1="dk1" bg2="lt2" tx2="dk2" accent1="accent1" accent2="accent2" accent3="accent3" accent4="accent4" accent5="accent5" accent6="accent6" hlink="hlink" folHlink="folHlink"/>
  </p:clrMapOvr>
  <p:transition spd="med">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graphicFrame>
        <p:nvGraphicFramePr>
          <p:cNvPr id="7" name="Table 6"/>
          <p:cNvGraphicFramePr>
            <a:graphicFrameLocks noGrp="1"/>
          </p:cNvGraphicFramePr>
          <p:nvPr>
            <p:extLst>
              <p:ext uri="{D42A27DB-BD31-4B8C-83A1-F6EECF244321}">
                <p14:modId xmlns="" xmlns:p14="http://schemas.microsoft.com/office/powerpoint/2010/main" val="2793192744"/>
              </p:ext>
            </p:extLst>
          </p:nvPr>
        </p:nvGraphicFramePr>
        <p:xfrm>
          <a:off x="3810000" y="533400"/>
          <a:ext cx="5112000" cy="6126480"/>
        </p:xfrm>
        <a:graphic>
          <a:graphicData uri="http://schemas.openxmlformats.org/drawingml/2006/table">
            <a:tbl>
              <a:tblPr firstRow="1" bandRow="1">
                <a:tableStyleId>{5C22544A-7EE6-4342-B048-85BDC9FD1C3A}</a:tableStyleId>
              </a:tblPr>
              <a:tblGrid>
                <a:gridCol w="1022400"/>
                <a:gridCol w="730200"/>
                <a:gridCol w="1295400"/>
                <a:gridCol w="1295400"/>
                <a:gridCol w="768600"/>
              </a:tblGrid>
              <a:tr h="324000">
                <a:tc>
                  <a:txBody>
                    <a:bodyPr/>
                    <a:lstStyle/>
                    <a:p>
                      <a:r>
                        <a:rPr lang="en-US" sz="1800" b="0" dirty="0" smtClean="0">
                          <a:solidFill>
                            <a:schemeClr val="tx1"/>
                          </a:solidFill>
                        </a:rPr>
                        <a:t>City number</a:t>
                      </a:r>
                      <a:endParaRPr lang="en-IN" sz="1800" b="0" dirty="0">
                        <a:solidFill>
                          <a:schemeClr val="tx1"/>
                        </a:solidFill>
                      </a:endParaRPr>
                    </a:p>
                  </a:txBody>
                  <a:tcPr/>
                </a:tc>
                <a:tc>
                  <a:txBody>
                    <a:bodyPr/>
                    <a:lstStyle/>
                    <a:p>
                      <a:r>
                        <a:rPr lang="en-US" sz="1800" b="0" dirty="0" smtClean="0">
                          <a:solidFill>
                            <a:schemeClr val="tx1"/>
                          </a:solidFill>
                        </a:rPr>
                        <a:t>No of stores</a:t>
                      </a:r>
                      <a:endParaRPr lang="en-IN" sz="1800" b="0" dirty="0">
                        <a:solidFill>
                          <a:schemeClr val="tx1"/>
                        </a:solidFill>
                      </a:endParaRPr>
                    </a:p>
                  </a:txBody>
                  <a:tcPr/>
                </a:tc>
                <a:tc>
                  <a:txBody>
                    <a:bodyPr/>
                    <a:lstStyle/>
                    <a:p>
                      <a:r>
                        <a:rPr lang="en-US" sz="1800" b="0" dirty="0" smtClean="0">
                          <a:solidFill>
                            <a:schemeClr val="tx1"/>
                          </a:solidFill>
                        </a:rPr>
                        <a:t>Cumulative total</a:t>
                      </a:r>
                      <a:endParaRPr lang="en-IN" sz="1800" b="0" dirty="0">
                        <a:solidFill>
                          <a:schemeClr val="tx1"/>
                        </a:solidFill>
                      </a:endParaRPr>
                    </a:p>
                  </a:txBody>
                  <a:tcPr/>
                </a:tc>
                <a:tc>
                  <a:txBody>
                    <a:bodyPr/>
                    <a:lstStyle/>
                    <a:p>
                      <a:r>
                        <a:rPr lang="en-US" sz="1800" b="0" dirty="0" smtClean="0">
                          <a:solidFill>
                            <a:schemeClr val="tx1"/>
                          </a:solidFill>
                        </a:rPr>
                        <a:t>Sample</a:t>
                      </a:r>
                      <a:endParaRPr lang="en-IN" sz="1800" b="0" dirty="0">
                        <a:solidFill>
                          <a:schemeClr val="tx1"/>
                        </a:solidFill>
                      </a:endParaRPr>
                    </a:p>
                  </a:txBody>
                  <a:tcPr/>
                </a:tc>
                <a:tc>
                  <a:txBody>
                    <a:bodyPr/>
                    <a:lstStyle/>
                    <a:p>
                      <a:endParaRPr lang="en-IN" sz="2000" dirty="0"/>
                    </a:p>
                  </a:txBody>
                  <a:tcPr/>
                </a:tc>
              </a:tr>
              <a:tr h="324000">
                <a:tc>
                  <a:txBody>
                    <a:bodyPr/>
                    <a:lstStyle/>
                    <a:p>
                      <a:r>
                        <a:rPr lang="en-US" dirty="0" smtClean="0"/>
                        <a:t>1</a:t>
                      </a:r>
                      <a:endParaRPr lang="en-IN" dirty="0"/>
                    </a:p>
                  </a:txBody>
                  <a:tcPr/>
                </a:tc>
                <a:tc>
                  <a:txBody>
                    <a:bodyPr/>
                    <a:lstStyle/>
                    <a:p>
                      <a:r>
                        <a:rPr lang="en-US" dirty="0" smtClean="0"/>
                        <a:t>35</a:t>
                      </a:r>
                      <a:endParaRPr lang="en-IN" dirty="0"/>
                    </a:p>
                  </a:txBody>
                  <a:tcPr/>
                </a:tc>
                <a:tc>
                  <a:txBody>
                    <a:bodyPr/>
                    <a:lstStyle/>
                    <a:p>
                      <a:r>
                        <a:rPr lang="en-US" dirty="0" smtClean="0"/>
                        <a:t>35</a:t>
                      </a:r>
                      <a:endParaRPr lang="en-IN" dirty="0"/>
                    </a:p>
                  </a:txBody>
                  <a:tcPr/>
                </a:tc>
                <a:tc>
                  <a:txBody>
                    <a:bodyPr/>
                    <a:lstStyle/>
                    <a:p>
                      <a:r>
                        <a:rPr lang="en-US" dirty="0" smtClean="0">
                          <a:solidFill>
                            <a:srgbClr val="FF0000"/>
                          </a:solidFill>
                        </a:rPr>
                        <a:t>10</a:t>
                      </a:r>
                      <a:endParaRPr lang="en-IN" dirty="0">
                        <a:solidFill>
                          <a:srgbClr val="FF0000"/>
                        </a:solidFill>
                      </a:endParaRPr>
                    </a:p>
                  </a:txBody>
                  <a:tcPr/>
                </a:tc>
                <a:tc>
                  <a:txBody>
                    <a:bodyPr/>
                    <a:lstStyle/>
                    <a:p>
                      <a:endParaRPr lang="en-IN"/>
                    </a:p>
                  </a:txBody>
                  <a:tcPr/>
                </a:tc>
              </a:tr>
              <a:tr h="324000">
                <a:tc>
                  <a:txBody>
                    <a:bodyPr/>
                    <a:lstStyle/>
                    <a:p>
                      <a:r>
                        <a:rPr lang="en-US" dirty="0" smtClean="0"/>
                        <a:t>2</a:t>
                      </a:r>
                      <a:endParaRPr lang="en-IN" dirty="0"/>
                    </a:p>
                  </a:txBody>
                  <a:tcPr/>
                </a:tc>
                <a:tc>
                  <a:txBody>
                    <a:bodyPr/>
                    <a:lstStyle/>
                    <a:p>
                      <a:r>
                        <a:rPr lang="en-US" dirty="0" smtClean="0"/>
                        <a:t>17</a:t>
                      </a:r>
                      <a:endParaRPr lang="en-IN" dirty="0"/>
                    </a:p>
                  </a:txBody>
                  <a:tcPr/>
                </a:tc>
                <a:tc>
                  <a:txBody>
                    <a:bodyPr/>
                    <a:lstStyle/>
                    <a:p>
                      <a:r>
                        <a:rPr lang="en-US" dirty="0" smtClean="0"/>
                        <a:t>(35+17)=52</a:t>
                      </a:r>
                      <a:endParaRPr lang="en-IN" dirty="0"/>
                    </a:p>
                  </a:txBody>
                  <a:tcPr/>
                </a:tc>
                <a:tc>
                  <a:txBody>
                    <a:bodyPr/>
                    <a:lstStyle/>
                    <a:p>
                      <a:endParaRPr lang="en-IN"/>
                    </a:p>
                  </a:txBody>
                  <a:tcPr/>
                </a:tc>
                <a:tc>
                  <a:txBody>
                    <a:bodyPr/>
                    <a:lstStyle/>
                    <a:p>
                      <a:endParaRPr lang="en-IN"/>
                    </a:p>
                  </a:txBody>
                  <a:tcPr/>
                </a:tc>
              </a:tr>
              <a:tr h="324000">
                <a:tc>
                  <a:txBody>
                    <a:bodyPr/>
                    <a:lstStyle/>
                    <a:p>
                      <a:r>
                        <a:rPr lang="en-US" dirty="0" smtClean="0"/>
                        <a:t>3</a:t>
                      </a:r>
                      <a:endParaRPr lang="en-IN" dirty="0"/>
                    </a:p>
                  </a:txBody>
                  <a:tcPr/>
                </a:tc>
                <a:tc>
                  <a:txBody>
                    <a:bodyPr/>
                    <a:lstStyle/>
                    <a:p>
                      <a:r>
                        <a:rPr lang="en-US" dirty="0" smtClean="0"/>
                        <a:t>10</a:t>
                      </a:r>
                      <a:endParaRPr lang="en-IN" dirty="0"/>
                    </a:p>
                  </a:txBody>
                  <a:tcPr/>
                </a:tc>
                <a:tc>
                  <a:txBody>
                    <a:bodyPr/>
                    <a:lstStyle/>
                    <a:p>
                      <a:r>
                        <a:rPr lang="en-US" dirty="0" smtClean="0"/>
                        <a:t> 52+10)=62</a:t>
                      </a:r>
                      <a:endParaRPr lang="en-IN" dirty="0"/>
                    </a:p>
                  </a:txBody>
                  <a:tcPr/>
                </a:tc>
                <a:tc>
                  <a:txBody>
                    <a:bodyPr/>
                    <a:lstStyle/>
                    <a:p>
                      <a:r>
                        <a:rPr lang="en-US" dirty="0" smtClean="0"/>
                        <a:t>60 (10+50)</a:t>
                      </a:r>
                      <a:endParaRPr lang="en-IN" dirty="0"/>
                    </a:p>
                  </a:txBody>
                  <a:tcPr/>
                </a:tc>
                <a:tc>
                  <a:txBody>
                    <a:bodyPr/>
                    <a:lstStyle/>
                    <a:p>
                      <a:endParaRPr lang="en-IN"/>
                    </a:p>
                  </a:txBody>
                  <a:tcPr/>
                </a:tc>
              </a:tr>
              <a:tr h="324000">
                <a:tc>
                  <a:txBody>
                    <a:bodyPr/>
                    <a:lstStyle/>
                    <a:p>
                      <a:r>
                        <a:rPr lang="en-US" dirty="0" smtClean="0"/>
                        <a:t>4</a:t>
                      </a:r>
                      <a:endParaRPr lang="en-IN" dirty="0"/>
                    </a:p>
                  </a:txBody>
                  <a:tcPr/>
                </a:tc>
                <a:tc>
                  <a:txBody>
                    <a:bodyPr/>
                    <a:lstStyle/>
                    <a:p>
                      <a:r>
                        <a:rPr lang="en-US" dirty="0" smtClean="0"/>
                        <a:t>32</a:t>
                      </a:r>
                      <a:endParaRPr lang="en-IN" dirty="0"/>
                    </a:p>
                  </a:txBody>
                  <a:tcPr/>
                </a:tc>
                <a:tc>
                  <a:txBody>
                    <a:bodyPr/>
                    <a:lstStyle/>
                    <a:p>
                      <a:r>
                        <a:rPr lang="en-US" dirty="0" smtClean="0"/>
                        <a:t>94</a:t>
                      </a:r>
                      <a:endParaRPr lang="en-IN" dirty="0"/>
                    </a:p>
                  </a:txBody>
                  <a:tcPr/>
                </a:tc>
                <a:tc>
                  <a:txBody>
                    <a:bodyPr/>
                    <a:lstStyle/>
                    <a:p>
                      <a:endParaRPr lang="en-IN"/>
                    </a:p>
                  </a:txBody>
                  <a:tcPr/>
                </a:tc>
                <a:tc>
                  <a:txBody>
                    <a:bodyPr/>
                    <a:lstStyle/>
                    <a:p>
                      <a:endParaRPr lang="en-IN"/>
                    </a:p>
                  </a:txBody>
                  <a:tcPr/>
                </a:tc>
              </a:tr>
              <a:tr h="324000">
                <a:tc>
                  <a:txBody>
                    <a:bodyPr/>
                    <a:lstStyle/>
                    <a:p>
                      <a:r>
                        <a:rPr lang="en-US" dirty="0" smtClean="0"/>
                        <a:t>5</a:t>
                      </a:r>
                      <a:endParaRPr lang="en-IN" dirty="0"/>
                    </a:p>
                  </a:txBody>
                  <a:tcPr/>
                </a:tc>
                <a:tc>
                  <a:txBody>
                    <a:bodyPr/>
                    <a:lstStyle/>
                    <a:p>
                      <a:r>
                        <a:rPr lang="en-US" dirty="0" smtClean="0"/>
                        <a:t>70</a:t>
                      </a:r>
                      <a:endParaRPr lang="en-IN" dirty="0"/>
                    </a:p>
                  </a:txBody>
                  <a:tcPr/>
                </a:tc>
                <a:tc>
                  <a:txBody>
                    <a:bodyPr/>
                    <a:lstStyle/>
                    <a:p>
                      <a:r>
                        <a:rPr lang="en-US" dirty="0" smtClean="0"/>
                        <a:t>164</a:t>
                      </a:r>
                      <a:endParaRPr lang="en-IN" dirty="0"/>
                    </a:p>
                  </a:txBody>
                  <a:tcPr/>
                </a:tc>
                <a:tc>
                  <a:txBody>
                    <a:bodyPr/>
                    <a:lstStyle/>
                    <a:p>
                      <a:r>
                        <a:rPr lang="en-US" dirty="0" smtClean="0"/>
                        <a:t>110</a:t>
                      </a:r>
                      <a:endParaRPr lang="en-IN" dirty="0"/>
                    </a:p>
                  </a:txBody>
                  <a:tcPr/>
                </a:tc>
                <a:tc>
                  <a:txBody>
                    <a:bodyPr/>
                    <a:lstStyle/>
                    <a:p>
                      <a:r>
                        <a:rPr lang="en-US" dirty="0" smtClean="0">
                          <a:solidFill>
                            <a:srgbClr val="FF0000"/>
                          </a:solidFill>
                        </a:rPr>
                        <a:t>160</a:t>
                      </a:r>
                      <a:endParaRPr lang="en-IN" dirty="0">
                        <a:solidFill>
                          <a:srgbClr val="FF0000"/>
                        </a:solidFill>
                      </a:endParaRPr>
                    </a:p>
                  </a:txBody>
                  <a:tcPr/>
                </a:tc>
              </a:tr>
              <a:tr h="324000">
                <a:tc>
                  <a:txBody>
                    <a:bodyPr/>
                    <a:lstStyle/>
                    <a:p>
                      <a:r>
                        <a:rPr lang="en-US" dirty="0" smtClean="0"/>
                        <a:t>6</a:t>
                      </a:r>
                      <a:endParaRPr lang="en-IN" dirty="0"/>
                    </a:p>
                  </a:txBody>
                  <a:tcPr/>
                </a:tc>
                <a:tc>
                  <a:txBody>
                    <a:bodyPr/>
                    <a:lstStyle/>
                    <a:p>
                      <a:r>
                        <a:rPr lang="en-US" dirty="0" smtClean="0"/>
                        <a:t>28</a:t>
                      </a:r>
                      <a:endParaRPr lang="en-IN" dirty="0"/>
                    </a:p>
                  </a:txBody>
                  <a:tcPr/>
                </a:tc>
                <a:tc>
                  <a:txBody>
                    <a:bodyPr/>
                    <a:lstStyle/>
                    <a:p>
                      <a:r>
                        <a:rPr lang="en-US" dirty="0" smtClean="0"/>
                        <a:t>192</a:t>
                      </a:r>
                      <a:endParaRPr lang="en-IN" dirty="0"/>
                    </a:p>
                  </a:txBody>
                  <a:tcPr/>
                </a:tc>
                <a:tc>
                  <a:txBody>
                    <a:bodyPr/>
                    <a:lstStyle/>
                    <a:p>
                      <a:endParaRPr lang="en-IN"/>
                    </a:p>
                  </a:txBody>
                  <a:tcPr/>
                </a:tc>
                <a:tc>
                  <a:txBody>
                    <a:bodyPr/>
                    <a:lstStyle/>
                    <a:p>
                      <a:endParaRPr lang="en-IN"/>
                    </a:p>
                  </a:txBody>
                  <a:tcPr/>
                </a:tc>
              </a:tr>
              <a:tr h="324000">
                <a:tc>
                  <a:txBody>
                    <a:bodyPr/>
                    <a:lstStyle/>
                    <a:p>
                      <a:r>
                        <a:rPr lang="en-US" dirty="0" smtClean="0"/>
                        <a:t>7</a:t>
                      </a:r>
                      <a:endParaRPr lang="en-IN" dirty="0"/>
                    </a:p>
                  </a:txBody>
                  <a:tcPr/>
                </a:tc>
                <a:tc>
                  <a:txBody>
                    <a:bodyPr/>
                    <a:lstStyle/>
                    <a:p>
                      <a:r>
                        <a:rPr lang="en-US" dirty="0" smtClean="0"/>
                        <a:t>26</a:t>
                      </a:r>
                      <a:endParaRPr lang="en-IN" dirty="0"/>
                    </a:p>
                  </a:txBody>
                  <a:tcPr/>
                </a:tc>
                <a:tc>
                  <a:txBody>
                    <a:bodyPr/>
                    <a:lstStyle/>
                    <a:p>
                      <a:r>
                        <a:rPr lang="en-US" dirty="0" smtClean="0"/>
                        <a:t>218</a:t>
                      </a:r>
                      <a:endParaRPr lang="en-IN" dirty="0"/>
                    </a:p>
                  </a:txBody>
                  <a:tcPr/>
                </a:tc>
                <a:tc>
                  <a:txBody>
                    <a:bodyPr/>
                    <a:lstStyle/>
                    <a:p>
                      <a:r>
                        <a:rPr lang="en-US" dirty="0" smtClean="0"/>
                        <a:t>210</a:t>
                      </a:r>
                      <a:endParaRPr lang="en-IN" dirty="0"/>
                    </a:p>
                  </a:txBody>
                  <a:tcPr/>
                </a:tc>
                <a:tc>
                  <a:txBody>
                    <a:bodyPr/>
                    <a:lstStyle/>
                    <a:p>
                      <a:endParaRPr lang="en-IN"/>
                    </a:p>
                  </a:txBody>
                  <a:tcPr/>
                </a:tc>
              </a:tr>
              <a:tr h="324000">
                <a:tc>
                  <a:txBody>
                    <a:bodyPr/>
                    <a:lstStyle/>
                    <a:p>
                      <a:r>
                        <a:rPr lang="en-US" dirty="0" smtClean="0"/>
                        <a:t>8</a:t>
                      </a:r>
                      <a:endParaRPr lang="en-IN" dirty="0"/>
                    </a:p>
                  </a:txBody>
                  <a:tcPr/>
                </a:tc>
                <a:tc>
                  <a:txBody>
                    <a:bodyPr/>
                    <a:lstStyle/>
                    <a:p>
                      <a:r>
                        <a:rPr lang="en-US" dirty="0" smtClean="0"/>
                        <a:t>19</a:t>
                      </a:r>
                      <a:endParaRPr lang="en-IN" dirty="0"/>
                    </a:p>
                  </a:txBody>
                  <a:tcPr/>
                </a:tc>
                <a:tc>
                  <a:txBody>
                    <a:bodyPr/>
                    <a:lstStyle/>
                    <a:p>
                      <a:r>
                        <a:rPr lang="en-US" dirty="0" smtClean="0"/>
                        <a:t>237</a:t>
                      </a:r>
                      <a:endParaRPr lang="en-IN" dirty="0"/>
                    </a:p>
                  </a:txBody>
                  <a:tcPr/>
                </a:tc>
                <a:tc>
                  <a:txBody>
                    <a:bodyPr/>
                    <a:lstStyle/>
                    <a:p>
                      <a:endParaRPr lang="en-IN"/>
                    </a:p>
                  </a:txBody>
                  <a:tcPr/>
                </a:tc>
                <a:tc>
                  <a:txBody>
                    <a:bodyPr/>
                    <a:lstStyle/>
                    <a:p>
                      <a:endParaRPr lang="en-IN"/>
                    </a:p>
                  </a:txBody>
                  <a:tcPr/>
                </a:tc>
              </a:tr>
              <a:tr h="324000">
                <a:tc>
                  <a:txBody>
                    <a:bodyPr/>
                    <a:lstStyle/>
                    <a:p>
                      <a:r>
                        <a:rPr lang="en-US" dirty="0" smtClean="0"/>
                        <a:t>9</a:t>
                      </a:r>
                      <a:endParaRPr lang="en-IN" dirty="0"/>
                    </a:p>
                  </a:txBody>
                  <a:tcPr/>
                </a:tc>
                <a:tc>
                  <a:txBody>
                    <a:bodyPr/>
                    <a:lstStyle/>
                    <a:p>
                      <a:r>
                        <a:rPr lang="en-US" dirty="0" smtClean="0"/>
                        <a:t>26</a:t>
                      </a:r>
                      <a:endParaRPr lang="en-IN" dirty="0"/>
                    </a:p>
                  </a:txBody>
                  <a:tcPr/>
                </a:tc>
                <a:tc>
                  <a:txBody>
                    <a:bodyPr/>
                    <a:lstStyle/>
                    <a:p>
                      <a:r>
                        <a:rPr lang="en-US" dirty="0" smtClean="0"/>
                        <a:t>263</a:t>
                      </a:r>
                      <a:endParaRPr lang="en-IN" dirty="0"/>
                    </a:p>
                  </a:txBody>
                  <a:tcPr/>
                </a:tc>
                <a:tc>
                  <a:txBody>
                    <a:bodyPr/>
                    <a:lstStyle/>
                    <a:p>
                      <a:r>
                        <a:rPr lang="en-US" dirty="0" smtClean="0"/>
                        <a:t>260</a:t>
                      </a:r>
                      <a:endParaRPr lang="en-IN" dirty="0"/>
                    </a:p>
                  </a:txBody>
                  <a:tcPr/>
                </a:tc>
                <a:tc>
                  <a:txBody>
                    <a:bodyPr/>
                    <a:lstStyle/>
                    <a:p>
                      <a:endParaRPr lang="en-IN"/>
                    </a:p>
                  </a:txBody>
                  <a:tcPr/>
                </a:tc>
              </a:tr>
              <a:tr h="324000">
                <a:tc>
                  <a:txBody>
                    <a:bodyPr/>
                    <a:lstStyle/>
                    <a:p>
                      <a:r>
                        <a:rPr lang="en-US" dirty="0" smtClean="0"/>
                        <a:t>10</a:t>
                      </a:r>
                      <a:endParaRPr lang="en-IN" dirty="0"/>
                    </a:p>
                  </a:txBody>
                  <a:tcPr/>
                </a:tc>
                <a:tc>
                  <a:txBody>
                    <a:bodyPr/>
                    <a:lstStyle/>
                    <a:p>
                      <a:r>
                        <a:rPr lang="en-US" dirty="0" smtClean="0"/>
                        <a:t>66</a:t>
                      </a:r>
                      <a:endParaRPr lang="en-IN" dirty="0"/>
                    </a:p>
                  </a:txBody>
                  <a:tcPr/>
                </a:tc>
                <a:tc>
                  <a:txBody>
                    <a:bodyPr/>
                    <a:lstStyle/>
                    <a:p>
                      <a:r>
                        <a:rPr lang="en-US" dirty="0" smtClean="0"/>
                        <a:t>329</a:t>
                      </a:r>
                      <a:endParaRPr lang="en-IN" dirty="0"/>
                    </a:p>
                  </a:txBody>
                  <a:tcPr/>
                </a:tc>
                <a:tc>
                  <a:txBody>
                    <a:bodyPr/>
                    <a:lstStyle/>
                    <a:p>
                      <a:r>
                        <a:rPr lang="en-US" dirty="0" smtClean="0"/>
                        <a:t>310</a:t>
                      </a:r>
                      <a:endParaRPr lang="en-IN" dirty="0"/>
                    </a:p>
                  </a:txBody>
                  <a:tcPr/>
                </a:tc>
                <a:tc>
                  <a:txBody>
                    <a:bodyPr/>
                    <a:lstStyle/>
                    <a:p>
                      <a:endParaRPr lang="en-IN"/>
                    </a:p>
                  </a:txBody>
                  <a:tcPr/>
                </a:tc>
              </a:tr>
              <a:tr h="324000">
                <a:tc>
                  <a:txBody>
                    <a:bodyPr/>
                    <a:lstStyle/>
                    <a:p>
                      <a:r>
                        <a:rPr lang="en-US" dirty="0" smtClean="0"/>
                        <a:t>11</a:t>
                      </a:r>
                      <a:endParaRPr lang="en-IN" dirty="0"/>
                    </a:p>
                  </a:txBody>
                  <a:tcPr/>
                </a:tc>
                <a:tc>
                  <a:txBody>
                    <a:bodyPr/>
                    <a:lstStyle/>
                    <a:p>
                      <a:r>
                        <a:rPr lang="en-US" dirty="0" smtClean="0"/>
                        <a:t>37</a:t>
                      </a:r>
                      <a:endParaRPr lang="en-IN" dirty="0"/>
                    </a:p>
                  </a:txBody>
                  <a:tcPr/>
                </a:tc>
                <a:tc>
                  <a:txBody>
                    <a:bodyPr/>
                    <a:lstStyle/>
                    <a:p>
                      <a:r>
                        <a:rPr lang="en-US" dirty="0" smtClean="0"/>
                        <a:t>366</a:t>
                      </a:r>
                      <a:endParaRPr lang="en-IN" dirty="0"/>
                    </a:p>
                  </a:txBody>
                  <a:tcPr/>
                </a:tc>
                <a:tc>
                  <a:txBody>
                    <a:bodyPr/>
                    <a:lstStyle/>
                    <a:p>
                      <a:r>
                        <a:rPr lang="en-US" dirty="0" smtClean="0"/>
                        <a:t>360</a:t>
                      </a:r>
                      <a:endParaRPr lang="en-IN" dirty="0"/>
                    </a:p>
                  </a:txBody>
                  <a:tcPr/>
                </a:tc>
                <a:tc>
                  <a:txBody>
                    <a:bodyPr/>
                    <a:lstStyle/>
                    <a:p>
                      <a:endParaRPr lang="en-IN"/>
                    </a:p>
                  </a:txBody>
                  <a:tcPr/>
                </a:tc>
              </a:tr>
              <a:tr h="324000">
                <a:tc>
                  <a:txBody>
                    <a:bodyPr/>
                    <a:lstStyle/>
                    <a:p>
                      <a:r>
                        <a:rPr lang="en-US" dirty="0" smtClean="0"/>
                        <a:t>12</a:t>
                      </a:r>
                      <a:endParaRPr lang="en-IN" dirty="0"/>
                    </a:p>
                  </a:txBody>
                  <a:tcPr/>
                </a:tc>
                <a:tc>
                  <a:txBody>
                    <a:bodyPr/>
                    <a:lstStyle/>
                    <a:p>
                      <a:r>
                        <a:rPr lang="en-US" dirty="0" smtClean="0"/>
                        <a:t>44</a:t>
                      </a:r>
                      <a:endParaRPr lang="en-IN" dirty="0"/>
                    </a:p>
                  </a:txBody>
                  <a:tcPr/>
                </a:tc>
                <a:tc>
                  <a:txBody>
                    <a:bodyPr/>
                    <a:lstStyle/>
                    <a:p>
                      <a:r>
                        <a:rPr lang="en-US" dirty="0" smtClean="0"/>
                        <a:t>410</a:t>
                      </a:r>
                      <a:endParaRPr lang="en-IN" dirty="0"/>
                    </a:p>
                  </a:txBody>
                  <a:tcPr/>
                </a:tc>
                <a:tc>
                  <a:txBody>
                    <a:bodyPr/>
                    <a:lstStyle/>
                    <a:p>
                      <a:r>
                        <a:rPr lang="en-US" dirty="0" smtClean="0"/>
                        <a:t>410</a:t>
                      </a:r>
                      <a:endParaRPr lang="en-IN" dirty="0"/>
                    </a:p>
                  </a:txBody>
                  <a:tcPr/>
                </a:tc>
                <a:tc>
                  <a:txBody>
                    <a:bodyPr/>
                    <a:lstStyle/>
                    <a:p>
                      <a:endParaRPr lang="en-IN"/>
                    </a:p>
                  </a:txBody>
                  <a:tcPr/>
                </a:tc>
              </a:tr>
              <a:tr h="324000">
                <a:tc>
                  <a:txBody>
                    <a:bodyPr/>
                    <a:lstStyle/>
                    <a:p>
                      <a:r>
                        <a:rPr lang="en-US" dirty="0" smtClean="0"/>
                        <a:t>13</a:t>
                      </a:r>
                      <a:endParaRPr lang="en-IN" dirty="0"/>
                    </a:p>
                  </a:txBody>
                  <a:tcPr/>
                </a:tc>
                <a:tc>
                  <a:txBody>
                    <a:bodyPr/>
                    <a:lstStyle/>
                    <a:p>
                      <a:r>
                        <a:rPr lang="en-US" dirty="0" smtClean="0"/>
                        <a:t>33</a:t>
                      </a:r>
                      <a:endParaRPr lang="en-IN" dirty="0"/>
                    </a:p>
                  </a:txBody>
                  <a:tcPr/>
                </a:tc>
                <a:tc>
                  <a:txBody>
                    <a:bodyPr/>
                    <a:lstStyle/>
                    <a:p>
                      <a:r>
                        <a:rPr lang="en-US" dirty="0" smtClean="0"/>
                        <a:t>443</a:t>
                      </a:r>
                      <a:endParaRPr lang="en-IN" dirty="0"/>
                    </a:p>
                  </a:txBody>
                  <a:tcPr/>
                </a:tc>
                <a:tc>
                  <a:txBody>
                    <a:bodyPr/>
                    <a:lstStyle/>
                    <a:p>
                      <a:endParaRPr lang="en-IN"/>
                    </a:p>
                  </a:txBody>
                  <a:tcPr/>
                </a:tc>
                <a:tc>
                  <a:txBody>
                    <a:bodyPr/>
                    <a:lstStyle/>
                    <a:p>
                      <a:endParaRPr lang="en-IN"/>
                    </a:p>
                  </a:txBody>
                  <a:tcPr/>
                </a:tc>
              </a:tr>
              <a:tr h="324000">
                <a:tc>
                  <a:txBody>
                    <a:bodyPr/>
                    <a:lstStyle/>
                    <a:p>
                      <a:r>
                        <a:rPr lang="en-US" dirty="0" smtClean="0"/>
                        <a:t>14</a:t>
                      </a:r>
                      <a:endParaRPr lang="en-IN" dirty="0"/>
                    </a:p>
                  </a:txBody>
                  <a:tcPr/>
                </a:tc>
                <a:tc>
                  <a:txBody>
                    <a:bodyPr/>
                    <a:lstStyle/>
                    <a:p>
                      <a:r>
                        <a:rPr lang="en-US" dirty="0" smtClean="0"/>
                        <a:t>29</a:t>
                      </a:r>
                      <a:endParaRPr lang="en-IN" dirty="0"/>
                    </a:p>
                  </a:txBody>
                  <a:tcPr/>
                </a:tc>
                <a:tc>
                  <a:txBody>
                    <a:bodyPr/>
                    <a:lstStyle/>
                    <a:p>
                      <a:r>
                        <a:rPr lang="en-US" dirty="0" smtClean="0"/>
                        <a:t>472</a:t>
                      </a:r>
                      <a:endParaRPr lang="en-IN" dirty="0"/>
                    </a:p>
                  </a:txBody>
                  <a:tcPr/>
                </a:tc>
                <a:tc>
                  <a:txBody>
                    <a:bodyPr/>
                    <a:lstStyle/>
                    <a:p>
                      <a:r>
                        <a:rPr lang="en-US" dirty="0" smtClean="0"/>
                        <a:t>460 </a:t>
                      </a:r>
                      <a:endParaRPr lang="en-IN" dirty="0"/>
                    </a:p>
                  </a:txBody>
                  <a:tcPr/>
                </a:tc>
                <a:tc>
                  <a:txBody>
                    <a:bodyPr/>
                    <a:lstStyle/>
                    <a:p>
                      <a:endParaRPr lang="en-IN"/>
                    </a:p>
                  </a:txBody>
                  <a:tcPr/>
                </a:tc>
              </a:tr>
              <a:tr h="324000">
                <a:tc>
                  <a:txBody>
                    <a:bodyPr/>
                    <a:lstStyle/>
                    <a:p>
                      <a:r>
                        <a:rPr lang="en-US" dirty="0" smtClean="0"/>
                        <a:t>15</a:t>
                      </a:r>
                      <a:endParaRPr lang="en-IN" dirty="0"/>
                    </a:p>
                  </a:txBody>
                  <a:tcPr/>
                </a:tc>
                <a:tc>
                  <a:txBody>
                    <a:bodyPr/>
                    <a:lstStyle/>
                    <a:p>
                      <a:r>
                        <a:rPr lang="en-US" dirty="0" smtClean="0"/>
                        <a:t>28</a:t>
                      </a:r>
                      <a:endParaRPr lang="en-IN" dirty="0"/>
                    </a:p>
                  </a:txBody>
                  <a:tcPr/>
                </a:tc>
                <a:tc>
                  <a:txBody>
                    <a:bodyPr/>
                    <a:lstStyle/>
                    <a:p>
                      <a:r>
                        <a:rPr lang="en-US" dirty="0" smtClean="0"/>
                        <a:t>500</a:t>
                      </a:r>
                      <a:endParaRPr lang="en-IN" dirty="0"/>
                    </a:p>
                  </a:txBody>
                  <a:tcPr/>
                </a:tc>
                <a:tc>
                  <a:txBody>
                    <a:bodyPr/>
                    <a:lstStyle/>
                    <a:p>
                      <a:endParaRPr lang="en-IN"/>
                    </a:p>
                  </a:txBody>
                  <a:tcPr/>
                </a:tc>
                <a:tc>
                  <a:txBody>
                    <a:bodyPr/>
                    <a:lstStyle/>
                    <a:p>
                      <a:endParaRPr lang="en-IN" dirty="0"/>
                    </a:p>
                  </a:txBody>
                  <a:tcPr/>
                </a:tc>
              </a:tr>
            </a:tbl>
          </a:graphicData>
        </a:graphic>
      </p:graphicFrame>
      <p:sp>
        <p:nvSpPr>
          <p:cNvPr id="8" name="TextBox 7"/>
          <p:cNvSpPr txBox="1"/>
          <p:nvPr/>
        </p:nvSpPr>
        <p:spPr>
          <a:xfrm>
            <a:off x="214282" y="928670"/>
            <a:ext cx="3286148" cy="4832092"/>
          </a:xfrm>
          <a:prstGeom prst="rect">
            <a:avLst/>
          </a:prstGeom>
          <a:noFill/>
        </p:spPr>
        <p:txBody>
          <a:bodyPr wrap="square" rtlCol="0">
            <a:spAutoFit/>
          </a:bodyPr>
          <a:lstStyle/>
          <a:p>
            <a:pPr algn="just"/>
            <a:r>
              <a:rPr lang="en-US" sz="2400" dirty="0" smtClean="0">
                <a:latin typeface="+mj-lt"/>
              </a:rPr>
              <a:t>Number of departmental stores in 15 cities are 500 as shown. Select 10 stores in each city using cities as clusters and within cluster select samples proportional to size.  </a:t>
            </a:r>
          </a:p>
          <a:p>
            <a:pPr algn="just"/>
            <a:r>
              <a:rPr lang="en-US" sz="2400" dirty="0" smtClean="0">
                <a:latin typeface="+mj-lt"/>
              </a:rPr>
              <a:t>Given starting point </a:t>
            </a:r>
            <a:r>
              <a:rPr lang="en-US" sz="2400" dirty="0" smtClean="0">
                <a:solidFill>
                  <a:srgbClr val="FF0000"/>
                </a:solidFill>
                <a:latin typeface="+mj-lt"/>
              </a:rPr>
              <a:t>10</a:t>
            </a:r>
            <a:r>
              <a:rPr lang="en-US" sz="2400" dirty="0" smtClean="0">
                <a:latin typeface="+mj-lt"/>
              </a:rPr>
              <a:t>.</a:t>
            </a:r>
          </a:p>
          <a:p>
            <a:pPr algn="just"/>
            <a:endParaRPr lang="en-US" sz="2000" dirty="0" smtClean="0"/>
          </a:p>
          <a:p>
            <a:pPr algn="just"/>
            <a:r>
              <a:rPr lang="en-US" sz="2400" dirty="0" smtClean="0">
                <a:latin typeface="+mj-lt"/>
              </a:rPr>
              <a:t>To select 10 stores from 500 stores, the </a:t>
            </a:r>
            <a:r>
              <a:rPr lang="en-US" sz="2400" dirty="0" smtClean="0">
                <a:solidFill>
                  <a:srgbClr val="FF0000"/>
                </a:solidFill>
                <a:latin typeface="+mj-lt"/>
              </a:rPr>
              <a:t>interval is 50</a:t>
            </a:r>
            <a:endParaRPr lang="en-IN" sz="2400" dirty="0">
              <a:solidFill>
                <a:srgbClr val="FF0000"/>
              </a:solidFill>
              <a:latin typeface="+mj-lt"/>
            </a:endParaRPr>
          </a:p>
        </p:txBody>
      </p:sp>
      <p:sp>
        <p:nvSpPr>
          <p:cNvPr id="9" name="TextBox 8"/>
          <p:cNvSpPr txBox="1"/>
          <p:nvPr/>
        </p:nvSpPr>
        <p:spPr>
          <a:xfrm>
            <a:off x="928662" y="0"/>
            <a:ext cx="8215338" cy="461665"/>
          </a:xfrm>
          <a:prstGeom prst="rect">
            <a:avLst/>
          </a:prstGeom>
          <a:noFill/>
        </p:spPr>
        <p:txBody>
          <a:bodyPr wrap="square" rtlCol="0">
            <a:spAutoFit/>
          </a:bodyPr>
          <a:lstStyle/>
          <a:p>
            <a:pPr algn="ctr"/>
            <a:r>
              <a:rPr lang="en-US" sz="2400" dirty="0" smtClean="0">
                <a:latin typeface="+mj-lt"/>
              </a:rPr>
              <a:t>Example : Cluster sampling (probability proportional to size)</a:t>
            </a:r>
            <a:endParaRPr lang="en-GB" sz="2400" dirty="0">
              <a:latin typeface="+mj-lt"/>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b="0" dirty="0" smtClean="0"/>
              <a:t>Data distribution : Probability distribution</a:t>
            </a:r>
            <a:endParaRPr lang="en-GB" sz="3200" b="0" dirty="0"/>
          </a:p>
        </p:txBody>
      </p:sp>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pic>
        <p:nvPicPr>
          <p:cNvPr id="859138" name="Picture 2"/>
          <p:cNvPicPr>
            <a:picLocks noChangeAspect="1" noChangeArrowheads="1"/>
          </p:cNvPicPr>
          <p:nvPr/>
        </p:nvPicPr>
        <p:blipFill>
          <a:blip r:embed="rId2"/>
          <a:srcRect b="9763"/>
          <a:stretch>
            <a:fillRect/>
          </a:stretch>
        </p:blipFill>
        <p:spPr bwMode="auto">
          <a:xfrm>
            <a:off x="609600" y="1066800"/>
            <a:ext cx="3420000" cy="2057400"/>
          </a:xfrm>
          <a:prstGeom prst="rect">
            <a:avLst/>
          </a:prstGeom>
          <a:noFill/>
          <a:ln w="9525">
            <a:noFill/>
            <a:miter lim="800000"/>
            <a:headEnd/>
            <a:tailEnd/>
          </a:ln>
          <a:effectLst/>
        </p:spPr>
      </p:pic>
      <p:pic>
        <p:nvPicPr>
          <p:cNvPr id="859139" name="Picture 3"/>
          <p:cNvPicPr>
            <a:picLocks noChangeAspect="1" noChangeArrowheads="1"/>
          </p:cNvPicPr>
          <p:nvPr/>
        </p:nvPicPr>
        <p:blipFill>
          <a:blip r:embed="rId3"/>
          <a:srcRect b="11647"/>
          <a:stretch>
            <a:fillRect/>
          </a:stretch>
        </p:blipFill>
        <p:spPr bwMode="auto">
          <a:xfrm>
            <a:off x="5105400" y="762000"/>
            <a:ext cx="3708000" cy="2286000"/>
          </a:xfrm>
          <a:prstGeom prst="rect">
            <a:avLst/>
          </a:prstGeom>
          <a:noFill/>
          <a:ln w="9525">
            <a:noFill/>
            <a:miter lim="800000"/>
            <a:headEnd/>
            <a:tailEnd/>
          </a:ln>
          <a:effectLst/>
        </p:spPr>
      </p:pic>
      <p:pic>
        <p:nvPicPr>
          <p:cNvPr id="859140" name="Picture 4"/>
          <p:cNvPicPr>
            <a:picLocks noChangeAspect="1" noChangeArrowheads="1"/>
          </p:cNvPicPr>
          <p:nvPr/>
        </p:nvPicPr>
        <p:blipFill>
          <a:blip r:embed="rId4"/>
          <a:srcRect b="5143"/>
          <a:stretch>
            <a:fillRect/>
          </a:stretch>
        </p:blipFill>
        <p:spPr bwMode="auto">
          <a:xfrm>
            <a:off x="609600" y="3810000"/>
            <a:ext cx="3204000" cy="2133600"/>
          </a:xfrm>
          <a:prstGeom prst="rect">
            <a:avLst/>
          </a:prstGeom>
          <a:noFill/>
          <a:ln w="9525">
            <a:noFill/>
            <a:miter lim="800000"/>
            <a:headEnd/>
            <a:tailEnd/>
          </a:ln>
          <a:effectLst/>
        </p:spPr>
      </p:pic>
      <p:pic>
        <p:nvPicPr>
          <p:cNvPr id="859141" name="Picture 5"/>
          <p:cNvPicPr>
            <a:picLocks noChangeAspect="1" noChangeArrowheads="1"/>
          </p:cNvPicPr>
          <p:nvPr/>
        </p:nvPicPr>
        <p:blipFill>
          <a:blip r:embed="rId5"/>
          <a:srcRect b="11830"/>
          <a:stretch>
            <a:fillRect/>
          </a:stretch>
        </p:blipFill>
        <p:spPr bwMode="auto">
          <a:xfrm>
            <a:off x="5334000" y="3733797"/>
            <a:ext cx="3348000" cy="2057403"/>
          </a:xfrm>
          <a:prstGeom prst="rect">
            <a:avLst/>
          </a:prstGeom>
          <a:noFill/>
          <a:ln w="9525">
            <a:noFill/>
            <a:miter lim="800000"/>
            <a:headEnd/>
            <a:tailEnd/>
          </a:ln>
          <a:effectLst/>
        </p:spPr>
      </p:pic>
      <p:sp>
        <p:nvSpPr>
          <p:cNvPr id="15" name="TextBox 14"/>
          <p:cNvSpPr txBox="1"/>
          <p:nvPr/>
        </p:nvSpPr>
        <p:spPr>
          <a:xfrm>
            <a:off x="1524000" y="0"/>
            <a:ext cx="6096000" cy="523220"/>
          </a:xfrm>
          <a:prstGeom prst="rect">
            <a:avLst/>
          </a:prstGeom>
          <a:noFill/>
        </p:spPr>
        <p:txBody>
          <a:bodyPr wrap="square" rtlCol="0">
            <a:spAutoFit/>
          </a:bodyPr>
          <a:lstStyle/>
          <a:p>
            <a:pPr algn="ctr"/>
            <a:r>
              <a:rPr lang="en-IN" sz="2800" dirty="0" smtClean="0"/>
              <a:t>Typical data distribution</a:t>
            </a:r>
            <a:endParaRPr lang="en-IN" sz="2800" dirty="0"/>
          </a:p>
        </p:txBody>
      </p:sp>
      <p:sp>
        <p:nvSpPr>
          <p:cNvPr id="16" name="TextBox 15"/>
          <p:cNvSpPr txBox="1"/>
          <p:nvPr/>
        </p:nvSpPr>
        <p:spPr>
          <a:xfrm>
            <a:off x="1143000" y="3200400"/>
            <a:ext cx="2362200" cy="369332"/>
          </a:xfrm>
          <a:prstGeom prst="rect">
            <a:avLst/>
          </a:prstGeom>
          <a:noFill/>
        </p:spPr>
        <p:txBody>
          <a:bodyPr wrap="square" rtlCol="0">
            <a:spAutoFit/>
          </a:bodyPr>
          <a:lstStyle/>
          <a:p>
            <a:r>
              <a:rPr lang="en-IN" dirty="0" smtClean="0"/>
              <a:t>Number of incidents</a:t>
            </a:r>
            <a:endParaRPr lang="en-IN" dirty="0"/>
          </a:p>
        </p:txBody>
      </p:sp>
      <p:sp>
        <p:nvSpPr>
          <p:cNvPr id="17" name="TextBox 16"/>
          <p:cNvSpPr txBox="1"/>
          <p:nvPr/>
        </p:nvSpPr>
        <p:spPr>
          <a:xfrm>
            <a:off x="1295400" y="5943600"/>
            <a:ext cx="2362200" cy="369332"/>
          </a:xfrm>
          <a:prstGeom prst="rect">
            <a:avLst/>
          </a:prstGeom>
          <a:noFill/>
        </p:spPr>
        <p:txBody>
          <a:bodyPr wrap="square" rtlCol="0">
            <a:spAutoFit/>
          </a:bodyPr>
          <a:lstStyle/>
          <a:p>
            <a:r>
              <a:rPr lang="en-IN" dirty="0" smtClean="0"/>
              <a:t>Number of incidents</a:t>
            </a:r>
            <a:endParaRPr lang="en-IN" dirty="0"/>
          </a:p>
        </p:txBody>
      </p:sp>
      <p:sp>
        <p:nvSpPr>
          <p:cNvPr id="18" name="TextBox 17"/>
          <p:cNvSpPr txBox="1"/>
          <p:nvPr/>
        </p:nvSpPr>
        <p:spPr>
          <a:xfrm>
            <a:off x="5943600" y="5867400"/>
            <a:ext cx="2362200" cy="369332"/>
          </a:xfrm>
          <a:prstGeom prst="rect">
            <a:avLst/>
          </a:prstGeom>
          <a:noFill/>
        </p:spPr>
        <p:txBody>
          <a:bodyPr wrap="square" rtlCol="0">
            <a:spAutoFit/>
          </a:bodyPr>
          <a:lstStyle/>
          <a:p>
            <a:r>
              <a:rPr lang="en-IN" dirty="0" smtClean="0"/>
              <a:t>Number of incidents</a:t>
            </a:r>
            <a:endParaRPr lang="en-IN" dirty="0"/>
          </a:p>
        </p:txBody>
      </p:sp>
      <p:sp>
        <p:nvSpPr>
          <p:cNvPr id="19" name="TextBox 18"/>
          <p:cNvSpPr txBox="1"/>
          <p:nvPr/>
        </p:nvSpPr>
        <p:spPr>
          <a:xfrm>
            <a:off x="5867400" y="3124200"/>
            <a:ext cx="2362200" cy="369332"/>
          </a:xfrm>
          <a:prstGeom prst="rect">
            <a:avLst/>
          </a:prstGeom>
          <a:noFill/>
        </p:spPr>
        <p:txBody>
          <a:bodyPr wrap="square" rtlCol="0">
            <a:spAutoFit/>
          </a:bodyPr>
          <a:lstStyle/>
          <a:p>
            <a:r>
              <a:rPr lang="en-IN" dirty="0" smtClean="0"/>
              <a:t>Number of incidents</a:t>
            </a:r>
            <a:endParaRPr lang="en-IN" dirty="0"/>
          </a:p>
        </p:txBody>
      </p:sp>
      <p:sp>
        <p:nvSpPr>
          <p:cNvPr id="20" name="TextBox 19"/>
          <p:cNvSpPr txBox="1"/>
          <p:nvPr/>
        </p:nvSpPr>
        <p:spPr>
          <a:xfrm>
            <a:off x="1143000" y="838200"/>
            <a:ext cx="2286000" cy="369332"/>
          </a:xfrm>
          <a:prstGeom prst="rect">
            <a:avLst/>
          </a:prstGeom>
          <a:noFill/>
        </p:spPr>
        <p:txBody>
          <a:bodyPr wrap="square" rtlCol="0">
            <a:spAutoFit/>
          </a:bodyPr>
          <a:lstStyle/>
          <a:p>
            <a:pPr algn="ctr"/>
            <a:r>
              <a:rPr lang="en-IN" dirty="0" smtClean="0"/>
              <a:t>Normal</a:t>
            </a:r>
            <a:endParaRPr lang="en-IN" dirty="0"/>
          </a:p>
        </p:txBody>
      </p:sp>
      <p:sp>
        <p:nvSpPr>
          <p:cNvPr id="21" name="TextBox 20"/>
          <p:cNvSpPr txBox="1"/>
          <p:nvPr/>
        </p:nvSpPr>
        <p:spPr>
          <a:xfrm>
            <a:off x="5867400" y="762000"/>
            <a:ext cx="2209800" cy="381000"/>
          </a:xfrm>
          <a:prstGeom prst="rect">
            <a:avLst/>
          </a:prstGeom>
          <a:noFill/>
        </p:spPr>
        <p:txBody>
          <a:bodyPr wrap="square" rtlCol="0">
            <a:spAutoFit/>
          </a:bodyPr>
          <a:lstStyle/>
          <a:p>
            <a:pPr algn="ctr"/>
            <a:r>
              <a:rPr lang="en-IN" dirty="0" smtClean="0"/>
              <a:t>Skewed </a:t>
            </a:r>
            <a:endParaRPr lang="en-IN" dirty="0"/>
          </a:p>
        </p:txBody>
      </p:sp>
      <p:sp>
        <p:nvSpPr>
          <p:cNvPr id="22" name="TextBox 21"/>
          <p:cNvSpPr txBox="1"/>
          <p:nvPr/>
        </p:nvSpPr>
        <p:spPr>
          <a:xfrm>
            <a:off x="1295400" y="3733800"/>
            <a:ext cx="2133600" cy="369332"/>
          </a:xfrm>
          <a:prstGeom prst="rect">
            <a:avLst/>
          </a:prstGeom>
          <a:noFill/>
        </p:spPr>
        <p:txBody>
          <a:bodyPr wrap="square" rtlCol="0">
            <a:spAutoFit/>
          </a:bodyPr>
          <a:lstStyle/>
          <a:p>
            <a:pPr algn="ctr"/>
            <a:r>
              <a:rPr lang="en-IN" dirty="0" smtClean="0"/>
              <a:t>Bimodal</a:t>
            </a:r>
            <a:endParaRPr lang="en-IN" dirty="0"/>
          </a:p>
        </p:txBody>
      </p:sp>
      <p:sp>
        <p:nvSpPr>
          <p:cNvPr id="23" name="TextBox 22"/>
          <p:cNvSpPr txBox="1"/>
          <p:nvPr/>
        </p:nvSpPr>
        <p:spPr>
          <a:xfrm>
            <a:off x="6172200" y="3657600"/>
            <a:ext cx="1981200" cy="381000"/>
          </a:xfrm>
          <a:prstGeom prst="rect">
            <a:avLst/>
          </a:prstGeom>
          <a:noFill/>
        </p:spPr>
        <p:txBody>
          <a:bodyPr wrap="square" rtlCol="0">
            <a:spAutoFit/>
          </a:bodyPr>
          <a:lstStyle/>
          <a:p>
            <a:pPr algn="ctr"/>
            <a:r>
              <a:rPr lang="en-IN" dirty="0" smtClean="0"/>
              <a:t>Outlier</a:t>
            </a:r>
            <a:endParaRPr lang="en-IN"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extBox 6"/>
          <p:cNvSpPr txBox="1"/>
          <p:nvPr/>
        </p:nvSpPr>
        <p:spPr>
          <a:xfrm>
            <a:off x="914400" y="0"/>
            <a:ext cx="8001000" cy="584775"/>
          </a:xfrm>
          <a:prstGeom prst="rect">
            <a:avLst/>
          </a:prstGeom>
          <a:noFill/>
        </p:spPr>
        <p:txBody>
          <a:bodyPr wrap="square" rtlCol="0">
            <a:spAutoFit/>
          </a:bodyPr>
          <a:lstStyle/>
          <a:p>
            <a:pPr algn="ctr"/>
            <a:r>
              <a:rPr lang="en-IN" sz="3200" dirty="0" smtClean="0">
                <a:latin typeface="+mj-lt"/>
              </a:rPr>
              <a:t>Data distribution</a:t>
            </a:r>
            <a:endParaRPr lang="en-IN" sz="3200" dirty="0">
              <a:latin typeface="+mj-lt"/>
            </a:endParaRPr>
          </a:p>
        </p:txBody>
      </p:sp>
      <p:sp>
        <p:nvSpPr>
          <p:cNvPr id="8" name="Rectangle 7"/>
          <p:cNvSpPr/>
          <p:nvPr/>
        </p:nvSpPr>
        <p:spPr>
          <a:xfrm>
            <a:off x="838200" y="2514600"/>
            <a:ext cx="8001000" cy="3170099"/>
          </a:xfrm>
          <a:prstGeom prst="rect">
            <a:avLst/>
          </a:prstGeom>
        </p:spPr>
        <p:txBody>
          <a:bodyPr wrap="square">
            <a:spAutoFit/>
          </a:bodyPr>
          <a:lstStyle/>
          <a:p>
            <a:r>
              <a:rPr lang="en-IN" sz="2800" dirty="0" smtClean="0">
                <a:latin typeface="+mj-lt"/>
              </a:rPr>
              <a:t>•   </a:t>
            </a:r>
            <a:r>
              <a:rPr lang="en-IN" sz="2400" dirty="0" smtClean="0">
                <a:latin typeface="+mj-lt"/>
              </a:rPr>
              <a:t>Binomial</a:t>
            </a:r>
          </a:p>
          <a:p>
            <a:r>
              <a:rPr lang="en-IN" sz="2400" dirty="0" smtClean="0">
                <a:latin typeface="+mj-lt"/>
              </a:rPr>
              <a:t>•   Poisson</a:t>
            </a:r>
          </a:p>
          <a:p>
            <a:r>
              <a:rPr lang="en-IN" sz="2400" dirty="0" smtClean="0">
                <a:latin typeface="+mj-lt"/>
              </a:rPr>
              <a:t>•   Uniform</a:t>
            </a:r>
          </a:p>
          <a:p>
            <a:r>
              <a:rPr lang="en-IN" sz="2400" dirty="0" smtClean="0">
                <a:latin typeface="+mj-lt"/>
              </a:rPr>
              <a:t>•   Normal</a:t>
            </a:r>
          </a:p>
          <a:p>
            <a:r>
              <a:rPr lang="en-IN" sz="2400" dirty="0" smtClean="0">
                <a:latin typeface="+mj-lt"/>
              </a:rPr>
              <a:t>•   Exponential</a:t>
            </a:r>
          </a:p>
          <a:p>
            <a:endParaRPr lang="en-IN" sz="2400" dirty="0" smtClean="0">
              <a:latin typeface="+mj-lt"/>
            </a:endParaRPr>
          </a:p>
          <a:p>
            <a:r>
              <a:rPr lang="en-IN" sz="2400" dirty="0" smtClean="0">
                <a:solidFill>
                  <a:srgbClr val="0000CC"/>
                </a:solidFill>
                <a:latin typeface="+mj-lt"/>
              </a:rPr>
              <a:t>The first two are discrete and the last three continuous data distribution </a:t>
            </a:r>
            <a:r>
              <a:rPr lang="en-IN" sz="2800" dirty="0" smtClean="0">
                <a:solidFill>
                  <a:srgbClr val="0000CC"/>
                </a:solidFill>
                <a:latin typeface="+mj-lt"/>
              </a:rPr>
              <a:t>.</a:t>
            </a:r>
            <a:endParaRPr lang="en-IN" sz="2800" dirty="0">
              <a:solidFill>
                <a:srgbClr val="0000CC"/>
              </a:solidFill>
              <a:latin typeface="+mj-lt"/>
            </a:endParaRPr>
          </a:p>
        </p:txBody>
      </p:sp>
      <p:sp>
        <p:nvSpPr>
          <p:cNvPr id="9" name="Rectangle 8"/>
          <p:cNvSpPr/>
          <p:nvPr/>
        </p:nvSpPr>
        <p:spPr>
          <a:xfrm>
            <a:off x="457200" y="762000"/>
            <a:ext cx="8458200" cy="1569660"/>
          </a:xfrm>
          <a:prstGeom prst="rect">
            <a:avLst/>
          </a:prstGeom>
        </p:spPr>
        <p:txBody>
          <a:bodyPr wrap="square">
            <a:spAutoFit/>
          </a:bodyPr>
          <a:lstStyle/>
          <a:p>
            <a:r>
              <a:rPr lang="en-US" sz="2400" dirty="0" smtClean="0">
                <a:latin typeface="+mj-lt"/>
              </a:rPr>
              <a:t>The mathematical rule (or function) that assigns a given numerical value to each possible outcome of an experiment in the sample space of interest. Random variables can  be discontinuous or continuous</a:t>
            </a:r>
            <a:endParaRPr lang="en-IN" sz="2400" dirty="0">
              <a:latin typeface="+mj-lt"/>
            </a:endParaRPr>
          </a:p>
        </p:txBody>
      </p:sp>
      <p:sp>
        <p:nvSpPr>
          <p:cNvPr id="10" name="TextBox 9"/>
          <p:cNvSpPr txBox="1"/>
          <p:nvPr/>
        </p:nvSpPr>
        <p:spPr>
          <a:xfrm>
            <a:off x="1219200" y="5867400"/>
            <a:ext cx="7086600" cy="523220"/>
          </a:xfrm>
          <a:prstGeom prst="rect">
            <a:avLst/>
          </a:prstGeom>
          <a:noFill/>
        </p:spPr>
        <p:txBody>
          <a:bodyPr wrap="square" rtlCol="0">
            <a:spAutoFit/>
          </a:bodyPr>
          <a:lstStyle/>
          <a:p>
            <a:r>
              <a:rPr lang="en-IN" sz="2800" dirty="0" smtClean="0">
                <a:latin typeface="+mj-lt"/>
              </a:rPr>
              <a:t>Gamma distribution </a:t>
            </a:r>
            <a:endParaRPr lang="en-IN" sz="2800" dirty="0">
              <a:latin typeface="+mj-lt"/>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10" name="Rectangle 9"/>
          <p:cNvSpPr/>
          <p:nvPr/>
        </p:nvSpPr>
        <p:spPr>
          <a:xfrm>
            <a:off x="762000" y="0"/>
            <a:ext cx="8001000" cy="523220"/>
          </a:xfrm>
          <a:prstGeom prst="rect">
            <a:avLst/>
          </a:prstGeom>
        </p:spPr>
        <p:txBody>
          <a:bodyPr wrap="square">
            <a:spAutoFit/>
          </a:bodyPr>
          <a:lstStyle/>
          <a:p>
            <a:r>
              <a:rPr lang="en-US" sz="2800" dirty="0" smtClean="0">
                <a:solidFill>
                  <a:srgbClr val="0000CC"/>
                </a:solidFill>
                <a:latin typeface="+mj-lt"/>
              </a:rPr>
              <a:t>The Binomial Distribution : </a:t>
            </a:r>
            <a:r>
              <a:rPr lang="en-US" sz="2400" dirty="0" smtClean="0">
                <a:solidFill>
                  <a:srgbClr val="0000CC"/>
                </a:solidFill>
                <a:latin typeface="+mj-lt"/>
              </a:rPr>
              <a:t>Bernoulli Random Variables</a:t>
            </a:r>
            <a:endParaRPr lang="en-GB" sz="2800" dirty="0">
              <a:solidFill>
                <a:srgbClr val="0000CC"/>
              </a:solidFill>
              <a:latin typeface="+mj-lt"/>
            </a:endParaRPr>
          </a:p>
        </p:txBody>
      </p:sp>
      <p:sp>
        <p:nvSpPr>
          <p:cNvPr id="12" name="Rectangle 11"/>
          <p:cNvSpPr/>
          <p:nvPr/>
        </p:nvSpPr>
        <p:spPr>
          <a:xfrm>
            <a:off x="228600" y="762000"/>
            <a:ext cx="8686800" cy="2113720"/>
          </a:xfrm>
          <a:prstGeom prst="rect">
            <a:avLst/>
          </a:prstGeom>
        </p:spPr>
        <p:txBody>
          <a:bodyPr wrap="square">
            <a:spAutoFit/>
          </a:bodyPr>
          <a:lstStyle/>
          <a:p>
            <a:pPr>
              <a:lnSpc>
                <a:spcPts val="3200"/>
              </a:lnSpc>
            </a:pPr>
            <a:r>
              <a:rPr lang="en-IN" sz="2400" dirty="0" smtClean="0">
                <a:latin typeface="+mj-lt"/>
              </a:rPr>
              <a:t>• A set of </a:t>
            </a:r>
            <a:r>
              <a:rPr lang="en-IN" sz="2400" i="1" dirty="0" smtClean="0">
                <a:latin typeface="+mj-lt"/>
              </a:rPr>
              <a:t>n</a:t>
            </a:r>
            <a:r>
              <a:rPr lang="en-IN" sz="2400" dirty="0" smtClean="0">
                <a:latin typeface="+mj-lt"/>
              </a:rPr>
              <a:t> experiments or trials are conducted.</a:t>
            </a:r>
          </a:p>
          <a:p>
            <a:pPr>
              <a:lnSpc>
                <a:spcPts val="3200"/>
              </a:lnSpc>
            </a:pPr>
            <a:r>
              <a:rPr lang="en-IN" sz="2400" dirty="0" smtClean="0">
                <a:latin typeface="+mj-lt"/>
              </a:rPr>
              <a:t>• Each trial could result in either a success  (S) or a failure.(F)</a:t>
            </a:r>
          </a:p>
          <a:p>
            <a:pPr>
              <a:lnSpc>
                <a:spcPts val="3200"/>
              </a:lnSpc>
            </a:pPr>
            <a:r>
              <a:rPr lang="en-IN" sz="2400" dirty="0" smtClean="0">
                <a:latin typeface="+mj-lt"/>
              </a:rPr>
              <a:t>• The probability </a:t>
            </a:r>
            <a:r>
              <a:rPr lang="en-IN" sz="2400" i="1" dirty="0" smtClean="0">
                <a:latin typeface="+mj-lt"/>
              </a:rPr>
              <a:t>p</a:t>
            </a:r>
            <a:r>
              <a:rPr lang="en-IN" sz="2400" dirty="0" smtClean="0">
                <a:latin typeface="+mj-lt"/>
              </a:rPr>
              <a:t> of </a:t>
            </a:r>
            <a:r>
              <a:rPr lang="en-IN" sz="2400" b="1" dirty="0" smtClean="0">
                <a:latin typeface="+mj-lt"/>
              </a:rPr>
              <a:t>success</a:t>
            </a:r>
            <a:r>
              <a:rPr lang="en-IN" sz="2400" dirty="0" smtClean="0">
                <a:latin typeface="+mj-lt"/>
              </a:rPr>
              <a:t> is the same for all trials.</a:t>
            </a:r>
          </a:p>
          <a:p>
            <a:pPr>
              <a:lnSpc>
                <a:spcPts val="3200"/>
              </a:lnSpc>
            </a:pPr>
            <a:r>
              <a:rPr lang="en-IN" sz="2400" dirty="0" smtClean="0">
                <a:latin typeface="+mj-lt"/>
              </a:rPr>
              <a:t>• The outcomes of different trials are independent.</a:t>
            </a:r>
          </a:p>
          <a:p>
            <a:pPr>
              <a:lnSpc>
                <a:spcPts val="3200"/>
              </a:lnSpc>
            </a:pPr>
            <a:r>
              <a:rPr lang="en-IN" sz="2400" dirty="0" smtClean="0">
                <a:latin typeface="+mj-lt"/>
              </a:rPr>
              <a:t>• We are interested in the total number of successes in these </a:t>
            </a:r>
            <a:r>
              <a:rPr lang="en-IN" sz="2400" i="1" dirty="0" smtClean="0">
                <a:latin typeface="+mj-lt"/>
              </a:rPr>
              <a:t>n</a:t>
            </a:r>
            <a:r>
              <a:rPr lang="en-IN" sz="2400" dirty="0" smtClean="0">
                <a:latin typeface="+mj-lt"/>
              </a:rPr>
              <a:t> trials.</a:t>
            </a:r>
            <a:endParaRPr lang="en-IN" sz="2400" dirty="0">
              <a:latin typeface="+mj-lt"/>
            </a:endParaRPr>
          </a:p>
        </p:txBody>
      </p:sp>
      <p:sp>
        <p:nvSpPr>
          <p:cNvPr id="13" name="Rectangle 12"/>
          <p:cNvSpPr/>
          <p:nvPr/>
        </p:nvSpPr>
        <p:spPr>
          <a:xfrm>
            <a:off x="381000" y="3048000"/>
            <a:ext cx="8763000" cy="1292983"/>
          </a:xfrm>
          <a:prstGeom prst="rect">
            <a:avLst/>
          </a:prstGeom>
        </p:spPr>
        <p:txBody>
          <a:bodyPr wrap="square">
            <a:spAutoFit/>
          </a:bodyPr>
          <a:lstStyle/>
          <a:p>
            <a:pPr>
              <a:lnSpc>
                <a:spcPts val="3200"/>
              </a:lnSpc>
            </a:pPr>
            <a:r>
              <a:rPr lang="en-IN" sz="2400" dirty="0" smtClean="0">
                <a:latin typeface="+mj-lt"/>
              </a:rPr>
              <a:t>Under the above assumptions, let </a:t>
            </a:r>
            <a:r>
              <a:rPr lang="en-IN" sz="2400" i="1" dirty="0" smtClean="0">
                <a:latin typeface="+mj-lt"/>
              </a:rPr>
              <a:t>X</a:t>
            </a:r>
            <a:r>
              <a:rPr lang="en-IN" sz="2400" dirty="0" smtClean="0">
                <a:latin typeface="+mj-lt"/>
              </a:rPr>
              <a:t> be the total number of </a:t>
            </a:r>
            <a:r>
              <a:rPr lang="en-IN" sz="2400" b="1" dirty="0" smtClean="0">
                <a:latin typeface="+mj-lt"/>
              </a:rPr>
              <a:t>successes</a:t>
            </a:r>
            <a:r>
              <a:rPr lang="en-IN" sz="2400" dirty="0" smtClean="0">
                <a:latin typeface="+mj-lt"/>
              </a:rPr>
              <a:t>. Then, </a:t>
            </a:r>
            <a:r>
              <a:rPr lang="en-IN" sz="2400" i="1" dirty="0" smtClean="0">
                <a:latin typeface="+mj-lt"/>
              </a:rPr>
              <a:t>X</a:t>
            </a:r>
            <a:r>
              <a:rPr lang="en-IN" sz="2400" dirty="0" smtClean="0">
                <a:latin typeface="+mj-lt"/>
              </a:rPr>
              <a:t> is called a binomial random variable, and the </a:t>
            </a:r>
            <a:r>
              <a:rPr lang="en-IN" sz="2400" b="1" dirty="0" smtClean="0">
                <a:latin typeface="+mj-lt"/>
              </a:rPr>
              <a:t>probability distribution of </a:t>
            </a:r>
            <a:r>
              <a:rPr lang="en-IN" sz="2400" b="1" i="1" dirty="0" smtClean="0">
                <a:latin typeface="+mj-lt"/>
              </a:rPr>
              <a:t>X</a:t>
            </a:r>
            <a:r>
              <a:rPr lang="en-IN" sz="2400" b="1" dirty="0" smtClean="0">
                <a:latin typeface="+mj-lt"/>
              </a:rPr>
              <a:t> </a:t>
            </a:r>
            <a:r>
              <a:rPr lang="en-IN" sz="2400" dirty="0" smtClean="0">
                <a:latin typeface="+mj-lt"/>
              </a:rPr>
              <a:t>is called the binomial distribution.</a:t>
            </a:r>
            <a:endParaRPr lang="en-IN" sz="2400" dirty="0">
              <a:latin typeface="+mj-lt"/>
            </a:endParaRPr>
          </a:p>
        </p:txBody>
      </p:sp>
      <p:sp>
        <p:nvSpPr>
          <p:cNvPr id="14" name="Rectangle 13"/>
          <p:cNvSpPr/>
          <p:nvPr/>
        </p:nvSpPr>
        <p:spPr>
          <a:xfrm>
            <a:off x="533400" y="4419600"/>
            <a:ext cx="8382000" cy="461665"/>
          </a:xfrm>
          <a:prstGeom prst="rect">
            <a:avLst/>
          </a:prstGeom>
        </p:spPr>
        <p:txBody>
          <a:bodyPr wrap="square">
            <a:spAutoFit/>
          </a:bodyPr>
          <a:lstStyle/>
          <a:p>
            <a:r>
              <a:rPr lang="en-IN" sz="2400" dirty="0" smtClean="0">
                <a:latin typeface="+mj-lt"/>
              </a:rPr>
              <a:t>Then, its probability distribution  function is:</a:t>
            </a:r>
            <a:endParaRPr lang="en-IN" sz="2400" dirty="0">
              <a:latin typeface="+mj-lt"/>
            </a:endParaRPr>
          </a:p>
        </p:txBody>
      </p:sp>
      <p:pic>
        <p:nvPicPr>
          <p:cNvPr id="845825" name="Picture 1"/>
          <p:cNvPicPr>
            <a:picLocks noChangeAspect="1" noChangeArrowheads="1"/>
          </p:cNvPicPr>
          <p:nvPr/>
        </p:nvPicPr>
        <p:blipFill>
          <a:blip r:embed="rId2">
            <a:lum bright="-10000" contrast="20000"/>
          </a:blip>
          <a:srcRect/>
          <a:stretch>
            <a:fillRect/>
          </a:stretch>
        </p:blipFill>
        <p:spPr bwMode="auto">
          <a:xfrm>
            <a:off x="2514600" y="4953000"/>
            <a:ext cx="5029200" cy="990600"/>
          </a:xfrm>
          <a:prstGeom prst="rect">
            <a:avLst/>
          </a:prstGeom>
          <a:noFill/>
          <a:ln w="9525">
            <a:noFill/>
            <a:miter lim="800000"/>
            <a:headEnd/>
            <a:tailEnd/>
          </a:ln>
          <a:effectLst/>
        </p:spPr>
      </p:pic>
      <p:pic>
        <p:nvPicPr>
          <p:cNvPr id="845826" name="Picture 2"/>
          <p:cNvPicPr>
            <a:picLocks noChangeAspect="1" noChangeArrowheads="1"/>
          </p:cNvPicPr>
          <p:nvPr/>
        </p:nvPicPr>
        <p:blipFill>
          <a:blip r:embed="rId3">
            <a:lum bright="-10000" contrast="20000"/>
          </a:blip>
          <a:srcRect/>
          <a:stretch>
            <a:fillRect/>
          </a:stretch>
        </p:blipFill>
        <p:spPr bwMode="auto">
          <a:xfrm>
            <a:off x="838200" y="5791200"/>
            <a:ext cx="2700338" cy="685800"/>
          </a:xfrm>
          <a:prstGeom prst="rect">
            <a:avLst/>
          </a:prstGeom>
          <a:noFill/>
          <a:ln w="9525">
            <a:noFill/>
            <a:miter lim="800000"/>
            <a:headEnd/>
            <a:tailEnd/>
          </a:ln>
          <a:effectLst/>
        </p:spPr>
      </p:pic>
      <p:sp>
        <p:nvSpPr>
          <p:cNvPr id="15" name="TextBox 14"/>
          <p:cNvSpPr txBox="1"/>
          <p:nvPr/>
        </p:nvSpPr>
        <p:spPr>
          <a:xfrm>
            <a:off x="3581400" y="6027003"/>
            <a:ext cx="5791200" cy="461665"/>
          </a:xfrm>
          <a:prstGeom prst="rect">
            <a:avLst/>
          </a:prstGeom>
          <a:noFill/>
        </p:spPr>
        <p:txBody>
          <a:bodyPr wrap="square" rtlCol="0">
            <a:spAutoFit/>
          </a:bodyPr>
          <a:lstStyle/>
          <a:p>
            <a:r>
              <a:rPr lang="en-IN" sz="2400" dirty="0" smtClean="0">
                <a:latin typeface="+mj-lt"/>
              </a:rPr>
              <a:t>The values of  </a:t>
            </a:r>
            <a:r>
              <a:rPr lang="en-IN" sz="2400" i="1" dirty="0" smtClean="0">
                <a:latin typeface="+mj-lt"/>
              </a:rPr>
              <a:t>n</a:t>
            </a:r>
            <a:r>
              <a:rPr lang="en-IN" sz="2400" dirty="0" smtClean="0">
                <a:latin typeface="+mj-lt"/>
              </a:rPr>
              <a:t> and </a:t>
            </a:r>
            <a:r>
              <a:rPr lang="en-IN" sz="2400" i="1" dirty="0" smtClean="0">
                <a:latin typeface="+mj-lt"/>
              </a:rPr>
              <a:t>p</a:t>
            </a:r>
            <a:r>
              <a:rPr lang="en-IN" sz="2400" dirty="0" smtClean="0">
                <a:latin typeface="+mj-lt"/>
              </a:rPr>
              <a:t> are called parameters</a:t>
            </a:r>
            <a:endParaRPr lang="en-IN" sz="2400" dirty="0">
              <a:latin typeface="+mj-lt"/>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Rectangle 6"/>
          <p:cNvSpPr/>
          <p:nvPr/>
        </p:nvSpPr>
        <p:spPr>
          <a:xfrm>
            <a:off x="304800" y="685800"/>
            <a:ext cx="8610600" cy="830997"/>
          </a:xfrm>
          <a:prstGeom prst="rect">
            <a:avLst/>
          </a:prstGeom>
        </p:spPr>
        <p:txBody>
          <a:bodyPr wrap="square">
            <a:spAutoFit/>
          </a:bodyPr>
          <a:lstStyle/>
          <a:p>
            <a:r>
              <a:rPr lang="en-IN" sz="2400" dirty="0" smtClean="0">
                <a:latin typeface="+mj-lt"/>
              </a:rPr>
              <a:t>The probability for observing any sequence of </a:t>
            </a:r>
            <a:r>
              <a:rPr lang="en-IN" sz="2400" i="1" dirty="0" smtClean="0">
                <a:latin typeface="+mj-lt"/>
              </a:rPr>
              <a:t>n</a:t>
            </a:r>
            <a:r>
              <a:rPr lang="en-IN" sz="2400" dirty="0" smtClean="0">
                <a:latin typeface="+mj-lt"/>
              </a:rPr>
              <a:t> independent trials that contains </a:t>
            </a:r>
            <a:r>
              <a:rPr lang="en-IN" sz="2400" i="1" dirty="0" smtClean="0">
                <a:latin typeface="+mj-lt"/>
              </a:rPr>
              <a:t>x</a:t>
            </a:r>
            <a:r>
              <a:rPr lang="en-IN" sz="2400" dirty="0" smtClean="0">
                <a:latin typeface="+mj-lt"/>
              </a:rPr>
              <a:t> successes and (</a:t>
            </a:r>
            <a:r>
              <a:rPr lang="en-IN" sz="2400" i="1" dirty="0" smtClean="0">
                <a:latin typeface="+mj-lt"/>
              </a:rPr>
              <a:t>n − x</a:t>
            </a:r>
            <a:r>
              <a:rPr lang="en-IN" sz="2400" dirty="0" smtClean="0">
                <a:latin typeface="+mj-lt"/>
              </a:rPr>
              <a:t>) failures is </a:t>
            </a:r>
            <a:endParaRPr lang="en-IN" sz="2400" dirty="0">
              <a:latin typeface="+mj-lt"/>
            </a:endParaRPr>
          </a:p>
        </p:txBody>
      </p:sp>
      <p:sp>
        <p:nvSpPr>
          <p:cNvPr id="8" name="Rectangle 7"/>
          <p:cNvSpPr/>
          <p:nvPr/>
        </p:nvSpPr>
        <p:spPr>
          <a:xfrm>
            <a:off x="457200" y="2209800"/>
            <a:ext cx="8458200" cy="461665"/>
          </a:xfrm>
          <a:prstGeom prst="rect">
            <a:avLst/>
          </a:prstGeom>
        </p:spPr>
        <p:txBody>
          <a:bodyPr wrap="square">
            <a:spAutoFit/>
          </a:bodyPr>
          <a:lstStyle/>
          <a:p>
            <a:r>
              <a:rPr lang="en-IN" sz="2400" dirty="0" smtClean="0">
                <a:latin typeface="+mj-lt"/>
              </a:rPr>
              <a:t>The total number of such sequences is equal to </a:t>
            </a:r>
            <a:endParaRPr lang="en-IN" sz="2400" dirty="0">
              <a:latin typeface="+mj-lt"/>
            </a:endParaRPr>
          </a:p>
        </p:txBody>
      </p:sp>
      <p:sp>
        <p:nvSpPr>
          <p:cNvPr id="9" name="Rectangle 8"/>
          <p:cNvSpPr/>
          <p:nvPr/>
        </p:nvSpPr>
        <p:spPr>
          <a:xfrm>
            <a:off x="304800" y="2895600"/>
            <a:ext cx="8534400" cy="830997"/>
          </a:xfrm>
          <a:prstGeom prst="rect">
            <a:avLst/>
          </a:prstGeom>
        </p:spPr>
        <p:txBody>
          <a:bodyPr wrap="square">
            <a:spAutoFit/>
          </a:bodyPr>
          <a:lstStyle/>
          <a:p>
            <a:r>
              <a:rPr lang="en-IN" sz="2400" dirty="0" smtClean="0">
                <a:latin typeface="+mj-lt"/>
              </a:rPr>
              <a:t>(i.e., the total number of possible combinations when we randomly select </a:t>
            </a:r>
            <a:r>
              <a:rPr lang="en-IN" sz="2400" i="1" dirty="0" smtClean="0">
                <a:latin typeface="+mj-lt"/>
              </a:rPr>
              <a:t>x </a:t>
            </a:r>
            <a:r>
              <a:rPr lang="en-IN" sz="2400" dirty="0" smtClean="0">
                <a:latin typeface="+mj-lt"/>
              </a:rPr>
              <a:t>objects out of </a:t>
            </a:r>
            <a:r>
              <a:rPr lang="en-IN" sz="2400" i="1" dirty="0" smtClean="0">
                <a:latin typeface="+mj-lt"/>
              </a:rPr>
              <a:t>n</a:t>
            </a:r>
            <a:r>
              <a:rPr lang="en-IN" sz="2400" dirty="0" smtClean="0">
                <a:latin typeface="+mj-lt"/>
              </a:rPr>
              <a:t> objects</a:t>
            </a:r>
            <a:endParaRPr lang="en-IN" sz="2400" dirty="0">
              <a:latin typeface="+mj-lt"/>
            </a:endParaRPr>
          </a:p>
        </p:txBody>
      </p:sp>
      <p:graphicFrame>
        <p:nvGraphicFramePr>
          <p:cNvPr id="10" name="Object 9"/>
          <p:cNvGraphicFramePr>
            <a:graphicFrameLocks noChangeAspect="1"/>
          </p:cNvGraphicFramePr>
          <p:nvPr/>
        </p:nvGraphicFramePr>
        <p:xfrm>
          <a:off x="3962400" y="1600200"/>
          <a:ext cx="1524000" cy="457200"/>
        </p:xfrm>
        <a:graphic>
          <a:graphicData uri="http://schemas.openxmlformats.org/presentationml/2006/ole">
            <p:oleObj spid="_x0000_s844857" name="Equation" r:id="rId3" imgW="761669" imgH="228501" progId="Equation.3">
              <p:embed/>
            </p:oleObj>
          </a:graphicData>
        </a:graphic>
      </p:graphicFrame>
      <p:pic>
        <p:nvPicPr>
          <p:cNvPr id="844802" name="Picture 2"/>
          <p:cNvPicPr>
            <a:picLocks noChangeAspect="1" noChangeArrowheads="1"/>
          </p:cNvPicPr>
          <p:nvPr/>
        </p:nvPicPr>
        <p:blipFill>
          <a:blip r:embed="rId4">
            <a:lum bright="-10000" contrast="20000"/>
          </a:blip>
          <a:srcRect/>
          <a:stretch>
            <a:fillRect/>
          </a:stretch>
        </p:blipFill>
        <p:spPr bwMode="auto">
          <a:xfrm>
            <a:off x="6400800" y="1905000"/>
            <a:ext cx="2482467" cy="990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Rectangle 6"/>
          <p:cNvSpPr/>
          <p:nvPr/>
        </p:nvSpPr>
        <p:spPr>
          <a:xfrm>
            <a:off x="214282" y="714356"/>
            <a:ext cx="8715436" cy="2308324"/>
          </a:xfrm>
          <a:prstGeom prst="rect">
            <a:avLst/>
          </a:prstGeom>
        </p:spPr>
        <p:txBody>
          <a:bodyPr wrap="square">
            <a:spAutoFit/>
          </a:bodyPr>
          <a:lstStyle/>
          <a:p>
            <a:r>
              <a:rPr lang="en-US" sz="2400" dirty="0" smtClean="0">
                <a:latin typeface="+mj-lt"/>
              </a:rPr>
              <a:t>Consider an exam that contains 10 multiple-choice </a:t>
            </a:r>
            <a:r>
              <a:rPr lang="en-US" sz="2400" dirty="0" err="1" smtClean="0">
                <a:latin typeface="+mj-lt"/>
              </a:rPr>
              <a:t>ques</a:t>
            </a:r>
            <a:r>
              <a:rPr lang="en-IN" sz="2400" dirty="0" err="1" smtClean="0">
                <a:latin typeface="+mj-lt"/>
              </a:rPr>
              <a:t>tions</a:t>
            </a:r>
            <a:r>
              <a:rPr lang="en-IN" sz="2400" dirty="0" smtClean="0">
                <a:latin typeface="+mj-lt"/>
              </a:rPr>
              <a:t> with 4 possible choices for each question, only one of which is correct. Suppose a student is to select the answer for every question randomly. Let </a:t>
            </a:r>
            <a:r>
              <a:rPr lang="en-IN" sz="2400" i="1" dirty="0" smtClean="0">
                <a:latin typeface="+mj-lt"/>
              </a:rPr>
              <a:t>X</a:t>
            </a:r>
            <a:r>
              <a:rPr lang="en-IN" sz="2400" dirty="0" smtClean="0">
                <a:latin typeface="+mj-lt"/>
              </a:rPr>
              <a:t> be the number of questions the student answers correctly. Then, X has a binomial distribution with parameters </a:t>
            </a:r>
            <a:r>
              <a:rPr lang="en-IN" sz="2400" i="1" dirty="0" smtClean="0">
                <a:latin typeface="+mj-lt"/>
              </a:rPr>
              <a:t>n</a:t>
            </a:r>
            <a:r>
              <a:rPr lang="en-IN" sz="2400" dirty="0" smtClean="0">
                <a:latin typeface="+mj-lt"/>
              </a:rPr>
              <a:t> = 10 and </a:t>
            </a:r>
            <a:r>
              <a:rPr lang="en-IN" sz="2400" i="1" dirty="0" smtClean="0">
                <a:latin typeface="+mj-lt"/>
              </a:rPr>
              <a:t>p</a:t>
            </a:r>
            <a:r>
              <a:rPr lang="en-IN" sz="2400" dirty="0" smtClean="0">
                <a:latin typeface="+mj-lt"/>
              </a:rPr>
              <a:t> = 0.25</a:t>
            </a:r>
            <a:r>
              <a:rPr lang="en-IN" sz="2400" dirty="0" smtClean="0"/>
              <a:t>.</a:t>
            </a:r>
            <a:endParaRPr lang="en-US" sz="2400" dirty="0"/>
          </a:p>
        </p:txBody>
      </p:sp>
      <p:sp>
        <p:nvSpPr>
          <p:cNvPr id="8" name="Rectangle 7"/>
          <p:cNvSpPr/>
          <p:nvPr/>
        </p:nvSpPr>
        <p:spPr>
          <a:xfrm>
            <a:off x="285720" y="3143248"/>
            <a:ext cx="8572560" cy="461665"/>
          </a:xfrm>
          <a:prstGeom prst="rect">
            <a:avLst/>
          </a:prstGeom>
        </p:spPr>
        <p:txBody>
          <a:bodyPr wrap="square">
            <a:spAutoFit/>
          </a:bodyPr>
          <a:lstStyle/>
          <a:p>
            <a:r>
              <a:rPr lang="en-IN" sz="2400" dirty="0" smtClean="0">
                <a:latin typeface="+mj-lt"/>
              </a:rPr>
              <a:t>What is the probability for the student to get </a:t>
            </a:r>
            <a:r>
              <a:rPr lang="en-IN" sz="2400" b="1" dirty="0" smtClean="0">
                <a:latin typeface="+mj-lt"/>
              </a:rPr>
              <a:t>no answer </a:t>
            </a:r>
            <a:r>
              <a:rPr lang="en-US" sz="2400" dirty="0" smtClean="0">
                <a:latin typeface="+mj-lt"/>
              </a:rPr>
              <a:t>correct?</a:t>
            </a:r>
            <a:endParaRPr lang="en-US" sz="2400" dirty="0">
              <a:latin typeface="+mj-lt"/>
            </a:endParaRPr>
          </a:p>
        </p:txBody>
      </p:sp>
      <p:pic>
        <p:nvPicPr>
          <p:cNvPr id="1048578"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1214414" y="4857760"/>
            <a:ext cx="6858048" cy="1500198"/>
          </a:xfrm>
          <a:prstGeom prst="rect">
            <a:avLst/>
          </a:prstGeom>
          <a:noFill/>
          <a:ln w="9525">
            <a:noFill/>
            <a:miter lim="800000"/>
            <a:headEnd/>
            <a:tailEnd/>
          </a:ln>
          <a:effectLst/>
        </p:spPr>
      </p:pic>
      <p:sp>
        <p:nvSpPr>
          <p:cNvPr id="9" name="TextBox 8"/>
          <p:cNvSpPr txBox="1"/>
          <p:nvPr/>
        </p:nvSpPr>
        <p:spPr>
          <a:xfrm>
            <a:off x="1071538" y="0"/>
            <a:ext cx="4214842" cy="461665"/>
          </a:xfrm>
          <a:prstGeom prst="rect">
            <a:avLst/>
          </a:prstGeom>
          <a:noFill/>
        </p:spPr>
        <p:txBody>
          <a:bodyPr wrap="square" rtlCol="0">
            <a:spAutoFit/>
          </a:bodyPr>
          <a:lstStyle/>
          <a:p>
            <a:r>
              <a:rPr lang="en-US" sz="2400" dirty="0" smtClean="0"/>
              <a:t>Examples</a:t>
            </a:r>
            <a:endParaRPr lang="en-US" sz="2400" dirty="0"/>
          </a:p>
        </p:txBody>
      </p:sp>
      <p:pic>
        <p:nvPicPr>
          <p:cNvPr id="10" name="Picture 1"/>
          <p:cNvPicPr>
            <a:picLocks noChangeAspect="1" noChangeArrowheads="1"/>
          </p:cNvPicPr>
          <p:nvPr/>
        </p:nvPicPr>
        <p:blipFill>
          <a:blip r:embed="rId3">
            <a:lum bright="-10000" contrast="20000"/>
          </a:blip>
          <a:srcRect/>
          <a:stretch>
            <a:fillRect/>
          </a:stretch>
        </p:blipFill>
        <p:spPr bwMode="auto">
          <a:xfrm>
            <a:off x="2285984" y="3643314"/>
            <a:ext cx="5029200" cy="990600"/>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72264" y="6492875"/>
            <a:ext cx="2133600" cy="365125"/>
          </a:xfrm>
        </p:spPr>
        <p:txBody>
          <a:bodyPr/>
          <a:lstStyle/>
          <a:p>
            <a:fld id="{B6F15528-21DE-4FAA-801E-634DDDAF4B2B}" type="slidenum">
              <a:rPr lang="en-US" smtClean="0"/>
              <a:pPr/>
              <a:t>66</a:t>
            </a:fld>
            <a:endParaRPr lang="en-US" dirty="0"/>
          </a:p>
        </p:txBody>
      </p:sp>
      <p:pic>
        <p:nvPicPr>
          <p:cNvPr id="1049602"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1000099" y="500042"/>
            <a:ext cx="7269889" cy="6000792"/>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9" name="Title 4"/>
          <p:cNvSpPr>
            <a:spLocks noGrp="1"/>
          </p:cNvSpPr>
          <p:nvPr>
            <p:ph type="title"/>
          </p:nvPr>
        </p:nvSpPr>
        <p:spPr>
          <a:xfrm>
            <a:off x="457200" y="0"/>
            <a:ext cx="8229600" cy="1143000"/>
          </a:xfrm>
        </p:spPr>
        <p:txBody>
          <a:bodyPr/>
          <a:lstStyle/>
          <a:p>
            <a:r>
              <a:rPr lang="en-CA" sz="3200" b="0" dirty="0" smtClean="0"/>
              <a:t>Mean and standard deviation</a:t>
            </a:r>
          </a:p>
        </p:txBody>
      </p:sp>
      <p:sp>
        <p:nvSpPr>
          <p:cNvPr id="6" name="Content Placeholder 5"/>
          <p:cNvSpPr>
            <a:spLocks noGrp="1"/>
          </p:cNvSpPr>
          <p:nvPr>
            <p:ph idx="1"/>
          </p:nvPr>
        </p:nvSpPr>
        <p:spPr>
          <a:xfrm>
            <a:off x="304800" y="990600"/>
            <a:ext cx="8686800" cy="5257800"/>
          </a:xfrm>
        </p:spPr>
        <p:txBody>
          <a:bodyPr/>
          <a:lstStyle/>
          <a:p>
            <a:pPr>
              <a:buFont typeface="Arial" pitchFamily="34" charset="0"/>
              <a:buChar char="•"/>
              <a:defRPr/>
            </a:pPr>
            <a:r>
              <a:rPr lang="en-CA" sz="2400" dirty="0" smtClean="0"/>
              <a:t>For a binomial distribution with </a:t>
            </a:r>
            <a:r>
              <a:rPr lang="en-CA" sz="2400" i="1" dirty="0" smtClean="0"/>
              <a:t>n</a:t>
            </a:r>
            <a:r>
              <a:rPr lang="en-CA" sz="2400" dirty="0" smtClean="0"/>
              <a:t> trials and </a:t>
            </a:r>
            <a:r>
              <a:rPr lang="en-CA" sz="2400" i="1" dirty="0" smtClean="0"/>
              <a:t>p</a:t>
            </a:r>
            <a:r>
              <a:rPr lang="en-CA" sz="2400" dirty="0" smtClean="0"/>
              <a:t> as the probability of success, the mean or expected value and variance of the random variable </a:t>
            </a:r>
            <a:r>
              <a:rPr lang="en-CA" sz="2400" i="1" dirty="0" smtClean="0"/>
              <a:t>x</a:t>
            </a:r>
            <a:r>
              <a:rPr lang="en-CA" sz="2400" dirty="0" smtClean="0"/>
              <a:t> is  </a:t>
            </a:r>
          </a:p>
          <a:p>
            <a:pPr>
              <a:buFont typeface="Arial" pitchFamily="34" charset="0"/>
              <a:buChar char="•"/>
              <a:defRPr/>
            </a:pPr>
            <a:endParaRPr lang="en-CA" sz="2400" dirty="0" smtClean="0"/>
          </a:p>
          <a:p>
            <a:pPr>
              <a:buFont typeface="Arial" pitchFamily="34" charset="0"/>
              <a:buChar char="•"/>
              <a:defRPr/>
            </a:pPr>
            <a:endParaRPr lang="en-CA" sz="2400" dirty="0" smtClean="0"/>
          </a:p>
          <a:p>
            <a:pPr marL="457200" indent="-457200">
              <a:buFont typeface="Arial" pitchFamily="34" charset="0"/>
              <a:buChar char="•"/>
              <a:defRPr/>
            </a:pPr>
            <a:endParaRPr lang="en-CA" sz="2400" dirty="0" smtClean="0"/>
          </a:p>
          <a:p>
            <a:pPr marL="457200" indent="-457200">
              <a:buFont typeface="Arial" pitchFamily="34" charset="0"/>
              <a:buChar char="•"/>
              <a:defRPr/>
            </a:pPr>
            <a:r>
              <a:rPr lang="en-CA" sz="2400" dirty="0" smtClean="0"/>
              <a:t>For the sex distribution of </a:t>
            </a:r>
            <a:r>
              <a:rPr lang="en-CA" sz="2400" i="1" dirty="0" smtClean="0"/>
              <a:t>n</a:t>
            </a:r>
            <a:r>
              <a:rPr lang="en-CA" sz="2400" dirty="0" smtClean="0"/>
              <a:t> = 3 individuals, the expected number of females selected is 3 × 0.5 = 1.5 and the variance is 3 × 0.5 × 0.5 = 0.75</a:t>
            </a:r>
          </a:p>
          <a:p>
            <a:pPr>
              <a:buFont typeface="Arial" pitchFamily="34" charset="0"/>
              <a:buChar char="•"/>
              <a:defRPr/>
            </a:pPr>
            <a:r>
              <a:rPr lang="en-CA" sz="2400" dirty="0" smtClean="0">
                <a:solidFill>
                  <a:srgbClr val="FF0000"/>
                </a:solidFill>
              </a:rPr>
              <a:t>For the experiment of selecting 13 individuals, the mean number of those with 14-17 years of education with p=0.357 is 13 × 0.357 = 4.64, the variance is 13 × 0.357 × 0.643 = 2.984, and the standard deviation is 1.727.</a:t>
            </a:r>
          </a:p>
          <a:p>
            <a:pPr>
              <a:buFont typeface="Arial" pitchFamily="34" charset="0"/>
              <a:buChar char="•"/>
              <a:defRPr/>
            </a:pPr>
            <a:endParaRPr lang="en-CA" dirty="0"/>
          </a:p>
        </p:txBody>
      </p:sp>
      <p:graphicFrame>
        <p:nvGraphicFramePr>
          <p:cNvPr id="9218" name="Object 2"/>
          <p:cNvGraphicFramePr>
            <a:graphicFrameLocks noChangeAspect="1"/>
          </p:cNvGraphicFramePr>
          <p:nvPr>
            <p:extLst>
              <p:ext uri="{D42A27DB-BD31-4B8C-83A1-F6EECF244321}">
                <p14:modId xmlns="" xmlns:p14="http://schemas.microsoft.com/office/powerpoint/2010/main" val="2057640989"/>
              </p:ext>
            </p:extLst>
          </p:nvPr>
        </p:nvGraphicFramePr>
        <p:xfrm>
          <a:off x="2667000" y="1981200"/>
          <a:ext cx="3429000" cy="1063625"/>
        </p:xfrm>
        <a:graphic>
          <a:graphicData uri="http://schemas.openxmlformats.org/presentationml/2006/ole">
            <p:oleObj spid="_x0000_s921639" name="Equation" r:id="rId4" imgW="1473200" imgH="457200" progId="Equation.3">
              <p:embed/>
            </p:oleObj>
          </a:graphicData>
        </a:graphic>
      </p:graphicFrame>
    </p:spTree>
    <p:extLst>
      <p:ext uri="{BB962C8B-B14F-4D97-AF65-F5344CB8AC3E}">
        <p14:creationId xmlns="" xmlns:p14="http://schemas.microsoft.com/office/powerpoint/2010/main" val="2973061977"/>
      </p:ext>
    </p:extLst>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00826" y="6492875"/>
            <a:ext cx="2133600" cy="365125"/>
          </a:xfrm>
        </p:spPr>
        <p:txBody>
          <a:bodyPr/>
          <a:lstStyle/>
          <a:p>
            <a:fld id="{B6F15528-21DE-4FAA-801E-634DDDAF4B2B}" type="slidenum">
              <a:rPr lang="en-US" smtClean="0"/>
              <a:pPr/>
              <a:t>68</a:t>
            </a:fld>
            <a:endParaRPr lang="en-US" dirty="0"/>
          </a:p>
        </p:txBody>
      </p:sp>
      <p:sp>
        <p:nvSpPr>
          <p:cNvPr id="9" name="Rectangle 8"/>
          <p:cNvSpPr/>
          <p:nvPr/>
        </p:nvSpPr>
        <p:spPr>
          <a:xfrm>
            <a:off x="3048000" y="0"/>
            <a:ext cx="3456395" cy="584775"/>
          </a:xfrm>
          <a:prstGeom prst="rect">
            <a:avLst/>
          </a:prstGeom>
        </p:spPr>
        <p:txBody>
          <a:bodyPr wrap="none">
            <a:spAutoFit/>
          </a:bodyPr>
          <a:lstStyle/>
          <a:p>
            <a:r>
              <a:rPr lang="en-US" sz="3200" dirty="0" smtClean="0">
                <a:latin typeface="+mj-lt"/>
              </a:rPr>
              <a:t>Poisson distribution</a:t>
            </a:r>
            <a:endParaRPr lang="en-GB" sz="3200" dirty="0">
              <a:latin typeface="+mj-lt"/>
            </a:endParaRPr>
          </a:p>
        </p:txBody>
      </p:sp>
      <p:grpSp>
        <p:nvGrpSpPr>
          <p:cNvPr id="10" name="Group 4"/>
          <p:cNvGrpSpPr>
            <a:grpSpLocks/>
          </p:cNvGrpSpPr>
          <p:nvPr/>
        </p:nvGrpSpPr>
        <p:grpSpPr bwMode="auto">
          <a:xfrm>
            <a:off x="3000364" y="2214554"/>
            <a:ext cx="2216150" cy="919163"/>
            <a:chOff x="1142" y="3024"/>
            <a:chExt cx="1396" cy="579"/>
          </a:xfrm>
        </p:grpSpPr>
        <p:sp>
          <p:nvSpPr>
            <p:cNvPr id="11" name="Text Box 5"/>
            <p:cNvSpPr txBox="1">
              <a:spLocks noChangeArrowheads="1"/>
            </p:cNvSpPr>
            <p:nvPr/>
          </p:nvSpPr>
          <p:spPr bwMode="auto">
            <a:xfrm>
              <a:off x="1142" y="3168"/>
              <a:ext cx="953" cy="291"/>
            </a:xfrm>
            <a:prstGeom prst="rect">
              <a:avLst/>
            </a:prstGeom>
            <a:noFill/>
            <a:ln w="9525">
              <a:noFill/>
              <a:miter lim="800000"/>
              <a:headEnd/>
              <a:tailEnd/>
            </a:ln>
            <a:effectLst/>
          </p:spPr>
          <p:txBody>
            <a:bodyPr wrap="none">
              <a:spAutoFit/>
            </a:bodyPr>
            <a:lstStyle/>
            <a:p>
              <a:r>
                <a:rPr lang="en-US" sz="2400" i="1" dirty="0" smtClean="0">
                  <a:latin typeface="+mj-lt"/>
                </a:rPr>
                <a:t>P</a:t>
              </a:r>
              <a:r>
                <a:rPr lang="en-US" sz="2400" dirty="0" smtClean="0">
                  <a:latin typeface="+mj-lt"/>
                </a:rPr>
                <a:t>(X = </a:t>
              </a:r>
              <a:r>
                <a:rPr lang="en-US" sz="2400" i="1" dirty="0" smtClean="0">
                  <a:latin typeface="+mj-lt"/>
                </a:rPr>
                <a:t>x</a:t>
              </a:r>
              <a:r>
                <a:rPr lang="en-US" sz="2400" dirty="0">
                  <a:latin typeface="+mj-lt"/>
                </a:rPr>
                <a:t>) =</a:t>
              </a:r>
            </a:p>
          </p:txBody>
        </p:sp>
        <p:sp>
          <p:nvSpPr>
            <p:cNvPr id="12" name="Text Box 6"/>
            <p:cNvSpPr txBox="1">
              <a:spLocks noChangeArrowheads="1"/>
            </p:cNvSpPr>
            <p:nvPr/>
          </p:nvSpPr>
          <p:spPr bwMode="auto">
            <a:xfrm>
              <a:off x="2016" y="3024"/>
              <a:ext cx="522" cy="291"/>
            </a:xfrm>
            <a:prstGeom prst="rect">
              <a:avLst/>
            </a:prstGeom>
            <a:noFill/>
            <a:ln w="9525">
              <a:noFill/>
              <a:miter lim="800000"/>
              <a:headEnd/>
              <a:tailEnd/>
            </a:ln>
            <a:effectLst/>
          </p:spPr>
          <p:txBody>
            <a:bodyPr wrap="none">
              <a:spAutoFit/>
            </a:bodyPr>
            <a:lstStyle/>
            <a:p>
              <a:r>
                <a:rPr lang="en-US" sz="2400" i="1" dirty="0">
                  <a:latin typeface="+mj-lt"/>
                </a:rPr>
                <a:t>e</a:t>
              </a:r>
              <a:r>
                <a:rPr lang="en-US" sz="2400" i="1" baseline="30000" dirty="0">
                  <a:latin typeface="+mj-lt"/>
                </a:rPr>
                <a:t> -µ</a:t>
              </a:r>
              <a:r>
                <a:rPr lang="en-US" sz="2400" i="1" dirty="0">
                  <a:latin typeface="+mj-lt"/>
                </a:rPr>
                <a:t>µ</a:t>
              </a:r>
              <a:r>
                <a:rPr lang="en-US" sz="2400" i="1" baseline="30000" dirty="0">
                  <a:latin typeface="+mj-lt"/>
                </a:rPr>
                <a:t>x</a:t>
              </a:r>
            </a:p>
          </p:txBody>
        </p:sp>
        <p:sp>
          <p:nvSpPr>
            <p:cNvPr id="13" name="Text Box 7"/>
            <p:cNvSpPr txBox="1">
              <a:spLocks noChangeArrowheads="1"/>
            </p:cNvSpPr>
            <p:nvPr/>
          </p:nvSpPr>
          <p:spPr bwMode="auto">
            <a:xfrm>
              <a:off x="2112" y="3312"/>
              <a:ext cx="267" cy="291"/>
            </a:xfrm>
            <a:prstGeom prst="rect">
              <a:avLst/>
            </a:prstGeom>
            <a:noFill/>
            <a:ln w="9525">
              <a:noFill/>
              <a:miter lim="800000"/>
              <a:headEnd/>
              <a:tailEnd/>
            </a:ln>
            <a:effectLst/>
          </p:spPr>
          <p:txBody>
            <a:bodyPr wrap="none">
              <a:spAutoFit/>
            </a:bodyPr>
            <a:lstStyle/>
            <a:p>
              <a:r>
                <a:rPr lang="en-US" sz="2400" i="1" dirty="0">
                  <a:latin typeface="+mj-lt"/>
                </a:rPr>
                <a:t>x</a:t>
              </a:r>
              <a:r>
                <a:rPr lang="en-US" sz="2400" dirty="0">
                  <a:latin typeface="+mj-lt"/>
                </a:rPr>
                <a:t>!</a:t>
              </a:r>
              <a:endParaRPr lang="en-US" sz="2400" baseline="30000" dirty="0">
                <a:latin typeface="+mj-lt"/>
              </a:endParaRPr>
            </a:p>
          </p:txBody>
        </p:sp>
        <p:sp>
          <p:nvSpPr>
            <p:cNvPr id="14" name="Line 8"/>
            <p:cNvSpPr>
              <a:spLocks noChangeShapeType="1"/>
            </p:cNvSpPr>
            <p:nvPr/>
          </p:nvSpPr>
          <p:spPr bwMode="auto">
            <a:xfrm>
              <a:off x="2016" y="3312"/>
              <a:ext cx="480" cy="0"/>
            </a:xfrm>
            <a:prstGeom prst="line">
              <a:avLst/>
            </a:prstGeom>
            <a:noFill/>
            <a:ln w="9525">
              <a:solidFill>
                <a:schemeClr val="tx1"/>
              </a:solidFill>
              <a:round/>
              <a:headEnd/>
              <a:tailEnd/>
            </a:ln>
            <a:effectLst/>
          </p:spPr>
          <p:txBody>
            <a:bodyPr/>
            <a:lstStyle/>
            <a:p>
              <a:endParaRPr lang="en-GB">
                <a:latin typeface="+mj-lt"/>
              </a:endParaRPr>
            </a:p>
          </p:txBody>
        </p:sp>
      </p:grpSp>
      <p:sp>
        <p:nvSpPr>
          <p:cNvPr id="15" name="Rectangle 14"/>
          <p:cNvSpPr/>
          <p:nvPr/>
        </p:nvSpPr>
        <p:spPr>
          <a:xfrm>
            <a:off x="381000" y="4549676"/>
            <a:ext cx="8534400" cy="1938992"/>
          </a:xfrm>
          <a:prstGeom prst="rect">
            <a:avLst/>
          </a:prstGeom>
        </p:spPr>
        <p:txBody>
          <a:bodyPr wrap="square">
            <a:spAutoFit/>
          </a:bodyPr>
          <a:lstStyle/>
          <a:p>
            <a:r>
              <a:rPr lang="en-IN" sz="2400" dirty="0" smtClean="0">
                <a:latin typeface="+mj-lt"/>
              </a:rPr>
              <a:t>For a given time interval of interest, in an application, μ can</a:t>
            </a:r>
          </a:p>
          <a:p>
            <a:r>
              <a:rPr lang="en-IN" sz="2400" dirty="0" smtClean="0">
                <a:latin typeface="+mj-lt"/>
              </a:rPr>
              <a:t>be specified as  </a:t>
            </a:r>
            <a:r>
              <a:rPr lang="el-GR" sz="2400" dirty="0" smtClean="0">
                <a:latin typeface="+mj-lt"/>
              </a:rPr>
              <a:t>λ</a:t>
            </a:r>
            <a:r>
              <a:rPr lang="en-IN" sz="2400" dirty="0" smtClean="0">
                <a:latin typeface="+mj-lt"/>
              </a:rPr>
              <a:t> times the length of that interval </a:t>
            </a:r>
            <a:r>
              <a:rPr lang="en-IN" sz="2400" i="1" dirty="0" smtClean="0">
                <a:latin typeface="+mj-lt"/>
              </a:rPr>
              <a:t>t</a:t>
            </a:r>
            <a:r>
              <a:rPr lang="en-IN" sz="2400" dirty="0" smtClean="0">
                <a:latin typeface="+mj-lt"/>
              </a:rPr>
              <a:t>. </a:t>
            </a:r>
            <a:r>
              <a:rPr lang="en-GB" sz="2400" dirty="0" smtClean="0">
                <a:solidFill>
                  <a:srgbClr val="000000"/>
                </a:solidFill>
                <a:latin typeface="Times New Roman"/>
              </a:rPr>
              <a:t>It </a:t>
            </a:r>
            <a:r>
              <a:rPr lang="en-IN" sz="2400" dirty="0" smtClean="0">
                <a:solidFill>
                  <a:srgbClr val="000000"/>
                </a:solidFill>
                <a:latin typeface="Times New Roman"/>
              </a:rPr>
              <a:t>usually is applicable in situations where random “events” occur at a certain rate over a period of time</a:t>
            </a:r>
            <a:r>
              <a:rPr lang="en-IN" sz="2400" dirty="0" smtClean="0">
                <a:solidFill>
                  <a:srgbClr val="000000"/>
                </a:solidFill>
              </a:rPr>
              <a:t>. </a:t>
            </a:r>
            <a:r>
              <a:rPr lang="en-IN" sz="2400" i="1" dirty="0" smtClean="0">
                <a:solidFill>
                  <a:srgbClr val="000000"/>
                </a:solidFill>
                <a:latin typeface="Times New Roman"/>
              </a:rPr>
              <a:t>X</a:t>
            </a:r>
            <a:r>
              <a:rPr lang="en-IN" sz="2400" dirty="0" smtClean="0">
                <a:solidFill>
                  <a:srgbClr val="000000"/>
                </a:solidFill>
                <a:latin typeface="Times New Roman"/>
              </a:rPr>
              <a:t> be the total number of events in that time interval. </a:t>
            </a:r>
            <a:endParaRPr lang="en-US" sz="2400" dirty="0" smtClean="0">
              <a:solidFill>
                <a:srgbClr val="000000"/>
              </a:solidFill>
              <a:latin typeface="Times New Roman"/>
            </a:endParaRPr>
          </a:p>
        </p:txBody>
      </p:sp>
      <p:sp>
        <p:nvSpPr>
          <p:cNvPr id="16" name="Text Box 5"/>
          <p:cNvSpPr txBox="1">
            <a:spLocks noChangeArrowheads="1"/>
          </p:cNvSpPr>
          <p:nvPr/>
        </p:nvSpPr>
        <p:spPr bwMode="auto">
          <a:xfrm>
            <a:off x="533400" y="3733800"/>
            <a:ext cx="8229600" cy="830997"/>
          </a:xfrm>
          <a:prstGeom prst="rect">
            <a:avLst/>
          </a:prstGeom>
          <a:noFill/>
          <a:ln w="9525">
            <a:noFill/>
            <a:miter lim="800000"/>
            <a:headEnd/>
            <a:tailEnd/>
          </a:ln>
        </p:spPr>
        <p:txBody>
          <a:bodyPr wrap="square">
            <a:spAutoFit/>
          </a:bodyPr>
          <a:lstStyle/>
          <a:p>
            <a:r>
              <a:rPr lang="en-US" sz="2400" i="1" dirty="0" smtClean="0">
                <a:latin typeface="Times New Roman" pitchFamily="18" charset="0"/>
              </a:rPr>
              <a:t>P(X)</a:t>
            </a:r>
            <a:r>
              <a:rPr lang="en-US" sz="2400" dirty="0">
                <a:latin typeface="Times New Roman" pitchFamily="18" charset="0"/>
              </a:rPr>
              <a:t>	probability of getting </a:t>
            </a:r>
            <a:r>
              <a:rPr lang="en-US" sz="2400" i="1" dirty="0">
                <a:latin typeface="Times New Roman" pitchFamily="18" charset="0"/>
              </a:rPr>
              <a:t>n</a:t>
            </a:r>
            <a:r>
              <a:rPr lang="en-US" sz="2400" dirty="0">
                <a:latin typeface="Times New Roman" pitchFamily="18" charset="0"/>
              </a:rPr>
              <a:t> counts </a:t>
            </a:r>
            <a:r>
              <a:rPr lang="en-US" sz="2400" dirty="0" smtClean="0">
                <a:latin typeface="Times New Roman" pitchFamily="18" charset="0"/>
              </a:rPr>
              <a:t>(</a:t>
            </a:r>
            <a:r>
              <a:rPr lang="en-US" sz="2400" i="1" dirty="0" smtClean="0">
                <a:latin typeface="Times New Roman" pitchFamily="18" charset="0"/>
              </a:rPr>
              <a:t>x</a:t>
            </a:r>
            <a:r>
              <a:rPr lang="en-US" sz="2400" dirty="0" smtClean="0">
                <a:latin typeface="Times New Roman" pitchFamily="18" charset="0"/>
              </a:rPr>
              <a:t> = 0</a:t>
            </a:r>
            <a:r>
              <a:rPr lang="en-US" sz="2400" dirty="0">
                <a:latin typeface="Times New Roman" pitchFamily="18" charset="0"/>
              </a:rPr>
              <a:t>, 1, 2,...)</a:t>
            </a:r>
          </a:p>
          <a:p>
            <a:r>
              <a:rPr lang="el-GR" sz="2400" i="1" dirty="0">
                <a:latin typeface="Times New Roman" pitchFamily="18" charset="0"/>
              </a:rPr>
              <a:t>μ</a:t>
            </a:r>
            <a:r>
              <a:rPr lang="en-US" sz="2400" dirty="0">
                <a:latin typeface="Times New Roman" pitchFamily="18" charset="0"/>
              </a:rPr>
              <a:t> 	average of </a:t>
            </a:r>
            <a:r>
              <a:rPr lang="en-US" sz="2400" dirty="0" smtClean="0">
                <a:latin typeface="Times New Roman" pitchFamily="18" charset="0"/>
              </a:rPr>
              <a:t>distribution or parameter of distribution</a:t>
            </a:r>
            <a:endParaRPr lang="en-US" sz="2400" dirty="0">
              <a:latin typeface="Times New Roman" pitchFamily="18" charset="0"/>
            </a:endParaRPr>
          </a:p>
        </p:txBody>
      </p:sp>
      <p:sp>
        <p:nvSpPr>
          <p:cNvPr id="17" name="Rectangle 16"/>
          <p:cNvSpPr/>
          <p:nvPr/>
        </p:nvSpPr>
        <p:spPr>
          <a:xfrm>
            <a:off x="533400" y="685800"/>
            <a:ext cx="8610600" cy="1615827"/>
          </a:xfrm>
          <a:prstGeom prst="rect">
            <a:avLst/>
          </a:prstGeom>
        </p:spPr>
        <p:txBody>
          <a:bodyPr wrap="square">
            <a:spAutoFit/>
          </a:bodyPr>
          <a:lstStyle/>
          <a:p>
            <a:pPr>
              <a:lnSpc>
                <a:spcPts val="3000"/>
              </a:lnSpc>
            </a:pPr>
            <a:r>
              <a:rPr lang="en-US" sz="2400" dirty="0" smtClean="0">
                <a:latin typeface="+mj-lt"/>
              </a:rPr>
              <a:t>When there is </a:t>
            </a:r>
            <a:r>
              <a:rPr lang="en-US" sz="2400" dirty="0" smtClean="0">
                <a:solidFill>
                  <a:srgbClr val="0000CC"/>
                </a:solidFill>
                <a:latin typeface="+mj-lt"/>
              </a:rPr>
              <a:t>a large number of trials, but a small probability of success,</a:t>
            </a:r>
            <a:r>
              <a:rPr lang="en-US" sz="2400" dirty="0" smtClean="0">
                <a:latin typeface="+mj-lt"/>
              </a:rPr>
              <a:t> binomial calculation becomes impractical. Then we can have </a:t>
            </a:r>
            <a:r>
              <a:rPr lang="en-US" sz="2400" dirty="0" smtClean="0">
                <a:solidFill>
                  <a:srgbClr val="0000CC"/>
                </a:solidFill>
                <a:latin typeface="+mj-lt"/>
              </a:rPr>
              <a:t>Poisson distribution</a:t>
            </a:r>
            <a:r>
              <a:rPr lang="en-US" sz="2400" dirty="0" smtClean="0">
                <a:latin typeface="+mj-lt"/>
              </a:rPr>
              <a:t>. </a:t>
            </a:r>
            <a:endParaRPr lang="en-US" sz="2400" i="1" dirty="0" smtClean="0">
              <a:latin typeface="+mj-lt"/>
            </a:endParaRPr>
          </a:p>
          <a:p>
            <a:endParaRPr lang="en-US" sz="24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idx="4294967295"/>
          </p:nvPr>
        </p:nvSpPr>
        <p:spPr>
          <a:xfrm>
            <a:off x="838200" y="0"/>
            <a:ext cx="7772400" cy="720725"/>
          </a:xfrm>
          <a:prstGeom prst="rect">
            <a:avLst/>
          </a:prstGeom>
          <a:noFill/>
        </p:spPr>
        <p:txBody>
          <a:bodyPr/>
          <a:lstStyle/>
          <a:p>
            <a:pPr eaLnBrk="1" hangingPunct="1"/>
            <a:r>
              <a:rPr lang="nl-NL" b="0" dirty="0" smtClean="0"/>
              <a:t>Poisson distribution of data</a:t>
            </a:r>
            <a:endParaRPr lang="en-US" b="0" dirty="0" smtClean="0"/>
          </a:p>
        </p:txBody>
      </p:sp>
      <p:sp>
        <p:nvSpPr>
          <p:cNvPr id="4100" name="Rectangle 3"/>
          <p:cNvSpPr>
            <a:spLocks noGrp="1" noChangeArrowheads="1"/>
          </p:cNvSpPr>
          <p:nvPr>
            <p:ph type="body" sz="half" idx="1"/>
          </p:nvPr>
        </p:nvSpPr>
        <p:spPr>
          <a:xfrm>
            <a:off x="762000" y="1268413"/>
            <a:ext cx="3949700" cy="5400675"/>
          </a:xfrm>
        </p:spPr>
        <p:txBody>
          <a:bodyPr/>
          <a:lstStyle/>
          <a:p>
            <a:pPr eaLnBrk="1" hangingPunct="1">
              <a:buFontTx/>
              <a:buNone/>
            </a:pPr>
            <a:endParaRPr lang="en-US" sz="1800" smtClean="0"/>
          </a:p>
          <a:p>
            <a:pPr eaLnBrk="1" hangingPunct="1">
              <a:buFontTx/>
              <a:buNone/>
            </a:pPr>
            <a:endParaRPr lang="en-US" sz="1800" smtClean="0"/>
          </a:p>
          <a:p>
            <a:pPr eaLnBrk="1" hangingPunct="1">
              <a:buFontTx/>
              <a:buNone/>
            </a:pPr>
            <a:endParaRPr lang="en-US" sz="1800" smtClean="0"/>
          </a:p>
        </p:txBody>
      </p:sp>
      <p:pic>
        <p:nvPicPr>
          <p:cNvPr id="4102" name="Picture 6" descr="Plot of the Poisson PMF">
            <a:hlinkClick r:id="rId3" tooltip="Plot of the Poisson PMF"/>
          </p:cNvPr>
          <p:cNvPicPr>
            <a:picLocks noChangeAspect="1" noChangeArrowheads="1"/>
          </p:cNvPicPr>
          <p:nvPr/>
        </p:nvPicPr>
        <p:blipFill>
          <a:blip r:embed="rId4"/>
          <a:srcRect/>
          <a:stretch>
            <a:fillRect/>
          </a:stretch>
        </p:blipFill>
        <p:spPr bwMode="auto">
          <a:xfrm>
            <a:off x="2071140" y="2133600"/>
            <a:ext cx="4644000" cy="3486621"/>
          </a:xfrm>
          <a:prstGeom prst="rect">
            <a:avLst/>
          </a:prstGeom>
          <a:noFill/>
          <a:ln w="9525">
            <a:noFill/>
            <a:miter lim="800000"/>
            <a:headEnd/>
            <a:tailEnd/>
          </a:ln>
        </p:spPr>
      </p:pic>
      <p:sp>
        <p:nvSpPr>
          <p:cNvPr id="8" name="Date Placeholder 7"/>
          <p:cNvSpPr>
            <a:spLocks noGrp="1"/>
          </p:cNvSpPr>
          <p:nvPr>
            <p:ph type="dt" sz="half" idx="10"/>
          </p:nvPr>
        </p:nvSpPr>
        <p:spPr/>
        <p:txBody>
          <a:bodyPr/>
          <a:lstStyle/>
          <a:p>
            <a:r>
              <a:rPr lang="en-US" smtClean="0"/>
              <a:t>Prof. A. K. Datta     University of Calcutta</a:t>
            </a:r>
            <a:endParaRPr lang="en-IN" dirty="0"/>
          </a:p>
        </p:txBody>
      </p:sp>
      <p:sp>
        <p:nvSpPr>
          <p:cNvPr id="9" name="Slide Number Placeholder 8"/>
          <p:cNvSpPr>
            <a:spLocks noGrp="1"/>
          </p:cNvSpPr>
          <p:nvPr>
            <p:ph type="sldNum" sz="quarter" idx="11"/>
          </p:nvPr>
        </p:nvSpPr>
        <p:spPr/>
        <p:txBody>
          <a:bodyPr/>
          <a:lstStyle/>
          <a:p>
            <a:fld id="{BF2D74FB-8EB9-4DEE-8258-980F8375AF4A}" type="slidenum">
              <a:rPr lang="en-IN" smtClean="0"/>
              <a:pPr/>
              <a:t>69</a:t>
            </a:fld>
            <a:endParaRPr lang="en-IN" dirty="0"/>
          </a:p>
        </p:txBody>
      </p:sp>
      <p:sp>
        <p:nvSpPr>
          <p:cNvPr id="10" name="Footer Placeholder 9"/>
          <p:cNvSpPr>
            <a:spLocks noGrp="1"/>
          </p:cNvSpPr>
          <p:nvPr>
            <p:ph type="ftr" sz="quarter" idx="12"/>
          </p:nvPr>
        </p:nvSpPr>
        <p:spPr/>
        <p:txBody>
          <a:bodyPr/>
          <a:lstStyle/>
          <a:p>
            <a:r>
              <a:rPr lang="en-IN" smtClean="0"/>
              <a:t>Ph.D Course Work on Research Methodology</a:t>
            </a:r>
            <a:endParaRPr lang="en-IN" dirty="0"/>
          </a:p>
        </p:txBody>
      </p:sp>
      <p:sp>
        <p:nvSpPr>
          <p:cNvPr id="11" name="Rectangle 10"/>
          <p:cNvSpPr/>
          <p:nvPr/>
        </p:nvSpPr>
        <p:spPr>
          <a:xfrm>
            <a:off x="381000" y="762000"/>
            <a:ext cx="8534400" cy="830997"/>
          </a:xfrm>
          <a:prstGeom prst="rect">
            <a:avLst/>
          </a:prstGeom>
        </p:spPr>
        <p:txBody>
          <a:bodyPr wrap="square">
            <a:spAutoFit/>
          </a:bodyPr>
          <a:lstStyle/>
          <a:p>
            <a:r>
              <a:rPr lang="en-GB" sz="2400" dirty="0" smtClean="0">
                <a:latin typeface="+mj-lt"/>
              </a:rPr>
              <a:t>. </a:t>
            </a:r>
            <a:r>
              <a:rPr lang="en-IN" sz="2400" dirty="0" smtClean="0">
                <a:latin typeface="+mj-lt"/>
              </a:rPr>
              <a:t>Let </a:t>
            </a:r>
            <a:r>
              <a:rPr lang="en-IN" sz="2400" i="1" dirty="0" smtClean="0">
                <a:latin typeface="+mj-lt"/>
              </a:rPr>
              <a:t>μ= </a:t>
            </a:r>
            <a:r>
              <a:rPr lang="el-GR" sz="2400" i="1" dirty="0" smtClean="0">
                <a:latin typeface="+mj-lt"/>
              </a:rPr>
              <a:t>λ</a:t>
            </a:r>
            <a:r>
              <a:rPr lang="en-IN" sz="2400" i="1" dirty="0" smtClean="0">
                <a:latin typeface="+mj-lt"/>
              </a:rPr>
              <a:t> t </a:t>
            </a:r>
            <a:r>
              <a:rPr lang="en-IN" sz="2400" dirty="0" smtClean="0">
                <a:latin typeface="+mj-lt"/>
              </a:rPr>
              <a:t>; then, </a:t>
            </a:r>
            <a:r>
              <a:rPr lang="en-IN" sz="2400" i="1" dirty="0" smtClean="0">
                <a:latin typeface="+mj-lt"/>
              </a:rPr>
              <a:t>μ</a:t>
            </a:r>
            <a:r>
              <a:rPr lang="en-IN" sz="2400" dirty="0" smtClean="0">
                <a:latin typeface="+mj-lt"/>
              </a:rPr>
              <a:t> can be interpreted as the average, or mean, number of events in an interval of length </a:t>
            </a:r>
            <a:r>
              <a:rPr lang="en-IN" sz="2400" i="1" dirty="0" smtClean="0">
                <a:latin typeface="+mj-lt"/>
              </a:rPr>
              <a:t>t</a:t>
            </a:r>
            <a:r>
              <a:rPr lang="en-IN" sz="2400" dirty="0" smtClean="0">
                <a:latin typeface="+mj-lt"/>
              </a:rPr>
              <a:t>.</a:t>
            </a:r>
            <a:endParaRPr lang="en-GB" sz="2400" dirty="0">
              <a:latin typeface="+mj-lt"/>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70</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pic>
        <p:nvPicPr>
          <p:cNvPr id="1050626"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357158" y="785794"/>
            <a:ext cx="8358246" cy="3643338"/>
          </a:xfrm>
          <a:prstGeom prst="rect">
            <a:avLst/>
          </a:prstGeom>
          <a:noFill/>
          <a:ln w="9525">
            <a:noFill/>
            <a:miter lim="800000"/>
            <a:headEnd/>
            <a:tailEnd/>
          </a:ln>
          <a:effectLst/>
        </p:spPr>
      </p:pic>
      <p:sp>
        <p:nvSpPr>
          <p:cNvPr id="7" name="TextBox 6"/>
          <p:cNvSpPr txBox="1"/>
          <p:nvPr/>
        </p:nvSpPr>
        <p:spPr>
          <a:xfrm>
            <a:off x="1357290" y="0"/>
            <a:ext cx="6500858" cy="461665"/>
          </a:xfrm>
          <a:prstGeom prst="rect">
            <a:avLst/>
          </a:prstGeom>
          <a:noFill/>
        </p:spPr>
        <p:txBody>
          <a:bodyPr wrap="square" rtlCol="0">
            <a:spAutoFit/>
          </a:bodyPr>
          <a:lstStyle/>
          <a:p>
            <a:r>
              <a:rPr lang="en-US" sz="2400" dirty="0" smtClean="0">
                <a:latin typeface="+mj-lt"/>
              </a:rPr>
              <a:t>Examples</a:t>
            </a:r>
            <a:endParaRPr lang="en-US" sz="2400" dirty="0">
              <a:latin typeface="+mj-l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71</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pic>
        <p:nvPicPr>
          <p:cNvPr id="1051650"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1214414" y="642918"/>
            <a:ext cx="6988418" cy="5715040"/>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72</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
        <p:nvSpPr>
          <p:cNvPr id="7" name="Rectangle 6"/>
          <p:cNvSpPr/>
          <p:nvPr/>
        </p:nvSpPr>
        <p:spPr>
          <a:xfrm>
            <a:off x="2362200" y="0"/>
            <a:ext cx="5472458" cy="523220"/>
          </a:xfrm>
          <a:prstGeom prst="rect">
            <a:avLst/>
          </a:prstGeom>
        </p:spPr>
        <p:txBody>
          <a:bodyPr wrap="square">
            <a:spAutoFit/>
          </a:bodyPr>
          <a:lstStyle/>
          <a:p>
            <a:r>
              <a:rPr lang="en-IN" sz="2800" dirty="0" smtClean="0">
                <a:latin typeface="+mj-lt"/>
              </a:rPr>
              <a:t>General Continuous Distributions</a:t>
            </a:r>
            <a:r>
              <a:rPr lang="en-IN" dirty="0" smtClean="0"/>
              <a:t>.</a:t>
            </a:r>
            <a:endParaRPr lang="en-IN" dirty="0"/>
          </a:p>
        </p:txBody>
      </p:sp>
      <p:sp>
        <p:nvSpPr>
          <p:cNvPr id="8" name="Rectangle 7"/>
          <p:cNvSpPr/>
          <p:nvPr/>
        </p:nvSpPr>
        <p:spPr>
          <a:xfrm>
            <a:off x="152400" y="762000"/>
            <a:ext cx="8763000" cy="2113720"/>
          </a:xfrm>
          <a:prstGeom prst="rect">
            <a:avLst/>
          </a:prstGeom>
        </p:spPr>
        <p:txBody>
          <a:bodyPr wrap="square">
            <a:spAutoFit/>
          </a:bodyPr>
          <a:lstStyle/>
          <a:p>
            <a:pPr>
              <a:lnSpc>
                <a:spcPts val="3200"/>
              </a:lnSpc>
            </a:pPr>
            <a:r>
              <a:rPr lang="en-IN" sz="2400" dirty="0" smtClean="0">
                <a:latin typeface="+mj-lt"/>
              </a:rPr>
              <a:t>A continuous random variable or distribution is defined via a  probability density function. Let </a:t>
            </a:r>
            <a:r>
              <a:rPr lang="en-IN" sz="2400" i="1" dirty="0" smtClean="0">
                <a:latin typeface="+mj-lt"/>
              </a:rPr>
              <a:t>f</a:t>
            </a:r>
            <a:r>
              <a:rPr lang="en-IN" sz="2400" dirty="0" smtClean="0">
                <a:latin typeface="+mj-lt"/>
              </a:rPr>
              <a:t>(x) (nonnegative) be the density function of variable </a:t>
            </a:r>
            <a:r>
              <a:rPr lang="en-IN" sz="2400" i="1" dirty="0" smtClean="0">
                <a:latin typeface="+mj-lt"/>
              </a:rPr>
              <a:t>X</a:t>
            </a:r>
            <a:r>
              <a:rPr lang="en-IN" sz="2400" dirty="0" smtClean="0">
                <a:latin typeface="+mj-lt"/>
              </a:rPr>
              <a:t>.  Then, </a:t>
            </a:r>
            <a:r>
              <a:rPr lang="en-IN" sz="2400" i="1" dirty="0" smtClean="0">
                <a:latin typeface="+mj-lt"/>
              </a:rPr>
              <a:t>f</a:t>
            </a:r>
            <a:r>
              <a:rPr lang="en-IN" sz="2400" dirty="0" smtClean="0">
                <a:latin typeface="+mj-lt"/>
              </a:rPr>
              <a:t>(</a:t>
            </a:r>
            <a:r>
              <a:rPr lang="en-IN" sz="2400" i="1" dirty="0" smtClean="0">
                <a:latin typeface="+mj-lt"/>
              </a:rPr>
              <a:t>x</a:t>
            </a:r>
            <a:r>
              <a:rPr lang="en-IN" sz="2400" dirty="0" smtClean="0">
                <a:latin typeface="+mj-lt"/>
              </a:rPr>
              <a:t>) is the rate at which probability </a:t>
            </a:r>
            <a:r>
              <a:rPr lang="en-IN" sz="2400" b="1" dirty="0" smtClean="0">
                <a:latin typeface="+mj-lt"/>
              </a:rPr>
              <a:t>accumulates</a:t>
            </a:r>
            <a:r>
              <a:rPr lang="en-IN" sz="2400" dirty="0" smtClean="0">
                <a:latin typeface="+mj-lt"/>
              </a:rPr>
              <a:t> in the </a:t>
            </a:r>
            <a:r>
              <a:rPr lang="en-IN" sz="2400" dirty="0" err="1" smtClean="0">
                <a:latin typeface="+mj-lt"/>
              </a:rPr>
              <a:t>neighborhood</a:t>
            </a:r>
            <a:r>
              <a:rPr lang="en-IN" sz="2400" dirty="0" smtClean="0">
                <a:latin typeface="+mj-lt"/>
              </a:rPr>
              <a:t> of </a:t>
            </a:r>
            <a:r>
              <a:rPr lang="en-IN" sz="2400" i="1" dirty="0" smtClean="0">
                <a:latin typeface="+mj-lt"/>
              </a:rPr>
              <a:t>x</a:t>
            </a:r>
            <a:r>
              <a:rPr lang="en-IN" sz="2400" dirty="0" smtClean="0">
                <a:latin typeface="+mj-lt"/>
              </a:rPr>
              <a:t>. In other words, for any interval </a:t>
            </a:r>
            <a:endParaRPr lang="en-IN" sz="2400" dirty="0">
              <a:latin typeface="+mj-lt"/>
            </a:endParaRPr>
          </a:p>
        </p:txBody>
      </p:sp>
      <p:graphicFrame>
        <p:nvGraphicFramePr>
          <p:cNvPr id="9" name="Object 8"/>
          <p:cNvGraphicFramePr>
            <a:graphicFrameLocks noChangeAspect="1"/>
          </p:cNvGraphicFramePr>
          <p:nvPr/>
        </p:nvGraphicFramePr>
        <p:xfrm>
          <a:off x="1371600" y="2438400"/>
          <a:ext cx="1066800" cy="381000"/>
        </p:xfrm>
        <a:graphic>
          <a:graphicData uri="http://schemas.openxmlformats.org/presentationml/2006/ole">
            <p:oleObj spid="_x0000_s864313" name="Equation" r:id="rId3" imgW="469696" imgH="215806" progId="Equation.3">
              <p:embed/>
            </p:oleObj>
          </a:graphicData>
        </a:graphic>
      </p:graphicFrame>
      <p:pic>
        <p:nvPicPr>
          <p:cNvPr id="864260" name="Picture 4"/>
          <p:cNvPicPr>
            <a:picLocks noChangeAspect="1" noChangeArrowheads="1"/>
          </p:cNvPicPr>
          <p:nvPr/>
        </p:nvPicPr>
        <p:blipFill>
          <a:blip r:embed="rId4">
            <a:lum bright="-10000" contrast="30000"/>
          </a:blip>
          <a:srcRect/>
          <a:stretch>
            <a:fillRect/>
          </a:stretch>
        </p:blipFill>
        <p:spPr bwMode="auto">
          <a:xfrm>
            <a:off x="1219200" y="2895600"/>
            <a:ext cx="4021015" cy="1066800"/>
          </a:xfrm>
          <a:prstGeom prst="rect">
            <a:avLst/>
          </a:prstGeom>
          <a:noFill/>
          <a:ln w="9525">
            <a:noFill/>
            <a:miter lim="800000"/>
            <a:headEnd/>
            <a:tailEnd/>
          </a:ln>
          <a:effectLst/>
        </p:spPr>
      </p:pic>
      <p:pic>
        <p:nvPicPr>
          <p:cNvPr id="864261" name="Picture 5"/>
          <p:cNvPicPr>
            <a:picLocks noChangeAspect="1" noChangeArrowheads="1"/>
          </p:cNvPicPr>
          <p:nvPr/>
        </p:nvPicPr>
        <p:blipFill>
          <a:blip r:embed="rId5">
            <a:lum bright="-10000" contrast="30000"/>
          </a:blip>
          <a:srcRect/>
          <a:stretch>
            <a:fillRect/>
          </a:stretch>
        </p:blipFill>
        <p:spPr bwMode="auto">
          <a:xfrm>
            <a:off x="1066800" y="3810000"/>
            <a:ext cx="2327564" cy="914400"/>
          </a:xfrm>
          <a:prstGeom prst="rect">
            <a:avLst/>
          </a:prstGeom>
          <a:noFill/>
          <a:ln w="9525">
            <a:noFill/>
            <a:miter lim="800000"/>
            <a:headEnd/>
            <a:tailEnd/>
          </a:ln>
          <a:effectLst/>
        </p:spPr>
      </p:pic>
      <p:sp>
        <p:nvSpPr>
          <p:cNvPr id="13" name="TextBox 12"/>
          <p:cNvSpPr txBox="1"/>
          <p:nvPr/>
        </p:nvSpPr>
        <p:spPr>
          <a:xfrm>
            <a:off x="228600" y="3886200"/>
            <a:ext cx="1752600" cy="461665"/>
          </a:xfrm>
          <a:prstGeom prst="rect">
            <a:avLst/>
          </a:prstGeom>
          <a:noFill/>
        </p:spPr>
        <p:txBody>
          <a:bodyPr wrap="square" rtlCol="0">
            <a:spAutoFit/>
          </a:bodyPr>
          <a:lstStyle/>
          <a:p>
            <a:r>
              <a:rPr lang="en-IN" sz="2400" dirty="0" smtClean="0">
                <a:latin typeface="+mj-lt"/>
              </a:rPr>
              <a:t>and</a:t>
            </a:r>
            <a:endParaRPr lang="en-IN" sz="2400" dirty="0">
              <a:latin typeface="+mj-lt"/>
            </a:endParaRPr>
          </a:p>
        </p:txBody>
      </p:sp>
      <p:pic>
        <p:nvPicPr>
          <p:cNvPr id="864262" name="Picture 6"/>
          <p:cNvPicPr>
            <a:picLocks noChangeAspect="1" noChangeArrowheads="1"/>
          </p:cNvPicPr>
          <p:nvPr/>
        </p:nvPicPr>
        <p:blipFill>
          <a:blip r:embed="rId6">
            <a:duotone>
              <a:schemeClr val="accent6">
                <a:shade val="45000"/>
                <a:satMod val="135000"/>
              </a:schemeClr>
              <a:prstClr val="white"/>
            </a:duotone>
          </a:blip>
          <a:srcRect/>
          <a:stretch>
            <a:fillRect/>
          </a:stretch>
        </p:blipFill>
        <p:spPr bwMode="auto">
          <a:xfrm>
            <a:off x="5191125" y="2895600"/>
            <a:ext cx="3952875" cy="297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73</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
        <p:nvSpPr>
          <p:cNvPr id="7" name="Rectangle 6"/>
          <p:cNvSpPr/>
          <p:nvPr/>
        </p:nvSpPr>
        <p:spPr>
          <a:xfrm>
            <a:off x="2743200" y="-76200"/>
            <a:ext cx="4089811" cy="584775"/>
          </a:xfrm>
          <a:prstGeom prst="rect">
            <a:avLst/>
          </a:prstGeom>
        </p:spPr>
        <p:txBody>
          <a:bodyPr wrap="square">
            <a:spAutoFit/>
          </a:bodyPr>
          <a:lstStyle/>
          <a:p>
            <a:r>
              <a:rPr lang="en-IN" sz="3200" dirty="0" smtClean="0">
                <a:latin typeface="+mj-lt"/>
              </a:rPr>
              <a:t>Uniform Distribution.</a:t>
            </a:r>
            <a:endParaRPr lang="en-IN" sz="3200" dirty="0">
              <a:latin typeface="+mj-lt"/>
            </a:endParaRPr>
          </a:p>
        </p:txBody>
      </p:sp>
      <p:sp>
        <p:nvSpPr>
          <p:cNvPr id="8" name="Rectangle 7"/>
          <p:cNvSpPr/>
          <p:nvPr/>
        </p:nvSpPr>
        <p:spPr>
          <a:xfrm>
            <a:off x="304800" y="838200"/>
            <a:ext cx="8610600" cy="830997"/>
          </a:xfrm>
          <a:prstGeom prst="rect">
            <a:avLst/>
          </a:prstGeom>
        </p:spPr>
        <p:txBody>
          <a:bodyPr wrap="square">
            <a:spAutoFit/>
          </a:bodyPr>
          <a:lstStyle/>
          <a:p>
            <a:r>
              <a:rPr lang="en-IN" dirty="0" smtClean="0"/>
              <a:t> </a:t>
            </a:r>
            <a:r>
              <a:rPr lang="en-IN" sz="2400" dirty="0" smtClean="0">
                <a:latin typeface="+mj-lt"/>
              </a:rPr>
              <a:t>A random variable </a:t>
            </a:r>
            <a:r>
              <a:rPr lang="en-IN" sz="2400" i="1" dirty="0" smtClean="0">
                <a:latin typeface="+mj-lt"/>
              </a:rPr>
              <a:t>X</a:t>
            </a:r>
            <a:r>
              <a:rPr lang="en-IN" sz="2400" dirty="0" smtClean="0">
                <a:latin typeface="+mj-lt"/>
              </a:rPr>
              <a:t> is said to be uniformly distributed if its density function is given by:</a:t>
            </a:r>
            <a:endParaRPr lang="en-IN" sz="2400" dirty="0">
              <a:latin typeface="+mj-lt"/>
            </a:endParaRPr>
          </a:p>
        </p:txBody>
      </p:sp>
      <p:pic>
        <p:nvPicPr>
          <p:cNvPr id="865282"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838200" y="1828800"/>
            <a:ext cx="3985342" cy="1219200"/>
          </a:xfrm>
          <a:prstGeom prst="rect">
            <a:avLst/>
          </a:prstGeom>
          <a:noFill/>
          <a:ln w="9525">
            <a:noFill/>
            <a:miter lim="800000"/>
            <a:headEnd/>
            <a:tailEnd/>
          </a:ln>
          <a:effectLst/>
        </p:spPr>
      </p:pic>
      <p:pic>
        <p:nvPicPr>
          <p:cNvPr id="865283" name="Picture 3"/>
          <p:cNvPicPr>
            <a:picLocks noChangeAspect="1" noChangeArrowheads="1"/>
          </p:cNvPicPr>
          <p:nvPr/>
        </p:nvPicPr>
        <p:blipFill>
          <a:blip r:embed="rId3">
            <a:duotone>
              <a:prstClr val="black"/>
              <a:schemeClr val="accent5">
                <a:tint val="45000"/>
                <a:satMod val="400000"/>
              </a:schemeClr>
            </a:duotone>
          </a:blip>
          <a:srcRect/>
          <a:stretch>
            <a:fillRect/>
          </a:stretch>
        </p:blipFill>
        <p:spPr bwMode="auto">
          <a:xfrm>
            <a:off x="1905000" y="3200400"/>
            <a:ext cx="6184669"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74</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pic>
        <p:nvPicPr>
          <p:cNvPr id="1052674" name="Picture 2"/>
          <p:cNvPicPr>
            <a:picLocks noChangeAspect="1" noChangeArrowheads="1"/>
          </p:cNvPicPr>
          <p:nvPr/>
        </p:nvPicPr>
        <p:blipFill>
          <a:blip r:embed="rId2">
            <a:duotone>
              <a:prstClr val="black"/>
              <a:schemeClr val="accent5">
                <a:tint val="45000"/>
                <a:satMod val="400000"/>
              </a:schemeClr>
            </a:duotone>
            <a:lum contrast="10000"/>
          </a:blip>
          <a:srcRect/>
          <a:stretch>
            <a:fillRect/>
          </a:stretch>
        </p:blipFill>
        <p:spPr bwMode="auto">
          <a:xfrm>
            <a:off x="1285852" y="642918"/>
            <a:ext cx="6429420" cy="5681143"/>
          </a:xfrm>
          <a:prstGeom prst="rect">
            <a:avLst/>
          </a:prstGeom>
          <a:noFill/>
          <a:ln w="9525">
            <a:noFill/>
            <a:miter lim="800000"/>
            <a:headEnd/>
            <a:tailEnd/>
          </a:ln>
          <a:effectLst/>
        </p:spPr>
      </p:pic>
      <p:sp>
        <p:nvSpPr>
          <p:cNvPr id="7" name="Rectangle 6"/>
          <p:cNvSpPr/>
          <p:nvPr/>
        </p:nvSpPr>
        <p:spPr bwMode="auto">
          <a:xfrm>
            <a:off x="4500562" y="4786322"/>
            <a:ext cx="214314" cy="57150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75</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pic>
        <p:nvPicPr>
          <p:cNvPr id="1053698"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765191" y="642918"/>
            <a:ext cx="7235833" cy="5295676"/>
          </a:xfrm>
          <a:prstGeom prst="rect">
            <a:avLst/>
          </a:prstGeom>
          <a:noFill/>
          <a:ln w="9525">
            <a:noFill/>
            <a:miter lim="800000"/>
            <a:headEnd/>
            <a:tailEnd/>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76</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pic>
        <p:nvPicPr>
          <p:cNvPr id="1054722"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714348" y="928670"/>
            <a:ext cx="7693858" cy="3419492"/>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idx="4294967295"/>
          </p:nvPr>
        </p:nvSpPr>
        <p:spPr>
          <a:xfrm>
            <a:off x="762000" y="0"/>
            <a:ext cx="7772400" cy="1143000"/>
          </a:xfrm>
          <a:prstGeom prst="rect">
            <a:avLst/>
          </a:prstGeom>
        </p:spPr>
        <p:txBody>
          <a:bodyPr/>
          <a:lstStyle/>
          <a:p>
            <a:pPr eaLnBrk="1" hangingPunct="1"/>
            <a:r>
              <a:rPr lang="en-US" b="0" dirty="0" smtClean="0"/>
              <a:t>Normal distribution : Gaussian Distribution </a:t>
            </a:r>
          </a:p>
        </p:txBody>
      </p:sp>
      <p:sp>
        <p:nvSpPr>
          <p:cNvPr id="2052" name="Rectangle 3"/>
          <p:cNvSpPr>
            <a:spLocks noGrp="1" noChangeArrowheads="1"/>
          </p:cNvSpPr>
          <p:nvPr>
            <p:ph type="body" idx="1"/>
          </p:nvPr>
        </p:nvSpPr>
        <p:spPr>
          <a:xfrm>
            <a:off x="609600" y="685800"/>
            <a:ext cx="8058150" cy="5300663"/>
          </a:xfrm>
        </p:spPr>
        <p:txBody>
          <a:bodyPr/>
          <a:lstStyle/>
          <a:p>
            <a:pPr eaLnBrk="1" hangingPunct="1">
              <a:buNone/>
            </a:pPr>
            <a:r>
              <a:rPr lang="en-US" dirty="0" smtClean="0"/>
              <a:t>Centered around the mean </a:t>
            </a:r>
            <a:r>
              <a:rPr lang="en-US" i="1" dirty="0" smtClean="0">
                <a:sym typeface="Symbol" pitchFamily="18" charset="2"/>
              </a:rPr>
              <a:t></a:t>
            </a:r>
            <a:r>
              <a:rPr lang="en-US" dirty="0" smtClean="0">
                <a:sym typeface="Symbol" pitchFamily="18" charset="2"/>
              </a:rPr>
              <a:t> with a width determined by the standard deviation </a:t>
            </a:r>
            <a:r>
              <a:rPr lang="en-US" i="1" dirty="0" smtClean="0">
                <a:sym typeface="Symbol" pitchFamily="18" charset="2"/>
              </a:rPr>
              <a:t></a:t>
            </a:r>
          </a:p>
        </p:txBody>
      </p:sp>
      <p:sp>
        <p:nvSpPr>
          <p:cNvPr id="7" name="Date Placeholder 6"/>
          <p:cNvSpPr>
            <a:spLocks noGrp="1"/>
          </p:cNvSpPr>
          <p:nvPr>
            <p:ph type="dt" sz="half" idx="10"/>
          </p:nvPr>
        </p:nvSpPr>
        <p:spPr/>
        <p:txBody>
          <a:bodyPr/>
          <a:lstStyle/>
          <a:p>
            <a:r>
              <a:rPr lang="en-US" smtClean="0"/>
              <a:t>Prof. A. K. Datta     University of Calcutta</a:t>
            </a:r>
            <a:endParaRPr lang="en-IN" dirty="0"/>
          </a:p>
        </p:txBody>
      </p:sp>
      <p:sp>
        <p:nvSpPr>
          <p:cNvPr id="8" name="Slide Number Placeholder 7"/>
          <p:cNvSpPr>
            <a:spLocks noGrp="1"/>
          </p:cNvSpPr>
          <p:nvPr>
            <p:ph type="sldNum" sz="quarter" idx="11"/>
          </p:nvPr>
        </p:nvSpPr>
        <p:spPr/>
        <p:txBody>
          <a:bodyPr/>
          <a:lstStyle/>
          <a:p>
            <a:fld id="{BF2D74FB-8EB9-4DEE-8258-980F8375AF4A}" type="slidenum">
              <a:rPr lang="en-IN" smtClean="0"/>
              <a:pPr/>
              <a:t>77</a:t>
            </a:fld>
            <a:endParaRPr lang="en-IN" dirty="0"/>
          </a:p>
        </p:txBody>
      </p:sp>
      <p:sp>
        <p:nvSpPr>
          <p:cNvPr id="9" name="Footer Placeholder 8"/>
          <p:cNvSpPr>
            <a:spLocks noGrp="1"/>
          </p:cNvSpPr>
          <p:nvPr>
            <p:ph type="ftr" sz="quarter" idx="12"/>
          </p:nvPr>
        </p:nvSpPr>
        <p:spPr/>
        <p:txBody>
          <a:bodyPr/>
          <a:lstStyle/>
          <a:p>
            <a:r>
              <a:rPr lang="en-IN" smtClean="0"/>
              <a:t>Ph.D Course Work on Research Methodology</a:t>
            </a:r>
            <a:endParaRPr lang="en-IN" dirty="0"/>
          </a:p>
        </p:txBody>
      </p:sp>
      <p:pic>
        <p:nvPicPr>
          <p:cNvPr id="10" name="Picture 6"/>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905000" y="1676400"/>
            <a:ext cx="4664622" cy="1066800"/>
          </a:xfrm>
          <a:prstGeom prst="rect">
            <a:avLst/>
          </a:prstGeom>
          <a:noFill/>
          <a:ln w="9525">
            <a:solidFill>
              <a:schemeClr val="bg1"/>
            </a:solidFill>
            <a:miter lim="800000"/>
            <a:headEnd/>
            <a:tailEnd/>
          </a:ln>
        </p:spPr>
      </p:pic>
      <p:sp>
        <p:nvSpPr>
          <p:cNvPr id="12" name="Text Box 31"/>
          <p:cNvSpPr txBox="1">
            <a:spLocks noChangeArrowheads="1"/>
          </p:cNvSpPr>
          <p:nvPr/>
        </p:nvSpPr>
        <p:spPr>
          <a:xfrm>
            <a:off x="21677" y="3429000"/>
            <a:ext cx="9220200" cy="4114800"/>
          </a:xfrm>
          <a:prstGeom prst="rect">
            <a:avLst/>
          </a:prstGeom>
          <a:noFill/>
          <a:ln>
            <a:noFill/>
          </a:ln>
        </p:spPr>
        <p:txBody>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spcBef>
                <a:spcPct val="50000"/>
              </a:spcBef>
              <a:buFontTx/>
              <a:buNone/>
            </a:pPr>
            <a:r>
              <a:rPr lang="en-US" sz="2800" dirty="0" smtClean="0"/>
              <a:t>It’s a probability function, so no matter what the values of </a:t>
            </a:r>
            <a:r>
              <a:rPr lang="en-US" sz="2800" dirty="0" smtClean="0">
                <a:sym typeface="Symbol" pitchFamily="18" charset="2"/>
              </a:rPr>
              <a:t> and , must integrate to 1</a:t>
            </a:r>
            <a:endParaRPr lang="en-US" sz="2800" dirty="0">
              <a:sym typeface="Symbol" pitchFamily="18" charset="2"/>
            </a:endParaRPr>
          </a:p>
        </p:txBody>
      </p:sp>
      <p:pic>
        <p:nvPicPr>
          <p:cNvPr id="13" name="Picture 2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a:xfrm>
            <a:off x="2269577" y="4646613"/>
            <a:ext cx="4436023" cy="1144587"/>
          </a:xfrm>
          <a:prstGeom prst="rect">
            <a:avLst/>
          </a:prstGeom>
          <a:noFill/>
          <a:ln>
            <a:noFill/>
            <a:miter lim="800000"/>
            <a:headEnd/>
            <a:tailEnd/>
          </a:ln>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fltVal val="0"/>
                                          </p:val>
                                        </p:tav>
                                        <p:tav tm="100000">
                                          <p:val>
                                            <p:strVal val="#ppt_w"/>
                                          </p:val>
                                        </p:tav>
                                      </p:tavLst>
                                    </p:anim>
                                    <p:anim calcmode="lin" valueType="num">
                                      <p:cBhvr>
                                        <p:cTn id="8" dur="1000" fill="hold"/>
                                        <p:tgtEl>
                                          <p:spTgt spid="13"/>
                                        </p:tgtEl>
                                        <p:attrNameLst>
                                          <p:attrName>ppt_h</p:attrName>
                                        </p:attrNameLst>
                                      </p:cBhvr>
                                      <p:tavLst>
                                        <p:tav tm="0">
                                          <p:val>
                                            <p:fltVal val="0"/>
                                          </p:val>
                                        </p:tav>
                                        <p:tav tm="100000">
                                          <p:val>
                                            <p:strVal val="#ppt_h"/>
                                          </p:val>
                                        </p:tav>
                                      </p:tavLst>
                                    </p:anim>
                                    <p:anim calcmode="lin" valueType="num">
                                      <p:cBhvr>
                                        <p:cTn id="9" dur="1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idx="4294967295"/>
          </p:nvPr>
        </p:nvSpPr>
        <p:spPr>
          <a:xfrm>
            <a:off x="1378743" y="76200"/>
            <a:ext cx="6713538" cy="990600"/>
          </a:xfrm>
          <a:prstGeom prst="rect">
            <a:avLst/>
          </a:prstGeom>
        </p:spPr>
        <p:txBody>
          <a:bodyPr/>
          <a:lstStyle/>
          <a:p>
            <a:pPr>
              <a:lnSpc>
                <a:spcPct val="80000"/>
              </a:lnSpc>
            </a:pPr>
            <a:r>
              <a:rPr lang="en-US" sz="3600" b="0" dirty="0"/>
              <a:t>The Normal Distribution</a:t>
            </a:r>
          </a:p>
        </p:txBody>
      </p:sp>
      <p:grpSp>
        <p:nvGrpSpPr>
          <p:cNvPr id="2" name="Group 1"/>
          <p:cNvGrpSpPr/>
          <p:nvPr/>
        </p:nvGrpSpPr>
        <p:grpSpPr>
          <a:xfrm>
            <a:off x="470743" y="789399"/>
            <a:ext cx="3679825" cy="1852345"/>
            <a:chOff x="1295400" y="2362200"/>
            <a:chExt cx="6099175" cy="3502025"/>
          </a:xfrm>
        </p:grpSpPr>
        <p:sp>
          <p:nvSpPr>
            <p:cNvPr id="241667" name="Line 3"/>
            <p:cNvSpPr>
              <a:spLocks noChangeShapeType="1"/>
            </p:cNvSpPr>
            <p:nvPr/>
          </p:nvSpPr>
          <p:spPr bwMode="auto">
            <a:xfrm flipV="1">
              <a:off x="4267200" y="4267200"/>
              <a:ext cx="762000" cy="0"/>
            </a:xfrm>
            <a:prstGeom prst="line">
              <a:avLst/>
            </a:prstGeom>
            <a:noFill/>
            <a:ln w="12700">
              <a:solidFill>
                <a:schemeClr val="bg2"/>
              </a:solidFill>
              <a:round/>
              <a:headEnd type="stealth" w="med" len="me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68" name="Freeform 4"/>
            <p:cNvSpPr>
              <a:spLocks/>
            </p:cNvSpPr>
            <p:nvPr/>
          </p:nvSpPr>
          <p:spPr bwMode="auto">
            <a:xfrm>
              <a:off x="1828800" y="2971800"/>
              <a:ext cx="5029200" cy="2438400"/>
            </a:xfrm>
            <a:custGeom>
              <a:avLst/>
              <a:gdLst>
                <a:gd name="T0" fmla="*/ 0 w 1893"/>
                <a:gd name="T1" fmla="*/ 0 h 765"/>
                <a:gd name="T2" fmla="*/ 0 w 1893"/>
                <a:gd name="T3" fmla="*/ 764 h 765"/>
                <a:gd name="T4" fmla="*/ 1892 w 1893"/>
                <a:gd name="T5" fmla="*/ 764 h 765"/>
              </a:gdLst>
              <a:ahLst/>
              <a:cxnLst>
                <a:cxn ang="0">
                  <a:pos x="T0" y="T1"/>
                </a:cxn>
                <a:cxn ang="0">
                  <a:pos x="T2" y="T3"/>
                </a:cxn>
                <a:cxn ang="0">
                  <a:pos x="T4" y="T5"/>
                </a:cxn>
              </a:cxnLst>
              <a:rect l="0" t="0" r="r" b="b"/>
              <a:pathLst>
                <a:path w="1893" h="765">
                  <a:moveTo>
                    <a:pt x="0" y="0"/>
                  </a:moveTo>
                  <a:lnTo>
                    <a:pt x="0" y="764"/>
                  </a:lnTo>
                  <a:lnTo>
                    <a:pt x="1892" y="764"/>
                  </a:lnTo>
                </a:path>
              </a:pathLst>
            </a:custGeom>
            <a:noFill/>
            <a:ln w="25400" cap="rnd" cmpd="sng">
              <a:solidFill>
                <a:schemeClr val="bg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1669" name="Line 5"/>
            <p:cNvSpPr>
              <a:spLocks noChangeShapeType="1"/>
            </p:cNvSpPr>
            <p:nvPr/>
          </p:nvSpPr>
          <p:spPr bwMode="auto">
            <a:xfrm>
              <a:off x="2900363" y="3206750"/>
              <a:ext cx="1587" cy="0"/>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0" name="Line 6"/>
            <p:cNvSpPr>
              <a:spLocks noChangeShapeType="1"/>
            </p:cNvSpPr>
            <p:nvPr/>
          </p:nvSpPr>
          <p:spPr bwMode="auto">
            <a:xfrm>
              <a:off x="2900363" y="3328988"/>
              <a:ext cx="1587" cy="0"/>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1" name="Line 7"/>
            <p:cNvSpPr>
              <a:spLocks noChangeShapeType="1"/>
            </p:cNvSpPr>
            <p:nvPr/>
          </p:nvSpPr>
          <p:spPr bwMode="auto">
            <a:xfrm>
              <a:off x="2900363" y="3449638"/>
              <a:ext cx="1587" cy="0"/>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2" name="Line 8"/>
            <p:cNvSpPr>
              <a:spLocks noChangeShapeType="1"/>
            </p:cNvSpPr>
            <p:nvPr/>
          </p:nvSpPr>
          <p:spPr bwMode="auto">
            <a:xfrm>
              <a:off x="2900363" y="3571875"/>
              <a:ext cx="1587" cy="0"/>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3" name="Line 9"/>
            <p:cNvSpPr>
              <a:spLocks noChangeShapeType="1"/>
            </p:cNvSpPr>
            <p:nvPr/>
          </p:nvSpPr>
          <p:spPr bwMode="auto">
            <a:xfrm>
              <a:off x="2900363" y="3692525"/>
              <a:ext cx="1587" cy="0"/>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4" name="Line 10"/>
            <p:cNvSpPr>
              <a:spLocks noChangeShapeType="1"/>
            </p:cNvSpPr>
            <p:nvPr/>
          </p:nvSpPr>
          <p:spPr bwMode="auto">
            <a:xfrm>
              <a:off x="2900363" y="3814763"/>
              <a:ext cx="1587" cy="0"/>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5" name="Line 11"/>
            <p:cNvSpPr>
              <a:spLocks noChangeShapeType="1"/>
            </p:cNvSpPr>
            <p:nvPr/>
          </p:nvSpPr>
          <p:spPr bwMode="auto">
            <a:xfrm>
              <a:off x="2900363" y="3935413"/>
              <a:ext cx="1587" cy="0"/>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6" name="Line 12"/>
            <p:cNvSpPr>
              <a:spLocks noChangeShapeType="1"/>
            </p:cNvSpPr>
            <p:nvPr/>
          </p:nvSpPr>
          <p:spPr bwMode="auto">
            <a:xfrm>
              <a:off x="2900363" y="4057650"/>
              <a:ext cx="1587" cy="0"/>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7" name="Line 13"/>
            <p:cNvSpPr>
              <a:spLocks noChangeShapeType="1"/>
            </p:cNvSpPr>
            <p:nvPr/>
          </p:nvSpPr>
          <p:spPr bwMode="auto">
            <a:xfrm>
              <a:off x="2900363" y="4178300"/>
              <a:ext cx="1587" cy="0"/>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8" name="Line 14"/>
            <p:cNvSpPr>
              <a:spLocks noChangeShapeType="1"/>
            </p:cNvSpPr>
            <p:nvPr/>
          </p:nvSpPr>
          <p:spPr bwMode="auto">
            <a:xfrm>
              <a:off x="2900363" y="4298950"/>
              <a:ext cx="1587" cy="0"/>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9" name="Line 15"/>
            <p:cNvSpPr>
              <a:spLocks noChangeShapeType="1"/>
            </p:cNvSpPr>
            <p:nvPr/>
          </p:nvSpPr>
          <p:spPr bwMode="auto">
            <a:xfrm>
              <a:off x="5918200" y="4427538"/>
              <a:ext cx="0" cy="1587"/>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0" name="Line 16"/>
            <p:cNvSpPr>
              <a:spLocks noChangeShapeType="1"/>
            </p:cNvSpPr>
            <p:nvPr/>
          </p:nvSpPr>
          <p:spPr bwMode="auto">
            <a:xfrm>
              <a:off x="5618163" y="4427538"/>
              <a:ext cx="0" cy="1587"/>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1" name="Line 17"/>
            <p:cNvSpPr>
              <a:spLocks noChangeShapeType="1"/>
            </p:cNvSpPr>
            <p:nvPr/>
          </p:nvSpPr>
          <p:spPr bwMode="auto">
            <a:xfrm>
              <a:off x="5316538" y="4427538"/>
              <a:ext cx="0" cy="1587"/>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2" name="Line 18"/>
            <p:cNvSpPr>
              <a:spLocks noChangeShapeType="1"/>
            </p:cNvSpPr>
            <p:nvPr/>
          </p:nvSpPr>
          <p:spPr bwMode="auto">
            <a:xfrm>
              <a:off x="5016500" y="4427538"/>
              <a:ext cx="0" cy="1587"/>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3" name="Line 19"/>
            <p:cNvSpPr>
              <a:spLocks noChangeShapeType="1"/>
            </p:cNvSpPr>
            <p:nvPr/>
          </p:nvSpPr>
          <p:spPr bwMode="auto">
            <a:xfrm>
              <a:off x="4716463" y="4427538"/>
              <a:ext cx="0" cy="1587"/>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4" name="Line 20"/>
            <p:cNvSpPr>
              <a:spLocks noChangeShapeType="1"/>
            </p:cNvSpPr>
            <p:nvPr/>
          </p:nvSpPr>
          <p:spPr bwMode="auto">
            <a:xfrm>
              <a:off x="4416425" y="4427538"/>
              <a:ext cx="0" cy="1587"/>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5" name="Line 21"/>
            <p:cNvSpPr>
              <a:spLocks noChangeShapeType="1"/>
            </p:cNvSpPr>
            <p:nvPr/>
          </p:nvSpPr>
          <p:spPr bwMode="auto">
            <a:xfrm>
              <a:off x="4116388" y="4427538"/>
              <a:ext cx="0" cy="1587"/>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6" name="Line 22"/>
            <p:cNvSpPr>
              <a:spLocks noChangeShapeType="1"/>
            </p:cNvSpPr>
            <p:nvPr/>
          </p:nvSpPr>
          <p:spPr bwMode="auto">
            <a:xfrm>
              <a:off x="3816350" y="4427538"/>
              <a:ext cx="0" cy="1587"/>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7" name="Line 23"/>
            <p:cNvSpPr>
              <a:spLocks noChangeShapeType="1"/>
            </p:cNvSpPr>
            <p:nvPr/>
          </p:nvSpPr>
          <p:spPr bwMode="auto">
            <a:xfrm>
              <a:off x="3514725" y="4427538"/>
              <a:ext cx="0" cy="1587"/>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8" name="Line 24"/>
            <p:cNvSpPr>
              <a:spLocks noChangeShapeType="1"/>
            </p:cNvSpPr>
            <p:nvPr/>
          </p:nvSpPr>
          <p:spPr bwMode="auto">
            <a:xfrm>
              <a:off x="3214688" y="4427538"/>
              <a:ext cx="0" cy="1587"/>
            </a:xfrm>
            <a:prstGeom prst="line">
              <a:avLst/>
            </a:prstGeom>
            <a:noFill/>
            <a:ln w="12700">
              <a:solidFill>
                <a:srgbClr val="CDCDCD"/>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89" name="Rectangle 25"/>
            <p:cNvSpPr>
              <a:spLocks noChangeArrowheads="1"/>
            </p:cNvSpPr>
            <p:nvPr/>
          </p:nvSpPr>
          <p:spPr bwMode="auto">
            <a:xfrm>
              <a:off x="2787650" y="3722688"/>
              <a:ext cx="92075" cy="184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0" name="Rectangle 26"/>
            <p:cNvSpPr>
              <a:spLocks noChangeArrowheads="1"/>
            </p:cNvSpPr>
            <p:nvPr/>
          </p:nvSpPr>
          <p:spPr bwMode="auto">
            <a:xfrm>
              <a:off x="4324350" y="4397375"/>
              <a:ext cx="184150" cy="920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91" name="Rectangle 27"/>
            <p:cNvSpPr>
              <a:spLocks noChangeArrowheads="1"/>
            </p:cNvSpPr>
            <p:nvPr/>
          </p:nvSpPr>
          <p:spPr bwMode="auto">
            <a:xfrm>
              <a:off x="7010400" y="5410200"/>
              <a:ext cx="384175" cy="454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sz="2400" b="1">
                  <a:solidFill>
                    <a:srgbClr val="339933"/>
                  </a:solidFill>
                  <a:latin typeface="Arial" charset="0"/>
                </a:rPr>
                <a:t>X</a:t>
              </a:r>
            </a:p>
          </p:txBody>
        </p:sp>
        <p:sp>
          <p:nvSpPr>
            <p:cNvPr id="241692" name="Rectangle 28"/>
            <p:cNvSpPr>
              <a:spLocks noChangeArrowheads="1"/>
            </p:cNvSpPr>
            <p:nvPr/>
          </p:nvSpPr>
          <p:spPr bwMode="auto">
            <a:xfrm>
              <a:off x="1295400" y="2362200"/>
              <a:ext cx="688975" cy="454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sz="2400" b="1">
                  <a:solidFill>
                    <a:srgbClr val="339933"/>
                  </a:solidFill>
                  <a:latin typeface="Arial" charset="0"/>
                </a:rPr>
                <a:t>f(X)</a:t>
              </a:r>
            </a:p>
          </p:txBody>
        </p:sp>
        <p:sp>
          <p:nvSpPr>
            <p:cNvPr id="241693" name="Rectangle 29"/>
            <p:cNvSpPr>
              <a:spLocks noChangeArrowheads="1"/>
            </p:cNvSpPr>
            <p:nvPr/>
          </p:nvSpPr>
          <p:spPr bwMode="auto">
            <a:xfrm>
              <a:off x="4114800" y="5410200"/>
              <a:ext cx="479425" cy="454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7" tIns="44450" rIns="90487" bIns="44450">
              <a:spAutoFit/>
            </a:bodyPr>
            <a:lstStyle/>
            <a:p>
              <a:pPr>
                <a:spcBef>
                  <a:spcPct val="50000"/>
                </a:spcBef>
              </a:pPr>
              <a:r>
                <a:rPr lang="el-GR" sz="2400">
                  <a:solidFill>
                    <a:schemeClr val="bg2"/>
                  </a:solidFill>
                  <a:latin typeface="Symbol" pitchFamily="18" charset="2"/>
                  <a:cs typeface="Arial" charset="0"/>
                </a:rPr>
                <a:t>μ</a:t>
              </a:r>
            </a:p>
          </p:txBody>
        </p:sp>
        <p:sp>
          <p:nvSpPr>
            <p:cNvPr id="241694" name="Rectangle 30"/>
            <p:cNvSpPr>
              <a:spLocks noChangeArrowheads="1"/>
            </p:cNvSpPr>
            <p:nvPr/>
          </p:nvSpPr>
          <p:spPr bwMode="auto">
            <a:xfrm>
              <a:off x="4495800" y="4191000"/>
              <a:ext cx="479425" cy="454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90487" tIns="44450" rIns="90487" bIns="44450">
              <a:spAutoFit/>
            </a:bodyPr>
            <a:lstStyle/>
            <a:p>
              <a:pPr>
                <a:spcBef>
                  <a:spcPct val="50000"/>
                </a:spcBef>
              </a:pPr>
              <a:r>
                <a:rPr lang="el-GR" sz="2400">
                  <a:solidFill>
                    <a:schemeClr val="bg2"/>
                  </a:solidFill>
                  <a:latin typeface="Symbol" pitchFamily="18" charset="2"/>
                  <a:cs typeface="Arial" charset="0"/>
                </a:rPr>
                <a:t>σ</a:t>
              </a:r>
            </a:p>
          </p:txBody>
        </p:sp>
        <p:sp>
          <p:nvSpPr>
            <p:cNvPr id="241695" name="Freeform 31"/>
            <p:cNvSpPr>
              <a:spLocks/>
            </p:cNvSpPr>
            <p:nvPr/>
          </p:nvSpPr>
          <p:spPr bwMode="auto">
            <a:xfrm>
              <a:off x="4267200" y="3429000"/>
              <a:ext cx="2438400" cy="1905000"/>
            </a:xfrm>
            <a:custGeom>
              <a:avLst/>
              <a:gdLst>
                <a:gd name="T0" fmla="*/ 900 w 901"/>
                <a:gd name="T1" fmla="*/ 720 h 721"/>
                <a:gd name="T2" fmla="*/ 805 w 901"/>
                <a:gd name="T3" fmla="*/ 712 h 721"/>
                <a:gd name="T4" fmla="*/ 758 w 901"/>
                <a:gd name="T5" fmla="*/ 704 h 721"/>
                <a:gd name="T6" fmla="*/ 711 w 901"/>
                <a:gd name="T7" fmla="*/ 691 h 721"/>
                <a:gd name="T8" fmla="*/ 663 w 901"/>
                <a:gd name="T9" fmla="*/ 675 h 721"/>
                <a:gd name="T10" fmla="*/ 615 w 901"/>
                <a:gd name="T11" fmla="*/ 653 h 721"/>
                <a:gd name="T12" fmla="*/ 568 w 901"/>
                <a:gd name="T13" fmla="*/ 623 h 721"/>
                <a:gd name="T14" fmla="*/ 473 w 901"/>
                <a:gd name="T15" fmla="*/ 540 h 721"/>
                <a:gd name="T16" fmla="*/ 378 w 901"/>
                <a:gd name="T17" fmla="*/ 422 h 721"/>
                <a:gd name="T18" fmla="*/ 284 w 901"/>
                <a:gd name="T19" fmla="*/ 281 h 721"/>
                <a:gd name="T20" fmla="*/ 236 w 901"/>
                <a:gd name="T21" fmla="*/ 209 h 721"/>
                <a:gd name="T22" fmla="*/ 189 w 901"/>
                <a:gd name="T23" fmla="*/ 142 h 721"/>
                <a:gd name="T24" fmla="*/ 142 w 901"/>
                <a:gd name="T25" fmla="*/ 83 h 721"/>
                <a:gd name="T26" fmla="*/ 94 w 901"/>
                <a:gd name="T27" fmla="*/ 38 h 721"/>
                <a:gd name="T28" fmla="*/ 47 w 901"/>
                <a:gd name="T29" fmla="*/ 9 h 721"/>
                <a:gd name="T30" fmla="*/ 0 w 901"/>
                <a:gd name="T31" fmla="*/ 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1696" name="Freeform 32"/>
            <p:cNvSpPr>
              <a:spLocks/>
            </p:cNvSpPr>
            <p:nvPr/>
          </p:nvSpPr>
          <p:spPr bwMode="auto">
            <a:xfrm>
              <a:off x="1905000" y="3429000"/>
              <a:ext cx="2344738" cy="1905000"/>
            </a:xfrm>
            <a:custGeom>
              <a:avLst/>
              <a:gdLst>
                <a:gd name="T0" fmla="*/ 0 w 901"/>
                <a:gd name="T1" fmla="*/ 720 h 721"/>
                <a:gd name="T2" fmla="*/ 95 w 901"/>
                <a:gd name="T3" fmla="*/ 712 h 721"/>
                <a:gd name="T4" fmla="*/ 142 w 901"/>
                <a:gd name="T5" fmla="*/ 704 h 721"/>
                <a:gd name="T6" fmla="*/ 189 w 901"/>
                <a:gd name="T7" fmla="*/ 691 h 721"/>
                <a:gd name="T8" fmla="*/ 237 w 901"/>
                <a:gd name="T9" fmla="*/ 675 h 721"/>
                <a:gd name="T10" fmla="*/ 284 w 901"/>
                <a:gd name="T11" fmla="*/ 653 h 721"/>
                <a:gd name="T12" fmla="*/ 331 w 901"/>
                <a:gd name="T13" fmla="*/ 623 h 721"/>
                <a:gd name="T14" fmla="*/ 426 w 901"/>
                <a:gd name="T15" fmla="*/ 540 h 721"/>
                <a:gd name="T16" fmla="*/ 521 w 901"/>
                <a:gd name="T17" fmla="*/ 422 h 721"/>
                <a:gd name="T18" fmla="*/ 616 w 901"/>
                <a:gd name="T19" fmla="*/ 281 h 721"/>
                <a:gd name="T20" fmla="*/ 663 w 901"/>
                <a:gd name="T21" fmla="*/ 209 h 721"/>
                <a:gd name="T22" fmla="*/ 710 w 901"/>
                <a:gd name="T23" fmla="*/ 142 h 721"/>
                <a:gd name="T24" fmla="*/ 757 w 901"/>
                <a:gd name="T25" fmla="*/ 83 h 721"/>
                <a:gd name="T26" fmla="*/ 805 w 901"/>
                <a:gd name="T27" fmla="*/ 38 h 721"/>
                <a:gd name="T28" fmla="*/ 852 w 901"/>
                <a:gd name="T29" fmla="*/ 9 h 721"/>
                <a:gd name="T30" fmla="*/ 900 w 901"/>
                <a:gd name="T31" fmla="*/ 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1697" name="Line 33"/>
            <p:cNvSpPr>
              <a:spLocks noChangeShapeType="1"/>
            </p:cNvSpPr>
            <p:nvPr/>
          </p:nvSpPr>
          <p:spPr bwMode="auto">
            <a:xfrm>
              <a:off x="4267200" y="3505200"/>
              <a:ext cx="0" cy="1905000"/>
            </a:xfrm>
            <a:prstGeom prst="line">
              <a:avLst/>
            </a:prstGeom>
            <a:noFill/>
            <a:ln w="12700">
              <a:solidFill>
                <a:schemeClr val="bg2"/>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41698" name="Text Box 34"/>
          <p:cNvSpPr txBox="1">
            <a:spLocks noChangeArrowheads="1"/>
          </p:cNvSpPr>
          <p:nvPr/>
        </p:nvSpPr>
        <p:spPr bwMode="auto">
          <a:xfrm>
            <a:off x="3080882" y="723626"/>
            <a:ext cx="3810000"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dirty="0">
                <a:latin typeface="+mj-lt"/>
              </a:rPr>
              <a:t>Changing</a:t>
            </a:r>
            <a:r>
              <a:rPr lang="en-US" sz="2400" dirty="0">
                <a:latin typeface="+mj-lt"/>
                <a:sym typeface="Arial" charset="0"/>
              </a:rPr>
              <a:t> </a:t>
            </a:r>
            <a:r>
              <a:rPr lang="el-GR" sz="2400" dirty="0">
                <a:latin typeface="+mj-lt"/>
                <a:cs typeface="Arial" charset="0"/>
              </a:rPr>
              <a:t>μ</a:t>
            </a:r>
            <a:r>
              <a:rPr lang="en-US" sz="2400" b="1" dirty="0">
                <a:latin typeface="+mj-lt"/>
              </a:rPr>
              <a:t> </a:t>
            </a:r>
            <a:r>
              <a:rPr lang="en-US" sz="2400" dirty="0">
                <a:latin typeface="+mj-lt"/>
              </a:rPr>
              <a:t>shifts the distribution left or right.</a:t>
            </a:r>
          </a:p>
        </p:txBody>
      </p:sp>
      <p:sp>
        <p:nvSpPr>
          <p:cNvPr id="241699" name="Text Box 35"/>
          <p:cNvSpPr txBox="1">
            <a:spLocks noChangeArrowheads="1"/>
          </p:cNvSpPr>
          <p:nvPr/>
        </p:nvSpPr>
        <p:spPr bwMode="auto">
          <a:xfrm>
            <a:off x="4235812" y="1618624"/>
            <a:ext cx="3429000"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dirty="0">
                <a:latin typeface="+mj-lt"/>
              </a:rPr>
              <a:t>Changing </a:t>
            </a:r>
            <a:r>
              <a:rPr lang="el-GR" sz="2400" dirty="0">
                <a:latin typeface="+mj-lt"/>
                <a:cs typeface="Arial" charset="0"/>
              </a:rPr>
              <a:t>σ</a:t>
            </a:r>
            <a:r>
              <a:rPr lang="en-US" sz="2400" dirty="0">
                <a:latin typeface="+mj-lt"/>
              </a:rPr>
              <a:t> increases or decreases the spread</a:t>
            </a:r>
            <a:r>
              <a:rPr lang="en-US" sz="2400" dirty="0">
                <a:solidFill>
                  <a:schemeClr val="bg2"/>
                </a:solidFill>
              </a:rPr>
              <a:t>.</a:t>
            </a:r>
          </a:p>
        </p:txBody>
      </p:sp>
      <p:pic>
        <p:nvPicPr>
          <p:cNvPr id="37" name="Picture 4" descr="http://people.stern.nyu.edu/adamodar/New_Home_Page/StatFile/statdistns_files/image018.png"/>
          <p:cNvPicPr>
            <a:picLocks noChangeAspect="1" noChangeArrowheads="1"/>
          </p:cNvPicPr>
          <p:nvPr/>
        </p:nvPicPr>
        <p:blipFill>
          <a:blip r:embed="rId3">
            <a:lum bright="-10000" contrast="20000"/>
          </a:blip>
          <a:srcRect/>
          <a:stretch>
            <a:fillRect/>
          </a:stretch>
        </p:blipFill>
        <p:spPr bwMode="auto">
          <a:xfrm>
            <a:off x="2133600" y="2743200"/>
            <a:ext cx="5257800" cy="3546934"/>
          </a:xfrm>
          <a:prstGeom prst="rect">
            <a:avLst/>
          </a:prstGeom>
          <a:noFill/>
        </p:spPr>
      </p:pic>
    </p:spTree>
    <p:extLst>
      <p:ext uri="{BB962C8B-B14F-4D97-AF65-F5344CB8AC3E}">
        <p14:creationId xmlns="" xmlns:p14="http://schemas.microsoft.com/office/powerpoint/2010/main" val="316889710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a:xfrm>
            <a:off x="533400" y="6458"/>
            <a:ext cx="8229600" cy="1143000"/>
          </a:xfrm>
        </p:spPr>
        <p:txBody>
          <a:bodyPr/>
          <a:lstStyle/>
          <a:p>
            <a:r>
              <a:rPr lang="en-US" sz="3200" b="0" dirty="0"/>
              <a:t>Normal </a:t>
            </a:r>
            <a:r>
              <a:rPr lang="en-US" sz="3200" b="0" dirty="0" smtClean="0"/>
              <a:t>distribution in population is </a:t>
            </a:r>
            <a:r>
              <a:rPr lang="en-US" sz="3200" b="0" dirty="0"/>
              <a:t>defined by its mean and standard dev</a:t>
            </a:r>
            <a:r>
              <a:rPr lang="en-US" dirty="0"/>
              <a:t>. </a:t>
            </a:r>
          </a:p>
        </p:txBody>
      </p:sp>
      <p:sp>
        <p:nvSpPr>
          <p:cNvPr id="246787" name="Rectangle 3"/>
          <p:cNvSpPr>
            <a:spLocks noGrp="1" noChangeArrowheads="1"/>
          </p:cNvSpPr>
          <p:nvPr>
            <p:ph type="body" idx="1"/>
          </p:nvPr>
        </p:nvSpPr>
        <p:spPr>
          <a:xfrm>
            <a:off x="457200" y="1143000"/>
            <a:ext cx="8229600" cy="4983163"/>
          </a:xfrm>
        </p:spPr>
        <p:txBody>
          <a:bodyPr/>
          <a:lstStyle/>
          <a:p>
            <a:pPr>
              <a:buFont typeface="Wingdings" pitchFamily="2" charset="2"/>
              <a:buNone/>
            </a:pPr>
            <a:endParaRPr lang="en-US" sz="3200" dirty="0" smtClean="0">
              <a:sym typeface="Symbol" pitchFamily="18" charset="2"/>
            </a:endParaRPr>
          </a:p>
          <a:p>
            <a:pPr>
              <a:buFont typeface="Wingdings" pitchFamily="2" charset="2"/>
              <a:buNone/>
            </a:pPr>
            <a:endParaRPr lang="en-US" sz="3200" dirty="0">
              <a:sym typeface="Symbol" pitchFamily="18" charset="2"/>
            </a:endParaRPr>
          </a:p>
          <a:p>
            <a:pPr>
              <a:buFont typeface="Wingdings" pitchFamily="2" charset="2"/>
              <a:buNone/>
            </a:pPr>
            <a:r>
              <a:rPr lang="en-US" sz="3200" dirty="0" smtClean="0">
                <a:sym typeface="Symbol" pitchFamily="18" charset="2"/>
              </a:rPr>
              <a:t>            </a:t>
            </a:r>
            <a:r>
              <a:rPr lang="en-US" sz="3200" dirty="0" smtClean="0"/>
              <a:t> </a:t>
            </a:r>
            <a:r>
              <a:rPr lang="en-US" sz="3200" dirty="0"/>
              <a:t>=</a:t>
            </a:r>
            <a:r>
              <a:rPr lang="en-US" dirty="0"/>
              <a:t>                                                                                </a:t>
            </a:r>
          </a:p>
          <a:p>
            <a:pPr>
              <a:buFont typeface="Wingdings" pitchFamily="2" charset="2"/>
              <a:buNone/>
            </a:pPr>
            <a:endParaRPr lang="en-US" dirty="0"/>
          </a:p>
          <a:p>
            <a:pPr>
              <a:buFont typeface="Wingdings" pitchFamily="2" charset="2"/>
              <a:buNone/>
            </a:pPr>
            <a:endParaRPr lang="en-US" dirty="0"/>
          </a:p>
          <a:p>
            <a:pPr>
              <a:buFont typeface="Wingdings" pitchFamily="2" charset="2"/>
              <a:buNone/>
            </a:pPr>
            <a:endParaRPr lang="en-US" sz="3200" dirty="0" smtClean="0"/>
          </a:p>
          <a:p>
            <a:pPr>
              <a:buFont typeface="Wingdings" pitchFamily="2" charset="2"/>
              <a:buNone/>
            </a:pPr>
            <a:r>
              <a:rPr lang="en-US" sz="3200" dirty="0" err="1" smtClean="0"/>
              <a:t>Var</a:t>
            </a:r>
            <a:r>
              <a:rPr lang="en-US" sz="3200" dirty="0" smtClean="0"/>
              <a:t>(</a:t>
            </a:r>
            <a:r>
              <a:rPr lang="en-US" sz="2800" dirty="0" smtClean="0"/>
              <a:t>x</a:t>
            </a:r>
            <a:r>
              <a:rPr lang="en-US" sz="3200" dirty="0" smtClean="0"/>
              <a:t>) = </a:t>
            </a:r>
            <a:r>
              <a:rPr lang="en-US" sz="3200" dirty="0" smtClean="0">
                <a:sym typeface="Symbol" pitchFamily="18" charset="2"/>
              </a:rPr>
              <a:t></a:t>
            </a:r>
            <a:r>
              <a:rPr lang="en-US" sz="3200" baseline="30000" dirty="0"/>
              <a:t>2  </a:t>
            </a:r>
            <a:r>
              <a:rPr lang="en-US" sz="3200" dirty="0"/>
              <a:t>=	  </a:t>
            </a:r>
            <a:r>
              <a:rPr lang="en-US" dirty="0"/>
              <a:t>                                                                       </a:t>
            </a:r>
          </a:p>
          <a:p>
            <a:pPr>
              <a:buFont typeface="Wingdings" pitchFamily="2" charset="2"/>
              <a:buNone/>
            </a:pPr>
            <a:endParaRPr lang="en-US" dirty="0"/>
          </a:p>
          <a:p>
            <a:pPr>
              <a:buFont typeface="Wingdings" pitchFamily="2" charset="2"/>
              <a:buNone/>
            </a:pPr>
            <a:endParaRPr lang="en-US" dirty="0"/>
          </a:p>
        </p:txBody>
      </p:sp>
      <p:pic>
        <p:nvPicPr>
          <p:cNvPr id="246789"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514600" y="1901072"/>
            <a:ext cx="3476032" cy="1211344"/>
          </a:xfrm>
          <a:prstGeom prst="rect">
            <a:avLst/>
          </a:prstGeom>
          <a:noFill/>
          <a:ln w="9525">
            <a:noFill/>
            <a:miter lim="800000"/>
            <a:headEnd/>
            <a:tailEnd/>
          </a:ln>
        </p:spPr>
      </p:pic>
      <p:grpSp>
        <p:nvGrpSpPr>
          <p:cNvPr id="246794" name="Group 10"/>
          <p:cNvGrpSpPr>
            <a:grpSpLocks/>
          </p:cNvGrpSpPr>
          <p:nvPr/>
        </p:nvGrpSpPr>
        <p:grpSpPr bwMode="auto">
          <a:xfrm>
            <a:off x="3352800" y="4112563"/>
            <a:ext cx="4715939" cy="1259831"/>
            <a:chOff x="2304" y="2208"/>
            <a:chExt cx="3072" cy="809"/>
          </a:xfrm>
          <a:noFill/>
        </p:grpSpPr>
        <p:pic>
          <p:nvPicPr>
            <p:cNvPr id="246788"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304" y="2208"/>
              <a:ext cx="3072" cy="809"/>
            </a:xfrm>
            <a:prstGeom prst="rect">
              <a:avLst/>
            </a:prstGeom>
            <a:grpFill/>
            <a:ln w="9525">
              <a:noFill/>
              <a:miter lim="800000"/>
              <a:headEnd/>
              <a:tailEnd/>
            </a:ln>
          </p:spPr>
        </p:pic>
        <p:sp>
          <p:nvSpPr>
            <p:cNvPr id="246793" name="Rectangle 9"/>
            <p:cNvSpPr>
              <a:spLocks noChangeArrowheads="1"/>
            </p:cNvSpPr>
            <p:nvPr/>
          </p:nvSpPr>
          <p:spPr bwMode="auto">
            <a:xfrm>
              <a:off x="2304" y="2448"/>
              <a:ext cx="144" cy="336"/>
            </a:xfrm>
            <a:prstGeom prst="rect">
              <a:avLst/>
            </a:prstGeom>
            <a:grp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aphicFrame>
        <p:nvGraphicFramePr>
          <p:cNvPr id="2" name="Object 1"/>
          <p:cNvGraphicFramePr>
            <a:graphicFrameLocks noChangeAspect="1"/>
          </p:cNvGraphicFramePr>
          <p:nvPr>
            <p:extLst>
              <p:ext uri="{D42A27DB-BD31-4B8C-83A1-F6EECF244321}">
                <p14:modId xmlns="" xmlns:p14="http://schemas.microsoft.com/office/powerpoint/2010/main" val="1717747623"/>
              </p:ext>
            </p:extLst>
          </p:nvPr>
        </p:nvGraphicFramePr>
        <p:xfrm>
          <a:off x="4514850" y="3321050"/>
          <a:ext cx="114300" cy="215900"/>
        </p:xfrm>
        <a:graphic>
          <a:graphicData uri="http://schemas.openxmlformats.org/presentationml/2006/ole">
            <p:oleObj spid="_x0000_s929818" name="Equation" r:id="rId5" imgW="114120" imgH="215640" progId="Equation.3">
              <p:embed/>
            </p:oleObj>
          </a:graphicData>
        </a:graphic>
      </p:graphicFrame>
    </p:spTree>
    <p:extLst>
      <p:ext uri="{BB962C8B-B14F-4D97-AF65-F5344CB8AC3E}">
        <p14:creationId xmlns="" xmlns:p14="http://schemas.microsoft.com/office/powerpoint/2010/main" val="420494146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266700" y="0"/>
            <a:ext cx="8839200" cy="609600"/>
          </a:xfrm>
        </p:spPr>
        <p:txBody>
          <a:bodyPr/>
          <a:lstStyle/>
          <a:p>
            <a:pPr defTabSz="852488"/>
            <a:r>
              <a:rPr lang="en-US" sz="3200" b="0" dirty="0" smtClean="0">
                <a:solidFill>
                  <a:schemeClr val="tx1"/>
                </a:solidFill>
                <a:latin typeface="Times New Roman" pitchFamily="18" charset="0"/>
                <a:cs typeface="Times New Roman" pitchFamily="18" charset="0"/>
                <a:sym typeface="Symbol" pitchFamily="18" charset="2"/>
              </a:rPr>
              <a:t>The </a:t>
            </a:r>
            <a:r>
              <a:rPr lang="en-US" sz="3200" b="0" dirty="0">
                <a:solidFill>
                  <a:schemeClr val="tx1"/>
                </a:solidFill>
                <a:latin typeface="Times New Roman" pitchFamily="18" charset="0"/>
                <a:cs typeface="Times New Roman" pitchFamily="18" charset="0"/>
                <a:sym typeface="Symbol" pitchFamily="18" charset="2"/>
              </a:rPr>
              <a:t>beauty of the normal curve</a:t>
            </a:r>
            <a:r>
              <a:rPr lang="en-US" dirty="0">
                <a:solidFill>
                  <a:schemeClr val="tx1"/>
                </a:solidFill>
                <a:latin typeface="Times New Roman" pitchFamily="18" charset="0"/>
                <a:cs typeface="Times New Roman" pitchFamily="18" charset="0"/>
                <a:sym typeface="Symbol" pitchFamily="18" charset="2"/>
              </a:rPr>
              <a:t>: </a:t>
            </a:r>
            <a:br>
              <a:rPr lang="en-US" dirty="0">
                <a:solidFill>
                  <a:schemeClr val="tx1"/>
                </a:solidFill>
                <a:latin typeface="Times New Roman" pitchFamily="18" charset="0"/>
                <a:cs typeface="Times New Roman" pitchFamily="18" charset="0"/>
                <a:sym typeface="Symbol" pitchFamily="18" charset="2"/>
              </a:rPr>
            </a:br>
            <a:endParaRPr lang="en-US" dirty="0">
              <a:solidFill>
                <a:schemeClr val="tx1"/>
              </a:solidFill>
              <a:latin typeface="Times New Roman" pitchFamily="18" charset="0"/>
              <a:cs typeface="Times New Roman" pitchFamily="18" charset="0"/>
              <a:sym typeface="Symbol" pitchFamily="18" charset="2"/>
            </a:endParaRPr>
          </a:p>
        </p:txBody>
      </p:sp>
      <p:sp>
        <p:nvSpPr>
          <p:cNvPr id="247811" name="Rectangle 3"/>
          <p:cNvSpPr>
            <a:spLocks noChangeArrowheads="1"/>
          </p:cNvSpPr>
          <p:nvPr/>
        </p:nvSpPr>
        <p:spPr bwMode="auto">
          <a:xfrm>
            <a:off x="2952750" y="3214688"/>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sp>
        <p:nvSpPr>
          <p:cNvPr id="247812" name="Rectangle 4"/>
          <p:cNvSpPr>
            <a:spLocks noChangeArrowheads="1"/>
          </p:cNvSpPr>
          <p:nvPr/>
        </p:nvSpPr>
        <p:spPr bwMode="auto">
          <a:xfrm>
            <a:off x="3981450" y="3238500"/>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sp>
        <p:nvSpPr>
          <p:cNvPr id="247813" name="Rectangle 5"/>
          <p:cNvSpPr>
            <a:spLocks noChangeArrowheads="1"/>
          </p:cNvSpPr>
          <p:nvPr/>
        </p:nvSpPr>
        <p:spPr bwMode="auto">
          <a:xfrm>
            <a:off x="3228975" y="3005138"/>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sp>
        <p:nvSpPr>
          <p:cNvPr id="247814" name="Rectangle 6"/>
          <p:cNvSpPr>
            <a:spLocks noChangeArrowheads="1"/>
          </p:cNvSpPr>
          <p:nvPr/>
        </p:nvSpPr>
        <p:spPr bwMode="auto">
          <a:xfrm>
            <a:off x="3886200" y="3200400"/>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sp>
        <p:nvSpPr>
          <p:cNvPr id="247815" name="Rectangle 7"/>
          <p:cNvSpPr>
            <a:spLocks noChangeArrowheads="1"/>
          </p:cNvSpPr>
          <p:nvPr/>
        </p:nvSpPr>
        <p:spPr bwMode="auto">
          <a:xfrm>
            <a:off x="3929063" y="3200400"/>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sp>
        <p:nvSpPr>
          <p:cNvPr id="247816" name="Rectangle 8"/>
          <p:cNvSpPr>
            <a:spLocks noChangeArrowheads="1"/>
          </p:cNvSpPr>
          <p:nvPr/>
        </p:nvSpPr>
        <p:spPr bwMode="auto">
          <a:xfrm>
            <a:off x="3929063" y="3200400"/>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sp>
        <p:nvSpPr>
          <p:cNvPr id="247817" name="Rectangle 9"/>
          <p:cNvSpPr>
            <a:spLocks noChangeArrowheads="1"/>
          </p:cNvSpPr>
          <p:nvPr/>
        </p:nvSpPr>
        <p:spPr bwMode="auto">
          <a:xfrm>
            <a:off x="3929063" y="3200400"/>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sp>
        <p:nvSpPr>
          <p:cNvPr id="247818" name="Rectangle 10"/>
          <p:cNvSpPr>
            <a:spLocks noChangeArrowheads="1"/>
          </p:cNvSpPr>
          <p:nvPr/>
        </p:nvSpPr>
        <p:spPr bwMode="auto">
          <a:xfrm>
            <a:off x="3719513" y="3200400"/>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sp>
        <p:nvSpPr>
          <p:cNvPr id="247819" name="Rectangle 11"/>
          <p:cNvSpPr>
            <a:spLocks noChangeArrowheads="1"/>
          </p:cNvSpPr>
          <p:nvPr/>
        </p:nvSpPr>
        <p:spPr bwMode="auto">
          <a:xfrm>
            <a:off x="3338513" y="2657475"/>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sp>
        <p:nvSpPr>
          <p:cNvPr id="247820" name="Rectangle 12"/>
          <p:cNvSpPr>
            <a:spLocks noChangeArrowheads="1"/>
          </p:cNvSpPr>
          <p:nvPr/>
        </p:nvSpPr>
        <p:spPr bwMode="auto">
          <a:xfrm>
            <a:off x="3338513" y="2657475"/>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sp>
        <p:nvSpPr>
          <p:cNvPr id="247821" name="Rectangle 13"/>
          <p:cNvSpPr>
            <a:spLocks noChangeArrowheads="1"/>
          </p:cNvSpPr>
          <p:nvPr/>
        </p:nvSpPr>
        <p:spPr bwMode="auto">
          <a:xfrm>
            <a:off x="471327" y="1057275"/>
            <a:ext cx="8305800" cy="3493264"/>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pPr eaLnBrk="1" hangingPunct="1"/>
            <a:r>
              <a:rPr lang="en-US" sz="2800" dirty="0">
                <a:latin typeface="Times New Roman" pitchFamily="18" charset="0"/>
                <a:cs typeface="Times New Roman" pitchFamily="18" charset="0"/>
              </a:rPr>
              <a:t>No matter what </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 and </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 are, the area between </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 and </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 is about 68%; </a:t>
            </a:r>
            <a:endParaRPr lang="en-US" sz="2800" dirty="0" smtClean="0">
              <a:latin typeface="Times New Roman" pitchFamily="18" charset="0"/>
              <a:cs typeface="Times New Roman" pitchFamily="18" charset="0"/>
            </a:endParaRPr>
          </a:p>
          <a:p>
            <a:pPr eaLnBrk="1" hangingPunct="1"/>
            <a:endParaRPr lang="en-US" sz="2800" dirty="0" smtClean="0">
              <a:latin typeface="Times New Roman" pitchFamily="18" charset="0"/>
              <a:cs typeface="Times New Roman" pitchFamily="18" charset="0"/>
            </a:endParaRPr>
          </a:p>
          <a:p>
            <a:pPr eaLnBrk="1" hangingPunct="1"/>
            <a:r>
              <a:rPr lang="en-US" sz="2800" dirty="0" smtClean="0">
                <a:latin typeface="Times New Roman" pitchFamily="18" charset="0"/>
                <a:cs typeface="Times New Roman" pitchFamily="18" charset="0"/>
              </a:rPr>
              <a:t>the </a:t>
            </a:r>
            <a:r>
              <a:rPr lang="en-US" sz="2800" dirty="0">
                <a:latin typeface="Times New Roman" pitchFamily="18" charset="0"/>
                <a:cs typeface="Times New Roman" pitchFamily="18" charset="0"/>
              </a:rPr>
              <a:t>area between </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-2</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 and </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+2</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 is about 95%; </a:t>
            </a:r>
            <a:endParaRPr lang="en-US" sz="2800" dirty="0" smtClean="0">
              <a:latin typeface="Times New Roman" pitchFamily="18" charset="0"/>
              <a:cs typeface="Times New Roman" pitchFamily="18" charset="0"/>
            </a:endParaRPr>
          </a:p>
          <a:p>
            <a:pPr eaLnBrk="1" hangingPunct="1"/>
            <a:endParaRPr lang="en-US" sz="2800" dirty="0">
              <a:latin typeface="Times New Roman" pitchFamily="18" charset="0"/>
              <a:cs typeface="Times New Roman" pitchFamily="18" charset="0"/>
            </a:endParaRPr>
          </a:p>
          <a:p>
            <a:pPr eaLnBrk="1" hangingPunct="1"/>
            <a:r>
              <a:rPr lang="en-US" sz="2800" dirty="0" smtClean="0">
                <a:latin typeface="Times New Roman" pitchFamily="18" charset="0"/>
                <a:cs typeface="Times New Roman" pitchFamily="18" charset="0"/>
              </a:rPr>
              <a:t>and </a:t>
            </a:r>
            <a:r>
              <a:rPr lang="en-US" sz="2800" dirty="0">
                <a:latin typeface="Times New Roman" pitchFamily="18" charset="0"/>
                <a:cs typeface="Times New Roman" pitchFamily="18" charset="0"/>
              </a:rPr>
              <a:t>the area between </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-3</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 and </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+3</a:t>
            </a:r>
            <a:r>
              <a:rPr lang="en-US" sz="2800" dirty="0">
                <a:latin typeface="Times New Roman" pitchFamily="18" charset="0"/>
                <a:cs typeface="Times New Roman" pitchFamily="18" charset="0"/>
                <a:sym typeface="Symbol" pitchFamily="18" charset="2"/>
              </a:rPr>
              <a:t></a:t>
            </a:r>
            <a:r>
              <a:rPr lang="en-US" sz="2800" dirty="0">
                <a:latin typeface="Times New Roman" pitchFamily="18" charset="0"/>
                <a:cs typeface="Times New Roman" pitchFamily="18" charset="0"/>
              </a:rPr>
              <a:t> is about 99.7%.  </a:t>
            </a:r>
            <a:endParaRPr lang="en-US" sz="2800" dirty="0" smtClean="0">
              <a:latin typeface="Times New Roman" pitchFamily="18" charset="0"/>
              <a:cs typeface="Times New Roman" pitchFamily="18" charset="0"/>
            </a:endParaRPr>
          </a:p>
          <a:p>
            <a:pPr eaLnBrk="1" hangingPunct="1"/>
            <a:endParaRPr lang="en-US" sz="2800" dirty="0">
              <a:latin typeface="Times New Roman" pitchFamily="18" charset="0"/>
              <a:cs typeface="Times New Roman" pitchFamily="18" charset="0"/>
            </a:endParaRPr>
          </a:p>
          <a:p>
            <a:pPr eaLnBrk="1" hangingPunct="1"/>
            <a:r>
              <a:rPr lang="en-US" sz="2800" dirty="0" smtClean="0">
                <a:latin typeface="Times New Roman" pitchFamily="18" charset="0"/>
                <a:cs typeface="Times New Roman" pitchFamily="18" charset="0"/>
              </a:rPr>
              <a:t>Almost </a:t>
            </a:r>
            <a:r>
              <a:rPr lang="en-US" sz="2800" dirty="0">
                <a:latin typeface="Times New Roman" pitchFamily="18" charset="0"/>
                <a:cs typeface="Times New Roman" pitchFamily="18" charset="0"/>
              </a:rPr>
              <a:t>all values fall within 3 standard deviations. </a:t>
            </a:r>
          </a:p>
        </p:txBody>
      </p:sp>
    </p:spTree>
    <p:extLst>
      <p:ext uri="{BB962C8B-B14F-4D97-AF65-F5344CB8AC3E}">
        <p14:creationId xmlns="" xmlns:p14="http://schemas.microsoft.com/office/powerpoint/2010/main" val="346828087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a:xfrm>
            <a:off x="381000" y="0"/>
            <a:ext cx="8229600" cy="1143000"/>
          </a:xfrm>
        </p:spPr>
        <p:txBody>
          <a:bodyPr/>
          <a:lstStyle/>
          <a:p>
            <a:r>
              <a:rPr lang="en-US" sz="3200" b="0" dirty="0">
                <a:solidFill>
                  <a:srgbClr val="000000"/>
                </a:solidFill>
                <a:latin typeface="Times New Roman" pitchFamily="18" charset="0"/>
              </a:rPr>
              <a:t>68-95-99.7 </a:t>
            </a:r>
            <a:r>
              <a:rPr lang="en-US" sz="3200" b="0" dirty="0" smtClean="0">
                <a:solidFill>
                  <a:srgbClr val="000000"/>
                </a:solidFill>
                <a:latin typeface="Times New Roman" pitchFamily="18" charset="0"/>
              </a:rPr>
              <a:t>Rule in </a:t>
            </a:r>
            <a:r>
              <a:rPr lang="en-US" sz="3200" b="0" dirty="0">
                <a:solidFill>
                  <a:srgbClr val="000000"/>
                </a:solidFill>
                <a:latin typeface="Times New Roman" pitchFamily="18" charset="0"/>
              </a:rPr>
              <a:t>Math terms…</a:t>
            </a:r>
          </a:p>
        </p:txBody>
      </p:sp>
      <p:graphicFrame>
        <p:nvGraphicFramePr>
          <p:cNvPr id="356358" name="Object 6"/>
          <p:cNvGraphicFramePr>
            <a:graphicFrameLocks noChangeAspect="1"/>
          </p:cNvGraphicFramePr>
          <p:nvPr>
            <p:extLst>
              <p:ext uri="{D42A27DB-BD31-4B8C-83A1-F6EECF244321}">
                <p14:modId xmlns="" xmlns:p14="http://schemas.microsoft.com/office/powerpoint/2010/main" val="3226889940"/>
              </p:ext>
            </p:extLst>
          </p:nvPr>
        </p:nvGraphicFramePr>
        <p:xfrm>
          <a:off x="1981200" y="1143000"/>
          <a:ext cx="5393539" cy="4495800"/>
        </p:xfrm>
        <a:graphic>
          <a:graphicData uri="http://schemas.openxmlformats.org/presentationml/2006/ole">
            <p:oleObj spid="_x0000_s924704" name="Equation" r:id="rId3" imgW="1816100" imgH="1511300" progId="Equation.3">
              <p:embed/>
            </p:oleObj>
          </a:graphicData>
        </a:graphic>
      </p:graphicFrame>
    </p:spTree>
    <p:extLst>
      <p:ext uri="{BB962C8B-B14F-4D97-AF65-F5344CB8AC3E}">
        <p14:creationId xmlns="" xmlns:p14="http://schemas.microsoft.com/office/powerpoint/2010/main" val="419444218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395207" y="98156"/>
            <a:ext cx="8229600" cy="1143000"/>
          </a:xfrm>
        </p:spPr>
        <p:txBody>
          <a:bodyPr/>
          <a:lstStyle/>
          <a:p>
            <a:pPr defTabSz="852488"/>
            <a:r>
              <a:rPr lang="en-US" dirty="0">
                <a:solidFill>
                  <a:srgbClr val="000000"/>
                </a:solidFill>
                <a:latin typeface="Times New Roman" pitchFamily="18" charset="0"/>
              </a:rPr>
              <a:t>68-95-99.7 Rule</a:t>
            </a:r>
            <a:endParaRPr lang="en-US" dirty="0">
              <a:latin typeface="Times New Roman" pitchFamily="18" charset="0"/>
            </a:endParaRPr>
          </a:p>
        </p:txBody>
      </p:sp>
      <p:grpSp>
        <p:nvGrpSpPr>
          <p:cNvPr id="3" name="Group 2"/>
          <p:cNvGrpSpPr/>
          <p:nvPr/>
        </p:nvGrpSpPr>
        <p:grpSpPr>
          <a:xfrm>
            <a:off x="530817" y="1053885"/>
            <a:ext cx="8383291" cy="4965915"/>
            <a:chOff x="530817" y="1053885"/>
            <a:chExt cx="8383291" cy="4965915"/>
          </a:xfrm>
        </p:grpSpPr>
        <p:pic>
          <p:nvPicPr>
            <p:cNvPr id="249859" name="Picture 3" descr="normal"/>
            <p:cNvPicPr>
              <a:picLocks noChangeAspect="1" noChangeArrowheads="1"/>
            </p:cNvPicPr>
            <p:nvPr/>
          </p:nvPicPr>
          <p:blipFill rotWithShape="1">
            <a:blip r:embed="rId3">
              <a:extLst>
                <a:ext uri="{28A0092B-C50C-407E-A947-70E740481C1C}">
                  <a14:useLocalDpi xmlns="" xmlns:a14="http://schemas.microsoft.com/office/drawing/2010/main" val="0"/>
                </a:ext>
              </a:extLst>
            </a:blip>
            <a:srcRect t="2565" b="8186"/>
            <a:stretch/>
          </p:blipFill>
          <p:spPr bwMode="auto">
            <a:xfrm>
              <a:off x="530817" y="1053885"/>
              <a:ext cx="8229600" cy="4485695"/>
            </a:xfrm>
            <a:prstGeom prst="rect">
              <a:avLst/>
            </a:prstGeom>
            <a:noFill/>
            <a:extLst>
              <a:ext uri="{909E8E84-426E-40DD-AFC4-6F175D3DCCD1}">
                <a14:hiddenFill xmlns="" xmlns:a14="http://schemas.microsoft.com/office/drawing/2010/main">
                  <a:solidFill>
                    <a:srgbClr val="FFFFFF"/>
                  </a:solidFill>
                </a14:hiddenFill>
              </a:ext>
            </a:extLst>
          </p:spPr>
        </p:pic>
        <p:grpSp>
          <p:nvGrpSpPr>
            <p:cNvPr id="249860" name="Group 4"/>
            <p:cNvGrpSpPr>
              <a:grpSpLocks/>
            </p:cNvGrpSpPr>
            <p:nvPr/>
          </p:nvGrpSpPr>
          <p:grpSpPr bwMode="auto">
            <a:xfrm>
              <a:off x="3886200" y="2743200"/>
              <a:ext cx="1447800" cy="990600"/>
              <a:chOff x="2448" y="1968"/>
              <a:chExt cx="912" cy="624"/>
            </a:xfrm>
          </p:grpSpPr>
          <p:sp>
            <p:nvSpPr>
              <p:cNvPr id="249861" name="Line 5"/>
              <p:cNvSpPr>
                <a:spLocks noChangeShapeType="1"/>
              </p:cNvSpPr>
              <p:nvPr/>
            </p:nvSpPr>
            <p:spPr bwMode="auto">
              <a:xfrm flipH="1">
                <a:off x="2496" y="2592"/>
                <a:ext cx="691" cy="0"/>
              </a:xfrm>
              <a:prstGeom prst="line">
                <a:avLst/>
              </a:prstGeom>
              <a:noFill/>
              <a:ln w="19050">
                <a:solidFill>
                  <a:srgbClr val="000000"/>
                </a:solidFill>
                <a:miter lim="800000"/>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bIns="0" anchor="ctr"/>
              <a:lstStyle/>
              <a:p>
                <a:endParaRPr lang="en-US"/>
              </a:p>
            </p:txBody>
          </p:sp>
          <p:sp>
            <p:nvSpPr>
              <p:cNvPr id="249862" name="Line 6"/>
              <p:cNvSpPr>
                <a:spLocks noChangeShapeType="1"/>
              </p:cNvSpPr>
              <p:nvPr/>
            </p:nvSpPr>
            <p:spPr bwMode="auto">
              <a:xfrm>
                <a:off x="2928" y="2592"/>
                <a:ext cx="432" cy="0"/>
              </a:xfrm>
              <a:prstGeom prst="line">
                <a:avLst/>
              </a:prstGeom>
              <a:noFill/>
              <a:ln w="19050">
                <a:solidFill>
                  <a:srgbClr val="000000"/>
                </a:solidFill>
                <a:miter lim="800000"/>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bIns="0" anchor="ctr"/>
              <a:lstStyle/>
              <a:p>
                <a:endParaRPr lang="en-US"/>
              </a:p>
            </p:txBody>
          </p:sp>
          <p:sp>
            <p:nvSpPr>
              <p:cNvPr id="249863" name="Text Box 7"/>
              <p:cNvSpPr txBox="1">
                <a:spLocks noChangeArrowheads="1"/>
              </p:cNvSpPr>
              <p:nvPr/>
            </p:nvSpPr>
            <p:spPr bwMode="auto">
              <a:xfrm>
                <a:off x="2448" y="1968"/>
                <a:ext cx="912" cy="489"/>
              </a:xfrm>
              <a:prstGeom prst="rect">
                <a:avLst/>
              </a:prstGeom>
              <a:solidFill>
                <a:srgbClr val="FFFFFF">
                  <a:alpha val="50000"/>
                </a:srgbClr>
              </a:solidFill>
              <a:ln>
                <a:noFill/>
              </a:ln>
              <a:effectLst/>
              <a:extLs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pPr eaLnBrk="1" hangingPunct="1">
                  <a:spcBef>
                    <a:spcPct val="50000"/>
                  </a:spcBef>
                </a:pPr>
                <a:r>
                  <a:rPr lang="en-US" sz="2400" b="1">
                    <a:solidFill>
                      <a:srgbClr val="000000"/>
                    </a:solidFill>
                    <a:latin typeface="Times New Roman" pitchFamily="18" charset="0"/>
                  </a:rPr>
                  <a:t>68% of the data</a:t>
                </a:r>
              </a:p>
            </p:txBody>
          </p:sp>
        </p:grpSp>
        <p:sp>
          <p:nvSpPr>
            <p:cNvPr id="249865" name="Rectangle 9"/>
            <p:cNvSpPr>
              <a:spLocks noChangeArrowheads="1"/>
            </p:cNvSpPr>
            <p:nvPr/>
          </p:nvSpPr>
          <p:spPr bwMode="auto">
            <a:xfrm>
              <a:off x="533400" y="1600200"/>
              <a:ext cx="533400" cy="685800"/>
            </a:xfrm>
            <a:prstGeom prst="rect">
              <a:avLst/>
            </a:prstGeom>
            <a:solidFill>
              <a:srgbClr val="FFFFFF"/>
            </a:solidFill>
            <a:ln w="9525">
              <a:solidFill>
                <a:srgbClr val="FFFFFF"/>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bIns="0" anchor="ctr"/>
            <a:lstStyle/>
            <a:p>
              <a:endParaRPr lang="en-US"/>
            </a:p>
          </p:txBody>
        </p:sp>
        <p:grpSp>
          <p:nvGrpSpPr>
            <p:cNvPr id="249866" name="Group 10"/>
            <p:cNvGrpSpPr>
              <a:grpSpLocks/>
            </p:cNvGrpSpPr>
            <p:nvPr/>
          </p:nvGrpSpPr>
          <p:grpSpPr bwMode="auto">
            <a:xfrm>
              <a:off x="3124200" y="3962400"/>
              <a:ext cx="3035300" cy="587376"/>
              <a:chOff x="1968" y="2750"/>
              <a:chExt cx="1912" cy="370"/>
            </a:xfrm>
          </p:grpSpPr>
          <p:sp>
            <p:nvSpPr>
              <p:cNvPr id="249867" name="Line 11"/>
              <p:cNvSpPr>
                <a:spLocks noChangeShapeType="1"/>
              </p:cNvSpPr>
              <p:nvPr/>
            </p:nvSpPr>
            <p:spPr bwMode="auto">
              <a:xfrm flipH="1">
                <a:off x="1968" y="3120"/>
                <a:ext cx="1064" cy="0"/>
              </a:xfrm>
              <a:prstGeom prst="line">
                <a:avLst/>
              </a:prstGeom>
              <a:noFill/>
              <a:ln w="19050">
                <a:solidFill>
                  <a:srgbClr val="000000"/>
                </a:solidFill>
                <a:miter lim="800000"/>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bIns="0" anchor="ctr"/>
              <a:lstStyle/>
              <a:p>
                <a:endParaRPr lang="en-US"/>
              </a:p>
            </p:txBody>
          </p:sp>
          <p:sp>
            <p:nvSpPr>
              <p:cNvPr id="249868" name="Line 12"/>
              <p:cNvSpPr>
                <a:spLocks noChangeShapeType="1"/>
              </p:cNvSpPr>
              <p:nvPr/>
            </p:nvSpPr>
            <p:spPr bwMode="auto">
              <a:xfrm>
                <a:off x="3024" y="3120"/>
                <a:ext cx="856" cy="0"/>
              </a:xfrm>
              <a:prstGeom prst="line">
                <a:avLst/>
              </a:prstGeom>
              <a:noFill/>
              <a:ln w="19050">
                <a:solidFill>
                  <a:srgbClr val="000000"/>
                </a:solidFill>
                <a:miter lim="800000"/>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bIns="0" anchor="ctr"/>
              <a:lstStyle/>
              <a:p>
                <a:endParaRPr lang="en-US"/>
              </a:p>
            </p:txBody>
          </p:sp>
          <p:sp>
            <p:nvSpPr>
              <p:cNvPr id="249869" name="Text Box 13"/>
              <p:cNvSpPr txBox="1">
                <a:spLocks noChangeArrowheads="1"/>
              </p:cNvSpPr>
              <p:nvPr/>
            </p:nvSpPr>
            <p:spPr bwMode="auto">
              <a:xfrm>
                <a:off x="2224" y="2750"/>
                <a:ext cx="1429" cy="259"/>
              </a:xfrm>
              <a:prstGeom prst="rect">
                <a:avLst/>
              </a:prstGeom>
              <a:solidFill>
                <a:srgbClr val="FFFFFF">
                  <a:alpha val="50000"/>
                </a:srgbClr>
              </a:solidFill>
              <a:ln>
                <a:noFill/>
              </a:ln>
              <a:effectLst/>
              <a:extLs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pPr eaLnBrk="1" hangingPunct="1">
                  <a:spcBef>
                    <a:spcPct val="50000"/>
                  </a:spcBef>
                </a:pPr>
                <a:r>
                  <a:rPr lang="en-US" sz="2400" b="1" dirty="0">
                    <a:solidFill>
                      <a:srgbClr val="000000"/>
                    </a:solidFill>
                    <a:latin typeface="Times New Roman" pitchFamily="18" charset="0"/>
                  </a:rPr>
                  <a:t>95% of the data</a:t>
                </a:r>
              </a:p>
            </p:txBody>
          </p:sp>
        </p:grpSp>
        <p:grpSp>
          <p:nvGrpSpPr>
            <p:cNvPr id="249870" name="Group 14"/>
            <p:cNvGrpSpPr>
              <a:grpSpLocks/>
            </p:cNvGrpSpPr>
            <p:nvPr/>
          </p:nvGrpSpPr>
          <p:grpSpPr bwMode="auto">
            <a:xfrm>
              <a:off x="2057400" y="4800599"/>
              <a:ext cx="5105400" cy="609601"/>
              <a:chOff x="1248" y="3216"/>
              <a:chExt cx="3216" cy="384"/>
            </a:xfrm>
          </p:grpSpPr>
          <p:sp>
            <p:nvSpPr>
              <p:cNvPr id="249871" name="Line 15"/>
              <p:cNvSpPr>
                <a:spLocks noChangeShapeType="1"/>
              </p:cNvSpPr>
              <p:nvPr/>
            </p:nvSpPr>
            <p:spPr bwMode="auto">
              <a:xfrm flipH="1">
                <a:off x="1248" y="3600"/>
                <a:ext cx="1832" cy="0"/>
              </a:xfrm>
              <a:prstGeom prst="line">
                <a:avLst/>
              </a:prstGeom>
              <a:noFill/>
              <a:ln w="19050">
                <a:solidFill>
                  <a:srgbClr val="000000"/>
                </a:solidFill>
                <a:miter lim="800000"/>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bIns="0" anchor="ctr"/>
              <a:lstStyle/>
              <a:p>
                <a:endParaRPr lang="en-US"/>
              </a:p>
            </p:txBody>
          </p:sp>
          <p:sp>
            <p:nvSpPr>
              <p:cNvPr id="249872" name="Line 16"/>
              <p:cNvSpPr>
                <a:spLocks noChangeShapeType="1"/>
              </p:cNvSpPr>
              <p:nvPr/>
            </p:nvSpPr>
            <p:spPr bwMode="auto">
              <a:xfrm>
                <a:off x="3072" y="3600"/>
                <a:ext cx="1392" cy="0"/>
              </a:xfrm>
              <a:prstGeom prst="line">
                <a:avLst/>
              </a:prstGeom>
              <a:noFill/>
              <a:ln w="19050">
                <a:solidFill>
                  <a:srgbClr val="000000"/>
                </a:solidFill>
                <a:miter lim="800000"/>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bIns="0" anchor="ctr"/>
              <a:lstStyle/>
              <a:p>
                <a:endParaRPr lang="en-US"/>
              </a:p>
            </p:txBody>
          </p:sp>
          <p:sp>
            <p:nvSpPr>
              <p:cNvPr id="249873" name="Text Box 17"/>
              <p:cNvSpPr txBox="1">
                <a:spLocks noChangeArrowheads="1"/>
              </p:cNvSpPr>
              <p:nvPr/>
            </p:nvSpPr>
            <p:spPr bwMode="auto">
              <a:xfrm>
                <a:off x="1968" y="3216"/>
                <a:ext cx="1920" cy="259"/>
              </a:xfrm>
              <a:prstGeom prst="rect">
                <a:avLst/>
              </a:prstGeom>
              <a:solidFill>
                <a:srgbClr val="FFFFFF">
                  <a:alpha val="50000"/>
                </a:srgbClr>
              </a:solidFill>
              <a:ln>
                <a:noFill/>
              </a:ln>
              <a:effectLst/>
              <a:extLs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pPr eaLnBrk="1" hangingPunct="1">
                  <a:spcBef>
                    <a:spcPct val="50000"/>
                  </a:spcBef>
                </a:pPr>
                <a:r>
                  <a:rPr lang="en-US" sz="2400" b="1" dirty="0">
                    <a:solidFill>
                      <a:srgbClr val="000000"/>
                    </a:solidFill>
                    <a:latin typeface="Times New Roman" pitchFamily="18" charset="0"/>
                  </a:rPr>
                  <a:t>99.7% of the data</a:t>
                </a:r>
              </a:p>
            </p:txBody>
          </p:sp>
        </p:grpSp>
        <p:sp>
          <p:nvSpPr>
            <p:cNvPr id="249874" name="Rectangle 18"/>
            <p:cNvSpPr>
              <a:spLocks noChangeArrowheads="1"/>
            </p:cNvSpPr>
            <p:nvPr/>
          </p:nvSpPr>
          <p:spPr bwMode="auto">
            <a:xfrm>
              <a:off x="687091" y="5334000"/>
              <a:ext cx="8227017" cy="685800"/>
            </a:xfrm>
            <a:prstGeom prst="rect">
              <a:avLst/>
            </a:prstGeom>
            <a:solidFill>
              <a:srgbClr val="FFFFFF"/>
            </a:solidFill>
            <a:ln w="9525">
              <a:solidFill>
                <a:srgbClr val="FFFFFF"/>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bIns="0" anchor="ctr"/>
            <a:lstStyle/>
            <a:p>
              <a:r>
                <a:rPr lang="en-US" sz="2800" dirty="0" smtClean="0">
                  <a:latin typeface="+mj-lt"/>
                </a:rPr>
                <a:t>         </a:t>
              </a:r>
              <a:r>
                <a:rPr lang="el-GR" sz="2800" dirty="0" smtClean="0">
                  <a:latin typeface="+mj-lt"/>
                </a:rPr>
                <a:t>μ-3σ</a:t>
              </a:r>
              <a:r>
                <a:rPr lang="en-US" sz="2800" dirty="0" smtClean="0">
                  <a:latin typeface="+mj-lt"/>
                </a:rPr>
                <a:t>   </a:t>
              </a:r>
              <a:r>
                <a:rPr lang="el-GR" sz="2800" dirty="0" smtClean="0">
                  <a:latin typeface="+mj-lt"/>
                </a:rPr>
                <a:t>μ</a:t>
              </a:r>
              <a:r>
                <a:rPr lang="en-US" sz="2800" dirty="0" smtClean="0">
                  <a:latin typeface="+mj-lt"/>
                </a:rPr>
                <a:t>-2</a:t>
              </a:r>
              <a:r>
                <a:rPr lang="el-GR" sz="2800" dirty="0" smtClean="0">
                  <a:latin typeface="+mj-lt"/>
                </a:rPr>
                <a:t>σ</a:t>
              </a:r>
              <a:r>
                <a:rPr lang="en-US" sz="2800" dirty="0" smtClean="0">
                  <a:latin typeface="+mj-lt"/>
                </a:rPr>
                <a:t>   </a:t>
              </a:r>
              <a:r>
                <a:rPr lang="el-GR" sz="2800" dirty="0" smtClean="0">
                  <a:latin typeface="+mj-lt"/>
                </a:rPr>
                <a:t>μ-σ</a:t>
              </a:r>
              <a:r>
                <a:rPr lang="en-US" sz="2800" dirty="0" smtClean="0">
                  <a:latin typeface="+mj-lt"/>
                </a:rPr>
                <a:t>      </a:t>
              </a:r>
              <a:r>
                <a:rPr lang="el-GR" sz="2800" dirty="0" smtClean="0">
                  <a:latin typeface="+mj-lt"/>
                </a:rPr>
                <a:t>μ </a:t>
              </a:r>
              <a:r>
                <a:rPr lang="en-US" sz="2800" dirty="0" smtClean="0">
                  <a:latin typeface="+mj-lt"/>
                </a:rPr>
                <a:t>    </a:t>
              </a:r>
              <a:r>
                <a:rPr lang="el-GR" sz="2800" dirty="0" smtClean="0">
                  <a:latin typeface="+mj-lt"/>
                </a:rPr>
                <a:t>μ</a:t>
              </a:r>
              <a:r>
                <a:rPr lang="en-US" sz="2800" dirty="0" smtClean="0">
                  <a:latin typeface="+mj-lt"/>
                </a:rPr>
                <a:t>+</a:t>
              </a:r>
              <a:r>
                <a:rPr lang="el-GR" sz="2800" dirty="0" smtClean="0">
                  <a:latin typeface="+mj-lt"/>
                </a:rPr>
                <a:t>σ  μ</a:t>
              </a:r>
              <a:r>
                <a:rPr lang="en-US" sz="2800" dirty="0" smtClean="0">
                  <a:latin typeface="+mj-lt"/>
                </a:rPr>
                <a:t>+</a:t>
              </a:r>
              <a:r>
                <a:rPr lang="el-GR" sz="2800" dirty="0" smtClean="0">
                  <a:latin typeface="+mj-lt"/>
                </a:rPr>
                <a:t>2σ </a:t>
              </a:r>
              <a:r>
                <a:rPr lang="en-US" sz="2800" dirty="0" smtClean="0">
                  <a:latin typeface="+mj-lt"/>
                </a:rPr>
                <a:t>  </a:t>
              </a:r>
              <a:r>
                <a:rPr lang="el-GR" sz="2800" dirty="0" smtClean="0">
                  <a:latin typeface="+mj-lt"/>
                </a:rPr>
                <a:t>μ</a:t>
              </a:r>
              <a:r>
                <a:rPr lang="en-US" sz="2800" dirty="0" smtClean="0">
                  <a:latin typeface="+mj-lt"/>
                </a:rPr>
                <a:t>+3</a:t>
              </a:r>
              <a:r>
                <a:rPr lang="el-GR" sz="2800" dirty="0" smtClean="0">
                  <a:latin typeface="+mj-lt"/>
                </a:rPr>
                <a:t>σ</a:t>
              </a:r>
              <a:endParaRPr lang="el-GR" sz="2800" dirty="0">
                <a:latin typeface="+mj-lt"/>
              </a:endParaRPr>
            </a:p>
          </p:txBody>
        </p:sp>
      </p:grpSp>
    </p:spTree>
    <p:extLst>
      <p:ext uri="{BB962C8B-B14F-4D97-AF65-F5344CB8AC3E}">
        <p14:creationId xmlns="" xmlns:p14="http://schemas.microsoft.com/office/powerpoint/2010/main" val="181769304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idx="4294967295"/>
          </p:nvPr>
        </p:nvSpPr>
        <p:spPr>
          <a:xfrm>
            <a:off x="685800" y="0"/>
            <a:ext cx="7772400" cy="1143000"/>
          </a:xfrm>
          <a:prstGeom prst="rect">
            <a:avLst/>
          </a:prstGeom>
        </p:spPr>
        <p:txBody>
          <a:bodyPr/>
          <a:lstStyle/>
          <a:p>
            <a:pPr eaLnBrk="1" hangingPunct="1"/>
            <a:r>
              <a:rPr lang="en-US" b="0" dirty="0" smtClean="0"/>
              <a:t>How Do You Get </a:t>
            </a:r>
            <a:r>
              <a:rPr lang="en-US" b="0" dirty="0" smtClean="0">
                <a:sym typeface="Symbol" pitchFamily="18" charset="2"/>
              </a:rPr>
              <a:t> and ?</a:t>
            </a:r>
            <a:endParaRPr lang="en-US" b="0" dirty="0" smtClean="0"/>
          </a:p>
        </p:txBody>
      </p:sp>
      <p:sp>
        <p:nvSpPr>
          <p:cNvPr id="3076" name="Rectangle 3"/>
          <p:cNvSpPr>
            <a:spLocks noGrp="1" noChangeArrowheads="1"/>
          </p:cNvSpPr>
          <p:nvPr>
            <p:ph type="body" idx="1"/>
          </p:nvPr>
        </p:nvSpPr>
        <p:spPr>
          <a:xfrm>
            <a:off x="304800" y="1066800"/>
            <a:ext cx="8686800" cy="5257800"/>
          </a:xfrm>
        </p:spPr>
        <p:txBody>
          <a:bodyPr/>
          <a:lstStyle/>
          <a:p>
            <a:pPr eaLnBrk="1" hangingPunct="1">
              <a:defRPr/>
            </a:pPr>
            <a:r>
              <a:rPr lang="en-US" dirty="0" smtClean="0"/>
              <a:t>To draw a normal distribution  </a:t>
            </a:r>
            <a:r>
              <a:rPr lang="en-US" dirty="0" smtClean="0">
                <a:sym typeface="Symbol" pitchFamily="18" charset="2"/>
              </a:rPr>
              <a:t> and  have to be known</a:t>
            </a:r>
          </a:p>
          <a:p>
            <a:pPr lvl="1" eaLnBrk="1" hangingPunct="1">
              <a:buFontTx/>
              <a:buNone/>
              <a:defRPr/>
            </a:pPr>
            <a:endParaRPr lang="en-US" dirty="0" smtClean="0">
              <a:sym typeface="Symbol" pitchFamily="18" charset="2"/>
            </a:endParaRPr>
          </a:p>
          <a:p>
            <a:pPr eaLnBrk="1" hangingPunct="1">
              <a:defRPr/>
            </a:pPr>
            <a:endParaRPr lang="en-US" dirty="0" smtClean="0">
              <a:sym typeface="Symbol" pitchFamily="18" charset="2"/>
            </a:endParaRPr>
          </a:p>
          <a:p>
            <a:pPr eaLnBrk="1" hangingPunct="1">
              <a:defRPr/>
            </a:pPr>
            <a:endParaRPr lang="en-US" dirty="0" smtClean="0">
              <a:sym typeface="Symbol" pitchFamily="18" charset="2"/>
            </a:endParaRPr>
          </a:p>
          <a:p>
            <a:pPr eaLnBrk="1" hangingPunct="1">
              <a:defRPr/>
            </a:pPr>
            <a:endParaRPr lang="en-US" dirty="0" smtClean="0">
              <a:sym typeface="Symbol" pitchFamily="18" charset="2"/>
            </a:endParaRPr>
          </a:p>
          <a:p>
            <a:pPr eaLnBrk="1" hangingPunct="1">
              <a:defRPr/>
            </a:pPr>
            <a:r>
              <a:rPr lang="en-US" dirty="0" smtClean="0">
                <a:sym typeface="Symbol" pitchFamily="18" charset="2"/>
              </a:rPr>
              <a:t>If infinite number of measurements are made on population , their mean would be  and their standard deviation would be </a:t>
            </a:r>
          </a:p>
          <a:p>
            <a:pPr lvl="1" eaLnBrk="1" hangingPunct="1">
              <a:buFontTx/>
              <a:buNone/>
              <a:defRPr/>
            </a:pPr>
            <a:r>
              <a:rPr lang="en-US" dirty="0" smtClean="0">
                <a:solidFill>
                  <a:schemeClr val="accent6"/>
                </a:solidFill>
                <a:sym typeface="Symbol" pitchFamily="18" charset="2"/>
              </a:rPr>
              <a:t>     </a:t>
            </a:r>
            <a:r>
              <a:rPr lang="en-US" sz="2400" dirty="0" smtClean="0">
                <a:solidFill>
                  <a:schemeClr val="accent6"/>
                </a:solidFill>
                <a:sym typeface="Symbol" pitchFamily="18" charset="2"/>
              </a:rPr>
              <a:t>In practice, a finite number of measurements (sampling) are made with mean </a:t>
            </a:r>
            <a:r>
              <a:rPr lang="en-US" sz="2400" b="1" i="1" dirty="0" smtClean="0">
                <a:solidFill>
                  <a:schemeClr val="accent6"/>
                </a:solidFill>
                <a:sym typeface="Symbol" pitchFamily="18" charset="2"/>
              </a:rPr>
              <a:t>x</a:t>
            </a:r>
            <a:r>
              <a:rPr lang="en-US" sz="2400" dirty="0" smtClean="0">
                <a:solidFill>
                  <a:schemeClr val="accent6"/>
                </a:solidFill>
                <a:sym typeface="Symbol" pitchFamily="18" charset="2"/>
              </a:rPr>
              <a:t> and  standard deviation s in sampled space</a:t>
            </a:r>
            <a:endParaRPr lang="en-US" dirty="0" smtClean="0">
              <a:solidFill>
                <a:schemeClr val="accent6"/>
              </a:solidFill>
              <a:sym typeface="Symbol" pitchFamily="18" charset="2"/>
            </a:endParaRPr>
          </a:p>
        </p:txBody>
      </p:sp>
      <p:sp>
        <p:nvSpPr>
          <p:cNvPr id="3077" name="Text Box 4"/>
          <p:cNvSpPr txBox="1">
            <a:spLocks noChangeArrowheads="1"/>
          </p:cNvSpPr>
          <p:nvPr/>
        </p:nvSpPr>
        <p:spPr bwMode="auto">
          <a:xfrm>
            <a:off x="2803525" y="5173663"/>
            <a:ext cx="184150" cy="457200"/>
          </a:xfrm>
          <a:prstGeom prst="rect">
            <a:avLst/>
          </a:prstGeom>
          <a:noFill/>
          <a:ln w="9525">
            <a:noFill/>
            <a:miter lim="800000"/>
            <a:headEnd/>
            <a:tailEnd/>
          </a:ln>
        </p:spPr>
        <p:txBody>
          <a:bodyPr>
            <a:spAutoFit/>
          </a:bodyPr>
          <a:lstStyle/>
          <a:p>
            <a:pPr eaLnBrk="1" hangingPunct="1">
              <a:spcBef>
                <a:spcPct val="50000"/>
              </a:spcBef>
            </a:pPr>
            <a:endParaRPr lang="nl-NL" sz="2400">
              <a:latin typeface="Times New Roman" pitchFamily="18" charset="0"/>
            </a:endParaRPr>
          </a:p>
        </p:txBody>
      </p:sp>
      <p:graphicFrame>
        <p:nvGraphicFramePr>
          <p:cNvPr id="2" name="Object 3"/>
          <p:cNvGraphicFramePr>
            <a:graphicFrameLocks noChangeAspect="1"/>
          </p:cNvGraphicFramePr>
          <p:nvPr/>
        </p:nvGraphicFramePr>
        <p:xfrm>
          <a:off x="2133600" y="1738313"/>
          <a:ext cx="4114800" cy="1173162"/>
        </p:xfrm>
        <a:graphic>
          <a:graphicData uri="http://schemas.openxmlformats.org/presentationml/2006/ole">
            <p:oleObj spid="_x0000_s672826" name="Equation" r:id="rId3" imgW="1447800" imgH="508000" progId="Equation.3">
              <p:embed/>
            </p:oleObj>
          </a:graphicData>
        </a:graphic>
      </p:graphicFrame>
      <p:sp>
        <p:nvSpPr>
          <p:cNvPr id="6" name="Date Placeholder 5"/>
          <p:cNvSpPr>
            <a:spLocks noGrp="1"/>
          </p:cNvSpPr>
          <p:nvPr>
            <p:ph type="dt" sz="half" idx="10"/>
          </p:nvPr>
        </p:nvSpPr>
        <p:spPr/>
        <p:txBody>
          <a:bodyPr/>
          <a:lstStyle/>
          <a:p>
            <a:r>
              <a:rPr lang="en-US" smtClean="0"/>
              <a:t>Prof. A. K. Datta     University of Calcutta</a:t>
            </a:r>
            <a:endParaRPr lang="en-IN" dirty="0"/>
          </a:p>
        </p:txBody>
      </p:sp>
      <p:sp>
        <p:nvSpPr>
          <p:cNvPr id="7" name="Slide Number Placeholder 6"/>
          <p:cNvSpPr>
            <a:spLocks noGrp="1"/>
          </p:cNvSpPr>
          <p:nvPr>
            <p:ph type="sldNum" sz="quarter" idx="11"/>
          </p:nvPr>
        </p:nvSpPr>
        <p:spPr/>
        <p:txBody>
          <a:bodyPr/>
          <a:lstStyle/>
          <a:p>
            <a:fld id="{BF2D74FB-8EB9-4DEE-8258-980F8375AF4A}" type="slidenum">
              <a:rPr lang="en-IN" smtClean="0"/>
              <a:pPr/>
              <a:t>83</a:t>
            </a:fld>
            <a:endParaRPr lang="en-IN" dirty="0"/>
          </a:p>
        </p:txBody>
      </p:sp>
      <p:sp>
        <p:nvSpPr>
          <p:cNvPr id="8" name="Footer Placeholder 7"/>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152400" y="-533400"/>
            <a:ext cx="8991600" cy="1066800"/>
          </a:xfrm>
        </p:spPr>
        <p:txBody>
          <a:bodyPr/>
          <a:lstStyle/>
          <a:p>
            <a:pPr defTabSz="852488"/>
            <a:r>
              <a:rPr lang="en-US" sz="3200" b="0" dirty="0">
                <a:latin typeface="Times New Roman" pitchFamily="18" charset="0"/>
                <a:cs typeface="Times New Roman" pitchFamily="18" charset="0"/>
              </a:rPr>
              <a:t/>
            </a:r>
            <a:br>
              <a:rPr lang="en-US" sz="3200" b="0" dirty="0">
                <a:latin typeface="Times New Roman" pitchFamily="18" charset="0"/>
                <a:cs typeface="Times New Roman" pitchFamily="18" charset="0"/>
              </a:rPr>
            </a:br>
            <a:r>
              <a:rPr lang="en-US" sz="3200" b="0" dirty="0">
                <a:latin typeface="Times New Roman" pitchFamily="18" charset="0"/>
                <a:cs typeface="Times New Roman" pitchFamily="18" charset="0"/>
              </a:rPr>
              <a:t>The Standard Normal Distribution </a:t>
            </a:r>
            <a:r>
              <a:rPr lang="en-US" sz="3200" b="0" dirty="0" smtClean="0">
                <a:latin typeface="Times New Roman" pitchFamily="18" charset="0"/>
                <a:cs typeface="Times New Roman" pitchFamily="18" charset="0"/>
              </a:rPr>
              <a:t>Z  </a:t>
            </a:r>
            <a:endParaRPr lang="en-US" sz="3200" b="0" dirty="0">
              <a:latin typeface="Times New Roman" pitchFamily="18" charset="0"/>
              <a:cs typeface="Times New Roman" pitchFamily="18" charset="0"/>
            </a:endParaRPr>
          </a:p>
        </p:txBody>
      </p:sp>
      <p:sp>
        <p:nvSpPr>
          <p:cNvPr id="274435" name="Rectangle 3"/>
          <p:cNvSpPr>
            <a:spLocks noGrp="1" noChangeArrowheads="1"/>
          </p:cNvSpPr>
          <p:nvPr>
            <p:ph type="body" idx="1"/>
          </p:nvPr>
        </p:nvSpPr>
        <p:spPr>
          <a:xfrm>
            <a:off x="381000" y="762000"/>
            <a:ext cx="8229600" cy="1524000"/>
          </a:xfrm>
        </p:spPr>
        <p:txBody>
          <a:bodyPr/>
          <a:lstStyle/>
          <a:p>
            <a:pPr>
              <a:buFont typeface="Wingdings" pitchFamily="2" charset="2"/>
              <a:buNone/>
            </a:pPr>
            <a:r>
              <a:rPr lang="en-US" dirty="0">
                <a:latin typeface="Times New Roman" pitchFamily="18" charset="0"/>
                <a:cs typeface="Times New Roman" pitchFamily="18" charset="0"/>
              </a:rPr>
              <a:t> 	A normal distribution whose </a:t>
            </a:r>
            <a:r>
              <a:rPr lang="en-US" b="1" dirty="0">
                <a:solidFill>
                  <a:srgbClr val="0000CC"/>
                </a:solidFill>
                <a:latin typeface="Times New Roman" pitchFamily="18" charset="0"/>
                <a:cs typeface="Times New Roman" pitchFamily="18" charset="0"/>
              </a:rPr>
              <a:t>mean is 0 </a:t>
            </a:r>
            <a:r>
              <a:rPr lang="en-US" dirty="0">
                <a:solidFill>
                  <a:srgbClr val="0000CC"/>
                </a:solidFill>
                <a:latin typeface="Times New Roman" pitchFamily="18" charset="0"/>
                <a:cs typeface="Times New Roman" pitchFamily="18" charset="0"/>
              </a:rPr>
              <a:t>and </a:t>
            </a:r>
            <a:r>
              <a:rPr lang="en-US" b="1" dirty="0">
                <a:solidFill>
                  <a:srgbClr val="0000CC"/>
                </a:solidFill>
                <a:latin typeface="Times New Roman" pitchFamily="18" charset="0"/>
                <a:cs typeface="Times New Roman" pitchFamily="18" charset="0"/>
              </a:rPr>
              <a:t>standard deviation 1 </a:t>
            </a:r>
            <a:r>
              <a:rPr lang="en-US" dirty="0">
                <a:solidFill>
                  <a:srgbClr val="0000CC"/>
                </a:solidFill>
                <a:latin typeface="Times New Roman" pitchFamily="18" charset="0"/>
                <a:cs typeface="Times New Roman" pitchFamily="18" charset="0"/>
              </a:rPr>
              <a:t>is called the standard normal </a:t>
            </a:r>
            <a:r>
              <a:rPr lang="en-US" dirty="0" smtClean="0">
                <a:solidFill>
                  <a:srgbClr val="0000CC"/>
                </a:solidFill>
                <a:latin typeface="Times New Roman" pitchFamily="18" charset="0"/>
                <a:cs typeface="Times New Roman" pitchFamily="18" charset="0"/>
              </a:rPr>
              <a:t>distribution</a:t>
            </a:r>
            <a:r>
              <a:rPr lang="en-US" dirty="0" smtClean="0">
                <a:latin typeface="Times New Roman" pitchFamily="18" charset="0"/>
                <a:cs typeface="Times New Roman" pitchFamily="18" charset="0"/>
              </a:rPr>
              <a:t>. All </a:t>
            </a:r>
            <a:r>
              <a:rPr lang="en-US" dirty="0">
                <a:latin typeface="Times New Roman" pitchFamily="18" charset="0"/>
                <a:cs typeface="Times New Roman" pitchFamily="18" charset="0"/>
              </a:rPr>
              <a:t>normal distributions can be converted into the standard normal curve by subtracting the mean and dividing by the standard deviation: </a:t>
            </a:r>
          </a:p>
          <a:p>
            <a:pPr>
              <a:buFont typeface="Wingdings" pitchFamily="2" charset="2"/>
              <a:buNone/>
            </a:pP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endParaRPr>
          </a:p>
        </p:txBody>
      </p:sp>
      <p:sp>
        <p:nvSpPr>
          <p:cNvPr id="274436" name="Rectangle 4"/>
          <p:cNvSpPr>
            <a:spLocks noChangeArrowheads="1"/>
          </p:cNvSpPr>
          <p:nvPr/>
        </p:nvSpPr>
        <p:spPr bwMode="auto">
          <a:xfrm>
            <a:off x="3938588" y="3062288"/>
            <a:ext cx="9144000" cy="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bIns="0">
            <a:spAutoFit/>
          </a:bodyPr>
          <a:lstStyle/>
          <a:p>
            <a:endParaRPr lang="en-US"/>
          </a:p>
        </p:txBody>
      </p:sp>
      <p:grpSp>
        <p:nvGrpSpPr>
          <p:cNvPr id="274437" name="Group 5"/>
          <p:cNvGrpSpPr>
            <a:grpSpLocks/>
          </p:cNvGrpSpPr>
          <p:nvPr/>
        </p:nvGrpSpPr>
        <p:grpSpPr bwMode="auto">
          <a:xfrm>
            <a:off x="3276600" y="2209800"/>
            <a:ext cx="2362200" cy="1219200"/>
            <a:chOff x="2160" y="1776"/>
            <a:chExt cx="1488" cy="768"/>
          </a:xfrm>
        </p:grpSpPr>
        <p:sp>
          <p:nvSpPr>
            <p:cNvPr id="274438" name="Rectangle 6"/>
            <p:cNvSpPr>
              <a:spLocks noChangeArrowheads="1"/>
            </p:cNvSpPr>
            <p:nvPr/>
          </p:nvSpPr>
          <p:spPr bwMode="auto">
            <a:xfrm>
              <a:off x="2160" y="1776"/>
              <a:ext cx="1488" cy="768"/>
            </a:xfrm>
            <a:prstGeom prst="rect">
              <a:avLst/>
            </a:prstGeom>
            <a:solidFill>
              <a:srgbClr val="FFFFFF"/>
            </a:solidFill>
            <a:ln w="9525">
              <a:no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bIns="0" anchor="ctr"/>
            <a:lstStyle/>
            <a:p>
              <a:endParaRPr lang="en-US"/>
            </a:p>
          </p:txBody>
        </p:sp>
        <p:graphicFrame>
          <p:nvGraphicFramePr>
            <p:cNvPr id="274439" name="Object 7"/>
            <p:cNvGraphicFramePr>
              <a:graphicFrameLocks noChangeAspect="1"/>
            </p:cNvGraphicFramePr>
            <p:nvPr>
              <p:extLst>
                <p:ext uri="{D42A27DB-BD31-4B8C-83A1-F6EECF244321}">
                  <p14:modId xmlns="" xmlns:p14="http://schemas.microsoft.com/office/powerpoint/2010/main" val="1175952072"/>
                </p:ext>
              </p:extLst>
            </p:nvPr>
          </p:nvGraphicFramePr>
          <p:xfrm>
            <a:off x="2343" y="1836"/>
            <a:ext cx="945" cy="574"/>
          </p:xfrm>
          <a:graphic>
            <a:graphicData uri="http://schemas.openxmlformats.org/presentationml/2006/ole">
              <p:oleObj spid="_x0000_s928834" name="Equation" r:id="rId4" imgW="660240" imgH="393480" progId="Equation.3">
                <p:embed/>
              </p:oleObj>
            </a:graphicData>
          </a:graphic>
        </p:graphicFrame>
      </p:grpSp>
      <p:sp>
        <p:nvSpPr>
          <p:cNvPr id="274440" name="Rectangle 8"/>
          <p:cNvSpPr>
            <a:spLocks noChangeArrowheads="1"/>
          </p:cNvSpPr>
          <p:nvPr/>
        </p:nvSpPr>
        <p:spPr bwMode="auto">
          <a:xfrm>
            <a:off x="838200" y="5060950"/>
            <a:ext cx="8044910" cy="1314206"/>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bIns="0">
            <a:spAutoFit/>
          </a:bodyPr>
          <a:lstStyle/>
          <a:p>
            <a:pPr eaLnBrk="1" hangingPunct="1">
              <a:lnSpc>
                <a:spcPct val="90000"/>
              </a:lnSpc>
              <a:spcBef>
                <a:spcPct val="50000"/>
              </a:spcBef>
              <a:buClr>
                <a:schemeClr val="accent2"/>
              </a:buClr>
              <a:buSzPct val="80000"/>
              <a:buFont typeface="Wingdings" pitchFamily="2" charset="2"/>
              <a:buNone/>
            </a:pPr>
            <a:r>
              <a:rPr lang="en-US" sz="2400" dirty="0">
                <a:latin typeface="Times New Roman" pitchFamily="18" charset="0"/>
                <a:cs typeface="Times New Roman" pitchFamily="18" charset="0"/>
              </a:rPr>
              <a:t>Somebody calculated all the integrals for the standard normal and put them in a table!  So we never have to integrate!  </a:t>
            </a:r>
          </a:p>
          <a:p>
            <a:pPr eaLnBrk="1" hangingPunct="1">
              <a:lnSpc>
                <a:spcPct val="90000"/>
              </a:lnSpc>
              <a:spcBef>
                <a:spcPct val="50000"/>
              </a:spcBef>
              <a:buClr>
                <a:schemeClr val="accent2"/>
              </a:buClr>
              <a:buSzPct val="80000"/>
              <a:buFont typeface="Wingdings" pitchFamily="2" charset="2"/>
              <a:buNone/>
            </a:pPr>
            <a:r>
              <a:rPr lang="en-US" sz="2400" dirty="0">
                <a:latin typeface="Times New Roman" pitchFamily="18" charset="0"/>
                <a:cs typeface="Times New Roman" pitchFamily="18" charset="0"/>
              </a:rPr>
              <a:t>Even better, computers now do all the integration</a:t>
            </a:r>
            <a:r>
              <a:rPr lang="en-US" sz="2800" dirty="0">
                <a:latin typeface="Times New Roman" pitchFamily="18" charset="0"/>
                <a:cs typeface="Times New Roman" pitchFamily="18" charset="0"/>
              </a:rPr>
              <a:t>.</a:t>
            </a:r>
          </a:p>
        </p:txBody>
      </p:sp>
      <p:sp>
        <p:nvSpPr>
          <p:cNvPr id="3" name="Rectangle 2"/>
          <p:cNvSpPr/>
          <p:nvPr/>
        </p:nvSpPr>
        <p:spPr>
          <a:xfrm>
            <a:off x="733262" y="3108107"/>
            <a:ext cx="8254785" cy="830997"/>
          </a:xfrm>
          <a:prstGeom prst="rect">
            <a:avLst/>
          </a:prstGeom>
        </p:spPr>
        <p:txBody>
          <a:bodyPr wrap="square">
            <a:spAutoFit/>
          </a:bodyPr>
          <a:lstStyle/>
          <a:p>
            <a:r>
              <a:rPr lang="en-US" sz="2400" dirty="0">
                <a:latin typeface="+mj-lt"/>
              </a:rPr>
              <a:t>The formula for the standardized normal probability density function is</a:t>
            </a:r>
          </a:p>
        </p:txBody>
      </p:sp>
      <p:graphicFrame>
        <p:nvGraphicFramePr>
          <p:cNvPr id="4" name="Object 3"/>
          <p:cNvGraphicFramePr>
            <a:graphicFrameLocks noChangeAspect="1"/>
          </p:cNvGraphicFramePr>
          <p:nvPr>
            <p:extLst>
              <p:ext uri="{D42A27DB-BD31-4B8C-83A1-F6EECF244321}">
                <p14:modId xmlns="" xmlns:p14="http://schemas.microsoft.com/office/powerpoint/2010/main" val="1870757767"/>
              </p:ext>
            </p:extLst>
          </p:nvPr>
        </p:nvGraphicFramePr>
        <p:xfrm>
          <a:off x="1468438" y="3894138"/>
          <a:ext cx="6130925" cy="1166812"/>
        </p:xfrm>
        <a:graphic>
          <a:graphicData uri="http://schemas.openxmlformats.org/presentationml/2006/ole">
            <p:oleObj spid="_x0000_s928835" name="Equation" r:id="rId5" imgW="2400120" imgH="457200" progId="Equation.3">
              <p:embed/>
            </p:oleObj>
          </a:graphicData>
        </a:graphic>
      </p:graphicFrame>
    </p:spTree>
    <p:extLst>
      <p:ext uri="{BB962C8B-B14F-4D97-AF65-F5344CB8AC3E}">
        <p14:creationId xmlns="" xmlns:p14="http://schemas.microsoft.com/office/powerpoint/2010/main" val="37446238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4435">
                                            <p:txEl>
                                              <p:pRg st="0" end="0"/>
                                            </p:txEl>
                                          </p:spTgt>
                                        </p:tgtEl>
                                        <p:attrNameLst>
                                          <p:attrName>style.visibility</p:attrName>
                                        </p:attrNameLst>
                                      </p:cBhvr>
                                      <p:to>
                                        <p:strVal val="visible"/>
                                      </p:to>
                                    </p:set>
                                    <p:anim calcmode="lin" valueType="num">
                                      <p:cBhvr additive="base">
                                        <p:cTn id="7" dur="500" fill="hold"/>
                                        <p:tgtEl>
                                          <p:spTgt spid="274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744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74437"/>
                                        </p:tgtEl>
                                        <p:attrNameLst>
                                          <p:attrName>style.visibility</p:attrName>
                                        </p:attrNameLst>
                                      </p:cBhvr>
                                      <p:to>
                                        <p:strVal val="visible"/>
                                      </p:to>
                                    </p:set>
                                    <p:anim calcmode="lin" valueType="num">
                                      <p:cBhvr additive="base">
                                        <p:cTn id="13" dur="500" fill="hold"/>
                                        <p:tgtEl>
                                          <p:spTgt spid="274437"/>
                                        </p:tgtEl>
                                        <p:attrNameLst>
                                          <p:attrName>ppt_x</p:attrName>
                                        </p:attrNameLst>
                                      </p:cBhvr>
                                      <p:tavLst>
                                        <p:tav tm="0">
                                          <p:val>
                                            <p:strVal val="0-#ppt_w/2"/>
                                          </p:val>
                                        </p:tav>
                                        <p:tav tm="100000">
                                          <p:val>
                                            <p:strVal val="#ppt_x"/>
                                          </p:val>
                                        </p:tav>
                                      </p:tavLst>
                                    </p:anim>
                                    <p:anim calcmode="lin" valueType="num">
                                      <p:cBhvr additive="base">
                                        <p:cTn id="14" dur="500" fill="hold"/>
                                        <p:tgtEl>
                                          <p:spTgt spid="27443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74440">
                                            <p:txEl>
                                              <p:pRg st="0" end="0"/>
                                            </p:txEl>
                                          </p:spTgt>
                                        </p:tgtEl>
                                        <p:attrNameLst>
                                          <p:attrName>style.visibility</p:attrName>
                                        </p:attrNameLst>
                                      </p:cBhvr>
                                      <p:to>
                                        <p:strVal val="visible"/>
                                      </p:to>
                                    </p:set>
                                    <p:anim calcmode="lin" valueType="num">
                                      <p:cBhvr additive="base">
                                        <p:cTn id="19" dur="500" fill="hold"/>
                                        <p:tgtEl>
                                          <p:spTgt spid="274440">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744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74440">
                                            <p:txEl>
                                              <p:pRg st="1" end="1"/>
                                            </p:txEl>
                                          </p:spTgt>
                                        </p:tgtEl>
                                        <p:attrNameLst>
                                          <p:attrName>style.visibility</p:attrName>
                                        </p:attrNameLst>
                                      </p:cBhvr>
                                      <p:to>
                                        <p:strVal val="visible"/>
                                      </p:to>
                                    </p:set>
                                    <p:anim calcmode="lin" valueType="num">
                                      <p:cBhvr additive="base">
                                        <p:cTn id="25" dur="500" fill="hold"/>
                                        <p:tgtEl>
                                          <p:spTgt spid="274440">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74440">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build="p" autoUpdateAnimBg="0"/>
      <p:bldP spid="274440"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idx="4294967295"/>
          </p:nvPr>
        </p:nvSpPr>
        <p:spPr>
          <a:xfrm>
            <a:off x="304800" y="0"/>
            <a:ext cx="8534400" cy="1143000"/>
          </a:xfrm>
          <a:prstGeom prst="rect">
            <a:avLst/>
          </a:prstGeom>
        </p:spPr>
        <p:txBody>
          <a:bodyPr/>
          <a:lstStyle/>
          <a:p>
            <a:pPr eaLnBrk="1" hangingPunct="1"/>
            <a:r>
              <a:rPr lang="en-US" sz="3200" b="0" dirty="0" smtClean="0"/>
              <a:t>The Standard Normal Distribution:  z score</a:t>
            </a:r>
          </a:p>
        </p:txBody>
      </p:sp>
      <p:sp>
        <p:nvSpPr>
          <p:cNvPr id="92163" name="Rectangle 3"/>
          <p:cNvSpPr>
            <a:spLocks noGrp="1" noChangeArrowheads="1"/>
          </p:cNvSpPr>
          <p:nvPr>
            <p:ph type="body" idx="1"/>
          </p:nvPr>
        </p:nvSpPr>
        <p:spPr>
          <a:xfrm>
            <a:off x="228600" y="762000"/>
            <a:ext cx="8686800" cy="2819400"/>
          </a:xfrm>
        </p:spPr>
        <p:txBody>
          <a:bodyPr/>
          <a:lstStyle/>
          <a:p>
            <a:pPr eaLnBrk="1" hangingPunct="1"/>
            <a:r>
              <a:rPr lang="en-US" dirty="0" smtClean="0"/>
              <a:t>It is tedious to ‘integrate’ a new normal distribution for every population, so a ‘</a:t>
            </a:r>
            <a:r>
              <a:rPr lang="en-US" dirty="0" smtClean="0">
                <a:solidFill>
                  <a:schemeClr val="accent2"/>
                </a:solidFill>
              </a:rPr>
              <a:t>standard normal distribution</a:t>
            </a:r>
            <a:r>
              <a:rPr lang="en-US" dirty="0" smtClean="0"/>
              <a:t>’ with standard tabulated areas is used.</a:t>
            </a:r>
          </a:p>
          <a:p>
            <a:pPr eaLnBrk="1" hangingPunct="1"/>
            <a:r>
              <a:rPr lang="en-US" dirty="0" smtClean="0"/>
              <a:t>The measurement </a:t>
            </a:r>
            <a:r>
              <a:rPr lang="en-US" i="1" dirty="0" smtClean="0"/>
              <a:t>x</a:t>
            </a:r>
            <a:r>
              <a:rPr lang="en-US" dirty="0" smtClean="0"/>
              <a:t>  is converted to a </a:t>
            </a:r>
            <a:r>
              <a:rPr lang="en-US" dirty="0" smtClean="0">
                <a:solidFill>
                  <a:schemeClr val="accent2"/>
                </a:solidFill>
              </a:rPr>
              <a:t>standard score (z-score)</a:t>
            </a:r>
          </a:p>
          <a:p>
            <a:pPr lvl="1" eaLnBrk="1" hangingPunct="1">
              <a:buFontTx/>
              <a:buNone/>
            </a:pPr>
            <a:r>
              <a:rPr lang="en-US" sz="2400" dirty="0" smtClean="0"/>
              <a:t>z = (x - </a:t>
            </a:r>
            <a:r>
              <a:rPr lang="en-US" sz="2400" dirty="0" smtClean="0">
                <a:sym typeface="Symbol" pitchFamily="18" charset="2"/>
              </a:rPr>
              <a:t>) /  = (Normal variable- Mean)/Standard deviation</a:t>
            </a:r>
            <a:r>
              <a:rPr lang="en-US" dirty="0" smtClean="0">
                <a:sym typeface="Symbol" pitchFamily="18" charset="2"/>
              </a:rPr>
              <a:t> </a:t>
            </a:r>
            <a:endParaRPr lang="en-US" dirty="0" smtClean="0"/>
          </a:p>
          <a:p>
            <a:pPr eaLnBrk="1" hangingPunct="1"/>
            <a:r>
              <a:rPr lang="en-US" dirty="0" smtClean="0"/>
              <a:t>Then  the standard normal distribution  is used for </a:t>
            </a:r>
          </a:p>
          <a:p>
            <a:pPr lvl="1" eaLnBrk="1" hangingPunct="1">
              <a:buFont typeface="Symbol"/>
              <a:buChar char="m"/>
            </a:pPr>
            <a:r>
              <a:rPr lang="en-US" sz="2400" dirty="0" smtClean="0">
                <a:sym typeface="Symbol" pitchFamily="18" charset="2"/>
              </a:rPr>
              <a:t>= 0 and  = 1 </a:t>
            </a:r>
          </a:p>
          <a:p>
            <a:pPr lvl="1" algn="just" eaLnBrk="1" hangingPunct="1">
              <a:buNone/>
            </a:pPr>
            <a:r>
              <a:rPr lang="en-US" sz="2400" dirty="0" smtClean="0">
                <a:sym typeface="Symbol" pitchFamily="18" charset="2"/>
              </a:rPr>
              <a:t>The probability distribution of </a:t>
            </a:r>
            <a:r>
              <a:rPr lang="en-US" sz="2400" i="1" dirty="0" smtClean="0">
                <a:sym typeface="Symbol" pitchFamily="18" charset="2"/>
              </a:rPr>
              <a:t>z</a:t>
            </a:r>
            <a:r>
              <a:rPr lang="en-US" sz="2400" dirty="0" smtClean="0">
                <a:sym typeface="Symbol" pitchFamily="18" charset="2"/>
              </a:rPr>
              <a:t> is called Standard Normal Distribution</a:t>
            </a:r>
          </a:p>
        </p:txBody>
      </p:sp>
      <p:sp>
        <p:nvSpPr>
          <p:cNvPr id="92164" name="Text Box 4"/>
          <p:cNvSpPr txBox="1">
            <a:spLocks noChangeArrowheads="1"/>
          </p:cNvSpPr>
          <p:nvPr/>
        </p:nvSpPr>
        <p:spPr bwMode="auto">
          <a:xfrm>
            <a:off x="457200" y="5562600"/>
            <a:ext cx="8458200" cy="830997"/>
          </a:xfrm>
          <a:prstGeom prst="rect">
            <a:avLst/>
          </a:prstGeom>
          <a:noFill/>
          <a:ln w="9525">
            <a:solidFill>
              <a:schemeClr val="tx1"/>
            </a:solidFill>
            <a:miter lim="800000"/>
            <a:headEnd/>
            <a:tailEnd/>
          </a:ln>
        </p:spPr>
        <p:txBody>
          <a:bodyPr wrap="square">
            <a:spAutoFit/>
          </a:bodyPr>
          <a:lstStyle/>
          <a:p>
            <a:pPr eaLnBrk="1" hangingPunct="1">
              <a:defRPr/>
            </a:pPr>
            <a:r>
              <a:rPr lang="en-US" sz="2400" b="1" dirty="0">
                <a:latin typeface="Times New Roman" pitchFamily="18" charset="0"/>
              </a:rPr>
              <a:t>The z-score indicates the number of standard </a:t>
            </a:r>
            <a:r>
              <a:rPr lang="en-US" sz="2400" b="1" dirty="0" smtClean="0">
                <a:latin typeface="Times New Roman" pitchFamily="18" charset="0"/>
              </a:rPr>
              <a:t>deviations that </a:t>
            </a:r>
            <a:r>
              <a:rPr lang="en-US" sz="2400" b="1" dirty="0">
                <a:latin typeface="Times New Roman" pitchFamily="18" charset="0"/>
              </a:rPr>
              <a:t>value </a:t>
            </a:r>
            <a:r>
              <a:rPr lang="en-US" sz="2400" b="1" i="1" dirty="0">
                <a:latin typeface="Times New Roman" pitchFamily="18" charset="0"/>
              </a:rPr>
              <a:t>x</a:t>
            </a:r>
            <a:r>
              <a:rPr lang="en-US" sz="2400" b="1" dirty="0">
                <a:latin typeface="Times New Roman" pitchFamily="18" charset="0"/>
              </a:rPr>
              <a:t> is away from the mean </a:t>
            </a:r>
            <a:r>
              <a:rPr lang="en-US" sz="2400" b="1" dirty="0">
                <a:latin typeface="Times New Roman" pitchFamily="18" charset="0"/>
                <a:sym typeface="Symbol" pitchFamily="18" charset="2"/>
              </a:rPr>
              <a:t></a:t>
            </a:r>
            <a:r>
              <a:rPr lang="en-US" sz="2400" b="1" dirty="0">
                <a:latin typeface="Times New Roman" pitchFamily="18" charset="0"/>
              </a:rPr>
              <a:t> </a:t>
            </a:r>
          </a:p>
        </p:txBody>
      </p:sp>
      <p:sp>
        <p:nvSpPr>
          <p:cNvPr id="5" name="Date Placeholder 4"/>
          <p:cNvSpPr>
            <a:spLocks noGrp="1"/>
          </p:cNvSpPr>
          <p:nvPr>
            <p:ph type="dt" sz="half" idx="10"/>
          </p:nvPr>
        </p:nvSpPr>
        <p:spPr/>
        <p:txBody>
          <a:bodyPr/>
          <a:lstStyle/>
          <a:p>
            <a:r>
              <a:rPr lang="en-US" smtClean="0"/>
              <a:t>Prof. A. K. Datta     University of Calcutta</a:t>
            </a:r>
            <a:endParaRPr lang="en-IN" dirty="0"/>
          </a:p>
        </p:txBody>
      </p:sp>
      <p:sp>
        <p:nvSpPr>
          <p:cNvPr id="6" name="Slide Number Placeholder 5"/>
          <p:cNvSpPr>
            <a:spLocks noGrp="1"/>
          </p:cNvSpPr>
          <p:nvPr>
            <p:ph type="sldNum" sz="quarter" idx="11"/>
          </p:nvPr>
        </p:nvSpPr>
        <p:spPr/>
        <p:txBody>
          <a:bodyPr/>
          <a:lstStyle/>
          <a:p>
            <a:fld id="{BF2D74FB-8EB9-4DEE-8258-980F8375AF4A}" type="slidenum">
              <a:rPr lang="en-IN" smtClean="0"/>
              <a:pPr/>
              <a:t>85</a:t>
            </a:fld>
            <a:endParaRPr lang="en-IN" dirty="0"/>
          </a:p>
        </p:txBody>
      </p:sp>
      <p:sp>
        <p:nvSpPr>
          <p:cNvPr id="7" name="Footer Placeholder 6"/>
          <p:cNvSpPr>
            <a:spLocks noGrp="1"/>
          </p:cNvSpPr>
          <p:nvPr>
            <p:ph type="ftr" sz="quarter" idx="12"/>
          </p:nvPr>
        </p:nvSpPr>
        <p:spPr/>
        <p:txBody>
          <a:bodyPr/>
          <a:lstStyle/>
          <a:p>
            <a:r>
              <a:rPr lang="en-IN" smtClean="0"/>
              <a:t>Ph.D Course Work on Research Methodology</a:t>
            </a:r>
            <a:endParaRPr lang="en-IN" dirty="0"/>
          </a:p>
        </p:txBody>
      </p:sp>
      <p:graphicFrame>
        <p:nvGraphicFramePr>
          <p:cNvPr id="9" name="Object 8"/>
          <p:cNvGraphicFramePr>
            <a:graphicFrameLocks noChangeAspect="1"/>
          </p:cNvGraphicFramePr>
          <p:nvPr/>
        </p:nvGraphicFramePr>
        <p:xfrm>
          <a:off x="2895600" y="4191000"/>
          <a:ext cx="2826123" cy="990600"/>
        </p:xfrm>
        <a:graphic>
          <a:graphicData uri="http://schemas.openxmlformats.org/presentationml/2006/ole">
            <p:oleObj spid="_x0000_s720955" name="Equation" r:id="rId3" imgW="1231366" imgH="431613" progId="Equation.3">
              <p:embed/>
            </p:oleObj>
          </a:graphicData>
        </a:graphic>
      </p:graphicFrame>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86</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pic>
        <p:nvPicPr>
          <p:cNvPr id="867330" name="Picture 2"/>
          <p:cNvPicPr>
            <a:picLocks noChangeAspect="1" noChangeArrowheads="1"/>
          </p:cNvPicPr>
          <p:nvPr/>
        </p:nvPicPr>
        <p:blipFill>
          <a:blip r:embed="rId2">
            <a:lum bright="-10000" contrast="20000"/>
          </a:blip>
          <a:srcRect r="6807" b="54192"/>
          <a:stretch>
            <a:fillRect/>
          </a:stretch>
        </p:blipFill>
        <p:spPr bwMode="auto">
          <a:xfrm>
            <a:off x="0" y="533400"/>
            <a:ext cx="7057292" cy="3276600"/>
          </a:xfrm>
          <a:prstGeom prst="rect">
            <a:avLst/>
          </a:prstGeom>
          <a:noFill/>
          <a:ln w="9525">
            <a:noFill/>
            <a:miter lim="800000"/>
            <a:headEnd/>
            <a:tailEnd/>
          </a:ln>
          <a:effectLst/>
        </p:spPr>
      </p:pic>
      <p:pic>
        <p:nvPicPr>
          <p:cNvPr id="6" name="Picture 2"/>
          <p:cNvPicPr>
            <a:picLocks noChangeAspect="1" noChangeArrowheads="1"/>
          </p:cNvPicPr>
          <p:nvPr/>
        </p:nvPicPr>
        <p:blipFill>
          <a:blip r:embed="rId2">
            <a:lum bright="-10000" contrast="20000"/>
          </a:blip>
          <a:srcRect t="44633" b="10733"/>
          <a:stretch>
            <a:fillRect/>
          </a:stretch>
        </p:blipFill>
        <p:spPr bwMode="auto">
          <a:xfrm>
            <a:off x="2275704" y="3581400"/>
            <a:ext cx="6868296"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87</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Rectangle 5"/>
          <p:cNvSpPr/>
          <p:nvPr/>
        </p:nvSpPr>
        <p:spPr>
          <a:xfrm>
            <a:off x="304800" y="762000"/>
            <a:ext cx="8610600" cy="3046988"/>
          </a:xfrm>
          <a:prstGeom prst="rect">
            <a:avLst/>
          </a:prstGeom>
        </p:spPr>
        <p:txBody>
          <a:bodyPr wrap="square">
            <a:spAutoFit/>
          </a:bodyPr>
          <a:lstStyle/>
          <a:p>
            <a:r>
              <a:rPr lang="en-IN" sz="2400" dirty="0" smtClean="0">
                <a:latin typeface="+mj-lt"/>
              </a:rPr>
              <a:t>Suppose the time required to build a computer is normally distributed with a mean of 50 minutes and a standard deviation of 10 minutes. What is the probability for the assembly time of a computer to be between 45 and 60 minutes? </a:t>
            </a:r>
          </a:p>
          <a:p>
            <a:endParaRPr lang="en-IN" sz="2400" dirty="0" smtClean="0">
              <a:latin typeface="+mj-lt"/>
            </a:endParaRPr>
          </a:p>
          <a:p>
            <a:r>
              <a:rPr lang="en-IN" sz="2400" dirty="0" smtClean="0">
                <a:latin typeface="+mj-lt"/>
              </a:rPr>
              <a:t>The problem is to compute </a:t>
            </a:r>
            <a:r>
              <a:rPr lang="en-IN" sz="2400" i="1" dirty="0" smtClean="0">
                <a:latin typeface="+mj-lt"/>
              </a:rPr>
              <a:t>P</a:t>
            </a:r>
            <a:r>
              <a:rPr lang="en-IN" sz="2400" dirty="0" smtClean="0">
                <a:latin typeface="+mj-lt"/>
              </a:rPr>
              <a:t>(45 &lt; X ≤ 60). </a:t>
            </a:r>
          </a:p>
          <a:p>
            <a:r>
              <a:rPr lang="en-IN" sz="2400" dirty="0" smtClean="0">
                <a:latin typeface="+mj-lt"/>
              </a:rPr>
              <a:t>1. Rewrite the event of interest into a form that is in terms of a standardized variable </a:t>
            </a:r>
            <a:r>
              <a:rPr lang="en-IN" sz="2400" i="1" dirty="0" smtClean="0">
                <a:latin typeface="+mj-lt"/>
              </a:rPr>
              <a:t>Z</a:t>
            </a:r>
            <a:r>
              <a:rPr lang="en-IN" sz="2400" dirty="0" smtClean="0">
                <a:latin typeface="+mj-lt"/>
              </a:rPr>
              <a:t> = (</a:t>
            </a:r>
            <a:r>
              <a:rPr lang="en-IN" sz="2400" i="1" dirty="0" smtClean="0">
                <a:latin typeface="+mj-lt"/>
              </a:rPr>
              <a:t>X</a:t>
            </a:r>
            <a:r>
              <a:rPr lang="en-IN" sz="2400" dirty="0" smtClean="0">
                <a:latin typeface="+mj-lt"/>
              </a:rPr>
              <a:t> −50)/10, as</a:t>
            </a:r>
          </a:p>
        </p:txBody>
      </p:sp>
      <p:pic>
        <p:nvPicPr>
          <p:cNvPr id="879618" name="Picture 2"/>
          <p:cNvPicPr>
            <a:picLocks noChangeAspect="1" noChangeArrowheads="1"/>
          </p:cNvPicPr>
          <p:nvPr/>
        </p:nvPicPr>
        <p:blipFill>
          <a:blip r:embed="rId2"/>
          <a:srcRect/>
          <a:stretch>
            <a:fillRect/>
          </a:stretch>
        </p:blipFill>
        <p:spPr bwMode="auto">
          <a:xfrm>
            <a:off x="1905000" y="3810000"/>
            <a:ext cx="4687936" cy="1752600"/>
          </a:xfrm>
          <a:prstGeom prst="rect">
            <a:avLst/>
          </a:prstGeom>
          <a:noFill/>
          <a:ln w="9525">
            <a:noFill/>
            <a:miter lim="800000"/>
            <a:headEnd/>
            <a:tailEnd/>
          </a:ln>
          <a:effectLst/>
        </p:spPr>
      </p:pic>
      <p:sp>
        <p:nvSpPr>
          <p:cNvPr id="8" name="TextBox 7"/>
          <p:cNvSpPr txBox="1"/>
          <p:nvPr/>
        </p:nvSpPr>
        <p:spPr>
          <a:xfrm>
            <a:off x="838200" y="5791200"/>
            <a:ext cx="7315200" cy="461665"/>
          </a:xfrm>
          <a:prstGeom prst="rect">
            <a:avLst/>
          </a:prstGeom>
          <a:noFill/>
        </p:spPr>
        <p:txBody>
          <a:bodyPr wrap="square" rtlCol="0">
            <a:spAutoFit/>
          </a:bodyPr>
          <a:lstStyle/>
          <a:p>
            <a:r>
              <a:rPr lang="en-IN" sz="2400" dirty="0" smtClean="0">
                <a:latin typeface="+mj-lt"/>
              </a:rPr>
              <a:t>2. Then use the P  </a:t>
            </a:r>
            <a:r>
              <a:rPr lang="en-IN" sz="2400" dirty="0" err="1" smtClean="0">
                <a:latin typeface="+mj-lt"/>
              </a:rPr>
              <a:t>vs</a:t>
            </a:r>
            <a:r>
              <a:rPr lang="en-IN" sz="2400" dirty="0" smtClean="0">
                <a:latin typeface="+mj-lt"/>
              </a:rPr>
              <a:t> area table provided</a:t>
            </a:r>
            <a:endParaRPr lang="en-IN" sz="2400" dirty="0">
              <a:latin typeface="+mj-lt"/>
            </a:endParaRPr>
          </a:p>
        </p:txBody>
      </p:sp>
      <p:sp>
        <p:nvSpPr>
          <p:cNvPr id="9" name="Rectangle 8"/>
          <p:cNvSpPr/>
          <p:nvPr/>
        </p:nvSpPr>
        <p:spPr>
          <a:xfrm>
            <a:off x="1000100" y="59272"/>
            <a:ext cx="1612942" cy="523220"/>
          </a:xfrm>
          <a:prstGeom prst="rect">
            <a:avLst/>
          </a:prstGeom>
        </p:spPr>
        <p:txBody>
          <a:bodyPr wrap="none">
            <a:spAutoFit/>
          </a:bodyPr>
          <a:lstStyle/>
          <a:p>
            <a:r>
              <a:rPr lang="en-IN" sz="2800" dirty="0" smtClean="0">
                <a:latin typeface="+mj-lt"/>
              </a:rPr>
              <a:t>Example </a:t>
            </a:r>
            <a:r>
              <a:rPr lang="en-IN" dirty="0" smtClean="0"/>
              <a:t>:</a:t>
            </a:r>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88</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pic>
        <p:nvPicPr>
          <p:cNvPr id="880642"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228600" y="762000"/>
            <a:ext cx="6132893" cy="2514600"/>
          </a:xfrm>
          <a:prstGeom prst="rect">
            <a:avLst/>
          </a:prstGeom>
          <a:noFill/>
          <a:ln w="9525">
            <a:noFill/>
            <a:miter lim="800000"/>
            <a:headEnd/>
            <a:tailEnd/>
          </a:ln>
          <a:effectLst/>
        </p:spPr>
      </p:pic>
      <p:pic>
        <p:nvPicPr>
          <p:cNvPr id="880643" name="Picture 3"/>
          <p:cNvPicPr>
            <a:picLocks noChangeAspect="1" noChangeArrowheads="1"/>
          </p:cNvPicPr>
          <p:nvPr/>
        </p:nvPicPr>
        <p:blipFill>
          <a:blip r:embed="rId3"/>
          <a:srcRect/>
          <a:stretch>
            <a:fillRect/>
          </a:stretch>
        </p:blipFill>
        <p:spPr bwMode="auto">
          <a:xfrm>
            <a:off x="6133918" y="762000"/>
            <a:ext cx="3010082" cy="2438400"/>
          </a:xfrm>
          <a:prstGeom prst="rect">
            <a:avLst/>
          </a:prstGeom>
          <a:noFill/>
          <a:ln w="9525">
            <a:noFill/>
            <a:miter lim="800000"/>
            <a:headEnd/>
            <a:tailEnd/>
          </a:ln>
          <a:effectLst/>
        </p:spPr>
      </p:pic>
      <p:pic>
        <p:nvPicPr>
          <p:cNvPr id="880644" name="Picture 4"/>
          <p:cNvPicPr>
            <a:picLocks noChangeAspect="1" noChangeArrowheads="1"/>
          </p:cNvPicPr>
          <p:nvPr/>
        </p:nvPicPr>
        <p:blipFill>
          <a:blip r:embed="rId4"/>
          <a:srcRect/>
          <a:stretch>
            <a:fillRect/>
          </a:stretch>
        </p:blipFill>
        <p:spPr bwMode="auto">
          <a:xfrm>
            <a:off x="914400" y="3048000"/>
            <a:ext cx="5943600" cy="3505200"/>
          </a:xfrm>
          <a:prstGeom prst="rect">
            <a:avLst/>
          </a:prstGeom>
          <a:noFill/>
          <a:ln w="9525">
            <a:noFill/>
            <a:miter lim="800000"/>
            <a:headEnd/>
            <a:tailEnd/>
          </a:ln>
          <a:effectLst/>
        </p:spPr>
      </p:pic>
      <p:cxnSp>
        <p:nvCxnSpPr>
          <p:cNvPr id="11" name="Straight Connector 10"/>
          <p:cNvCxnSpPr/>
          <p:nvPr/>
        </p:nvCxnSpPr>
        <p:spPr bwMode="auto">
          <a:xfrm>
            <a:off x="1676400" y="5410200"/>
            <a:ext cx="228600" cy="1588"/>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12" name="Straight Connector 11"/>
          <p:cNvCxnSpPr/>
          <p:nvPr/>
        </p:nvCxnSpPr>
        <p:spPr bwMode="auto">
          <a:xfrm>
            <a:off x="1676400" y="6246812"/>
            <a:ext cx="228600" cy="1588"/>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89</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pic>
        <p:nvPicPr>
          <p:cNvPr id="881667" name="Picture 3"/>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0" y="914400"/>
            <a:ext cx="8556308" cy="1981200"/>
          </a:xfrm>
          <a:prstGeom prst="rect">
            <a:avLst/>
          </a:prstGeom>
          <a:noFill/>
          <a:ln w="9525">
            <a:noFill/>
            <a:miter lim="800000"/>
            <a:headEnd/>
            <a:tailEnd/>
          </a:ln>
          <a:effectLst/>
        </p:spPr>
      </p:pic>
      <p:pic>
        <p:nvPicPr>
          <p:cNvPr id="881668" name="Picture 4"/>
          <p:cNvPicPr>
            <a:picLocks noChangeAspect="1" noChangeArrowheads="1"/>
          </p:cNvPicPr>
          <p:nvPr/>
        </p:nvPicPr>
        <p:blipFill>
          <a:blip r:embed="rId3">
            <a:duotone>
              <a:prstClr val="black"/>
              <a:schemeClr val="accent5">
                <a:tint val="45000"/>
                <a:satMod val="400000"/>
              </a:schemeClr>
            </a:duotone>
          </a:blip>
          <a:srcRect/>
          <a:stretch>
            <a:fillRect/>
          </a:stretch>
        </p:blipFill>
        <p:spPr bwMode="auto">
          <a:xfrm>
            <a:off x="609600" y="3200400"/>
            <a:ext cx="5006686" cy="1600200"/>
          </a:xfrm>
          <a:prstGeom prst="rect">
            <a:avLst/>
          </a:prstGeom>
          <a:noFill/>
          <a:ln w="9525">
            <a:noFill/>
            <a:miter lim="800000"/>
            <a:headEnd/>
            <a:tailEnd/>
          </a:ln>
          <a:effectLst/>
        </p:spPr>
      </p:pic>
      <p:pic>
        <p:nvPicPr>
          <p:cNvPr id="881669" name="Picture 5"/>
          <p:cNvPicPr>
            <a:picLocks noChangeAspect="1" noChangeArrowheads="1"/>
          </p:cNvPicPr>
          <p:nvPr/>
        </p:nvPicPr>
        <p:blipFill>
          <a:blip r:embed="rId4"/>
          <a:srcRect/>
          <a:stretch>
            <a:fillRect/>
          </a:stretch>
        </p:blipFill>
        <p:spPr bwMode="auto">
          <a:xfrm>
            <a:off x="4343400" y="3657600"/>
            <a:ext cx="4800600" cy="2200275"/>
          </a:xfrm>
          <a:prstGeom prst="rect">
            <a:avLst/>
          </a:prstGeom>
          <a:noFill/>
          <a:ln w="9525">
            <a:noFill/>
            <a:miter lim="800000"/>
            <a:headEnd/>
            <a:tailEnd/>
          </a:ln>
          <a:effectLst/>
        </p:spPr>
      </p:pic>
      <p:sp>
        <p:nvSpPr>
          <p:cNvPr id="10" name="Rectangle 9"/>
          <p:cNvSpPr/>
          <p:nvPr/>
        </p:nvSpPr>
        <p:spPr>
          <a:xfrm>
            <a:off x="2590800" y="0"/>
            <a:ext cx="5095369" cy="523220"/>
          </a:xfrm>
          <a:prstGeom prst="rect">
            <a:avLst/>
          </a:prstGeom>
        </p:spPr>
        <p:txBody>
          <a:bodyPr wrap="none">
            <a:spAutoFit/>
          </a:bodyPr>
          <a:lstStyle/>
          <a:p>
            <a:r>
              <a:rPr lang="en-IN" sz="2800" dirty="0" smtClean="0">
                <a:latin typeface="+mj-lt"/>
              </a:rPr>
              <a:t>Finding “z” for Given Probability.</a:t>
            </a:r>
            <a:endParaRPr lang="en-IN" sz="2800" dirty="0">
              <a:latin typeface="+mj-lt"/>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IN" dirty="0"/>
          </a:p>
        </p:txBody>
      </p:sp>
      <p:sp>
        <p:nvSpPr>
          <p:cNvPr id="3" name="Slide Number Placeholder 2"/>
          <p:cNvSpPr>
            <a:spLocks noGrp="1"/>
          </p:cNvSpPr>
          <p:nvPr>
            <p:ph type="sldNum" sz="quarter" idx="11"/>
          </p:nvPr>
        </p:nvSpPr>
        <p:spPr/>
        <p:txBody>
          <a:bodyPr/>
          <a:lstStyle/>
          <a:p>
            <a:fld id="{BF2D74FB-8EB9-4DEE-8258-980F8375AF4A}" type="slidenum">
              <a:rPr lang="en-IN" smtClean="0"/>
              <a:pPr/>
              <a:t>90</a:t>
            </a:fld>
            <a:endParaRPr lang="en-IN" dirty="0"/>
          </a:p>
        </p:txBody>
      </p:sp>
      <p:sp>
        <p:nvSpPr>
          <p:cNvPr id="4" name="Footer Placeholder 3"/>
          <p:cNvSpPr>
            <a:spLocks noGrp="1"/>
          </p:cNvSpPr>
          <p:nvPr>
            <p:ph type="ftr" sz="quarter" idx="12"/>
          </p:nvPr>
        </p:nvSpPr>
        <p:spPr/>
        <p:txBody>
          <a:bodyPr/>
          <a:lstStyle/>
          <a:p>
            <a:r>
              <a:rPr lang="en-IN" smtClean="0"/>
              <a:t>Ph.D Course Work on Research Methodology</a:t>
            </a:r>
            <a:endParaRPr lang="en-IN" dirty="0"/>
          </a:p>
        </p:txBody>
      </p:sp>
      <p:sp>
        <p:nvSpPr>
          <p:cNvPr id="5" name="Rectangle 4"/>
          <p:cNvSpPr/>
          <p:nvPr/>
        </p:nvSpPr>
        <p:spPr>
          <a:xfrm>
            <a:off x="2667000" y="-76200"/>
            <a:ext cx="4355680" cy="584775"/>
          </a:xfrm>
          <a:prstGeom prst="rect">
            <a:avLst/>
          </a:prstGeom>
        </p:spPr>
        <p:txBody>
          <a:bodyPr wrap="none">
            <a:spAutoFit/>
          </a:bodyPr>
          <a:lstStyle/>
          <a:p>
            <a:r>
              <a:rPr lang="en-IN" sz="3200" dirty="0" smtClean="0">
                <a:latin typeface="+mj-lt"/>
              </a:rPr>
              <a:t>Exponential Distribution.</a:t>
            </a:r>
            <a:endParaRPr lang="en-IN" sz="3200" dirty="0">
              <a:latin typeface="+mj-lt"/>
            </a:endParaRPr>
          </a:p>
        </p:txBody>
      </p:sp>
      <p:sp>
        <p:nvSpPr>
          <p:cNvPr id="6" name="Rectangle 5"/>
          <p:cNvSpPr/>
          <p:nvPr/>
        </p:nvSpPr>
        <p:spPr>
          <a:xfrm>
            <a:off x="457200" y="838200"/>
            <a:ext cx="8458200" cy="830997"/>
          </a:xfrm>
          <a:prstGeom prst="rect">
            <a:avLst/>
          </a:prstGeom>
        </p:spPr>
        <p:txBody>
          <a:bodyPr wrap="square">
            <a:spAutoFit/>
          </a:bodyPr>
          <a:lstStyle/>
          <a:p>
            <a:r>
              <a:rPr lang="en-IN" sz="2400" dirty="0" smtClean="0">
                <a:latin typeface="+mj-lt"/>
              </a:rPr>
              <a:t>The exponential distribution, has the following probability density function:</a:t>
            </a:r>
            <a:endParaRPr lang="en-IN" sz="2400" dirty="0">
              <a:latin typeface="+mj-lt"/>
            </a:endParaRPr>
          </a:p>
        </p:txBody>
      </p:sp>
      <p:sp>
        <p:nvSpPr>
          <p:cNvPr id="7" name="Rectangle 6"/>
          <p:cNvSpPr/>
          <p:nvPr/>
        </p:nvSpPr>
        <p:spPr>
          <a:xfrm>
            <a:off x="228600" y="3505200"/>
            <a:ext cx="8686800" cy="2677656"/>
          </a:xfrm>
          <a:prstGeom prst="rect">
            <a:avLst/>
          </a:prstGeom>
        </p:spPr>
        <p:txBody>
          <a:bodyPr wrap="square">
            <a:spAutoFit/>
          </a:bodyPr>
          <a:lstStyle/>
          <a:p>
            <a:r>
              <a:rPr lang="en-IN" sz="2400" dirty="0" smtClean="0">
                <a:latin typeface="+mj-lt"/>
              </a:rPr>
              <a:t>This family of distributions is characterized by a single parameter  </a:t>
            </a:r>
            <a:r>
              <a:rPr lang="el-GR" sz="2400" dirty="0" smtClean="0">
                <a:latin typeface="+mj-lt"/>
              </a:rPr>
              <a:t>λ</a:t>
            </a:r>
            <a:r>
              <a:rPr lang="en-IN" sz="2400" dirty="0" smtClean="0">
                <a:latin typeface="+mj-lt"/>
              </a:rPr>
              <a:t> , which is called the rate. Intuitively, </a:t>
            </a:r>
            <a:r>
              <a:rPr lang="el-GR" sz="2400" dirty="0" smtClean="0">
                <a:latin typeface="+mj-lt"/>
              </a:rPr>
              <a:t>λ</a:t>
            </a:r>
            <a:r>
              <a:rPr lang="el-GR" sz="2400" dirty="0" smtClean="0"/>
              <a:t> </a:t>
            </a:r>
            <a:r>
              <a:rPr lang="en-IN" sz="2400" dirty="0" smtClean="0">
                <a:latin typeface="+mj-lt"/>
              </a:rPr>
              <a:t>can be thought of as the instantaneous “failure rate” of a “device” at any time </a:t>
            </a:r>
            <a:r>
              <a:rPr lang="en-IN" sz="2400" i="1" dirty="0" smtClean="0">
                <a:latin typeface="+mj-lt"/>
              </a:rPr>
              <a:t>t</a:t>
            </a:r>
            <a:r>
              <a:rPr lang="en-IN" sz="2400" dirty="0" smtClean="0">
                <a:latin typeface="+mj-lt"/>
              </a:rPr>
              <a:t>, given that the device has survived up to </a:t>
            </a:r>
            <a:r>
              <a:rPr lang="en-IN" sz="2400" i="1" dirty="0" smtClean="0">
                <a:latin typeface="+mj-lt"/>
              </a:rPr>
              <a:t>t</a:t>
            </a:r>
            <a:r>
              <a:rPr lang="en-IN" sz="2400" dirty="0" smtClean="0">
                <a:latin typeface="+mj-lt"/>
              </a:rPr>
              <a:t>.</a:t>
            </a:r>
          </a:p>
          <a:p>
            <a:endParaRPr lang="en-IN" sz="2400" dirty="0" smtClean="0">
              <a:latin typeface="+mj-lt"/>
            </a:endParaRPr>
          </a:p>
          <a:p>
            <a:r>
              <a:rPr lang="en-IN" sz="2400" dirty="0" smtClean="0">
                <a:latin typeface="+mj-lt"/>
              </a:rPr>
              <a:t>The exponential distribution is typically used to model time intervals between “random events”.</a:t>
            </a:r>
            <a:endParaRPr lang="en-IN" sz="2400" dirty="0">
              <a:latin typeface="+mj-lt"/>
            </a:endParaRPr>
          </a:p>
        </p:txBody>
      </p:sp>
      <p:pic>
        <p:nvPicPr>
          <p:cNvPr id="879618" name="Picture 2"/>
          <p:cNvPicPr>
            <a:picLocks noChangeAspect="1" noChangeArrowheads="1"/>
          </p:cNvPicPr>
          <p:nvPr/>
        </p:nvPicPr>
        <p:blipFill>
          <a:blip r:embed="rId2">
            <a:lum bright="-10000" contrast="20000"/>
          </a:blip>
          <a:srcRect/>
          <a:stretch>
            <a:fillRect/>
          </a:stretch>
        </p:blipFill>
        <p:spPr bwMode="auto">
          <a:xfrm>
            <a:off x="381000" y="1676400"/>
            <a:ext cx="4599215" cy="990600"/>
          </a:xfrm>
          <a:prstGeom prst="rect">
            <a:avLst/>
          </a:prstGeom>
          <a:noFill/>
          <a:ln w="9525">
            <a:noFill/>
            <a:miter lim="800000"/>
            <a:headEnd/>
            <a:tailEnd/>
          </a:ln>
          <a:effectLst/>
        </p:spPr>
      </p:pic>
      <p:pic>
        <p:nvPicPr>
          <p:cNvPr id="879619" name="Picture 3"/>
          <p:cNvPicPr>
            <a:picLocks noChangeAspect="1" noChangeArrowheads="1"/>
          </p:cNvPicPr>
          <p:nvPr/>
        </p:nvPicPr>
        <p:blipFill>
          <a:blip r:embed="rId3">
            <a:lum bright="10000" contrast="10000"/>
          </a:blip>
          <a:srcRect/>
          <a:stretch>
            <a:fillRect/>
          </a:stretch>
        </p:blipFill>
        <p:spPr bwMode="auto">
          <a:xfrm>
            <a:off x="5410200" y="1295400"/>
            <a:ext cx="3362325" cy="23526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91</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Rectangle 5"/>
          <p:cNvSpPr/>
          <p:nvPr/>
        </p:nvSpPr>
        <p:spPr>
          <a:xfrm>
            <a:off x="285720" y="785794"/>
            <a:ext cx="8572560" cy="1384995"/>
          </a:xfrm>
          <a:prstGeom prst="rect">
            <a:avLst/>
          </a:prstGeom>
        </p:spPr>
        <p:txBody>
          <a:bodyPr wrap="square">
            <a:spAutoFit/>
          </a:bodyPr>
          <a:lstStyle/>
          <a:p>
            <a:r>
              <a:rPr lang="en-IN" sz="2000" dirty="0" smtClean="0">
                <a:latin typeface="+mj-lt"/>
              </a:rPr>
              <a:t>The arrival rate of cars at a gas station is </a:t>
            </a:r>
            <a:r>
              <a:rPr lang="el-GR" sz="2400" dirty="0" smtClean="0">
                <a:latin typeface="+mj-lt"/>
              </a:rPr>
              <a:t>λ</a:t>
            </a:r>
            <a:r>
              <a:rPr lang="en-IN" sz="2000" dirty="0" smtClean="0">
                <a:latin typeface="+mj-lt"/>
              </a:rPr>
              <a:t> = 40 customers per hour. (This is equivalent to saying that the inter-arrival times are exponentially distributed with</a:t>
            </a:r>
          </a:p>
          <a:p>
            <a:r>
              <a:rPr lang="en-US" sz="2000" dirty="0" smtClean="0">
                <a:latin typeface="+mj-lt"/>
              </a:rPr>
              <a:t>rate 40 per hour.) </a:t>
            </a:r>
            <a:r>
              <a:rPr lang="en-IN" sz="2000" dirty="0" smtClean="0">
                <a:latin typeface="+mj-lt"/>
              </a:rPr>
              <a:t>What is the probability of having no arrivals in a 5 </a:t>
            </a:r>
            <a:r>
              <a:rPr lang="en-US" sz="2000" dirty="0" smtClean="0">
                <a:latin typeface="+mj-lt"/>
              </a:rPr>
              <a:t>minute interval?</a:t>
            </a:r>
            <a:endParaRPr lang="en-US" sz="2000" dirty="0">
              <a:latin typeface="+mj-lt"/>
            </a:endParaRPr>
          </a:p>
        </p:txBody>
      </p:sp>
      <p:pic>
        <p:nvPicPr>
          <p:cNvPr id="1055746"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1785918" y="1928802"/>
            <a:ext cx="6654577" cy="4386282"/>
          </a:xfrm>
          <a:prstGeom prst="rect">
            <a:avLst/>
          </a:prstGeom>
          <a:noFill/>
          <a:ln w="9525">
            <a:noFill/>
            <a:miter lim="800000"/>
            <a:headEnd/>
            <a:tailEnd/>
          </a:ln>
          <a:effec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Prof. A. K. Datta     University of Calcutta</a:t>
            </a:r>
            <a:endParaRPr lang="en-IN" dirty="0"/>
          </a:p>
        </p:txBody>
      </p:sp>
      <p:sp>
        <p:nvSpPr>
          <p:cNvPr id="3" name="Slide Number Placeholder 2"/>
          <p:cNvSpPr>
            <a:spLocks noGrp="1"/>
          </p:cNvSpPr>
          <p:nvPr>
            <p:ph type="sldNum" sz="quarter" idx="11"/>
          </p:nvPr>
        </p:nvSpPr>
        <p:spPr/>
        <p:txBody>
          <a:bodyPr/>
          <a:lstStyle/>
          <a:p>
            <a:fld id="{BF2D74FB-8EB9-4DEE-8258-980F8375AF4A}" type="slidenum">
              <a:rPr lang="en-IN" smtClean="0"/>
              <a:pPr/>
              <a:t>92</a:t>
            </a:fld>
            <a:endParaRPr lang="en-IN" dirty="0"/>
          </a:p>
        </p:txBody>
      </p:sp>
      <p:sp>
        <p:nvSpPr>
          <p:cNvPr id="4" name="Footer Placeholder 3"/>
          <p:cNvSpPr>
            <a:spLocks noGrp="1"/>
          </p:cNvSpPr>
          <p:nvPr>
            <p:ph type="ftr" sz="quarter" idx="12"/>
          </p:nvPr>
        </p:nvSpPr>
        <p:spPr/>
        <p:txBody>
          <a:bodyPr/>
          <a:lstStyle/>
          <a:p>
            <a:r>
              <a:rPr lang="en-IN" smtClean="0"/>
              <a:t>Ph.D Course Work on Research Methodology</a:t>
            </a:r>
            <a:endParaRPr lang="en-IN" dirty="0"/>
          </a:p>
        </p:txBody>
      </p:sp>
      <p:sp>
        <p:nvSpPr>
          <p:cNvPr id="5" name="Rectangle 2"/>
          <p:cNvSpPr txBox="1">
            <a:spLocks noChangeArrowheads="1"/>
          </p:cNvSpPr>
          <p:nvPr/>
        </p:nvSpPr>
        <p:spPr>
          <a:xfrm>
            <a:off x="609600" y="2438400"/>
            <a:ext cx="8058150" cy="614363"/>
          </a:xfrm>
          <a:prstGeom prst="rect">
            <a:avLst/>
          </a:prstGeom>
        </p:spPr>
        <p:txBody>
          <a:bodyPr/>
          <a:lstStyle>
            <a:lvl1pPr algn="ctr" rtl="0" eaLnBrk="0" fontAlgn="base" hangingPunct="0">
              <a:spcBef>
                <a:spcPct val="0"/>
              </a:spcBef>
              <a:spcAft>
                <a:spcPct val="0"/>
              </a:spcAft>
              <a:defRPr sz="2800" b="1">
                <a:solidFill>
                  <a:schemeClr val="tx1"/>
                </a:solidFill>
                <a:latin typeface="+mj-lt"/>
                <a:ea typeface="+mj-ea"/>
                <a:cs typeface="+mj-cs"/>
              </a:defRPr>
            </a:lvl1pPr>
            <a:lvl2pPr algn="ctr" rtl="0" eaLnBrk="0" fontAlgn="base" hangingPunct="0">
              <a:spcBef>
                <a:spcPct val="0"/>
              </a:spcBef>
              <a:spcAft>
                <a:spcPct val="0"/>
              </a:spcAft>
              <a:defRPr sz="2800" b="1">
                <a:solidFill>
                  <a:schemeClr val="tx1"/>
                </a:solidFill>
                <a:latin typeface="Times New Roman" pitchFamily="18" charset="0"/>
              </a:defRPr>
            </a:lvl2pPr>
            <a:lvl3pPr algn="ctr" rtl="0" eaLnBrk="0" fontAlgn="base" hangingPunct="0">
              <a:spcBef>
                <a:spcPct val="0"/>
              </a:spcBef>
              <a:spcAft>
                <a:spcPct val="0"/>
              </a:spcAft>
              <a:defRPr sz="2800" b="1">
                <a:solidFill>
                  <a:schemeClr val="tx1"/>
                </a:solidFill>
                <a:latin typeface="Times New Roman" pitchFamily="18" charset="0"/>
              </a:defRPr>
            </a:lvl3pPr>
            <a:lvl4pPr algn="ctr" rtl="0" eaLnBrk="0" fontAlgn="base" hangingPunct="0">
              <a:spcBef>
                <a:spcPct val="0"/>
              </a:spcBef>
              <a:spcAft>
                <a:spcPct val="0"/>
              </a:spcAft>
              <a:defRPr sz="2800" b="1">
                <a:solidFill>
                  <a:schemeClr val="tx1"/>
                </a:solidFill>
                <a:latin typeface="Times New Roman" pitchFamily="18" charset="0"/>
              </a:defRPr>
            </a:lvl4pPr>
            <a:lvl5pPr algn="ctr" rtl="0" eaLnBrk="0" fontAlgn="base" hangingPunct="0">
              <a:spcBef>
                <a:spcPct val="0"/>
              </a:spcBef>
              <a:spcAft>
                <a:spcPct val="0"/>
              </a:spcAft>
              <a:defRPr sz="2800" b="1">
                <a:solidFill>
                  <a:schemeClr val="tx1"/>
                </a:solidFill>
                <a:latin typeface="Times New Roman" pitchFamily="18" charset="0"/>
              </a:defRPr>
            </a:lvl5pPr>
            <a:lvl6pPr marL="457200" algn="ctr" rtl="0" fontAlgn="base">
              <a:spcBef>
                <a:spcPct val="0"/>
              </a:spcBef>
              <a:spcAft>
                <a:spcPct val="0"/>
              </a:spcAft>
              <a:defRPr sz="2800" b="1">
                <a:solidFill>
                  <a:schemeClr val="tx1"/>
                </a:solidFill>
                <a:latin typeface="Times New Roman" pitchFamily="18" charset="0"/>
              </a:defRPr>
            </a:lvl6pPr>
            <a:lvl7pPr marL="914400" algn="ctr" rtl="0" fontAlgn="base">
              <a:spcBef>
                <a:spcPct val="0"/>
              </a:spcBef>
              <a:spcAft>
                <a:spcPct val="0"/>
              </a:spcAft>
              <a:defRPr sz="2800" b="1">
                <a:solidFill>
                  <a:schemeClr val="tx1"/>
                </a:solidFill>
                <a:latin typeface="Times New Roman" pitchFamily="18" charset="0"/>
              </a:defRPr>
            </a:lvl7pPr>
            <a:lvl8pPr marL="1371600" algn="ctr" rtl="0" fontAlgn="base">
              <a:spcBef>
                <a:spcPct val="0"/>
              </a:spcBef>
              <a:spcAft>
                <a:spcPct val="0"/>
              </a:spcAft>
              <a:defRPr sz="2800" b="1">
                <a:solidFill>
                  <a:schemeClr val="tx1"/>
                </a:solidFill>
                <a:latin typeface="Times New Roman" pitchFamily="18" charset="0"/>
              </a:defRPr>
            </a:lvl8pPr>
            <a:lvl9pPr marL="1828800" algn="ctr" rtl="0" fontAlgn="base">
              <a:spcBef>
                <a:spcPct val="0"/>
              </a:spcBef>
              <a:spcAft>
                <a:spcPct val="0"/>
              </a:spcAft>
              <a:defRPr sz="2800" b="1">
                <a:solidFill>
                  <a:schemeClr val="tx1"/>
                </a:solidFill>
                <a:latin typeface="Times New Roman" pitchFamily="18" charset="0"/>
              </a:defRPr>
            </a:lvl9pPr>
          </a:lstStyle>
          <a:p>
            <a:pPr eaLnBrk="1" hangingPunct="1"/>
            <a:r>
              <a:rPr lang="en-US" sz="3600" b="0" dirty="0" smtClean="0">
                <a:latin typeface="+mn-lt"/>
                <a:cs typeface="Arial" pitchFamily="34" charset="0"/>
              </a:rPr>
              <a:t>Sampling Distribution</a:t>
            </a:r>
          </a:p>
        </p:txBody>
      </p:sp>
    </p:spTree>
    <p:extLst>
      <p:ext uri="{BB962C8B-B14F-4D97-AF65-F5344CB8AC3E}">
        <p14:creationId xmlns="" xmlns:p14="http://schemas.microsoft.com/office/powerpoint/2010/main" val="408498001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idx="4294967295"/>
          </p:nvPr>
        </p:nvSpPr>
        <p:spPr>
          <a:xfrm>
            <a:off x="838200" y="0"/>
            <a:ext cx="8058150" cy="614363"/>
          </a:xfrm>
          <a:prstGeom prst="rect">
            <a:avLst/>
          </a:prstGeom>
        </p:spPr>
        <p:txBody>
          <a:bodyPr/>
          <a:lstStyle/>
          <a:p>
            <a:pPr eaLnBrk="1" hangingPunct="1"/>
            <a:r>
              <a:rPr lang="en-US" sz="3200" b="0" dirty="0" smtClean="0">
                <a:latin typeface="+mn-lt"/>
                <a:cs typeface="Arial" pitchFamily="34" charset="0"/>
              </a:rPr>
              <a:t>Sampling Distribution</a:t>
            </a:r>
          </a:p>
        </p:txBody>
      </p:sp>
      <p:sp>
        <p:nvSpPr>
          <p:cNvPr id="110595" name="Rectangle 3"/>
          <p:cNvSpPr>
            <a:spLocks noGrp="1" noChangeArrowheads="1"/>
          </p:cNvSpPr>
          <p:nvPr>
            <p:ph type="body" idx="1"/>
          </p:nvPr>
        </p:nvSpPr>
        <p:spPr>
          <a:xfrm>
            <a:off x="381000" y="838200"/>
            <a:ext cx="8534400" cy="2895600"/>
          </a:xfrm>
        </p:spPr>
        <p:txBody>
          <a:bodyPr/>
          <a:lstStyle/>
          <a:p>
            <a:pPr algn="just" eaLnBrk="1" hangingPunct="1">
              <a:lnSpc>
                <a:spcPct val="90000"/>
              </a:lnSpc>
            </a:pPr>
            <a:r>
              <a:rPr lang="en-US" dirty="0" smtClean="0"/>
              <a:t>Every time we take a random sample and calculate a statistic, the value of the statistic changes (</a:t>
            </a:r>
            <a:r>
              <a:rPr lang="en-US" dirty="0" smtClean="0">
                <a:solidFill>
                  <a:srgbClr val="FF0000"/>
                </a:solidFill>
              </a:rPr>
              <a:t>remember, a </a:t>
            </a:r>
            <a:r>
              <a:rPr lang="en-US" b="1" dirty="0" smtClean="0">
                <a:solidFill>
                  <a:srgbClr val="FF0000"/>
                </a:solidFill>
              </a:rPr>
              <a:t>statistic is a random variable</a:t>
            </a:r>
            <a:r>
              <a:rPr lang="en-US" dirty="0" smtClean="0"/>
              <a:t>). </a:t>
            </a:r>
          </a:p>
          <a:p>
            <a:pPr algn="just" eaLnBrk="1" hangingPunct="1">
              <a:lnSpc>
                <a:spcPct val="90000"/>
              </a:lnSpc>
            </a:pPr>
            <a:r>
              <a:rPr lang="en-US" dirty="0" smtClean="0"/>
              <a:t>If we continue to take random samples and </a:t>
            </a:r>
            <a:r>
              <a:rPr lang="en-US" dirty="0" smtClean="0">
                <a:solidFill>
                  <a:srgbClr val="FF0000"/>
                </a:solidFill>
              </a:rPr>
              <a:t>calculate a given statistic over time,</a:t>
            </a:r>
            <a:r>
              <a:rPr lang="en-US" dirty="0" smtClean="0"/>
              <a:t> we will build up a distribution of values for the statistic. This distribution is referred to as a </a:t>
            </a:r>
            <a:r>
              <a:rPr lang="en-US" b="1" dirty="0" smtClean="0">
                <a:solidFill>
                  <a:srgbClr val="FF0000"/>
                </a:solidFill>
              </a:rPr>
              <a:t>sampling distribution</a:t>
            </a:r>
            <a:r>
              <a:rPr lang="en-US" dirty="0" smtClean="0"/>
              <a:t>.</a:t>
            </a:r>
          </a:p>
          <a:p>
            <a:pPr algn="just" eaLnBrk="1" hangingPunct="1">
              <a:lnSpc>
                <a:spcPct val="90000"/>
              </a:lnSpc>
            </a:pPr>
            <a:r>
              <a:rPr lang="en-US" dirty="0" smtClean="0"/>
              <a:t>A </a:t>
            </a:r>
            <a:r>
              <a:rPr lang="en-US" b="1" dirty="0" smtClean="0"/>
              <a:t>sampling distribution</a:t>
            </a:r>
            <a:r>
              <a:rPr lang="en-US" dirty="0" smtClean="0"/>
              <a:t> is a distribution that </a:t>
            </a:r>
            <a:r>
              <a:rPr lang="en-US" dirty="0" smtClean="0">
                <a:solidFill>
                  <a:srgbClr val="FF0000"/>
                </a:solidFill>
              </a:rPr>
              <a:t>describes the chance fluctuations </a:t>
            </a:r>
            <a:r>
              <a:rPr lang="en-US" dirty="0" smtClean="0"/>
              <a:t>of a statistic calculated from a random sample.</a:t>
            </a:r>
          </a:p>
          <a:p>
            <a:pPr eaLnBrk="1" hangingPunct="1">
              <a:lnSpc>
                <a:spcPct val="90000"/>
              </a:lnSpc>
            </a:pPr>
            <a:endParaRPr lang="en-US" sz="2800" dirty="0" smtClean="0"/>
          </a:p>
        </p:txBody>
      </p:sp>
      <p:sp>
        <p:nvSpPr>
          <p:cNvPr id="4" name="Rectangle 3"/>
          <p:cNvSpPr txBox="1">
            <a:spLocks noChangeArrowheads="1"/>
          </p:cNvSpPr>
          <p:nvPr/>
        </p:nvSpPr>
        <p:spPr>
          <a:xfrm>
            <a:off x="381000" y="4572000"/>
            <a:ext cx="8534400" cy="1905000"/>
          </a:xfrm>
          <a:prstGeom prst="rect">
            <a:avLst/>
          </a:prstGeom>
        </p:spPr>
        <p:txBody>
          <a:bodyPr/>
          <a:lstStyle/>
          <a:p>
            <a:pPr marL="342900" marR="0" lvl="0" indent="-342900" algn="just" defTabSz="914400" rtl="0" eaLnBrk="1" fontAlgn="base" latinLnBrk="0" hangingPunct="1">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The probability distribution of    is called the </a:t>
            </a:r>
            <a:r>
              <a:rPr kumimoji="0" lang="en-US" sz="2400" b="1" i="0" u="none" strike="noStrike" kern="0" cap="none" spc="0" normalizeH="0" baseline="0" noProof="0" dirty="0" smtClean="0">
                <a:ln>
                  <a:noFill/>
                </a:ln>
                <a:solidFill>
                  <a:schemeClr val="tx1"/>
                </a:solidFill>
                <a:effectLst/>
                <a:uLnTx/>
                <a:uFillTx/>
                <a:latin typeface="+mn-lt"/>
                <a:ea typeface="+mn-ea"/>
                <a:cs typeface="+mn-cs"/>
              </a:rPr>
              <a:t>sampling distribution of the mean</a:t>
            </a:r>
            <a:r>
              <a:rPr kumimoji="0" lang="en-US" sz="2400" b="0" i="0" u="none" strike="noStrike" kern="0" cap="none" spc="0" normalizeH="0" baseline="0" noProof="0" dirty="0" smtClean="0">
                <a:ln>
                  <a:noFill/>
                </a:ln>
                <a:solidFill>
                  <a:schemeClr val="tx1"/>
                </a:solidFill>
                <a:effectLst/>
                <a:uLnTx/>
                <a:uFillTx/>
                <a:latin typeface="+mn-lt"/>
                <a:ea typeface="+mn-ea"/>
                <a:cs typeface="+mn-cs"/>
              </a:rPr>
              <a:t>.</a:t>
            </a:r>
          </a:p>
          <a:p>
            <a:pPr marL="342900" marR="0" lvl="0" indent="-342900" algn="just" defTabSz="914400" rtl="0" eaLnBrk="1" fontAlgn="base" latinLnBrk="0" hangingPunct="1">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The distribution of      , for a given sample size </a:t>
            </a:r>
            <a:r>
              <a:rPr kumimoji="0" lang="en-US" sz="2400" b="0" i="1" u="none" strike="noStrike" kern="0" cap="none" spc="0" normalizeH="0" baseline="0" noProof="0" dirty="0" smtClean="0">
                <a:ln>
                  <a:noFill/>
                </a:ln>
                <a:solidFill>
                  <a:schemeClr val="tx1"/>
                </a:solidFill>
                <a:effectLst/>
                <a:uLnTx/>
                <a:uFillTx/>
                <a:latin typeface="+mn-lt"/>
                <a:ea typeface="+mn-ea"/>
                <a:cs typeface="+mn-cs"/>
              </a:rPr>
              <a:t>n</a:t>
            </a:r>
            <a:r>
              <a:rPr kumimoji="0" lang="en-US" sz="2400" b="0" i="0" u="none" strike="noStrike" kern="0" cap="none" spc="0" normalizeH="0" baseline="0" noProof="0" dirty="0" smtClean="0">
                <a:ln>
                  <a:noFill/>
                </a:ln>
                <a:solidFill>
                  <a:schemeClr val="tx1"/>
                </a:solidFill>
                <a:effectLst/>
                <a:uLnTx/>
                <a:uFillTx/>
                <a:latin typeface="+mn-lt"/>
                <a:ea typeface="+mn-ea"/>
                <a:cs typeface="+mn-cs"/>
              </a:rPr>
              <a:t>, describes the variability of sample averages around the population mean  </a:t>
            </a:r>
            <a:r>
              <a:rPr kumimoji="0" lang="en-US" sz="2400" b="0" i="1" u="none" strike="noStrike" kern="0" cap="none" spc="0" normalizeH="0" baseline="0" noProof="0" dirty="0" smtClean="0">
                <a:ln>
                  <a:noFill/>
                </a:ln>
                <a:solidFill>
                  <a:schemeClr val="tx1"/>
                </a:solidFill>
                <a:effectLst/>
                <a:uLnTx/>
                <a:uFillTx/>
                <a:latin typeface="+mn-lt"/>
                <a:ea typeface="+mn-ea"/>
                <a:cs typeface="Times New Roman" pitchFamily="18" charset="0"/>
              </a:rPr>
              <a:t>μ</a:t>
            </a:r>
            <a:r>
              <a:rPr kumimoji="0" lang="en-US" sz="2400" b="0" i="0" u="none" strike="noStrike" kern="0" cap="none" spc="0" normalizeH="0" baseline="0" noProof="0" dirty="0" smtClean="0">
                <a:ln>
                  <a:noFill/>
                </a:ln>
                <a:solidFill>
                  <a:schemeClr val="tx1"/>
                </a:solidFill>
                <a:effectLst/>
                <a:uLnTx/>
                <a:uFillTx/>
                <a:latin typeface="+mn-lt"/>
                <a:ea typeface="+mn-ea"/>
                <a:cs typeface="Times New Roman" pitchFamily="18" charset="0"/>
              </a:rPr>
              <a:t>.</a:t>
            </a:r>
            <a:endParaRPr kumimoji="0" lang="en-US" sz="2000" b="0" i="0" u="none" strike="noStrike" kern="0" cap="none" spc="0" normalizeH="0" baseline="0" noProof="0" dirty="0" smtClean="0">
              <a:ln>
                <a:noFill/>
              </a:ln>
              <a:solidFill>
                <a:schemeClr val="tx1"/>
              </a:solidFill>
              <a:effectLst/>
              <a:uLnTx/>
              <a:uFillTx/>
              <a:latin typeface="+mn-lt"/>
              <a:ea typeface="+mn-ea"/>
              <a:cs typeface="Times New Roman" pitchFamily="18" charset="0"/>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112644" name="Object 4"/>
          <p:cNvGraphicFramePr>
            <a:graphicFrameLocks noChangeAspect="1"/>
          </p:cNvGraphicFramePr>
          <p:nvPr/>
        </p:nvGraphicFramePr>
        <p:xfrm>
          <a:off x="5105400" y="4724400"/>
          <a:ext cx="304800" cy="243840"/>
        </p:xfrm>
        <a:graphic>
          <a:graphicData uri="http://schemas.openxmlformats.org/presentationml/2006/ole">
            <p:oleObj spid="_x0000_s758898" name="Equation" r:id="rId3" imgW="380835" imgH="355446" progId="Equation.3">
              <p:embed/>
            </p:oleObj>
          </a:graphicData>
        </a:graphic>
      </p:graphicFrame>
      <p:graphicFrame>
        <p:nvGraphicFramePr>
          <p:cNvPr id="112645" name="Object 4"/>
          <p:cNvGraphicFramePr>
            <a:graphicFrameLocks noChangeAspect="1"/>
          </p:cNvGraphicFramePr>
          <p:nvPr/>
        </p:nvGraphicFramePr>
        <p:xfrm>
          <a:off x="3276600" y="5486400"/>
          <a:ext cx="381000" cy="304800"/>
        </p:xfrm>
        <a:graphic>
          <a:graphicData uri="http://schemas.openxmlformats.org/presentationml/2006/ole">
            <p:oleObj spid="_x0000_s758899" name="Equation" r:id="rId4" imgW="380835" imgH="355446" progId="Equation.3">
              <p:embed/>
            </p:oleObj>
          </a:graphicData>
        </a:graphic>
      </p:graphicFrame>
      <p:sp>
        <p:nvSpPr>
          <p:cNvPr id="7" name="Date Placeholder 6"/>
          <p:cNvSpPr>
            <a:spLocks noGrp="1"/>
          </p:cNvSpPr>
          <p:nvPr>
            <p:ph type="dt" sz="half" idx="10"/>
          </p:nvPr>
        </p:nvSpPr>
        <p:spPr/>
        <p:txBody>
          <a:bodyPr/>
          <a:lstStyle/>
          <a:p>
            <a:r>
              <a:rPr lang="en-US" smtClean="0"/>
              <a:t>Prof. A. K. Datta     University of Calcutta</a:t>
            </a:r>
            <a:endParaRPr lang="en-IN" dirty="0"/>
          </a:p>
        </p:txBody>
      </p:sp>
      <p:sp>
        <p:nvSpPr>
          <p:cNvPr id="8" name="Slide Number Placeholder 7"/>
          <p:cNvSpPr>
            <a:spLocks noGrp="1"/>
          </p:cNvSpPr>
          <p:nvPr>
            <p:ph type="sldNum" sz="quarter" idx="11"/>
          </p:nvPr>
        </p:nvSpPr>
        <p:spPr/>
        <p:txBody>
          <a:bodyPr/>
          <a:lstStyle/>
          <a:p>
            <a:fld id="{BF2D74FB-8EB9-4DEE-8258-980F8375AF4A}" type="slidenum">
              <a:rPr lang="en-IN" smtClean="0"/>
              <a:pPr/>
              <a:t>93</a:t>
            </a:fld>
            <a:endParaRPr lang="en-IN" dirty="0"/>
          </a:p>
        </p:txBody>
      </p:sp>
      <p:sp>
        <p:nvSpPr>
          <p:cNvPr id="9" name="Footer Placeholder 8"/>
          <p:cNvSpPr>
            <a:spLocks noGrp="1"/>
          </p:cNvSpPr>
          <p:nvPr>
            <p:ph type="ftr" sz="quarter" idx="12"/>
          </p:nvPr>
        </p:nvSpPr>
        <p:spPr/>
        <p:txBody>
          <a:bodyPr/>
          <a:lstStyle/>
          <a:p>
            <a:r>
              <a:rPr lang="en-IN" smtClean="0"/>
              <a:t>Ph.D Course Work on Research Methodology</a:t>
            </a:r>
            <a:endParaRPr lang="en-IN"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609600"/>
            <a:ext cx="8686800" cy="3276600"/>
          </a:xfrm>
        </p:spPr>
        <p:txBody>
          <a:bodyPr/>
          <a:lstStyle/>
          <a:p>
            <a:pPr algn="l"/>
            <a:r>
              <a:rPr lang="en-US" sz="3200" b="0" dirty="0" smtClean="0"/>
              <a:t>Sampling  Distribution</a:t>
            </a:r>
            <a:r>
              <a:rPr lang="en-US" sz="3600" b="0" dirty="0" smtClean="0"/>
              <a:t/>
            </a:r>
            <a:br>
              <a:rPr lang="en-US" sz="3600" b="0" dirty="0" smtClean="0"/>
            </a:br>
            <a:r>
              <a:rPr lang="en-IN" sz="2400" b="0" dirty="0" smtClean="0"/>
              <a:t>Sampling distribution of a statistic, which is the distribution of  all values of that statistic when all possible samples of the same size are taken from the same population.</a:t>
            </a:r>
            <a:br>
              <a:rPr lang="en-IN" sz="2400" b="0" dirty="0" smtClean="0"/>
            </a:br>
            <a:r>
              <a:rPr lang="en-IN" sz="2400" b="0" dirty="0" smtClean="0"/>
              <a:t>• How to find sampling distribution of sample means.</a:t>
            </a:r>
            <a:br>
              <a:rPr lang="en-IN" sz="2400" b="0" dirty="0" smtClean="0"/>
            </a:br>
            <a:r>
              <a:rPr lang="en-IN" sz="2400" b="0" dirty="0" smtClean="0"/>
              <a:t>• How to interpret the Central Limit Theorem.</a:t>
            </a:r>
            <a:br>
              <a:rPr lang="en-IN" sz="2400" b="0" dirty="0" smtClean="0"/>
            </a:br>
            <a:r>
              <a:rPr lang="en-IN" sz="2400" b="0" dirty="0" smtClean="0"/>
              <a:t>• How to apply the Central Limit Theorem to find the probability of a sample mean</a:t>
            </a:r>
            <a:br>
              <a:rPr lang="en-IN" sz="2400" b="0" dirty="0" smtClean="0"/>
            </a:br>
            <a:r>
              <a:rPr lang="en-IN" sz="2400" b="0" dirty="0" smtClean="0"/>
              <a:t> </a:t>
            </a:r>
            <a:r>
              <a:rPr lang="en-US" sz="3600" b="0" dirty="0" smtClean="0"/>
              <a:t/>
            </a:r>
            <a:br>
              <a:rPr lang="en-US" sz="3600" b="0" dirty="0" smtClean="0"/>
            </a:br>
            <a:r>
              <a:rPr lang="en-US" b="0" dirty="0" smtClean="0"/>
              <a:t>1. Sampling distribution of mean</a:t>
            </a:r>
            <a:br>
              <a:rPr lang="en-US" b="0" dirty="0" smtClean="0"/>
            </a:br>
            <a:r>
              <a:rPr lang="en-US" b="0" dirty="0" smtClean="0"/>
              <a:t>2. Sampling distribution of proportion</a:t>
            </a:r>
            <a:br>
              <a:rPr lang="en-US" b="0" dirty="0" smtClean="0"/>
            </a:br>
            <a:r>
              <a:rPr lang="en-US" b="0" dirty="0" smtClean="0"/>
              <a:t>3.  t- distribution</a:t>
            </a:r>
            <a:br>
              <a:rPr lang="en-US" b="0" dirty="0" smtClean="0"/>
            </a:br>
            <a:r>
              <a:rPr lang="en-US" b="0" dirty="0" smtClean="0"/>
              <a:t>4.  F distribution</a:t>
            </a:r>
            <a:br>
              <a:rPr lang="en-US" b="0" dirty="0" smtClean="0"/>
            </a:br>
            <a:r>
              <a:rPr lang="en-US" b="0" dirty="0" smtClean="0"/>
              <a:t>5.  Chi square distribution</a:t>
            </a:r>
            <a:r>
              <a:rPr lang="en-US" sz="3600" b="0" dirty="0" smtClean="0"/>
              <a:t/>
            </a:r>
            <a:br>
              <a:rPr lang="en-US" sz="3600" b="0" dirty="0" smtClean="0"/>
            </a:br>
            <a:r>
              <a:rPr lang="en-US" sz="3600" b="0" dirty="0" smtClean="0"/>
              <a:t/>
            </a:r>
            <a:br>
              <a:rPr lang="en-US" sz="3600" b="0" dirty="0" smtClean="0"/>
            </a:br>
            <a:r>
              <a:rPr lang="en-US" sz="3600" b="0" dirty="0" smtClean="0"/>
              <a:t/>
            </a:r>
            <a:br>
              <a:rPr lang="en-US" sz="3600" b="0" dirty="0" smtClean="0"/>
            </a:br>
            <a:r>
              <a:rPr lang="en-US" sz="3600" b="0" dirty="0" smtClean="0"/>
              <a:t/>
            </a:r>
            <a:br>
              <a:rPr lang="en-US" sz="3600" b="0" dirty="0" smtClean="0"/>
            </a:br>
            <a:endParaRPr lang="en-US" sz="3600" b="0" dirty="0"/>
          </a:p>
        </p:txBody>
      </p:sp>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90600" y="0"/>
            <a:ext cx="8153400" cy="762000"/>
          </a:xfrm>
          <a:noFill/>
          <a:ln/>
        </p:spPr>
        <p:txBody>
          <a:bodyPr/>
          <a:lstStyle/>
          <a:p>
            <a:r>
              <a:rPr lang="en-US" sz="3200" b="0" dirty="0"/>
              <a:t>Sampling Distribution of the Mean</a:t>
            </a:r>
          </a:p>
        </p:txBody>
      </p:sp>
      <mc:AlternateContent xmlns:mc="http://schemas.openxmlformats.org/markup-compatibility/2006">
        <mc:Choice xmlns="" xmlns:a14="http://schemas.microsoft.com/office/drawing/2010/main" Requires="a14">
          <p:sp>
            <p:nvSpPr>
              <p:cNvPr id="10243" name="Rectangle 3"/>
              <p:cNvSpPr>
                <a:spLocks noGrp="1" noChangeArrowheads="1"/>
              </p:cNvSpPr>
              <p:nvPr>
                <p:ph type="body" idx="1"/>
              </p:nvPr>
            </p:nvSpPr>
            <p:spPr>
              <a:xfrm>
                <a:off x="381000" y="990600"/>
                <a:ext cx="8686800" cy="5181600"/>
              </a:xfrm>
              <a:noFill/>
              <a:ln/>
            </p:spPr>
            <p:txBody>
              <a:bodyPr/>
              <a:lstStyle/>
              <a:p>
                <a:r>
                  <a:rPr lang="en-US" dirty="0" smtClean="0"/>
                  <a:t>When the population is </a:t>
                </a:r>
                <a:r>
                  <a:rPr lang="en-US" b="1" dirty="0"/>
                  <a:t>normally </a:t>
                </a:r>
                <a:r>
                  <a:rPr lang="en-US" b="1" dirty="0" smtClean="0"/>
                  <a:t>distributed that is </a:t>
                </a:r>
                <a:r>
                  <a:rPr lang="en-US" b="1" i="1" dirty="0" smtClean="0"/>
                  <a:t>N</a:t>
                </a:r>
                <a:r>
                  <a:rPr lang="en-US" b="1" dirty="0" smtClean="0"/>
                  <a:t>(</a:t>
                </a:r>
                <a:r>
                  <a:rPr lang="el-GR" b="1" i="1" dirty="0" smtClean="0"/>
                  <a:t>μ</a:t>
                </a:r>
                <a:r>
                  <a:rPr lang="en-US" b="1" i="1" dirty="0" smtClean="0"/>
                  <a:t>, </a:t>
                </a:r>
                <a:r>
                  <a:rPr lang="el-GR" b="1" i="1" dirty="0" smtClean="0"/>
                  <a:t>σ</a:t>
                </a:r>
                <a:r>
                  <a:rPr lang="en-US" b="1" i="1" baseline="-25000" dirty="0" smtClean="0"/>
                  <a:t>p</a:t>
                </a:r>
                <a:r>
                  <a:rPr lang="en-US" b="1" dirty="0" smtClean="0"/>
                  <a:t>),  </a:t>
                </a:r>
                <a:r>
                  <a:rPr lang="en-US" dirty="0" smtClean="0"/>
                  <a:t>where</a:t>
                </a:r>
                <a:r>
                  <a:rPr lang="en-US" b="1" dirty="0" smtClean="0"/>
                  <a:t/>
                </a:r>
                <a:r>
                  <a:rPr lang="el-GR" i="1" dirty="0" smtClean="0"/>
                  <a:t>μ</a:t>
                </a:r>
                <a:r>
                  <a:rPr lang="en-US" dirty="0" smtClean="0"/>
                  <a:t> is the mean of population and </a:t>
                </a:r>
                <a:r>
                  <a:rPr lang="el-GR" b="1" i="1" dirty="0"/>
                  <a:t>σ</a:t>
                </a:r>
                <a:r>
                  <a:rPr lang="en-US" b="1" i="1" baseline="-25000" dirty="0" smtClean="0"/>
                  <a:t>p </a:t>
                </a:r>
                <a:r>
                  <a:rPr lang="en-US" b="1" i="1" dirty="0" smtClean="0"/>
                  <a:t/>
                </a:r>
                <a:r>
                  <a:rPr lang="en-US" dirty="0" smtClean="0"/>
                  <a:t>is the standard deviation of population</a:t>
                </a:r>
                <a:endParaRPr lang="en-US" dirty="0"/>
              </a:p>
              <a:p>
                <a:pPr lvl="1"/>
                <a:r>
                  <a:rPr lang="en-US" sz="2400" b="1" dirty="0"/>
                  <a:t>Shape:  </a:t>
                </a:r>
                <a:r>
                  <a:rPr lang="en-US" sz="2400" dirty="0"/>
                  <a:t>Regardless of sample size, the distribution of sample means </a:t>
                </a:r>
                <a:r>
                  <a:rPr lang="en-US" sz="2400" dirty="0">
                    <a:solidFill>
                      <a:srgbClr val="FF0000"/>
                    </a:solidFill>
                  </a:rPr>
                  <a:t>will be normally </a:t>
                </a:r>
                <a:r>
                  <a:rPr lang="en-US" sz="2400" dirty="0"/>
                  <a:t>distributed.</a:t>
                </a:r>
              </a:p>
              <a:p>
                <a:pPr lvl="1"/>
                <a:r>
                  <a:rPr lang="en-US" sz="2400" b="1" dirty="0"/>
                  <a:t>Center:  </a:t>
                </a:r>
                <a:r>
                  <a:rPr lang="en-US" sz="2400" dirty="0"/>
                  <a:t>The mean of the distribution of sample means is the mean of the </a:t>
                </a:r>
                <a:r>
                  <a:rPr lang="en-US" sz="2400" dirty="0" smtClean="0"/>
                  <a:t>population.                </a:t>
                </a:r>
                <a:r>
                  <a:rPr lang="en-US" sz="2400" dirty="0" smtClean="0">
                    <a:solidFill>
                      <a:srgbClr val="FF0000"/>
                    </a:solidFill>
                  </a:rPr>
                  <a:t>Sample </a:t>
                </a:r>
                <a:r>
                  <a:rPr lang="en-US" sz="2400" dirty="0">
                    <a:solidFill>
                      <a:srgbClr val="FF0000"/>
                    </a:solidFill>
                  </a:rPr>
                  <a:t>size does not affect the center of the distribution</a:t>
                </a:r>
                <a:r>
                  <a:rPr lang="en-US" sz="2400" dirty="0" smtClean="0">
                    <a:solidFill>
                      <a:srgbClr val="FF0000"/>
                    </a:solidFill>
                  </a:rPr>
                  <a:t>. Standard deviation will be </a:t>
                </a:r>
                <a:r>
                  <a:rPr lang="el-GR" sz="2400" dirty="0" smtClean="0">
                    <a:solidFill>
                      <a:srgbClr val="FF0000"/>
                    </a:solidFill>
                  </a:rPr>
                  <a:t>σ</a:t>
                </a:r>
                <a:r>
                  <a:rPr lang="en-US" sz="2400" baseline="-25000" dirty="0" smtClean="0">
                    <a:solidFill>
                      <a:srgbClr val="FF0000"/>
                    </a:solidFill>
                  </a:rPr>
                  <a:t>p</a:t>
                </a:r>
                <a:r>
                  <a:rPr lang="en-US" sz="2400" dirty="0" smtClean="0">
                    <a:solidFill>
                      <a:srgbClr val="FF0000"/>
                    </a:solidFill>
                  </a:rPr>
                  <a:t/>
                </a:r>
                <a14:m>
                  <m:oMath xmlns:m="http://schemas.openxmlformats.org/officeDocument/2006/math">
                    <m:rad>
                      <m:radPr>
                        <m:degHide m:val="on"/>
                        <m:ctrlPr>
                          <a:rPr lang="el-GR" sz="2400" i="1" smtClean="0">
                            <a:solidFill>
                              <a:srgbClr val="FF0000"/>
                            </a:solidFill>
                            <a:latin typeface="Cambria Math"/>
                          </a:rPr>
                        </m:ctrlPr>
                      </m:radPr>
                      <m:deg/>
                      <m:e>
                        <m:r>
                          <a:rPr lang="en-US" sz="2400" b="0" i="1" smtClean="0">
                            <a:solidFill>
                              <a:srgbClr val="FF0000"/>
                            </a:solidFill>
                            <a:latin typeface="Cambria Math"/>
                          </a:rPr>
                          <m:t>𝑛</m:t>
                        </m:r>
                      </m:e>
                    </m:rad>
                  </m:oMath>
                </a14:m>
                <a:endParaRPr lang="en-US" sz="2400" dirty="0">
                  <a:solidFill>
                    <a:srgbClr val="FF0000"/>
                  </a:solidFill>
                </a:endParaRPr>
              </a:p>
              <a:p>
                <a:pPr lvl="1"/>
                <a:r>
                  <a:rPr lang="en-US" sz="2400" b="1" dirty="0"/>
                  <a:t>Spread:  </a:t>
                </a:r>
                <a:r>
                  <a:rPr lang="en-US" sz="2400" dirty="0"/>
                  <a:t>The standard deviation of the distribution of sample means, or the standard error, is </a:t>
                </a:r>
              </a:p>
            </p:txBody>
          </p:sp>
        </mc:Choice>
        <mc:Fallback>
          <p:sp>
            <p:nvSpPr>
              <p:cNvPr id="10243" name="Rectangle 3"/>
              <p:cNvSpPr>
                <a:spLocks noGrp="1" noRot="1" noChangeAspect="1" noMove="1" noResize="1" noEditPoints="1" noAdjustHandles="1" noChangeArrowheads="1" noChangeShapeType="1" noTextEdit="1"/>
              </p:cNvSpPr>
              <p:nvPr>
                <p:ph type="body" idx="1"/>
              </p:nvPr>
            </p:nvSpPr>
            <p:spPr>
              <a:xfrm>
                <a:off x="381000" y="990600"/>
                <a:ext cx="8686800" cy="5181600"/>
              </a:xfrm>
              <a:blipFill rotWithShape="1">
                <a:blip r:embed="rId4"/>
                <a:stretch>
                  <a:fillRect l="-982" t="-941" r="-1193"/>
                </a:stretch>
              </a:blipFill>
              <a:ln/>
            </p:spPr>
            <p:txBody>
              <a:bodyPr/>
              <a:lstStyle/>
              <a:p>
                <a:r>
                  <a:rPr lang="en-US">
                    <a:noFill/>
                  </a:rPr>
                  <a:t> </a:t>
                </a:r>
              </a:p>
            </p:txBody>
          </p:sp>
        </mc:Fallback>
      </mc:AlternateContent>
      <p:sp>
        <p:nvSpPr>
          <p:cNvPr id="10245" name="Line 5"/>
          <p:cNvSpPr>
            <a:spLocks noChangeShapeType="1"/>
          </p:cNvSpPr>
          <p:nvPr/>
        </p:nvSpPr>
        <p:spPr bwMode="auto">
          <a:xfrm flipV="1">
            <a:off x="4482277" y="5467236"/>
            <a:ext cx="44347" cy="19114"/>
          </a:xfrm>
          <a:prstGeom prst="line">
            <a:avLst/>
          </a:prstGeom>
          <a:noFill/>
          <a:ln w="12700">
            <a:solidFill>
              <a:srgbClr val="000000"/>
            </a:solidFill>
            <a:round/>
            <a:headEnd type="none" w="sm" len="sm"/>
            <a:tailEnd type="none" w="sm" len="sm"/>
          </a:ln>
          <a:effectLst/>
        </p:spPr>
        <p:txBody>
          <a:bodyPr/>
          <a:lstStyle/>
          <a:p>
            <a:endParaRPr lang="en-IN"/>
          </a:p>
        </p:txBody>
      </p:sp>
      <p:sp>
        <p:nvSpPr>
          <p:cNvPr id="10252" name="Rectangle 12"/>
          <p:cNvSpPr>
            <a:spLocks noChangeArrowheads="1"/>
          </p:cNvSpPr>
          <p:nvPr/>
        </p:nvSpPr>
        <p:spPr bwMode="auto">
          <a:xfrm>
            <a:off x="4374576" y="5012331"/>
            <a:ext cx="88695" cy="342772"/>
          </a:xfrm>
          <a:prstGeom prst="rect">
            <a:avLst/>
          </a:prstGeom>
          <a:noFill/>
          <a:ln w="9525">
            <a:noFill/>
            <a:miter lim="800000"/>
            <a:headEnd/>
            <a:tailEnd/>
          </a:ln>
          <a:effectLst/>
        </p:spPr>
        <p:txBody>
          <a:bodyPr wrap="none" lIns="0" tIns="0" rIns="0" bIns="0">
            <a:spAutoFit/>
          </a:bodyPr>
          <a:lstStyle/>
          <a:p>
            <a:r>
              <a:rPr lang="en-US" sz="2800">
                <a:solidFill>
                  <a:srgbClr val="000000"/>
                </a:solidFill>
                <a:latin typeface="Times New Roman" pitchFamily="18" charset="0"/>
              </a:rPr>
              <a:t> </a:t>
            </a:r>
          </a:p>
        </p:txBody>
      </p:sp>
      <p:sp>
        <p:nvSpPr>
          <p:cNvPr id="10253" name="Rectangle 13"/>
          <p:cNvSpPr>
            <a:spLocks noChangeArrowheads="1"/>
          </p:cNvSpPr>
          <p:nvPr/>
        </p:nvSpPr>
        <p:spPr bwMode="auto">
          <a:xfrm>
            <a:off x="4111659" y="5012331"/>
            <a:ext cx="88695" cy="342772"/>
          </a:xfrm>
          <a:prstGeom prst="rect">
            <a:avLst/>
          </a:prstGeom>
          <a:noFill/>
          <a:ln w="9525">
            <a:noFill/>
            <a:miter lim="800000"/>
            <a:headEnd/>
            <a:tailEnd/>
          </a:ln>
          <a:effectLst/>
        </p:spPr>
        <p:txBody>
          <a:bodyPr wrap="none" lIns="0" tIns="0" rIns="0" bIns="0">
            <a:spAutoFit/>
          </a:bodyPr>
          <a:lstStyle/>
          <a:p>
            <a:r>
              <a:rPr lang="en-US" sz="2800">
                <a:solidFill>
                  <a:srgbClr val="000000"/>
                </a:solidFill>
                <a:latin typeface="Times New Roman" pitchFamily="18" charset="0"/>
              </a:rPr>
              <a:t> </a:t>
            </a:r>
          </a:p>
        </p:txBody>
      </p:sp>
      <p:graphicFrame>
        <p:nvGraphicFramePr>
          <p:cNvPr id="20" name="Object 19"/>
          <p:cNvGraphicFramePr>
            <a:graphicFrameLocks noChangeAspect="1"/>
          </p:cNvGraphicFramePr>
          <p:nvPr>
            <p:extLst>
              <p:ext uri="{D42A27DB-BD31-4B8C-83A1-F6EECF244321}">
                <p14:modId xmlns="" xmlns:p14="http://schemas.microsoft.com/office/powerpoint/2010/main" val="2181911328"/>
              </p:ext>
            </p:extLst>
          </p:nvPr>
        </p:nvGraphicFramePr>
        <p:xfrm>
          <a:off x="4267200" y="3276600"/>
          <a:ext cx="990600" cy="481913"/>
        </p:xfrm>
        <a:graphic>
          <a:graphicData uri="http://schemas.openxmlformats.org/presentationml/2006/ole">
            <p:oleObj spid="_x0000_s891003" name="Equation" r:id="rId5" imgW="469900" imgH="228600" progId="Equation.3">
              <p:embed/>
            </p:oleObj>
          </a:graphicData>
        </a:graphic>
      </p:graphicFrame>
      <p:graphicFrame>
        <p:nvGraphicFramePr>
          <p:cNvPr id="890882" name="Object 2"/>
          <p:cNvGraphicFramePr>
            <a:graphicFrameLocks noChangeAspect="1"/>
          </p:cNvGraphicFramePr>
          <p:nvPr/>
        </p:nvGraphicFramePr>
        <p:xfrm>
          <a:off x="1371600" y="5334000"/>
          <a:ext cx="557212" cy="627379"/>
        </p:xfrm>
        <a:graphic>
          <a:graphicData uri="http://schemas.openxmlformats.org/presentationml/2006/ole">
            <p:oleObj spid="_x0000_s891004" name="Equation" r:id="rId6" imgW="203112" imgH="228501" progId="Equation.3">
              <p:embed/>
            </p:oleObj>
          </a:graphicData>
        </a:graphic>
      </p:graphicFrame>
      <p:sp>
        <p:nvSpPr>
          <p:cNvPr id="22" name="TextBox 21"/>
          <p:cNvSpPr txBox="1"/>
          <p:nvPr/>
        </p:nvSpPr>
        <p:spPr>
          <a:xfrm>
            <a:off x="1981200" y="5486400"/>
            <a:ext cx="6096000" cy="461665"/>
          </a:xfrm>
          <a:prstGeom prst="rect">
            <a:avLst/>
          </a:prstGeom>
          <a:noFill/>
        </p:spPr>
        <p:txBody>
          <a:bodyPr wrap="square" rtlCol="0">
            <a:spAutoFit/>
          </a:bodyPr>
          <a:lstStyle/>
          <a:p>
            <a:r>
              <a:rPr lang="en-IN" sz="2400" dirty="0" smtClean="0">
                <a:latin typeface="+mj-lt"/>
              </a:rPr>
              <a:t>is called the standard error of the mean </a:t>
            </a:r>
            <a:endParaRPr lang="en-IN" sz="2400" dirty="0">
              <a:latin typeface="+mj-lt"/>
            </a:endParaRPr>
          </a:p>
        </p:txBody>
      </p:sp>
      <p:graphicFrame>
        <p:nvGraphicFramePr>
          <p:cNvPr id="5" name="Object 4"/>
          <p:cNvGraphicFramePr>
            <a:graphicFrameLocks noChangeAspect="1"/>
          </p:cNvGraphicFramePr>
          <p:nvPr>
            <p:extLst>
              <p:ext uri="{D42A27DB-BD31-4B8C-83A1-F6EECF244321}">
                <p14:modId xmlns="" xmlns:p14="http://schemas.microsoft.com/office/powerpoint/2010/main" val="2952267488"/>
              </p:ext>
            </p:extLst>
          </p:nvPr>
        </p:nvGraphicFramePr>
        <p:xfrm>
          <a:off x="5257800" y="4558747"/>
          <a:ext cx="1371600" cy="1043609"/>
        </p:xfrm>
        <a:graphic>
          <a:graphicData uri="http://schemas.openxmlformats.org/presentationml/2006/ole">
            <p:oleObj spid="_x0000_s891005" name="Equation" r:id="rId7" imgW="583920" imgH="444240" progId="Equation.3">
              <p:embed/>
            </p:oleObj>
          </a:graphicData>
        </a:graphic>
      </p:graphicFrame>
    </p:spTree>
  </p:cSld>
  <p:clrMapOvr>
    <a:masterClrMapping/>
  </p:clrMapOvr>
  <p:transition spd="slow">
    <p:cut/>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7" name="Rectangle 6"/>
          <p:cNvSpPr/>
          <p:nvPr/>
        </p:nvSpPr>
        <p:spPr>
          <a:xfrm>
            <a:off x="304800" y="762000"/>
            <a:ext cx="8610600" cy="4154984"/>
          </a:xfrm>
          <a:prstGeom prst="rect">
            <a:avLst/>
          </a:prstGeom>
        </p:spPr>
        <p:txBody>
          <a:bodyPr wrap="square">
            <a:spAutoFit/>
          </a:bodyPr>
          <a:lstStyle/>
          <a:p>
            <a:r>
              <a:rPr lang="en-IN" sz="2400" dirty="0" smtClean="0">
                <a:latin typeface="+mj-lt"/>
              </a:rPr>
              <a:t>Remarks</a:t>
            </a:r>
          </a:p>
          <a:p>
            <a:r>
              <a:rPr lang="en-IN" sz="2400" dirty="0" smtClean="0">
                <a:latin typeface="+mj-lt"/>
              </a:rPr>
              <a:t>• The sample mean       varies from sample to sample and is a random variable.</a:t>
            </a:r>
          </a:p>
          <a:p>
            <a:r>
              <a:rPr lang="en-IN" sz="2400" dirty="0" smtClean="0">
                <a:latin typeface="+mj-lt"/>
              </a:rPr>
              <a:t>• As a random variable, it has a probability distribution, called the sampling distributions of the mean.</a:t>
            </a:r>
          </a:p>
          <a:p>
            <a:r>
              <a:rPr lang="en-IN" sz="2400" dirty="0" smtClean="0">
                <a:latin typeface="+mj-lt"/>
              </a:rPr>
              <a:t>• Some sample statistics, such as  mean, and proportion are good for estimating values of population parameters, </a:t>
            </a:r>
            <a:r>
              <a:rPr lang="en-IN" sz="2400" dirty="0" smtClean="0">
                <a:solidFill>
                  <a:srgbClr val="FF0000"/>
                </a:solidFill>
                <a:latin typeface="+mj-lt"/>
              </a:rPr>
              <a:t>whereas others such as the median do not.</a:t>
            </a:r>
          </a:p>
          <a:p>
            <a:r>
              <a:rPr lang="en-IN" sz="2400" dirty="0" smtClean="0">
                <a:latin typeface="+mj-lt"/>
              </a:rPr>
              <a:t>• Using sampling distributions one may use </a:t>
            </a:r>
            <a:r>
              <a:rPr lang="en-IN" sz="2400" b="1" dirty="0" smtClean="0">
                <a:latin typeface="+mj-lt"/>
              </a:rPr>
              <a:t>sample sizes which represent a tiny percentage of the actual population</a:t>
            </a:r>
            <a:r>
              <a:rPr lang="en-IN" sz="2400" dirty="0" smtClean="0">
                <a:latin typeface="+mj-lt"/>
              </a:rPr>
              <a:t>, and still estimate the population parameters with reasonable accuracy.</a:t>
            </a:r>
            <a:endParaRPr lang="en-IN" sz="2400" dirty="0">
              <a:latin typeface="+mj-lt"/>
            </a:endParaRPr>
          </a:p>
        </p:txBody>
      </p:sp>
      <p:graphicFrame>
        <p:nvGraphicFramePr>
          <p:cNvPr id="8" name="Object 7"/>
          <p:cNvGraphicFramePr>
            <a:graphicFrameLocks noChangeAspect="1"/>
          </p:cNvGraphicFramePr>
          <p:nvPr/>
        </p:nvGraphicFramePr>
        <p:xfrm>
          <a:off x="2819400" y="1143000"/>
          <a:ext cx="457200" cy="393700"/>
        </p:xfrm>
        <a:graphic>
          <a:graphicData uri="http://schemas.openxmlformats.org/presentationml/2006/ole">
            <p:oleObj spid="_x0000_s905311" name="Equation" r:id="rId3" imgW="139579" imgH="164957" progId="Equation.3">
              <p:embed/>
            </p:oleObj>
          </a:graphicData>
        </a:graphic>
      </p:graphicFrame>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90600" y="42863"/>
            <a:ext cx="7924800" cy="1404937"/>
          </a:xfrm>
          <a:noFill/>
          <a:ln/>
        </p:spPr>
        <p:txBody>
          <a:bodyPr/>
          <a:lstStyle/>
          <a:p>
            <a:r>
              <a:rPr lang="en-US" b="0" dirty="0"/>
              <a:t>Standardizing a Sample Mean</a:t>
            </a:r>
            <a:br>
              <a:rPr lang="en-US" b="0" dirty="0"/>
            </a:br>
            <a:r>
              <a:rPr lang="en-US" b="0" dirty="0"/>
              <a:t> on a Normal Curve</a:t>
            </a:r>
          </a:p>
        </p:txBody>
      </p:sp>
      <p:sp>
        <p:nvSpPr>
          <p:cNvPr id="12291" name="Rectangle 3"/>
          <p:cNvSpPr>
            <a:spLocks noGrp="1" noChangeArrowheads="1"/>
          </p:cNvSpPr>
          <p:nvPr>
            <p:ph type="body" idx="1"/>
          </p:nvPr>
        </p:nvSpPr>
        <p:spPr>
          <a:xfrm>
            <a:off x="228600" y="1143000"/>
            <a:ext cx="8686800" cy="4724400"/>
          </a:xfrm>
          <a:noFill/>
          <a:ln/>
        </p:spPr>
        <p:txBody>
          <a:bodyPr/>
          <a:lstStyle/>
          <a:p>
            <a:pPr>
              <a:buSzTx/>
              <a:buFontTx/>
              <a:buChar char="•"/>
            </a:pPr>
            <a:r>
              <a:rPr lang="en-US" dirty="0">
                <a:latin typeface="+mj-lt"/>
              </a:rPr>
              <a:t>The </a:t>
            </a:r>
            <a:r>
              <a:rPr lang="en-US" b="1" dirty="0">
                <a:solidFill>
                  <a:schemeClr val="accent2"/>
                </a:solidFill>
                <a:latin typeface="+mj-lt"/>
              </a:rPr>
              <a:t>standardized </a:t>
            </a:r>
            <a:r>
              <a:rPr lang="en-US" b="1" i="1" dirty="0">
                <a:solidFill>
                  <a:schemeClr val="accent2"/>
                </a:solidFill>
                <a:latin typeface="+mj-lt"/>
              </a:rPr>
              <a:t>z</a:t>
            </a:r>
            <a:r>
              <a:rPr lang="en-US" b="1" dirty="0">
                <a:solidFill>
                  <a:schemeClr val="accent2"/>
                </a:solidFill>
                <a:latin typeface="+mj-lt"/>
              </a:rPr>
              <a:t>-score </a:t>
            </a:r>
            <a:r>
              <a:rPr lang="en-US" dirty="0">
                <a:latin typeface="+mj-lt"/>
              </a:rPr>
              <a:t>is how far above or below the sample mean is compared to the population mean in units of standard error.</a:t>
            </a:r>
          </a:p>
          <a:p>
            <a:pPr lvl="1"/>
            <a:r>
              <a:rPr lang="en-US" sz="2400" dirty="0">
                <a:latin typeface="+mj-lt"/>
              </a:rPr>
              <a:t>“How far above or below” = sample mean minus </a:t>
            </a:r>
            <a:r>
              <a:rPr lang="en-US" sz="2400" dirty="0" smtClean="0">
                <a:latin typeface="+mj-lt"/>
              </a:rPr>
              <a:t>µ</a:t>
            </a:r>
          </a:p>
          <a:p>
            <a:pPr lvl="1"/>
            <a:endParaRPr lang="en-US" sz="2400" dirty="0">
              <a:latin typeface="+mj-lt"/>
            </a:endParaRPr>
          </a:p>
          <a:p>
            <a:pPr lvl="1"/>
            <a:r>
              <a:rPr lang="en-US" sz="2400" dirty="0">
                <a:latin typeface="+mj-lt"/>
              </a:rPr>
              <a:t>“In units of standard error” = divide </a:t>
            </a:r>
            <a:r>
              <a:rPr lang="en-US" sz="2400" dirty="0" smtClean="0">
                <a:latin typeface="+mj-lt"/>
              </a:rPr>
              <a:t>by</a:t>
            </a:r>
            <a:endParaRPr lang="en-US" dirty="0" smtClean="0">
              <a:latin typeface="+mj-lt"/>
            </a:endParaRPr>
          </a:p>
          <a:p>
            <a:pPr>
              <a:buSzTx/>
              <a:buFontTx/>
              <a:buChar char="•"/>
            </a:pPr>
            <a:r>
              <a:rPr lang="en-US" dirty="0" smtClean="0">
                <a:latin typeface="+mj-lt"/>
              </a:rPr>
              <a:t>Standardized sample mean</a:t>
            </a:r>
            <a:endParaRPr lang="en-US" dirty="0">
              <a:latin typeface="+mj-lt"/>
            </a:endParaRPr>
          </a:p>
        </p:txBody>
      </p:sp>
      <p:sp>
        <p:nvSpPr>
          <p:cNvPr id="12292" name="Line 4"/>
          <p:cNvSpPr>
            <a:spLocks noChangeShapeType="1"/>
          </p:cNvSpPr>
          <p:nvPr/>
        </p:nvSpPr>
        <p:spPr bwMode="auto">
          <a:xfrm>
            <a:off x="2012950" y="4968876"/>
            <a:ext cx="2697163" cy="1588"/>
          </a:xfrm>
          <a:prstGeom prst="line">
            <a:avLst/>
          </a:prstGeom>
          <a:noFill/>
          <a:ln w="12700">
            <a:solidFill>
              <a:srgbClr val="000000"/>
            </a:solidFill>
            <a:round/>
            <a:headEnd type="none" w="sm" len="sm"/>
            <a:tailEnd type="none" w="sm" len="sm"/>
          </a:ln>
          <a:effectLst/>
        </p:spPr>
        <p:txBody>
          <a:bodyPr/>
          <a:lstStyle/>
          <a:p>
            <a:endParaRPr lang="en-IN" sz="2400"/>
          </a:p>
        </p:txBody>
      </p:sp>
      <p:sp>
        <p:nvSpPr>
          <p:cNvPr id="12293" name="Line 5"/>
          <p:cNvSpPr>
            <a:spLocks noChangeShapeType="1"/>
          </p:cNvSpPr>
          <p:nvPr/>
        </p:nvSpPr>
        <p:spPr bwMode="auto">
          <a:xfrm>
            <a:off x="5156200" y="4621213"/>
            <a:ext cx="176213" cy="1588"/>
          </a:xfrm>
          <a:prstGeom prst="line">
            <a:avLst/>
          </a:prstGeom>
          <a:noFill/>
          <a:ln w="12700">
            <a:solidFill>
              <a:srgbClr val="000000"/>
            </a:solidFill>
            <a:round/>
            <a:headEnd type="none" w="sm" len="sm"/>
            <a:tailEnd type="none" w="sm" len="sm"/>
          </a:ln>
          <a:effectLst/>
        </p:spPr>
        <p:txBody>
          <a:bodyPr/>
          <a:lstStyle/>
          <a:p>
            <a:endParaRPr lang="en-IN" sz="2400"/>
          </a:p>
        </p:txBody>
      </p:sp>
      <p:sp>
        <p:nvSpPr>
          <p:cNvPr id="12294" name="Line 6"/>
          <p:cNvSpPr>
            <a:spLocks noChangeShapeType="1"/>
          </p:cNvSpPr>
          <p:nvPr/>
        </p:nvSpPr>
        <p:spPr bwMode="auto">
          <a:xfrm flipV="1">
            <a:off x="5310188" y="5656263"/>
            <a:ext cx="49213" cy="28575"/>
          </a:xfrm>
          <a:prstGeom prst="line">
            <a:avLst/>
          </a:prstGeom>
          <a:noFill/>
          <a:ln w="12700">
            <a:solidFill>
              <a:srgbClr val="000000"/>
            </a:solidFill>
            <a:round/>
            <a:headEnd type="none" w="sm" len="sm"/>
            <a:tailEnd type="none" w="sm" len="sm"/>
          </a:ln>
          <a:effectLst/>
        </p:spPr>
        <p:txBody>
          <a:bodyPr/>
          <a:lstStyle/>
          <a:p>
            <a:endParaRPr lang="en-IN" sz="2400"/>
          </a:p>
        </p:txBody>
      </p:sp>
      <p:sp>
        <p:nvSpPr>
          <p:cNvPr id="12299" name="Line 11"/>
          <p:cNvSpPr>
            <a:spLocks noChangeShapeType="1"/>
          </p:cNvSpPr>
          <p:nvPr/>
        </p:nvSpPr>
        <p:spPr bwMode="auto">
          <a:xfrm>
            <a:off x="5116513" y="4968876"/>
            <a:ext cx="842963" cy="1588"/>
          </a:xfrm>
          <a:prstGeom prst="line">
            <a:avLst/>
          </a:prstGeom>
          <a:noFill/>
          <a:ln w="12700">
            <a:solidFill>
              <a:srgbClr val="000000"/>
            </a:solidFill>
            <a:round/>
            <a:headEnd type="none" w="sm" len="sm"/>
            <a:tailEnd type="none" w="sm" len="sm"/>
          </a:ln>
          <a:effectLst/>
        </p:spPr>
        <p:txBody>
          <a:bodyPr/>
          <a:lstStyle/>
          <a:p>
            <a:endParaRPr lang="en-IN" sz="2400"/>
          </a:p>
        </p:txBody>
      </p:sp>
      <p:sp>
        <p:nvSpPr>
          <p:cNvPr id="12301" name="Rectangle 13"/>
          <p:cNvSpPr>
            <a:spLocks noChangeArrowheads="1"/>
          </p:cNvSpPr>
          <p:nvPr/>
        </p:nvSpPr>
        <p:spPr bwMode="auto">
          <a:xfrm>
            <a:off x="5140325" y="4505326"/>
            <a:ext cx="136525" cy="369888"/>
          </a:xfrm>
          <a:prstGeom prst="rect">
            <a:avLst/>
          </a:prstGeom>
          <a:noFill/>
          <a:ln w="9525">
            <a:noFill/>
            <a:miter lim="800000"/>
            <a:headEnd/>
            <a:tailEnd/>
          </a:ln>
          <a:effectLst/>
        </p:spPr>
        <p:txBody>
          <a:bodyPr wrap="none" lIns="0" tIns="0" rIns="0" bIns="0">
            <a:spAutoFit/>
          </a:bodyPr>
          <a:lstStyle/>
          <a:p>
            <a:r>
              <a:rPr lang="en-US" sz="2400" i="1">
                <a:solidFill>
                  <a:srgbClr val="000000"/>
                </a:solidFill>
                <a:latin typeface="Times New Roman" pitchFamily="18" charset="0"/>
              </a:rPr>
              <a:t>x</a:t>
            </a:r>
          </a:p>
        </p:txBody>
      </p:sp>
      <p:sp>
        <p:nvSpPr>
          <p:cNvPr id="12302" name="Rectangle 14"/>
          <p:cNvSpPr>
            <a:spLocks noChangeArrowheads="1"/>
          </p:cNvSpPr>
          <p:nvPr/>
        </p:nvSpPr>
        <p:spPr bwMode="auto">
          <a:xfrm>
            <a:off x="1447800" y="4648201"/>
            <a:ext cx="120650" cy="369888"/>
          </a:xfrm>
          <a:prstGeom prst="rect">
            <a:avLst/>
          </a:prstGeom>
          <a:noFill/>
          <a:ln w="9525">
            <a:noFill/>
            <a:miter lim="800000"/>
            <a:headEnd/>
            <a:tailEnd/>
          </a:ln>
          <a:effectLst/>
        </p:spPr>
        <p:txBody>
          <a:bodyPr wrap="none" lIns="0" tIns="0" rIns="0" bIns="0">
            <a:spAutoFit/>
          </a:bodyPr>
          <a:lstStyle/>
          <a:p>
            <a:r>
              <a:rPr lang="en-US" sz="2400" i="1">
                <a:solidFill>
                  <a:srgbClr val="000000"/>
                </a:solidFill>
                <a:latin typeface="Times New Roman" pitchFamily="18" charset="0"/>
              </a:rPr>
              <a:t>z</a:t>
            </a:r>
          </a:p>
        </p:txBody>
      </p:sp>
      <p:sp>
        <p:nvSpPr>
          <p:cNvPr id="12304" name="Rectangle 16"/>
          <p:cNvSpPr>
            <a:spLocks noChangeArrowheads="1"/>
          </p:cNvSpPr>
          <p:nvPr/>
        </p:nvSpPr>
        <p:spPr bwMode="auto">
          <a:xfrm>
            <a:off x="5724525" y="4459288"/>
            <a:ext cx="177800" cy="369888"/>
          </a:xfrm>
          <a:prstGeom prst="rect">
            <a:avLst/>
          </a:prstGeom>
          <a:noFill/>
          <a:ln w="9525">
            <a:noFill/>
            <a:miter lim="800000"/>
            <a:headEnd/>
            <a:tailEnd/>
          </a:ln>
          <a:effectLst/>
        </p:spPr>
        <p:txBody>
          <a:bodyPr wrap="none" lIns="0" tIns="0" rIns="0" bIns="0">
            <a:spAutoFit/>
          </a:bodyPr>
          <a:lstStyle/>
          <a:p>
            <a:r>
              <a:rPr lang="en-US" sz="2400">
                <a:solidFill>
                  <a:srgbClr val="000000"/>
                </a:solidFill>
                <a:latin typeface="Symbol" pitchFamily="18" charset="2"/>
              </a:rPr>
              <a:t>m</a:t>
            </a:r>
          </a:p>
        </p:txBody>
      </p:sp>
      <p:sp>
        <p:nvSpPr>
          <p:cNvPr id="12305" name="Rectangle 17"/>
          <p:cNvSpPr>
            <a:spLocks noChangeArrowheads="1"/>
          </p:cNvSpPr>
          <p:nvPr/>
        </p:nvSpPr>
        <p:spPr bwMode="auto">
          <a:xfrm>
            <a:off x="4805363" y="4800601"/>
            <a:ext cx="71438" cy="369888"/>
          </a:xfrm>
          <a:prstGeom prst="rect">
            <a:avLst/>
          </a:prstGeom>
          <a:noFill/>
          <a:ln w="9525">
            <a:noFill/>
            <a:miter lim="800000"/>
            <a:headEnd/>
            <a:tailEnd/>
          </a:ln>
          <a:effectLst/>
        </p:spPr>
        <p:txBody>
          <a:bodyPr wrap="square" lIns="0" tIns="0" rIns="0" bIns="0">
            <a:spAutoFit/>
          </a:bodyPr>
          <a:lstStyle/>
          <a:p>
            <a:r>
              <a:rPr lang="en-US" sz="2400" dirty="0">
                <a:solidFill>
                  <a:srgbClr val="000000"/>
                </a:solidFill>
                <a:latin typeface="Symbol" pitchFamily="18" charset="2"/>
              </a:rPr>
              <a:t>=</a:t>
            </a:r>
          </a:p>
        </p:txBody>
      </p:sp>
      <p:sp>
        <p:nvSpPr>
          <p:cNvPr id="12306" name="Rectangle 18"/>
          <p:cNvSpPr>
            <a:spLocks noChangeArrowheads="1"/>
          </p:cNvSpPr>
          <p:nvPr/>
        </p:nvSpPr>
        <p:spPr bwMode="auto">
          <a:xfrm>
            <a:off x="3990975" y="4465638"/>
            <a:ext cx="177800" cy="369888"/>
          </a:xfrm>
          <a:prstGeom prst="rect">
            <a:avLst/>
          </a:prstGeom>
          <a:noFill/>
          <a:ln w="9525">
            <a:noFill/>
            <a:miter lim="800000"/>
            <a:headEnd/>
            <a:tailEnd/>
          </a:ln>
          <a:effectLst/>
        </p:spPr>
        <p:txBody>
          <a:bodyPr wrap="none" lIns="0" tIns="0" rIns="0" bIns="0">
            <a:spAutoFit/>
          </a:bodyPr>
          <a:lstStyle/>
          <a:p>
            <a:r>
              <a:rPr lang="en-US" sz="2400" dirty="0">
                <a:solidFill>
                  <a:srgbClr val="000000"/>
                </a:solidFill>
                <a:latin typeface="Symbol" pitchFamily="18" charset="2"/>
              </a:rPr>
              <a:t>m</a:t>
            </a:r>
          </a:p>
        </p:txBody>
      </p:sp>
      <p:sp>
        <p:nvSpPr>
          <p:cNvPr id="12307" name="Rectangle 19"/>
          <p:cNvSpPr>
            <a:spLocks noChangeArrowheads="1"/>
          </p:cNvSpPr>
          <p:nvPr/>
        </p:nvSpPr>
        <p:spPr bwMode="auto">
          <a:xfrm>
            <a:off x="3771900" y="4465638"/>
            <a:ext cx="168275" cy="369888"/>
          </a:xfrm>
          <a:prstGeom prst="rect">
            <a:avLst/>
          </a:prstGeom>
          <a:noFill/>
          <a:ln w="9525">
            <a:noFill/>
            <a:miter lim="800000"/>
            <a:headEnd/>
            <a:tailEnd/>
          </a:ln>
          <a:effectLst/>
        </p:spPr>
        <p:txBody>
          <a:bodyPr wrap="none" lIns="0" tIns="0" rIns="0" bIns="0">
            <a:spAutoFit/>
          </a:bodyPr>
          <a:lstStyle/>
          <a:p>
            <a:r>
              <a:rPr lang="en-US" sz="2400" dirty="0">
                <a:solidFill>
                  <a:srgbClr val="000000"/>
                </a:solidFill>
                <a:latin typeface="Symbol" pitchFamily="18" charset="2"/>
              </a:rPr>
              <a:t>-</a:t>
            </a:r>
          </a:p>
        </p:txBody>
      </p:sp>
      <p:sp>
        <p:nvSpPr>
          <p:cNvPr id="12308" name="Rectangle 20"/>
          <p:cNvSpPr>
            <a:spLocks noChangeArrowheads="1"/>
          </p:cNvSpPr>
          <p:nvPr/>
        </p:nvSpPr>
        <p:spPr bwMode="auto">
          <a:xfrm>
            <a:off x="1701800" y="4602163"/>
            <a:ext cx="168275" cy="369888"/>
          </a:xfrm>
          <a:prstGeom prst="rect">
            <a:avLst/>
          </a:prstGeom>
          <a:noFill/>
          <a:ln w="9525">
            <a:noFill/>
            <a:miter lim="800000"/>
            <a:headEnd/>
            <a:tailEnd/>
          </a:ln>
          <a:effectLst/>
        </p:spPr>
        <p:txBody>
          <a:bodyPr wrap="none" lIns="0" tIns="0" rIns="0" bIns="0">
            <a:spAutoFit/>
          </a:bodyPr>
          <a:lstStyle/>
          <a:p>
            <a:r>
              <a:rPr lang="en-US" sz="2400">
                <a:solidFill>
                  <a:srgbClr val="000000"/>
                </a:solidFill>
                <a:latin typeface="Symbol" pitchFamily="18" charset="2"/>
              </a:rPr>
              <a:t>=</a:t>
            </a:r>
          </a:p>
        </p:txBody>
      </p:sp>
      <p:sp>
        <p:nvSpPr>
          <p:cNvPr id="12309" name="Rectangle 21"/>
          <p:cNvSpPr>
            <a:spLocks noChangeArrowheads="1"/>
          </p:cNvSpPr>
          <p:nvPr/>
        </p:nvSpPr>
        <p:spPr bwMode="auto">
          <a:xfrm>
            <a:off x="5440363" y="4505326"/>
            <a:ext cx="230188" cy="369888"/>
          </a:xfrm>
          <a:prstGeom prst="rect">
            <a:avLst/>
          </a:prstGeom>
          <a:noFill/>
          <a:ln w="9525">
            <a:noFill/>
            <a:miter lim="800000"/>
            <a:headEnd/>
            <a:tailEnd/>
          </a:ln>
          <a:effectLst/>
        </p:spPr>
        <p:txBody>
          <a:bodyPr wrap="none" lIns="0" tIns="0" rIns="0" bIns="0">
            <a:spAutoFit/>
          </a:bodyPr>
          <a:lstStyle/>
          <a:p>
            <a:r>
              <a:rPr lang="en-US" sz="2400" dirty="0">
                <a:solidFill>
                  <a:srgbClr val="000000"/>
                </a:solidFill>
                <a:latin typeface="Times New Roman" pitchFamily="18" charset="0"/>
              </a:rPr>
              <a:t>– </a:t>
            </a:r>
          </a:p>
        </p:txBody>
      </p:sp>
      <p:sp>
        <p:nvSpPr>
          <p:cNvPr id="12310" name="Rectangle 22"/>
          <p:cNvSpPr>
            <a:spLocks noChangeArrowheads="1"/>
          </p:cNvSpPr>
          <p:nvPr/>
        </p:nvSpPr>
        <p:spPr bwMode="auto">
          <a:xfrm>
            <a:off x="5332413" y="4505326"/>
            <a:ext cx="76200" cy="369888"/>
          </a:xfrm>
          <a:prstGeom prst="rect">
            <a:avLst/>
          </a:prstGeom>
          <a:noFill/>
          <a:ln w="9525">
            <a:noFill/>
            <a:miter lim="800000"/>
            <a:headEnd/>
            <a:tailEnd/>
          </a:ln>
          <a:effectLst/>
        </p:spPr>
        <p:txBody>
          <a:bodyPr wrap="none" lIns="0" tIns="0" rIns="0" bIns="0">
            <a:spAutoFit/>
          </a:bodyPr>
          <a:lstStyle/>
          <a:p>
            <a:r>
              <a:rPr lang="en-US" sz="2400">
                <a:solidFill>
                  <a:srgbClr val="000000"/>
                </a:solidFill>
                <a:latin typeface="Times New Roman" pitchFamily="18" charset="0"/>
              </a:rPr>
              <a:t> </a:t>
            </a:r>
          </a:p>
        </p:txBody>
      </p:sp>
      <p:sp>
        <p:nvSpPr>
          <p:cNvPr id="12311" name="Rectangle 23"/>
          <p:cNvSpPr>
            <a:spLocks noChangeArrowheads="1"/>
          </p:cNvSpPr>
          <p:nvPr/>
        </p:nvSpPr>
        <p:spPr bwMode="auto">
          <a:xfrm>
            <a:off x="5013325" y="4648201"/>
            <a:ext cx="76200" cy="369888"/>
          </a:xfrm>
          <a:prstGeom prst="rect">
            <a:avLst/>
          </a:prstGeom>
          <a:noFill/>
          <a:ln w="9525">
            <a:noFill/>
            <a:miter lim="800000"/>
            <a:headEnd/>
            <a:tailEnd/>
          </a:ln>
          <a:effectLst/>
        </p:spPr>
        <p:txBody>
          <a:bodyPr wrap="none" lIns="0" tIns="0" rIns="0" bIns="0">
            <a:spAutoFit/>
          </a:bodyPr>
          <a:lstStyle/>
          <a:p>
            <a:r>
              <a:rPr lang="en-US" sz="2400">
                <a:solidFill>
                  <a:srgbClr val="000000"/>
                </a:solidFill>
                <a:latin typeface="Times New Roman" pitchFamily="18" charset="0"/>
              </a:rPr>
              <a:t> </a:t>
            </a:r>
          </a:p>
        </p:txBody>
      </p:sp>
      <p:sp>
        <p:nvSpPr>
          <p:cNvPr id="12312" name="Rectangle 24"/>
          <p:cNvSpPr>
            <a:spLocks noChangeArrowheads="1"/>
          </p:cNvSpPr>
          <p:nvPr/>
        </p:nvSpPr>
        <p:spPr bwMode="auto">
          <a:xfrm>
            <a:off x="4710113" y="4648201"/>
            <a:ext cx="76200" cy="369888"/>
          </a:xfrm>
          <a:prstGeom prst="rect">
            <a:avLst/>
          </a:prstGeom>
          <a:noFill/>
          <a:ln w="9525">
            <a:noFill/>
            <a:miter lim="800000"/>
            <a:headEnd/>
            <a:tailEnd/>
          </a:ln>
          <a:effectLst/>
        </p:spPr>
        <p:txBody>
          <a:bodyPr wrap="none" lIns="0" tIns="0" rIns="0" bIns="0">
            <a:spAutoFit/>
          </a:bodyPr>
          <a:lstStyle/>
          <a:p>
            <a:r>
              <a:rPr lang="en-US" sz="2400">
                <a:solidFill>
                  <a:srgbClr val="000000"/>
                </a:solidFill>
                <a:latin typeface="Times New Roman" pitchFamily="18" charset="0"/>
              </a:rPr>
              <a:t> </a:t>
            </a:r>
          </a:p>
        </p:txBody>
      </p:sp>
      <p:sp>
        <p:nvSpPr>
          <p:cNvPr id="12313" name="Rectangle 25"/>
          <p:cNvSpPr>
            <a:spLocks noChangeArrowheads="1"/>
          </p:cNvSpPr>
          <p:nvPr/>
        </p:nvSpPr>
        <p:spPr bwMode="auto">
          <a:xfrm>
            <a:off x="3360738" y="5018088"/>
            <a:ext cx="598488" cy="369888"/>
          </a:xfrm>
          <a:prstGeom prst="rect">
            <a:avLst/>
          </a:prstGeom>
          <a:noFill/>
          <a:ln w="9525">
            <a:noFill/>
            <a:miter lim="800000"/>
            <a:headEnd/>
            <a:tailEnd/>
          </a:ln>
          <a:effectLst/>
        </p:spPr>
        <p:txBody>
          <a:bodyPr wrap="none" lIns="0" tIns="0" rIns="0" bIns="0">
            <a:spAutoFit/>
          </a:bodyPr>
          <a:lstStyle/>
          <a:p>
            <a:r>
              <a:rPr lang="en-US" sz="2400" dirty="0">
                <a:solidFill>
                  <a:srgbClr val="000000"/>
                </a:solidFill>
                <a:latin typeface="Times New Roman" pitchFamily="18" charset="0"/>
              </a:rPr>
              <a:t>error</a:t>
            </a:r>
          </a:p>
        </p:txBody>
      </p:sp>
      <p:sp>
        <p:nvSpPr>
          <p:cNvPr id="12314" name="Rectangle 26"/>
          <p:cNvSpPr>
            <a:spLocks noChangeArrowheads="1"/>
          </p:cNvSpPr>
          <p:nvPr/>
        </p:nvSpPr>
        <p:spPr bwMode="auto">
          <a:xfrm>
            <a:off x="3598863" y="5018088"/>
            <a:ext cx="76200" cy="369888"/>
          </a:xfrm>
          <a:prstGeom prst="rect">
            <a:avLst/>
          </a:prstGeom>
          <a:noFill/>
          <a:ln w="9525">
            <a:noFill/>
            <a:miter lim="800000"/>
            <a:headEnd/>
            <a:tailEnd/>
          </a:ln>
          <a:effectLst/>
        </p:spPr>
        <p:txBody>
          <a:bodyPr wrap="none" lIns="0" tIns="0" rIns="0" bIns="0">
            <a:spAutoFit/>
          </a:bodyPr>
          <a:lstStyle/>
          <a:p>
            <a:r>
              <a:rPr lang="en-US" sz="2400" dirty="0">
                <a:solidFill>
                  <a:srgbClr val="000000"/>
                </a:solidFill>
                <a:latin typeface="Times New Roman" pitchFamily="18" charset="0"/>
              </a:rPr>
              <a:t> </a:t>
            </a:r>
          </a:p>
        </p:txBody>
      </p:sp>
      <p:sp>
        <p:nvSpPr>
          <p:cNvPr id="12315" name="Rectangle 27"/>
          <p:cNvSpPr>
            <a:spLocks noChangeArrowheads="1"/>
          </p:cNvSpPr>
          <p:nvPr/>
        </p:nvSpPr>
        <p:spPr bwMode="auto">
          <a:xfrm>
            <a:off x="2236788" y="5018088"/>
            <a:ext cx="1041400" cy="369888"/>
          </a:xfrm>
          <a:prstGeom prst="rect">
            <a:avLst/>
          </a:prstGeom>
          <a:noFill/>
          <a:ln w="9525">
            <a:noFill/>
            <a:miter lim="800000"/>
            <a:headEnd/>
            <a:tailEnd/>
          </a:ln>
          <a:effectLst/>
        </p:spPr>
        <p:txBody>
          <a:bodyPr wrap="none" lIns="0" tIns="0" rIns="0" bIns="0">
            <a:spAutoFit/>
          </a:bodyPr>
          <a:lstStyle/>
          <a:p>
            <a:r>
              <a:rPr lang="en-US" sz="2400" dirty="0">
                <a:solidFill>
                  <a:srgbClr val="000000"/>
                </a:solidFill>
                <a:latin typeface="Times New Roman" pitchFamily="18" charset="0"/>
              </a:rPr>
              <a:t>standard</a:t>
            </a:r>
          </a:p>
        </p:txBody>
      </p:sp>
      <p:sp>
        <p:nvSpPr>
          <p:cNvPr id="12316" name="Rectangle 28"/>
          <p:cNvSpPr>
            <a:spLocks noChangeArrowheads="1"/>
          </p:cNvSpPr>
          <p:nvPr/>
        </p:nvSpPr>
        <p:spPr bwMode="auto">
          <a:xfrm>
            <a:off x="4392613" y="4465638"/>
            <a:ext cx="76200" cy="369888"/>
          </a:xfrm>
          <a:prstGeom prst="rect">
            <a:avLst/>
          </a:prstGeom>
          <a:noFill/>
          <a:ln w="9525">
            <a:noFill/>
            <a:miter lim="800000"/>
            <a:headEnd/>
            <a:tailEnd/>
          </a:ln>
          <a:effectLst/>
        </p:spPr>
        <p:txBody>
          <a:bodyPr wrap="none" lIns="0" tIns="0" rIns="0" bIns="0">
            <a:spAutoFit/>
          </a:bodyPr>
          <a:lstStyle/>
          <a:p>
            <a:r>
              <a:rPr lang="en-US" sz="2400">
                <a:solidFill>
                  <a:srgbClr val="000000"/>
                </a:solidFill>
                <a:latin typeface="Times New Roman" pitchFamily="18" charset="0"/>
              </a:rPr>
              <a:t> </a:t>
            </a:r>
          </a:p>
        </p:txBody>
      </p:sp>
      <p:sp>
        <p:nvSpPr>
          <p:cNvPr id="12317" name="Rectangle 29"/>
          <p:cNvSpPr>
            <a:spLocks noChangeArrowheads="1"/>
          </p:cNvSpPr>
          <p:nvPr/>
        </p:nvSpPr>
        <p:spPr bwMode="auto">
          <a:xfrm>
            <a:off x="2960688" y="4465638"/>
            <a:ext cx="895350" cy="369888"/>
          </a:xfrm>
          <a:prstGeom prst="rect">
            <a:avLst/>
          </a:prstGeom>
          <a:noFill/>
          <a:ln w="9525">
            <a:noFill/>
            <a:miter lim="800000"/>
            <a:headEnd/>
            <a:tailEnd/>
          </a:ln>
          <a:effectLst/>
        </p:spPr>
        <p:txBody>
          <a:bodyPr wrap="none" lIns="0" tIns="0" rIns="0" bIns="0">
            <a:spAutoFit/>
          </a:bodyPr>
          <a:lstStyle/>
          <a:p>
            <a:r>
              <a:rPr lang="en-US" sz="2400" dirty="0">
                <a:solidFill>
                  <a:srgbClr val="000000"/>
                </a:solidFill>
                <a:latin typeface="Times New Roman" pitchFamily="18" charset="0"/>
              </a:rPr>
              <a:t>mean </a:t>
            </a:r>
            <a:r>
              <a:rPr lang="en-US" sz="2400" dirty="0" smtClean="0">
                <a:solidFill>
                  <a:srgbClr val="000000"/>
                </a:solidFill>
                <a:latin typeface="Times New Roman" pitchFamily="18" charset="0"/>
              </a:rPr>
              <a:t>  </a:t>
            </a:r>
            <a:endParaRPr lang="en-US" sz="2400" dirty="0">
              <a:solidFill>
                <a:srgbClr val="000000"/>
              </a:solidFill>
              <a:latin typeface="Times New Roman" pitchFamily="18" charset="0"/>
            </a:endParaRPr>
          </a:p>
        </p:txBody>
      </p:sp>
      <p:sp>
        <p:nvSpPr>
          <p:cNvPr id="12319" name="Rectangle 31"/>
          <p:cNvSpPr>
            <a:spLocks noChangeArrowheads="1"/>
          </p:cNvSpPr>
          <p:nvPr/>
        </p:nvSpPr>
        <p:spPr bwMode="auto">
          <a:xfrm>
            <a:off x="2005013" y="4465638"/>
            <a:ext cx="869950" cy="369888"/>
          </a:xfrm>
          <a:prstGeom prst="rect">
            <a:avLst/>
          </a:prstGeom>
          <a:noFill/>
          <a:ln w="9525">
            <a:noFill/>
            <a:miter lim="800000"/>
            <a:headEnd/>
            <a:tailEnd/>
          </a:ln>
          <a:effectLst/>
        </p:spPr>
        <p:txBody>
          <a:bodyPr wrap="none" lIns="0" tIns="0" rIns="0" bIns="0">
            <a:spAutoFit/>
          </a:bodyPr>
          <a:lstStyle/>
          <a:p>
            <a:r>
              <a:rPr lang="en-US" sz="2400" dirty="0">
                <a:solidFill>
                  <a:srgbClr val="000000"/>
                </a:solidFill>
                <a:latin typeface="Times New Roman" pitchFamily="18" charset="0"/>
              </a:rPr>
              <a:t>sample</a:t>
            </a:r>
          </a:p>
        </p:txBody>
      </p:sp>
      <p:sp>
        <p:nvSpPr>
          <p:cNvPr id="12320" name="Rectangle 32"/>
          <p:cNvSpPr>
            <a:spLocks noChangeArrowheads="1"/>
          </p:cNvSpPr>
          <p:nvPr/>
        </p:nvSpPr>
        <p:spPr bwMode="auto">
          <a:xfrm>
            <a:off x="1909763" y="4648201"/>
            <a:ext cx="76200" cy="369888"/>
          </a:xfrm>
          <a:prstGeom prst="rect">
            <a:avLst/>
          </a:prstGeom>
          <a:noFill/>
          <a:ln w="9525">
            <a:noFill/>
            <a:miter lim="800000"/>
            <a:headEnd/>
            <a:tailEnd/>
          </a:ln>
          <a:effectLst/>
        </p:spPr>
        <p:txBody>
          <a:bodyPr wrap="none" lIns="0" tIns="0" rIns="0" bIns="0">
            <a:spAutoFit/>
          </a:bodyPr>
          <a:lstStyle/>
          <a:p>
            <a:r>
              <a:rPr lang="en-US" sz="2400">
                <a:solidFill>
                  <a:srgbClr val="000000"/>
                </a:solidFill>
                <a:latin typeface="Times New Roman" pitchFamily="18" charset="0"/>
              </a:rPr>
              <a:t> </a:t>
            </a:r>
          </a:p>
        </p:txBody>
      </p:sp>
      <p:sp>
        <p:nvSpPr>
          <p:cNvPr id="12321" name="Rectangle 33"/>
          <p:cNvSpPr>
            <a:spLocks noChangeArrowheads="1"/>
          </p:cNvSpPr>
          <p:nvPr/>
        </p:nvSpPr>
        <p:spPr bwMode="auto">
          <a:xfrm>
            <a:off x="1606550" y="4648201"/>
            <a:ext cx="76200" cy="369888"/>
          </a:xfrm>
          <a:prstGeom prst="rect">
            <a:avLst/>
          </a:prstGeom>
          <a:noFill/>
          <a:ln w="9525">
            <a:noFill/>
            <a:miter lim="800000"/>
            <a:headEnd/>
            <a:tailEnd/>
          </a:ln>
          <a:effectLst/>
        </p:spPr>
        <p:txBody>
          <a:bodyPr wrap="none" lIns="0" tIns="0" rIns="0" bIns="0">
            <a:spAutoFit/>
          </a:bodyPr>
          <a:lstStyle/>
          <a:p>
            <a:r>
              <a:rPr lang="en-US" sz="2400">
                <a:solidFill>
                  <a:srgbClr val="000000"/>
                </a:solidFill>
                <a:latin typeface="Times New Roman" pitchFamily="18" charset="0"/>
              </a:rPr>
              <a:t> </a:t>
            </a:r>
          </a:p>
        </p:txBody>
      </p:sp>
      <p:sp>
        <p:nvSpPr>
          <p:cNvPr id="12323" name="Line 35"/>
          <p:cNvSpPr>
            <a:spLocks noChangeShapeType="1"/>
          </p:cNvSpPr>
          <p:nvPr/>
        </p:nvSpPr>
        <p:spPr bwMode="auto">
          <a:xfrm flipV="1">
            <a:off x="6114490" y="3633553"/>
            <a:ext cx="47065" cy="23422"/>
          </a:xfrm>
          <a:prstGeom prst="line">
            <a:avLst/>
          </a:prstGeom>
          <a:noFill/>
          <a:ln w="12700">
            <a:solidFill>
              <a:srgbClr val="000000"/>
            </a:solidFill>
            <a:round/>
            <a:headEnd type="none" w="sm" len="sm"/>
            <a:tailEnd type="none" w="sm" len="sm"/>
          </a:ln>
          <a:effectLst/>
        </p:spPr>
        <p:txBody>
          <a:bodyPr/>
          <a:lstStyle/>
          <a:p>
            <a:endParaRPr lang="en-IN"/>
          </a:p>
        </p:txBody>
      </p:sp>
      <p:graphicFrame>
        <p:nvGraphicFramePr>
          <p:cNvPr id="4" name="Object 3"/>
          <p:cNvGraphicFramePr>
            <a:graphicFrameLocks noChangeAspect="1"/>
          </p:cNvGraphicFramePr>
          <p:nvPr>
            <p:extLst>
              <p:ext uri="{D42A27DB-BD31-4B8C-83A1-F6EECF244321}">
                <p14:modId xmlns="" xmlns:p14="http://schemas.microsoft.com/office/powerpoint/2010/main" val="1505866073"/>
              </p:ext>
            </p:extLst>
          </p:nvPr>
        </p:nvGraphicFramePr>
        <p:xfrm>
          <a:off x="5860957" y="2971800"/>
          <a:ext cx="601195" cy="919428"/>
        </p:xfrm>
        <a:graphic>
          <a:graphicData uri="http://schemas.openxmlformats.org/presentationml/2006/ole">
            <p:oleObj spid="_x0000_s930862" name="Equation" r:id="rId4" imgW="266400" imgH="444240" progId="Equation.3">
              <p:embed/>
            </p:oleObj>
          </a:graphicData>
        </a:graphic>
      </p:graphicFrame>
      <p:graphicFrame>
        <p:nvGraphicFramePr>
          <p:cNvPr id="5" name="Object 4"/>
          <p:cNvGraphicFramePr>
            <a:graphicFrameLocks noChangeAspect="1"/>
          </p:cNvGraphicFramePr>
          <p:nvPr>
            <p:extLst>
              <p:ext uri="{D42A27DB-BD31-4B8C-83A1-F6EECF244321}">
                <p14:modId xmlns="" xmlns:p14="http://schemas.microsoft.com/office/powerpoint/2010/main" val="2588597077"/>
              </p:ext>
            </p:extLst>
          </p:nvPr>
        </p:nvGraphicFramePr>
        <p:xfrm>
          <a:off x="5316713" y="5018089"/>
          <a:ext cx="601663" cy="919163"/>
        </p:xfrm>
        <a:graphic>
          <a:graphicData uri="http://schemas.openxmlformats.org/presentationml/2006/ole">
            <p:oleObj spid="_x0000_s930863" name="Equation" r:id="rId5" imgW="266469" imgH="444114" progId="Equation.3">
              <p:embed/>
            </p:oleObj>
          </a:graphicData>
        </a:graphic>
      </p:graphicFrame>
    </p:spTree>
  </p:cSld>
  <p:clrMapOvr>
    <a:masterClrMapping/>
  </p:clrMapOvr>
  <p:transition spd="slow">
    <p:cut/>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pic>
        <p:nvPicPr>
          <p:cNvPr id="906250" name="Picture 10"/>
          <p:cNvPicPr>
            <a:picLocks noGrp="1" noChangeAspect="1" noChangeArrowheads="1"/>
          </p:cNvPicPr>
          <p:nvPr>
            <p:ph idx="1"/>
          </p:nvPr>
        </p:nvPicPr>
        <p:blipFill>
          <a:blip r:embed="rId2"/>
          <a:srcRect/>
          <a:stretch>
            <a:fillRect/>
          </a:stretch>
        </p:blipFill>
        <p:spPr bwMode="auto">
          <a:xfrm>
            <a:off x="457200" y="762000"/>
            <a:ext cx="8475406" cy="54351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90600" y="0"/>
            <a:ext cx="8153400" cy="838200"/>
          </a:xfrm>
          <a:noFill/>
          <a:ln/>
        </p:spPr>
        <p:txBody>
          <a:bodyPr/>
          <a:lstStyle/>
          <a:p>
            <a:r>
              <a:rPr lang="en-US" sz="3200" b="0" dirty="0"/>
              <a:t>Central Limit </a:t>
            </a:r>
            <a:r>
              <a:rPr lang="en-US" sz="3200" b="0" dirty="0" smtClean="0"/>
              <a:t>Theorem </a:t>
            </a:r>
            <a:r>
              <a:rPr lang="en-US" sz="2400" b="0" dirty="0" smtClean="0"/>
              <a:t>(when distribution is </a:t>
            </a:r>
            <a:r>
              <a:rPr lang="en-US" sz="2400" dirty="0" smtClean="0">
                <a:solidFill>
                  <a:srgbClr val="0000CC"/>
                </a:solidFill>
              </a:rPr>
              <a:t>not</a:t>
            </a:r>
            <a:r>
              <a:rPr lang="en-US" sz="2400" b="0" dirty="0" smtClean="0"/>
              <a:t> normal)</a:t>
            </a:r>
            <a:endParaRPr lang="en-US" sz="2400" b="0" dirty="0"/>
          </a:p>
        </p:txBody>
      </p:sp>
      <p:sp>
        <p:nvSpPr>
          <p:cNvPr id="6" name="Rectangle 5"/>
          <p:cNvSpPr/>
          <p:nvPr/>
        </p:nvSpPr>
        <p:spPr>
          <a:xfrm>
            <a:off x="228600" y="609600"/>
            <a:ext cx="8382000" cy="2308324"/>
          </a:xfrm>
          <a:prstGeom prst="rect">
            <a:avLst/>
          </a:prstGeom>
        </p:spPr>
        <p:txBody>
          <a:bodyPr wrap="square">
            <a:spAutoFit/>
          </a:bodyPr>
          <a:lstStyle/>
          <a:p>
            <a:r>
              <a:rPr lang="en-IN" sz="2400" dirty="0" smtClean="0">
                <a:latin typeface="+mj-lt"/>
              </a:rPr>
              <a:t>Given:</a:t>
            </a:r>
          </a:p>
          <a:p>
            <a:r>
              <a:rPr lang="en-IN" sz="2400" dirty="0" smtClean="0">
                <a:latin typeface="+mj-lt"/>
              </a:rPr>
              <a:t>1. The random variable </a:t>
            </a:r>
            <a:r>
              <a:rPr lang="en-IN" sz="2400" i="1" dirty="0" smtClean="0">
                <a:latin typeface="+mj-lt"/>
              </a:rPr>
              <a:t>x</a:t>
            </a:r>
            <a:r>
              <a:rPr lang="en-IN" sz="2400" dirty="0" smtClean="0">
                <a:latin typeface="+mj-lt"/>
              </a:rPr>
              <a:t> has a distribution (which may or may not be normal) with mean </a:t>
            </a:r>
            <a:r>
              <a:rPr lang="en-IN" sz="2400" i="1" dirty="0" smtClean="0">
                <a:latin typeface="+mj-lt"/>
              </a:rPr>
              <a:t>μ</a:t>
            </a:r>
            <a:r>
              <a:rPr lang="en-IN" sz="2400" dirty="0" smtClean="0">
                <a:latin typeface="+mj-lt"/>
              </a:rPr>
              <a:t> and standard deviation  </a:t>
            </a:r>
            <a:r>
              <a:rPr lang="el-GR" sz="2400" i="1" dirty="0" smtClean="0">
                <a:latin typeface="+mj-lt"/>
              </a:rPr>
              <a:t>σ</a:t>
            </a:r>
            <a:r>
              <a:rPr lang="en-IN" sz="2400" dirty="0" smtClean="0">
                <a:latin typeface="+mj-lt"/>
              </a:rPr>
              <a:t>.</a:t>
            </a:r>
          </a:p>
          <a:p>
            <a:r>
              <a:rPr lang="en-IN" sz="2400" dirty="0" smtClean="0">
                <a:latin typeface="+mj-lt"/>
              </a:rPr>
              <a:t>2. Simple random samples all of the same size </a:t>
            </a:r>
            <a:r>
              <a:rPr lang="en-IN" sz="2400" i="1" dirty="0" smtClean="0">
                <a:latin typeface="+mj-lt"/>
              </a:rPr>
              <a:t>n</a:t>
            </a:r>
            <a:r>
              <a:rPr lang="en-IN" sz="2400" dirty="0" smtClean="0">
                <a:latin typeface="+mj-lt"/>
              </a:rPr>
              <a:t> are selected from the population. (The samples are selected so that all possible samples of size </a:t>
            </a:r>
            <a:r>
              <a:rPr lang="en-IN" sz="2400" i="1" dirty="0" smtClean="0">
                <a:latin typeface="+mj-lt"/>
              </a:rPr>
              <a:t>n</a:t>
            </a:r>
            <a:r>
              <a:rPr lang="en-IN" sz="2400" dirty="0" smtClean="0">
                <a:latin typeface="+mj-lt"/>
              </a:rPr>
              <a:t> have the same chance of being selected.)</a:t>
            </a:r>
            <a:endParaRPr lang="en-IN" sz="2400" dirty="0">
              <a:latin typeface="+mj-lt"/>
            </a:endParaRPr>
          </a:p>
        </p:txBody>
      </p:sp>
      <p:sp>
        <p:nvSpPr>
          <p:cNvPr id="7" name="Rectangle 6"/>
          <p:cNvSpPr/>
          <p:nvPr/>
        </p:nvSpPr>
        <p:spPr>
          <a:xfrm>
            <a:off x="304800" y="2795349"/>
            <a:ext cx="8229600" cy="3693319"/>
          </a:xfrm>
          <a:prstGeom prst="rect">
            <a:avLst/>
          </a:prstGeom>
        </p:spPr>
        <p:txBody>
          <a:bodyPr wrap="square">
            <a:spAutoFit/>
          </a:bodyPr>
          <a:lstStyle/>
          <a:p>
            <a:r>
              <a:rPr lang="en-IN" sz="2400" b="1" dirty="0" smtClean="0">
                <a:latin typeface="+mj-lt"/>
              </a:rPr>
              <a:t>Conclusions:</a:t>
            </a:r>
          </a:p>
          <a:p>
            <a:r>
              <a:rPr lang="en-IN" sz="2400" dirty="0" smtClean="0">
                <a:latin typeface="+mj-lt"/>
              </a:rPr>
              <a:t>1. The distribution of sample means       will,  </a:t>
            </a:r>
            <a:r>
              <a:rPr lang="en-IN" sz="2400" dirty="0" smtClean="0">
                <a:solidFill>
                  <a:srgbClr val="FF0000"/>
                </a:solidFill>
                <a:latin typeface="+mj-lt"/>
              </a:rPr>
              <a:t>as the sample size increases</a:t>
            </a:r>
            <a:r>
              <a:rPr lang="en-IN" sz="2400" dirty="0" smtClean="0">
                <a:latin typeface="+mj-lt"/>
              </a:rPr>
              <a:t>, approach a normal distribution.</a:t>
            </a:r>
          </a:p>
          <a:p>
            <a:r>
              <a:rPr lang="en-IN" sz="2400" dirty="0" smtClean="0">
                <a:latin typeface="+mj-lt"/>
              </a:rPr>
              <a:t>2. The mean of all sample means is the population mean </a:t>
            </a:r>
            <a:r>
              <a:rPr lang="en-IN" sz="2400" i="1" dirty="0" smtClean="0">
                <a:latin typeface="+mj-lt"/>
              </a:rPr>
              <a:t>μ,</a:t>
            </a:r>
            <a:r>
              <a:rPr lang="en-IN" sz="2400" dirty="0" smtClean="0">
                <a:latin typeface="+mj-lt"/>
              </a:rPr>
              <a:t> that is</a:t>
            </a:r>
          </a:p>
          <a:p>
            <a:r>
              <a:rPr lang="en-IN" sz="2400" dirty="0" smtClean="0">
                <a:latin typeface="+mj-lt"/>
              </a:rPr>
              <a:t> </a:t>
            </a:r>
          </a:p>
          <a:p>
            <a:r>
              <a:rPr lang="en-IN" sz="2400" dirty="0" smtClean="0">
                <a:latin typeface="+mj-lt"/>
              </a:rPr>
              <a:t>        </a:t>
            </a:r>
          </a:p>
          <a:p>
            <a:r>
              <a:rPr lang="en-IN" sz="2400" dirty="0" smtClean="0">
                <a:latin typeface="+mj-lt"/>
              </a:rPr>
              <a:t>3. The standard deviation of all sample means is </a:t>
            </a:r>
          </a:p>
          <a:p>
            <a:endParaRPr lang="en-IN" dirty="0" smtClean="0"/>
          </a:p>
          <a:p>
            <a:r>
              <a:rPr lang="en-IN" sz="2400" dirty="0" smtClean="0">
                <a:latin typeface="+mj-lt"/>
              </a:rPr>
              <a:t>The </a:t>
            </a:r>
            <a:r>
              <a:rPr lang="en-IN" sz="2400" dirty="0" smtClean="0">
                <a:solidFill>
                  <a:srgbClr val="FF0000"/>
                </a:solidFill>
                <a:latin typeface="+mj-lt"/>
              </a:rPr>
              <a:t>standard deviation </a:t>
            </a:r>
            <a:r>
              <a:rPr lang="en-IN" sz="2400" dirty="0" smtClean="0">
                <a:latin typeface="+mj-lt"/>
              </a:rPr>
              <a:t>of the </a:t>
            </a:r>
            <a:r>
              <a:rPr lang="en-IN" sz="2400" dirty="0" smtClean="0">
                <a:solidFill>
                  <a:srgbClr val="FF0000"/>
                </a:solidFill>
                <a:latin typeface="+mj-lt"/>
              </a:rPr>
              <a:t>sampling distribution </a:t>
            </a:r>
            <a:r>
              <a:rPr lang="en-IN" sz="2400" dirty="0" smtClean="0">
                <a:latin typeface="+mj-lt"/>
              </a:rPr>
              <a:t>of the sample means,     is also called the </a:t>
            </a:r>
            <a:r>
              <a:rPr lang="en-IN" sz="2400" dirty="0" smtClean="0">
                <a:solidFill>
                  <a:srgbClr val="FF0000"/>
                </a:solidFill>
                <a:latin typeface="+mj-lt"/>
              </a:rPr>
              <a:t>standard error of the mean</a:t>
            </a:r>
            <a:r>
              <a:rPr lang="en-IN" sz="2400" dirty="0" smtClean="0">
                <a:latin typeface="+mj-lt"/>
              </a:rPr>
              <a:t>.</a:t>
            </a:r>
            <a:endParaRPr lang="en-IN" sz="2400" dirty="0">
              <a:latin typeface="+mj-lt"/>
            </a:endParaRPr>
          </a:p>
        </p:txBody>
      </p:sp>
      <p:graphicFrame>
        <p:nvGraphicFramePr>
          <p:cNvPr id="886785" name="Object 1"/>
          <p:cNvGraphicFramePr>
            <a:graphicFrameLocks noChangeAspect="1"/>
          </p:cNvGraphicFramePr>
          <p:nvPr>
            <p:extLst>
              <p:ext uri="{D42A27DB-BD31-4B8C-83A1-F6EECF244321}">
                <p14:modId xmlns="" xmlns:p14="http://schemas.microsoft.com/office/powerpoint/2010/main" val="2770105385"/>
              </p:ext>
            </p:extLst>
          </p:nvPr>
        </p:nvGraphicFramePr>
        <p:xfrm>
          <a:off x="4800600" y="3200400"/>
          <a:ext cx="457200" cy="393700"/>
        </p:xfrm>
        <a:graphic>
          <a:graphicData uri="http://schemas.openxmlformats.org/presentationml/2006/ole">
            <p:oleObj spid="_x0000_s886953" name="Equation" r:id="rId4" imgW="139579" imgH="164957" progId="Equation.3">
              <p:embed/>
            </p:oleObj>
          </a:graphicData>
        </a:graphic>
      </p:graphicFrame>
      <p:graphicFrame>
        <p:nvGraphicFramePr>
          <p:cNvPr id="886786" name="Object 2"/>
          <p:cNvGraphicFramePr>
            <a:graphicFrameLocks noChangeAspect="1"/>
          </p:cNvGraphicFramePr>
          <p:nvPr/>
        </p:nvGraphicFramePr>
        <p:xfrm>
          <a:off x="533400" y="4343400"/>
          <a:ext cx="990600" cy="482600"/>
        </p:xfrm>
        <a:graphic>
          <a:graphicData uri="http://schemas.openxmlformats.org/presentationml/2006/ole">
            <p:oleObj spid="_x0000_s886954" name="Equation" r:id="rId5" imgW="469900" imgH="228600" progId="Equation.3">
              <p:embed/>
            </p:oleObj>
          </a:graphicData>
        </a:graphic>
      </p:graphicFrame>
      <p:grpSp>
        <p:nvGrpSpPr>
          <p:cNvPr id="10" name="Group 19"/>
          <p:cNvGrpSpPr>
            <a:grpSpLocks/>
          </p:cNvGrpSpPr>
          <p:nvPr/>
        </p:nvGrpSpPr>
        <p:grpSpPr bwMode="auto">
          <a:xfrm>
            <a:off x="6477000" y="4800600"/>
            <a:ext cx="1524000" cy="761999"/>
            <a:chOff x="1674" y="3274"/>
            <a:chExt cx="866" cy="598"/>
          </a:xfrm>
        </p:grpSpPr>
        <p:sp>
          <p:nvSpPr>
            <p:cNvPr id="11" name="Line 4"/>
            <p:cNvSpPr>
              <a:spLocks noChangeShapeType="1"/>
            </p:cNvSpPr>
            <p:nvPr/>
          </p:nvSpPr>
          <p:spPr bwMode="auto">
            <a:xfrm>
              <a:off x="1843" y="3586"/>
              <a:ext cx="96" cy="1"/>
            </a:xfrm>
            <a:prstGeom prst="line">
              <a:avLst/>
            </a:prstGeom>
            <a:noFill/>
            <a:ln w="12700">
              <a:solidFill>
                <a:srgbClr val="000000"/>
              </a:solidFill>
              <a:round/>
              <a:headEnd type="none" w="sm" len="sm"/>
              <a:tailEnd type="none" w="sm" len="sm"/>
            </a:ln>
            <a:effectLst/>
          </p:spPr>
          <p:txBody>
            <a:bodyPr/>
            <a:lstStyle/>
            <a:p>
              <a:endParaRPr lang="en-IN"/>
            </a:p>
          </p:txBody>
        </p:sp>
        <p:sp>
          <p:nvSpPr>
            <p:cNvPr id="12" name="Line 5"/>
            <p:cNvSpPr>
              <a:spLocks noChangeShapeType="1"/>
            </p:cNvSpPr>
            <p:nvPr/>
          </p:nvSpPr>
          <p:spPr bwMode="auto">
            <a:xfrm flipV="1">
              <a:off x="2182" y="3760"/>
              <a:ext cx="28" cy="15"/>
            </a:xfrm>
            <a:prstGeom prst="line">
              <a:avLst/>
            </a:prstGeom>
            <a:noFill/>
            <a:ln w="12700">
              <a:solidFill>
                <a:srgbClr val="000000"/>
              </a:solidFill>
              <a:round/>
              <a:headEnd type="none" w="sm" len="sm"/>
              <a:tailEnd type="none" w="sm" len="sm"/>
            </a:ln>
            <a:effectLst/>
          </p:spPr>
          <p:txBody>
            <a:bodyPr/>
            <a:lstStyle/>
            <a:p>
              <a:endParaRPr lang="en-IN"/>
            </a:p>
          </p:txBody>
        </p:sp>
        <p:sp>
          <p:nvSpPr>
            <p:cNvPr id="13" name="Line 6"/>
            <p:cNvSpPr>
              <a:spLocks noChangeShapeType="1"/>
            </p:cNvSpPr>
            <p:nvPr/>
          </p:nvSpPr>
          <p:spPr bwMode="auto">
            <a:xfrm>
              <a:off x="2212" y="3765"/>
              <a:ext cx="40" cy="47"/>
            </a:xfrm>
            <a:prstGeom prst="line">
              <a:avLst/>
            </a:prstGeom>
            <a:noFill/>
            <a:ln w="25400">
              <a:solidFill>
                <a:srgbClr val="000000"/>
              </a:solidFill>
              <a:round/>
              <a:headEnd type="none" w="sm" len="sm"/>
              <a:tailEnd type="none" w="sm" len="sm"/>
            </a:ln>
            <a:effectLst/>
          </p:spPr>
          <p:txBody>
            <a:bodyPr/>
            <a:lstStyle/>
            <a:p>
              <a:endParaRPr lang="en-IN"/>
            </a:p>
          </p:txBody>
        </p:sp>
        <p:sp>
          <p:nvSpPr>
            <p:cNvPr id="14" name="Line 7"/>
            <p:cNvSpPr>
              <a:spLocks noChangeShapeType="1"/>
            </p:cNvSpPr>
            <p:nvPr/>
          </p:nvSpPr>
          <p:spPr bwMode="auto">
            <a:xfrm flipV="1">
              <a:off x="2257" y="3658"/>
              <a:ext cx="53" cy="153"/>
            </a:xfrm>
            <a:prstGeom prst="line">
              <a:avLst/>
            </a:prstGeom>
            <a:noFill/>
            <a:ln w="12700">
              <a:solidFill>
                <a:srgbClr val="000000"/>
              </a:solidFill>
              <a:round/>
              <a:headEnd type="none" w="sm" len="sm"/>
              <a:tailEnd type="none" w="sm" len="sm"/>
            </a:ln>
            <a:effectLst/>
          </p:spPr>
          <p:txBody>
            <a:bodyPr/>
            <a:lstStyle/>
            <a:p>
              <a:endParaRPr lang="en-IN"/>
            </a:p>
          </p:txBody>
        </p:sp>
        <p:sp>
          <p:nvSpPr>
            <p:cNvPr id="15" name="Line 8"/>
            <p:cNvSpPr>
              <a:spLocks noChangeShapeType="1"/>
            </p:cNvSpPr>
            <p:nvPr/>
          </p:nvSpPr>
          <p:spPr bwMode="auto">
            <a:xfrm>
              <a:off x="2312" y="3658"/>
              <a:ext cx="126" cy="1"/>
            </a:xfrm>
            <a:prstGeom prst="line">
              <a:avLst/>
            </a:prstGeom>
            <a:noFill/>
            <a:ln w="12700">
              <a:solidFill>
                <a:srgbClr val="000000"/>
              </a:solidFill>
              <a:round/>
              <a:headEnd type="none" w="sm" len="sm"/>
              <a:tailEnd type="none" w="sm" len="sm"/>
            </a:ln>
            <a:effectLst/>
          </p:spPr>
          <p:txBody>
            <a:bodyPr/>
            <a:lstStyle/>
            <a:p>
              <a:endParaRPr lang="en-IN"/>
            </a:p>
          </p:txBody>
        </p:sp>
        <p:sp>
          <p:nvSpPr>
            <p:cNvPr id="16" name="Line 9"/>
            <p:cNvSpPr>
              <a:spLocks noChangeShapeType="1"/>
            </p:cNvSpPr>
            <p:nvPr/>
          </p:nvSpPr>
          <p:spPr bwMode="auto">
            <a:xfrm>
              <a:off x="2171" y="3576"/>
              <a:ext cx="274" cy="1"/>
            </a:xfrm>
            <a:prstGeom prst="line">
              <a:avLst/>
            </a:prstGeom>
            <a:noFill/>
            <a:ln w="12700">
              <a:solidFill>
                <a:srgbClr val="000000"/>
              </a:solidFill>
              <a:round/>
              <a:headEnd type="none" w="sm" len="sm"/>
              <a:tailEnd type="none" w="sm" len="sm"/>
            </a:ln>
            <a:effectLst/>
          </p:spPr>
          <p:txBody>
            <a:bodyPr/>
            <a:lstStyle/>
            <a:p>
              <a:endParaRPr lang="en-IN"/>
            </a:p>
          </p:txBody>
        </p:sp>
        <p:sp>
          <p:nvSpPr>
            <p:cNvPr id="17" name="Rectangle 10"/>
            <p:cNvSpPr>
              <a:spLocks noChangeArrowheads="1"/>
            </p:cNvSpPr>
            <p:nvPr/>
          </p:nvSpPr>
          <p:spPr bwMode="auto">
            <a:xfrm>
              <a:off x="2484" y="3403"/>
              <a:ext cx="56" cy="269"/>
            </a:xfrm>
            <a:prstGeom prst="rect">
              <a:avLst/>
            </a:prstGeom>
            <a:noFill/>
            <a:ln w="9525">
              <a:noFill/>
              <a:miter lim="800000"/>
              <a:headEnd/>
              <a:tailEnd/>
            </a:ln>
            <a:effectLst/>
          </p:spPr>
          <p:txBody>
            <a:bodyPr wrap="none" lIns="0" tIns="0" rIns="0" bIns="0">
              <a:spAutoFit/>
            </a:bodyPr>
            <a:lstStyle/>
            <a:p>
              <a:r>
                <a:rPr lang="en-US" sz="2800">
                  <a:solidFill>
                    <a:srgbClr val="000000"/>
                  </a:solidFill>
                  <a:latin typeface="Times New Roman" pitchFamily="18" charset="0"/>
                </a:rPr>
                <a:t>.</a:t>
              </a:r>
            </a:p>
          </p:txBody>
        </p:sp>
        <p:sp>
          <p:nvSpPr>
            <p:cNvPr id="18" name="Rectangle 11"/>
            <p:cNvSpPr>
              <a:spLocks noChangeArrowheads="1"/>
            </p:cNvSpPr>
            <p:nvPr/>
          </p:nvSpPr>
          <p:spPr bwMode="auto">
            <a:xfrm>
              <a:off x="2445" y="3403"/>
              <a:ext cx="56" cy="269"/>
            </a:xfrm>
            <a:prstGeom prst="rect">
              <a:avLst/>
            </a:prstGeom>
            <a:noFill/>
            <a:ln w="9525">
              <a:noFill/>
              <a:miter lim="800000"/>
              <a:headEnd/>
              <a:tailEnd/>
            </a:ln>
            <a:effectLst/>
          </p:spPr>
          <p:txBody>
            <a:bodyPr wrap="none" lIns="0" tIns="0" rIns="0" bIns="0">
              <a:spAutoFit/>
            </a:bodyPr>
            <a:lstStyle/>
            <a:p>
              <a:r>
                <a:rPr lang="en-US" sz="2800">
                  <a:solidFill>
                    <a:srgbClr val="000000"/>
                  </a:solidFill>
                  <a:latin typeface="Times New Roman" pitchFamily="18" charset="0"/>
                </a:rPr>
                <a:t> </a:t>
              </a:r>
            </a:p>
          </p:txBody>
        </p:sp>
        <p:sp>
          <p:nvSpPr>
            <p:cNvPr id="19" name="Rectangle 12"/>
            <p:cNvSpPr>
              <a:spLocks noChangeArrowheads="1"/>
            </p:cNvSpPr>
            <p:nvPr/>
          </p:nvSpPr>
          <p:spPr bwMode="auto">
            <a:xfrm>
              <a:off x="2114" y="3403"/>
              <a:ext cx="56" cy="269"/>
            </a:xfrm>
            <a:prstGeom prst="rect">
              <a:avLst/>
            </a:prstGeom>
            <a:noFill/>
            <a:ln w="9525">
              <a:noFill/>
              <a:miter lim="800000"/>
              <a:headEnd/>
              <a:tailEnd/>
            </a:ln>
            <a:effectLst/>
          </p:spPr>
          <p:txBody>
            <a:bodyPr wrap="none" lIns="0" tIns="0" rIns="0" bIns="0">
              <a:spAutoFit/>
            </a:bodyPr>
            <a:lstStyle/>
            <a:p>
              <a:r>
                <a:rPr lang="en-US" sz="2800">
                  <a:solidFill>
                    <a:srgbClr val="000000"/>
                  </a:solidFill>
                  <a:latin typeface="Times New Roman" pitchFamily="18" charset="0"/>
                </a:rPr>
                <a:t> </a:t>
              </a:r>
            </a:p>
          </p:txBody>
        </p:sp>
        <p:sp>
          <p:nvSpPr>
            <p:cNvPr id="20" name="Rectangle 13"/>
            <p:cNvSpPr>
              <a:spLocks noChangeArrowheads="1"/>
            </p:cNvSpPr>
            <p:nvPr/>
          </p:nvSpPr>
          <p:spPr bwMode="auto">
            <a:xfrm>
              <a:off x="1948" y="3403"/>
              <a:ext cx="56" cy="269"/>
            </a:xfrm>
            <a:prstGeom prst="rect">
              <a:avLst/>
            </a:prstGeom>
            <a:noFill/>
            <a:ln w="9525">
              <a:noFill/>
              <a:miter lim="800000"/>
              <a:headEnd/>
              <a:tailEnd/>
            </a:ln>
            <a:effectLst/>
          </p:spPr>
          <p:txBody>
            <a:bodyPr wrap="none" lIns="0" tIns="0" rIns="0" bIns="0">
              <a:spAutoFit/>
            </a:bodyPr>
            <a:lstStyle/>
            <a:p>
              <a:r>
                <a:rPr lang="en-US" sz="2800">
                  <a:solidFill>
                    <a:srgbClr val="000000"/>
                  </a:solidFill>
                  <a:latin typeface="Times New Roman" pitchFamily="18" charset="0"/>
                </a:rPr>
                <a:t> </a:t>
              </a:r>
            </a:p>
          </p:txBody>
        </p:sp>
        <p:sp>
          <p:nvSpPr>
            <p:cNvPr id="21" name="Rectangle 14"/>
            <p:cNvSpPr>
              <a:spLocks noChangeArrowheads="1"/>
            </p:cNvSpPr>
            <p:nvPr/>
          </p:nvSpPr>
          <p:spPr bwMode="auto">
            <a:xfrm>
              <a:off x="2315" y="3603"/>
              <a:ext cx="112" cy="269"/>
            </a:xfrm>
            <a:prstGeom prst="rect">
              <a:avLst/>
            </a:prstGeom>
            <a:noFill/>
            <a:ln w="9525">
              <a:noFill/>
              <a:miter lim="800000"/>
              <a:headEnd/>
              <a:tailEnd/>
            </a:ln>
            <a:effectLst/>
          </p:spPr>
          <p:txBody>
            <a:bodyPr wrap="none" lIns="0" tIns="0" rIns="0" bIns="0">
              <a:spAutoFit/>
            </a:bodyPr>
            <a:lstStyle/>
            <a:p>
              <a:r>
                <a:rPr lang="en-US" sz="2800" i="1" dirty="0">
                  <a:solidFill>
                    <a:srgbClr val="000000"/>
                  </a:solidFill>
                  <a:latin typeface="Times New Roman" pitchFamily="18" charset="0"/>
                </a:rPr>
                <a:t>n</a:t>
              </a:r>
            </a:p>
          </p:txBody>
        </p:sp>
        <p:sp>
          <p:nvSpPr>
            <p:cNvPr id="22" name="Rectangle 15"/>
            <p:cNvSpPr>
              <a:spLocks noChangeArrowheads="1"/>
            </p:cNvSpPr>
            <p:nvPr/>
          </p:nvSpPr>
          <p:spPr bwMode="auto">
            <a:xfrm>
              <a:off x="1834" y="3524"/>
              <a:ext cx="99" cy="269"/>
            </a:xfrm>
            <a:prstGeom prst="rect">
              <a:avLst/>
            </a:prstGeom>
            <a:noFill/>
            <a:ln w="9525">
              <a:noFill/>
              <a:miter lim="800000"/>
              <a:headEnd/>
              <a:tailEnd/>
            </a:ln>
            <a:effectLst/>
          </p:spPr>
          <p:txBody>
            <a:bodyPr wrap="none" lIns="0" tIns="0" rIns="0" bIns="0">
              <a:spAutoFit/>
            </a:bodyPr>
            <a:lstStyle/>
            <a:p>
              <a:r>
                <a:rPr lang="en-US" sz="2800" i="1" dirty="0">
                  <a:solidFill>
                    <a:srgbClr val="000000"/>
                  </a:solidFill>
                  <a:latin typeface="Times New Roman" pitchFamily="18" charset="0"/>
                </a:rPr>
                <a:t>x</a:t>
              </a:r>
            </a:p>
          </p:txBody>
        </p:sp>
        <p:sp>
          <p:nvSpPr>
            <p:cNvPr id="23" name="Rectangle 16"/>
            <p:cNvSpPr>
              <a:spLocks noChangeArrowheads="1"/>
            </p:cNvSpPr>
            <p:nvPr/>
          </p:nvSpPr>
          <p:spPr bwMode="auto">
            <a:xfrm>
              <a:off x="2217" y="3274"/>
              <a:ext cx="135" cy="269"/>
            </a:xfrm>
            <a:prstGeom prst="rect">
              <a:avLst/>
            </a:prstGeom>
            <a:noFill/>
            <a:ln w="9525">
              <a:noFill/>
              <a:miter lim="800000"/>
              <a:headEnd/>
              <a:tailEnd/>
            </a:ln>
            <a:effectLst/>
          </p:spPr>
          <p:txBody>
            <a:bodyPr wrap="none" lIns="0" tIns="0" rIns="0" bIns="0">
              <a:spAutoFit/>
            </a:bodyPr>
            <a:lstStyle/>
            <a:p>
              <a:r>
                <a:rPr lang="en-US" sz="2800" i="1">
                  <a:solidFill>
                    <a:srgbClr val="000000"/>
                  </a:solidFill>
                  <a:latin typeface="Symbol" pitchFamily="18" charset="2"/>
                </a:rPr>
                <a:t>s</a:t>
              </a:r>
            </a:p>
          </p:txBody>
        </p:sp>
        <p:sp>
          <p:nvSpPr>
            <p:cNvPr id="24" name="Rectangle 17"/>
            <p:cNvSpPr>
              <a:spLocks noChangeArrowheads="1"/>
            </p:cNvSpPr>
            <p:nvPr/>
          </p:nvSpPr>
          <p:spPr bwMode="auto">
            <a:xfrm>
              <a:off x="1674" y="3378"/>
              <a:ext cx="135" cy="269"/>
            </a:xfrm>
            <a:prstGeom prst="rect">
              <a:avLst/>
            </a:prstGeom>
            <a:noFill/>
            <a:ln w="9525">
              <a:noFill/>
              <a:miter lim="800000"/>
              <a:headEnd/>
              <a:tailEnd/>
            </a:ln>
            <a:effectLst/>
          </p:spPr>
          <p:txBody>
            <a:bodyPr wrap="none" lIns="0" tIns="0" rIns="0" bIns="0">
              <a:spAutoFit/>
            </a:bodyPr>
            <a:lstStyle/>
            <a:p>
              <a:r>
                <a:rPr lang="en-US" sz="2800" i="1">
                  <a:solidFill>
                    <a:srgbClr val="000000"/>
                  </a:solidFill>
                  <a:latin typeface="Symbol" pitchFamily="18" charset="2"/>
                </a:rPr>
                <a:t>s</a:t>
              </a:r>
            </a:p>
          </p:txBody>
        </p:sp>
        <p:sp>
          <p:nvSpPr>
            <p:cNvPr id="25" name="Rectangle 18"/>
            <p:cNvSpPr>
              <a:spLocks noChangeArrowheads="1"/>
            </p:cNvSpPr>
            <p:nvPr/>
          </p:nvSpPr>
          <p:spPr bwMode="auto">
            <a:xfrm>
              <a:off x="2000" y="3378"/>
              <a:ext cx="123" cy="269"/>
            </a:xfrm>
            <a:prstGeom prst="rect">
              <a:avLst/>
            </a:prstGeom>
            <a:noFill/>
            <a:ln w="9525">
              <a:noFill/>
              <a:miter lim="800000"/>
              <a:headEnd/>
              <a:tailEnd/>
            </a:ln>
            <a:effectLst/>
          </p:spPr>
          <p:txBody>
            <a:bodyPr wrap="none" lIns="0" tIns="0" rIns="0" bIns="0">
              <a:spAutoFit/>
            </a:bodyPr>
            <a:lstStyle/>
            <a:p>
              <a:r>
                <a:rPr lang="en-US" sz="2800" dirty="0">
                  <a:solidFill>
                    <a:srgbClr val="000000"/>
                  </a:solidFill>
                  <a:latin typeface="Symbol" pitchFamily="18" charset="2"/>
                </a:rPr>
                <a:t>=</a:t>
              </a:r>
            </a:p>
          </p:txBody>
        </p:sp>
      </p:grpSp>
      <p:graphicFrame>
        <p:nvGraphicFramePr>
          <p:cNvPr id="886787" name="Object 3"/>
          <p:cNvGraphicFramePr>
            <a:graphicFrameLocks noChangeAspect="1"/>
          </p:cNvGraphicFramePr>
          <p:nvPr>
            <p:extLst>
              <p:ext uri="{D42A27DB-BD31-4B8C-83A1-F6EECF244321}">
                <p14:modId xmlns="" xmlns:p14="http://schemas.microsoft.com/office/powerpoint/2010/main" val="1002506848"/>
              </p:ext>
            </p:extLst>
          </p:nvPr>
        </p:nvGraphicFramePr>
        <p:xfrm>
          <a:off x="1219200" y="6019800"/>
          <a:ext cx="457200" cy="393700"/>
        </p:xfrm>
        <a:graphic>
          <a:graphicData uri="http://schemas.openxmlformats.org/presentationml/2006/ole">
            <p:oleObj spid="_x0000_s886955" name="Equation" r:id="rId6" imgW="139579" imgH="164957" progId="Equation.3">
              <p:embed/>
            </p:oleObj>
          </a:graphicData>
        </a:graphic>
      </p:graphicFrame>
    </p:spTree>
  </p:cSld>
  <p:clrMapOvr>
    <a:masterClrMapping/>
  </p:clrMapOvr>
  <p:transition spd="slow">
    <p:cut/>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pic>
        <p:nvPicPr>
          <p:cNvPr id="908290" name="Picture 2"/>
          <p:cNvPicPr>
            <a:picLocks noGrp="1" noChangeAspect="1" noChangeArrowheads="1"/>
          </p:cNvPicPr>
          <p:nvPr>
            <p:ph idx="1"/>
          </p:nvPr>
        </p:nvPicPr>
        <p:blipFill>
          <a:blip r:embed="rId2"/>
          <a:srcRect/>
          <a:stretch>
            <a:fillRect/>
          </a:stretch>
        </p:blipFill>
        <p:spPr bwMode="auto">
          <a:xfrm>
            <a:off x="990600" y="1066800"/>
            <a:ext cx="7315200" cy="478606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pic>
        <p:nvPicPr>
          <p:cNvPr id="907266" name="Picture 2"/>
          <p:cNvPicPr>
            <a:picLocks noChangeAspect="1" noChangeArrowheads="1"/>
          </p:cNvPicPr>
          <p:nvPr/>
        </p:nvPicPr>
        <p:blipFill>
          <a:blip r:embed="rId2"/>
          <a:srcRect/>
          <a:stretch>
            <a:fillRect/>
          </a:stretch>
        </p:blipFill>
        <p:spPr bwMode="auto">
          <a:xfrm>
            <a:off x="1447800" y="609600"/>
            <a:ext cx="6629400" cy="5901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990600" y="42863"/>
            <a:ext cx="7924800" cy="1404937"/>
          </a:xfrm>
          <a:noFill/>
          <a:ln/>
        </p:spPr>
        <p:txBody>
          <a:bodyPr/>
          <a:lstStyle/>
          <a:p>
            <a:r>
              <a:rPr lang="en-US"/>
              <a:t>Example: Standardizing a Mean</a:t>
            </a:r>
          </a:p>
        </p:txBody>
      </p:sp>
      <p:sp>
        <p:nvSpPr>
          <p:cNvPr id="32771" name="Rectangle 3"/>
          <p:cNvSpPr>
            <a:spLocks noGrp="1" noChangeArrowheads="1"/>
          </p:cNvSpPr>
          <p:nvPr>
            <p:ph type="body" idx="1"/>
          </p:nvPr>
        </p:nvSpPr>
        <p:spPr>
          <a:xfrm>
            <a:off x="228600" y="838200"/>
            <a:ext cx="8686800" cy="5257800"/>
          </a:xfrm>
          <a:noFill/>
          <a:ln/>
        </p:spPr>
        <p:txBody>
          <a:bodyPr/>
          <a:lstStyle/>
          <a:p>
            <a:pPr>
              <a:buSzTx/>
              <a:buFontTx/>
              <a:buChar char="•"/>
            </a:pPr>
            <a:r>
              <a:rPr lang="en-US" sz="2400" dirty="0" smtClean="0"/>
              <a:t>When </a:t>
            </a:r>
            <a:r>
              <a:rPr lang="en-US" sz="2400" dirty="0"/>
              <a:t>a production machine is properly calibrated, it requires an average of 25 seconds per unit produced, with a standard deviation of 3 seconds. For a simple random sample of </a:t>
            </a:r>
            <a:r>
              <a:rPr lang="en-US" sz="2400" i="1" dirty="0"/>
              <a:t>n</a:t>
            </a:r>
            <a:r>
              <a:rPr lang="en-US" sz="2400" dirty="0"/>
              <a:t> = 36 units, the sample mean is found to be 26.2 seconds per unit. When the machine is properly calibrated, what is the probability that the mean for a simple random sample of this size will be at least 26.2 seconds?</a:t>
            </a:r>
            <a:endParaRPr lang="en-US" sz="2800" dirty="0"/>
          </a:p>
          <a:p>
            <a:pPr lvl="1"/>
            <a:r>
              <a:rPr lang="en-US" sz="2400" dirty="0"/>
              <a:t> </a:t>
            </a:r>
            <a:r>
              <a:rPr lang="en-US" sz="2400" i="1" dirty="0">
                <a:latin typeface="Symbol" pitchFamily="18" charset="2"/>
              </a:rPr>
              <a:t>  </a:t>
            </a:r>
            <a:r>
              <a:rPr lang="en-US" sz="2400" dirty="0"/>
              <a:t> </a:t>
            </a:r>
          </a:p>
          <a:p>
            <a:pPr lvl="1"/>
            <a:r>
              <a:rPr lang="en-US" sz="2400" dirty="0"/>
              <a:t>Standardized sample mean:</a:t>
            </a:r>
          </a:p>
          <a:p>
            <a:pPr lvl="1"/>
            <a:endParaRPr lang="en-US" sz="2400" dirty="0"/>
          </a:p>
        </p:txBody>
      </p:sp>
      <p:graphicFrame>
        <p:nvGraphicFramePr>
          <p:cNvPr id="32775" name="Object 7"/>
          <p:cNvGraphicFramePr>
            <a:graphicFrameLocks noChangeAspect="1"/>
          </p:cNvGraphicFramePr>
          <p:nvPr/>
        </p:nvGraphicFramePr>
        <p:xfrm>
          <a:off x="1143000" y="3505200"/>
          <a:ext cx="3276600" cy="454025"/>
        </p:xfrm>
        <a:graphic>
          <a:graphicData uri="http://schemas.openxmlformats.org/presentationml/2006/ole">
            <p:oleObj spid="_x0000_s882855" name="Equation" r:id="rId4" imgW="1651000" imgH="228600" progId="Equation.3">
              <p:embed/>
            </p:oleObj>
          </a:graphicData>
        </a:graphic>
      </p:graphicFrame>
      <p:graphicFrame>
        <p:nvGraphicFramePr>
          <p:cNvPr id="32776" name="Object 8"/>
          <p:cNvGraphicFramePr>
            <a:graphicFrameLocks noChangeAspect="1"/>
          </p:cNvGraphicFramePr>
          <p:nvPr/>
        </p:nvGraphicFramePr>
        <p:xfrm>
          <a:off x="4953000" y="4038600"/>
          <a:ext cx="2743200" cy="1289050"/>
        </p:xfrm>
        <a:graphic>
          <a:graphicData uri="http://schemas.openxmlformats.org/presentationml/2006/ole">
            <p:oleObj spid="_x0000_s882856" name="Equation" r:id="rId5" imgW="1460500" imgH="685800" progId="Equation.3">
              <p:embed/>
            </p:oleObj>
          </a:graphicData>
        </a:graphic>
      </p:graphicFrame>
      <p:graphicFrame>
        <p:nvGraphicFramePr>
          <p:cNvPr id="32777" name="Object 9"/>
          <p:cNvGraphicFramePr>
            <a:graphicFrameLocks noChangeAspect="1"/>
          </p:cNvGraphicFramePr>
          <p:nvPr/>
        </p:nvGraphicFramePr>
        <p:xfrm>
          <a:off x="990600" y="5638800"/>
          <a:ext cx="4648200" cy="422275"/>
        </p:xfrm>
        <a:graphic>
          <a:graphicData uri="http://schemas.openxmlformats.org/presentationml/2006/ole">
            <p:oleObj spid="_x0000_s882857" name="Equation" r:id="rId6" imgW="2514600" imgH="228600" progId="Equation.3">
              <p:embed/>
            </p:oleObj>
          </a:graphicData>
        </a:graphic>
      </p:graphicFrame>
    </p:spTree>
  </p:cSld>
  <p:clrMapOvr>
    <a:masterClrMapping/>
  </p:clrMapOvr>
  <p:transition spd="slow">
    <p:cut/>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90600" y="0"/>
            <a:ext cx="7848600" cy="642937"/>
          </a:xfrm>
          <a:noFill/>
          <a:ln/>
        </p:spPr>
        <p:txBody>
          <a:bodyPr/>
          <a:lstStyle/>
          <a:p>
            <a:r>
              <a:rPr lang="en-US" sz="3200" b="0" dirty="0" smtClean="0"/>
              <a:t>2. Sampling </a:t>
            </a:r>
            <a:r>
              <a:rPr lang="en-US" sz="3200" b="0" dirty="0"/>
              <a:t>Distribution of the Proportion</a:t>
            </a:r>
          </a:p>
        </p:txBody>
      </p:sp>
      <p:sp>
        <p:nvSpPr>
          <p:cNvPr id="18435" name="Rectangle 3"/>
          <p:cNvSpPr>
            <a:spLocks noGrp="1" noChangeArrowheads="1"/>
          </p:cNvSpPr>
          <p:nvPr>
            <p:ph type="body" idx="1"/>
          </p:nvPr>
        </p:nvSpPr>
        <p:spPr>
          <a:xfrm>
            <a:off x="381000" y="914400"/>
            <a:ext cx="8229600" cy="4124325"/>
          </a:xfrm>
          <a:noFill/>
          <a:ln/>
        </p:spPr>
        <p:txBody>
          <a:bodyPr/>
          <a:lstStyle/>
          <a:p>
            <a:pPr>
              <a:buSzTx/>
              <a:buFontTx/>
              <a:buChar char="•"/>
            </a:pPr>
            <a:r>
              <a:rPr lang="en-US" dirty="0">
                <a:latin typeface="+mj-lt"/>
              </a:rPr>
              <a:t>When the sample statistic is generated by a count not a measurement, the proportion of successes in a sample of </a:t>
            </a:r>
            <a:r>
              <a:rPr lang="en-US" i="1" dirty="0">
                <a:latin typeface="+mj-lt"/>
              </a:rPr>
              <a:t>n</a:t>
            </a:r>
            <a:r>
              <a:rPr lang="en-US" dirty="0">
                <a:latin typeface="+mj-lt"/>
              </a:rPr>
              <a:t> trials is </a:t>
            </a:r>
            <a:r>
              <a:rPr lang="en-US" i="1" dirty="0">
                <a:latin typeface="+mj-lt"/>
              </a:rPr>
              <a:t>p</a:t>
            </a:r>
            <a:r>
              <a:rPr lang="en-US" dirty="0">
                <a:latin typeface="+mj-lt"/>
              </a:rPr>
              <a:t>, where</a:t>
            </a:r>
          </a:p>
          <a:p>
            <a:pPr lvl="1"/>
            <a:r>
              <a:rPr lang="en-US" sz="2400" b="1" dirty="0">
                <a:latin typeface="+mj-lt"/>
              </a:rPr>
              <a:t>Shape: </a:t>
            </a:r>
            <a:r>
              <a:rPr lang="en-US" sz="2400" dirty="0">
                <a:latin typeface="+mj-lt"/>
              </a:rPr>
              <a:t>Whenever both </a:t>
            </a:r>
            <a:r>
              <a:rPr lang="en-US" sz="2400" i="1" dirty="0">
                <a:latin typeface="+mj-lt"/>
              </a:rPr>
              <a:t>n p </a:t>
            </a:r>
            <a:r>
              <a:rPr lang="en-US" sz="2400" dirty="0">
                <a:latin typeface="+mj-lt"/>
              </a:rPr>
              <a:t>and </a:t>
            </a:r>
            <a:r>
              <a:rPr lang="en-US" sz="2400" i="1" dirty="0">
                <a:latin typeface="+mj-lt"/>
              </a:rPr>
              <a:t>n</a:t>
            </a:r>
            <a:r>
              <a:rPr lang="en-US" sz="2400" dirty="0">
                <a:latin typeface="+mj-lt"/>
              </a:rPr>
              <a:t>(1 – </a:t>
            </a:r>
            <a:r>
              <a:rPr lang="en-US" sz="2400" i="1" dirty="0">
                <a:latin typeface="+mj-lt"/>
              </a:rPr>
              <a:t>p</a:t>
            </a:r>
            <a:r>
              <a:rPr lang="en-US" sz="2400" dirty="0">
                <a:latin typeface="+mj-lt"/>
              </a:rPr>
              <a:t>)</a:t>
            </a:r>
            <a:r>
              <a:rPr lang="en-US" sz="2400" i="1" dirty="0">
                <a:latin typeface="+mj-lt"/>
              </a:rPr>
              <a:t> </a:t>
            </a:r>
            <a:r>
              <a:rPr lang="en-US" sz="2400" dirty="0">
                <a:latin typeface="+mj-lt"/>
              </a:rPr>
              <a:t>are greater than or equal to 5, the distribution of sample proportions will be approximately normally distributed.</a:t>
            </a:r>
          </a:p>
        </p:txBody>
      </p:sp>
      <p:sp>
        <p:nvSpPr>
          <p:cNvPr id="5" name="Rectangle 3"/>
          <p:cNvSpPr txBox="1">
            <a:spLocks noChangeArrowheads="1"/>
          </p:cNvSpPr>
          <p:nvPr/>
        </p:nvSpPr>
        <p:spPr>
          <a:xfrm>
            <a:off x="381000" y="3276600"/>
            <a:ext cx="8534400" cy="2971800"/>
          </a:xfrm>
          <a:prstGeom prst="rect">
            <a:avLst/>
          </a:prstGeom>
          <a:noFill/>
          <a:ln/>
        </p:spPr>
        <p:txBody>
          <a:bodyPr/>
          <a:lstStyle/>
          <a:p>
            <a:pPr marL="742950" marR="0" lvl="1" indent="-285750" algn="l" defTabSz="914400" rtl="0" eaLnBrk="0" fontAlgn="base" latinLnBrk="0" hangingPunct="0">
              <a:lnSpc>
                <a:spcPct val="100000"/>
              </a:lnSpc>
              <a:spcBef>
                <a:spcPct val="20000"/>
              </a:spcBef>
              <a:spcAft>
                <a:spcPct val="0"/>
              </a:spcAft>
              <a:buClrTx/>
              <a:buSzTx/>
              <a:buFontTx/>
              <a:buChar char="–"/>
              <a:tabLst/>
              <a:defRPr/>
            </a:pPr>
            <a:r>
              <a:rPr kumimoji="0" lang="en-US" sz="2400" b="1" i="0" u="none" strike="noStrike" kern="0" cap="none" spc="0" normalizeH="0" baseline="0" noProof="0" dirty="0" smtClean="0">
                <a:ln>
                  <a:noFill/>
                </a:ln>
                <a:solidFill>
                  <a:schemeClr val="tx1"/>
                </a:solidFill>
                <a:effectLst/>
                <a:uLnTx/>
                <a:uFillTx/>
                <a:latin typeface="+mn-lt"/>
              </a:rPr>
              <a:t>Center:  </a:t>
            </a:r>
            <a:r>
              <a:rPr kumimoji="0" lang="en-US" sz="2400" b="0" i="0" u="none" strike="noStrike" kern="0" cap="none" spc="0" normalizeH="0" baseline="0" noProof="0" dirty="0" smtClean="0">
                <a:ln>
                  <a:noFill/>
                </a:ln>
                <a:solidFill>
                  <a:schemeClr val="tx1"/>
                </a:solidFill>
                <a:effectLst/>
                <a:uLnTx/>
                <a:uFillTx/>
                <a:latin typeface="+mn-lt"/>
              </a:rPr>
              <a:t>The center of the distribution of sample proportions is the center of the population</a:t>
            </a:r>
            <a:r>
              <a:rPr lang="en-US" sz="2400" kern="0" dirty="0">
                <a:latin typeface="+mn-lt"/>
              </a:rPr>
              <a:t>.</a:t>
            </a:r>
            <a:endParaRPr kumimoji="0" lang="en-US" sz="2400" b="0" i="0" u="none" strike="noStrike" kern="0" cap="none" spc="0" normalizeH="0" baseline="0" noProof="0" dirty="0" smtClean="0">
              <a:ln>
                <a:noFill/>
              </a:ln>
              <a:solidFill>
                <a:schemeClr val="tx1"/>
              </a:solidFill>
              <a:effectLst/>
              <a:uLnTx/>
              <a:uFillTx/>
              <a:latin typeface="+mn-lt"/>
            </a:endParaRPr>
          </a:p>
          <a:p>
            <a:pPr marL="742950" marR="0" lvl="1" indent="-285750" algn="l" defTabSz="914400" rtl="0" eaLnBrk="0" fontAlgn="base" latinLnBrk="0" hangingPunct="0">
              <a:lnSpc>
                <a:spcPct val="100000"/>
              </a:lnSpc>
              <a:spcBef>
                <a:spcPct val="20000"/>
              </a:spcBef>
              <a:spcAft>
                <a:spcPct val="0"/>
              </a:spcAft>
              <a:buClrTx/>
              <a:buSzTx/>
              <a:buFontTx/>
              <a:buChar char="–"/>
              <a:tabLst/>
              <a:defRPr/>
            </a:pPr>
            <a:r>
              <a:rPr kumimoji="0" lang="en-US" sz="2400" b="1" i="0" u="none" strike="noStrike" kern="0" cap="none" spc="0" normalizeH="0" baseline="0" noProof="0" dirty="0" smtClean="0">
                <a:ln>
                  <a:noFill/>
                </a:ln>
                <a:solidFill>
                  <a:schemeClr val="tx1"/>
                </a:solidFill>
                <a:effectLst/>
                <a:uLnTx/>
                <a:uFillTx/>
                <a:latin typeface="+mn-lt"/>
              </a:rPr>
              <a:t>Spread:  </a:t>
            </a:r>
            <a:r>
              <a:rPr kumimoji="0" lang="en-US" sz="2400" b="0" i="0" u="none" strike="noStrike" kern="0" cap="none" spc="0" normalizeH="0" baseline="0" noProof="0" dirty="0" smtClean="0">
                <a:ln>
                  <a:noFill/>
                </a:ln>
                <a:solidFill>
                  <a:schemeClr val="tx1"/>
                </a:solidFill>
                <a:effectLst/>
                <a:uLnTx/>
                <a:uFillTx/>
                <a:latin typeface="+mn-lt"/>
              </a:rPr>
              <a:t>The standard deviation of the distribution of sample proportions, or the standard error, is</a:t>
            </a:r>
            <a:endParaRPr kumimoji="0" lang="en-US" sz="2400" b="0" i="0" u="none" strike="noStrike" kern="0" cap="none" spc="0" normalizeH="0" baseline="0" noProof="0" dirty="0">
              <a:ln>
                <a:noFill/>
              </a:ln>
              <a:solidFill>
                <a:schemeClr val="tx1"/>
              </a:solidFill>
              <a:effectLst/>
              <a:uLnTx/>
              <a:uFillTx/>
              <a:latin typeface="+mn-lt"/>
            </a:endParaRPr>
          </a:p>
        </p:txBody>
      </p:sp>
      <p:graphicFrame>
        <p:nvGraphicFramePr>
          <p:cNvPr id="2" name="Object 1"/>
          <p:cNvGraphicFramePr>
            <a:graphicFrameLocks noChangeAspect="1"/>
          </p:cNvGraphicFramePr>
          <p:nvPr>
            <p:extLst>
              <p:ext uri="{D42A27DB-BD31-4B8C-83A1-F6EECF244321}">
                <p14:modId xmlns="" xmlns:p14="http://schemas.microsoft.com/office/powerpoint/2010/main" val="2672223355"/>
              </p:ext>
            </p:extLst>
          </p:nvPr>
        </p:nvGraphicFramePr>
        <p:xfrm>
          <a:off x="3810000" y="5105400"/>
          <a:ext cx="2362200" cy="838200"/>
        </p:xfrm>
        <a:graphic>
          <a:graphicData uri="http://schemas.openxmlformats.org/presentationml/2006/ole">
            <p:oleObj spid="_x0000_s931862" name="Equation" r:id="rId4" imgW="1143000" imgH="444240" progId="Equation.3">
              <p:embed/>
            </p:oleObj>
          </a:graphicData>
        </a:graphic>
      </p:graphicFrame>
    </p:spTree>
  </p:cSld>
  <p:clrMapOvr>
    <a:masterClrMapping/>
  </p:clrMapOvr>
  <p:transition spd="slow">
    <p:cut/>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990600" y="42863"/>
            <a:ext cx="7924800" cy="642937"/>
          </a:xfrm>
          <a:noFill/>
          <a:ln/>
        </p:spPr>
        <p:txBody>
          <a:bodyPr/>
          <a:lstStyle/>
          <a:p>
            <a:r>
              <a:rPr lang="en-US" sz="3200" b="0" dirty="0"/>
              <a:t>Example: Standardizing a </a:t>
            </a:r>
            <a:r>
              <a:rPr lang="en-US" sz="3200" b="0" dirty="0" smtClean="0"/>
              <a:t>Proportion</a:t>
            </a:r>
            <a:endParaRPr lang="en-US" sz="3200" b="0" dirty="0"/>
          </a:p>
        </p:txBody>
      </p:sp>
      <p:sp>
        <p:nvSpPr>
          <p:cNvPr id="30723" name="Rectangle 3"/>
          <p:cNvSpPr>
            <a:spLocks noGrp="1" noChangeArrowheads="1"/>
          </p:cNvSpPr>
          <p:nvPr>
            <p:ph type="body" idx="1"/>
          </p:nvPr>
        </p:nvSpPr>
        <p:spPr>
          <a:xfrm>
            <a:off x="0" y="838200"/>
            <a:ext cx="8686800" cy="4724400"/>
          </a:xfrm>
          <a:noFill/>
          <a:ln/>
        </p:spPr>
        <p:txBody>
          <a:bodyPr/>
          <a:lstStyle/>
          <a:p>
            <a:pPr>
              <a:buSzTx/>
              <a:buFontTx/>
              <a:buChar char="•"/>
            </a:pPr>
            <a:r>
              <a:rPr lang="en-US" sz="2400" dirty="0" smtClean="0"/>
              <a:t>The </a:t>
            </a:r>
            <a:r>
              <a:rPr lang="en-US" sz="2400" dirty="0"/>
              <a:t>campaign manager for a political candidate claims that 55% of registered voters favor the candidate over her strongest opponent. Assuming that this claim is true, what is the probability that in a simple random sample of 300 voters, at least 60% would favor the candidate over her strongest opponent?</a:t>
            </a:r>
            <a:endParaRPr lang="en-US" sz="2800" dirty="0"/>
          </a:p>
          <a:p>
            <a:pPr lvl="1"/>
            <a:r>
              <a:rPr lang="en-US" sz="2400" dirty="0"/>
              <a:t> </a:t>
            </a:r>
            <a:r>
              <a:rPr lang="en-US" sz="2400" i="1" dirty="0">
                <a:latin typeface="Symbol" pitchFamily="18" charset="2"/>
              </a:rPr>
              <a:t>p</a:t>
            </a:r>
            <a:r>
              <a:rPr lang="en-US" sz="2400" dirty="0">
                <a:latin typeface="Symbol" pitchFamily="18" charset="2"/>
              </a:rPr>
              <a:t> </a:t>
            </a:r>
            <a:r>
              <a:rPr lang="en-US" sz="2400" dirty="0"/>
              <a:t>= 0.55,  </a:t>
            </a:r>
            <a:r>
              <a:rPr lang="en-US" sz="2400" i="1" dirty="0"/>
              <a:t>p</a:t>
            </a:r>
            <a:r>
              <a:rPr lang="en-US" sz="2400" dirty="0"/>
              <a:t> = 0.60,  </a:t>
            </a:r>
            <a:r>
              <a:rPr lang="en-US" sz="2400" i="1" dirty="0"/>
              <a:t>n</a:t>
            </a:r>
            <a:r>
              <a:rPr lang="en-US" sz="2400" dirty="0"/>
              <a:t> = 300 </a:t>
            </a:r>
          </a:p>
          <a:p>
            <a:pPr lvl="1"/>
            <a:r>
              <a:rPr lang="en-US" sz="2400" dirty="0"/>
              <a:t>Standardized sample proportion:</a:t>
            </a:r>
          </a:p>
          <a:p>
            <a:pPr lvl="1"/>
            <a:endParaRPr lang="en-US" sz="2400" dirty="0"/>
          </a:p>
        </p:txBody>
      </p:sp>
      <p:graphicFrame>
        <p:nvGraphicFramePr>
          <p:cNvPr id="30781" name="Object 61"/>
          <p:cNvGraphicFramePr>
            <a:graphicFrameLocks noChangeAspect="1"/>
          </p:cNvGraphicFramePr>
          <p:nvPr/>
        </p:nvGraphicFramePr>
        <p:xfrm>
          <a:off x="3048000" y="3733800"/>
          <a:ext cx="3276600" cy="1224274"/>
        </p:xfrm>
        <a:graphic>
          <a:graphicData uri="http://schemas.openxmlformats.org/presentationml/2006/ole">
            <p:oleObj spid="_x0000_s883824" name="Equation" r:id="rId4" imgW="1905000" imgH="711200" progId="Equation.3">
              <p:embed/>
            </p:oleObj>
          </a:graphicData>
        </a:graphic>
      </p:graphicFrame>
      <p:graphicFrame>
        <p:nvGraphicFramePr>
          <p:cNvPr id="30782" name="Object 62"/>
          <p:cNvGraphicFramePr>
            <a:graphicFrameLocks noChangeAspect="1"/>
          </p:cNvGraphicFramePr>
          <p:nvPr/>
        </p:nvGraphicFramePr>
        <p:xfrm>
          <a:off x="1524000" y="5257801"/>
          <a:ext cx="4648200" cy="422704"/>
        </p:xfrm>
        <a:graphic>
          <a:graphicData uri="http://schemas.openxmlformats.org/presentationml/2006/ole">
            <p:oleObj spid="_x0000_s883825" name="Equation" r:id="rId5" imgW="2514600" imgH="228600" progId="Equation.3">
              <p:embed/>
            </p:oleObj>
          </a:graphicData>
        </a:graphic>
      </p:graphicFrame>
    </p:spTree>
  </p:cSld>
  <p:clrMapOvr>
    <a:masterClrMapping/>
  </p:clrMapOvr>
  <p:transition spd="slow">
    <p:cut/>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90600" y="42863"/>
            <a:ext cx="7924800" cy="1100137"/>
          </a:xfrm>
          <a:noFill/>
          <a:ln/>
        </p:spPr>
        <p:txBody>
          <a:bodyPr/>
          <a:lstStyle/>
          <a:p>
            <a:r>
              <a:rPr lang="en-US" sz="3200" b="0" dirty="0"/>
              <a:t>Standardizing a Sample Proportion on a Normal Curve</a:t>
            </a:r>
          </a:p>
        </p:txBody>
      </p:sp>
      <p:sp>
        <p:nvSpPr>
          <p:cNvPr id="22531" name="Rectangle 3"/>
          <p:cNvSpPr>
            <a:spLocks noGrp="1" noChangeArrowheads="1"/>
          </p:cNvSpPr>
          <p:nvPr>
            <p:ph type="body" idx="1"/>
          </p:nvPr>
        </p:nvSpPr>
        <p:spPr>
          <a:xfrm>
            <a:off x="228600" y="1295400"/>
            <a:ext cx="8686800" cy="6019800"/>
          </a:xfrm>
          <a:noFill/>
          <a:ln/>
        </p:spPr>
        <p:txBody>
          <a:bodyPr/>
          <a:lstStyle/>
          <a:p>
            <a:pPr>
              <a:buSzTx/>
              <a:buFontTx/>
              <a:buChar char="•"/>
            </a:pPr>
            <a:r>
              <a:rPr lang="en-US" dirty="0"/>
              <a:t>The </a:t>
            </a:r>
            <a:r>
              <a:rPr lang="en-US" b="1" dirty="0">
                <a:solidFill>
                  <a:schemeClr val="accent2"/>
                </a:solidFill>
              </a:rPr>
              <a:t>standardized </a:t>
            </a:r>
            <a:r>
              <a:rPr lang="en-US" b="1" i="1" dirty="0">
                <a:solidFill>
                  <a:schemeClr val="accent2"/>
                </a:solidFill>
              </a:rPr>
              <a:t>z</a:t>
            </a:r>
            <a:r>
              <a:rPr lang="en-US" b="1" dirty="0">
                <a:solidFill>
                  <a:schemeClr val="accent2"/>
                </a:solidFill>
              </a:rPr>
              <a:t>-score </a:t>
            </a:r>
            <a:r>
              <a:rPr lang="en-US" dirty="0"/>
              <a:t>is how far above or below the sample proportion is compared to the population proportion in units of standard error.</a:t>
            </a:r>
          </a:p>
          <a:p>
            <a:pPr lvl="1"/>
            <a:r>
              <a:rPr lang="en-US" sz="2400" dirty="0"/>
              <a:t>“How far above or below”  = sample </a:t>
            </a:r>
            <a:endParaRPr lang="en-US" sz="2400" dirty="0" smtClean="0"/>
          </a:p>
          <a:p>
            <a:pPr lvl="1"/>
            <a:r>
              <a:rPr lang="en-US" sz="2400" dirty="0" smtClean="0"/>
              <a:t>“</a:t>
            </a:r>
            <a:r>
              <a:rPr lang="en-US" sz="2400" dirty="0"/>
              <a:t>In units of standard error” = divide by </a:t>
            </a:r>
          </a:p>
          <a:p>
            <a:pPr>
              <a:buSzTx/>
              <a:buFontTx/>
              <a:buChar char="•"/>
            </a:pPr>
            <a:endParaRPr lang="en-US" dirty="0" smtClean="0"/>
          </a:p>
          <a:p>
            <a:pPr>
              <a:buSzTx/>
              <a:buFontTx/>
              <a:buChar char="•"/>
            </a:pPr>
            <a:r>
              <a:rPr lang="en-US" dirty="0" smtClean="0"/>
              <a:t>Standardized </a:t>
            </a:r>
            <a:r>
              <a:rPr lang="en-US" dirty="0"/>
              <a:t>sample </a:t>
            </a:r>
            <a:r>
              <a:rPr lang="en-US" dirty="0" smtClean="0"/>
              <a:t>proportion</a:t>
            </a:r>
          </a:p>
          <a:p>
            <a:pPr>
              <a:buSzTx/>
              <a:buFontTx/>
              <a:buChar char="•"/>
            </a:pPr>
            <a:endParaRPr lang="en-US" dirty="0"/>
          </a:p>
          <a:p>
            <a:pPr>
              <a:buSzTx/>
              <a:buFontTx/>
              <a:buChar char="•"/>
            </a:pPr>
            <a:endParaRPr lang="en-US" dirty="0" smtClean="0"/>
          </a:p>
          <a:p>
            <a:pPr>
              <a:buSzTx/>
              <a:buFontTx/>
              <a:buChar char="•"/>
            </a:pPr>
            <a:endParaRPr lang="en-US" dirty="0"/>
          </a:p>
          <a:p>
            <a:pPr>
              <a:buSzTx/>
              <a:buFontTx/>
              <a:buChar char="•"/>
            </a:pPr>
            <a:endParaRPr lang="en-US" dirty="0" smtClean="0"/>
          </a:p>
          <a:p>
            <a:pPr>
              <a:buSzTx/>
              <a:buFontTx/>
              <a:buChar char="•"/>
            </a:pPr>
            <a:r>
              <a:rPr lang="en-US" dirty="0" smtClean="0"/>
              <a:t>Where         is the sample proportion of success</a:t>
            </a:r>
            <a:endParaRPr lang="en-US" dirty="0"/>
          </a:p>
        </p:txBody>
      </p:sp>
      <p:graphicFrame>
        <p:nvGraphicFramePr>
          <p:cNvPr id="4" name="Object 3"/>
          <p:cNvGraphicFramePr>
            <a:graphicFrameLocks noChangeAspect="1"/>
          </p:cNvGraphicFramePr>
          <p:nvPr>
            <p:extLst>
              <p:ext uri="{D42A27DB-BD31-4B8C-83A1-F6EECF244321}">
                <p14:modId xmlns="" xmlns:p14="http://schemas.microsoft.com/office/powerpoint/2010/main" val="964513931"/>
              </p:ext>
            </p:extLst>
          </p:nvPr>
        </p:nvGraphicFramePr>
        <p:xfrm>
          <a:off x="3810000" y="4419600"/>
          <a:ext cx="1447800" cy="1418844"/>
        </p:xfrm>
        <a:graphic>
          <a:graphicData uri="http://schemas.openxmlformats.org/presentationml/2006/ole">
            <p:oleObj spid="_x0000_s932906" name="Equation" r:id="rId4" imgW="634680" imgH="622080" progId="Equation.3">
              <p:embed/>
            </p:oleObj>
          </a:graphicData>
        </a:graphic>
      </p:graphicFrame>
      <p:graphicFrame>
        <p:nvGraphicFramePr>
          <p:cNvPr id="5" name="Object 4"/>
          <p:cNvGraphicFramePr>
            <a:graphicFrameLocks noChangeAspect="1"/>
          </p:cNvGraphicFramePr>
          <p:nvPr>
            <p:extLst>
              <p:ext uri="{D42A27DB-BD31-4B8C-83A1-F6EECF244321}">
                <p14:modId xmlns="" xmlns:p14="http://schemas.microsoft.com/office/powerpoint/2010/main" val="45256729"/>
              </p:ext>
            </p:extLst>
          </p:nvPr>
        </p:nvGraphicFramePr>
        <p:xfrm>
          <a:off x="1600200" y="6019800"/>
          <a:ext cx="381000" cy="508000"/>
        </p:xfrm>
        <a:graphic>
          <a:graphicData uri="http://schemas.openxmlformats.org/presentationml/2006/ole">
            <p:oleObj spid="_x0000_s932907" name="Equation" r:id="rId5" imgW="152280" imgH="203040" progId="Equation.3">
              <p:embed/>
            </p:oleObj>
          </a:graphicData>
        </a:graphic>
      </p:graphicFrame>
    </p:spTree>
  </p:cSld>
  <p:clrMapOvr>
    <a:masterClrMapping/>
  </p:clrMapOvr>
  <p:transition spd="slow">
    <p:cut/>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idx="4294967295"/>
          </p:nvPr>
        </p:nvSpPr>
        <p:spPr>
          <a:xfrm>
            <a:off x="762000" y="0"/>
            <a:ext cx="8058150" cy="493713"/>
          </a:xfrm>
          <a:prstGeom prst="rect">
            <a:avLst/>
          </a:prstGeom>
        </p:spPr>
        <p:txBody>
          <a:bodyPr/>
          <a:lstStyle/>
          <a:p>
            <a:pPr eaLnBrk="1" hangingPunct="1"/>
            <a:r>
              <a:rPr lang="en-US" sz="3200" b="0" dirty="0" smtClean="0">
                <a:cs typeface="Arial" pitchFamily="34" charset="0"/>
              </a:rPr>
              <a:t>t-Distribution</a:t>
            </a:r>
          </a:p>
        </p:txBody>
      </p:sp>
      <p:sp>
        <p:nvSpPr>
          <p:cNvPr id="19460" name="Rectangle 3"/>
          <p:cNvSpPr>
            <a:spLocks noGrp="1" noChangeArrowheads="1"/>
          </p:cNvSpPr>
          <p:nvPr>
            <p:ph type="body" idx="1"/>
          </p:nvPr>
        </p:nvSpPr>
        <p:spPr>
          <a:xfrm>
            <a:off x="304800" y="685800"/>
            <a:ext cx="8458200" cy="3733800"/>
          </a:xfrm>
        </p:spPr>
        <p:txBody>
          <a:bodyPr/>
          <a:lstStyle/>
          <a:p>
            <a:pPr algn="just" eaLnBrk="1" hangingPunct="1"/>
            <a:r>
              <a:rPr lang="en-US" dirty="0" smtClean="0"/>
              <a:t>So far, we have been assuming that we knew the value of </a:t>
            </a:r>
            <a:r>
              <a:rPr lang="en-US" dirty="0" smtClean="0">
                <a:cs typeface="Times New Roman" pitchFamily="18" charset="0"/>
              </a:rPr>
              <a:t>σ.  This may be true if one has a large amount of experience with a certain process.  If  also the  </a:t>
            </a:r>
            <a:r>
              <a:rPr lang="en-US" b="1" dirty="0" smtClean="0">
                <a:cs typeface="Times New Roman" pitchFamily="18" charset="0"/>
              </a:rPr>
              <a:t>size is too small  </a:t>
            </a:r>
            <a:r>
              <a:rPr lang="en-US" dirty="0" smtClean="0">
                <a:cs typeface="Times New Roman" pitchFamily="18" charset="0"/>
              </a:rPr>
              <a:t>use t- distribution. </a:t>
            </a:r>
            <a:r>
              <a:rPr lang="en-US" dirty="0">
                <a:cs typeface="Times New Roman" pitchFamily="18" charset="0"/>
              </a:rPr>
              <a:t>The t-distribution is a family of distributions that is bell-shaped and symmetric like the Standard Normal Distribution but with greater area in the tails.</a:t>
            </a:r>
            <a:endParaRPr lang="en-US" dirty="0" smtClean="0">
              <a:cs typeface="Times New Roman" pitchFamily="18" charset="0"/>
            </a:endParaRPr>
          </a:p>
          <a:p>
            <a:pPr algn="just" eaLnBrk="1" hangingPunct="1"/>
            <a:r>
              <a:rPr lang="en-US" dirty="0" smtClean="0">
                <a:cs typeface="Times New Roman" pitchFamily="18" charset="0"/>
              </a:rPr>
              <a:t>However, it is often true that one is estimating σ along with μ from the same set of data.</a:t>
            </a:r>
          </a:p>
          <a:p>
            <a:pPr algn="just" eaLnBrk="1" hangingPunct="1"/>
            <a:endParaRPr lang="en-US" dirty="0">
              <a:cs typeface="Times New Roman" pitchFamily="18" charset="0"/>
            </a:endParaRPr>
          </a:p>
          <a:p>
            <a:pPr algn="just" eaLnBrk="1" hangingPunct="1"/>
            <a:endParaRPr lang="en-US" dirty="0" smtClean="0">
              <a:cs typeface="Times New Roman" pitchFamily="18" charset="0"/>
            </a:endParaRPr>
          </a:p>
          <a:p>
            <a:pPr algn="just" eaLnBrk="1" hangingPunct="1"/>
            <a:endParaRPr lang="en-US" dirty="0">
              <a:cs typeface="Times New Roman" pitchFamily="18" charset="0"/>
            </a:endParaRPr>
          </a:p>
          <a:p>
            <a:pPr algn="just" eaLnBrk="1" hangingPunct="1"/>
            <a:endParaRPr lang="en-US" dirty="0" smtClean="0">
              <a:cs typeface="Times New Roman" pitchFamily="18" charset="0"/>
            </a:endParaRPr>
          </a:p>
        </p:txBody>
      </p:sp>
      <p:graphicFrame>
        <p:nvGraphicFramePr>
          <p:cNvPr id="19458" name="Object 4"/>
          <p:cNvGraphicFramePr>
            <a:graphicFrameLocks noChangeAspect="1"/>
          </p:cNvGraphicFramePr>
          <p:nvPr>
            <p:extLst>
              <p:ext uri="{D42A27DB-BD31-4B8C-83A1-F6EECF244321}">
                <p14:modId xmlns="" xmlns:p14="http://schemas.microsoft.com/office/powerpoint/2010/main" val="1333601310"/>
              </p:ext>
            </p:extLst>
          </p:nvPr>
        </p:nvGraphicFramePr>
        <p:xfrm>
          <a:off x="3819525" y="3744913"/>
          <a:ext cx="2948107" cy="898533"/>
        </p:xfrm>
        <a:graphic>
          <a:graphicData uri="http://schemas.openxmlformats.org/presentationml/2006/ole">
            <p:oleObj spid="_x0000_s534702" name="Equation" r:id="rId3" imgW="1701720" imgH="571320" progId="Equation.3">
              <p:embed/>
            </p:oleObj>
          </a:graphicData>
        </a:graphic>
      </p:graphicFrame>
      <p:sp>
        <p:nvSpPr>
          <p:cNvPr id="5" name="Rectangle 3"/>
          <p:cNvSpPr txBox="1">
            <a:spLocks noChangeArrowheads="1"/>
          </p:cNvSpPr>
          <p:nvPr/>
        </p:nvSpPr>
        <p:spPr>
          <a:xfrm>
            <a:off x="609600" y="4572001"/>
            <a:ext cx="8534400" cy="2000272"/>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To allow for such a situation, we will consider the t statistic:</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3" name="Object 5"/>
          <p:cNvGraphicFramePr>
            <a:graphicFrameLocks noChangeAspect="1"/>
          </p:cNvGraphicFramePr>
          <p:nvPr>
            <p:extLst>
              <p:ext uri="{D42A27DB-BD31-4B8C-83A1-F6EECF244321}">
                <p14:modId xmlns="" xmlns:p14="http://schemas.microsoft.com/office/powerpoint/2010/main" val="528866542"/>
              </p:ext>
            </p:extLst>
          </p:nvPr>
        </p:nvGraphicFramePr>
        <p:xfrm>
          <a:off x="1286359" y="5801347"/>
          <a:ext cx="457200" cy="718457"/>
        </p:xfrm>
        <a:graphic>
          <a:graphicData uri="http://schemas.openxmlformats.org/presentationml/2006/ole">
            <p:oleObj spid="_x0000_s534703" name="Equation" r:id="rId4" imgW="266584" imgH="418918" progId="">
              <p:embed/>
            </p:oleObj>
          </a:graphicData>
        </a:graphic>
      </p:graphicFrame>
      <p:sp>
        <p:nvSpPr>
          <p:cNvPr id="8" name="Text Box 6"/>
          <p:cNvSpPr txBox="1">
            <a:spLocks noChangeArrowheads="1"/>
          </p:cNvSpPr>
          <p:nvPr/>
        </p:nvSpPr>
        <p:spPr bwMode="auto">
          <a:xfrm>
            <a:off x="1752600" y="5931976"/>
            <a:ext cx="3771900" cy="457200"/>
          </a:xfrm>
          <a:prstGeom prst="rect">
            <a:avLst/>
          </a:prstGeom>
          <a:noFill/>
          <a:ln w="9525">
            <a:noFill/>
            <a:miter lim="800000"/>
            <a:headEnd/>
            <a:tailEnd/>
          </a:ln>
        </p:spPr>
        <p:txBody>
          <a:bodyPr wrap="none">
            <a:spAutoFit/>
          </a:bodyPr>
          <a:lstStyle/>
          <a:p>
            <a:pPr eaLnBrk="1" hangingPunct="1"/>
            <a:r>
              <a:rPr lang="en-US" sz="2400" dirty="0">
                <a:latin typeface="Times New Roman" pitchFamily="18" charset="0"/>
                <a:sym typeface="Wingdings" pitchFamily="2" charset="2"/>
              </a:rPr>
              <a:t> standard error of the mean</a:t>
            </a:r>
            <a:endParaRPr lang="en-US" sz="2400" dirty="0">
              <a:latin typeface="Times New Roman" pitchFamily="18" charset="0"/>
            </a:endParaRPr>
          </a:p>
        </p:txBody>
      </p:sp>
      <p:sp>
        <p:nvSpPr>
          <p:cNvPr id="10" name="Slide Number Placeholder 9"/>
          <p:cNvSpPr>
            <a:spLocks noGrp="1"/>
          </p:cNvSpPr>
          <p:nvPr>
            <p:ph type="sldNum" sz="quarter" idx="11"/>
          </p:nvPr>
        </p:nvSpPr>
        <p:spPr/>
        <p:txBody>
          <a:bodyPr/>
          <a:lstStyle/>
          <a:p>
            <a:fld id="{BF2D74FB-8EB9-4DEE-8258-980F8375AF4A}" type="slidenum">
              <a:rPr lang="en-IN" smtClean="0"/>
              <a:pPr/>
              <a:t>106</a:t>
            </a:fld>
            <a:endParaRPr lang="en-IN" dirty="0"/>
          </a:p>
        </p:txBody>
      </p:sp>
      <p:sp>
        <p:nvSpPr>
          <p:cNvPr id="11" name="Footer Placeholder 10"/>
          <p:cNvSpPr>
            <a:spLocks noGrp="1"/>
          </p:cNvSpPr>
          <p:nvPr>
            <p:ph type="ftr" sz="quarter" idx="12"/>
          </p:nvPr>
        </p:nvSpPr>
        <p:spPr/>
        <p:txBody>
          <a:bodyPr/>
          <a:lstStyle/>
          <a:p>
            <a:r>
              <a:rPr lang="en-IN" smtClean="0"/>
              <a:t>Ph.D Course Work on Research Methodology</a:t>
            </a:r>
            <a:endParaRPr lang="en-IN" dirty="0"/>
          </a:p>
        </p:txBody>
      </p:sp>
      <p:graphicFrame>
        <p:nvGraphicFramePr>
          <p:cNvPr id="534533" name="Object 5"/>
          <p:cNvGraphicFramePr>
            <a:graphicFrameLocks noChangeAspect="1"/>
          </p:cNvGraphicFramePr>
          <p:nvPr>
            <p:extLst>
              <p:ext uri="{D42A27DB-BD31-4B8C-83A1-F6EECF244321}">
                <p14:modId xmlns="" xmlns:p14="http://schemas.microsoft.com/office/powerpoint/2010/main" val="4137661873"/>
              </p:ext>
            </p:extLst>
          </p:nvPr>
        </p:nvGraphicFramePr>
        <p:xfrm>
          <a:off x="3786182" y="5000636"/>
          <a:ext cx="1590680" cy="954156"/>
        </p:xfrm>
        <a:graphic>
          <a:graphicData uri="http://schemas.openxmlformats.org/presentationml/2006/ole">
            <p:oleObj spid="_x0000_s534704" name="Equation" r:id="rId5" imgW="901440" imgH="545760" progId="Equation.3">
              <p:embed/>
            </p:oleObj>
          </a:graphicData>
        </a:graphic>
      </p:graphicFrame>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107</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TextBox 5"/>
          <p:cNvSpPr txBox="1"/>
          <p:nvPr/>
        </p:nvSpPr>
        <p:spPr>
          <a:xfrm>
            <a:off x="2133600" y="0"/>
            <a:ext cx="5334000" cy="584775"/>
          </a:xfrm>
          <a:prstGeom prst="rect">
            <a:avLst/>
          </a:prstGeom>
          <a:noFill/>
        </p:spPr>
        <p:txBody>
          <a:bodyPr wrap="square" rtlCol="0">
            <a:spAutoFit/>
          </a:bodyPr>
          <a:lstStyle/>
          <a:p>
            <a:pPr algn="ctr"/>
            <a:r>
              <a:rPr lang="en-US" sz="3200" dirty="0" smtClean="0">
                <a:latin typeface="+mj-lt"/>
              </a:rPr>
              <a:t>F distribution</a:t>
            </a:r>
            <a:endParaRPr lang="en-US" sz="3200" dirty="0">
              <a:latin typeface="+mj-lt"/>
            </a:endParaRPr>
          </a:p>
        </p:txBody>
      </p:sp>
      <p:graphicFrame>
        <p:nvGraphicFramePr>
          <p:cNvPr id="7" name="Object 6"/>
          <p:cNvGraphicFramePr>
            <a:graphicFrameLocks noChangeAspect="1"/>
          </p:cNvGraphicFramePr>
          <p:nvPr>
            <p:extLst>
              <p:ext uri="{D42A27DB-BD31-4B8C-83A1-F6EECF244321}">
                <p14:modId xmlns="" xmlns:p14="http://schemas.microsoft.com/office/powerpoint/2010/main" val="522855785"/>
              </p:ext>
            </p:extLst>
          </p:nvPr>
        </p:nvGraphicFramePr>
        <p:xfrm>
          <a:off x="304800" y="914400"/>
          <a:ext cx="994610" cy="609600"/>
        </p:xfrm>
        <a:graphic>
          <a:graphicData uri="http://schemas.openxmlformats.org/presentationml/2006/ole">
            <p:oleObj spid="_x0000_s933962" name="Equation" r:id="rId3" imgW="393480" imgH="241200" progId="Equation.3">
              <p:embed/>
            </p:oleObj>
          </a:graphicData>
        </a:graphic>
      </p:graphicFrame>
      <p:graphicFrame>
        <p:nvGraphicFramePr>
          <p:cNvPr id="8" name="Object 7"/>
          <p:cNvGraphicFramePr>
            <a:graphicFrameLocks noChangeAspect="1"/>
          </p:cNvGraphicFramePr>
          <p:nvPr>
            <p:extLst>
              <p:ext uri="{D42A27DB-BD31-4B8C-83A1-F6EECF244321}">
                <p14:modId xmlns="" xmlns:p14="http://schemas.microsoft.com/office/powerpoint/2010/main" val="1702170357"/>
              </p:ext>
            </p:extLst>
          </p:nvPr>
        </p:nvGraphicFramePr>
        <p:xfrm>
          <a:off x="1905000" y="992832"/>
          <a:ext cx="1027113" cy="609600"/>
        </p:xfrm>
        <a:graphic>
          <a:graphicData uri="http://schemas.openxmlformats.org/presentationml/2006/ole">
            <p:oleObj spid="_x0000_s933963" name="Equation" r:id="rId4" imgW="406080" imgH="241200" progId="Equation.3">
              <p:embed/>
            </p:oleObj>
          </a:graphicData>
        </a:graphic>
      </p:graphicFrame>
      <p:sp>
        <p:nvSpPr>
          <p:cNvPr id="9" name="TextBox 8"/>
          <p:cNvSpPr txBox="1"/>
          <p:nvPr/>
        </p:nvSpPr>
        <p:spPr>
          <a:xfrm>
            <a:off x="1219200" y="1066800"/>
            <a:ext cx="762000" cy="461665"/>
          </a:xfrm>
          <a:prstGeom prst="rect">
            <a:avLst/>
          </a:prstGeom>
          <a:noFill/>
        </p:spPr>
        <p:txBody>
          <a:bodyPr wrap="square" rtlCol="0">
            <a:spAutoFit/>
          </a:bodyPr>
          <a:lstStyle/>
          <a:p>
            <a:r>
              <a:rPr lang="en-US" sz="2400" dirty="0" smtClean="0">
                <a:latin typeface="+mj-lt"/>
              </a:rPr>
              <a:t>and </a:t>
            </a:r>
            <a:endParaRPr lang="en-US" sz="2400" dirty="0">
              <a:latin typeface="+mj-lt"/>
            </a:endParaRPr>
          </a:p>
        </p:txBody>
      </p:sp>
      <p:sp>
        <p:nvSpPr>
          <p:cNvPr id="10" name="TextBox 9"/>
          <p:cNvSpPr txBox="1"/>
          <p:nvPr/>
        </p:nvSpPr>
        <p:spPr>
          <a:xfrm>
            <a:off x="3276600" y="584775"/>
            <a:ext cx="5105400" cy="1569660"/>
          </a:xfrm>
          <a:prstGeom prst="rect">
            <a:avLst/>
          </a:prstGeom>
          <a:noFill/>
        </p:spPr>
        <p:txBody>
          <a:bodyPr wrap="square" rtlCol="0">
            <a:spAutoFit/>
          </a:bodyPr>
          <a:lstStyle/>
          <a:p>
            <a:r>
              <a:rPr lang="en-US" sz="2400" dirty="0" smtClean="0">
                <a:latin typeface="+mj-lt"/>
              </a:rPr>
              <a:t>are the variances of two independent samples of size </a:t>
            </a:r>
            <a:r>
              <a:rPr lang="en-US" sz="2400" i="1" dirty="0" smtClean="0">
                <a:latin typeface="+mj-lt"/>
              </a:rPr>
              <a:t>n</a:t>
            </a:r>
            <a:r>
              <a:rPr lang="en-US" sz="2400" baseline="-25000" dirty="0" smtClean="0">
                <a:latin typeface="+mj-lt"/>
              </a:rPr>
              <a:t>1</a:t>
            </a:r>
            <a:r>
              <a:rPr lang="en-US" sz="2400" dirty="0" smtClean="0">
                <a:latin typeface="+mj-lt"/>
              </a:rPr>
              <a:t> and </a:t>
            </a:r>
            <a:r>
              <a:rPr lang="en-US" sz="2400" i="1" dirty="0" smtClean="0">
                <a:latin typeface="+mj-lt"/>
              </a:rPr>
              <a:t>n</a:t>
            </a:r>
            <a:r>
              <a:rPr lang="en-US" sz="2400" baseline="-25000" dirty="0" smtClean="0">
                <a:latin typeface="+mj-lt"/>
              </a:rPr>
              <a:t>2 </a:t>
            </a:r>
            <a:r>
              <a:rPr lang="en-US" sz="2400" dirty="0" smtClean="0">
                <a:latin typeface="+mj-lt"/>
              </a:rPr>
              <a:t>taken from two independent normal populations </a:t>
            </a:r>
            <a:r>
              <a:rPr lang="en-US" sz="2400" dirty="0" smtClean="0">
                <a:solidFill>
                  <a:srgbClr val="FF0000"/>
                </a:solidFill>
                <a:latin typeface="+mj-lt"/>
              </a:rPr>
              <a:t>having same variance,  </a:t>
            </a:r>
            <a:r>
              <a:rPr lang="en-US" sz="2400" dirty="0" smtClean="0">
                <a:latin typeface="+mj-lt"/>
              </a:rPr>
              <a:t>that is </a:t>
            </a:r>
            <a:endParaRPr lang="en-US" sz="2400" dirty="0">
              <a:latin typeface="+mj-lt"/>
            </a:endParaRPr>
          </a:p>
        </p:txBody>
      </p:sp>
      <p:graphicFrame>
        <p:nvGraphicFramePr>
          <p:cNvPr id="12" name="Object 11"/>
          <p:cNvGraphicFramePr>
            <a:graphicFrameLocks noChangeAspect="1"/>
          </p:cNvGraphicFramePr>
          <p:nvPr>
            <p:extLst>
              <p:ext uri="{D42A27DB-BD31-4B8C-83A1-F6EECF244321}">
                <p14:modId xmlns="" xmlns:p14="http://schemas.microsoft.com/office/powerpoint/2010/main" val="961487894"/>
              </p:ext>
            </p:extLst>
          </p:nvPr>
        </p:nvGraphicFramePr>
        <p:xfrm>
          <a:off x="3849688" y="2060575"/>
          <a:ext cx="2439987" cy="641350"/>
        </p:xfrm>
        <a:graphic>
          <a:graphicData uri="http://schemas.openxmlformats.org/presentationml/2006/ole">
            <p:oleObj spid="_x0000_s933964" name="Equation" r:id="rId5" imgW="965160" imgH="253800" progId="Equation.3">
              <p:embed/>
            </p:oleObj>
          </a:graphicData>
        </a:graphic>
      </p:graphicFrame>
      <p:sp>
        <p:nvSpPr>
          <p:cNvPr id="15" name="TextBox 14"/>
          <p:cNvSpPr txBox="1"/>
          <p:nvPr/>
        </p:nvSpPr>
        <p:spPr>
          <a:xfrm>
            <a:off x="6781800" y="2154435"/>
            <a:ext cx="1828800" cy="461665"/>
          </a:xfrm>
          <a:prstGeom prst="rect">
            <a:avLst/>
          </a:prstGeom>
          <a:noFill/>
        </p:spPr>
        <p:txBody>
          <a:bodyPr wrap="square" rtlCol="0">
            <a:spAutoFit/>
          </a:bodyPr>
          <a:lstStyle/>
          <a:p>
            <a:r>
              <a:rPr lang="en-US" sz="2400" dirty="0" smtClean="0">
                <a:latin typeface="+mj-lt"/>
              </a:rPr>
              <a:t>then</a:t>
            </a:r>
            <a:endParaRPr lang="en-US" sz="2400" dirty="0">
              <a:latin typeface="+mj-lt"/>
            </a:endParaRPr>
          </a:p>
        </p:txBody>
      </p:sp>
      <p:graphicFrame>
        <p:nvGraphicFramePr>
          <p:cNvPr id="16" name="Object 15"/>
          <p:cNvGraphicFramePr>
            <a:graphicFrameLocks noChangeAspect="1"/>
          </p:cNvGraphicFramePr>
          <p:nvPr>
            <p:extLst>
              <p:ext uri="{D42A27DB-BD31-4B8C-83A1-F6EECF244321}">
                <p14:modId xmlns="" xmlns:p14="http://schemas.microsoft.com/office/powerpoint/2010/main" val="1412630707"/>
              </p:ext>
            </p:extLst>
          </p:nvPr>
        </p:nvGraphicFramePr>
        <p:xfrm>
          <a:off x="3263684" y="2895600"/>
          <a:ext cx="1809751" cy="1143000"/>
        </p:xfrm>
        <a:graphic>
          <a:graphicData uri="http://schemas.openxmlformats.org/presentationml/2006/ole">
            <p:oleObj spid="_x0000_s933965" name="Equation" r:id="rId6" imgW="723600" imgH="457200" progId="Equation.3">
              <p:embed/>
            </p:oleObj>
          </a:graphicData>
        </a:graphic>
      </p:graphicFrame>
      <p:sp>
        <p:nvSpPr>
          <p:cNvPr id="17" name="TextBox 16"/>
          <p:cNvSpPr txBox="1"/>
          <p:nvPr/>
        </p:nvSpPr>
        <p:spPr>
          <a:xfrm>
            <a:off x="457200" y="4038600"/>
            <a:ext cx="8153400" cy="830997"/>
          </a:xfrm>
          <a:prstGeom prst="rect">
            <a:avLst/>
          </a:prstGeom>
          <a:noFill/>
        </p:spPr>
        <p:txBody>
          <a:bodyPr wrap="square" rtlCol="0">
            <a:spAutoFit/>
          </a:bodyPr>
          <a:lstStyle/>
          <a:p>
            <a:r>
              <a:rPr lang="en-US" sz="2400" dirty="0" smtClean="0">
                <a:latin typeface="+mj-lt"/>
              </a:rPr>
              <a:t>F distribution  is computed in a way that the larger variance is always in the numerator and can be obtained from F table.</a:t>
            </a:r>
            <a:endParaRPr lang="en-US" sz="2400" dirty="0">
              <a:latin typeface="+mj-lt"/>
            </a:endParaRPr>
          </a:p>
        </p:txBody>
      </p:sp>
    </p:spTree>
    <p:extLst>
      <p:ext uri="{BB962C8B-B14F-4D97-AF65-F5344CB8AC3E}">
        <p14:creationId xmlns="" xmlns:p14="http://schemas.microsoft.com/office/powerpoint/2010/main" val="224430689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108</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
        <p:nvSpPr>
          <p:cNvPr id="7" name="TextBox 6"/>
          <p:cNvSpPr txBox="1"/>
          <p:nvPr/>
        </p:nvSpPr>
        <p:spPr>
          <a:xfrm>
            <a:off x="1447800" y="0"/>
            <a:ext cx="6934200" cy="584775"/>
          </a:xfrm>
          <a:prstGeom prst="rect">
            <a:avLst/>
          </a:prstGeom>
          <a:noFill/>
        </p:spPr>
        <p:txBody>
          <a:bodyPr wrap="square" rtlCol="0">
            <a:spAutoFit/>
          </a:bodyPr>
          <a:lstStyle/>
          <a:p>
            <a:pPr algn="ctr"/>
            <a:r>
              <a:rPr lang="en-US" sz="3200" dirty="0" smtClean="0">
                <a:latin typeface="+mj-lt"/>
              </a:rPr>
              <a:t>Chi-square distribution</a:t>
            </a:r>
            <a:endParaRPr lang="en-US" sz="3200" dirty="0">
              <a:latin typeface="+mj-lt"/>
            </a:endParaRPr>
          </a:p>
        </p:txBody>
      </p:sp>
      <p:sp>
        <p:nvSpPr>
          <p:cNvPr id="8" name="TextBox 7"/>
          <p:cNvSpPr txBox="1"/>
          <p:nvPr/>
        </p:nvSpPr>
        <p:spPr>
          <a:xfrm>
            <a:off x="381000" y="990600"/>
            <a:ext cx="8382000" cy="2308324"/>
          </a:xfrm>
          <a:prstGeom prst="rect">
            <a:avLst/>
          </a:prstGeom>
          <a:noFill/>
        </p:spPr>
        <p:txBody>
          <a:bodyPr wrap="square" rtlCol="0">
            <a:spAutoFit/>
          </a:bodyPr>
          <a:lstStyle/>
          <a:p>
            <a:r>
              <a:rPr lang="en-US" sz="2400" dirty="0" smtClean="0">
                <a:latin typeface="+mj-lt"/>
              </a:rPr>
              <a:t>A random variable </a:t>
            </a:r>
            <a:r>
              <a:rPr lang="en-US" sz="2400" i="1" dirty="0" smtClean="0">
                <a:latin typeface="+mj-lt"/>
              </a:rPr>
              <a:t>x</a:t>
            </a:r>
            <a:r>
              <a:rPr lang="en-US" sz="2400" dirty="0" smtClean="0">
                <a:latin typeface="+mj-lt"/>
              </a:rPr>
              <a:t> is normally distributed having mean </a:t>
            </a:r>
            <a:r>
              <a:rPr lang="el-GR" sz="2400" dirty="0" smtClean="0">
                <a:latin typeface="+mj-lt"/>
              </a:rPr>
              <a:t>μ</a:t>
            </a:r>
            <a:r>
              <a:rPr lang="en-US" sz="2400" dirty="0" smtClean="0">
                <a:latin typeface="+mj-lt"/>
              </a:rPr>
              <a:t> with variance </a:t>
            </a:r>
            <a:r>
              <a:rPr lang="el-GR" sz="2400" dirty="0" smtClean="0">
                <a:latin typeface="+mj-lt"/>
              </a:rPr>
              <a:t>σ</a:t>
            </a:r>
            <a:r>
              <a:rPr lang="en-US" sz="2400" baseline="30000" dirty="0" smtClean="0">
                <a:latin typeface="+mj-lt"/>
              </a:rPr>
              <a:t>2</a:t>
            </a:r>
            <a:r>
              <a:rPr lang="en-US" sz="2400" dirty="0" smtClean="0">
                <a:latin typeface="+mj-lt"/>
              </a:rPr>
              <a:t>  and s</a:t>
            </a:r>
            <a:r>
              <a:rPr lang="en-US" sz="2400" baseline="30000" dirty="0" smtClean="0">
                <a:latin typeface="+mj-lt"/>
              </a:rPr>
              <a:t>2</a:t>
            </a:r>
            <a:r>
              <a:rPr lang="en-US" sz="2400" dirty="0" smtClean="0">
                <a:latin typeface="+mj-lt"/>
              </a:rPr>
              <a:t>  is the sample variance then a random variable </a:t>
            </a:r>
          </a:p>
          <a:p>
            <a:endParaRPr lang="en-US" sz="2400" dirty="0" smtClean="0">
              <a:latin typeface="+mj-lt"/>
            </a:endParaRPr>
          </a:p>
          <a:p>
            <a:endParaRPr lang="en-US" sz="2400" dirty="0" smtClean="0">
              <a:latin typeface="+mj-lt"/>
            </a:endParaRPr>
          </a:p>
          <a:p>
            <a:endParaRPr lang="en-US" sz="2400" dirty="0" smtClean="0">
              <a:latin typeface="+mj-lt"/>
            </a:endParaRPr>
          </a:p>
          <a:p>
            <a:r>
              <a:rPr lang="en-US" sz="2400" dirty="0" smtClean="0">
                <a:latin typeface="+mj-lt"/>
              </a:rPr>
              <a:t>said to follow Chi-square distribution</a:t>
            </a:r>
            <a:endParaRPr lang="en-US" sz="2400" dirty="0">
              <a:latin typeface="+mj-lt"/>
            </a:endParaRPr>
          </a:p>
        </p:txBody>
      </p:sp>
      <p:sp>
        <p:nvSpPr>
          <p:cNvPr id="10" name="TextBox 9"/>
          <p:cNvSpPr txBox="1"/>
          <p:nvPr/>
        </p:nvSpPr>
        <p:spPr>
          <a:xfrm>
            <a:off x="714348" y="4214818"/>
            <a:ext cx="4252914" cy="1569660"/>
          </a:xfrm>
          <a:prstGeom prst="rect">
            <a:avLst/>
          </a:prstGeom>
          <a:noFill/>
        </p:spPr>
        <p:txBody>
          <a:bodyPr wrap="square" rtlCol="0">
            <a:spAutoFit/>
          </a:bodyPr>
          <a:lstStyle/>
          <a:p>
            <a:r>
              <a:rPr lang="en-US" sz="2400" i="1" dirty="0" smtClean="0">
                <a:latin typeface="+mn-lt"/>
              </a:rPr>
              <a:t>n</a:t>
            </a:r>
            <a:r>
              <a:rPr lang="en-US" sz="2400" dirty="0" smtClean="0">
                <a:latin typeface="+mn-lt"/>
              </a:rPr>
              <a:t> is a positive number called degree of freedom</a:t>
            </a:r>
          </a:p>
          <a:p>
            <a:r>
              <a:rPr lang="en-US" sz="2400" dirty="0" smtClean="0">
                <a:latin typeface="+mn-lt"/>
              </a:rPr>
              <a:t>The distribution curve is not symmetric and has +</a:t>
            </a:r>
            <a:r>
              <a:rPr lang="en-US" sz="2400" dirty="0" err="1" smtClean="0">
                <a:latin typeface="+mn-lt"/>
              </a:rPr>
              <a:t>ve</a:t>
            </a:r>
            <a:r>
              <a:rPr lang="en-US" sz="2400" dirty="0" smtClean="0">
                <a:latin typeface="+mn-lt"/>
              </a:rPr>
              <a:t> skew </a:t>
            </a:r>
            <a:endParaRPr lang="en-US" sz="2400" dirty="0">
              <a:latin typeface="+mn-lt"/>
            </a:endParaRPr>
          </a:p>
        </p:txBody>
      </p:sp>
      <p:pic>
        <p:nvPicPr>
          <p:cNvPr id="725162" name="Picture 170"/>
          <p:cNvPicPr>
            <a:picLocks noChangeAspect="1" noChangeArrowheads="1"/>
          </p:cNvPicPr>
          <p:nvPr/>
        </p:nvPicPr>
        <p:blipFill>
          <a:blip r:embed="rId3"/>
          <a:srcRect/>
          <a:stretch>
            <a:fillRect/>
          </a:stretch>
        </p:blipFill>
        <p:spPr bwMode="auto">
          <a:xfrm>
            <a:off x="4786314" y="3714752"/>
            <a:ext cx="3813825" cy="2714644"/>
          </a:xfrm>
          <a:prstGeom prst="rect">
            <a:avLst/>
          </a:prstGeom>
          <a:noFill/>
          <a:ln w="9525">
            <a:noFill/>
            <a:miter lim="800000"/>
            <a:headEnd/>
            <a:tailEnd/>
          </a:ln>
          <a:effectLst/>
        </p:spPr>
      </p:pic>
      <p:graphicFrame>
        <p:nvGraphicFramePr>
          <p:cNvPr id="12" name="Object 11"/>
          <p:cNvGraphicFramePr>
            <a:graphicFrameLocks noChangeAspect="1"/>
          </p:cNvGraphicFramePr>
          <p:nvPr/>
        </p:nvGraphicFramePr>
        <p:xfrm>
          <a:off x="3643306" y="1928802"/>
          <a:ext cx="1787736" cy="785818"/>
        </p:xfrm>
        <a:graphic>
          <a:graphicData uri="http://schemas.openxmlformats.org/presentationml/2006/ole">
            <p:oleObj spid="_x0000_s725161" name="Equation" r:id="rId4" imgW="1155600" imgH="507960" progId="Equation.3">
              <p:embed/>
            </p:oleObj>
          </a:graphicData>
        </a:graphic>
      </p:graphicFrame>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Prof. A. K. Datta     University of Calcutta</a:t>
            </a:r>
            <a:endParaRPr lang="en-IN" dirty="0"/>
          </a:p>
        </p:txBody>
      </p:sp>
      <p:sp>
        <p:nvSpPr>
          <p:cNvPr id="5" name="Slide Number Placeholder 4"/>
          <p:cNvSpPr>
            <a:spLocks noGrp="1"/>
          </p:cNvSpPr>
          <p:nvPr>
            <p:ph type="sldNum" sz="quarter" idx="11"/>
          </p:nvPr>
        </p:nvSpPr>
        <p:spPr/>
        <p:txBody>
          <a:bodyPr/>
          <a:lstStyle/>
          <a:p>
            <a:fld id="{BF2D74FB-8EB9-4DEE-8258-980F8375AF4A}" type="slidenum">
              <a:rPr lang="en-IN" smtClean="0"/>
              <a:pPr/>
              <a:t>109</a:t>
            </a:fld>
            <a:endParaRPr lang="en-IN" dirty="0"/>
          </a:p>
        </p:txBody>
      </p:sp>
      <p:sp>
        <p:nvSpPr>
          <p:cNvPr id="6" name="Footer Placeholder 5"/>
          <p:cNvSpPr>
            <a:spLocks noGrp="1"/>
          </p:cNvSpPr>
          <p:nvPr>
            <p:ph type="ftr" sz="quarter" idx="12"/>
          </p:nvPr>
        </p:nvSpPr>
        <p:spPr/>
        <p:txBody>
          <a:bodyPr/>
          <a:lstStyle/>
          <a:p>
            <a:r>
              <a:rPr lang="en-IN" smtClean="0"/>
              <a:t>Ph.D Course Work on Research Methodology</a:t>
            </a:r>
            <a:endParaRPr lang="en-IN" dirty="0"/>
          </a:p>
        </p:txBody>
      </p:sp>
      <p:sp>
        <p:nvSpPr>
          <p:cNvPr id="7" name="TextBox 6"/>
          <p:cNvSpPr txBox="1"/>
          <p:nvPr/>
        </p:nvSpPr>
        <p:spPr>
          <a:xfrm>
            <a:off x="1447800" y="0"/>
            <a:ext cx="6934200" cy="584775"/>
          </a:xfrm>
          <a:prstGeom prst="rect">
            <a:avLst/>
          </a:prstGeom>
          <a:noFill/>
        </p:spPr>
        <p:txBody>
          <a:bodyPr wrap="square" rtlCol="0">
            <a:spAutoFit/>
          </a:bodyPr>
          <a:lstStyle/>
          <a:p>
            <a:pPr algn="ctr"/>
            <a:r>
              <a:rPr lang="en-US" sz="3200" dirty="0" smtClean="0">
                <a:latin typeface="+mj-lt"/>
              </a:rPr>
              <a:t>Chi-square distribution (</a:t>
            </a:r>
            <a:r>
              <a:rPr lang="en-US" sz="3200" dirty="0" smtClean="0">
                <a:latin typeface="+mj-lt"/>
              </a:rPr>
              <a:t>non-parametric</a:t>
            </a:r>
            <a:r>
              <a:rPr lang="en-US" sz="3200" dirty="0" smtClean="0">
                <a:latin typeface="+mj-lt"/>
              </a:rPr>
              <a:t>)</a:t>
            </a:r>
            <a:endParaRPr lang="en-US" sz="3200" dirty="0">
              <a:latin typeface="+mj-lt"/>
            </a:endParaRPr>
          </a:p>
        </p:txBody>
      </p:sp>
      <p:sp>
        <p:nvSpPr>
          <p:cNvPr id="12" name="TextBox 11"/>
          <p:cNvSpPr txBox="1"/>
          <p:nvPr/>
        </p:nvSpPr>
        <p:spPr>
          <a:xfrm>
            <a:off x="500034" y="785794"/>
            <a:ext cx="7924800" cy="830997"/>
          </a:xfrm>
          <a:prstGeom prst="rect">
            <a:avLst/>
          </a:prstGeom>
          <a:noFill/>
        </p:spPr>
        <p:txBody>
          <a:bodyPr wrap="square" rtlCol="0">
            <a:spAutoFit/>
          </a:bodyPr>
          <a:lstStyle/>
          <a:p>
            <a:r>
              <a:rPr lang="en-GB" sz="2400" dirty="0" smtClean="0">
                <a:latin typeface="+mj-lt"/>
              </a:rPr>
              <a:t>Chi-square distribution is used when we deal with collection of values which require adding up of squares</a:t>
            </a:r>
            <a:endParaRPr lang="en-GB" sz="2400" dirty="0">
              <a:latin typeface="+mj-lt"/>
            </a:endParaRPr>
          </a:p>
        </p:txBody>
      </p:sp>
      <p:graphicFrame>
        <p:nvGraphicFramePr>
          <p:cNvPr id="13" name="Object 12"/>
          <p:cNvGraphicFramePr>
            <a:graphicFrameLocks noChangeAspect="1"/>
          </p:cNvGraphicFramePr>
          <p:nvPr/>
        </p:nvGraphicFramePr>
        <p:xfrm>
          <a:off x="3286116" y="1785926"/>
          <a:ext cx="2438401" cy="954157"/>
        </p:xfrm>
        <a:graphic>
          <a:graphicData uri="http://schemas.openxmlformats.org/presentationml/2006/ole">
            <p:oleObj spid="_x0000_s1069060" name="Equation" r:id="rId3" imgW="1168400" imgH="457200" progId="Equation.3">
              <p:embed/>
            </p:oleObj>
          </a:graphicData>
        </a:graphic>
      </p:graphicFrame>
      <p:sp>
        <p:nvSpPr>
          <p:cNvPr id="8" name="Rectangle 2"/>
          <p:cNvSpPr>
            <a:spLocks noGrp="1" noChangeArrowheads="1"/>
          </p:cNvSpPr>
          <p:nvPr>
            <p:ph type="body" idx="1"/>
          </p:nvPr>
        </p:nvSpPr>
        <p:spPr>
          <a:xfrm>
            <a:off x="571472" y="2786058"/>
            <a:ext cx="7772400" cy="3171828"/>
          </a:xfrm>
          <a:noFill/>
        </p:spPr>
        <p:txBody>
          <a:bodyPr lIns="92075" tIns="46038" rIns="92075" bIns="46038"/>
          <a:lstStyle/>
          <a:p>
            <a:pPr marL="341313" indent="-341313" eaLnBrk="1" hangingPunct="1">
              <a:buFontTx/>
              <a:buNone/>
            </a:pPr>
            <a:endParaRPr lang="en-US" sz="1800" dirty="0" smtClean="0"/>
          </a:p>
          <a:p>
            <a:pPr marL="341313" indent="-341313" eaLnBrk="1" hangingPunct="1">
              <a:buFontTx/>
              <a:buNone/>
            </a:pPr>
            <a:r>
              <a:rPr lang="en-US" sz="1800" dirty="0" smtClean="0"/>
              <a:t>1.	</a:t>
            </a:r>
            <a:r>
              <a:rPr lang="en-US" dirty="0" smtClean="0"/>
              <a:t>Suppose there are </a:t>
            </a:r>
            <a:r>
              <a:rPr lang="en-US" i="1" dirty="0" smtClean="0"/>
              <a:t>n</a:t>
            </a:r>
            <a:r>
              <a:rPr lang="en-US" dirty="0" smtClean="0"/>
              <a:t> observations.</a:t>
            </a:r>
          </a:p>
          <a:p>
            <a:pPr marL="341313" indent="-341313" eaLnBrk="1" hangingPunct="1">
              <a:buFontTx/>
              <a:buNone/>
            </a:pPr>
            <a:r>
              <a:rPr lang="en-US" dirty="0" smtClean="0"/>
              <a:t>2.	Each observation falls into a </a:t>
            </a:r>
            <a:r>
              <a:rPr lang="en-US" i="1" dirty="0" smtClean="0">
                <a:solidFill>
                  <a:schemeClr val="tx2"/>
                </a:solidFill>
              </a:rPr>
              <a:t>cell</a:t>
            </a:r>
            <a:r>
              <a:rPr lang="en-US" dirty="0" smtClean="0"/>
              <a:t> (or class).</a:t>
            </a:r>
          </a:p>
          <a:p>
            <a:pPr marL="341313" indent="-341313" eaLnBrk="1" hangingPunct="1">
              <a:buFontTx/>
              <a:buNone/>
            </a:pPr>
            <a:r>
              <a:rPr lang="en-US" dirty="0" smtClean="0"/>
              <a:t>3.	</a:t>
            </a:r>
            <a:r>
              <a:rPr lang="en-US" i="1" dirty="0" smtClean="0">
                <a:solidFill>
                  <a:schemeClr val="tx2"/>
                </a:solidFill>
              </a:rPr>
              <a:t>Observed frequencies</a:t>
            </a:r>
            <a:r>
              <a:rPr lang="en-US" dirty="0" smtClean="0"/>
              <a:t> in each cell: </a:t>
            </a:r>
            <a:r>
              <a:rPr lang="en-US" i="1" dirty="0" smtClean="0"/>
              <a:t>O</a:t>
            </a:r>
            <a:r>
              <a:rPr lang="en-US" baseline="-25000" dirty="0" smtClean="0"/>
              <a:t>1</a:t>
            </a:r>
            <a:r>
              <a:rPr lang="en-US" dirty="0" smtClean="0"/>
              <a:t>, </a:t>
            </a:r>
            <a:r>
              <a:rPr lang="en-US" i="1" dirty="0" smtClean="0"/>
              <a:t>O</a:t>
            </a:r>
            <a:r>
              <a:rPr lang="en-US" baseline="-25000" dirty="0" smtClean="0"/>
              <a:t>2</a:t>
            </a:r>
            <a:r>
              <a:rPr lang="en-US" dirty="0" smtClean="0"/>
              <a:t>, </a:t>
            </a:r>
            <a:r>
              <a:rPr lang="en-US" i="1" dirty="0" smtClean="0"/>
              <a:t>O</a:t>
            </a:r>
            <a:r>
              <a:rPr lang="en-US" baseline="-25000" dirty="0" smtClean="0"/>
              <a:t>3</a:t>
            </a:r>
            <a:r>
              <a:rPr lang="en-US" dirty="0" smtClean="0"/>
              <a:t>, … , </a:t>
            </a:r>
            <a:r>
              <a:rPr lang="en-US" i="1" dirty="0" smtClean="0"/>
              <a:t>O</a:t>
            </a:r>
            <a:r>
              <a:rPr lang="en-US" i="1" baseline="-25000" dirty="0" smtClean="0"/>
              <a:t>k</a:t>
            </a:r>
            <a:r>
              <a:rPr lang="en-US" dirty="0" smtClean="0"/>
              <a:t>.</a:t>
            </a:r>
          </a:p>
          <a:p>
            <a:pPr marL="341313" indent="-341313" eaLnBrk="1" hangingPunct="1">
              <a:buFontTx/>
              <a:buNone/>
            </a:pPr>
            <a:r>
              <a:rPr lang="en-US" dirty="0" smtClean="0"/>
              <a:t>	Sum of the observed frequencies is </a:t>
            </a:r>
            <a:r>
              <a:rPr lang="en-US" i="1" dirty="0" smtClean="0"/>
              <a:t>n</a:t>
            </a:r>
            <a:r>
              <a:rPr lang="en-US" dirty="0" smtClean="0"/>
              <a:t>.</a:t>
            </a:r>
          </a:p>
          <a:p>
            <a:pPr marL="341313" indent="-341313" eaLnBrk="1" hangingPunct="1">
              <a:buFontTx/>
              <a:buNone/>
            </a:pPr>
            <a:endParaRPr lang="en-US" dirty="0" smtClean="0"/>
          </a:p>
          <a:p>
            <a:pPr marL="341313" indent="-341313" eaLnBrk="1" hangingPunct="1">
              <a:buFontTx/>
              <a:buNone/>
            </a:pPr>
            <a:r>
              <a:rPr lang="en-US" dirty="0" smtClean="0"/>
              <a:t>4.	</a:t>
            </a:r>
            <a:r>
              <a:rPr lang="en-US" i="1" dirty="0" smtClean="0">
                <a:solidFill>
                  <a:schemeClr val="tx2"/>
                </a:solidFill>
              </a:rPr>
              <a:t>Expected</a:t>
            </a:r>
            <a:r>
              <a:rPr lang="en-US" dirty="0" smtClean="0"/>
              <a:t>, or </a:t>
            </a:r>
            <a:r>
              <a:rPr lang="en-US" i="1" dirty="0" smtClean="0">
                <a:solidFill>
                  <a:schemeClr val="tx2"/>
                </a:solidFill>
              </a:rPr>
              <a:t>theoretical</a:t>
            </a:r>
            <a:r>
              <a:rPr lang="en-US" dirty="0" smtClean="0"/>
              <a:t>, </a:t>
            </a:r>
            <a:r>
              <a:rPr lang="en-US" i="1" dirty="0" smtClean="0">
                <a:solidFill>
                  <a:schemeClr val="tx2"/>
                </a:solidFill>
              </a:rPr>
              <a:t>frequencies</a:t>
            </a:r>
            <a:r>
              <a:rPr lang="en-US" dirty="0" smtClean="0"/>
              <a:t>: </a:t>
            </a:r>
            <a:r>
              <a:rPr lang="en-US" i="1" dirty="0" smtClean="0"/>
              <a:t>E</a:t>
            </a:r>
            <a:r>
              <a:rPr lang="en-US" baseline="-25000" dirty="0" smtClean="0"/>
              <a:t>1</a:t>
            </a:r>
            <a:r>
              <a:rPr lang="en-US" dirty="0" smtClean="0"/>
              <a:t>, </a:t>
            </a:r>
            <a:r>
              <a:rPr lang="en-US" i="1" dirty="0" smtClean="0"/>
              <a:t>E</a:t>
            </a:r>
            <a:r>
              <a:rPr lang="en-US" baseline="-25000" dirty="0" smtClean="0"/>
              <a:t>2</a:t>
            </a:r>
            <a:r>
              <a:rPr lang="en-US" dirty="0" smtClean="0"/>
              <a:t>, </a:t>
            </a:r>
            <a:r>
              <a:rPr lang="en-US" i="1" dirty="0" smtClean="0"/>
              <a:t>E</a:t>
            </a:r>
            <a:r>
              <a:rPr lang="en-US" baseline="-25000" dirty="0" smtClean="0"/>
              <a:t>3</a:t>
            </a:r>
            <a:r>
              <a:rPr lang="en-US" dirty="0" smtClean="0"/>
              <a:t>, . . . , </a:t>
            </a:r>
            <a:r>
              <a:rPr lang="en-US" i="1" dirty="0" err="1" smtClean="0"/>
              <a:t>E</a:t>
            </a:r>
            <a:r>
              <a:rPr lang="en-US" i="1" baseline="-25000" dirty="0" err="1" smtClean="0"/>
              <a:t>k</a:t>
            </a:r>
            <a:r>
              <a:rPr lang="en-US" dirty="0" smtClean="0"/>
              <a:t>.</a:t>
            </a:r>
          </a:p>
          <a:p>
            <a:pPr marL="341313" indent="-341313" eaLnBrk="1" hangingPunct="1">
              <a:buFontTx/>
              <a:buNone/>
            </a:pPr>
            <a:r>
              <a:rPr lang="en-US" dirty="0" smtClean="0"/>
              <a:t>	</a:t>
            </a:r>
          </a:p>
          <a:p>
            <a:pPr marL="341313" indent="-341313" eaLnBrk="1" hangingPunct="1">
              <a:buFontTx/>
              <a:buNone/>
            </a:pPr>
            <a:r>
              <a:rPr lang="en-US" sz="1800" dirty="0" smtClean="0"/>
              <a:t>	</a:t>
            </a:r>
          </a:p>
          <a:p>
            <a:pPr marL="341313" indent="-341313" eaLnBrk="1" hangingPunct="1">
              <a:buFontTx/>
              <a:buNone/>
            </a:pPr>
            <a:r>
              <a:rPr lang="en-US" sz="1800" dirty="0" smtClean="0"/>
              <a:t>		</a:t>
            </a:r>
          </a:p>
          <a:p>
            <a:pPr marL="341313" indent="-341313" eaLnBrk="1" hangingPunct="1">
              <a:buFontTx/>
              <a:buNone/>
            </a:pPr>
            <a:endParaRPr lang="en-US" sz="1800" dirty="0" smtClean="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6" name="Rectangle 2"/>
          <p:cNvSpPr>
            <a:spLocks noGrp="1" noChangeArrowheads="1"/>
          </p:cNvSpPr>
          <p:nvPr>
            <p:ph type="body" idx="1"/>
          </p:nvPr>
        </p:nvSpPr>
        <p:spPr>
          <a:xfrm>
            <a:off x="685800" y="685800"/>
            <a:ext cx="7772400" cy="3962400"/>
          </a:xfrm>
          <a:noFill/>
        </p:spPr>
        <p:txBody>
          <a:bodyPr lIns="92075" tIns="46038" rIns="92075" bIns="46038"/>
          <a:lstStyle/>
          <a:p>
            <a:pPr marL="341313" indent="-341313" eaLnBrk="1" hangingPunct="1">
              <a:buFontTx/>
              <a:buNone/>
            </a:pPr>
            <a:endParaRPr lang="en-US" sz="1800" dirty="0" smtClean="0"/>
          </a:p>
          <a:p>
            <a:pPr marL="341313" indent="-341313" eaLnBrk="1" hangingPunct="1">
              <a:buFontTx/>
              <a:buNone/>
            </a:pPr>
            <a:r>
              <a:rPr lang="en-US" sz="1800" dirty="0" smtClean="0"/>
              <a:t>1.	</a:t>
            </a:r>
            <a:r>
              <a:rPr lang="en-US" dirty="0" smtClean="0"/>
              <a:t>Suppose there are </a:t>
            </a:r>
            <a:r>
              <a:rPr lang="en-US" i="1" dirty="0" smtClean="0"/>
              <a:t>n</a:t>
            </a:r>
            <a:r>
              <a:rPr lang="en-US" dirty="0" smtClean="0"/>
              <a:t> observations.</a:t>
            </a:r>
          </a:p>
          <a:p>
            <a:pPr marL="341313" indent="-341313" eaLnBrk="1" hangingPunct="1">
              <a:buFontTx/>
              <a:buNone/>
            </a:pPr>
            <a:r>
              <a:rPr lang="en-US" dirty="0" smtClean="0"/>
              <a:t>2.	Each observation falls into a </a:t>
            </a:r>
            <a:r>
              <a:rPr lang="en-US" i="1" dirty="0" smtClean="0">
                <a:solidFill>
                  <a:schemeClr val="tx2"/>
                </a:solidFill>
              </a:rPr>
              <a:t>cell</a:t>
            </a:r>
            <a:r>
              <a:rPr lang="en-US" dirty="0" smtClean="0"/>
              <a:t> (or class).</a:t>
            </a:r>
          </a:p>
          <a:p>
            <a:pPr marL="341313" indent="-341313" eaLnBrk="1" hangingPunct="1">
              <a:buFontTx/>
              <a:buNone/>
            </a:pPr>
            <a:r>
              <a:rPr lang="en-US" dirty="0" smtClean="0"/>
              <a:t>3.	</a:t>
            </a:r>
            <a:r>
              <a:rPr lang="en-US" i="1" dirty="0" smtClean="0">
                <a:solidFill>
                  <a:schemeClr val="tx2"/>
                </a:solidFill>
              </a:rPr>
              <a:t>Observed frequencies</a:t>
            </a:r>
            <a:r>
              <a:rPr lang="en-US" dirty="0" smtClean="0"/>
              <a:t> in each cell: </a:t>
            </a:r>
            <a:r>
              <a:rPr lang="en-US" i="1" dirty="0" smtClean="0"/>
              <a:t>O</a:t>
            </a:r>
            <a:r>
              <a:rPr lang="en-US" baseline="-25000" dirty="0" smtClean="0"/>
              <a:t>1</a:t>
            </a:r>
            <a:r>
              <a:rPr lang="en-US" dirty="0" smtClean="0"/>
              <a:t>, </a:t>
            </a:r>
            <a:r>
              <a:rPr lang="en-US" i="1" dirty="0" smtClean="0"/>
              <a:t>O</a:t>
            </a:r>
            <a:r>
              <a:rPr lang="en-US" baseline="-25000" dirty="0" smtClean="0"/>
              <a:t>2</a:t>
            </a:r>
            <a:r>
              <a:rPr lang="en-US" dirty="0" smtClean="0"/>
              <a:t>, </a:t>
            </a:r>
            <a:r>
              <a:rPr lang="en-US" i="1" dirty="0" smtClean="0"/>
              <a:t>O</a:t>
            </a:r>
            <a:r>
              <a:rPr lang="en-US" baseline="-25000" dirty="0" smtClean="0"/>
              <a:t>3</a:t>
            </a:r>
            <a:r>
              <a:rPr lang="en-US" dirty="0" smtClean="0"/>
              <a:t>, … , </a:t>
            </a:r>
            <a:r>
              <a:rPr lang="en-US" i="1" dirty="0" smtClean="0"/>
              <a:t>O</a:t>
            </a:r>
            <a:r>
              <a:rPr lang="en-US" i="1" baseline="-25000" dirty="0" smtClean="0"/>
              <a:t>k</a:t>
            </a:r>
            <a:r>
              <a:rPr lang="en-US" dirty="0" smtClean="0"/>
              <a:t>.</a:t>
            </a:r>
          </a:p>
          <a:p>
            <a:pPr marL="341313" indent="-341313" eaLnBrk="1" hangingPunct="1">
              <a:buFontTx/>
              <a:buNone/>
            </a:pPr>
            <a:r>
              <a:rPr lang="en-US" dirty="0" smtClean="0"/>
              <a:t>	Sum of the observed frequencies is </a:t>
            </a:r>
            <a:r>
              <a:rPr lang="en-US" i="1" dirty="0" smtClean="0"/>
              <a:t>n</a:t>
            </a:r>
            <a:r>
              <a:rPr lang="en-US" dirty="0" smtClean="0"/>
              <a:t>.</a:t>
            </a:r>
          </a:p>
          <a:p>
            <a:pPr marL="341313" indent="-341313" eaLnBrk="1" hangingPunct="1">
              <a:buFontTx/>
              <a:buNone/>
            </a:pPr>
            <a:endParaRPr lang="en-US" dirty="0" smtClean="0"/>
          </a:p>
          <a:p>
            <a:pPr marL="341313" indent="-341313" eaLnBrk="1" hangingPunct="1">
              <a:buFontTx/>
              <a:buNone/>
            </a:pPr>
            <a:r>
              <a:rPr lang="en-US" dirty="0" smtClean="0"/>
              <a:t>4.	</a:t>
            </a:r>
            <a:r>
              <a:rPr lang="en-US" i="1" dirty="0" smtClean="0">
                <a:solidFill>
                  <a:schemeClr val="tx2"/>
                </a:solidFill>
              </a:rPr>
              <a:t>Expected</a:t>
            </a:r>
            <a:r>
              <a:rPr lang="en-US" dirty="0" smtClean="0"/>
              <a:t>, or </a:t>
            </a:r>
            <a:r>
              <a:rPr lang="en-US" i="1" dirty="0" smtClean="0">
                <a:solidFill>
                  <a:schemeClr val="tx2"/>
                </a:solidFill>
              </a:rPr>
              <a:t>theoretical</a:t>
            </a:r>
            <a:r>
              <a:rPr lang="en-US" dirty="0" smtClean="0"/>
              <a:t>, </a:t>
            </a:r>
            <a:r>
              <a:rPr lang="en-US" i="1" dirty="0" smtClean="0">
                <a:solidFill>
                  <a:schemeClr val="tx2"/>
                </a:solidFill>
              </a:rPr>
              <a:t>frequencies</a:t>
            </a:r>
            <a:r>
              <a:rPr lang="en-US" dirty="0" smtClean="0"/>
              <a:t>: </a:t>
            </a:r>
            <a:r>
              <a:rPr lang="en-US" i="1" dirty="0" smtClean="0"/>
              <a:t>E</a:t>
            </a:r>
            <a:r>
              <a:rPr lang="en-US" baseline="-25000" dirty="0" smtClean="0"/>
              <a:t>1</a:t>
            </a:r>
            <a:r>
              <a:rPr lang="en-US" dirty="0" smtClean="0"/>
              <a:t>, </a:t>
            </a:r>
            <a:r>
              <a:rPr lang="en-US" i="1" dirty="0" smtClean="0"/>
              <a:t>E</a:t>
            </a:r>
            <a:r>
              <a:rPr lang="en-US" baseline="-25000" dirty="0" smtClean="0"/>
              <a:t>2</a:t>
            </a:r>
            <a:r>
              <a:rPr lang="en-US" dirty="0" smtClean="0"/>
              <a:t>, </a:t>
            </a:r>
            <a:r>
              <a:rPr lang="en-US" i="1" dirty="0" smtClean="0"/>
              <a:t>E</a:t>
            </a:r>
            <a:r>
              <a:rPr lang="en-US" baseline="-25000" dirty="0" smtClean="0"/>
              <a:t>3</a:t>
            </a:r>
            <a:r>
              <a:rPr lang="en-US" dirty="0" smtClean="0"/>
              <a:t>, . . . , </a:t>
            </a:r>
            <a:r>
              <a:rPr lang="en-US" i="1" dirty="0" err="1" smtClean="0"/>
              <a:t>E</a:t>
            </a:r>
            <a:r>
              <a:rPr lang="en-US" i="1" baseline="-25000" dirty="0" err="1" smtClean="0"/>
              <a:t>k</a:t>
            </a:r>
            <a:r>
              <a:rPr lang="en-US" dirty="0" smtClean="0"/>
              <a:t>.</a:t>
            </a:r>
          </a:p>
          <a:p>
            <a:pPr marL="341313" indent="-341313" eaLnBrk="1" hangingPunct="1">
              <a:buFontTx/>
              <a:buNone/>
            </a:pPr>
            <a:r>
              <a:rPr lang="en-US" dirty="0" smtClean="0"/>
              <a:t>	</a:t>
            </a:r>
          </a:p>
          <a:p>
            <a:pPr marL="341313" indent="-341313" eaLnBrk="1" hangingPunct="1">
              <a:buFontTx/>
              <a:buNone/>
            </a:pPr>
            <a:r>
              <a:rPr lang="en-US" sz="1800" dirty="0" smtClean="0"/>
              <a:t>	</a:t>
            </a:r>
          </a:p>
          <a:p>
            <a:pPr marL="341313" indent="-341313" eaLnBrk="1" hangingPunct="1">
              <a:buFontTx/>
              <a:buNone/>
            </a:pPr>
            <a:r>
              <a:rPr lang="en-US" sz="1800" dirty="0" smtClean="0"/>
              <a:t>		</a:t>
            </a:r>
          </a:p>
          <a:p>
            <a:pPr marL="341313" indent="-341313" eaLnBrk="1" hangingPunct="1">
              <a:buFontTx/>
              <a:buNone/>
            </a:pPr>
            <a:endParaRPr lang="en-US" sz="1800" dirty="0" smtClean="0"/>
          </a:p>
        </p:txBody>
      </p:sp>
      <p:graphicFrame>
        <p:nvGraphicFramePr>
          <p:cNvPr id="37890" name="Object 3"/>
          <p:cNvGraphicFramePr>
            <a:graphicFrameLocks/>
          </p:cNvGraphicFramePr>
          <p:nvPr/>
        </p:nvGraphicFramePr>
        <p:xfrm>
          <a:off x="1143000" y="2819400"/>
          <a:ext cx="3140075" cy="371475"/>
        </p:xfrm>
        <a:graphic>
          <a:graphicData uri="http://schemas.openxmlformats.org/presentationml/2006/ole">
            <p:oleObj spid="_x0000_s764236" name="Equation" r:id="rId4" imgW="3149600" imgH="381000" progId="Equation.3">
              <p:embed/>
            </p:oleObj>
          </a:graphicData>
        </a:graphic>
      </p:graphicFrame>
      <p:graphicFrame>
        <p:nvGraphicFramePr>
          <p:cNvPr id="37891" name="Object 4"/>
          <p:cNvGraphicFramePr>
            <a:graphicFrameLocks/>
          </p:cNvGraphicFramePr>
          <p:nvPr/>
        </p:nvGraphicFramePr>
        <p:xfrm>
          <a:off x="1143000" y="3657600"/>
          <a:ext cx="3127375" cy="371475"/>
        </p:xfrm>
        <a:graphic>
          <a:graphicData uri="http://schemas.openxmlformats.org/presentationml/2006/ole">
            <p:oleObj spid="_x0000_s764237" name="Equation" r:id="rId5" imgW="3136900" imgH="381000" progId="Equation.3">
              <p:embed/>
            </p:oleObj>
          </a:graphicData>
        </a:graphic>
      </p:graphicFrame>
      <p:graphicFrame>
        <p:nvGraphicFramePr>
          <p:cNvPr id="37892" name="Object 5"/>
          <p:cNvGraphicFramePr>
            <a:graphicFrameLocks/>
          </p:cNvGraphicFramePr>
          <p:nvPr/>
        </p:nvGraphicFramePr>
        <p:xfrm>
          <a:off x="914400" y="4419600"/>
          <a:ext cx="7531100" cy="1676400"/>
        </p:xfrm>
        <a:graphic>
          <a:graphicData uri="http://schemas.openxmlformats.org/presentationml/2006/ole">
            <p:oleObj spid="_x0000_s764238" name="Worksheet" r:id="rId6" imgW="8877300" imgH="1838235" progId="Excel.Sheet.8">
              <p:embed/>
            </p:oleObj>
          </a:graphicData>
        </a:graphic>
      </p:graphicFrame>
      <p:graphicFrame>
        <p:nvGraphicFramePr>
          <p:cNvPr id="37893" name="Object 6"/>
          <p:cNvGraphicFramePr>
            <a:graphicFrameLocks/>
          </p:cNvGraphicFramePr>
          <p:nvPr/>
        </p:nvGraphicFramePr>
        <p:xfrm>
          <a:off x="6245225" y="5538788"/>
          <a:ext cx="282575" cy="109537"/>
        </p:xfrm>
        <a:graphic>
          <a:graphicData uri="http://schemas.openxmlformats.org/presentationml/2006/ole">
            <p:oleObj spid="_x0000_s764239" name="Equation" r:id="rId7" imgW="291973" imgH="101556" progId="Equation.3">
              <p:embed/>
            </p:oleObj>
          </a:graphicData>
        </a:graphic>
      </p:graphicFrame>
      <p:graphicFrame>
        <p:nvGraphicFramePr>
          <p:cNvPr id="37894" name="Object 7"/>
          <p:cNvGraphicFramePr>
            <a:graphicFrameLocks/>
          </p:cNvGraphicFramePr>
          <p:nvPr/>
        </p:nvGraphicFramePr>
        <p:xfrm>
          <a:off x="6248400" y="5992813"/>
          <a:ext cx="282575" cy="92075"/>
        </p:xfrm>
        <a:graphic>
          <a:graphicData uri="http://schemas.openxmlformats.org/presentationml/2006/ole">
            <p:oleObj spid="_x0000_s764240" name="Equation" r:id="rId8" imgW="291973" imgH="101556" progId="Equation.3">
              <p:embed/>
            </p:oleObj>
          </a:graphicData>
        </a:graphic>
      </p:graphicFrame>
      <p:graphicFrame>
        <p:nvGraphicFramePr>
          <p:cNvPr id="37895" name="Object 8"/>
          <p:cNvGraphicFramePr>
            <a:graphicFrameLocks/>
          </p:cNvGraphicFramePr>
          <p:nvPr/>
        </p:nvGraphicFramePr>
        <p:xfrm>
          <a:off x="6248400" y="6400800"/>
          <a:ext cx="282575" cy="92075"/>
        </p:xfrm>
        <a:graphic>
          <a:graphicData uri="http://schemas.openxmlformats.org/presentationml/2006/ole">
            <p:oleObj spid="_x0000_s764241" name="Equation" r:id="rId9" imgW="291973" imgH="101556" progId="Equation.3">
              <p:embed/>
            </p:oleObj>
          </a:graphicData>
        </a:graphic>
      </p:graphicFrame>
      <p:sp>
        <p:nvSpPr>
          <p:cNvPr id="9" name="TextBox 8"/>
          <p:cNvSpPr txBox="1"/>
          <p:nvPr/>
        </p:nvSpPr>
        <p:spPr>
          <a:xfrm>
            <a:off x="1600200" y="0"/>
            <a:ext cx="6477000" cy="584775"/>
          </a:xfrm>
          <a:prstGeom prst="rect">
            <a:avLst/>
          </a:prstGeom>
          <a:noFill/>
        </p:spPr>
        <p:txBody>
          <a:bodyPr wrap="square" rtlCol="0">
            <a:spAutoFit/>
          </a:bodyPr>
          <a:lstStyle/>
          <a:p>
            <a:pPr algn="ctr"/>
            <a:r>
              <a:rPr lang="en-US" sz="3200" dirty="0" smtClean="0">
                <a:latin typeface="+mj-lt"/>
              </a:rPr>
              <a:t>Test for goodness of a fit</a:t>
            </a:r>
            <a:endParaRPr lang="en-US" sz="3200" dirty="0">
              <a:latin typeface="+mj-lt"/>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0" y="0"/>
            <a:ext cx="3352800" cy="584775"/>
          </a:xfrm>
          <a:prstGeom prst="rect">
            <a:avLst/>
          </a:prstGeom>
          <a:noFill/>
        </p:spPr>
        <p:txBody>
          <a:bodyPr wrap="square" rtlCol="0">
            <a:spAutoFit/>
          </a:bodyPr>
          <a:lstStyle/>
          <a:p>
            <a:pPr algn="ctr"/>
            <a:r>
              <a:rPr lang="en-US" sz="3200" dirty="0" smtClean="0">
                <a:latin typeface="+mj-lt"/>
              </a:rPr>
              <a:t>Example</a:t>
            </a:r>
            <a:endParaRPr lang="en-US" sz="3200" dirty="0">
              <a:latin typeface="+mj-lt"/>
            </a:endParaRPr>
          </a:p>
        </p:txBody>
      </p:sp>
      <p:sp>
        <p:nvSpPr>
          <p:cNvPr id="4" name="TextBox 3"/>
          <p:cNvSpPr txBox="1"/>
          <p:nvPr/>
        </p:nvSpPr>
        <p:spPr>
          <a:xfrm>
            <a:off x="457200" y="685800"/>
            <a:ext cx="8458200" cy="461665"/>
          </a:xfrm>
          <a:prstGeom prst="rect">
            <a:avLst/>
          </a:prstGeom>
          <a:noFill/>
        </p:spPr>
        <p:txBody>
          <a:bodyPr wrap="square" rtlCol="0">
            <a:spAutoFit/>
          </a:bodyPr>
          <a:lstStyle/>
          <a:p>
            <a:r>
              <a:rPr lang="en-US" sz="2400" dirty="0" smtClean="0">
                <a:latin typeface="+mj-lt"/>
              </a:rPr>
              <a:t>A die is thrown 60 time with the following results</a:t>
            </a:r>
            <a:endParaRPr lang="en-US" sz="2400" dirty="0">
              <a:latin typeface="+mj-lt"/>
            </a:endParaRPr>
          </a:p>
        </p:txBody>
      </p:sp>
      <p:graphicFrame>
        <p:nvGraphicFramePr>
          <p:cNvPr id="5" name="Table 4"/>
          <p:cNvGraphicFramePr>
            <a:graphicFrameLocks noGrp="1"/>
          </p:cNvGraphicFramePr>
          <p:nvPr/>
        </p:nvGraphicFramePr>
        <p:xfrm>
          <a:off x="685800" y="1066800"/>
          <a:ext cx="7467600" cy="767080"/>
        </p:xfrm>
        <a:graphic>
          <a:graphicData uri="http://schemas.openxmlformats.org/drawingml/2006/table">
            <a:tbl>
              <a:tblPr firstRow="1" bandRow="1">
                <a:tableStyleId>{5C22544A-7EE6-4342-B048-85BDC9FD1C3A}</a:tableStyleId>
              </a:tblPr>
              <a:tblGrid>
                <a:gridCol w="1271081"/>
                <a:gridCol w="885217"/>
                <a:gridCol w="885217"/>
                <a:gridCol w="885217"/>
                <a:gridCol w="885217"/>
                <a:gridCol w="885217"/>
                <a:gridCol w="885217"/>
                <a:gridCol w="885217"/>
              </a:tblGrid>
              <a:tr h="370840">
                <a:tc>
                  <a:txBody>
                    <a:bodyPr/>
                    <a:lstStyle/>
                    <a:p>
                      <a:r>
                        <a:rPr lang="en-US" dirty="0" smtClean="0">
                          <a:solidFill>
                            <a:schemeClr val="tx1"/>
                          </a:solidFill>
                        </a:rPr>
                        <a:t>Face</a:t>
                      </a:r>
                      <a:endParaRPr lang="en-US" dirty="0">
                        <a:solidFill>
                          <a:schemeClr val="tx1"/>
                        </a:solidFill>
                      </a:endParaRPr>
                    </a:p>
                  </a:txBody>
                  <a:tcPr/>
                </a:tc>
                <a:tc>
                  <a:txBody>
                    <a:bodyPr/>
                    <a:lstStyle/>
                    <a:p>
                      <a:pPr algn="ctr"/>
                      <a:r>
                        <a:rPr lang="en-US" dirty="0" smtClean="0">
                          <a:solidFill>
                            <a:schemeClr val="tx1"/>
                          </a:solidFill>
                        </a:rPr>
                        <a:t>1</a:t>
                      </a:r>
                      <a:endParaRPr lang="en-US" dirty="0">
                        <a:solidFill>
                          <a:schemeClr val="tx1"/>
                        </a:solidFill>
                      </a:endParaRPr>
                    </a:p>
                  </a:txBody>
                  <a:tcPr/>
                </a:tc>
                <a:tc>
                  <a:txBody>
                    <a:bodyPr/>
                    <a:lstStyle/>
                    <a:p>
                      <a:pPr algn="ctr"/>
                      <a:r>
                        <a:rPr lang="en-US" dirty="0" smtClean="0">
                          <a:solidFill>
                            <a:schemeClr val="tx1"/>
                          </a:solidFill>
                        </a:rPr>
                        <a:t>2</a:t>
                      </a:r>
                      <a:endParaRPr lang="en-US" dirty="0">
                        <a:solidFill>
                          <a:schemeClr val="tx1"/>
                        </a:solidFill>
                      </a:endParaRPr>
                    </a:p>
                  </a:txBody>
                  <a:tcPr/>
                </a:tc>
                <a:tc>
                  <a:txBody>
                    <a:bodyPr/>
                    <a:lstStyle/>
                    <a:p>
                      <a:pPr algn="ctr"/>
                      <a:r>
                        <a:rPr lang="en-US" dirty="0" smtClean="0">
                          <a:solidFill>
                            <a:schemeClr val="tx1"/>
                          </a:solidFill>
                        </a:rPr>
                        <a:t>3</a:t>
                      </a:r>
                      <a:endParaRPr lang="en-US" dirty="0">
                        <a:solidFill>
                          <a:schemeClr val="tx1"/>
                        </a:solidFill>
                      </a:endParaRPr>
                    </a:p>
                  </a:txBody>
                  <a:tcPr/>
                </a:tc>
                <a:tc>
                  <a:txBody>
                    <a:bodyPr/>
                    <a:lstStyle/>
                    <a:p>
                      <a:pPr algn="ctr"/>
                      <a:r>
                        <a:rPr lang="en-US" dirty="0" smtClean="0">
                          <a:solidFill>
                            <a:schemeClr val="tx1"/>
                          </a:solidFill>
                        </a:rPr>
                        <a:t>4</a:t>
                      </a:r>
                      <a:endParaRPr lang="en-US" dirty="0">
                        <a:solidFill>
                          <a:schemeClr val="tx1"/>
                        </a:solidFill>
                      </a:endParaRPr>
                    </a:p>
                  </a:txBody>
                  <a:tcPr/>
                </a:tc>
                <a:tc>
                  <a:txBody>
                    <a:bodyPr/>
                    <a:lstStyle/>
                    <a:p>
                      <a:pPr algn="ctr"/>
                      <a:r>
                        <a:rPr lang="en-US" dirty="0" smtClean="0">
                          <a:solidFill>
                            <a:schemeClr val="tx1"/>
                          </a:solidFill>
                        </a:rPr>
                        <a:t>5</a:t>
                      </a:r>
                      <a:endParaRPr lang="en-US" dirty="0">
                        <a:solidFill>
                          <a:schemeClr val="tx1"/>
                        </a:solidFill>
                      </a:endParaRPr>
                    </a:p>
                  </a:txBody>
                  <a:tcPr/>
                </a:tc>
                <a:tc>
                  <a:txBody>
                    <a:bodyPr/>
                    <a:lstStyle/>
                    <a:p>
                      <a:pPr algn="ctr"/>
                      <a:r>
                        <a:rPr lang="en-US" dirty="0" smtClean="0">
                          <a:solidFill>
                            <a:schemeClr val="tx1"/>
                          </a:solidFill>
                        </a:rPr>
                        <a:t>6</a:t>
                      </a:r>
                      <a:endParaRPr lang="en-US" dirty="0">
                        <a:solidFill>
                          <a:schemeClr val="tx1"/>
                        </a:solidFill>
                      </a:endParaRPr>
                    </a:p>
                  </a:txBody>
                  <a:tcPr/>
                </a:tc>
                <a:tc>
                  <a:txBody>
                    <a:bodyPr/>
                    <a:lstStyle/>
                    <a:p>
                      <a:pPr algn="ctr"/>
                      <a:r>
                        <a:rPr lang="en-US" dirty="0" smtClean="0">
                          <a:solidFill>
                            <a:schemeClr val="tx1"/>
                          </a:solidFill>
                        </a:rPr>
                        <a:t>Total</a:t>
                      </a:r>
                      <a:endParaRPr lang="en-US" dirty="0">
                        <a:solidFill>
                          <a:schemeClr val="tx1"/>
                        </a:solidFill>
                      </a:endParaRPr>
                    </a:p>
                  </a:txBody>
                  <a:tcPr/>
                </a:tc>
              </a:tr>
              <a:tr h="370840">
                <a:tc>
                  <a:txBody>
                    <a:bodyPr/>
                    <a:lstStyle/>
                    <a:p>
                      <a:pPr algn="ctr"/>
                      <a:r>
                        <a:rPr lang="en-US" sz="2000" dirty="0" smtClean="0">
                          <a:solidFill>
                            <a:schemeClr val="tx1"/>
                          </a:solidFill>
                        </a:rPr>
                        <a:t>Frequency</a:t>
                      </a:r>
                      <a:endParaRPr lang="en-US" sz="2000" dirty="0">
                        <a:solidFill>
                          <a:schemeClr val="tx1"/>
                        </a:solidFill>
                      </a:endParaRPr>
                    </a:p>
                  </a:txBody>
                  <a:tcPr/>
                </a:tc>
                <a:tc>
                  <a:txBody>
                    <a:bodyPr/>
                    <a:lstStyle/>
                    <a:p>
                      <a:pPr algn="ctr"/>
                      <a:r>
                        <a:rPr lang="en-US" sz="2000" dirty="0" smtClean="0"/>
                        <a:t>6</a:t>
                      </a:r>
                      <a:endParaRPr lang="en-US" sz="2000" dirty="0"/>
                    </a:p>
                  </a:txBody>
                  <a:tcPr/>
                </a:tc>
                <a:tc>
                  <a:txBody>
                    <a:bodyPr/>
                    <a:lstStyle/>
                    <a:p>
                      <a:pPr algn="ctr"/>
                      <a:r>
                        <a:rPr lang="en-US" sz="2000" dirty="0" smtClean="0"/>
                        <a:t>10</a:t>
                      </a:r>
                      <a:endParaRPr lang="en-US" sz="2000" dirty="0"/>
                    </a:p>
                  </a:txBody>
                  <a:tcPr/>
                </a:tc>
                <a:tc>
                  <a:txBody>
                    <a:bodyPr/>
                    <a:lstStyle/>
                    <a:p>
                      <a:pPr algn="ctr"/>
                      <a:r>
                        <a:rPr lang="en-US" sz="2000" dirty="0" smtClean="0"/>
                        <a:t>8</a:t>
                      </a:r>
                      <a:endParaRPr lang="en-US" sz="2000" dirty="0"/>
                    </a:p>
                  </a:txBody>
                  <a:tcPr/>
                </a:tc>
                <a:tc>
                  <a:txBody>
                    <a:bodyPr/>
                    <a:lstStyle/>
                    <a:p>
                      <a:pPr algn="ctr"/>
                      <a:r>
                        <a:rPr lang="en-US" sz="2000" dirty="0" smtClean="0"/>
                        <a:t>13</a:t>
                      </a:r>
                      <a:endParaRPr lang="en-US" sz="2000" dirty="0"/>
                    </a:p>
                  </a:txBody>
                  <a:tcPr/>
                </a:tc>
                <a:tc>
                  <a:txBody>
                    <a:bodyPr/>
                    <a:lstStyle/>
                    <a:p>
                      <a:pPr algn="ctr"/>
                      <a:r>
                        <a:rPr lang="en-US" sz="2000" dirty="0" smtClean="0"/>
                        <a:t>11</a:t>
                      </a:r>
                      <a:endParaRPr lang="en-US" sz="2000" dirty="0"/>
                    </a:p>
                  </a:txBody>
                  <a:tcPr/>
                </a:tc>
                <a:tc>
                  <a:txBody>
                    <a:bodyPr/>
                    <a:lstStyle/>
                    <a:p>
                      <a:pPr algn="ctr"/>
                      <a:r>
                        <a:rPr lang="en-US" sz="2000" dirty="0" smtClean="0"/>
                        <a:t>12</a:t>
                      </a:r>
                      <a:endParaRPr lang="en-US" sz="2000" dirty="0"/>
                    </a:p>
                  </a:txBody>
                  <a:tcPr/>
                </a:tc>
                <a:tc>
                  <a:txBody>
                    <a:bodyPr/>
                    <a:lstStyle/>
                    <a:p>
                      <a:pPr algn="ctr"/>
                      <a:r>
                        <a:rPr lang="en-US" sz="2000" dirty="0" smtClean="0"/>
                        <a:t>60</a:t>
                      </a:r>
                      <a:endParaRPr lang="en-US" sz="2000" dirty="0"/>
                    </a:p>
                  </a:txBody>
                  <a:tcPr/>
                </a:tc>
              </a:tr>
            </a:tbl>
          </a:graphicData>
        </a:graphic>
      </p:graphicFrame>
      <p:sp>
        <p:nvSpPr>
          <p:cNvPr id="8" name="TextBox 7"/>
          <p:cNvSpPr txBox="1"/>
          <p:nvPr/>
        </p:nvSpPr>
        <p:spPr>
          <a:xfrm>
            <a:off x="304800" y="1981200"/>
            <a:ext cx="8153400" cy="830997"/>
          </a:xfrm>
          <a:prstGeom prst="rect">
            <a:avLst/>
          </a:prstGeom>
          <a:noFill/>
        </p:spPr>
        <p:txBody>
          <a:bodyPr wrap="square" rtlCol="0">
            <a:spAutoFit/>
          </a:bodyPr>
          <a:lstStyle/>
          <a:p>
            <a:r>
              <a:rPr lang="en-US" sz="2400" dirty="0" smtClean="0">
                <a:latin typeface="+mj-lt"/>
              </a:rPr>
              <a:t> “die is unbiased”. Then the probability of each face is 1/6, and the expected frequencies is 60x1/6= 10 each. </a:t>
            </a:r>
            <a:endParaRPr lang="en-US" sz="2400" dirty="0">
              <a:latin typeface="+mj-lt"/>
            </a:endParaRPr>
          </a:p>
        </p:txBody>
      </p:sp>
      <p:graphicFrame>
        <p:nvGraphicFramePr>
          <p:cNvPr id="10" name="Table 9"/>
          <p:cNvGraphicFramePr>
            <a:graphicFrameLocks noGrp="1"/>
          </p:cNvGraphicFramePr>
          <p:nvPr/>
        </p:nvGraphicFramePr>
        <p:xfrm>
          <a:off x="381000" y="2819400"/>
          <a:ext cx="7467600" cy="1651000"/>
        </p:xfrm>
        <a:graphic>
          <a:graphicData uri="http://schemas.openxmlformats.org/drawingml/2006/table">
            <a:tbl>
              <a:tblPr firstRow="1" bandRow="1">
                <a:tableStyleId>{5C22544A-7EE6-4342-B048-85BDC9FD1C3A}</a:tableStyleId>
              </a:tblPr>
              <a:tblGrid>
                <a:gridCol w="1271081"/>
                <a:gridCol w="885217"/>
                <a:gridCol w="885217"/>
                <a:gridCol w="885217"/>
                <a:gridCol w="885217"/>
                <a:gridCol w="885217"/>
                <a:gridCol w="885217"/>
                <a:gridCol w="885217"/>
              </a:tblGrid>
              <a:tr h="370840">
                <a:tc>
                  <a:txBody>
                    <a:bodyPr/>
                    <a:lstStyle/>
                    <a:p>
                      <a:r>
                        <a:rPr lang="en-US" sz="1800" b="0" dirty="0" smtClean="0">
                          <a:solidFill>
                            <a:schemeClr val="tx1"/>
                          </a:solidFill>
                        </a:rPr>
                        <a:t>Expected frequency</a:t>
                      </a:r>
                      <a:endParaRPr lang="en-US" sz="1800" b="0" dirty="0">
                        <a:solidFill>
                          <a:schemeClr val="tx1"/>
                        </a:solidFill>
                      </a:endParaRPr>
                    </a:p>
                  </a:txBody>
                  <a:tcPr/>
                </a:tc>
                <a:tc>
                  <a:txBody>
                    <a:bodyPr/>
                    <a:lstStyle/>
                    <a:p>
                      <a:pPr algn="ctr"/>
                      <a:r>
                        <a:rPr lang="en-US" sz="1800" b="0" dirty="0" smtClean="0">
                          <a:solidFill>
                            <a:schemeClr val="tx1"/>
                          </a:solidFill>
                        </a:rPr>
                        <a:t>10</a:t>
                      </a:r>
                      <a:endParaRPr lang="en-US" sz="1800" b="0" dirty="0">
                        <a:solidFill>
                          <a:schemeClr val="tx1"/>
                        </a:solidFill>
                      </a:endParaRPr>
                    </a:p>
                  </a:txBody>
                  <a:tcPr/>
                </a:tc>
                <a:tc>
                  <a:txBody>
                    <a:bodyPr/>
                    <a:lstStyle/>
                    <a:p>
                      <a:pPr algn="ctr"/>
                      <a:r>
                        <a:rPr lang="en-US" sz="1800" b="0" dirty="0" smtClean="0">
                          <a:solidFill>
                            <a:schemeClr val="tx1"/>
                          </a:solidFill>
                        </a:rPr>
                        <a:t>10</a:t>
                      </a:r>
                      <a:endParaRPr lang="en-US" sz="1800" b="0" dirty="0">
                        <a:solidFill>
                          <a:schemeClr val="tx1"/>
                        </a:solidFill>
                      </a:endParaRPr>
                    </a:p>
                  </a:txBody>
                  <a:tcPr/>
                </a:tc>
                <a:tc>
                  <a:txBody>
                    <a:bodyPr/>
                    <a:lstStyle/>
                    <a:p>
                      <a:pPr algn="ctr"/>
                      <a:r>
                        <a:rPr lang="en-US" sz="1800" b="0" dirty="0" smtClean="0">
                          <a:solidFill>
                            <a:schemeClr val="tx1"/>
                          </a:solidFill>
                        </a:rPr>
                        <a:t>10</a:t>
                      </a:r>
                      <a:endParaRPr lang="en-US" sz="1800" b="0" dirty="0">
                        <a:solidFill>
                          <a:schemeClr val="tx1"/>
                        </a:solidFill>
                      </a:endParaRPr>
                    </a:p>
                  </a:txBody>
                  <a:tcPr/>
                </a:tc>
                <a:tc>
                  <a:txBody>
                    <a:bodyPr/>
                    <a:lstStyle/>
                    <a:p>
                      <a:pPr algn="ctr"/>
                      <a:r>
                        <a:rPr lang="en-US" sz="1800" b="0" dirty="0" smtClean="0">
                          <a:solidFill>
                            <a:schemeClr val="tx1"/>
                          </a:solidFill>
                        </a:rPr>
                        <a:t>10</a:t>
                      </a:r>
                      <a:endParaRPr lang="en-US" sz="1800" b="0" dirty="0">
                        <a:solidFill>
                          <a:schemeClr val="tx1"/>
                        </a:solidFill>
                      </a:endParaRPr>
                    </a:p>
                  </a:txBody>
                  <a:tcPr/>
                </a:tc>
                <a:tc>
                  <a:txBody>
                    <a:bodyPr/>
                    <a:lstStyle/>
                    <a:p>
                      <a:pPr algn="ctr"/>
                      <a:r>
                        <a:rPr lang="en-US" sz="1800" b="0" dirty="0" smtClean="0">
                          <a:solidFill>
                            <a:schemeClr val="tx1"/>
                          </a:solidFill>
                        </a:rPr>
                        <a:t>10</a:t>
                      </a:r>
                      <a:endParaRPr lang="en-US" sz="1800" b="0" dirty="0">
                        <a:solidFill>
                          <a:schemeClr val="tx1"/>
                        </a:solidFill>
                      </a:endParaRPr>
                    </a:p>
                  </a:txBody>
                  <a:tcPr/>
                </a:tc>
                <a:tc>
                  <a:txBody>
                    <a:bodyPr/>
                    <a:lstStyle/>
                    <a:p>
                      <a:pPr algn="ctr"/>
                      <a:r>
                        <a:rPr lang="en-US" sz="1800" b="0" dirty="0" smtClean="0">
                          <a:solidFill>
                            <a:schemeClr val="tx1"/>
                          </a:solidFill>
                        </a:rPr>
                        <a:t>10</a:t>
                      </a:r>
                      <a:endParaRPr lang="en-US" sz="1800" b="0" dirty="0">
                        <a:solidFill>
                          <a:schemeClr val="tx1"/>
                        </a:solidFill>
                      </a:endParaRPr>
                    </a:p>
                  </a:txBody>
                  <a:tcPr/>
                </a:tc>
                <a:tc>
                  <a:txBody>
                    <a:bodyPr/>
                    <a:lstStyle/>
                    <a:p>
                      <a:pPr algn="ctr"/>
                      <a:r>
                        <a:rPr lang="en-US" sz="1800" b="0" dirty="0" smtClean="0">
                          <a:solidFill>
                            <a:schemeClr val="tx1"/>
                          </a:solidFill>
                        </a:rPr>
                        <a:t>Total</a:t>
                      </a:r>
                      <a:endParaRPr lang="en-US" sz="1800" b="0" dirty="0">
                        <a:solidFill>
                          <a:schemeClr val="tx1"/>
                        </a:solidFill>
                      </a:endParaRPr>
                    </a:p>
                  </a:txBody>
                  <a:tcPr/>
                </a:tc>
              </a:tr>
              <a:tr h="370840">
                <a:tc>
                  <a:txBody>
                    <a:bodyPr/>
                    <a:lstStyle/>
                    <a:p>
                      <a:pPr algn="ctr"/>
                      <a:r>
                        <a:rPr lang="en-US" sz="1800" dirty="0" smtClean="0">
                          <a:solidFill>
                            <a:schemeClr val="tx1"/>
                          </a:solidFill>
                        </a:rPr>
                        <a:t>Observed Frequency</a:t>
                      </a:r>
                      <a:endParaRPr lang="en-US" sz="1800" dirty="0">
                        <a:solidFill>
                          <a:schemeClr val="tx1"/>
                        </a:solidFill>
                      </a:endParaRPr>
                    </a:p>
                  </a:txBody>
                  <a:tcPr/>
                </a:tc>
                <a:tc>
                  <a:txBody>
                    <a:bodyPr/>
                    <a:lstStyle/>
                    <a:p>
                      <a:pPr algn="ctr"/>
                      <a:r>
                        <a:rPr lang="en-US" sz="1800" dirty="0" smtClean="0"/>
                        <a:t>6</a:t>
                      </a:r>
                      <a:endParaRPr lang="en-US" sz="1800" dirty="0"/>
                    </a:p>
                  </a:txBody>
                  <a:tcPr/>
                </a:tc>
                <a:tc>
                  <a:txBody>
                    <a:bodyPr/>
                    <a:lstStyle/>
                    <a:p>
                      <a:pPr algn="ctr"/>
                      <a:r>
                        <a:rPr lang="en-US" sz="1800" dirty="0" smtClean="0"/>
                        <a:t>10</a:t>
                      </a:r>
                      <a:endParaRPr lang="en-US" sz="1800" dirty="0"/>
                    </a:p>
                  </a:txBody>
                  <a:tcPr/>
                </a:tc>
                <a:tc>
                  <a:txBody>
                    <a:bodyPr/>
                    <a:lstStyle/>
                    <a:p>
                      <a:pPr algn="ctr"/>
                      <a:r>
                        <a:rPr lang="en-US" sz="1800" dirty="0" smtClean="0"/>
                        <a:t>8</a:t>
                      </a:r>
                      <a:endParaRPr lang="en-US" sz="1800" dirty="0"/>
                    </a:p>
                  </a:txBody>
                  <a:tcPr/>
                </a:tc>
                <a:tc>
                  <a:txBody>
                    <a:bodyPr/>
                    <a:lstStyle/>
                    <a:p>
                      <a:pPr algn="ctr"/>
                      <a:r>
                        <a:rPr lang="en-US" sz="1800" dirty="0" smtClean="0"/>
                        <a:t>13</a:t>
                      </a:r>
                      <a:endParaRPr lang="en-US" sz="1800" dirty="0"/>
                    </a:p>
                  </a:txBody>
                  <a:tcPr/>
                </a:tc>
                <a:tc>
                  <a:txBody>
                    <a:bodyPr/>
                    <a:lstStyle/>
                    <a:p>
                      <a:pPr algn="ctr"/>
                      <a:r>
                        <a:rPr lang="en-US" sz="1800" dirty="0" smtClean="0"/>
                        <a:t>11</a:t>
                      </a:r>
                      <a:endParaRPr lang="en-US" sz="1800" dirty="0"/>
                    </a:p>
                  </a:txBody>
                  <a:tcPr/>
                </a:tc>
                <a:tc>
                  <a:txBody>
                    <a:bodyPr/>
                    <a:lstStyle/>
                    <a:p>
                      <a:pPr algn="ctr"/>
                      <a:r>
                        <a:rPr lang="en-US" sz="1800" dirty="0" smtClean="0"/>
                        <a:t>12</a:t>
                      </a:r>
                      <a:endParaRPr lang="en-US" sz="1800" dirty="0"/>
                    </a:p>
                  </a:txBody>
                  <a:tcPr/>
                </a:tc>
                <a:tc>
                  <a:txBody>
                    <a:bodyPr/>
                    <a:lstStyle/>
                    <a:p>
                      <a:pPr algn="ctr"/>
                      <a:r>
                        <a:rPr lang="en-US" sz="1800" dirty="0" smtClean="0"/>
                        <a:t>60</a:t>
                      </a:r>
                      <a:endParaRPr lang="en-US" sz="1800" dirty="0"/>
                    </a:p>
                  </a:txBody>
                  <a:tcPr/>
                </a:tc>
              </a:tr>
              <a:tr h="370840">
                <a:tc>
                  <a:txBody>
                    <a:bodyPr/>
                    <a:lstStyle/>
                    <a:p>
                      <a:pPr algn="ctr"/>
                      <a:endParaRPr lang="en-US" sz="1800" dirty="0">
                        <a:solidFill>
                          <a:schemeClr val="tx1"/>
                        </a:solidFill>
                      </a:endParaRPr>
                    </a:p>
                  </a:txBody>
                  <a:tcPr/>
                </a:tc>
                <a:tc>
                  <a:txBody>
                    <a:bodyPr/>
                    <a:lstStyle/>
                    <a:p>
                      <a:pPr algn="ctr"/>
                      <a:r>
                        <a:rPr lang="en-US" sz="1800" dirty="0" smtClean="0"/>
                        <a:t>16</a:t>
                      </a:r>
                      <a:endParaRPr lang="en-US" sz="1800" dirty="0"/>
                    </a:p>
                  </a:txBody>
                  <a:tcPr/>
                </a:tc>
                <a:tc>
                  <a:txBody>
                    <a:bodyPr/>
                    <a:lstStyle/>
                    <a:p>
                      <a:pPr algn="ctr"/>
                      <a:r>
                        <a:rPr lang="en-US" sz="1800" dirty="0" smtClean="0"/>
                        <a:t>0</a:t>
                      </a:r>
                      <a:endParaRPr lang="en-US" sz="1800" dirty="0"/>
                    </a:p>
                  </a:txBody>
                  <a:tcPr/>
                </a:tc>
                <a:tc>
                  <a:txBody>
                    <a:bodyPr/>
                    <a:lstStyle/>
                    <a:p>
                      <a:pPr algn="ctr"/>
                      <a:r>
                        <a:rPr lang="en-US" sz="1800" dirty="0" smtClean="0"/>
                        <a:t>4</a:t>
                      </a:r>
                      <a:endParaRPr lang="en-US" sz="1800" dirty="0"/>
                    </a:p>
                  </a:txBody>
                  <a:tcPr/>
                </a:tc>
                <a:tc>
                  <a:txBody>
                    <a:bodyPr/>
                    <a:lstStyle/>
                    <a:p>
                      <a:pPr algn="ctr"/>
                      <a:r>
                        <a:rPr lang="en-US" sz="1800" dirty="0" smtClean="0"/>
                        <a:t>9</a:t>
                      </a:r>
                      <a:endParaRPr lang="en-US" sz="1800" dirty="0"/>
                    </a:p>
                  </a:txBody>
                  <a:tcPr/>
                </a:tc>
                <a:tc>
                  <a:txBody>
                    <a:bodyPr/>
                    <a:lstStyle/>
                    <a:p>
                      <a:pPr algn="ctr"/>
                      <a:r>
                        <a:rPr lang="en-US" sz="1800" dirty="0" smtClean="0"/>
                        <a:t>1</a:t>
                      </a:r>
                      <a:endParaRPr lang="en-US" sz="1800" dirty="0"/>
                    </a:p>
                  </a:txBody>
                  <a:tcPr/>
                </a:tc>
                <a:tc>
                  <a:txBody>
                    <a:bodyPr/>
                    <a:lstStyle/>
                    <a:p>
                      <a:pPr algn="ctr"/>
                      <a:r>
                        <a:rPr lang="en-US" sz="1800" dirty="0" smtClean="0"/>
                        <a:t>4</a:t>
                      </a:r>
                      <a:endParaRPr lang="en-US" sz="1800" dirty="0"/>
                    </a:p>
                  </a:txBody>
                  <a:tcPr/>
                </a:tc>
                <a:tc>
                  <a:txBody>
                    <a:bodyPr/>
                    <a:lstStyle/>
                    <a:p>
                      <a:pPr algn="ctr"/>
                      <a:endParaRPr lang="en-US" sz="1800" dirty="0"/>
                    </a:p>
                  </a:txBody>
                  <a:tcPr/>
                </a:tc>
              </a:tr>
            </a:tbl>
          </a:graphicData>
        </a:graphic>
      </p:graphicFrame>
      <p:graphicFrame>
        <p:nvGraphicFramePr>
          <p:cNvPr id="11" name="Object 10"/>
          <p:cNvGraphicFramePr>
            <a:graphicFrameLocks noChangeAspect="1"/>
          </p:cNvGraphicFramePr>
          <p:nvPr/>
        </p:nvGraphicFramePr>
        <p:xfrm>
          <a:off x="685800" y="4114800"/>
          <a:ext cx="914400" cy="426720"/>
        </p:xfrm>
        <a:graphic>
          <a:graphicData uri="http://schemas.openxmlformats.org/presentationml/2006/ole">
            <p:oleObj spid="_x0000_s766120" name="Equation" r:id="rId3" imgW="571252" imgH="266584" progId="Equation.3">
              <p:embed/>
            </p:oleObj>
          </a:graphicData>
        </a:graphic>
      </p:graphicFrame>
      <p:graphicFrame>
        <p:nvGraphicFramePr>
          <p:cNvPr id="12" name="Object 11"/>
          <p:cNvGraphicFramePr>
            <a:graphicFrameLocks noChangeAspect="1"/>
          </p:cNvGraphicFramePr>
          <p:nvPr/>
        </p:nvGraphicFramePr>
        <p:xfrm>
          <a:off x="685800" y="4953000"/>
          <a:ext cx="4191000" cy="609600"/>
        </p:xfrm>
        <a:graphic>
          <a:graphicData uri="http://schemas.openxmlformats.org/presentationml/2006/ole">
            <p:oleObj spid="_x0000_s766121" name="Equation" r:id="rId4" imgW="1790700" imgH="393700" progId="Equation.3">
              <p:embed/>
            </p:oleObj>
          </a:graphicData>
        </a:graphic>
      </p:graphicFrame>
      <p:graphicFrame>
        <p:nvGraphicFramePr>
          <p:cNvPr id="765957" name="Object 5"/>
          <p:cNvGraphicFramePr>
            <a:graphicFrameLocks noChangeAspect="1"/>
          </p:cNvGraphicFramePr>
          <p:nvPr/>
        </p:nvGraphicFramePr>
        <p:xfrm>
          <a:off x="5257800" y="4876800"/>
          <a:ext cx="2438400" cy="954088"/>
        </p:xfrm>
        <a:graphic>
          <a:graphicData uri="http://schemas.openxmlformats.org/presentationml/2006/ole">
            <p:oleObj spid="_x0000_s766122" name="Equation" r:id="rId5" imgW="1168400" imgH="457200" progId="Equation.3">
              <p:embed/>
            </p:oleObj>
          </a:graphicData>
        </a:graphic>
      </p:graphicFrame>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ctrTitle"/>
          </p:nvPr>
        </p:nvSpPr>
        <p:spPr>
          <a:xfrm>
            <a:off x="762000" y="0"/>
            <a:ext cx="7721600" cy="609600"/>
          </a:xfrm>
          <a:ln/>
        </p:spPr>
        <p:txBody>
          <a:bodyPr/>
          <a:lstStyle/>
          <a:p>
            <a:r>
              <a:rPr lang="en-US" sz="3200" dirty="0"/>
              <a:t>Sampling</a:t>
            </a:r>
            <a:r>
              <a:rPr lang="en-US" dirty="0"/>
              <a:t> Error</a:t>
            </a:r>
          </a:p>
        </p:txBody>
      </p:sp>
      <p:sp>
        <p:nvSpPr>
          <p:cNvPr id="103427" name="Rectangle 3"/>
          <p:cNvSpPr>
            <a:spLocks noGrp="1" noChangeArrowheads="1"/>
          </p:cNvSpPr>
          <p:nvPr>
            <p:ph type="subTitle" idx="1"/>
          </p:nvPr>
        </p:nvSpPr>
        <p:spPr>
          <a:xfrm>
            <a:off x="533400" y="609600"/>
            <a:ext cx="8229600" cy="3124200"/>
          </a:xfrm>
          <a:solidFill>
            <a:srgbClr val="FFFFFF"/>
          </a:solidFill>
          <a:ln w="28575">
            <a:noFill/>
          </a:ln>
        </p:spPr>
        <p:txBody>
          <a:bodyPr/>
          <a:lstStyle/>
          <a:p>
            <a:pPr algn="l"/>
            <a:r>
              <a:rPr lang="en-US" sz="2400" b="1" dirty="0" smtClean="0">
                <a:solidFill>
                  <a:schemeClr val="accent2">
                    <a:lumMod val="75000"/>
                  </a:schemeClr>
                </a:solidFill>
                <a:latin typeface="Times New Roman" pitchFamily="18" charset="0"/>
                <a:cs typeface="Times New Roman" pitchFamily="18" charset="0"/>
              </a:rPr>
              <a:t>Sampling  error -single mean</a:t>
            </a:r>
          </a:p>
          <a:p>
            <a:pPr algn="l"/>
            <a:r>
              <a:rPr lang="en-US" sz="2400" dirty="0" smtClean="0">
                <a:solidFill>
                  <a:schemeClr val="tx1"/>
                </a:solidFill>
                <a:latin typeface="Times New Roman" pitchFamily="18" charset="0"/>
                <a:cs typeface="Times New Roman" pitchFamily="18" charset="0"/>
              </a:rPr>
              <a:t>The </a:t>
            </a:r>
            <a:r>
              <a:rPr lang="en-US" sz="2400" dirty="0">
                <a:solidFill>
                  <a:schemeClr val="tx1"/>
                </a:solidFill>
                <a:latin typeface="Times New Roman" pitchFamily="18" charset="0"/>
                <a:cs typeface="Times New Roman" pitchFamily="18" charset="0"/>
              </a:rPr>
              <a:t>difference between a value (a statistic) computed from a sample and the corresponding value (a parameter) computed from a population.</a:t>
            </a:r>
          </a:p>
          <a:p>
            <a:endParaRPr lang="en-US" sz="2400" dirty="0"/>
          </a:p>
          <a:p>
            <a:r>
              <a:rPr lang="en-US" sz="2400" dirty="0"/>
              <a:t>		</a:t>
            </a:r>
            <a:endParaRPr lang="en-US" dirty="0"/>
          </a:p>
        </p:txBody>
      </p:sp>
      <p:graphicFrame>
        <p:nvGraphicFramePr>
          <p:cNvPr id="159744" name="Object 0"/>
          <p:cNvGraphicFramePr>
            <a:graphicFrameLocks noChangeAspect="1"/>
          </p:cNvGraphicFramePr>
          <p:nvPr/>
        </p:nvGraphicFramePr>
        <p:xfrm>
          <a:off x="2590800" y="1981201"/>
          <a:ext cx="3124200" cy="455744"/>
        </p:xfrm>
        <a:graphic>
          <a:graphicData uri="http://schemas.openxmlformats.org/presentationml/2006/ole">
            <p:oleObj spid="_x0000_s490608" name="Equation" r:id="rId3" imgW="1384300" imgH="203200" progId="Equation.3">
              <p:embed/>
            </p:oleObj>
          </a:graphicData>
        </a:graphic>
      </p:graphicFrame>
      <p:graphicFrame>
        <p:nvGraphicFramePr>
          <p:cNvPr id="159745" name="Object 1"/>
          <p:cNvGraphicFramePr>
            <a:graphicFrameLocks noChangeAspect="1"/>
          </p:cNvGraphicFramePr>
          <p:nvPr/>
        </p:nvGraphicFramePr>
        <p:xfrm>
          <a:off x="2743200" y="2438400"/>
          <a:ext cx="2971800" cy="940370"/>
        </p:xfrm>
        <a:graphic>
          <a:graphicData uri="http://schemas.openxmlformats.org/presentationml/2006/ole">
            <p:oleObj spid="_x0000_s490609" name="Equation" r:id="rId4" imgW="1358310" imgH="431613" progId="Equation.3">
              <p:embed/>
            </p:oleObj>
          </a:graphicData>
        </a:graphic>
      </p:graphicFrame>
      <p:sp>
        <p:nvSpPr>
          <p:cNvPr id="9" name="Rectangle 8"/>
          <p:cNvSpPr/>
          <p:nvPr/>
        </p:nvSpPr>
        <p:spPr>
          <a:xfrm>
            <a:off x="457200" y="3581400"/>
            <a:ext cx="8458200" cy="2308324"/>
          </a:xfrm>
          <a:prstGeom prst="rect">
            <a:avLst/>
          </a:prstGeom>
        </p:spPr>
        <p:txBody>
          <a:bodyPr wrap="square">
            <a:spAutoFit/>
          </a:bodyPr>
          <a:lstStyle/>
          <a:p>
            <a:pPr>
              <a:buFontTx/>
              <a:buNone/>
            </a:pPr>
            <a:r>
              <a:rPr lang="en-US" sz="2400" b="1" dirty="0" smtClean="0">
                <a:solidFill>
                  <a:srgbClr val="000066"/>
                </a:solidFill>
                <a:latin typeface="Times New Roman" pitchFamily="18" charset="0"/>
                <a:cs typeface="Times New Roman" pitchFamily="18" charset="0"/>
              </a:rPr>
              <a:t>Sampling Error</a:t>
            </a:r>
            <a:r>
              <a:rPr lang="en-US" sz="2400" dirty="0" smtClean="0">
                <a:latin typeface="Times New Roman" pitchFamily="18" charset="0"/>
                <a:cs typeface="Times New Roman" pitchFamily="18" charset="0"/>
              </a:rPr>
              <a:t> is inherent in any sampling process due to the fact that samples are only a subset of the total population.</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Sampling Errors depends on the relative size of sample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Sampling Errors can be minimized but not eliminated.</a:t>
            </a:r>
            <a:endParaRPr lang="en-US" sz="2400" dirty="0">
              <a:latin typeface="Times New Roman" pitchFamily="18" charset="0"/>
              <a:cs typeface="Times New Roman" pitchFamily="18" charset="0"/>
            </a:endParaRPr>
          </a:p>
        </p:txBody>
      </p:sp>
    </p:spTree>
  </p:cSld>
  <p:clrMapOvr>
    <a:masterClrMapping/>
  </p:clrMapOvr>
  <p:transition spd="med">
    <p:random/>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457200" y="0"/>
            <a:ext cx="8229600" cy="1143000"/>
          </a:xfrm>
          <a:ln/>
        </p:spPr>
        <p:txBody>
          <a:bodyPr/>
          <a:lstStyle/>
          <a:p>
            <a:r>
              <a:rPr lang="en-US" dirty="0"/>
              <a:t>Estimation</a:t>
            </a:r>
          </a:p>
        </p:txBody>
      </p:sp>
      <p:sp>
        <p:nvSpPr>
          <p:cNvPr id="83971" name="Rectangle 3"/>
          <p:cNvSpPr>
            <a:spLocks noGrp="1" noChangeArrowheads="1"/>
          </p:cNvSpPr>
          <p:nvPr>
            <p:ph type="body" idx="1"/>
          </p:nvPr>
        </p:nvSpPr>
        <p:spPr>
          <a:xfrm>
            <a:off x="304800" y="914400"/>
            <a:ext cx="8534400" cy="3657600"/>
          </a:xfrm>
        </p:spPr>
        <p:txBody>
          <a:bodyPr/>
          <a:lstStyle/>
          <a:p>
            <a:pPr marL="0" indent="0">
              <a:buFontTx/>
              <a:buNone/>
            </a:pPr>
            <a:r>
              <a:rPr lang="en-US" sz="2400" b="1" dirty="0">
                <a:solidFill>
                  <a:srgbClr val="000066"/>
                </a:solidFill>
                <a:latin typeface="Times New Roman" pitchFamily="18" charset="0"/>
                <a:cs typeface="Times New Roman" pitchFamily="18" charset="0"/>
              </a:rPr>
              <a:t>Estimation</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a:t>
            </a:r>
            <a:r>
              <a:rPr lang="en-US" sz="2400" b="1" i="1" dirty="0">
                <a:latin typeface="Times New Roman" pitchFamily="18" charset="0"/>
                <a:cs typeface="Times New Roman" pitchFamily="18" charset="0"/>
              </a:rPr>
              <a:t>Inference</a:t>
            </a:r>
            <a:r>
              <a:rPr lang="en-US" sz="2400" i="1" dirty="0">
                <a:latin typeface="Times New Roman" pitchFamily="18" charset="0"/>
                <a:cs typeface="Times New Roman" pitchFamily="18" charset="0"/>
              </a:rPr>
              <a:t>)</a:t>
            </a:r>
            <a:r>
              <a:rPr lang="en-US" sz="2400" dirty="0">
                <a:latin typeface="Times New Roman" pitchFamily="18" charset="0"/>
                <a:cs typeface="Times New Roman" pitchFamily="18" charset="0"/>
              </a:rPr>
              <a:t> is assessing the </a:t>
            </a:r>
            <a:r>
              <a:rPr lang="en-US" sz="2400" dirty="0" smtClean="0">
                <a:latin typeface="Times New Roman" pitchFamily="18" charset="0"/>
                <a:cs typeface="Times New Roman" pitchFamily="18" charset="0"/>
              </a:rPr>
              <a:t>value </a:t>
            </a:r>
            <a:r>
              <a:rPr lang="en-US" sz="2400" dirty="0">
                <a:latin typeface="Times New Roman" pitchFamily="18" charset="0"/>
                <a:cs typeface="Times New Roman" pitchFamily="18" charset="0"/>
              </a:rPr>
              <a:t>of a population parameter using sample data</a:t>
            </a:r>
          </a:p>
          <a:p>
            <a:pPr marL="0" indent="0">
              <a:buFontTx/>
              <a:buNone/>
            </a:pPr>
            <a:r>
              <a:rPr lang="en-US" sz="2400" dirty="0" smtClean="0">
                <a:latin typeface="Times New Roman" pitchFamily="18" charset="0"/>
                <a:cs typeface="Times New Roman" pitchFamily="18" charset="0"/>
              </a:rPr>
              <a:t>Two </a:t>
            </a:r>
            <a:r>
              <a:rPr lang="en-US" sz="2400" dirty="0">
                <a:latin typeface="Times New Roman" pitchFamily="18" charset="0"/>
                <a:cs typeface="Times New Roman" pitchFamily="18" charset="0"/>
              </a:rPr>
              <a:t>types of estimation:</a:t>
            </a:r>
          </a:p>
          <a:p>
            <a:pPr marL="0" indent="0"/>
            <a:r>
              <a:rPr lang="en-US" sz="2400" b="1" dirty="0">
                <a:solidFill>
                  <a:srgbClr val="000066"/>
                </a:solidFill>
                <a:latin typeface="Times New Roman" pitchFamily="18" charset="0"/>
                <a:cs typeface="Times New Roman" pitchFamily="18" charset="0"/>
              </a:rPr>
              <a:t>Point Estimates</a:t>
            </a:r>
          </a:p>
          <a:p>
            <a:pPr marL="0" indent="0"/>
            <a:r>
              <a:rPr lang="en-US" sz="2400" b="1" dirty="0">
                <a:solidFill>
                  <a:srgbClr val="000066"/>
                </a:solidFill>
                <a:latin typeface="Times New Roman" pitchFamily="18" charset="0"/>
                <a:cs typeface="Times New Roman" pitchFamily="18" charset="0"/>
              </a:rPr>
              <a:t>Interval Estimates</a:t>
            </a:r>
          </a:p>
        </p:txBody>
      </p:sp>
      <p:sp>
        <p:nvSpPr>
          <p:cNvPr id="7" name="Rectangle 3"/>
          <p:cNvSpPr txBox="1">
            <a:spLocks noChangeArrowheads="1"/>
          </p:cNvSpPr>
          <p:nvPr/>
        </p:nvSpPr>
        <p:spPr>
          <a:xfrm>
            <a:off x="228600" y="3276601"/>
            <a:ext cx="8229600" cy="2724168"/>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Most common point estimates are the descriptive statistical measures.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the expected value of an estimator equals to the population parameter then it is called unbiased.</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457200" y="0"/>
            <a:ext cx="8229600" cy="685800"/>
          </a:xfrm>
          <a:ln/>
        </p:spPr>
        <p:txBody>
          <a:bodyPr/>
          <a:lstStyle/>
          <a:p>
            <a:r>
              <a:rPr lang="en-US" sz="3600" dirty="0" smtClean="0"/>
              <a:t>Estimation</a:t>
            </a:r>
            <a:endParaRPr lang="en-US" sz="3200" dirty="0"/>
          </a:p>
        </p:txBody>
      </p:sp>
      <p:grpSp>
        <p:nvGrpSpPr>
          <p:cNvPr id="2" name="Group 10"/>
          <p:cNvGrpSpPr>
            <a:grpSpLocks/>
          </p:cNvGrpSpPr>
          <p:nvPr/>
        </p:nvGrpSpPr>
        <p:grpSpPr bwMode="auto">
          <a:xfrm>
            <a:off x="0" y="992188"/>
            <a:ext cx="9131300" cy="2678113"/>
            <a:chOff x="0" y="1249"/>
            <a:chExt cx="5752" cy="1687"/>
          </a:xfrm>
        </p:grpSpPr>
        <p:graphicFrame>
          <p:nvGraphicFramePr>
            <p:cNvPr id="161792" name="Object 0"/>
            <p:cNvGraphicFramePr>
              <a:graphicFrameLocks noChangeAspect="1"/>
            </p:cNvGraphicFramePr>
            <p:nvPr/>
          </p:nvGraphicFramePr>
          <p:xfrm>
            <a:off x="0" y="1249"/>
            <a:ext cx="5752" cy="1687"/>
          </p:xfrm>
          <a:graphic>
            <a:graphicData uri="http://schemas.openxmlformats.org/presentationml/2006/ole">
              <p:oleObj spid="_x0000_s491632" name="Document" r:id="rId3" imgW="5777279" imgH="1651790" progId="Word.Document.8">
                <p:embed/>
              </p:oleObj>
            </a:graphicData>
          </a:graphic>
        </p:graphicFrame>
        <p:graphicFrame>
          <p:nvGraphicFramePr>
            <p:cNvPr id="161793" name="Object 1"/>
            <p:cNvGraphicFramePr>
              <a:graphicFrameLocks noChangeAspect="1"/>
            </p:cNvGraphicFramePr>
            <p:nvPr/>
          </p:nvGraphicFramePr>
          <p:xfrm>
            <a:off x="336" y="1920"/>
            <a:ext cx="290" cy="339"/>
          </p:xfrm>
          <a:graphic>
            <a:graphicData uri="http://schemas.openxmlformats.org/presentationml/2006/ole">
              <p:oleObj spid="_x0000_s491633" name="Equation" r:id="rId4" imgW="139579" imgH="164957" progId="Equation.3">
                <p:embed/>
              </p:oleObj>
            </a:graphicData>
          </a:graphic>
        </p:graphicFrame>
      </p:grpSp>
      <p:sp>
        <p:nvSpPr>
          <p:cNvPr id="94217" name="Text Box 9"/>
          <p:cNvSpPr txBox="1">
            <a:spLocks noChangeArrowheads="1"/>
          </p:cNvSpPr>
          <p:nvPr/>
        </p:nvSpPr>
        <p:spPr bwMode="auto">
          <a:xfrm>
            <a:off x="457200" y="3886200"/>
            <a:ext cx="8229600" cy="830997"/>
          </a:xfrm>
          <a:prstGeom prst="rect">
            <a:avLst/>
          </a:prstGeom>
          <a:noFill/>
          <a:ln w="9525">
            <a:noFill/>
            <a:miter lim="800000"/>
            <a:headEnd/>
            <a:tailEnd/>
          </a:ln>
          <a:effectLst/>
        </p:spPr>
        <p:txBody>
          <a:bodyPr wrap="square">
            <a:spAutoFit/>
          </a:bodyPr>
          <a:lstStyle/>
          <a:p>
            <a:pPr>
              <a:spcBef>
                <a:spcPct val="50000"/>
              </a:spcBef>
            </a:pPr>
            <a:r>
              <a:rPr lang="en-US" sz="2400" dirty="0" smtClean="0">
                <a:latin typeface="Times New Roman" pitchFamily="18" charset="0"/>
                <a:cs typeface="Times New Roman" pitchFamily="18" charset="0"/>
              </a:rPr>
              <a:t>This indicates </a:t>
            </a:r>
            <a:r>
              <a:rPr lang="en-US" sz="2400" dirty="0">
                <a:latin typeface="Times New Roman" pitchFamily="18" charset="0"/>
                <a:cs typeface="Times New Roman" pitchFamily="18" charset="0"/>
              </a:rPr>
              <a:t>that we can use sample estimates as if they were population parameters without committing an error.</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type="body" idx="1"/>
          </p:nvPr>
        </p:nvSpPr>
        <p:spPr>
          <a:xfrm>
            <a:off x="381000" y="838200"/>
            <a:ext cx="8001000" cy="2133600"/>
          </a:xfrm>
        </p:spPr>
        <p:txBody>
          <a:bodyPr/>
          <a:lstStyle/>
          <a:p>
            <a:pPr algn="just">
              <a:buFontTx/>
              <a:buNone/>
            </a:pPr>
            <a:r>
              <a:rPr lang="en-US" sz="2400" b="1" dirty="0">
                <a:solidFill>
                  <a:srgbClr val="000066"/>
                </a:solidFill>
                <a:latin typeface="Times New Roman" pitchFamily="18" charset="0"/>
                <a:cs typeface="Times New Roman" pitchFamily="18" charset="0"/>
              </a:rPr>
              <a:t>Interval Estimate</a:t>
            </a:r>
            <a:r>
              <a:rPr lang="en-US" sz="2400" dirty="0">
                <a:solidFill>
                  <a:srgbClr val="000066"/>
                </a:solidFill>
                <a:latin typeface="Times New Roman" pitchFamily="18" charset="0"/>
                <a:cs typeface="Times New Roman" pitchFamily="18" charset="0"/>
              </a:rPr>
              <a:t> </a:t>
            </a:r>
            <a:r>
              <a:rPr lang="en-US" sz="2400" dirty="0">
                <a:latin typeface="Times New Roman" pitchFamily="18" charset="0"/>
                <a:cs typeface="Times New Roman" pitchFamily="18" charset="0"/>
              </a:rPr>
              <a:t>provides a range within which population parameter falls with certain likelihood.</a:t>
            </a:r>
          </a:p>
          <a:p>
            <a:pPr algn="just">
              <a:buFontTx/>
              <a:buNone/>
            </a:pPr>
            <a:r>
              <a:rPr lang="en-US" sz="2400" b="1" dirty="0">
                <a:solidFill>
                  <a:srgbClr val="000066"/>
                </a:solidFill>
                <a:latin typeface="Times New Roman" pitchFamily="18" charset="0"/>
                <a:cs typeface="Times New Roman" pitchFamily="18" charset="0"/>
              </a:rPr>
              <a:t>Confidence Level</a:t>
            </a:r>
            <a:r>
              <a:rPr lang="en-US" sz="2400" dirty="0">
                <a:latin typeface="Times New Roman" pitchFamily="18" charset="0"/>
                <a:cs typeface="Times New Roman" pitchFamily="18" charset="0"/>
              </a:rPr>
              <a:t> is the probability (likelihood) that the interval contains the population parameter. Most commonly used confidence levels are 90%, 95%, and 99%. </a:t>
            </a:r>
          </a:p>
        </p:txBody>
      </p:sp>
      <p:sp>
        <p:nvSpPr>
          <p:cNvPr id="8" name="Rectangle 3"/>
          <p:cNvSpPr txBox="1">
            <a:spLocks noChangeArrowheads="1"/>
          </p:cNvSpPr>
          <p:nvPr/>
        </p:nvSpPr>
        <p:spPr>
          <a:xfrm>
            <a:off x="304800" y="2895600"/>
            <a:ext cx="8229600" cy="3200400"/>
          </a:xfrm>
          <a:prstGeom prst="rect">
            <a:avLst/>
          </a:prstGeom>
        </p:spPr>
        <p:txBody>
          <a:bodyPr/>
          <a:lstStyle/>
          <a:p>
            <a:pPr marL="288925" marR="0" lvl="0" indent="-288925" algn="just" defTabSz="914400" rtl="0" eaLnBrk="1" fontAlgn="auto" latinLnBrk="0" hangingPunct="1">
              <a:lnSpc>
                <a:spcPct val="100000"/>
              </a:lnSpc>
              <a:spcBef>
                <a:spcPct val="20000"/>
              </a:spcBef>
              <a:spcAft>
                <a:spcPts val="0"/>
              </a:spcAft>
              <a:buClrTx/>
              <a:buSzTx/>
              <a:buFontTx/>
              <a:buNone/>
              <a:tabLst>
                <a:tab pos="404813" algn="l"/>
              </a:tabLst>
              <a:defRPr/>
            </a:pPr>
            <a:r>
              <a:rPr kumimoji="0" lang="en-US" sz="2400" b="1" i="0" u="none" strike="noStrike" kern="1200" cap="none" spc="0" normalizeH="0" baseline="0" noProof="0" dirty="0" smtClean="0">
                <a:ln>
                  <a:noFill/>
                </a:ln>
                <a:solidFill>
                  <a:srgbClr val="000066"/>
                </a:solidFill>
                <a:effectLst/>
                <a:uLnTx/>
                <a:uFillTx/>
                <a:latin typeface="Times New Roman" pitchFamily="18" charset="0"/>
                <a:cs typeface="Times New Roman" pitchFamily="18" charset="0"/>
              </a:rPr>
              <a:t>Confidence Interval (CI)</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is an interval estimate specified from the perspective of the point estimate. </a:t>
            </a:r>
          </a:p>
          <a:p>
            <a:pPr marL="288925" marR="0" lvl="0" indent="-288925" algn="just" defTabSz="914400" rtl="0" eaLnBrk="1" fontAlgn="auto" latinLnBrk="0" hangingPunct="1">
              <a:lnSpc>
                <a:spcPct val="100000"/>
              </a:lnSpc>
              <a:spcBef>
                <a:spcPct val="20000"/>
              </a:spcBef>
              <a:spcAft>
                <a:spcPts val="0"/>
              </a:spcAft>
              <a:buClrTx/>
              <a:buSzTx/>
              <a:buFontTx/>
              <a:buNone/>
              <a:tabLst>
                <a:tab pos="404813" algn="l"/>
              </a:tabLst>
              <a:defRPr/>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288925" marR="0" lvl="0" indent="-288925" algn="just" defTabSz="914400" rtl="0" eaLnBrk="1" fontAlgn="auto" latinLnBrk="0" hangingPunct="1">
              <a:lnSpc>
                <a:spcPct val="100000"/>
              </a:lnSpc>
              <a:spcBef>
                <a:spcPct val="20000"/>
              </a:spcBef>
              <a:spcAft>
                <a:spcPts val="0"/>
              </a:spcAft>
              <a:buClrTx/>
              <a:buSzTx/>
              <a:buFontTx/>
              <a:buNone/>
              <a:tabLst>
                <a:tab pos="404813" algn="l"/>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In other words CI is</a:t>
            </a:r>
          </a:p>
          <a:p>
            <a:pPr marL="288925" marR="0" lvl="0" indent="-288925" algn="just" defTabSz="914400" rtl="0" eaLnBrk="1" fontAlgn="auto" latinLnBrk="0" hangingPunct="1">
              <a:lnSpc>
                <a:spcPct val="100000"/>
              </a:lnSpc>
              <a:spcBef>
                <a:spcPct val="20000"/>
              </a:spcBef>
              <a:spcAft>
                <a:spcPts val="0"/>
              </a:spcAft>
              <a:buClrTx/>
              <a:buSzTx/>
              <a:buFont typeface="Arial" pitchFamily="34" charset="0"/>
              <a:buChar char="•"/>
              <a:tabLst>
                <a:tab pos="404813" algn="l"/>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an interval on either side (+/-) of the point estimate</a:t>
            </a:r>
          </a:p>
          <a:p>
            <a:pPr marL="288925" marR="0" lvl="0" indent="-288925" algn="just" defTabSz="914400" rtl="0" eaLnBrk="1" fontAlgn="auto" latinLnBrk="0" hangingPunct="1">
              <a:lnSpc>
                <a:spcPct val="100000"/>
              </a:lnSpc>
              <a:spcBef>
                <a:spcPct val="20000"/>
              </a:spcBef>
              <a:spcAft>
                <a:spcPts val="0"/>
              </a:spcAft>
              <a:buClrTx/>
              <a:buSzTx/>
              <a:buFont typeface="Arial" pitchFamily="34" charset="0"/>
              <a:buChar char="•"/>
              <a:tabLst>
                <a:tab pos="404813" algn="l"/>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based on a fraction (t or z-score) of the Std. Dev. of the point estimate</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ctrTitle"/>
          </p:nvPr>
        </p:nvSpPr>
        <p:spPr>
          <a:xfrm>
            <a:off x="914400" y="0"/>
            <a:ext cx="7721600" cy="685800"/>
          </a:xfrm>
          <a:ln/>
        </p:spPr>
        <p:txBody>
          <a:bodyPr/>
          <a:lstStyle/>
          <a:p>
            <a:r>
              <a:rPr lang="en-US" sz="3200" dirty="0"/>
              <a:t>Confidence Intervals</a:t>
            </a:r>
          </a:p>
        </p:txBody>
      </p:sp>
      <p:grpSp>
        <p:nvGrpSpPr>
          <p:cNvPr id="2" name="Group 13"/>
          <p:cNvGrpSpPr/>
          <p:nvPr/>
        </p:nvGrpSpPr>
        <p:grpSpPr>
          <a:xfrm>
            <a:off x="228600" y="685800"/>
            <a:ext cx="8382000" cy="1666220"/>
            <a:chOff x="304800" y="3352800"/>
            <a:chExt cx="8382000" cy="1666220"/>
          </a:xfrm>
        </p:grpSpPr>
        <p:sp>
          <p:nvSpPr>
            <p:cNvPr id="125955" name="Line 3"/>
            <p:cNvSpPr>
              <a:spLocks noChangeShapeType="1"/>
            </p:cNvSpPr>
            <p:nvPr/>
          </p:nvSpPr>
          <p:spPr bwMode="auto">
            <a:xfrm>
              <a:off x="1292225" y="3581400"/>
              <a:ext cx="6553200" cy="0"/>
            </a:xfrm>
            <a:prstGeom prst="line">
              <a:avLst/>
            </a:prstGeom>
            <a:noFill/>
            <a:ln w="57150">
              <a:solidFill>
                <a:schemeClr val="tx1"/>
              </a:solidFill>
              <a:round/>
              <a:headEnd/>
              <a:tailEnd/>
            </a:ln>
            <a:effectLst/>
          </p:spPr>
          <p:txBody>
            <a:bodyPr wrap="none" anchor="ctr"/>
            <a:lstStyle/>
            <a:p>
              <a:endParaRPr lang="en-US"/>
            </a:p>
          </p:txBody>
        </p:sp>
        <p:sp>
          <p:nvSpPr>
            <p:cNvPr id="125956" name="Line 4"/>
            <p:cNvSpPr>
              <a:spLocks noChangeShapeType="1"/>
            </p:cNvSpPr>
            <p:nvPr/>
          </p:nvSpPr>
          <p:spPr bwMode="auto">
            <a:xfrm>
              <a:off x="12954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5957" name="Line 5"/>
            <p:cNvSpPr>
              <a:spLocks noChangeShapeType="1"/>
            </p:cNvSpPr>
            <p:nvPr/>
          </p:nvSpPr>
          <p:spPr bwMode="auto">
            <a:xfrm>
              <a:off x="7848600" y="3352800"/>
              <a:ext cx="0" cy="533400"/>
            </a:xfrm>
            <a:prstGeom prst="line">
              <a:avLst/>
            </a:prstGeom>
            <a:noFill/>
            <a:ln w="57150">
              <a:solidFill>
                <a:schemeClr val="tx1"/>
              </a:solidFill>
              <a:round/>
              <a:headEnd/>
              <a:tailEnd/>
            </a:ln>
            <a:effectLst/>
          </p:spPr>
          <p:txBody>
            <a:bodyPr wrap="none" anchor="ctr"/>
            <a:lstStyle/>
            <a:p>
              <a:endParaRPr lang="en-US"/>
            </a:p>
          </p:txBody>
        </p:sp>
        <p:sp>
          <p:nvSpPr>
            <p:cNvPr id="125958" name="AutoShape 6"/>
            <p:cNvSpPr>
              <a:spLocks noChangeArrowheads="1"/>
            </p:cNvSpPr>
            <p:nvPr/>
          </p:nvSpPr>
          <p:spPr bwMode="auto">
            <a:xfrm>
              <a:off x="4492625" y="3429000"/>
              <a:ext cx="152400" cy="304800"/>
            </a:xfrm>
            <a:prstGeom prst="diamond">
              <a:avLst/>
            </a:prstGeom>
            <a:solidFill>
              <a:srgbClr val="FFFF99"/>
            </a:solidFill>
            <a:ln w="12700">
              <a:solidFill>
                <a:schemeClr val="tx1"/>
              </a:solidFill>
              <a:miter lim="800000"/>
              <a:headEnd/>
              <a:tailEnd/>
            </a:ln>
            <a:effectLst/>
          </p:spPr>
          <p:txBody>
            <a:bodyPr wrap="none" anchor="ctr"/>
            <a:lstStyle/>
            <a:p>
              <a:endParaRPr lang="en-US"/>
            </a:p>
          </p:txBody>
        </p:sp>
        <p:sp>
          <p:nvSpPr>
            <p:cNvPr id="125959" name="AutoShape 7"/>
            <p:cNvSpPr>
              <a:spLocks noChangeArrowheads="1"/>
            </p:cNvSpPr>
            <p:nvPr/>
          </p:nvSpPr>
          <p:spPr bwMode="auto">
            <a:xfrm>
              <a:off x="4495800" y="3810000"/>
              <a:ext cx="152400" cy="685800"/>
            </a:xfrm>
            <a:prstGeom prst="upArrow">
              <a:avLst>
                <a:gd name="adj1" fmla="val 50000"/>
                <a:gd name="adj2" fmla="val 112500"/>
              </a:avLst>
            </a:prstGeom>
            <a:solidFill>
              <a:srgbClr val="000000"/>
            </a:solidFill>
            <a:ln w="12700">
              <a:solidFill>
                <a:srgbClr val="000000"/>
              </a:solidFill>
              <a:miter lim="800000"/>
              <a:headEnd/>
              <a:tailEnd/>
            </a:ln>
            <a:effectLst/>
          </p:spPr>
          <p:txBody>
            <a:bodyPr wrap="none" anchor="ctr"/>
            <a:lstStyle/>
            <a:p>
              <a:endParaRPr lang="en-US"/>
            </a:p>
          </p:txBody>
        </p:sp>
        <p:sp>
          <p:nvSpPr>
            <p:cNvPr id="125960" name="Text Box 8"/>
            <p:cNvSpPr txBox="1">
              <a:spLocks noChangeArrowheads="1"/>
            </p:cNvSpPr>
            <p:nvPr/>
          </p:nvSpPr>
          <p:spPr bwMode="auto">
            <a:xfrm>
              <a:off x="2895600" y="4495800"/>
              <a:ext cx="3581400" cy="523220"/>
            </a:xfrm>
            <a:prstGeom prst="rect">
              <a:avLst/>
            </a:prstGeom>
            <a:noFill/>
            <a:ln w="12700">
              <a:noFill/>
              <a:miter lim="800000"/>
              <a:headEnd/>
              <a:tailEnd/>
            </a:ln>
            <a:effectLst/>
          </p:spPr>
          <p:txBody>
            <a:bodyPr>
              <a:spAutoFit/>
            </a:bodyPr>
            <a:lstStyle/>
            <a:p>
              <a:pPr algn="ctr">
                <a:spcBef>
                  <a:spcPct val="50000"/>
                </a:spcBef>
              </a:pPr>
              <a:r>
                <a:rPr lang="en-US" sz="2800" dirty="0">
                  <a:latin typeface="Book Antiqua" pitchFamily="18" charset="0"/>
                </a:rPr>
                <a:t>Point Estimate</a:t>
              </a:r>
            </a:p>
          </p:txBody>
        </p:sp>
        <p:sp>
          <p:nvSpPr>
            <p:cNvPr id="125961" name="Text Box 9"/>
            <p:cNvSpPr txBox="1">
              <a:spLocks noChangeArrowheads="1"/>
            </p:cNvSpPr>
            <p:nvPr/>
          </p:nvSpPr>
          <p:spPr bwMode="auto">
            <a:xfrm>
              <a:off x="304800" y="4038600"/>
              <a:ext cx="3429000" cy="457200"/>
            </a:xfrm>
            <a:prstGeom prst="rect">
              <a:avLst/>
            </a:prstGeom>
            <a:noFill/>
            <a:ln w="12700">
              <a:noFill/>
              <a:miter lim="800000"/>
              <a:headEnd/>
              <a:tailEnd/>
            </a:ln>
            <a:effectLst/>
          </p:spPr>
          <p:txBody>
            <a:bodyPr>
              <a:spAutoFit/>
            </a:bodyPr>
            <a:lstStyle/>
            <a:p>
              <a:pPr algn="ctr">
                <a:spcBef>
                  <a:spcPct val="50000"/>
                </a:spcBef>
              </a:pPr>
              <a:r>
                <a:rPr lang="en-US" b="1">
                  <a:latin typeface="Book Antiqua" pitchFamily="18" charset="0"/>
                </a:rPr>
                <a:t>Lower Confidence Limit</a:t>
              </a:r>
            </a:p>
          </p:txBody>
        </p:sp>
        <p:sp>
          <p:nvSpPr>
            <p:cNvPr id="125962" name="Text Box 10"/>
            <p:cNvSpPr txBox="1">
              <a:spLocks noChangeArrowheads="1"/>
            </p:cNvSpPr>
            <p:nvPr/>
          </p:nvSpPr>
          <p:spPr bwMode="auto">
            <a:xfrm>
              <a:off x="5257800" y="4038600"/>
              <a:ext cx="3429000" cy="457200"/>
            </a:xfrm>
            <a:prstGeom prst="rect">
              <a:avLst/>
            </a:prstGeom>
            <a:noFill/>
            <a:ln w="12700">
              <a:noFill/>
              <a:miter lim="800000"/>
              <a:headEnd/>
              <a:tailEnd/>
            </a:ln>
            <a:effectLst/>
          </p:spPr>
          <p:txBody>
            <a:bodyPr>
              <a:spAutoFit/>
            </a:bodyPr>
            <a:lstStyle/>
            <a:p>
              <a:pPr algn="ctr">
                <a:spcBef>
                  <a:spcPct val="50000"/>
                </a:spcBef>
              </a:pPr>
              <a:r>
                <a:rPr lang="en-US" b="1">
                  <a:latin typeface="Book Antiqua" pitchFamily="18" charset="0"/>
                </a:rPr>
                <a:t>Upper Confidence Limit</a:t>
              </a:r>
            </a:p>
          </p:txBody>
        </p:sp>
      </p:grpSp>
      <p:grpSp>
        <p:nvGrpSpPr>
          <p:cNvPr id="3" name="Group 14"/>
          <p:cNvGrpSpPr/>
          <p:nvPr/>
        </p:nvGrpSpPr>
        <p:grpSpPr>
          <a:xfrm>
            <a:off x="1066800" y="2819400"/>
            <a:ext cx="7391400" cy="2971800"/>
            <a:chOff x="1066800" y="2667000"/>
            <a:chExt cx="7391400" cy="2971800"/>
          </a:xfrm>
        </p:grpSpPr>
        <p:sp>
          <p:nvSpPr>
            <p:cNvPr id="16" name="Freeform 3"/>
            <p:cNvSpPr>
              <a:spLocks/>
            </p:cNvSpPr>
            <p:nvPr/>
          </p:nvSpPr>
          <p:spPr bwMode="auto">
            <a:xfrm>
              <a:off x="4552950" y="3457575"/>
              <a:ext cx="3143250" cy="1647825"/>
            </a:xfrm>
            <a:custGeom>
              <a:avLst/>
              <a:gdLst/>
              <a:ahLst/>
              <a:cxnLst>
                <a:cxn ang="0">
                  <a:pos x="900" y="720"/>
                </a:cxn>
                <a:cxn ang="0">
                  <a:pos x="805" y="712"/>
                </a:cxn>
                <a:cxn ang="0">
                  <a:pos x="758" y="704"/>
                </a:cxn>
                <a:cxn ang="0">
                  <a:pos x="711" y="691"/>
                </a:cxn>
                <a:cxn ang="0">
                  <a:pos x="663" y="675"/>
                </a:cxn>
                <a:cxn ang="0">
                  <a:pos x="615" y="653"/>
                </a:cxn>
                <a:cxn ang="0">
                  <a:pos x="568" y="623"/>
                </a:cxn>
                <a:cxn ang="0">
                  <a:pos x="473" y="540"/>
                </a:cxn>
                <a:cxn ang="0">
                  <a:pos x="378" y="422"/>
                </a:cxn>
                <a:cxn ang="0">
                  <a:pos x="284" y="281"/>
                </a:cxn>
                <a:cxn ang="0">
                  <a:pos x="236" y="209"/>
                </a:cxn>
                <a:cxn ang="0">
                  <a:pos x="189" y="142"/>
                </a:cxn>
                <a:cxn ang="0">
                  <a:pos x="142" y="83"/>
                </a:cxn>
                <a:cxn ang="0">
                  <a:pos x="94" y="38"/>
                </a:cxn>
                <a:cxn ang="0">
                  <a:pos x="47" y="9"/>
                </a:cxn>
                <a:cxn ang="0">
                  <a:pos x="0" y="0"/>
                </a:cxn>
              </a:cxnLst>
              <a:rect l="0" t="0" r="r" b="b"/>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0000"/>
              </a:solidFill>
              <a:prstDash val="solid"/>
              <a:round/>
              <a:headEnd type="none" w="med" len="med"/>
              <a:tailEnd type="none" w="med" len="med"/>
            </a:ln>
            <a:effectLst/>
          </p:spPr>
          <p:txBody>
            <a:bodyPr/>
            <a:lstStyle/>
            <a:p>
              <a:endParaRPr lang="en-US"/>
            </a:p>
          </p:txBody>
        </p:sp>
        <p:sp>
          <p:nvSpPr>
            <p:cNvPr id="17" name="Freeform 4"/>
            <p:cNvSpPr>
              <a:spLocks/>
            </p:cNvSpPr>
            <p:nvPr/>
          </p:nvSpPr>
          <p:spPr bwMode="auto">
            <a:xfrm>
              <a:off x="1600200" y="3457575"/>
              <a:ext cx="2954338" cy="1647825"/>
            </a:xfrm>
            <a:custGeom>
              <a:avLst/>
              <a:gdLst/>
              <a:ahLst/>
              <a:cxnLst>
                <a:cxn ang="0">
                  <a:pos x="0" y="720"/>
                </a:cxn>
                <a:cxn ang="0">
                  <a:pos x="95" y="712"/>
                </a:cxn>
                <a:cxn ang="0">
                  <a:pos x="142" y="704"/>
                </a:cxn>
                <a:cxn ang="0">
                  <a:pos x="189" y="691"/>
                </a:cxn>
                <a:cxn ang="0">
                  <a:pos x="237" y="675"/>
                </a:cxn>
                <a:cxn ang="0">
                  <a:pos x="284" y="653"/>
                </a:cxn>
                <a:cxn ang="0">
                  <a:pos x="331" y="623"/>
                </a:cxn>
                <a:cxn ang="0">
                  <a:pos x="426" y="540"/>
                </a:cxn>
                <a:cxn ang="0">
                  <a:pos x="521" y="422"/>
                </a:cxn>
                <a:cxn ang="0">
                  <a:pos x="616" y="281"/>
                </a:cxn>
                <a:cxn ang="0">
                  <a:pos x="663" y="209"/>
                </a:cxn>
                <a:cxn ang="0">
                  <a:pos x="710" y="142"/>
                </a:cxn>
                <a:cxn ang="0">
                  <a:pos x="757" y="83"/>
                </a:cxn>
                <a:cxn ang="0">
                  <a:pos x="805" y="38"/>
                </a:cxn>
                <a:cxn ang="0">
                  <a:pos x="852" y="9"/>
                </a:cxn>
                <a:cxn ang="0">
                  <a:pos x="900" y="0"/>
                </a:cxn>
              </a:cxnLst>
              <a:rect l="0" t="0" r="r" b="b"/>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0000"/>
              </a:solidFill>
              <a:prstDash val="solid"/>
              <a:round/>
              <a:headEnd type="none" w="med" len="med"/>
              <a:tailEnd type="none" w="med" len="med"/>
            </a:ln>
            <a:effectLst/>
          </p:spPr>
          <p:txBody>
            <a:bodyPr/>
            <a:lstStyle/>
            <a:p>
              <a:endParaRPr lang="en-US"/>
            </a:p>
          </p:txBody>
        </p:sp>
        <p:sp>
          <p:nvSpPr>
            <p:cNvPr id="18" name="Line 5"/>
            <p:cNvSpPr>
              <a:spLocks noChangeShapeType="1"/>
            </p:cNvSpPr>
            <p:nvPr/>
          </p:nvSpPr>
          <p:spPr bwMode="auto">
            <a:xfrm>
              <a:off x="3052763" y="3752850"/>
              <a:ext cx="1587" cy="0"/>
            </a:xfrm>
            <a:prstGeom prst="line">
              <a:avLst/>
            </a:prstGeom>
            <a:noFill/>
            <a:ln w="12700">
              <a:solidFill>
                <a:srgbClr val="CDCDCD"/>
              </a:solidFill>
              <a:round/>
              <a:headEnd/>
              <a:tailEnd/>
            </a:ln>
            <a:effectLst/>
          </p:spPr>
          <p:txBody>
            <a:bodyPr wrap="none" anchor="ctr"/>
            <a:lstStyle/>
            <a:p>
              <a:endParaRPr lang="en-US"/>
            </a:p>
          </p:txBody>
        </p:sp>
        <p:sp>
          <p:nvSpPr>
            <p:cNvPr id="19" name="Line 6"/>
            <p:cNvSpPr>
              <a:spLocks noChangeShapeType="1"/>
            </p:cNvSpPr>
            <p:nvPr/>
          </p:nvSpPr>
          <p:spPr bwMode="auto">
            <a:xfrm>
              <a:off x="3052763" y="3873500"/>
              <a:ext cx="1587" cy="0"/>
            </a:xfrm>
            <a:prstGeom prst="line">
              <a:avLst/>
            </a:prstGeom>
            <a:noFill/>
            <a:ln w="12700">
              <a:solidFill>
                <a:srgbClr val="CDCDCD"/>
              </a:solidFill>
              <a:round/>
              <a:headEnd/>
              <a:tailEnd/>
            </a:ln>
            <a:effectLst/>
          </p:spPr>
          <p:txBody>
            <a:bodyPr wrap="none" anchor="ctr"/>
            <a:lstStyle/>
            <a:p>
              <a:endParaRPr lang="en-US"/>
            </a:p>
          </p:txBody>
        </p:sp>
        <p:sp>
          <p:nvSpPr>
            <p:cNvPr id="20" name="Line 7"/>
            <p:cNvSpPr>
              <a:spLocks noChangeShapeType="1"/>
            </p:cNvSpPr>
            <p:nvPr/>
          </p:nvSpPr>
          <p:spPr bwMode="auto">
            <a:xfrm>
              <a:off x="3052763" y="3995738"/>
              <a:ext cx="1587" cy="0"/>
            </a:xfrm>
            <a:prstGeom prst="line">
              <a:avLst/>
            </a:prstGeom>
            <a:noFill/>
            <a:ln w="12700">
              <a:solidFill>
                <a:srgbClr val="CDCDCD"/>
              </a:solidFill>
              <a:round/>
              <a:headEnd/>
              <a:tailEnd/>
            </a:ln>
            <a:effectLst/>
          </p:spPr>
          <p:txBody>
            <a:bodyPr wrap="none" anchor="ctr"/>
            <a:lstStyle/>
            <a:p>
              <a:endParaRPr lang="en-US"/>
            </a:p>
          </p:txBody>
        </p:sp>
        <p:sp>
          <p:nvSpPr>
            <p:cNvPr id="21" name="Line 8"/>
            <p:cNvSpPr>
              <a:spLocks noChangeShapeType="1"/>
            </p:cNvSpPr>
            <p:nvPr/>
          </p:nvSpPr>
          <p:spPr bwMode="auto">
            <a:xfrm>
              <a:off x="3052763" y="4116388"/>
              <a:ext cx="1587" cy="0"/>
            </a:xfrm>
            <a:prstGeom prst="line">
              <a:avLst/>
            </a:prstGeom>
            <a:noFill/>
            <a:ln w="12700">
              <a:solidFill>
                <a:srgbClr val="CDCDCD"/>
              </a:solidFill>
              <a:round/>
              <a:headEnd/>
              <a:tailEnd/>
            </a:ln>
            <a:effectLst/>
          </p:spPr>
          <p:txBody>
            <a:bodyPr wrap="none" anchor="ctr"/>
            <a:lstStyle/>
            <a:p>
              <a:endParaRPr lang="en-US"/>
            </a:p>
          </p:txBody>
        </p:sp>
        <p:sp>
          <p:nvSpPr>
            <p:cNvPr id="22" name="Line 9"/>
            <p:cNvSpPr>
              <a:spLocks noChangeShapeType="1"/>
            </p:cNvSpPr>
            <p:nvPr/>
          </p:nvSpPr>
          <p:spPr bwMode="auto">
            <a:xfrm>
              <a:off x="3052763" y="4238625"/>
              <a:ext cx="1587" cy="0"/>
            </a:xfrm>
            <a:prstGeom prst="line">
              <a:avLst/>
            </a:prstGeom>
            <a:noFill/>
            <a:ln w="12700">
              <a:solidFill>
                <a:srgbClr val="CDCDCD"/>
              </a:solidFill>
              <a:round/>
              <a:headEnd/>
              <a:tailEnd/>
            </a:ln>
            <a:effectLst/>
          </p:spPr>
          <p:txBody>
            <a:bodyPr wrap="none" anchor="ctr"/>
            <a:lstStyle/>
            <a:p>
              <a:endParaRPr lang="en-US"/>
            </a:p>
          </p:txBody>
        </p:sp>
        <p:sp>
          <p:nvSpPr>
            <p:cNvPr id="23" name="Line 10"/>
            <p:cNvSpPr>
              <a:spLocks noChangeShapeType="1"/>
            </p:cNvSpPr>
            <p:nvPr/>
          </p:nvSpPr>
          <p:spPr bwMode="auto">
            <a:xfrm>
              <a:off x="3052763" y="4359275"/>
              <a:ext cx="1587" cy="0"/>
            </a:xfrm>
            <a:prstGeom prst="line">
              <a:avLst/>
            </a:prstGeom>
            <a:noFill/>
            <a:ln w="12700">
              <a:solidFill>
                <a:srgbClr val="CDCDCD"/>
              </a:solidFill>
              <a:round/>
              <a:headEnd/>
              <a:tailEnd/>
            </a:ln>
            <a:effectLst/>
          </p:spPr>
          <p:txBody>
            <a:bodyPr wrap="none" anchor="ctr"/>
            <a:lstStyle/>
            <a:p>
              <a:endParaRPr lang="en-US"/>
            </a:p>
          </p:txBody>
        </p:sp>
        <p:sp>
          <p:nvSpPr>
            <p:cNvPr id="24" name="Line 11"/>
            <p:cNvSpPr>
              <a:spLocks noChangeShapeType="1"/>
            </p:cNvSpPr>
            <p:nvPr/>
          </p:nvSpPr>
          <p:spPr bwMode="auto">
            <a:xfrm>
              <a:off x="3052763" y="4479925"/>
              <a:ext cx="1587" cy="0"/>
            </a:xfrm>
            <a:prstGeom prst="line">
              <a:avLst/>
            </a:prstGeom>
            <a:noFill/>
            <a:ln w="12700">
              <a:solidFill>
                <a:srgbClr val="CDCDCD"/>
              </a:solidFill>
              <a:round/>
              <a:headEnd/>
              <a:tailEnd/>
            </a:ln>
            <a:effectLst/>
          </p:spPr>
          <p:txBody>
            <a:bodyPr wrap="none" anchor="ctr"/>
            <a:lstStyle/>
            <a:p>
              <a:endParaRPr lang="en-US"/>
            </a:p>
          </p:txBody>
        </p:sp>
        <p:sp>
          <p:nvSpPr>
            <p:cNvPr id="25" name="Rectangle 12"/>
            <p:cNvSpPr>
              <a:spLocks noChangeArrowheads="1"/>
            </p:cNvSpPr>
            <p:nvPr/>
          </p:nvSpPr>
          <p:spPr bwMode="auto">
            <a:xfrm>
              <a:off x="2940050" y="3903663"/>
              <a:ext cx="92075" cy="184150"/>
            </a:xfrm>
            <a:prstGeom prst="rect">
              <a:avLst/>
            </a:prstGeom>
            <a:noFill/>
            <a:ln w="12700">
              <a:noFill/>
              <a:miter lim="800000"/>
              <a:headEnd/>
              <a:tailEnd/>
            </a:ln>
            <a:effectLst/>
          </p:spPr>
          <p:txBody>
            <a:bodyPr wrap="none" anchor="ctr"/>
            <a:lstStyle/>
            <a:p>
              <a:endParaRPr lang="en-US"/>
            </a:p>
          </p:txBody>
        </p:sp>
        <p:sp>
          <p:nvSpPr>
            <p:cNvPr id="26" name="Line 13"/>
            <p:cNvSpPr>
              <a:spLocks noChangeShapeType="1"/>
            </p:cNvSpPr>
            <p:nvPr/>
          </p:nvSpPr>
          <p:spPr bwMode="auto">
            <a:xfrm>
              <a:off x="1066800" y="5181600"/>
              <a:ext cx="7391400" cy="0"/>
            </a:xfrm>
            <a:prstGeom prst="line">
              <a:avLst/>
            </a:prstGeom>
            <a:noFill/>
            <a:ln w="28575">
              <a:solidFill>
                <a:schemeClr val="tx1"/>
              </a:solidFill>
              <a:round/>
              <a:headEnd/>
              <a:tailEnd/>
            </a:ln>
            <a:effectLst/>
          </p:spPr>
          <p:txBody>
            <a:bodyPr wrap="none" anchor="ctr"/>
            <a:lstStyle/>
            <a:p>
              <a:endParaRPr lang="en-US"/>
            </a:p>
          </p:txBody>
        </p:sp>
        <p:sp>
          <p:nvSpPr>
            <p:cNvPr id="27" name="Line 14"/>
            <p:cNvSpPr>
              <a:spLocks noChangeShapeType="1"/>
            </p:cNvSpPr>
            <p:nvPr/>
          </p:nvSpPr>
          <p:spPr bwMode="auto">
            <a:xfrm>
              <a:off x="4572000" y="3505200"/>
              <a:ext cx="0" cy="1676400"/>
            </a:xfrm>
            <a:prstGeom prst="line">
              <a:avLst/>
            </a:prstGeom>
            <a:noFill/>
            <a:ln w="28575">
              <a:solidFill>
                <a:schemeClr val="tx1"/>
              </a:solidFill>
              <a:round/>
              <a:headEnd/>
              <a:tailEnd/>
            </a:ln>
            <a:effectLst/>
          </p:spPr>
          <p:txBody>
            <a:bodyPr wrap="none" anchor="ctr"/>
            <a:lstStyle/>
            <a:p>
              <a:endParaRPr lang="en-US"/>
            </a:p>
          </p:txBody>
        </p:sp>
        <p:sp>
          <p:nvSpPr>
            <p:cNvPr id="28" name="Line 15"/>
            <p:cNvSpPr>
              <a:spLocks noChangeShapeType="1"/>
            </p:cNvSpPr>
            <p:nvPr/>
          </p:nvSpPr>
          <p:spPr bwMode="auto">
            <a:xfrm flipV="1">
              <a:off x="2667000" y="2667000"/>
              <a:ext cx="0" cy="2514600"/>
            </a:xfrm>
            <a:prstGeom prst="line">
              <a:avLst/>
            </a:prstGeom>
            <a:noFill/>
            <a:ln w="28575">
              <a:solidFill>
                <a:schemeClr val="tx1"/>
              </a:solidFill>
              <a:prstDash val="dash"/>
              <a:round/>
              <a:headEnd/>
              <a:tailEnd/>
            </a:ln>
            <a:effectLst/>
          </p:spPr>
          <p:txBody>
            <a:bodyPr wrap="none" anchor="ctr"/>
            <a:lstStyle/>
            <a:p>
              <a:endParaRPr lang="en-US"/>
            </a:p>
          </p:txBody>
        </p:sp>
        <p:sp>
          <p:nvSpPr>
            <p:cNvPr id="29" name="Line 16"/>
            <p:cNvSpPr>
              <a:spLocks noChangeShapeType="1"/>
            </p:cNvSpPr>
            <p:nvPr/>
          </p:nvSpPr>
          <p:spPr bwMode="auto">
            <a:xfrm flipV="1">
              <a:off x="6553200" y="2667000"/>
              <a:ext cx="0" cy="2514600"/>
            </a:xfrm>
            <a:prstGeom prst="line">
              <a:avLst/>
            </a:prstGeom>
            <a:noFill/>
            <a:ln w="28575">
              <a:solidFill>
                <a:schemeClr val="tx1"/>
              </a:solidFill>
              <a:prstDash val="dash"/>
              <a:round/>
              <a:headEnd/>
              <a:tailEnd/>
            </a:ln>
            <a:effectLst/>
          </p:spPr>
          <p:txBody>
            <a:bodyPr wrap="none" anchor="ctr"/>
            <a:lstStyle/>
            <a:p>
              <a:endParaRPr lang="en-US"/>
            </a:p>
          </p:txBody>
        </p:sp>
        <p:sp>
          <p:nvSpPr>
            <p:cNvPr id="30" name="Line 17"/>
            <p:cNvSpPr>
              <a:spLocks noChangeShapeType="1"/>
            </p:cNvSpPr>
            <p:nvPr/>
          </p:nvSpPr>
          <p:spPr bwMode="auto">
            <a:xfrm flipH="1">
              <a:off x="2667000" y="2895600"/>
              <a:ext cx="1524000" cy="0"/>
            </a:xfrm>
            <a:prstGeom prst="line">
              <a:avLst/>
            </a:prstGeom>
            <a:noFill/>
            <a:ln w="12700">
              <a:solidFill>
                <a:schemeClr val="tx1"/>
              </a:solidFill>
              <a:round/>
              <a:headEnd/>
              <a:tailEnd type="triangle" w="med" len="med"/>
            </a:ln>
            <a:effectLst/>
          </p:spPr>
          <p:txBody>
            <a:bodyPr wrap="none" anchor="ctr"/>
            <a:lstStyle/>
            <a:p>
              <a:endParaRPr lang="en-US"/>
            </a:p>
          </p:txBody>
        </p:sp>
        <p:sp>
          <p:nvSpPr>
            <p:cNvPr id="31" name="Text Box 18"/>
            <p:cNvSpPr txBox="1">
              <a:spLocks noChangeArrowheads="1"/>
            </p:cNvSpPr>
            <p:nvPr/>
          </p:nvSpPr>
          <p:spPr bwMode="auto">
            <a:xfrm>
              <a:off x="4191000" y="2667000"/>
              <a:ext cx="762000" cy="457200"/>
            </a:xfrm>
            <a:prstGeom prst="rect">
              <a:avLst/>
            </a:prstGeom>
            <a:noFill/>
            <a:ln w="12700">
              <a:noFill/>
              <a:miter lim="800000"/>
              <a:headEnd/>
              <a:tailEnd/>
            </a:ln>
            <a:effectLst/>
          </p:spPr>
          <p:txBody>
            <a:bodyPr>
              <a:spAutoFit/>
            </a:bodyPr>
            <a:lstStyle/>
            <a:p>
              <a:pPr>
                <a:spcBef>
                  <a:spcPct val="50000"/>
                </a:spcBef>
              </a:pPr>
              <a:r>
                <a:rPr lang="en-US" b="1" dirty="0">
                  <a:latin typeface="Book Antiqua" pitchFamily="18" charset="0"/>
                </a:rPr>
                <a:t>0.95</a:t>
              </a:r>
            </a:p>
          </p:txBody>
        </p:sp>
        <p:sp>
          <p:nvSpPr>
            <p:cNvPr id="32" name="Line 19"/>
            <p:cNvSpPr>
              <a:spLocks noChangeShapeType="1"/>
            </p:cNvSpPr>
            <p:nvPr/>
          </p:nvSpPr>
          <p:spPr bwMode="auto">
            <a:xfrm>
              <a:off x="4876800" y="2895600"/>
              <a:ext cx="1676400" cy="0"/>
            </a:xfrm>
            <a:prstGeom prst="line">
              <a:avLst/>
            </a:prstGeom>
            <a:noFill/>
            <a:ln w="12700">
              <a:solidFill>
                <a:schemeClr val="tx1"/>
              </a:solidFill>
              <a:round/>
              <a:headEnd/>
              <a:tailEnd type="triangle" w="med" len="med"/>
            </a:ln>
            <a:effectLst/>
          </p:spPr>
          <p:txBody>
            <a:bodyPr wrap="none" anchor="ctr"/>
            <a:lstStyle/>
            <a:p>
              <a:endParaRPr lang="en-US"/>
            </a:p>
          </p:txBody>
        </p:sp>
        <p:sp>
          <p:nvSpPr>
            <p:cNvPr id="33" name="Text Box 20"/>
            <p:cNvSpPr txBox="1">
              <a:spLocks noChangeArrowheads="1"/>
            </p:cNvSpPr>
            <p:nvPr/>
          </p:nvSpPr>
          <p:spPr bwMode="auto">
            <a:xfrm>
              <a:off x="1371600" y="5181600"/>
              <a:ext cx="2743200" cy="457200"/>
            </a:xfrm>
            <a:prstGeom prst="rect">
              <a:avLst/>
            </a:prstGeom>
            <a:noFill/>
            <a:ln w="12700">
              <a:noFill/>
              <a:miter lim="800000"/>
              <a:headEnd/>
              <a:tailEnd/>
            </a:ln>
            <a:effectLst/>
          </p:spPr>
          <p:txBody>
            <a:bodyPr>
              <a:spAutoFit/>
            </a:bodyPr>
            <a:lstStyle/>
            <a:p>
              <a:pPr algn="ctr">
                <a:spcBef>
                  <a:spcPct val="50000"/>
                </a:spcBef>
              </a:pPr>
              <a:r>
                <a:rPr lang="en-US" b="1" i="1">
                  <a:latin typeface="Book Antiqua" pitchFamily="18" charset="0"/>
                </a:rPr>
                <a:t>z</a:t>
              </a:r>
              <a:r>
                <a:rPr lang="en-US" b="1" i="1" baseline="-25000">
                  <a:latin typeface="Book Antiqua" pitchFamily="18" charset="0"/>
                </a:rPr>
                <a:t>.</a:t>
              </a:r>
              <a:r>
                <a:rPr lang="en-US" b="1" baseline="-25000">
                  <a:latin typeface="Book Antiqua" pitchFamily="18" charset="0"/>
                </a:rPr>
                <a:t>025</a:t>
              </a:r>
              <a:r>
                <a:rPr lang="en-US" b="1">
                  <a:latin typeface="Book Antiqua" pitchFamily="18" charset="0"/>
                </a:rPr>
                <a:t>= -1.96</a:t>
              </a:r>
            </a:p>
          </p:txBody>
        </p:sp>
        <p:sp>
          <p:nvSpPr>
            <p:cNvPr id="34" name="Text Box 21"/>
            <p:cNvSpPr txBox="1">
              <a:spLocks noChangeArrowheads="1"/>
            </p:cNvSpPr>
            <p:nvPr/>
          </p:nvSpPr>
          <p:spPr bwMode="auto">
            <a:xfrm>
              <a:off x="5257800" y="5181600"/>
              <a:ext cx="2743200" cy="457200"/>
            </a:xfrm>
            <a:prstGeom prst="rect">
              <a:avLst/>
            </a:prstGeom>
            <a:noFill/>
            <a:ln w="12700">
              <a:noFill/>
              <a:miter lim="800000"/>
              <a:headEnd/>
              <a:tailEnd/>
            </a:ln>
            <a:effectLst/>
          </p:spPr>
          <p:txBody>
            <a:bodyPr>
              <a:spAutoFit/>
            </a:bodyPr>
            <a:lstStyle/>
            <a:p>
              <a:pPr algn="ctr">
                <a:spcBef>
                  <a:spcPct val="50000"/>
                </a:spcBef>
              </a:pPr>
              <a:r>
                <a:rPr lang="en-US" b="1" i="1">
                  <a:latin typeface="Book Antiqua" pitchFamily="18" charset="0"/>
                </a:rPr>
                <a:t>z</a:t>
              </a:r>
              <a:r>
                <a:rPr lang="en-US" b="1" i="1" baseline="-25000">
                  <a:latin typeface="Book Antiqua" pitchFamily="18" charset="0"/>
                </a:rPr>
                <a:t>.</a:t>
              </a:r>
              <a:r>
                <a:rPr lang="en-US" b="1" baseline="-25000">
                  <a:latin typeface="Book Antiqua" pitchFamily="18" charset="0"/>
                </a:rPr>
                <a:t>025</a:t>
              </a:r>
              <a:r>
                <a:rPr lang="en-US" b="1">
                  <a:latin typeface="Book Antiqua" pitchFamily="18" charset="0"/>
                </a:rPr>
                <a:t>= 1.96</a:t>
              </a:r>
            </a:p>
          </p:txBody>
        </p:sp>
      </p:grpSp>
      <p:sp>
        <p:nvSpPr>
          <p:cNvPr id="35" name="Rectangle 2"/>
          <p:cNvSpPr txBox="1">
            <a:spLocks noChangeArrowheads="1"/>
          </p:cNvSpPr>
          <p:nvPr/>
        </p:nvSpPr>
        <p:spPr>
          <a:xfrm>
            <a:off x="762000" y="2209800"/>
            <a:ext cx="7721600" cy="1143000"/>
          </a:xfrm>
          <a:prstGeom prst="rect">
            <a:avLst/>
          </a:prstGeom>
          <a:ln/>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smtClean="0">
                <a:ln>
                  <a:noFill/>
                </a:ln>
                <a:solidFill>
                  <a:schemeClr val="tx1"/>
                </a:solidFill>
                <a:effectLst/>
                <a:uLnTx/>
                <a:uFillTx/>
                <a:latin typeface="+mj-lt"/>
                <a:ea typeface="+mj-ea"/>
                <a:cs typeface="+mj-cs"/>
              </a:rPr>
              <a:t>95%</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 </a:t>
            </a:r>
            <a:r>
              <a:rPr kumimoji="0" lang="en-US" sz="28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Confidence Intervals</a:t>
            </a:r>
            <a:endParaRPr kumimoji="0" lang="en-US" sz="28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graphicFrame>
        <p:nvGraphicFramePr>
          <p:cNvPr id="11269" name="Object 7"/>
          <p:cNvGraphicFramePr>
            <a:graphicFrameLocks noChangeAspect="1"/>
          </p:cNvGraphicFramePr>
          <p:nvPr/>
        </p:nvGraphicFramePr>
        <p:xfrm>
          <a:off x="609600" y="3581400"/>
          <a:ext cx="1268413" cy="990600"/>
        </p:xfrm>
        <a:graphic>
          <a:graphicData uri="http://schemas.openxmlformats.org/presentationml/2006/ole">
            <p:oleObj spid="_x0000_s738360" name="Equation" r:id="rId3" imgW="1854200" imgH="1447800" progId="Equation.3">
              <p:embed/>
            </p:oleObj>
          </a:graphicData>
        </a:graphic>
      </p:graphicFrame>
      <p:sp>
        <p:nvSpPr>
          <p:cNvPr id="36" name="Text Box 4"/>
          <p:cNvSpPr txBox="1">
            <a:spLocks noChangeArrowheads="1"/>
          </p:cNvSpPr>
          <p:nvPr/>
        </p:nvSpPr>
        <p:spPr bwMode="auto">
          <a:xfrm>
            <a:off x="457200" y="5715000"/>
            <a:ext cx="8458200" cy="830997"/>
          </a:xfrm>
          <a:prstGeom prst="rect">
            <a:avLst/>
          </a:prstGeom>
          <a:noFill/>
          <a:ln w="9525">
            <a:noFill/>
            <a:miter lim="800000"/>
            <a:headEnd/>
            <a:tailEnd/>
          </a:ln>
        </p:spPr>
        <p:txBody>
          <a:bodyPr wrap="square">
            <a:spAutoFit/>
          </a:bodyPr>
          <a:lstStyle/>
          <a:p>
            <a:pPr eaLnBrk="1" hangingPunct="1">
              <a:defRPr/>
            </a:pPr>
            <a:r>
              <a:rPr lang="en-US" sz="2400" dirty="0">
                <a:latin typeface="Times New Roman" pitchFamily="18" charset="0"/>
              </a:rPr>
              <a:t>The z-score indicates the number of standard </a:t>
            </a:r>
            <a:r>
              <a:rPr lang="en-US" sz="2400" dirty="0" smtClean="0">
                <a:latin typeface="Times New Roman" pitchFamily="18" charset="0"/>
              </a:rPr>
              <a:t>deviations that </a:t>
            </a:r>
            <a:r>
              <a:rPr lang="en-US" sz="2400" dirty="0">
                <a:latin typeface="Times New Roman" pitchFamily="18" charset="0"/>
              </a:rPr>
              <a:t>value </a:t>
            </a:r>
            <a:r>
              <a:rPr lang="en-US" sz="2400" i="1" dirty="0">
                <a:latin typeface="Times New Roman" pitchFamily="18" charset="0"/>
              </a:rPr>
              <a:t>x</a:t>
            </a:r>
            <a:r>
              <a:rPr lang="en-US" sz="2400" dirty="0">
                <a:latin typeface="Times New Roman" pitchFamily="18" charset="0"/>
              </a:rPr>
              <a:t> is away from the mean </a:t>
            </a:r>
            <a:r>
              <a:rPr lang="en-US" sz="2400" dirty="0">
                <a:latin typeface="Times New Roman" pitchFamily="18" charset="0"/>
                <a:sym typeface="Symbol" pitchFamily="18" charset="2"/>
              </a:rPr>
              <a:t></a:t>
            </a:r>
            <a:r>
              <a:rPr lang="en-US" sz="2400" dirty="0">
                <a:latin typeface="Times New Roman" pitchFamily="18" charset="0"/>
              </a:rPr>
              <a:t> </a:t>
            </a:r>
          </a:p>
        </p:txBody>
      </p:sp>
      <p:sp>
        <p:nvSpPr>
          <p:cNvPr id="37" name="TextBox 36"/>
          <p:cNvSpPr txBox="1"/>
          <p:nvPr/>
        </p:nvSpPr>
        <p:spPr>
          <a:xfrm>
            <a:off x="228600" y="3048000"/>
            <a:ext cx="1981200" cy="400110"/>
          </a:xfrm>
          <a:prstGeom prst="rect">
            <a:avLst/>
          </a:prstGeom>
          <a:noFill/>
        </p:spPr>
        <p:txBody>
          <a:bodyPr wrap="square" rtlCol="0">
            <a:spAutoFit/>
          </a:bodyPr>
          <a:lstStyle/>
          <a:p>
            <a:pPr algn="ctr"/>
            <a:r>
              <a:rPr lang="en-US" sz="2000" dirty="0" smtClean="0">
                <a:latin typeface="+mj-lt"/>
              </a:rPr>
              <a:t>Normalized Z</a:t>
            </a:r>
            <a:endParaRPr lang="en-IN" sz="2000" dirty="0">
              <a:latin typeface="+mj-lt"/>
            </a:endParaRPr>
          </a:p>
        </p:txBody>
      </p:sp>
    </p:spTree>
  </p:cSld>
  <p:clrMapOvr>
    <a:masterClrMapping/>
  </p:clrMapOvr>
  <p:transition spd="med">
    <p:random/>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1"/>
            <a:ext cx="7772400" cy="533400"/>
          </a:xfrm>
        </p:spPr>
        <p:txBody>
          <a:bodyPr/>
          <a:lstStyle/>
          <a:p>
            <a:r>
              <a:rPr lang="en-US" b="0" dirty="0" smtClean="0"/>
              <a:t>Estimates of population mean</a:t>
            </a:r>
            <a:endParaRPr lang="en-IN" b="0" dirty="0"/>
          </a:p>
        </p:txBody>
      </p:sp>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a:p>
        </p:txBody>
      </p:sp>
      <p:sp>
        <p:nvSpPr>
          <p:cNvPr id="7" name="TextBox 6"/>
          <p:cNvSpPr txBox="1"/>
          <p:nvPr/>
        </p:nvSpPr>
        <p:spPr>
          <a:xfrm>
            <a:off x="381000" y="914400"/>
            <a:ext cx="8610600" cy="830997"/>
          </a:xfrm>
          <a:prstGeom prst="rect">
            <a:avLst/>
          </a:prstGeom>
          <a:noFill/>
        </p:spPr>
        <p:txBody>
          <a:bodyPr wrap="square" rtlCol="0">
            <a:spAutoFit/>
          </a:bodyPr>
          <a:lstStyle/>
          <a:p>
            <a:r>
              <a:rPr lang="en-US" sz="2400" dirty="0" smtClean="0">
                <a:latin typeface="+mj-lt"/>
              </a:rPr>
              <a:t>The relation between dispersion of a population distribution and that of the sample mean is given as</a:t>
            </a:r>
            <a:r>
              <a:rPr lang="en-US" dirty="0" smtClean="0"/>
              <a:t>,</a:t>
            </a:r>
            <a:endParaRPr lang="en-IN" dirty="0"/>
          </a:p>
        </p:txBody>
      </p:sp>
      <p:graphicFrame>
        <p:nvGraphicFramePr>
          <p:cNvPr id="8" name="Object 7"/>
          <p:cNvGraphicFramePr>
            <a:graphicFrameLocks noChangeAspect="1"/>
          </p:cNvGraphicFramePr>
          <p:nvPr>
            <p:extLst>
              <p:ext uri="{D42A27DB-BD31-4B8C-83A1-F6EECF244321}">
                <p14:modId xmlns="" xmlns:p14="http://schemas.microsoft.com/office/powerpoint/2010/main" val="3616371189"/>
              </p:ext>
            </p:extLst>
          </p:nvPr>
        </p:nvGraphicFramePr>
        <p:xfrm>
          <a:off x="2882685" y="1745397"/>
          <a:ext cx="1219200" cy="889000"/>
        </p:xfrm>
        <a:graphic>
          <a:graphicData uri="http://schemas.openxmlformats.org/presentationml/2006/ole">
            <p:oleObj spid="_x0000_s770160" name="Equation" r:id="rId3" imgW="609336" imgH="444307" progId="Equation.3">
              <p:embed/>
            </p:oleObj>
          </a:graphicData>
        </a:graphic>
      </p:graphicFrame>
      <p:sp>
        <p:nvSpPr>
          <p:cNvPr id="9" name="TextBox 8"/>
          <p:cNvSpPr txBox="1"/>
          <p:nvPr/>
        </p:nvSpPr>
        <p:spPr>
          <a:xfrm>
            <a:off x="685800" y="2590800"/>
            <a:ext cx="2057400" cy="1015663"/>
          </a:xfrm>
          <a:prstGeom prst="rect">
            <a:avLst/>
          </a:prstGeom>
          <a:noFill/>
          <a:ln>
            <a:solidFill>
              <a:srgbClr val="FF0000"/>
            </a:solidFill>
          </a:ln>
        </p:spPr>
        <p:txBody>
          <a:bodyPr wrap="square" rtlCol="0">
            <a:spAutoFit/>
          </a:bodyPr>
          <a:lstStyle/>
          <a:p>
            <a:r>
              <a:rPr lang="en-US" sz="2000" dirty="0" smtClean="0">
                <a:latin typeface="+mj-lt"/>
              </a:rPr>
              <a:t>Standard error of mean for a given sample size</a:t>
            </a:r>
            <a:endParaRPr lang="en-IN" sz="2000" dirty="0">
              <a:latin typeface="+mj-lt"/>
            </a:endParaRPr>
          </a:p>
        </p:txBody>
      </p:sp>
      <p:cxnSp>
        <p:nvCxnSpPr>
          <p:cNvPr id="11" name="Straight Arrow Connector 10"/>
          <p:cNvCxnSpPr/>
          <p:nvPr/>
        </p:nvCxnSpPr>
        <p:spPr bwMode="auto">
          <a:xfrm flipV="1">
            <a:off x="1447800" y="2057400"/>
            <a:ext cx="990600" cy="5334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2" name="TextBox 11"/>
          <p:cNvSpPr txBox="1"/>
          <p:nvPr/>
        </p:nvSpPr>
        <p:spPr>
          <a:xfrm>
            <a:off x="4495800" y="1703457"/>
            <a:ext cx="2438400" cy="707886"/>
          </a:xfrm>
          <a:prstGeom prst="rect">
            <a:avLst/>
          </a:prstGeom>
          <a:noFill/>
          <a:ln>
            <a:solidFill>
              <a:schemeClr val="accent1">
                <a:lumMod val="50000"/>
              </a:schemeClr>
            </a:solidFill>
          </a:ln>
        </p:spPr>
        <p:txBody>
          <a:bodyPr wrap="square" rtlCol="0">
            <a:spAutoFit/>
          </a:bodyPr>
          <a:lstStyle/>
          <a:p>
            <a:r>
              <a:rPr lang="en-US" sz="2000" dirty="0" smtClean="0">
                <a:latin typeface="+mj-lt"/>
              </a:rPr>
              <a:t>Standard deviation of population</a:t>
            </a:r>
            <a:endParaRPr lang="en-IN" sz="2000" dirty="0">
              <a:latin typeface="+mj-lt"/>
            </a:endParaRPr>
          </a:p>
        </p:txBody>
      </p:sp>
      <p:cxnSp>
        <p:nvCxnSpPr>
          <p:cNvPr id="14" name="Straight Arrow Connector 13"/>
          <p:cNvCxnSpPr/>
          <p:nvPr/>
        </p:nvCxnSpPr>
        <p:spPr bwMode="auto">
          <a:xfrm rot="10800000">
            <a:off x="3733800" y="1676400"/>
            <a:ext cx="30480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TextBox 14"/>
          <p:cNvSpPr txBox="1"/>
          <p:nvPr/>
        </p:nvSpPr>
        <p:spPr>
          <a:xfrm>
            <a:off x="3581400" y="2895600"/>
            <a:ext cx="4648200" cy="1200329"/>
          </a:xfrm>
          <a:prstGeom prst="rect">
            <a:avLst/>
          </a:prstGeom>
          <a:noFill/>
        </p:spPr>
        <p:txBody>
          <a:bodyPr wrap="square" rtlCol="0">
            <a:spAutoFit/>
          </a:bodyPr>
          <a:lstStyle/>
          <a:p>
            <a:r>
              <a:rPr lang="en-US" sz="2400" dirty="0" smtClean="0">
                <a:latin typeface="+mj-lt"/>
              </a:rPr>
              <a:t>But we do not have any information of population so how can we know  </a:t>
            </a:r>
            <a:r>
              <a:rPr lang="el-GR" sz="2400" dirty="0" smtClean="0">
                <a:latin typeface="+mj-lt"/>
              </a:rPr>
              <a:t>σ</a:t>
            </a:r>
            <a:r>
              <a:rPr lang="en-US" sz="2400" baseline="-25000" dirty="0" smtClean="0">
                <a:latin typeface="+mj-lt"/>
              </a:rPr>
              <a:t>p</a:t>
            </a:r>
            <a:endParaRPr lang="en-IN" sz="2400" dirty="0">
              <a:latin typeface="+mj-lt"/>
            </a:endParaRPr>
          </a:p>
        </p:txBody>
      </p:sp>
      <p:sp>
        <p:nvSpPr>
          <p:cNvPr id="16" name="TextBox 15"/>
          <p:cNvSpPr txBox="1"/>
          <p:nvPr/>
        </p:nvSpPr>
        <p:spPr>
          <a:xfrm>
            <a:off x="1066800" y="4267200"/>
            <a:ext cx="7772400" cy="461665"/>
          </a:xfrm>
          <a:prstGeom prst="rect">
            <a:avLst/>
          </a:prstGeom>
          <a:noFill/>
        </p:spPr>
        <p:txBody>
          <a:bodyPr wrap="square" rtlCol="0">
            <a:spAutoFit/>
          </a:bodyPr>
          <a:lstStyle/>
          <a:p>
            <a:r>
              <a:rPr lang="en-US" sz="2400" dirty="0" smtClean="0">
                <a:latin typeface="+mj-lt"/>
              </a:rPr>
              <a:t>Best estimates is to take the standard deviation of sample </a:t>
            </a:r>
            <a:r>
              <a:rPr lang="el-GR" sz="2400" dirty="0" smtClean="0">
                <a:latin typeface="+mj-lt"/>
              </a:rPr>
              <a:t>σ</a:t>
            </a:r>
            <a:r>
              <a:rPr lang="en-US" sz="2400" baseline="-25000" dirty="0" smtClean="0">
                <a:latin typeface="+mj-lt"/>
              </a:rPr>
              <a:t>s</a:t>
            </a:r>
            <a:endParaRPr lang="en-IN" sz="2400" dirty="0">
              <a:latin typeface="+mj-lt"/>
            </a:endParaRPr>
          </a:p>
        </p:txBody>
      </p:sp>
      <p:graphicFrame>
        <p:nvGraphicFramePr>
          <p:cNvPr id="17" name="Object 16"/>
          <p:cNvGraphicFramePr>
            <a:graphicFrameLocks noChangeAspect="1"/>
          </p:cNvGraphicFramePr>
          <p:nvPr>
            <p:extLst>
              <p:ext uri="{D42A27DB-BD31-4B8C-83A1-F6EECF244321}">
                <p14:modId xmlns="" xmlns:p14="http://schemas.microsoft.com/office/powerpoint/2010/main" val="3430584787"/>
              </p:ext>
            </p:extLst>
          </p:nvPr>
        </p:nvGraphicFramePr>
        <p:xfrm>
          <a:off x="3581400" y="4876800"/>
          <a:ext cx="1981200" cy="968086"/>
        </p:xfrm>
        <a:graphic>
          <a:graphicData uri="http://schemas.openxmlformats.org/presentationml/2006/ole">
            <p:oleObj spid="_x0000_s770161" name="Equation" r:id="rId4" imgW="1117115" imgH="545863" progId="Equation.3">
              <p:embed/>
            </p:oleObj>
          </a:graphicData>
        </a:graphic>
      </p:graphicFrame>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42918"/>
            <a:ext cx="8763000" cy="2357454"/>
          </a:xfrm>
        </p:spPr>
        <p:txBody>
          <a:bodyPr/>
          <a:lstStyle/>
          <a:p>
            <a:pPr algn="l"/>
            <a:r>
              <a:rPr lang="en-US" sz="2400" b="0" dirty="0" smtClean="0"/>
              <a:t>A random sample of 36  Professor of CU, the mean age = 40 and sample standard deviation =4.5. Construct 95% Confidence interval  of mean age of Professors in CU.</a:t>
            </a:r>
            <a:br>
              <a:rPr lang="en-US" sz="2400" b="0" dirty="0" smtClean="0"/>
            </a:br>
            <a:r>
              <a:rPr lang="en-US" sz="2400" b="0" dirty="0" smtClean="0"/>
              <a:t>So, given n=36 and </a:t>
            </a:r>
            <a:r>
              <a:rPr lang="en-US" sz="2400" b="0" dirty="0" smtClean="0">
                <a:sym typeface="Symbol"/>
              </a:rPr>
              <a:t>= 4.5 and at 95% CI, z=1.96.</a:t>
            </a:r>
            <a:br>
              <a:rPr lang="en-US" sz="2400" b="0" dirty="0" smtClean="0">
                <a:sym typeface="Symbol"/>
              </a:rPr>
            </a:br>
            <a:r>
              <a:rPr lang="en-US" sz="2400" b="0" dirty="0" smtClean="0">
                <a:sym typeface="Symbol"/>
              </a:rPr>
              <a:t/>
            </a:r>
            <a:br>
              <a:rPr lang="en-US" sz="2400" b="0" dirty="0" smtClean="0">
                <a:sym typeface="Symbol"/>
              </a:rPr>
            </a:br>
            <a:r>
              <a:rPr lang="en-US" sz="2400" b="0" dirty="0" smtClean="0">
                <a:sym typeface="Symbol"/>
              </a:rPr>
              <a:t>Mean age of population</a:t>
            </a:r>
            <a:r>
              <a:rPr lang="en-US" sz="2400" b="0" dirty="0" smtClean="0"/>
              <a:t/>
            </a:r>
            <a:br>
              <a:rPr lang="en-US" sz="2400" b="0" dirty="0" smtClean="0"/>
            </a:br>
            <a:r>
              <a:rPr lang="en-US" sz="2400" b="0" dirty="0" smtClean="0"/>
              <a:t/>
            </a:r>
            <a:br>
              <a:rPr lang="en-US" sz="2400" b="0" dirty="0" smtClean="0"/>
            </a:br>
            <a:endParaRPr lang="en-IN" sz="2400" b="0" dirty="0"/>
          </a:p>
        </p:txBody>
      </p:sp>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a:p>
        </p:txBody>
      </p:sp>
      <p:graphicFrame>
        <p:nvGraphicFramePr>
          <p:cNvPr id="737282" name="Object 1"/>
          <p:cNvGraphicFramePr>
            <a:graphicFrameLocks noChangeAspect="1"/>
          </p:cNvGraphicFramePr>
          <p:nvPr>
            <p:extLst>
              <p:ext uri="{D42A27DB-BD31-4B8C-83A1-F6EECF244321}">
                <p14:modId xmlns="" xmlns:p14="http://schemas.microsoft.com/office/powerpoint/2010/main" val="488386313"/>
              </p:ext>
            </p:extLst>
          </p:nvPr>
        </p:nvGraphicFramePr>
        <p:xfrm>
          <a:off x="6786578" y="1785926"/>
          <a:ext cx="1465263" cy="381000"/>
        </p:xfrm>
        <a:graphic>
          <a:graphicData uri="http://schemas.openxmlformats.org/presentationml/2006/ole">
            <p:oleObj spid="_x0000_s737450" name="Equation" r:id="rId3" imgW="444114" imgH="177646" progId="Equation.3">
              <p:embed/>
            </p:oleObj>
          </a:graphicData>
        </a:graphic>
      </p:graphicFrame>
      <p:graphicFrame>
        <p:nvGraphicFramePr>
          <p:cNvPr id="8" name="Object 7"/>
          <p:cNvGraphicFramePr>
            <a:graphicFrameLocks noChangeAspect="1"/>
          </p:cNvGraphicFramePr>
          <p:nvPr/>
        </p:nvGraphicFramePr>
        <p:xfrm>
          <a:off x="5334000" y="3200400"/>
          <a:ext cx="3505200" cy="838200"/>
        </p:xfrm>
        <a:graphic>
          <a:graphicData uri="http://schemas.openxmlformats.org/presentationml/2006/ole">
            <p:oleObj spid="_x0000_s737451" name="Equation" r:id="rId4" imgW="1587500" imgH="419100" progId="Equation.3">
              <p:embed/>
            </p:oleObj>
          </a:graphicData>
        </a:graphic>
      </p:graphicFrame>
      <p:sp>
        <p:nvSpPr>
          <p:cNvPr id="737284" name="Rectangle 4"/>
          <p:cNvSpPr>
            <a:spLocks noChangeArrowheads="1"/>
          </p:cNvSpPr>
          <p:nvPr/>
        </p:nvSpPr>
        <p:spPr bwMode="auto">
          <a:xfrm>
            <a:off x="609600" y="4267200"/>
            <a:ext cx="8077200" cy="940627"/>
          </a:xfrm>
          <a:prstGeom prst="rect">
            <a:avLst/>
          </a:prstGeom>
          <a:solidFill>
            <a:srgbClr val="FFFFFF"/>
          </a:solidFill>
          <a:ln w="9525">
            <a:noFill/>
            <a:miter lim="800000"/>
            <a:headEnd/>
            <a:tailEnd/>
          </a:ln>
          <a:effectLst/>
        </p:spPr>
        <p:txBody>
          <a:bodyPr vert="horz" wrap="square" lIns="253920" tIns="31740" rIns="0" bIns="1587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252525"/>
                </a:solidFill>
                <a:effectLst/>
                <a:latin typeface="+mj-lt"/>
                <a:cs typeface="Arial" charset="0"/>
              </a:rPr>
              <a:t>This normal distribution is used when sample size is large and  standard  deviation of population is known.</a:t>
            </a:r>
            <a:endParaRPr kumimoji="0" lang="en-US" sz="1000" b="0" i="0" u="none" strike="noStrike" cap="none" normalizeH="0" baseline="0" dirty="0" smtClean="0">
              <a:ln>
                <a:noFill/>
              </a:ln>
              <a:solidFill>
                <a:srgbClr val="252525"/>
              </a:solidFill>
              <a:effectLst/>
              <a:latin typeface="+mj-lt"/>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smtClean="0">
              <a:ln>
                <a:noFill/>
              </a:ln>
              <a:solidFill>
                <a:srgbClr val="252525"/>
              </a:solidFill>
              <a:effectLst/>
              <a:latin typeface="Arial" charset="0"/>
              <a:cs typeface="Arial" charset="0"/>
            </a:endParaRPr>
          </a:p>
        </p:txBody>
      </p:sp>
      <p:graphicFrame>
        <p:nvGraphicFramePr>
          <p:cNvPr id="12" name="Object 11"/>
          <p:cNvGraphicFramePr>
            <a:graphicFrameLocks noChangeAspect="1"/>
          </p:cNvGraphicFramePr>
          <p:nvPr/>
        </p:nvGraphicFramePr>
        <p:xfrm>
          <a:off x="3581400" y="3200400"/>
          <a:ext cx="1295400" cy="971550"/>
        </p:xfrm>
        <a:graphic>
          <a:graphicData uri="http://schemas.openxmlformats.org/presentationml/2006/ole">
            <p:oleObj spid="_x0000_s737452" name="Equation" r:id="rId5" imgW="558800" imgH="419100" progId="Equation.3">
              <p:embed/>
            </p:oleObj>
          </a:graphicData>
        </a:graphic>
      </p:graphicFrame>
      <p:sp>
        <p:nvSpPr>
          <p:cNvPr id="11" name="TextBox 10"/>
          <p:cNvSpPr txBox="1"/>
          <p:nvPr/>
        </p:nvSpPr>
        <p:spPr>
          <a:xfrm>
            <a:off x="928662" y="71414"/>
            <a:ext cx="7929618" cy="461665"/>
          </a:xfrm>
          <a:prstGeom prst="rect">
            <a:avLst/>
          </a:prstGeom>
          <a:noFill/>
        </p:spPr>
        <p:txBody>
          <a:bodyPr wrap="square" rtlCol="0">
            <a:spAutoFit/>
          </a:bodyPr>
          <a:lstStyle/>
          <a:p>
            <a:pPr algn="ctr"/>
            <a:r>
              <a:rPr lang="en-US" sz="2400" dirty="0" smtClean="0">
                <a:latin typeface="+mj-lt"/>
              </a:rPr>
              <a:t>Estimating population mean</a:t>
            </a:r>
            <a:endParaRPr lang="en-US" sz="2400" dirty="0">
              <a:latin typeface="+mj-lt"/>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a:p>
        </p:txBody>
      </p:sp>
      <p:sp>
        <p:nvSpPr>
          <p:cNvPr id="7" name="Rectangle 6"/>
          <p:cNvSpPr/>
          <p:nvPr/>
        </p:nvSpPr>
        <p:spPr>
          <a:xfrm>
            <a:off x="214282" y="714356"/>
            <a:ext cx="8643998" cy="3332772"/>
          </a:xfrm>
          <a:prstGeom prst="rect">
            <a:avLst/>
          </a:prstGeom>
        </p:spPr>
        <p:txBody>
          <a:bodyPr wrap="square">
            <a:spAutoFit/>
          </a:bodyPr>
          <a:lstStyle/>
          <a:p>
            <a:pPr>
              <a:lnSpc>
                <a:spcPts val="3200"/>
              </a:lnSpc>
            </a:pPr>
            <a:r>
              <a:rPr lang="en-IN" sz="2000" dirty="0" smtClean="0">
                <a:latin typeface="+mj-lt"/>
              </a:rPr>
              <a:t>In a random selection of 64 of the 2400 intersections in a small city, the mean number of scooter accidents per year was 3.2 and the sample standard deviation was 0.8.</a:t>
            </a:r>
          </a:p>
          <a:p>
            <a:pPr>
              <a:lnSpc>
                <a:spcPts val="3200"/>
              </a:lnSpc>
            </a:pPr>
            <a:r>
              <a:rPr lang="en-IN" sz="2000" dirty="0" smtClean="0">
                <a:latin typeface="+mj-lt"/>
              </a:rPr>
              <a:t>(1) Make an estimate of the standard deviation of the population from the sample standard </a:t>
            </a:r>
            <a:r>
              <a:rPr lang="en-US" sz="2000" dirty="0" smtClean="0">
                <a:latin typeface="+mj-lt"/>
              </a:rPr>
              <a:t>deviation.</a:t>
            </a:r>
          </a:p>
          <a:p>
            <a:pPr>
              <a:lnSpc>
                <a:spcPts val="3200"/>
              </a:lnSpc>
            </a:pPr>
            <a:r>
              <a:rPr lang="en-IN" sz="2000" dirty="0" smtClean="0">
                <a:latin typeface="+mj-lt"/>
              </a:rPr>
              <a:t>(2) Work out the standard error of mean for this finite population.</a:t>
            </a:r>
          </a:p>
          <a:p>
            <a:pPr>
              <a:lnSpc>
                <a:spcPts val="3200"/>
              </a:lnSpc>
            </a:pPr>
            <a:r>
              <a:rPr lang="en-IN" sz="2000" dirty="0" smtClean="0">
                <a:latin typeface="+mj-lt"/>
              </a:rPr>
              <a:t>(3) If the desired confidence level is .90, what will be the upper and lower limits of the confidence interval for the mean number of accidents per intersection per year?</a:t>
            </a:r>
            <a:endParaRPr lang="en-US" sz="2000" dirty="0">
              <a:latin typeface="+mj-lt"/>
            </a:endParaRPr>
          </a:p>
        </p:txBody>
      </p:sp>
      <p:sp>
        <p:nvSpPr>
          <p:cNvPr id="8" name="Rectangle 7"/>
          <p:cNvSpPr/>
          <p:nvPr/>
        </p:nvSpPr>
        <p:spPr>
          <a:xfrm>
            <a:off x="285720" y="4143380"/>
            <a:ext cx="8643998" cy="1733808"/>
          </a:xfrm>
          <a:prstGeom prst="rect">
            <a:avLst/>
          </a:prstGeom>
        </p:spPr>
        <p:txBody>
          <a:bodyPr wrap="square">
            <a:spAutoFit/>
          </a:bodyPr>
          <a:lstStyle/>
          <a:p>
            <a:pPr>
              <a:lnSpc>
                <a:spcPts val="3200"/>
              </a:lnSpc>
            </a:pPr>
            <a:r>
              <a:rPr lang="en-IN" sz="2000" dirty="0" smtClean="0">
                <a:latin typeface="+mj-lt"/>
              </a:rPr>
              <a:t>The given information can be written as under:</a:t>
            </a:r>
          </a:p>
          <a:p>
            <a:pPr>
              <a:lnSpc>
                <a:spcPts val="3200"/>
              </a:lnSpc>
            </a:pPr>
            <a:r>
              <a:rPr lang="en-IN" sz="2000" i="1" dirty="0" smtClean="0">
                <a:latin typeface="+mj-lt"/>
              </a:rPr>
              <a:t>N = 2400 (This means that population is finite) ; </a:t>
            </a:r>
            <a:r>
              <a:rPr lang="en-US" sz="2000" i="1" dirty="0" smtClean="0">
                <a:latin typeface="+mj-lt"/>
              </a:rPr>
              <a:t>n = 64 ;               </a:t>
            </a:r>
            <a:r>
              <a:rPr lang="en-US" sz="2000" dirty="0" smtClean="0">
                <a:latin typeface="+mj-lt"/>
              </a:rPr>
              <a:t>and</a:t>
            </a:r>
          </a:p>
          <a:p>
            <a:pPr>
              <a:lnSpc>
                <a:spcPts val="3200"/>
              </a:lnSpc>
            </a:pPr>
            <a:r>
              <a:rPr lang="en-IN" sz="2000" dirty="0" smtClean="0">
                <a:latin typeface="+mj-lt"/>
              </a:rPr>
              <a:t>and the standard </a:t>
            </a:r>
            <a:r>
              <a:rPr lang="en-IN" sz="2000" dirty="0" err="1" smtClean="0">
                <a:latin typeface="+mj-lt"/>
              </a:rPr>
              <a:t>variate</a:t>
            </a:r>
            <a:r>
              <a:rPr lang="en-IN" sz="2000" dirty="0" smtClean="0">
                <a:latin typeface="+mj-lt"/>
              </a:rPr>
              <a:t>, z</a:t>
            </a:r>
            <a:r>
              <a:rPr lang="en-IN" sz="2000" i="1" dirty="0" smtClean="0">
                <a:latin typeface="+mj-lt"/>
              </a:rPr>
              <a:t>  </a:t>
            </a:r>
            <a:r>
              <a:rPr lang="en-IN" sz="2000" dirty="0" smtClean="0">
                <a:latin typeface="+mj-lt"/>
              </a:rPr>
              <a:t>for 90 per cent confidence is </a:t>
            </a:r>
            <a:r>
              <a:rPr lang="en-IN" sz="2000" i="1" dirty="0" smtClean="0">
                <a:latin typeface="+mj-lt"/>
              </a:rPr>
              <a:t>1.645 (as per the normal curve area table).</a:t>
            </a:r>
            <a:endParaRPr lang="en-US" sz="2000" dirty="0">
              <a:latin typeface="+mj-lt"/>
            </a:endParaRPr>
          </a:p>
        </p:txBody>
      </p:sp>
      <p:graphicFrame>
        <p:nvGraphicFramePr>
          <p:cNvPr id="9" name="Object 8"/>
          <p:cNvGraphicFramePr>
            <a:graphicFrameLocks noChangeAspect="1"/>
          </p:cNvGraphicFramePr>
          <p:nvPr/>
        </p:nvGraphicFramePr>
        <p:xfrm>
          <a:off x="6215074" y="4572008"/>
          <a:ext cx="874713" cy="447675"/>
        </p:xfrm>
        <a:graphic>
          <a:graphicData uri="http://schemas.openxmlformats.org/presentationml/2006/ole">
            <p:oleObj spid="_x0000_s1056770" name="Equation" r:id="rId3" imgW="622080" imgH="317160" progId="Equation.3">
              <p:embed/>
            </p:oleObj>
          </a:graphicData>
        </a:graphic>
      </p:graphicFrame>
      <p:graphicFrame>
        <p:nvGraphicFramePr>
          <p:cNvPr id="11" name="Object 10"/>
          <p:cNvGraphicFramePr>
            <a:graphicFrameLocks noChangeAspect="1"/>
          </p:cNvGraphicFramePr>
          <p:nvPr/>
        </p:nvGraphicFramePr>
        <p:xfrm>
          <a:off x="7695789" y="4643446"/>
          <a:ext cx="876739" cy="357190"/>
        </p:xfrm>
        <a:graphic>
          <a:graphicData uri="http://schemas.openxmlformats.org/presentationml/2006/ole">
            <p:oleObj spid="_x0000_s1056772" name="Equation" r:id="rId4" imgW="685800" imgH="279360" progId="Equation.3">
              <p:embed/>
            </p:oleObj>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pic>
        <p:nvPicPr>
          <p:cNvPr id="1057794"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571472" y="928669"/>
            <a:ext cx="8286808" cy="2629863"/>
          </a:xfrm>
          <a:prstGeom prst="rect">
            <a:avLst/>
          </a:prstGeom>
          <a:noFill/>
          <a:ln w="9525">
            <a:noFill/>
            <a:miter lim="800000"/>
            <a:headEnd/>
            <a:tailEnd/>
          </a:ln>
          <a:effectLst/>
        </p:spPr>
      </p:pic>
      <p:pic>
        <p:nvPicPr>
          <p:cNvPr id="1057795" name="Picture 3"/>
          <p:cNvPicPr>
            <a:picLocks noChangeAspect="1" noChangeArrowheads="1"/>
          </p:cNvPicPr>
          <p:nvPr/>
        </p:nvPicPr>
        <p:blipFill>
          <a:blip r:embed="rId3">
            <a:duotone>
              <a:prstClr val="black"/>
              <a:schemeClr val="accent5">
                <a:tint val="45000"/>
                <a:satMod val="400000"/>
              </a:schemeClr>
            </a:duotone>
          </a:blip>
          <a:srcRect/>
          <a:stretch>
            <a:fillRect/>
          </a:stretch>
        </p:blipFill>
        <p:spPr bwMode="auto">
          <a:xfrm>
            <a:off x="3714744" y="3571876"/>
            <a:ext cx="3071834" cy="2644734"/>
          </a:xfrm>
          <a:prstGeom prst="rect">
            <a:avLst/>
          </a:prstGeom>
          <a:noFill/>
          <a:ln w="9525">
            <a:noFill/>
            <a:miter lim="800000"/>
            <a:headEnd/>
            <a:tailEnd/>
          </a:ln>
          <a:effec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121</a:t>
            </a:fld>
            <a:endParaRPr lang="en-US"/>
          </a:p>
        </p:txBody>
      </p:sp>
      <p:pic>
        <p:nvPicPr>
          <p:cNvPr id="1058818"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214282" y="1000108"/>
            <a:ext cx="8376812" cy="2500330"/>
          </a:xfrm>
          <a:prstGeom prst="rect">
            <a:avLst/>
          </a:prstGeom>
          <a:noFill/>
          <a:ln w="9525">
            <a:noFill/>
            <a:miter lim="800000"/>
            <a:headEnd/>
            <a:tailEnd/>
          </a:ln>
          <a:effectLst/>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122</a:t>
            </a:fld>
            <a:endParaRPr lang="en-US"/>
          </a:p>
        </p:txBody>
      </p:sp>
      <p:pic>
        <p:nvPicPr>
          <p:cNvPr id="1059842"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380178" y="642918"/>
            <a:ext cx="8763822" cy="3929090"/>
          </a:xfrm>
          <a:prstGeom prst="rect">
            <a:avLst/>
          </a:prstGeom>
          <a:noFill/>
          <a:ln w="9525">
            <a:noFill/>
            <a:miter lim="800000"/>
            <a:headEnd/>
            <a:tailEnd/>
          </a:ln>
          <a:effectLst/>
        </p:spPr>
      </p:pic>
      <p:pic>
        <p:nvPicPr>
          <p:cNvPr id="1059843" name="Picture 3"/>
          <p:cNvPicPr>
            <a:picLocks noChangeAspect="1" noChangeArrowheads="1"/>
          </p:cNvPicPr>
          <p:nvPr/>
        </p:nvPicPr>
        <p:blipFill>
          <a:blip r:embed="rId3">
            <a:duotone>
              <a:prstClr val="black"/>
              <a:schemeClr val="accent5">
                <a:tint val="45000"/>
                <a:satMod val="400000"/>
              </a:schemeClr>
            </a:duotone>
          </a:blip>
          <a:srcRect/>
          <a:stretch>
            <a:fillRect/>
          </a:stretch>
        </p:blipFill>
        <p:spPr bwMode="auto">
          <a:xfrm>
            <a:off x="1214413" y="4143380"/>
            <a:ext cx="6162303" cy="2286016"/>
          </a:xfrm>
          <a:prstGeom prst="rect">
            <a:avLst/>
          </a:prstGeom>
          <a:noFill/>
          <a:ln w="9525">
            <a:noFill/>
            <a:miter lim="800000"/>
            <a:headEnd/>
            <a:tailEnd/>
          </a:ln>
          <a:effec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123</a:t>
            </a:fld>
            <a:endParaRPr lang="en-US"/>
          </a:p>
        </p:txBody>
      </p:sp>
      <p:sp>
        <p:nvSpPr>
          <p:cNvPr id="7" name="TextBox 6"/>
          <p:cNvSpPr txBox="1"/>
          <p:nvPr/>
        </p:nvSpPr>
        <p:spPr>
          <a:xfrm>
            <a:off x="1214414" y="0"/>
            <a:ext cx="6858048" cy="461665"/>
          </a:xfrm>
          <a:prstGeom prst="rect">
            <a:avLst/>
          </a:prstGeom>
          <a:noFill/>
        </p:spPr>
        <p:txBody>
          <a:bodyPr wrap="square" rtlCol="0">
            <a:spAutoFit/>
          </a:bodyPr>
          <a:lstStyle/>
          <a:p>
            <a:pPr algn="ctr"/>
            <a:r>
              <a:rPr lang="en-US" sz="2400" dirty="0" smtClean="0">
                <a:latin typeface="+mj-lt"/>
              </a:rPr>
              <a:t>Estimating population proportion</a:t>
            </a:r>
            <a:endParaRPr lang="en-US" sz="2400" dirty="0">
              <a:latin typeface="+mj-lt"/>
            </a:endParaRPr>
          </a:p>
        </p:txBody>
      </p:sp>
      <p:pic>
        <p:nvPicPr>
          <p:cNvPr id="1073154"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357158" y="785794"/>
            <a:ext cx="8286808" cy="2622408"/>
          </a:xfrm>
          <a:prstGeom prst="rect">
            <a:avLst/>
          </a:prstGeom>
          <a:noFill/>
          <a:ln w="9525">
            <a:noFill/>
            <a:miter lim="800000"/>
            <a:headEnd/>
            <a:tailEnd/>
          </a:ln>
          <a:effectLst/>
        </p:spPr>
      </p:pic>
      <p:pic>
        <p:nvPicPr>
          <p:cNvPr id="1073155" name="Picture 3"/>
          <p:cNvPicPr>
            <a:picLocks noChangeAspect="1" noChangeArrowheads="1"/>
          </p:cNvPicPr>
          <p:nvPr/>
        </p:nvPicPr>
        <p:blipFill>
          <a:blip r:embed="rId3">
            <a:duotone>
              <a:prstClr val="black"/>
              <a:schemeClr val="accent5">
                <a:tint val="45000"/>
                <a:satMod val="400000"/>
              </a:schemeClr>
            </a:duotone>
          </a:blip>
          <a:srcRect/>
          <a:stretch>
            <a:fillRect/>
          </a:stretch>
        </p:blipFill>
        <p:spPr bwMode="auto">
          <a:xfrm>
            <a:off x="4214810" y="3500438"/>
            <a:ext cx="1282968" cy="785818"/>
          </a:xfrm>
          <a:prstGeom prst="rect">
            <a:avLst/>
          </a:prstGeom>
          <a:noFill/>
          <a:ln w="9525">
            <a:noFill/>
            <a:miter lim="800000"/>
            <a:headEnd/>
            <a:tailEnd/>
          </a:ln>
          <a:effectLst/>
        </p:spPr>
      </p:pic>
      <p:pic>
        <p:nvPicPr>
          <p:cNvPr id="1073156" name="Picture 4"/>
          <p:cNvPicPr>
            <a:picLocks noChangeAspect="1" noChangeArrowheads="1"/>
          </p:cNvPicPr>
          <p:nvPr/>
        </p:nvPicPr>
        <p:blipFill>
          <a:blip r:embed="rId4">
            <a:duotone>
              <a:prstClr val="black"/>
              <a:schemeClr val="accent5">
                <a:tint val="45000"/>
                <a:satMod val="400000"/>
              </a:schemeClr>
            </a:duotone>
          </a:blip>
          <a:srcRect/>
          <a:stretch>
            <a:fillRect/>
          </a:stretch>
        </p:blipFill>
        <p:spPr bwMode="auto">
          <a:xfrm>
            <a:off x="428595" y="4286256"/>
            <a:ext cx="8363473" cy="1714512"/>
          </a:xfrm>
          <a:prstGeom prst="rect">
            <a:avLst/>
          </a:prstGeom>
          <a:noFill/>
          <a:ln w="9525">
            <a:noFill/>
            <a:miter lim="800000"/>
            <a:headEnd/>
            <a:tailEnd/>
          </a:ln>
          <a:effec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p:cNvSpPr/>
          <p:nvPr/>
        </p:nvSpPr>
        <p:spPr bwMode="auto">
          <a:xfrm>
            <a:off x="6617777" y="1424903"/>
            <a:ext cx="914400" cy="9144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smtClean="0">
              <a:ln>
                <a:noFill/>
              </a:ln>
              <a:solidFill>
                <a:schemeClr val="tx1"/>
              </a:solidFill>
              <a:effectLst/>
              <a:latin typeface="Arial" charset="0"/>
            </a:endParaRPr>
          </a:p>
        </p:txBody>
      </p:sp>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124</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TextBox 5"/>
          <p:cNvSpPr txBox="1"/>
          <p:nvPr/>
        </p:nvSpPr>
        <p:spPr>
          <a:xfrm>
            <a:off x="1143000" y="0"/>
            <a:ext cx="7696200" cy="523220"/>
          </a:xfrm>
          <a:prstGeom prst="rect">
            <a:avLst/>
          </a:prstGeom>
          <a:noFill/>
        </p:spPr>
        <p:txBody>
          <a:bodyPr wrap="square" rtlCol="0">
            <a:spAutoFit/>
          </a:bodyPr>
          <a:lstStyle/>
          <a:p>
            <a:pPr algn="ctr"/>
            <a:r>
              <a:rPr lang="en-US" sz="2800" dirty="0" smtClean="0">
                <a:latin typeface="+mj-lt"/>
              </a:rPr>
              <a:t>Estimation of sample size for an acceptable error</a:t>
            </a:r>
            <a:endParaRPr lang="en-IN" sz="2800" dirty="0">
              <a:latin typeface="+mj-lt"/>
            </a:endParaRPr>
          </a:p>
        </p:txBody>
      </p:sp>
      <p:sp>
        <p:nvSpPr>
          <p:cNvPr id="7" name="TextBox 6"/>
          <p:cNvSpPr txBox="1"/>
          <p:nvPr/>
        </p:nvSpPr>
        <p:spPr>
          <a:xfrm>
            <a:off x="152400" y="990600"/>
            <a:ext cx="8584124" cy="1138773"/>
          </a:xfrm>
          <a:prstGeom prst="rect">
            <a:avLst/>
          </a:prstGeom>
          <a:noFill/>
        </p:spPr>
        <p:txBody>
          <a:bodyPr wrap="square" rtlCol="0">
            <a:spAutoFit/>
          </a:bodyPr>
          <a:lstStyle/>
          <a:p>
            <a:r>
              <a:rPr lang="en-US" sz="2400" dirty="0" smtClean="0">
                <a:latin typeface="+mj-lt"/>
              </a:rPr>
              <a:t>Sample size when estimating a mean (say for normal  distribution</a:t>
            </a:r>
          </a:p>
          <a:p>
            <a:endParaRPr lang="en-US" sz="2000" dirty="0" smtClean="0">
              <a:latin typeface="+mj-lt"/>
            </a:endParaRPr>
          </a:p>
          <a:p>
            <a:r>
              <a:rPr lang="en-US" sz="2400" dirty="0" smtClean="0">
                <a:latin typeface="+mj-lt"/>
              </a:rPr>
              <a:t>Confidence interval for population mean </a:t>
            </a:r>
            <a:r>
              <a:rPr lang="el-GR" sz="2400" dirty="0" smtClean="0">
                <a:latin typeface="+mj-lt"/>
              </a:rPr>
              <a:t>μ</a:t>
            </a:r>
            <a:r>
              <a:rPr lang="en-US" sz="2400" dirty="0" smtClean="0">
                <a:latin typeface="+mj-lt"/>
              </a:rPr>
              <a:t> i</a:t>
            </a:r>
            <a:r>
              <a:rPr lang="en-US" sz="2000" dirty="0" smtClean="0">
                <a:latin typeface="+mj-lt"/>
              </a:rPr>
              <a:t>s  </a:t>
            </a:r>
            <a:endParaRPr lang="en-IN" sz="2000" dirty="0">
              <a:latin typeface="+mj-lt"/>
            </a:endParaRPr>
          </a:p>
        </p:txBody>
      </p:sp>
      <p:graphicFrame>
        <p:nvGraphicFramePr>
          <p:cNvPr id="771074" name="Object 2"/>
          <p:cNvGraphicFramePr>
            <a:graphicFrameLocks noChangeAspect="1"/>
          </p:cNvGraphicFramePr>
          <p:nvPr>
            <p:extLst>
              <p:ext uri="{D42A27DB-BD31-4B8C-83A1-F6EECF244321}">
                <p14:modId xmlns="" xmlns:p14="http://schemas.microsoft.com/office/powerpoint/2010/main" val="990058887"/>
              </p:ext>
            </p:extLst>
          </p:nvPr>
        </p:nvGraphicFramePr>
        <p:xfrm>
          <a:off x="5983637" y="1428674"/>
          <a:ext cx="1441450" cy="1031875"/>
        </p:xfrm>
        <a:graphic>
          <a:graphicData uri="http://schemas.openxmlformats.org/presentationml/2006/ole">
            <p:oleObj spid="_x0000_s771354" name="Equation" r:id="rId3" imgW="622080" imgH="444240" progId="Equation.3">
              <p:embed/>
            </p:oleObj>
          </a:graphicData>
        </a:graphic>
      </p:graphicFrame>
      <p:sp>
        <p:nvSpPr>
          <p:cNvPr id="8" name="TextBox 7"/>
          <p:cNvSpPr txBox="1"/>
          <p:nvPr/>
        </p:nvSpPr>
        <p:spPr>
          <a:xfrm>
            <a:off x="344837" y="2108471"/>
            <a:ext cx="5638800" cy="461665"/>
          </a:xfrm>
          <a:prstGeom prst="rect">
            <a:avLst/>
          </a:prstGeom>
          <a:noFill/>
        </p:spPr>
        <p:txBody>
          <a:bodyPr wrap="square" rtlCol="0">
            <a:spAutoFit/>
          </a:bodyPr>
          <a:lstStyle/>
          <a:p>
            <a:r>
              <a:rPr lang="en-US" sz="2400" dirty="0" smtClean="0">
                <a:latin typeface="+mj-lt"/>
              </a:rPr>
              <a:t>Z value for 95% confidence interval is 1.96</a:t>
            </a:r>
            <a:endParaRPr lang="en-IN" sz="2400" dirty="0">
              <a:latin typeface="+mj-lt"/>
            </a:endParaRPr>
          </a:p>
        </p:txBody>
      </p:sp>
      <p:sp>
        <p:nvSpPr>
          <p:cNvPr id="9" name="TextBox 8"/>
          <p:cNvSpPr txBox="1"/>
          <p:nvPr/>
        </p:nvSpPr>
        <p:spPr>
          <a:xfrm>
            <a:off x="7288724" y="2769008"/>
            <a:ext cx="1447800" cy="646331"/>
          </a:xfrm>
          <a:prstGeom prst="rect">
            <a:avLst/>
          </a:prstGeom>
          <a:noFill/>
          <a:ln>
            <a:solidFill>
              <a:schemeClr val="accent1">
                <a:lumMod val="50000"/>
              </a:schemeClr>
            </a:solidFill>
          </a:ln>
        </p:spPr>
        <p:txBody>
          <a:bodyPr wrap="square" rtlCol="0">
            <a:spAutoFit/>
          </a:bodyPr>
          <a:lstStyle/>
          <a:p>
            <a:r>
              <a:rPr lang="en-US" dirty="0" smtClean="0"/>
              <a:t>Acceptable error e</a:t>
            </a:r>
            <a:endParaRPr lang="en-IN" dirty="0"/>
          </a:p>
        </p:txBody>
      </p:sp>
      <p:sp>
        <p:nvSpPr>
          <p:cNvPr id="11" name="TextBox 10"/>
          <p:cNvSpPr txBox="1"/>
          <p:nvPr/>
        </p:nvSpPr>
        <p:spPr>
          <a:xfrm>
            <a:off x="685800" y="2590800"/>
            <a:ext cx="4343400" cy="461665"/>
          </a:xfrm>
          <a:prstGeom prst="rect">
            <a:avLst/>
          </a:prstGeom>
          <a:noFill/>
        </p:spPr>
        <p:txBody>
          <a:bodyPr wrap="square" rtlCol="0">
            <a:spAutoFit/>
          </a:bodyPr>
          <a:lstStyle/>
          <a:p>
            <a:r>
              <a:rPr lang="en-US" sz="2400" dirty="0" smtClean="0">
                <a:latin typeface="+mj-lt"/>
              </a:rPr>
              <a:t>Say  </a:t>
            </a:r>
            <a:r>
              <a:rPr lang="el-GR" sz="2400" dirty="0" smtClean="0">
                <a:latin typeface="+mj-lt"/>
              </a:rPr>
              <a:t>σ</a:t>
            </a:r>
            <a:r>
              <a:rPr lang="en-US" sz="2400" baseline="-25000" dirty="0" smtClean="0">
                <a:latin typeface="+mj-lt"/>
              </a:rPr>
              <a:t>p  </a:t>
            </a:r>
            <a:r>
              <a:rPr lang="en-US" sz="2400" baseline="30000" dirty="0" smtClean="0">
                <a:latin typeface="+mj-lt"/>
              </a:rPr>
              <a:t>=</a:t>
            </a:r>
            <a:r>
              <a:rPr lang="en-US" sz="2400" dirty="0" smtClean="0">
                <a:latin typeface="+mj-lt"/>
              </a:rPr>
              <a:t> 4.8 and e=  3, </a:t>
            </a:r>
            <a:endParaRPr lang="en-IN" sz="2400" dirty="0">
              <a:latin typeface="+mj-lt"/>
            </a:endParaRPr>
          </a:p>
        </p:txBody>
      </p:sp>
      <p:graphicFrame>
        <p:nvGraphicFramePr>
          <p:cNvPr id="12" name="Object 11"/>
          <p:cNvGraphicFramePr>
            <a:graphicFrameLocks noChangeAspect="1"/>
          </p:cNvGraphicFramePr>
          <p:nvPr/>
        </p:nvGraphicFramePr>
        <p:xfrm>
          <a:off x="762000" y="2971800"/>
          <a:ext cx="1447800" cy="809786"/>
        </p:xfrm>
        <a:graphic>
          <a:graphicData uri="http://schemas.openxmlformats.org/presentationml/2006/ole">
            <p:oleObj spid="_x0000_s771355" name="Equation" r:id="rId4" imgW="749300" imgH="419100" progId="Equation.3">
              <p:embed/>
            </p:oleObj>
          </a:graphicData>
        </a:graphic>
      </p:graphicFrame>
      <p:sp>
        <p:nvSpPr>
          <p:cNvPr id="13" name="TextBox 12"/>
          <p:cNvSpPr txBox="1"/>
          <p:nvPr/>
        </p:nvSpPr>
        <p:spPr>
          <a:xfrm>
            <a:off x="2743200" y="3200400"/>
            <a:ext cx="1752600" cy="369332"/>
          </a:xfrm>
          <a:prstGeom prst="rect">
            <a:avLst/>
          </a:prstGeom>
          <a:noFill/>
        </p:spPr>
        <p:txBody>
          <a:bodyPr wrap="square" rtlCol="0">
            <a:spAutoFit/>
          </a:bodyPr>
          <a:lstStyle/>
          <a:p>
            <a:r>
              <a:rPr lang="en-US" dirty="0" smtClean="0"/>
              <a:t>n= 9.8 =10</a:t>
            </a:r>
            <a:endParaRPr lang="en-IN" dirty="0"/>
          </a:p>
        </p:txBody>
      </p:sp>
      <p:sp>
        <p:nvSpPr>
          <p:cNvPr id="14" name="TextBox 13"/>
          <p:cNvSpPr txBox="1"/>
          <p:nvPr/>
        </p:nvSpPr>
        <p:spPr>
          <a:xfrm>
            <a:off x="533400" y="4191000"/>
            <a:ext cx="5029200" cy="461665"/>
          </a:xfrm>
          <a:prstGeom prst="rect">
            <a:avLst/>
          </a:prstGeom>
          <a:noFill/>
        </p:spPr>
        <p:txBody>
          <a:bodyPr wrap="square" rtlCol="0">
            <a:spAutoFit/>
          </a:bodyPr>
          <a:lstStyle/>
          <a:p>
            <a:r>
              <a:rPr lang="en-US" sz="2400" dirty="0" smtClean="0">
                <a:latin typeface="+mj-lt"/>
              </a:rPr>
              <a:t>In general for large population</a:t>
            </a:r>
            <a:r>
              <a:rPr lang="en-US" dirty="0" smtClean="0"/>
              <a:t>, </a:t>
            </a:r>
            <a:endParaRPr lang="en-IN" dirty="0"/>
          </a:p>
        </p:txBody>
      </p:sp>
      <p:graphicFrame>
        <p:nvGraphicFramePr>
          <p:cNvPr id="15" name="Object 14"/>
          <p:cNvGraphicFramePr>
            <a:graphicFrameLocks noChangeAspect="1"/>
          </p:cNvGraphicFramePr>
          <p:nvPr>
            <p:extLst>
              <p:ext uri="{D42A27DB-BD31-4B8C-83A1-F6EECF244321}">
                <p14:modId xmlns="" xmlns:p14="http://schemas.microsoft.com/office/powerpoint/2010/main" val="2448244879"/>
              </p:ext>
            </p:extLst>
          </p:nvPr>
        </p:nvGraphicFramePr>
        <p:xfrm>
          <a:off x="4500965" y="3964632"/>
          <a:ext cx="1447801" cy="914400"/>
        </p:xfrm>
        <a:graphic>
          <a:graphicData uri="http://schemas.openxmlformats.org/presentationml/2006/ole">
            <p:oleObj spid="_x0000_s771356" name="Equation" r:id="rId5" imgW="609600" imgH="419100" progId="Equation.3">
              <p:embed/>
            </p:oleObj>
          </a:graphicData>
        </a:graphic>
      </p:graphicFrame>
      <p:sp>
        <p:nvSpPr>
          <p:cNvPr id="17" name="TextBox 16"/>
          <p:cNvSpPr txBox="1"/>
          <p:nvPr/>
        </p:nvSpPr>
        <p:spPr>
          <a:xfrm>
            <a:off x="152400" y="4953000"/>
            <a:ext cx="6019800" cy="461665"/>
          </a:xfrm>
          <a:prstGeom prst="rect">
            <a:avLst/>
          </a:prstGeom>
          <a:noFill/>
        </p:spPr>
        <p:txBody>
          <a:bodyPr wrap="square" rtlCol="0">
            <a:spAutoFit/>
          </a:bodyPr>
          <a:lstStyle/>
          <a:p>
            <a:r>
              <a:rPr lang="en-US" sz="2400" dirty="0" smtClean="0">
                <a:latin typeface="+mj-lt"/>
              </a:rPr>
              <a:t>For finite population, confidence level for µ is  </a:t>
            </a:r>
            <a:endParaRPr lang="en-IN" sz="2400" dirty="0">
              <a:latin typeface="+mj-lt"/>
            </a:endParaRPr>
          </a:p>
        </p:txBody>
      </p:sp>
      <p:graphicFrame>
        <p:nvGraphicFramePr>
          <p:cNvPr id="771077" name="Object 5"/>
          <p:cNvGraphicFramePr>
            <a:graphicFrameLocks noChangeAspect="1"/>
          </p:cNvGraphicFramePr>
          <p:nvPr>
            <p:extLst>
              <p:ext uri="{D42A27DB-BD31-4B8C-83A1-F6EECF244321}">
                <p14:modId xmlns="" xmlns:p14="http://schemas.microsoft.com/office/powerpoint/2010/main" val="1740419034"/>
              </p:ext>
            </p:extLst>
          </p:nvPr>
        </p:nvGraphicFramePr>
        <p:xfrm>
          <a:off x="5983637" y="4726632"/>
          <a:ext cx="3013075" cy="914400"/>
        </p:xfrm>
        <a:graphic>
          <a:graphicData uri="http://schemas.openxmlformats.org/presentationml/2006/ole">
            <p:oleObj spid="_x0000_s771357" name="Equation" r:id="rId6" imgW="1333440" imgH="469800" progId="Equation.3">
              <p:embed/>
            </p:oleObj>
          </a:graphicData>
        </a:graphic>
      </p:graphicFrame>
      <p:graphicFrame>
        <p:nvGraphicFramePr>
          <p:cNvPr id="19" name="Object 18"/>
          <p:cNvGraphicFramePr>
            <a:graphicFrameLocks noChangeAspect="1"/>
          </p:cNvGraphicFramePr>
          <p:nvPr>
            <p:extLst>
              <p:ext uri="{D42A27DB-BD31-4B8C-83A1-F6EECF244321}">
                <p14:modId xmlns="" xmlns:p14="http://schemas.microsoft.com/office/powerpoint/2010/main" val="2500594446"/>
              </p:ext>
            </p:extLst>
          </p:nvPr>
        </p:nvGraphicFramePr>
        <p:xfrm>
          <a:off x="3619500" y="5414665"/>
          <a:ext cx="2709111" cy="1009277"/>
        </p:xfrm>
        <a:graphic>
          <a:graphicData uri="http://schemas.openxmlformats.org/presentationml/2006/ole">
            <p:oleObj spid="_x0000_s771358" name="Equation" r:id="rId7" imgW="1295400" imgH="482600" progId="Equation.3">
              <p:embed/>
            </p:oleObj>
          </a:graphicData>
        </a:graphic>
      </p:graphicFrame>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125</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pic>
        <p:nvPicPr>
          <p:cNvPr id="1061890"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357157" y="857232"/>
            <a:ext cx="8530301" cy="2071702"/>
          </a:xfrm>
          <a:prstGeom prst="rect">
            <a:avLst/>
          </a:prstGeom>
          <a:noFill/>
          <a:ln w="9525">
            <a:noFill/>
            <a:miter lim="800000"/>
            <a:headEnd/>
            <a:tailEnd/>
          </a:ln>
          <a:effectLst/>
        </p:spPr>
      </p:pic>
      <p:pic>
        <p:nvPicPr>
          <p:cNvPr id="1061892" name="Picture 4"/>
          <p:cNvPicPr>
            <a:picLocks noChangeAspect="1" noChangeArrowheads="1"/>
          </p:cNvPicPr>
          <p:nvPr/>
        </p:nvPicPr>
        <p:blipFill>
          <a:blip r:embed="rId3">
            <a:duotone>
              <a:prstClr val="black"/>
              <a:schemeClr val="accent5">
                <a:tint val="45000"/>
                <a:satMod val="400000"/>
              </a:schemeClr>
            </a:duotone>
          </a:blip>
          <a:srcRect/>
          <a:stretch>
            <a:fillRect/>
          </a:stretch>
        </p:blipFill>
        <p:spPr bwMode="auto">
          <a:xfrm>
            <a:off x="357159" y="2928934"/>
            <a:ext cx="8501121" cy="3500462"/>
          </a:xfrm>
          <a:prstGeom prst="rect">
            <a:avLst/>
          </a:prstGeom>
          <a:noFill/>
          <a:ln w="9525">
            <a:noFill/>
            <a:miter lim="800000"/>
            <a:headEnd/>
            <a:tailEnd/>
          </a:ln>
          <a:effec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126</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pic>
        <p:nvPicPr>
          <p:cNvPr id="1062914"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214281" y="714356"/>
            <a:ext cx="8632713" cy="3071834"/>
          </a:xfrm>
          <a:prstGeom prst="rect">
            <a:avLst/>
          </a:prstGeom>
          <a:noFill/>
          <a:ln w="9525">
            <a:noFill/>
            <a:miter lim="800000"/>
            <a:headEnd/>
            <a:tailEnd/>
          </a:ln>
          <a:effectLst/>
        </p:spPr>
      </p:pic>
      <p:pic>
        <p:nvPicPr>
          <p:cNvPr id="1062915" name="Picture 3"/>
          <p:cNvPicPr>
            <a:picLocks noChangeAspect="1" noChangeArrowheads="1"/>
          </p:cNvPicPr>
          <p:nvPr/>
        </p:nvPicPr>
        <p:blipFill>
          <a:blip r:embed="rId3">
            <a:duotone>
              <a:prstClr val="black"/>
              <a:schemeClr val="accent5">
                <a:tint val="45000"/>
                <a:satMod val="400000"/>
              </a:schemeClr>
            </a:duotone>
          </a:blip>
          <a:srcRect/>
          <a:stretch>
            <a:fillRect/>
          </a:stretch>
        </p:blipFill>
        <p:spPr bwMode="auto">
          <a:xfrm>
            <a:off x="2071670" y="3786190"/>
            <a:ext cx="5146885" cy="2071702"/>
          </a:xfrm>
          <a:prstGeom prst="rect">
            <a:avLst/>
          </a:prstGeom>
          <a:noFill/>
          <a:ln w="9525">
            <a:noFill/>
            <a:miter lim="800000"/>
            <a:headEnd/>
            <a:tailEnd/>
          </a:ln>
          <a:effec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127</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sp>
        <p:nvSpPr>
          <p:cNvPr id="6" name="TextBox 5"/>
          <p:cNvSpPr txBox="1"/>
          <p:nvPr/>
        </p:nvSpPr>
        <p:spPr>
          <a:xfrm>
            <a:off x="1000100" y="0"/>
            <a:ext cx="8143900" cy="461665"/>
          </a:xfrm>
          <a:prstGeom prst="rect">
            <a:avLst/>
          </a:prstGeom>
          <a:noFill/>
        </p:spPr>
        <p:txBody>
          <a:bodyPr wrap="square" rtlCol="0">
            <a:spAutoFit/>
          </a:bodyPr>
          <a:lstStyle/>
          <a:p>
            <a:pPr algn="ctr"/>
            <a:r>
              <a:rPr lang="en-US" sz="2400" dirty="0" smtClean="0">
                <a:latin typeface="+mj-lt"/>
              </a:rPr>
              <a:t>Sample size when estimating a proportion</a:t>
            </a:r>
            <a:endParaRPr lang="en-US" sz="2400" dirty="0">
              <a:latin typeface="+mj-lt"/>
            </a:endParaRPr>
          </a:p>
        </p:txBody>
      </p:sp>
      <p:pic>
        <p:nvPicPr>
          <p:cNvPr id="1063938"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214282" y="714356"/>
            <a:ext cx="8581133" cy="2357454"/>
          </a:xfrm>
          <a:prstGeom prst="rect">
            <a:avLst/>
          </a:prstGeom>
          <a:noFill/>
          <a:ln w="9525">
            <a:noFill/>
            <a:miter lim="800000"/>
            <a:headEnd/>
            <a:tailEnd/>
          </a:ln>
          <a:effectLst/>
        </p:spPr>
      </p:pic>
      <p:pic>
        <p:nvPicPr>
          <p:cNvPr id="1063939" name="Picture 3"/>
          <p:cNvPicPr>
            <a:picLocks noChangeAspect="1" noChangeArrowheads="1"/>
          </p:cNvPicPr>
          <p:nvPr/>
        </p:nvPicPr>
        <p:blipFill>
          <a:blip r:embed="rId3">
            <a:duotone>
              <a:prstClr val="black"/>
              <a:schemeClr val="accent5">
                <a:tint val="45000"/>
                <a:satMod val="400000"/>
              </a:schemeClr>
            </a:duotone>
          </a:blip>
          <a:srcRect/>
          <a:stretch>
            <a:fillRect/>
          </a:stretch>
        </p:blipFill>
        <p:spPr bwMode="auto">
          <a:xfrm>
            <a:off x="357158" y="2928934"/>
            <a:ext cx="8501122" cy="3500462"/>
          </a:xfrm>
          <a:prstGeom prst="rect">
            <a:avLst/>
          </a:prstGeom>
          <a:noFill/>
          <a:ln w="9525">
            <a:noFill/>
            <a:miter lim="800000"/>
            <a:headEnd/>
            <a:tailEnd/>
          </a:ln>
          <a:effectLst/>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128</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pic>
        <p:nvPicPr>
          <p:cNvPr id="1064962"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357158" y="785794"/>
            <a:ext cx="8786842" cy="4600658"/>
          </a:xfrm>
          <a:prstGeom prst="rect">
            <a:avLst/>
          </a:prstGeom>
          <a:noFill/>
          <a:ln w="9525">
            <a:noFill/>
            <a:miter lim="800000"/>
            <a:headEnd/>
            <a:tailEnd/>
          </a:ln>
          <a:effectLst/>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Prof. A. K. Datta     University of Calcutta</a:t>
            </a:r>
            <a:endParaRPr lang="en-IN" dirty="0"/>
          </a:p>
        </p:txBody>
      </p:sp>
      <p:sp>
        <p:nvSpPr>
          <p:cNvPr id="4" name="Slide Number Placeholder 3"/>
          <p:cNvSpPr>
            <a:spLocks noGrp="1"/>
          </p:cNvSpPr>
          <p:nvPr>
            <p:ph type="sldNum" sz="quarter" idx="11"/>
          </p:nvPr>
        </p:nvSpPr>
        <p:spPr/>
        <p:txBody>
          <a:bodyPr/>
          <a:lstStyle/>
          <a:p>
            <a:fld id="{BF2D74FB-8EB9-4DEE-8258-980F8375AF4A}" type="slidenum">
              <a:rPr lang="en-IN" smtClean="0"/>
              <a:pPr/>
              <a:t>129</a:t>
            </a:fld>
            <a:endParaRPr lang="en-IN" dirty="0"/>
          </a:p>
        </p:txBody>
      </p:sp>
      <p:sp>
        <p:nvSpPr>
          <p:cNvPr id="5" name="Footer Placeholder 4"/>
          <p:cNvSpPr>
            <a:spLocks noGrp="1"/>
          </p:cNvSpPr>
          <p:nvPr>
            <p:ph type="ftr" sz="quarter" idx="12"/>
          </p:nvPr>
        </p:nvSpPr>
        <p:spPr/>
        <p:txBody>
          <a:bodyPr/>
          <a:lstStyle/>
          <a:p>
            <a:r>
              <a:rPr lang="en-IN" smtClean="0"/>
              <a:t>Ph.D Course Work on Research Methodology</a:t>
            </a:r>
            <a:endParaRPr lang="en-IN" dirty="0"/>
          </a:p>
        </p:txBody>
      </p:sp>
      <p:pic>
        <p:nvPicPr>
          <p:cNvPr id="1065986"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357157" y="857232"/>
            <a:ext cx="8629795" cy="4357718"/>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0099FF"/>
    </a:lt1>
    <a:dk2>
      <a:srgbClr val="000000"/>
    </a:dk2>
    <a:lt2>
      <a:srgbClr val="5E574E"/>
    </a:lt2>
    <a:accent1>
      <a:srgbClr val="FF6600"/>
    </a:accent1>
    <a:accent2>
      <a:srgbClr val="FFCC00"/>
    </a:accent2>
    <a:accent3>
      <a:srgbClr val="AACAFF"/>
    </a:accent3>
    <a:accent4>
      <a:srgbClr val="000000"/>
    </a:accent4>
    <a:accent5>
      <a:srgbClr val="FFB8AA"/>
    </a:accent5>
    <a:accent6>
      <a:srgbClr val="E7B900"/>
    </a:accent6>
    <a:hlink>
      <a:srgbClr val="996633"/>
    </a:hlink>
    <a:folHlink>
      <a:srgbClr val="808000"/>
    </a:folHlink>
  </a:clrScheme>
</a:themeOverride>
</file>

<file path=docProps/app.xml><?xml version="1.0" encoding="utf-8"?>
<Properties xmlns="http://schemas.openxmlformats.org/officeDocument/2006/extended-properties" xmlns:vt="http://schemas.openxmlformats.org/officeDocument/2006/docPropsVTypes">
  <Template/>
  <TotalTime>23642</TotalTime>
  <Words>8295</Words>
  <Application>Microsoft Office PowerPoint</Application>
  <PresentationFormat>On-screen Show (4:3)</PresentationFormat>
  <Paragraphs>1299</Paragraphs>
  <Slides>129</Slides>
  <Notes>22</Notes>
  <HiddenSlides>1</HiddenSlides>
  <MMClips>0</MMClips>
  <ScaleCrop>false</ScaleCrop>
  <HeadingPairs>
    <vt:vector size="6" baseType="variant">
      <vt:variant>
        <vt:lpstr>Theme</vt:lpstr>
      </vt:variant>
      <vt:variant>
        <vt:i4>1</vt:i4>
      </vt:variant>
      <vt:variant>
        <vt:lpstr>Embedded OLE Servers</vt:lpstr>
      </vt:variant>
      <vt:variant>
        <vt:i4>5</vt:i4>
      </vt:variant>
      <vt:variant>
        <vt:lpstr>Slide Titles</vt:lpstr>
      </vt:variant>
      <vt:variant>
        <vt:i4>129</vt:i4>
      </vt:variant>
    </vt:vector>
  </HeadingPairs>
  <TitlesOfParts>
    <vt:vector size="135" baseType="lpstr">
      <vt:lpstr>1_Default Design</vt:lpstr>
      <vt:lpstr>Equation</vt:lpstr>
      <vt:lpstr>Image</vt:lpstr>
      <vt:lpstr>Bitmap Image</vt:lpstr>
      <vt:lpstr>Worksheet</vt:lpstr>
      <vt:lpstr>Document</vt:lpstr>
      <vt:lpstr>Descriptive Statistics:  Processing and Analysis of Data</vt:lpstr>
      <vt:lpstr>Slide 2</vt:lpstr>
      <vt:lpstr>Slide 3</vt:lpstr>
      <vt:lpstr>Slide 4</vt:lpstr>
      <vt:lpstr>Slide 5</vt:lpstr>
      <vt:lpstr>Slide 6</vt:lpstr>
      <vt:lpstr>Types of data</vt:lpstr>
      <vt:lpstr>Slide 8</vt:lpstr>
      <vt:lpstr>Slide 9</vt:lpstr>
      <vt:lpstr>Slide 10</vt:lpstr>
      <vt:lpstr>Slide 11</vt:lpstr>
      <vt:lpstr>Slide 12</vt:lpstr>
      <vt:lpstr>Slide 13</vt:lpstr>
      <vt:lpstr>Slide 14</vt:lpstr>
      <vt:lpstr>Measures of Central Location: Median and Mode</vt:lpstr>
      <vt:lpstr>Slide 16</vt:lpstr>
      <vt:lpstr>Slide 17</vt:lpstr>
      <vt:lpstr>Measure of Dispersion: Range</vt:lpstr>
      <vt:lpstr>Slide 19</vt:lpstr>
      <vt:lpstr>Slide 20</vt:lpstr>
      <vt:lpstr>Slide 21</vt:lpstr>
      <vt:lpstr>Measurement of symmetry: Mean, Median, Mode</vt:lpstr>
      <vt:lpstr>Skewness</vt:lpstr>
      <vt:lpstr>Skewness</vt:lpstr>
      <vt:lpstr>Slide 25</vt:lpstr>
      <vt:lpstr>Measures of Symmetry : Kurtosis</vt:lpstr>
      <vt:lpstr>Kurtosis</vt:lpstr>
      <vt:lpstr>Kurtosis</vt:lpstr>
      <vt:lpstr>Describing data</vt:lpstr>
      <vt:lpstr>Slide 30</vt:lpstr>
      <vt:lpstr>Percentiles</vt:lpstr>
      <vt:lpstr>Relative Standing: Quartile</vt:lpstr>
      <vt:lpstr>Slide 33</vt:lpstr>
      <vt:lpstr>Slide 34</vt:lpstr>
      <vt:lpstr>Slide 35</vt:lpstr>
      <vt:lpstr>Slide 36</vt:lpstr>
      <vt:lpstr>Slide 37</vt:lpstr>
      <vt:lpstr>Slide 38</vt:lpstr>
      <vt:lpstr>Sampling Statistics</vt:lpstr>
      <vt:lpstr>Slide 40</vt:lpstr>
      <vt:lpstr>What is an outlier?</vt:lpstr>
      <vt:lpstr>Dispersion of sampled data :  Standard deviation and Variance  </vt:lpstr>
      <vt:lpstr>Mean &amp; Variance</vt:lpstr>
      <vt:lpstr>Slide 44</vt:lpstr>
      <vt:lpstr>Slide 45</vt:lpstr>
      <vt:lpstr>Slide 46</vt:lpstr>
      <vt:lpstr>Slide 47</vt:lpstr>
      <vt:lpstr>Slide 48</vt:lpstr>
      <vt:lpstr>Sampling: Design</vt:lpstr>
      <vt:lpstr>Slide 50</vt:lpstr>
      <vt:lpstr>Slide 51</vt:lpstr>
      <vt:lpstr>Slide 52</vt:lpstr>
      <vt:lpstr>Probability Sampling: Methods </vt:lpstr>
      <vt:lpstr>Stratified Sampling Example</vt:lpstr>
      <vt:lpstr>Slide 55</vt:lpstr>
      <vt:lpstr>Stratified Sampling Example</vt:lpstr>
      <vt:lpstr>Slide 57</vt:lpstr>
      <vt:lpstr>Slide 58</vt:lpstr>
      <vt:lpstr>Slide 59</vt:lpstr>
      <vt:lpstr>Data distribution : Probability distribution</vt:lpstr>
      <vt:lpstr>Slide 61</vt:lpstr>
      <vt:lpstr>Slide 62</vt:lpstr>
      <vt:lpstr>Slide 63</vt:lpstr>
      <vt:lpstr>Slide 64</vt:lpstr>
      <vt:lpstr>Slide 65</vt:lpstr>
      <vt:lpstr>Slide 66</vt:lpstr>
      <vt:lpstr>Mean and standard deviation</vt:lpstr>
      <vt:lpstr>Slide 68</vt:lpstr>
      <vt:lpstr>Poisson distribution of data</vt:lpstr>
      <vt:lpstr>Slide 70</vt:lpstr>
      <vt:lpstr>Slide 71</vt:lpstr>
      <vt:lpstr>Slide 72</vt:lpstr>
      <vt:lpstr>Slide 73</vt:lpstr>
      <vt:lpstr>Slide 74</vt:lpstr>
      <vt:lpstr>Slide 75</vt:lpstr>
      <vt:lpstr>Slide 76</vt:lpstr>
      <vt:lpstr>Normal distribution : Gaussian Distribution </vt:lpstr>
      <vt:lpstr>The Normal Distribution</vt:lpstr>
      <vt:lpstr>Normal distribution in population is defined by its mean and standard dev. </vt:lpstr>
      <vt:lpstr>The beauty of the normal curve:  </vt:lpstr>
      <vt:lpstr>68-95-99.7 Rule in Math terms…</vt:lpstr>
      <vt:lpstr>68-95-99.7 Rule</vt:lpstr>
      <vt:lpstr>How Do You Get  and ?</vt:lpstr>
      <vt:lpstr> The Standard Normal Distribution Z  </vt:lpstr>
      <vt:lpstr>The Standard Normal Distribution:  z score</vt:lpstr>
      <vt:lpstr>Slide 86</vt:lpstr>
      <vt:lpstr>Slide 87</vt:lpstr>
      <vt:lpstr>Slide 88</vt:lpstr>
      <vt:lpstr>Slide 89</vt:lpstr>
      <vt:lpstr>Slide 90</vt:lpstr>
      <vt:lpstr>Slide 91</vt:lpstr>
      <vt:lpstr>Slide 92</vt:lpstr>
      <vt:lpstr>Sampling Distribution</vt:lpstr>
      <vt:lpstr>Sampling  Distribution Sampling distribution of a statistic, which is the distribution of  all values of that statistic when all possible samples of the same size are taken from the same population. • How to find sampling distribution of sample means. • How to interpret the Central Limit Theorem. • How to apply the Central Limit Theorem to find the probability of a sample mean   1. Sampling distribution of mean 2. Sampling distribution of proportion 3.  t- distribution 4.  F distribution 5.  Chi square distribution    </vt:lpstr>
      <vt:lpstr>Sampling Distribution of the Mean</vt:lpstr>
      <vt:lpstr>Slide 96</vt:lpstr>
      <vt:lpstr>Standardizing a Sample Mean  on a Normal Curve</vt:lpstr>
      <vt:lpstr>Slide 98</vt:lpstr>
      <vt:lpstr>Central Limit Theorem (when distribution is not normal)</vt:lpstr>
      <vt:lpstr>Slide 100</vt:lpstr>
      <vt:lpstr>Slide 101</vt:lpstr>
      <vt:lpstr>Example: Standardizing a Mean</vt:lpstr>
      <vt:lpstr>2. Sampling Distribution of the Proportion</vt:lpstr>
      <vt:lpstr>Example: Standardizing a Proportion</vt:lpstr>
      <vt:lpstr>Standardizing a Sample Proportion on a Normal Curve</vt:lpstr>
      <vt:lpstr>t-Distribution</vt:lpstr>
      <vt:lpstr>Slide 107</vt:lpstr>
      <vt:lpstr>Slide 108</vt:lpstr>
      <vt:lpstr>Slide 109</vt:lpstr>
      <vt:lpstr>Slide 110</vt:lpstr>
      <vt:lpstr>Slide 111</vt:lpstr>
      <vt:lpstr>Sampling Error</vt:lpstr>
      <vt:lpstr>Estimation</vt:lpstr>
      <vt:lpstr>Estimation</vt:lpstr>
      <vt:lpstr>Slide 115</vt:lpstr>
      <vt:lpstr>Confidence Intervals</vt:lpstr>
      <vt:lpstr>Estimates of population mean</vt:lpstr>
      <vt:lpstr>A random sample of 36  Professor of CU, the mean age = 40 and sample standard deviation =4.5. Construct 95% Confidence interval  of mean age of Professors in CU. So, given n=36 and = 4.5 and at 95% CI, z=1.96.  Mean age of population  </vt:lpstr>
      <vt:lpstr>Slide 119</vt:lpstr>
      <vt:lpstr>Slide 120</vt:lpstr>
      <vt:lpstr>Slide 121</vt:lpstr>
      <vt:lpstr>Slide 122</vt:lpstr>
      <vt:lpstr>Slide 123</vt:lpstr>
      <vt:lpstr>Slide 124</vt:lpstr>
      <vt:lpstr>Slide 125</vt:lpstr>
      <vt:lpstr>Slide 126</vt:lpstr>
      <vt:lpstr>Slide 127</vt:lpstr>
      <vt:lpstr>Slide 128</vt:lpstr>
      <vt:lpstr>Slide 129</vt:lpstr>
    </vt:vector>
  </TitlesOfParts>
  <Company>MIT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Descriptive Statistics</dc:title>
  <dc:creator>A K Datta</dc:creator>
  <cp:lastModifiedBy>Asit Datta</cp:lastModifiedBy>
  <cp:revision>750</cp:revision>
  <dcterms:created xsi:type="dcterms:W3CDTF">2001-02-22T14:35:59Z</dcterms:created>
  <dcterms:modified xsi:type="dcterms:W3CDTF">2023-12-29T06:04:58Z</dcterms:modified>
</cp:coreProperties>
</file>