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30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32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A3C"/>
    <a:srgbClr val="04A80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7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50734-CF65-451A-9D6E-1FF9CFC4598D}" type="datetimeFigureOut">
              <a:rPr lang="en-US" smtClean="0"/>
              <a:pPr/>
              <a:t>12/28/2023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D0851-AE41-4507-966D-59482AB6D52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5F316E2E-4946-4881-A4B6-70B16C256440}" type="slidenum">
              <a:rPr lang="en-US" smtClean="0"/>
              <a:pPr defTabSz="912958"/>
              <a:t>11</a:t>
            </a:fld>
            <a:endParaRPr lang="en-US" dirty="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292C3101-F323-43E0-935A-7361F1FD9CC1}" type="slidenum">
              <a:rPr lang="en-US" smtClean="0"/>
              <a:pPr defTabSz="912958"/>
              <a:t>12</a:t>
            </a:fld>
            <a:endParaRPr lang="en-US" dirty="0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06C8941A-312A-4A07-A9C0-660AFAEAB2A4}" type="slidenum">
              <a:rPr lang="en-US" smtClean="0"/>
              <a:pPr defTabSz="912958"/>
              <a:t>14</a:t>
            </a:fld>
            <a:endParaRPr lang="en-US" dirty="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480DD18C-133B-4713-8562-6CCE1450D621}" type="slidenum">
              <a:rPr lang="en-US" smtClean="0"/>
              <a:pPr defTabSz="912958"/>
              <a:t>15</a:t>
            </a:fld>
            <a:endParaRPr lang="en-US" dirty="0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E606294B-09A0-46ED-A235-043CC68B7BCB}" type="slidenum">
              <a:rPr lang="en-US" smtClean="0"/>
              <a:pPr defTabSz="912958"/>
              <a:t>17</a:t>
            </a:fld>
            <a:endParaRPr lang="en-US" dirty="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A9AA70C9-1222-45A5-A93F-4F5F487144AC}" type="slidenum">
              <a:rPr lang="en-US" smtClean="0"/>
              <a:pPr defTabSz="912958"/>
              <a:t>22</a:t>
            </a:fld>
            <a:endParaRPr lang="en-US" dirty="0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E302101F-D2F7-4DAF-ADF6-07C4E86C9FA1}" type="slidenum">
              <a:rPr lang="en-US" smtClean="0"/>
              <a:pPr defTabSz="912958"/>
              <a:t>23</a:t>
            </a:fld>
            <a:endParaRPr lang="en-US" dirty="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F0984B60-2536-4E79-B6F9-F6D98D2EAE68}" type="slidenum">
              <a:rPr lang="en-US" smtClean="0"/>
              <a:pPr defTabSz="912958"/>
              <a:t>24</a:t>
            </a:fld>
            <a:endParaRPr lang="en-US" dirty="0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3DF4447C-00EB-4055-9113-7B77CEBE1F32}" type="slidenum">
              <a:rPr lang="en-US" smtClean="0"/>
              <a:pPr defTabSz="912958"/>
              <a:t>25</a:t>
            </a:fld>
            <a:endParaRPr lang="en-US" dirty="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A76EE9BC-8D89-4689-9A55-4358E93EAA50}" type="slidenum">
              <a:rPr lang="en-US" smtClean="0"/>
              <a:pPr defTabSz="912958"/>
              <a:t>26</a:t>
            </a:fld>
            <a:endParaRPr lang="en-US" dirty="0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B61171D7-4169-4B03-86F6-A40F8D19BC50}" type="slidenum">
              <a:rPr lang="en-US" smtClean="0"/>
              <a:pPr defTabSz="912958"/>
              <a:t>27</a:t>
            </a:fld>
            <a:endParaRPr lang="en-US" dirty="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E2B9EB66-79E9-402F-911B-9AF952F05F5E}" type="slidenum">
              <a:rPr lang="en-US" smtClean="0"/>
              <a:pPr defTabSz="912958"/>
              <a:t>28</a:t>
            </a:fld>
            <a:endParaRPr lang="en-US" dirty="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4332D1D5-7B71-4B9D-828D-974ED37477BE}" type="slidenum">
              <a:rPr lang="en-US" smtClean="0"/>
              <a:pPr defTabSz="912958"/>
              <a:t>29</a:t>
            </a:fld>
            <a:endParaRPr lang="en-US" dirty="0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C98BDF9F-700D-4315-91B3-9FCE0BAEB1E7}" type="slidenum">
              <a:rPr lang="en-US" smtClean="0"/>
              <a:pPr defTabSz="912958"/>
              <a:t>30</a:t>
            </a:fld>
            <a:endParaRPr lang="en-US" dirty="0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BA23AEA5-E990-4EF8-9878-5C275AD44BD2}" type="slidenum">
              <a:rPr lang="en-US" smtClean="0"/>
              <a:pPr defTabSz="912958"/>
              <a:t>31</a:t>
            </a:fld>
            <a:endParaRPr lang="en-US" dirty="0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76EDC5B6-3651-4EA0-A02E-B1735FECEC74}" type="slidenum">
              <a:rPr lang="en-US" smtClean="0"/>
              <a:pPr defTabSz="912958"/>
              <a:t>32</a:t>
            </a:fld>
            <a:endParaRPr lang="en-US" dirty="0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9AE2BFB4-3D91-446E-9335-E2D4D7B57C35}" type="slidenum">
              <a:rPr lang="en-US" smtClean="0"/>
              <a:pPr defTabSz="912958"/>
              <a:t>33</a:t>
            </a:fld>
            <a:endParaRPr lang="en-US" dirty="0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468D1E8E-F2D5-454B-9920-819AA875497D}" type="slidenum">
              <a:rPr lang="en-US" smtClean="0"/>
              <a:pPr defTabSz="912958"/>
              <a:t>35</a:t>
            </a:fld>
            <a:endParaRPr lang="en-US" dirty="0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CFDCD71B-30EF-4BFF-9169-21E5F61F984B}" type="slidenum">
              <a:rPr lang="en-US" smtClean="0"/>
              <a:pPr defTabSz="912958"/>
              <a:t>36</a:t>
            </a:fld>
            <a:endParaRPr lang="en-US" dirty="0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6FAE28F9-54CA-44E0-AC35-C8CB7A1DE81D}" type="slidenum">
              <a:rPr lang="en-US" smtClean="0"/>
              <a:pPr defTabSz="912958"/>
              <a:t>37</a:t>
            </a:fld>
            <a:endParaRPr lang="en-US" dirty="0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958"/>
            <a:fld id="{04A8D590-F67F-4B39-A793-5A57C9AE3B60}" type="slidenum">
              <a:rPr lang="en-GB" smtClean="0"/>
              <a:pPr defTabSz="912958"/>
              <a:t>39</a:t>
            </a:fld>
            <a:endParaRPr lang="en-GB" dirty="0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Balancing act between publishing high quality articles in outstanding journals and getting the numbers.</a:t>
            </a:r>
          </a:p>
          <a:p>
            <a:endParaRPr lang="en-US" smtClean="0"/>
          </a:p>
          <a:p>
            <a:r>
              <a:rPr lang="en-US" smtClean="0"/>
              <a:t>Grant reviewers look at both…  how many papers and in what journals.</a:t>
            </a:r>
          </a:p>
          <a:p>
            <a:endParaRPr lang="en-US" smtClean="0"/>
          </a:p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7"/>
          <p:cNvSpPr>
            <a:spLocks noChangeArrowheads="1"/>
          </p:cNvSpPr>
          <p:nvPr userDrawn="1"/>
        </p:nvSpPr>
        <p:spPr bwMode="auto">
          <a:xfrm rot="5400000">
            <a:off x="0" y="0"/>
            <a:ext cx="914400" cy="914400"/>
          </a:xfrm>
          <a:prstGeom prst="rtTriangle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 userDrawn="1"/>
        </p:nvCxnSpPr>
        <p:spPr bwMode="auto">
          <a:xfrm>
            <a:off x="533400" y="5334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 userDrawn="1"/>
        </p:nvCxnSpPr>
        <p:spPr bwMode="auto">
          <a:xfrm>
            <a:off x="533400" y="609600"/>
            <a:ext cx="8610600" cy="158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ctangle 11"/>
          <p:cNvSpPr/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6600" y="6492875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IN" dirty="0" smtClean="0"/>
              <a:t>Prof. A. K. </a:t>
            </a:r>
            <a:r>
              <a:rPr lang="en-IN" dirty="0" err="1" smtClean="0"/>
              <a:t>Datta</a:t>
            </a:r>
            <a:r>
              <a:rPr lang="en-IN" dirty="0" smtClean="0"/>
              <a:t>  University of Calcutta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6492875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Ph.D Course work on Research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90800" y="0"/>
            <a:ext cx="3962400" cy="1470025"/>
          </a:xfrm>
          <a:noFill/>
        </p:spPr>
        <p:txBody>
          <a:bodyPr/>
          <a:lstStyle/>
          <a:p>
            <a:pPr eaLnBrk="1" hangingPunct="1"/>
            <a:r>
              <a:rPr lang="en-US" sz="3600" dirty="0" smtClean="0">
                <a:latin typeface="Book Antiqua" pitchFamily="18" charset="0"/>
              </a:rPr>
              <a:t>Research Proposal &amp; Project Writing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4400" y="6492875"/>
            <a:ext cx="609600" cy="365125"/>
          </a:xfrm>
          <a:noFill/>
        </p:spPr>
        <p:txBody>
          <a:bodyPr/>
          <a:lstStyle/>
          <a:p>
            <a:fld id="{198F36A9-590D-46EA-A36B-3C2A8D207498}" type="slidenum">
              <a:rPr lang="ar-SA" smtClean="0"/>
              <a:pPr/>
              <a:t>2</a:t>
            </a:fld>
            <a:endParaRPr lang="en-US" dirty="0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dirty="0" smtClean="0">
                <a:latin typeface="Book Antiqua" pitchFamily="18" charset="0"/>
              </a:rPr>
              <a:t>Sections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Title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Introduction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additional sub sections if necessary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Objectives 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Materials &amp; Methods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additional sub sections if necessary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A tentative time table 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A budget 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86800" y="6492875"/>
            <a:ext cx="457200" cy="365125"/>
          </a:xfrm>
          <a:noFill/>
        </p:spPr>
        <p:txBody>
          <a:bodyPr/>
          <a:lstStyle/>
          <a:p>
            <a:fld id="{033D2DF6-9DC3-46EA-8E05-6DD58E99DBDD}" type="slidenum">
              <a:rPr lang="ar-SA" smtClean="0"/>
              <a:pPr/>
              <a:t>3</a:t>
            </a:fld>
            <a:endParaRPr lang="en-US" dirty="0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200" dirty="0" smtClean="0">
                <a:latin typeface="Book Antiqua" pitchFamily="18" charset="0"/>
              </a:rPr>
              <a:t>Title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5344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dirty="0" smtClean="0">
                <a:latin typeface="Book Antiqua" pitchFamily="18" charset="0"/>
              </a:rPr>
              <a:t>Specific &amp; Short</a:t>
            </a:r>
          </a:p>
          <a:p>
            <a:pPr eaLnBrk="1" hangingPunct="1">
              <a:buFont typeface="Wingdings" pitchFamily="2" charset="2"/>
              <a:buNone/>
            </a:pPr>
            <a:endParaRPr lang="en-US" sz="2800" dirty="0" smtClean="0">
              <a:latin typeface="Book Antiqua" pitchFamily="18" charset="0"/>
            </a:endParaRPr>
          </a:p>
          <a:p>
            <a:pPr eaLnBrk="1" hangingPunct="1"/>
            <a:r>
              <a:rPr lang="en-US" sz="2400" dirty="0" smtClean="0">
                <a:latin typeface="Book Antiqua" pitchFamily="18" charset="0"/>
              </a:rPr>
              <a:t>This forms the first impression about your research</a:t>
            </a:r>
          </a:p>
          <a:p>
            <a:pPr lvl="1" eaLnBrk="1" hangingPunct="1"/>
            <a:r>
              <a:rPr lang="en-US" sz="2400" dirty="0" smtClean="0">
                <a:latin typeface="Book Antiqua" pitchFamily="18" charset="0"/>
              </a:rPr>
              <a:t>If vague – Reader will be cynical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458200" y="6492875"/>
            <a:ext cx="381000" cy="365125"/>
          </a:xfrm>
          <a:noFill/>
        </p:spPr>
        <p:txBody>
          <a:bodyPr/>
          <a:lstStyle/>
          <a:p>
            <a:fld id="{12AB8D28-30A4-448A-AB37-E5F327DD1BCF}" type="slidenum">
              <a:rPr lang="ar-SA" smtClean="0"/>
              <a:pPr/>
              <a:t>4</a:t>
            </a:fld>
            <a:endParaRPr lang="en-US" dirty="0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200" dirty="0" smtClean="0">
                <a:latin typeface="Book Antiqua" pitchFamily="18" charset="0"/>
              </a:rPr>
              <a:t>Introduction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20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Convince the reader that you have identified a research problem, worthy of investigating.</a:t>
            </a: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Start very general – Broad Topic highlight </a:t>
            </a:r>
          </a:p>
          <a:p>
            <a:pPr lvl="1"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the concept </a:t>
            </a:r>
          </a:p>
          <a:p>
            <a:pPr lvl="1"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Practical significance</a:t>
            </a: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Reduce it to a narrow topic by</a:t>
            </a:r>
          </a:p>
          <a:p>
            <a:pPr lvl="1"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Raising questions, and </a:t>
            </a:r>
          </a:p>
          <a:p>
            <a:pPr lvl="1"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Stating answers from literature for most.</a:t>
            </a: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Establish Rationale:  </a:t>
            </a:r>
          </a:p>
          <a:p>
            <a:pPr lvl="1"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Research is necessary questions for which there is no answer yet.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dirty="0" smtClean="0">
                <a:latin typeface="Book Antiqua" pitchFamily="18" charset="0"/>
              </a:rPr>
              <a:t>Objectives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smtClean="0">
                <a:latin typeface="Book Antiqua" pitchFamily="18" charset="0"/>
              </a:rPr>
              <a:t>Provide a clear statement of the </a:t>
            </a:r>
            <a:r>
              <a:rPr lang="en-US" sz="2800" i="1" smtClean="0">
                <a:latin typeface="Book Antiqua" pitchFamily="18" charset="0"/>
              </a:rPr>
              <a:t>overall question- </a:t>
            </a:r>
            <a:r>
              <a:rPr lang="en-US" sz="2800" smtClean="0">
                <a:latin typeface="Book Antiqua" pitchFamily="18" charset="0"/>
              </a:rPr>
              <a:t>General objective</a:t>
            </a:r>
          </a:p>
          <a:p>
            <a:pPr eaLnBrk="1" hangingPunct="1"/>
            <a:endParaRPr lang="en-US" sz="2800" smtClean="0">
              <a:latin typeface="Book Antiqua" pitchFamily="18" charset="0"/>
            </a:endParaRPr>
          </a:p>
          <a:p>
            <a:pPr eaLnBrk="1" hangingPunct="1"/>
            <a:r>
              <a:rPr lang="en-US" sz="2800" smtClean="0">
                <a:latin typeface="Book Antiqua" pitchFamily="18" charset="0"/>
              </a:rPr>
              <a:t>Follow it with action oriented tasks - Specific objectives.  </a:t>
            </a:r>
          </a:p>
          <a:p>
            <a:pPr eaLnBrk="1" hangingPunct="1"/>
            <a:endParaRPr lang="en-US" sz="2800" smtClean="0">
              <a:latin typeface="Book Antiqua" pitchFamily="18" charset="0"/>
            </a:endParaRPr>
          </a:p>
          <a:p>
            <a:pPr eaLnBrk="1" hangingPunct="1"/>
            <a:r>
              <a:rPr lang="en-US" sz="2800" smtClean="0">
                <a:latin typeface="Book Antiqua" pitchFamily="18" charset="0"/>
              </a:rPr>
              <a:t>If more than one specific objective:  state them sequentially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noFill/>
        </p:spPr>
        <p:txBody>
          <a:bodyPr/>
          <a:lstStyle/>
          <a:p>
            <a:fld id="{292E181F-C154-4260-97EF-0F4E7A01864A}" type="slidenum">
              <a:rPr lang="ar-SA" smtClean="0"/>
              <a:pPr/>
              <a:t>6</a:t>
            </a:fld>
            <a:endParaRPr lang="en-US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dirty="0" smtClean="0">
                <a:latin typeface="Book Antiqua" pitchFamily="18" charset="0"/>
              </a:rPr>
              <a:t>Methodolog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09600"/>
            <a:ext cx="8915400" cy="5943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State it  explicitly </a:t>
            </a:r>
          </a:p>
          <a:p>
            <a:pPr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Enough detail for the reader to follow</a:t>
            </a:r>
          </a:p>
          <a:p>
            <a:pPr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First give an overall summary of your study design and methodological approach. </a:t>
            </a:r>
          </a:p>
          <a:p>
            <a:pPr eaLnBrk="1" hangingPunct="1">
              <a:lnSpc>
                <a:spcPts val="288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Then provide the methodology for each specific objective.  </a:t>
            </a:r>
          </a:p>
          <a:p>
            <a:pPr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Describe </a:t>
            </a:r>
          </a:p>
          <a:p>
            <a:pPr lvl="1"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the specific design (what will you do and how, number of replicates, etc.), </a:t>
            </a:r>
          </a:p>
          <a:p>
            <a:pPr lvl="1"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the materials and techniques that will be used, and </a:t>
            </a:r>
          </a:p>
          <a:p>
            <a:pPr lvl="1"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the feasibility of these techniques.</a:t>
            </a:r>
          </a:p>
          <a:p>
            <a:pPr lvl="1"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Use literature to support design, materials &amp; techniques</a:t>
            </a:r>
          </a:p>
          <a:p>
            <a:pPr lvl="1" eaLnBrk="1" hangingPunct="1">
              <a:lnSpc>
                <a:spcPts val="2880"/>
              </a:lnSpc>
            </a:pPr>
            <a:r>
              <a:rPr lang="en-US" sz="2400" dirty="0" smtClean="0">
                <a:latin typeface="Book Antiqua" pitchFamily="18" charset="0"/>
              </a:rPr>
              <a:t>Need not repeat standard procedures – but give a reference.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7921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References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dirty="0" smtClean="0">
                <a:latin typeface="Book Antiqua" pitchFamily="18" charset="0"/>
              </a:rPr>
              <a:t>List all references  in alphabetical order !</a:t>
            </a:r>
          </a:p>
          <a:p>
            <a:pPr eaLnBrk="1" hangingPunct="1"/>
            <a:endParaRPr lang="en-US" sz="2800" dirty="0" smtClean="0">
              <a:latin typeface="Book Antiqua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0"/>
            <a:ext cx="7313612" cy="728662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Activity Chart (Time line)</a:t>
            </a:r>
          </a:p>
        </p:txBody>
      </p:sp>
      <p:graphicFrame>
        <p:nvGraphicFramePr>
          <p:cNvPr id="29699" name="Group 3"/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372475" cy="4632643"/>
        </p:xfrm>
        <a:graphic>
          <a:graphicData uri="http://schemas.openxmlformats.org/drawingml/2006/table">
            <a:tbl>
              <a:tblPr/>
              <a:tblGrid>
                <a:gridCol w="2243138"/>
                <a:gridCol w="1531937"/>
                <a:gridCol w="1533525"/>
                <a:gridCol w="1531938"/>
                <a:gridCol w="1531937"/>
              </a:tblGrid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Year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Year 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Year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Survey &amp; purchase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Test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Analyze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Verdana" pitchFamily="34" charset="0"/>
                        </a:rPr>
                        <a:t>Final Reporting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77" name="Line 41"/>
          <p:cNvSpPr>
            <a:spLocks noChangeShapeType="1"/>
          </p:cNvSpPr>
          <p:nvPr/>
        </p:nvSpPr>
        <p:spPr bwMode="auto">
          <a:xfrm>
            <a:off x="2667000" y="2514600"/>
            <a:ext cx="1143000" cy="4603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378" name="Line 42"/>
          <p:cNvSpPr>
            <a:spLocks noChangeShapeType="1"/>
          </p:cNvSpPr>
          <p:nvPr/>
        </p:nvSpPr>
        <p:spPr bwMode="auto">
          <a:xfrm>
            <a:off x="3733800" y="3657600"/>
            <a:ext cx="2057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379" name="Line 43"/>
          <p:cNvSpPr>
            <a:spLocks noChangeShapeType="1"/>
          </p:cNvSpPr>
          <p:nvPr/>
        </p:nvSpPr>
        <p:spPr bwMode="auto">
          <a:xfrm>
            <a:off x="4343400" y="4495800"/>
            <a:ext cx="2209800" cy="4603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380" name="Line 44"/>
          <p:cNvSpPr>
            <a:spLocks noChangeShapeType="1"/>
          </p:cNvSpPr>
          <p:nvPr/>
        </p:nvSpPr>
        <p:spPr bwMode="auto">
          <a:xfrm flipV="1">
            <a:off x="6400800" y="5486400"/>
            <a:ext cx="762000" cy="4603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0"/>
            <a:ext cx="7313613" cy="4572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Budget</a:t>
            </a:r>
          </a:p>
        </p:txBody>
      </p:sp>
      <p:graphicFrame>
        <p:nvGraphicFramePr>
          <p:cNvPr id="8" name="Group 3"/>
          <p:cNvGraphicFramePr>
            <a:graphicFrameLocks noGrp="1"/>
          </p:cNvGraphicFramePr>
          <p:nvPr>
            <p:ph idx="1"/>
          </p:nvPr>
        </p:nvGraphicFramePr>
        <p:xfrm>
          <a:off x="228600" y="1371600"/>
          <a:ext cx="8613775" cy="3599816"/>
        </p:xfrm>
        <a:graphic>
          <a:graphicData uri="http://schemas.openxmlformats.org/drawingml/2006/table">
            <a:tbl>
              <a:tblPr/>
              <a:tblGrid>
                <a:gridCol w="2705100"/>
                <a:gridCol w="819150"/>
                <a:gridCol w="800100"/>
                <a:gridCol w="800100"/>
                <a:gridCol w="3489325"/>
              </a:tblGrid>
              <a:tr h="268288">
                <a:tc gridSpan="5"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SUMMARY OF FUNDS REQUESTED (RO)</a:t>
                      </a:r>
                      <a:endParaRPr kumimoji="0" lang="en-US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Year 1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Year 2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Year 3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30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Capital Equipment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Recurrent Items 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 of University Facilities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Local Travel Costs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Publication Costs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Miscellaneous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22500</a:t>
                      </a:r>
                      <a:endParaRPr kumimoji="0" 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362200" y="0"/>
            <a:ext cx="4267200" cy="1470025"/>
          </a:xfrm>
          <a:noFill/>
        </p:spPr>
        <p:txBody>
          <a:bodyPr/>
          <a:lstStyle/>
          <a:p>
            <a:pPr eaLnBrk="1" hangingPunct="1"/>
            <a:r>
              <a:rPr lang="en-US" sz="3200" dirty="0" smtClean="0"/>
              <a:t>PAPER WRITING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Publish or Perish</a:t>
            </a:r>
            <a:br>
              <a:rPr lang="en-US" sz="3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Publishing in International Research Journals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8229600" cy="4038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Why publish?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What to publish?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Where to publish?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How to succeed in publishing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Mistakes to avoid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8229600" cy="5635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200" dirty="0" smtClean="0">
                <a:solidFill>
                  <a:srgbClr val="04A804"/>
                </a:solidFill>
                <a:latin typeface="Book Antiqua" pitchFamily="18" charset="0"/>
              </a:rPr>
              <a:t>Purpose of Publishing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5257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Scientific progress based on written contributions</a:t>
            </a:r>
          </a:p>
          <a:p>
            <a:pPr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Scientific ideas evaluated based on written contributions</a:t>
            </a:r>
          </a:p>
          <a:p>
            <a:pPr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Extrinsic Reasons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Requirement for graduation/promotion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Prestige, reputation, visibility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Reaching a wide (international) audience</a:t>
            </a:r>
          </a:p>
          <a:p>
            <a:pPr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Intrinsic Reasons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Pride, Self-efficacy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Sense of accomplishment</a:t>
            </a:r>
          </a:p>
          <a:p>
            <a:pPr lvl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Determine standing in the academic community</a:t>
            </a:r>
          </a:p>
          <a:p>
            <a:pPr lvl="1">
              <a:lnSpc>
                <a:spcPts val="3200"/>
              </a:lnSpc>
            </a:pPr>
            <a:endParaRPr lang="en-US" sz="22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609600" y="1143000"/>
            <a:ext cx="8077200" cy="328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Book Antiqua" pitchFamily="18" charset="0"/>
              </a:rPr>
              <a:t>Ideally –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Book Antiqua" pitchFamily="18" charset="0"/>
              </a:rPr>
              <a:t>	to share research findings and discoveries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Book Antiqua" pitchFamily="18" charset="0"/>
              </a:rPr>
              <a:t>             with the hope of improving the society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Book Antiqua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 Antiqua" pitchFamily="18" charset="0"/>
              </a:rPr>
              <a:t>Practically – </a:t>
            </a:r>
          </a:p>
          <a:p>
            <a:r>
              <a:rPr lang="en-US" sz="2400" dirty="0">
                <a:latin typeface="Book Antiqua" pitchFamily="18" charset="0"/>
              </a:rPr>
              <a:t>	to get funding</a:t>
            </a:r>
          </a:p>
          <a:p>
            <a:r>
              <a:rPr lang="en-US" sz="2400" dirty="0">
                <a:latin typeface="Book Antiqua" pitchFamily="18" charset="0"/>
              </a:rPr>
              <a:t>	to get promoted</a:t>
            </a:r>
          </a:p>
          <a:p>
            <a:r>
              <a:rPr lang="en-US" sz="2400" dirty="0">
                <a:latin typeface="Book Antiqua" pitchFamily="18" charset="0"/>
              </a:rPr>
              <a:t>	to get a job</a:t>
            </a:r>
          </a:p>
          <a:p>
            <a:r>
              <a:rPr lang="en-US" sz="2400" dirty="0">
                <a:latin typeface="Book Antiqua" pitchFamily="18" charset="0"/>
              </a:rPr>
              <a:t>	to keep your job! </a:t>
            </a:r>
            <a:endParaRPr lang="en-GB" sz="2800" dirty="0">
              <a:latin typeface="Book Antiqua" pitchFamily="18" charset="0"/>
            </a:endParaRP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533400" y="5029200"/>
            <a:ext cx="8305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latin typeface="Book Antiqua" pitchFamily="18" charset="0"/>
              </a:rPr>
              <a:t>Scientists are rated by what they finish, not by what they attempt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56356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Types of Contributions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8382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Empirical Research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Meta-Analyses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Theory Development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Model/Conceptual Development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Integrated Reviews of Literature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Exploratory Studies (“Research Notes”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Opinion Pieces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Responses to Published articles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Book Reviews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63976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Maturity of Contributions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14400"/>
            <a:ext cx="82296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Emerging Fields/Areas	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Exploratory research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Descriptive research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Definitional writing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Developing research agendas</a:t>
            </a:r>
          </a:p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Established Fields/Areas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Hypothesis testing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Theory development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Construct validation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Meta-analyses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5635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Research Journals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838200"/>
            <a:ext cx="8229600" cy="5181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 smtClean="0">
                <a:latin typeface="Book Antiqua" pitchFamily="18" charset="0"/>
              </a:rPr>
              <a:t>International Journals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Importance of the topic</a:t>
            </a:r>
          </a:p>
          <a:p>
            <a:pPr lvl="2"/>
            <a:r>
              <a:rPr lang="en-US" sz="2000" dirty="0" smtClean="0">
                <a:latin typeface="Book Antiqua" pitchFamily="18" charset="0"/>
              </a:rPr>
              <a:t>Theoretical importance</a:t>
            </a:r>
          </a:p>
          <a:p>
            <a:pPr lvl="2"/>
            <a:r>
              <a:rPr lang="en-US" sz="2000" dirty="0" smtClean="0">
                <a:latin typeface="Book Antiqua" pitchFamily="18" charset="0"/>
              </a:rPr>
              <a:t>Practical Importance</a:t>
            </a:r>
          </a:p>
          <a:p>
            <a:pPr lvl="2"/>
            <a:r>
              <a:rPr lang="en-US" sz="2000" dirty="0" smtClean="0">
                <a:latin typeface="Book Antiqua" pitchFamily="18" charset="0"/>
              </a:rPr>
              <a:t>Appropriateness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Problem Statement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Relevance of Literature Review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Research Design and Methods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Results and Conclusions</a:t>
            </a:r>
          </a:p>
          <a:p>
            <a:pPr lvl="1"/>
            <a:r>
              <a:rPr lang="en-US" sz="2400" dirty="0" smtClean="0">
                <a:latin typeface="Book Antiqua" pitchFamily="18" charset="0"/>
              </a:rPr>
              <a:t>Contributions to the field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Types of Research Journals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838200"/>
            <a:ext cx="8382000" cy="5486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Standing within Disciplines/Fields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Tier 1, 2, 3 etc.</a:t>
            </a:r>
          </a:p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Domain-specific journals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E.g. Cross-Cultural Management; Human Resource Development International</a:t>
            </a:r>
          </a:p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Regional Focus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E.g. Asia Pacific Journal of Management</a:t>
            </a:r>
          </a:p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Audience specific journals</a:t>
            </a:r>
          </a:p>
          <a:p>
            <a:pPr lvl="1">
              <a:lnSpc>
                <a:spcPts val="3600"/>
              </a:lnSpc>
            </a:pPr>
            <a:r>
              <a:rPr lang="en-US" sz="2400" dirty="0" smtClean="0">
                <a:latin typeface="Book Antiqua" pitchFamily="18" charset="0"/>
              </a:rPr>
              <a:t>E.g. Harvard Business Review</a:t>
            </a:r>
          </a:p>
          <a:p>
            <a:pPr>
              <a:lnSpc>
                <a:spcPts val="3600"/>
              </a:lnSpc>
            </a:pPr>
            <a:r>
              <a:rPr lang="en-US" sz="2800" dirty="0" smtClean="0">
                <a:latin typeface="Book Antiqua" pitchFamily="18" charset="0"/>
              </a:rPr>
              <a:t>Special sections, topical monographs</a:t>
            </a:r>
          </a:p>
          <a:p>
            <a:pPr>
              <a:lnSpc>
                <a:spcPts val="3600"/>
              </a:lnSpc>
            </a:pPr>
            <a:endParaRPr lang="en-US" sz="2800" dirty="0" smtClean="0"/>
          </a:p>
          <a:p>
            <a:pPr>
              <a:lnSpc>
                <a:spcPts val="3600"/>
              </a:lnSpc>
            </a:pPr>
            <a:endParaRPr lang="en-US" sz="2800" dirty="0" smtClean="0"/>
          </a:p>
          <a:p>
            <a:pPr>
              <a:lnSpc>
                <a:spcPts val="3600"/>
              </a:lnSpc>
            </a:pPr>
            <a:endParaRPr lang="en-US" sz="2800" dirty="0" smtClean="0"/>
          </a:p>
          <a:p>
            <a:pPr lvl="1">
              <a:lnSpc>
                <a:spcPts val="3600"/>
              </a:lnSpc>
            </a:pP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09600" y="15240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kern="0" dirty="0">
                <a:latin typeface="Book Antiqua" pitchFamily="18" charset="0"/>
                <a:ea typeface="+mj-ea"/>
                <a:cs typeface="+mj-cs"/>
              </a:rPr>
              <a:t>What constitutes a good journal</a:t>
            </a:r>
            <a:r>
              <a:rPr lang="en-US" sz="4400" kern="0" dirty="0">
                <a:latin typeface="Times New Roman" pitchFamily="18" charset="0"/>
                <a:ea typeface="+mj-ea"/>
                <a:cs typeface="+mj-cs"/>
              </a:rPr>
              <a:t>?</a:t>
            </a:r>
            <a:endParaRPr lang="en-GB" sz="4400" kern="0" dirty="0">
              <a:latin typeface="Times New Roman" pitchFamily="18" charset="0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38200" y="1371600"/>
            <a:ext cx="7696200" cy="1600200"/>
          </a:xfrm>
          <a:prstGeom prst="rect">
            <a:avLst/>
          </a:prstGeom>
        </p:spPr>
        <p:txBody>
          <a:bodyPr/>
          <a:lstStyle/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Times New Roman" pitchFamily="18" charset="0"/>
                <a:cs typeface="+mn-cs"/>
              </a:rPr>
              <a:t>Impact factor –  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Times New Roman" pitchFamily="18" charset="0"/>
                <a:cs typeface="+mn-cs"/>
              </a:rPr>
              <a:t>	average number of times published papers 	are cited up to two years after publication.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800" kern="0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800" kern="0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GB" sz="2400" kern="0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000" kern="0" dirty="0">
                <a:solidFill>
                  <a:schemeClr val="bg1"/>
                </a:solidFill>
                <a:latin typeface="+mn-lt"/>
                <a:cs typeface="+mn-cs"/>
              </a:rPr>
              <a:t> 	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43000" y="2971800"/>
            <a:ext cx="7505700" cy="4257675"/>
          </a:xfrm>
          <a:prstGeom prst="rect">
            <a:avLst/>
          </a:prstGeom>
        </p:spPr>
        <p:txBody>
          <a:bodyPr/>
          <a:lstStyle/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Journal		  Impact Factor	</a:t>
            </a:r>
            <a:endParaRPr lang="en-GB" sz="2400" kern="0" dirty="0"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>
                <a:latin typeface="Times New Roman" pitchFamily="18" charset="0"/>
                <a:cs typeface="+mn-cs"/>
              </a:rPr>
              <a:t>Nature		  30.979 		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>
                <a:latin typeface="Times New Roman" pitchFamily="18" charset="0"/>
                <a:cs typeface="+mn-cs"/>
              </a:rPr>
              <a:t>Science	  	  29.162		</a:t>
            </a:r>
            <a:endParaRPr lang="en-GB" sz="2400" kern="0" dirty="0">
              <a:latin typeface="+mn-lt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400" kern="0" dirty="0"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 err="1">
                <a:latin typeface="Times New Roman" pitchFamily="18" charset="0"/>
                <a:cs typeface="+mn-cs"/>
              </a:rPr>
              <a:t>Physiol</a:t>
            </a:r>
            <a:r>
              <a:rPr lang="en-GB" sz="2400" kern="0" dirty="0">
                <a:latin typeface="Times New Roman" pitchFamily="18" charset="0"/>
                <a:cs typeface="+mn-cs"/>
              </a:rPr>
              <a:t> Rev	  	  36.831 		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GB" sz="2400" kern="0" dirty="0">
              <a:latin typeface="Times New Roman" pitchFamily="18" charset="0"/>
              <a:cs typeface="+mn-cs"/>
            </a:endParaRP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>
                <a:latin typeface="Times New Roman" pitchFamily="18" charset="0"/>
                <a:cs typeface="+mn-cs"/>
              </a:rPr>
              <a:t>Am J Math	              00.962		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>
                <a:latin typeface="Times New Roman" pitchFamily="18" charset="0"/>
                <a:cs typeface="+mn-cs"/>
              </a:rPr>
              <a:t>Ann Math 	              01.505 		</a:t>
            </a:r>
          </a:p>
          <a:p>
            <a:pPr marL="228600" indent="-228600" eaLnBrk="0" hangingPunct="0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GB" sz="2400" kern="0" dirty="0">
                <a:latin typeface="Book Antiqua" pitchFamily="18" charset="0"/>
                <a:cs typeface="+mn-cs"/>
              </a:rPr>
              <a:t> IEEE Trans		 15 to 1 (even below 1)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685800"/>
            <a:ext cx="8305800" cy="5638800"/>
          </a:xfrm>
          <a:prstGeom prst="rect">
            <a:avLst/>
          </a:prstGeom>
        </p:spPr>
        <p:txBody>
          <a:bodyPr/>
          <a:lstStyle/>
          <a:p>
            <a:pPr marL="228600" indent="-228600" eaLnBrk="0" hangingPunct="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1. Time to write the paper?</a:t>
            </a:r>
            <a:r>
              <a:rPr lang="en-US" sz="3600" kern="0" dirty="0">
                <a:latin typeface="Book Antiqua" pitchFamily="18" charset="0"/>
                <a:cs typeface="+mn-cs"/>
              </a:rPr>
              <a:t> 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Book Antiqua" pitchFamily="18" charset="0"/>
                <a:cs typeface="+mn-cs"/>
              </a:rPr>
              <a:t>	- </a:t>
            </a:r>
            <a:r>
              <a:rPr lang="en-US" sz="2400" kern="0" dirty="0">
                <a:latin typeface="Book Antiqua" pitchFamily="18" charset="0"/>
                <a:cs typeface="+mn-cs"/>
              </a:rPr>
              <a:t>has a significant advancement been made?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is the hypothesis straightforward?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did the experiments test the hypothesis?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are the controls appropriate and sufficient?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can you describe the study in 1 or 2 minutes?</a:t>
            </a:r>
          </a:p>
          <a:p>
            <a:pPr marL="228600" indent="-228600" eaLnBrk="0" hangingPunct="0">
              <a:lnSpc>
                <a:spcPts val="32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can the key message be written in 1 or 2 sentences?</a:t>
            </a:r>
          </a:p>
          <a:p>
            <a:pPr marL="228600" indent="-228600" eaLnBrk="0" hangingPunct="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000" kern="0" dirty="0">
              <a:latin typeface="Book Antiqua" pitchFamily="18" charset="0"/>
              <a:cs typeface="+mn-cs"/>
            </a:endParaRPr>
          </a:p>
          <a:p>
            <a:pPr marL="228600" indent="-228600" eaLnBrk="0" hangingPunct="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 smtClean="0">
                <a:latin typeface="Book Antiqua" pitchFamily="18" charset="0"/>
                <a:cs typeface="+mn-cs"/>
              </a:rPr>
              <a:t>2.  Tables </a:t>
            </a:r>
            <a:r>
              <a:rPr lang="en-US" sz="2800" kern="0" dirty="0">
                <a:latin typeface="Book Antiqua" pitchFamily="18" charset="0"/>
                <a:cs typeface="+mn-cs"/>
              </a:rPr>
              <a:t>and figures 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Book Antiqua" pitchFamily="18" charset="0"/>
                <a:cs typeface="+mn-cs"/>
              </a:rPr>
              <a:t>	</a:t>
            </a:r>
            <a:r>
              <a:rPr lang="en-US" sz="2400" kern="0" dirty="0">
                <a:latin typeface="Book Antiqua" pitchFamily="18" charset="0"/>
                <a:cs typeface="+mn-cs"/>
              </a:rPr>
              <a:t>- must be clear and concise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should be self-explanatory</a:t>
            </a:r>
          </a:p>
          <a:p>
            <a:pPr marL="228600" indent="-228600" eaLnBrk="0" hangingPunct="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</a:t>
            </a:r>
          </a:p>
          <a:p>
            <a:pPr marL="228600" indent="-228600" eaLnBrk="0" hangingPunct="0">
              <a:lnSpc>
                <a:spcPct val="80000"/>
              </a:lnSpc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3. Read references 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Book Antiqua" pitchFamily="18" charset="0"/>
                <a:cs typeface="+mn-cs"/>
              </a:rPr>
              <a:t>	</a:t>
            </a:r>
            <a:r>
              <a:rPr lang="en-US" sz="2400" kern="0" dirty="0">
                <a:latin typeface="Book Antiqua" pitchFamily="18" charset="0"/>
                <a:cs typeface="+mn-cs"/>
              </a:rPr>
              <a:t>- will help in choosing journal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better insight into possible reviewers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	</a:t>
            </a:r>
            <a:endParaRPr lang="en-GB" sz="2800" kern="0" dirty="0">
              <a:latin typeface="Book Antiqua" pitchFamily="18" charset="0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219200" y="990600"/>
            <a:ext cx="7467600" cy="3819525"/>
          </a:xfrm>
          <a:prstGeom prst="rect">
            <a:avLst/>
          </a:prstGeom>
        </p:spPr>
        <p:txBody>
          <a:bodyPr/>
          <a:lstStyle/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4. Choose journal</a:t>
            </a:r>
            <a:r>
              <a:rPr lang="en-US" sz="3600" kern="0" dirty="0">
                <a:latin typeface="Book Antiqua" pitchFamily="18" charset="0"/>
                <a:cs typeface="+mn-cs"/>
              </a:rPr>
              <a:t> 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Book Antiqua" pitchFamily="18" charset="0"/>
                <a:cs typeface="+mn-cs"/>
              </a:rPr>
              <a:t>	</a:t>
            </a:r>
            <a:r>
              <a:rPr lang="en-US" sz="2400" kern="0" dirty="0">
                <a:latin typeface="Book Antiqua" pitchFamily="18" charset="0"/>
                <a:cs typeface="+mn-cs"/>
              </a:rPr>
              <a:t>- study “instructions to authors”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think about possible reviewers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400" kern="0" dirty="0">
                <a:latin typeface="Book Antiqua" pitchFamily="18" charset="0"/>
                <a:cs typeface="+mn-cs"/>
              </a:rPr>
              <a:t>	- quality of journal “impact factor”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000" kern="0" dirty="0">
              <a:latin typeface="Book Antiqua" pitchFamily="18" charset="0"/>
              <a:cs typeface="+mn-cs"/>
            </a:endParaRP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5. Tentative title and summary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US" sz="2800" kern="0" dirty="0">
              <a:latin typeface="Book Antiqua" pitchFamily="18" charset="0"/>
              <a:cs typeface="+mn-cs"/>
            </a:endParaRP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6. Choose authors </a:t>
            </a:r>
            <a:r>
              <a:rPr lang="en-US" sz="2800" kern="0" dirty="0" smtClean="0">
                <a:latin typeface="Book Antiqua" pitchFamily="18" charset="0"/>
                <a:cs typeface="+mn-cs"/>
              </a:rPr>
              <a:t>(your guide and other collaborators</a:t>
            </a:r>
            <a:endParaRPr lang="en-US" sz="2800" kern="0" dirty="0">
              <a:latin typeface="Book Antiqua" pitchFamily="18" charset="0"/>
              <a:cs typeface="+mn-cs"/>
            </a:endParaRPr>
          </a:p>
          <a:p>
            <a:pPr marL="228600" indent="-228600" eaLnBrk="0" hangingPunct="0">
              <a:buClr>
                <a:schemeClr val="accent2"/>
              </a:buClr>
              <a:defRPr/>
            </a:pPr>
            <a:r>
              <a:rPr lang="en-US" sz="2000" kern="0" dirty="0">
                <a:latin typeface="Book Antiqua" pitchFamily="18" charset="0"/>
                <a:cs typeface="+mn-cs"/>
              </a:rPr>
              <a:t>	</a:t>
            </a:r>
          </a:p>
          <a:p>
            <a:pPr marL="228600" indent="-228600" eaLnBrk="0" hangingPunct="0">
              <a:buClr>
                <a:schemeClr val="accent2"/>
              </a:buClr>
              <a:defRPr/>
            </a:pPr>
            <a:r>
              <a:rPr lang="en-US" sz="2800" kern="0" dirty="0">
                <a:latin typeface="Book Antiqua" pitchFamily="18" charset="0"/>
                <a:cs typeface="+mn-cs"/>
              </a:rPr>
              <a:t>	</a:t>
            </a:r>
            <a:endParaRPr lang="en-GB" sz="2400" kern="0" dirty="0">
              <a:latin typeface="Book Antiqua" pitchFamily="18" charset="0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-381000" y="990600"/>
            <a:ext cx="7744612" cy="4897498"/>
            <a:chOff x="-303432" y="1811338"/>
            <a:chExt cx="7744829" cy="4897497"/>
          </a:xfrm>
        </p:grpSpPr>
        <p:sp>
          <p:nvSpPr>
            <p:cNvPr id="27652" name="Text Box 4"/>
            <p:cNvSpPr txBox="1">
              <a:spLocks noChangeArrowheads="1"/>
            </p:cNvSpPr>
            <p:nvPr/>
          </p:nvSpPr>
          <p:spPr bwMode="auto">
            <a:xfrm>
              <a:off x="2841625" y="1811338"/>
              <a:ext cx="262239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Completion of research</a:t>
              </a:r>
              <a:endParaRPr lang="en-GB" sz="2000"/>
            </a:p>
          </p:txBody>
        </p:sp>
        <p:sp>
          <p:nvSpPr>
            <p:cNvPr id="27653" name="Text Box 5"/>
            <p:cNvSpPr txBox="1">
              <a:spLocks noChangeArrowheads="1"/>
            </p:cNvSpPr>
            <p:nvPr/>
          </p:nvSpPr>
          <p:spPr bwMode="auto">
            <a:xfrm>
              <a:off x="2698750" y="2335213"/>
              <a:ext cx="291690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Preparation of manuscript</a:t>
              </a:r>
              <a:endParaRPr lang="en-GB" sz="2000"/>
            </a:p>
          </p:txBody>
        </p:sp>
        <p:sp>
          <p:nvSpPr>
            <p:cNvPr id="27654" name="Text Box 6"/>
            <p:cNvSpPr txBox="1">
              <a:spLocks noChangeArrowheads="1"/>
            </p:cNvSpPr>
            <p:nvPr/>
          </p:nvSpPr>
          <p:spPr bwMode="auto">
            <a:xfrm>
              <a:off x="2698750" y="2859088"/>
              <a:ext cx="287343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Submission of manuscript</a:t>
              </a:r>
              <a:endParaRPr lang="en-GB" sz="2000"/>
            </a:p>
          </p:txBody>
        </p:sp>
        <p:sp>
          <p:nvSpPr>
            <p:cNvPr id="27655" name="Text Box 7"/>
            <p:cNvSpPr txBox="1">
              <a:spLocks noChangeArrowheads="1"/>
            </p:cNvSpPr>
            <p:nvPr/>
          </p:nvSpPr>
          <p:spPr bwMode="auto">
            <a:xfrm>
              <a:off x="2841625" y="3373438"/>
              <a:ext cx="2608159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Assignment and review</a:t>
              </a:r>
              <a:endParaRPr lang="en-GB" sz="2000"/>
            </a:p>
          </p:txBody>
        </p:sp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3670300" y="3906838"/>
              <a:ext cx="106795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Decision</a:t>
              </a:r>
              <a:endParaRPr lang="en-GB" sz="2000"/>
            </a:p>
          </p:txBody>
        </p:sp>
        <p:sp>
          <p:nvSpPr>
            <p:cNvPr id="27657" name="Text Box 9"/>
            <p:cNvSpPr txBox="1">
              <a:spLocks noChangeArrowheads="1"/>
            </p:cNvSpPr>
            <p:nvPr/>
          </p:nvSpPr>
          <p:spPr bwMode="auto">
            <a:xfrm>
              <a:off x="5127625" y="4325938"/>
              <a:ext cx="105095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Revision</a:t>
              </a:r>
              <a:endParaRPr lang="en-GB" sz="2000"/>
            </a:p>
          </p:txBody>
        </p:sp>
        <p:sp>
          <p:nvSpPr>
            <p:cNvPr id="27658" name="Text Box 10"/>
            <p:cNvSpPr txBox="1">
              <a:spLocks noChangeArrowheads="1"/>
            </p:cNvSpPr>
            <p:nvPr/>
          </p:nvSpPr>
          <p:spPr bwMode="auto">
            <a:xfrm>
              <a:off x="5146675" y="4868863"/>
              <a:ext cx="161330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Resubmission</a:t>
              </a:r>
              <a:endParaRPr lang="en-GB" sz="2000"/>
            </a:p>
          </p:txBody>
        </p:sp>
        <p:sp>
          <p:nvSpPr>
            <p:cNvPr id="27659" name="Text Box 11"/>
            <p:cNvSpPr txBox="1">
              <a:spLocks noChangeArrowheads="1"/>
            </p:cNvSpPr>
            <p:nvPr/>
          </p:nvSpPr>
          <p:spPr bwMode="auto">
            <a:xfrm>
              <a:off x="5156200" y="5430838"/>
              <a:ext cx="122421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Re-review</a:t>
              </a:r>
              <a:endParaRPr lang="en-GB" sz="2000"/>
            </a:p>
          </p:txBody>
        </p:sp>
        <p:sp>
          <p:nvSpPr>
            <p:cNvPr id="27660" name="Text Box 12"/>
            <p:cNvSpPr txBox="1">
              <a:spLocks noChangeArrowheads="1"/>
            </p:cNvSpPr>
            <p:nvPr/>
          </p:nvSpPr>
          <p:spPr bwMode="auto">
            <a:xfrm>
              <a:off x="3498850" y="5773738"/>
              <a:ext cx="139228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Acceptance</a:t>
              </a:r>
              <a:endParaRPr lang="en-GB" sz="2000"/>
            </a:p>
          </p:txBody>
        </p:sp>
        <p:sp>
          <p:nvSpPr>
            <p:cNvPr id="27661" name="Text Box 13"/>
            <p:cNvSpPr txBox="1">
              <a:spLocks noChangeArrowheads="1"/>
            </p:cNvSpPr>
            <p:nvPr/>
          </p:nvSpPr>
          <p:spPr bwMode="auto">
            <a:xfrm>
              <a:off x="3546475" y="6308725"/>
              <a:ext cx="134880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Publication</a:t>
              </a:r>
              <a:endParaRPr lang="en-GB" sz="2000"/>
            </a:p>
          </p:txBody>
        </p:sp>
        <p:sp>
          <p:nvSpPr>
            <p:cNvPr id="27662" name="Text Box 14"/>
            <p:cNvSpPr txBox="1">
              <a:spLocks noChangeArrowheads="1"/>
            </p:cNvSpPr>
            <p:nvPr/>
          </p:nvSpPr>
          <p:spPr bwMode="auto">
            <a:xfrm>
              <a:off x="2165350" y="4306888"/>
              <a:ext cx="116124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Rejection</a:t>
              </a:r>
              <a:endParaRPr lang="en-GB" sz="2000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4252913" y="2143125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4252913" y="2667000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4243388" y="3181350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4252913" y="3695700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7" name="Line 19"/>
            <p:cNvSpPr>
              <a:spLocks noChangeShapeType="1"/>
            </p:cNvSpPr>
            <p:nvPr/>
          </p:nvSpPr>
          <p:spPr bwMode="auto">
            <a:xfrm>
              <a:off x="4814888" y="4124325"/>
              <a:ext cx="814387" cy="2286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8" name="Line 20"/>
            <p:cNvSpPr>
              <a:spLocks noChangeShapeType="1"/>
            </p:cNvSpPr>
            <p:nvPr/>
          </p:nvSpPr>
          <p:spPr bwMode="auto">
            <a:xfrm>
              <a:off x="5729288" y="4657725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69" name="Line 21"/>
            <p:cNvSpPr>
              <a:spLocks noChangeShapeType="1"/>
            </p:cNvSpPr>
            <p:nvPr/>
          </p:nvSpPr>
          <p:spPr bwMode="auto">
            <a:xfrm>
              <a:off x="5738813" y="5210175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70" name="Line 22"/>
            <p:cNvSpPr>
              <a:spLocks noChangeShapeType="1"/>
            </p:cNvSpPr>
            <p:nvPr/>
          </p:nvSpPr>
          <p:spPr bwMode="auto">
            <a:xfrm>
              <a:off x="6453188" y="5686425"/>
              <a:ext cx="376237" cy="333375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71" name="Line 23"/>
            <p:cNvSpPr>
              <a:spLocks noChangeShapeType="1"/>
            </p:cNvSpPr>
            <p:nvPr/>
          </p:nvSpPr>
          <p:spPr bwMode="auto">
            <a:xfrm flipH="1">
              <a:off x="4267200" y="5610225"/>
              <a:ext cx="900113" cy="200025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72" name="Line 24"/>
            <p:cNvSpPr>
              <a:spLocks noChangeShapeType="1"/>
            </p:cNvSpPr>
            <p:nvPr/>
          </p:nvSpPr>
          <p:spPr bwMode="auto">
            <a:xfrm>
              <a:off x="4262438" y="6124575"/>
              <a:ext cx="4762" cy="304800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73" name="Text Box 25"/>
            <p:cNvSpPr txBox="1">
              <a:spLocks noChangeArrowheads="1"/>
            </p:cNvSpPr>
            <p:nvPr/>
          </p:nvSpPr>
          <p:spPr bwMode="auto">
            <a:xfrm>
              <a:off x="6280150" y="5992813"/>
              <a:ext cx="116124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Rejection</a:t>
              </a:r>
              <a:endParaRPr lang="en-GB" sz="2000"/>
            </a:p>
          </p:txBody>
        </p:sp>
        <p:sp>
          <p:nvSpPr>
            <p:cNvPr id="27674" name="Line 26"/>
            <p:cNvSpPr>
              <a:spLocks noChangeShapeType="1"/>
            </p:cNvSpPr>
            <p:nvPr/>
          </p:nvSpPr>
          <p:spPr bwMode="auto">
            <a:xfrm flipH="1">
              <a:off x="3019425" y="4105275"/>
              <a:ext cx="690563" cy="219075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-303432" y="1963738"/>
              <a:ext cx="2398932" cy="2541588"/>
              <a:chOff x="1368" y="1261"/>
              <a:chExt cx="2398932" cy="1601"/>
            </a:xfrm>
          </p:grpSpPr>
          <p:sp>
            <p:nvSpPr>
              <p:cNvPr id="27678" name="Line 28"/>
              <p:cNvSpPr>
                <a:spLocks noChangeShapeType="1"/>
              </p:cNvSpPr>
              <p:nvPr/>
            </p:nvSpPr>
            <p:spPr bwMode="auto">
              <a:xfrm>
                <a:off x="2400300" y="1261"/>
                <a:ext cx="0" cy="1584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79" name="Line 29"/>
              <p:cNvSpPr>
                <a:spLocks noChangeShapeType="1"/>
              </p:cNvSpPr>
              <p:nvPr/>
            </p:nvSpPr>
            <p:spPr bwMode="auto">
              <a:xfrm flipH="1">
                <a:off x="1368" y="2862"/>
                <a:ext cx="186" cy="0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680" name="Line 30"/>
              <p:cNvSpPr>
                <a:spLocks noChangeShapeType="1"/>
              </p:cNvSpPr>
              <p:nvPr/>
            </p:nvSpPr>
            <p:spPr bwMode="auto">
              <a:xfrm>
                <a:off x="1377" y="1284"/>
                <a:ext cx="633" cy="0"/>
              </a:xfrm>
              <a:prstGeom prst="line">
                <a:avLst/>
              </a:prstGeom>
              <a:noFill/>
              <a:ln w="38100">
                <a:solidFill>
                  <a:srgbClr val="33CC33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676" name="Line 31"/>
            <p:cNvSpPr>
              <a:spLocks noChangeShapeType="1"/>
            </p:cNvSpPr>
            <p:nvPr/>
          </p:nvSpPr>
          <p:spPr bwMode="auto">
            <a:xfrm flipH="1">
              <a:off x="7240588" y="1990725"/>
              <a:ext cx="0" cy="4067175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677" name="Line 32"/>
            <p:cNvSpPr>
              <a:spLocks noChangeShapeType="1"/>
            </p:cNvSpPr>
            <p:nvPr/>
          </p:nvSpPr>
          <p:spPr bwMode="auto">
            <a:xfrm flipH="1" flipV="1">
              <a:off x="5600700" y="1990725"/>
              <a:ext cx="1631950" cy="9525"/>
            </a:xfrm>
            <a:prstGeom prst="line">
              <a:avLst/>
            </a:prstGeom>
            <a:noFill/>
            <a:ln w="38100">
              <a:solidFill>
                <a:srgbClr val="33CC33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37" name="Straight Arrow Connector 36"/>
          <p:cNvCxnSpPr/>
          <p:nvPr/>
        </p:nvCxnSpPr>
        <p:spPr>
          <a:xfrm rot="16200000" flipH="1">
            <a:off x="2406624" y="793776"/>
            <a:ext cx="47655" cy="746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Date Placeholder 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914400"/>
            <a:ext cx="5257800" cy="5181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Title </a:t>
            </a:r>
          </a:p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Abstract</a:t>
            </a:r>
          </a:p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Practical Application (optional)</a:t>
            </a:r>
          </a:p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Introduction</a:t>
            </a:r>
          </a:p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Materials and Methods</a:t>
            </a:r>
          </a:p>
          <a:p>
            <a:pPr eaLnBrk="1" hangingPunct="1">
              <a:lnSpc>
                <a:spcPts val="288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Results and Discussion</a:t>
            </a:r>
          </a:p>
          <a:p>
            <a:pPr eaLnBrk="1" hangingPunct="1">
              <a:lnSpc>
                <a:spcPct val="5500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Conclusions</a:t>
            </a:r>
          </a:p>
          <a:p>
            <a:pPr eaLnBrk="1" hangingPunct="1">
              <a:lnSpc>
                <a:spcPct val="55000"/>
              </a:lnSpc>
              <a:buFontTx/>
              <a:buChar char="•"/>
            </a:pPr>
            <a:endParaRPr lang="en-US" sz="2800" dirty="0" smtClean="0">
              <a:latin typeface="Book Antiqua" pitchFamily="18" charset="0"/>
            </a:endParaRPr>
          </a:p>
          <a:p>
            <a:pPr eaLnBrk="1" hangingPunct="1">
              <a:lnSpc>
                <a:spcPct val="55000"/>
              </a:lnSpc>
              <a:buFontTx/>
              <a:buChar char="•"/>
            </a:pPr>
            <a:r>
              <a:rPr lang="en-US" sz="2800" dirty="0" smtClean="0">
                <a:latin typeface="Book Antiqua" pitchFamily="18" charset="0"/>
              </a:rPr>
              <a:t>References</a:t>
            </a: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ct val="55000"/>
              </a:lnSpc>
              <a:buFontTx/>
              <a:buNone/>
            </a:pPr>
            <a:endParaRPr lang="en-US" sz="2800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Components in Original Research Manuscript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762000"/>
            <a:ext cx="8534400" cy="5638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en-US" sz="2800" dirty="0" smtClean="0">
                <a:latin typeface="Book Antiqua" pitchFamily="18" charset="0"/>
              </a:rPr>
              <a:t>To describe the nature and content of research concisely and accurately. </a:t>
            </a:r>
          </a:p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en-US" sz="2800" dirty="0" smtClean="0">
                <a:latin typeface="Book Antiqua" pitchFamily="18" charset="0"/>
              </a:rPr>
              <a:t>Concise to describe the content of study with the fewest words – 20 words.</a:t>
            </a:r>
          </a:p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en-US" sz="2800" dirty="0" smtClean="0">
                <a:latin typeface="Book Antiqua" pitchFamily="18" charset="0"/>
              </a:rPr>
              <a:t>Clear and informative.</a:t>
            </a:r>
          </a:p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en-US" sz="2800" dirty="0" smtClean="0">
                <a:latin typeface="Book Antiqua" pitchFamily="18" charset="0"/>
              </a:rPr>
              <a:t>Capture the importance of the study and the attention of the reader.</a:t>
            </a:r>
          </a:p>
          <a:p>
            <a:pPr eaLnBrk="1" hangingPunct="1">
              <a:lnSpc>
                <a:spcPct val="110000"/>
              </a:lnSpc>
              <a:spcAft>
                <a:spcPct val="40000"/>
              </a:spcAft>
            </a:pPr>
            <a:r>
              <a:rPr lang="en-US" sz="2800" dirty="0" smtClean="0">
                <a:latin typeface="Book Antiqua" pitchFamily="18" charset="0"/>
              </a:rPr>
              <a:t>Describe actual findings that can be supported in the manuscript.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7921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533400"/>
            <a:ext cx="8534400" cy="5562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Enable readers to identify the basic contents of a paper quickly and accurately.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State succinctly what was done and how it was done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Conclusions should be justified by the results in the text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Information in the abstract should be presented in the main text</a:t>
            </a: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Not exceeding 200 words in  general 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</a:pPr>
            <a:endParaRPr lang="en-US" dirty="0" smtClean="0">
              <a:latin typeface="Book Antiqua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Abstract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2000"/>
            <a:ext cx="8229600" cy="5715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90000"/>
              </a:lnSpc>
              <a:spcAft>
                <a:spcPct val="40000"/>
              </a:spcAft>
              <a:buFont typeface="Wingdings" pitchFamily="2" charset="2"/>
              <a:buNone/>
            </a:pPr>
            <a:r>
              <a:rPr lang="en-US" sz="2400" dirty="0" smtClean="0">
                <a:latin typeface="Book Antiqua" pitchFamily="18" charset="0"/>
              </a:rPr>
              <a:t>Provide the readers with sufficient background information to evaluate the results of the research </a:t>
            </a:r>
          </a:p>
          <a:p>
            <a:pPr algn="just" eaLnBrk="1" hangingPunct="1">
              <a:lnSpc>
                <a:spcPct val="900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No more than 2 typed pages usually</a:t>
            </a:r>
          </a:p>
          <a:p>
            <a:pPr algn="just" eaLnBrk="1" hangingPunct="1">
              <a:lnSpc>
                <a:spcPct val="900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Focus on the main subject</a:t>
            </a:r>
          </a:p>
          <a:p>
            <a:pPr algn="just" eaLnBrk="1" hangingPunct="1">
              <a:lnSpc>
                <a:spcPct val="900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Brief and well integrated review of pertinent work</a:t>
            </a:r>
          </a:p>
          <a:p>
            <a:pPr algn="just" eaLnBrk="1" hangingPunct="1">
              <a:lnSpc>
                <a:spcPct val="900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Cite key and current literature</a:t>
            </a:r>
          </a:p>
          <a:p>
            <a:pPr eaLnBrk="1" hangingPunct="1"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Extensive review of the literature is not needed</a:t>
            </a:r>
          </a:p>
          <a:p>
            <a:pPr eaLnBrk="1" hangingPunct="1">
              <a:lnSpc>
                <a:spcPct val="95000"/>
              </a:lnSpc>
              <a:spcAft>
                <a:spcPct val="20000"/>
              </a:spcAft>
            </a:pPr>
            <a:r>
              <a:rPr lang="en-US" sz="2400" dirty="0" smtClean="0">
                <a:latin typeface="Book Antiqua" pitchFamily="18" charset="0"/>
              </a:rPr>
              <a:t>Explain the importance of your research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1800" dirty="0" smtClean="0">
                <a:latin typeface="Book Antiqua" pitchFamily="18" charset="0"/>
              </a:rPr>
              <a:t>What new or important scientific information is needed to advance knowledge in the subject area?  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sz="1800" dirty="0" smtClean="0">
                <a:latin typeface="Book Antiqua" pitchFamily="18" charset="0"/>
              </a:rPr>
              <a:t>State clearly why the research is needed and worth doing</a:t>
            </a:r>
          </a:p>
          <a:p>
            <a:pPr eaLnBrk="1" hangingPunct="1">
              <a:lnSpc>
                <a:spcPct val="125000"/>
              </a:lnSpc>
            </a:pPr>
            <a:r>
              <a:rPr lang="en-US" sz="2400" dirty="0" smtClean="0">
                <a:latin typeface="Book Antiqua" pitchFamily="18" charset="0"/>
              </a:rPr>
              <a:t>State the objectives of your work</a:t>
            </a:r>
          </a:p>
          <a:p>
            <a:pPr eaLnBrk="1" hangingPunct="1">
              <a:lnSpc>
                <a:spcPct val="90000"/>
              </a:lnSpc>
              <a:spcAft>
                <a:spcPct val="40000"/>
              </a:spcAft>
            </a:pPr>
            <a:endParaRPr lang="en-US" sz="1800" dirty="0" smtClean="0">
              <a:latin typeface="Book Antiqua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73183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914400"/>
            <a:ext cx="8839200" cy="5638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Provide sufficient analytical information so that work can be repeated.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Use appropriate experimental design to answer the research question.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Cite and use the accepted and current methodology. 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If a published method is modified, such modifications must be described in detail.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Describe new methods in detail.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Describe statistical analysis of data if appropriate.</a:t>
            </a:r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Use subheadings as needed for clarity.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563563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</a:rPr>
              <a:t>Materials and Methods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915400" cy="2743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Present research data concisely and interpret the data scientifically.</a:t>
            </a:r>
          </a:p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Short and sweet with no excess verbiage.</a:t>
            </a:r>
          </a:p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Work consistent with the objectives stated in Introduction.</a:t>
            </a:r>
          </a:p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Reproducibility and sensitivity of analytical methods</a:t>
            </a:r>
          </a:p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Report representative data rather than endless repetitive data</a:t>
            </a:r>
          </a:p>
          <a:p>
            <a:pPr eaLnBrk="1" hangingPunct="1">
              <a:spcBef>
                <a:spcPts val="0"/>
              </a:spcBef>
            </a:pPr>
            <a:r>
              <a:rPr lang="en-US" sz="2400" dirty="0" smtClean="0">
                <a:latin typeface="Book Antiqua" pitchFamily="18" charset="0"/>
              </a:rPr>
              <a:t>Numerical data with the correct number of significant digits</a:t>
            </a:r>
          </a:p>
          <a:p>
            <a:pPr eaLnBrk="1" hangingPunct="1">
              <a:spcAft>
                <a:spcPct val="40000"/>
              </a:spcAft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spcAft>
                <a:spcPct val="40000"/>
              </a:spcAft>
            </a:pPr>
            <a:endParaRPr lang="en-US" sz="2400" dirty="0" smtClean="0">
              <a:latin typeface="Book Antiqua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7159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Results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" y="3352801"/>
            <a:ext cx="8763000" cy="2895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</a:rPr>
              <a:t>Present results concisely using tables and figures as needed.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</a:rPr>
              <a:t>Table and figure legends should be accompanied with sufficient information to make the main point so that minimal text is needed.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</a:rPr>
              <a:t>Do not present the same information in both tables, figures, and the text.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ook Antiqua" pitchFamily="18" charset="0"/>
              </a:rPr>
              <a:t>All tables and figures must be numbered in the order in which they are mentioned in the text.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371600"/>
            <a:ext cx="8610600" cy="4876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Show the relationships among observed facts.</a:t>
            </a:r>
          </a:p>
          <a:p>
            <a:pPr eaLnBrk="1" hangingPunct="1">
              <a:lnSpc>
                <a:spcPts val="32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Point out any exceptions or lack of correlations, and define any unsettled points.</a:t>
            </a:r>
          </a:p>
          <a:p>
            <a:pPr eaLnBrk="1" hangingPunct="1">
              <a:lnSpc>
                <a:spcPts val="32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Discuss the discrepancies between new results and previously reported results in similar studies. </a:t>
            </a:r>
          </a:p>
          <a:p>
            <a:pPr eaLnBrk="1" hangingPunct="1">
              <a:lnSpc>
                <a:spcPts val="32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Discuss the research limitations and identify future research. </a:t>
            </a:r>
          </a:p>
          <a:p>
            <a:pPr eaLnBrk="1" hangingPunct="1">
              <a:lnSpc>
                <a:spcPts val="3200"/>
              </a:lnSpc>
              <a:spcAft>
                <a:spcPct val="40000"/>
              </a:spcAft>
            </a:pPr>
            <a:r>
              <a:rPr lang="en-US" sz="2400" dirty="0" smtClean="0">
                <a:latin typeface="Book Antiqua" pitchFamily="18" charset="0"/>
              </a:rPr>
              <a:t>Discuss the theoretical implications and possible practical applications of your research.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Discussion </a:t>
            </a:r>
            <a:b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May not be separate from result)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915400" cy="4191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 smtClean="0">
                <a:latin typeface="Book Antiqua" pitchFamily="18" charset="0"/>
              </a:rPr>
              <a:t>Identify key findings and application to food science and technology </a:t>
            </a:r>
          </a:p>
          <a:p>
            <a:pPr eaLnBrk="1" hangingPunct="1">
              <a:lnSpc>
                <a:spcPts val="3200"/>
              </a:lnSpc>
              <a:spcBef>
                <a:spcPct val="15000"/>
              </a:spcBef>
              <a:spcAft>
                <a:spcPct val="15000"/>
              </a:spcAft>
              <a:buFont typeface="Wingdings" pitchFamily="2" charset="2"/>
              <a:buNone/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 smtClean="0">
                <a:latin typeface="Book Antiqua" pitchFamily="18" charset="0"/>
              </a:rPr>
              <a:t>Conclusion should not be a summary of the work done or a virtual duplication of the abstract.</a:t>
            </a:r>
          </a:p>
          <a:p>
            <a:pPr eaLnBrk="1" hangingPunct="1">
              <a:lnSpc>
                <a:spcPts val="3200"/>
              </a:lnSpc>
              <a:spcBef>
                <a:spcPct val="15000"/>
              </a:spcBef>
              <a:spcAft>
                <a:spcPct val="15000"/>
              </a:spcAft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 smtClean="0">
                <a:latin typeface="Book Antiqua" pitchFamily="18" charset="0"/>
              </a:rPr>
              <a:t>Conclusions should be justified by the experimental design, methods, and results.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715963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chemeClr val="bg2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382000" cy="4114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Cite current and key pertinent references. </a:t>
            </a: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Consider references from the journal itself. </a:t>
            </a: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Reference citations must be accurate and complete. </a:t>
            </a: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en-US" sz="2400" dirty="0" smtClean="0">
                <a:latin typeface="Book Antiqua" pitchFamily="18" charset="0"/>
              </a:rPr>
              <a:t>The number of references should be appropriate without a complete historical bibliography </a:t>
            </a:r>
          </a:p>
          <a:p>
            <a:pPr algn="ctr" eaLnBrk="1" hangingPunct="1">
              <a:lnSpc>
                <a:spcPts val="3200"/>
              </a:lnSpc>
              <a:buFont typeface="Wingdings" pitchFamily="2" charset="2"/>
              <a:buNone/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  <a:p>
            <a:pPr eaLnBrk="1" hangingPunct="1">
              <a:lnSpc>
                <a:spcPts val="3200"/>
              </a:lnSpc>
            </a:pPr>
            <a:endParaRPr lang="en-US" sz="2400" dirty="0" smtClean="0">
              <a:latin typeface="Book Antiqua" pitchFamily="18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229600" cy="715963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 smtClean="0">
                <a:latin typeface="Book Antiqua" pitchFamily="18" charset="0"/>
              </a:rPr>
              <a:t>References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200" dirty="0" smtClean="0">
                <a:latin typeface="Bookman Old Style" pitchFamily="18" charset="0"/>
              </a:rPr>
              <a:t>Successful Submissions</a:t>
            </a:r>
            <a:r>
              <a:rPr lang="en-US" sz="3600" dirty="0" smtClean="0">
                <a:solidFill>
                  <a:schemeClr val="bg2">
                    <a:lumMod val="50000"/>
                  </a:schemeClr>
                </a:solidFill>
                <a:latin typeface="Book Antiqua" pitchFamily="18" charset="0"/>
              </a:rPr>
              <a:t>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229600" cy="5410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Quality of contribution to the literature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Originality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Rigor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Relevance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Match with journal scope and aims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Conforms to editorial guidelines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Quality of writing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Book Antiqua" pitchFamily="18" charset="0"/>
              </a:rPr>
              <a:t>Willingness to revise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8229600" cy="808038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200" dirty="0" smtClean="0">
                <a:latin typeface="Book Antiqua" pitchFamily="18" charset="0"/>
              </a:rPr>
              <a:t>Common Mistakes in Submitting  Papers to Research Journals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105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Practitioner Papers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Introductions for the Uninformed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No Original Relevance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Targeted at another discipline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Replica of already published work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Guideline violations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Not theory-based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Uninvited resubmissions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8229600" cy="6397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600" dirty="0" smtClean="0">
                <a:latin typeface="Book Antiqua" pitchFamily="18" charset="0"/>
              </a:rPr>
              <a:t>Publishing Violations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Submitting to several journals at once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Misrepresenting authorship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Misrepresenting ownership of ideas and data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Plagiarizing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Using identical data set in multiple submissions</a:t>
            </a:r>
          </a:p>
          <a:p>
            <a:pPr>
              <a:lnSpc>
                <a:spcPct val="150000"/>
              </a:lnSpc>
              <a:buFontTx/>
              <a:buNone/>
            </a:pPr>
            <a:endParaRPr lang="en-US" sz="2400" dirty="0" smtClean="0">
              <a:latin typeface="Book Antiqua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ChangeArrowheads="1"/>
          </p:cNvSpPr>
          <p:nvPr/>
        </p:nvSpPr>
        <p:spPr bwMode="auto">
          <a:xfrm>
            <a:off x="457200" y="609600"/>
            <a:ext cx="830580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Competition for space in journals is intense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endParaRPr lang="en-US" sz="2000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</a:rPr>
              <a:t>Cost of publication is high, $360/page for APS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</a:rPr>
              <a:t>Rejection rates vary </a:t>
            </a:r>
          </a:p>
          <a:p>
            <a:pPr lvl="1">
              <a:lnSpc>
                <a:spcPct val="90000"/>
              </a:lnSpc>
              <a:buClr>
                <a:srgbClr val="33CC33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</a:rPr>
              <a:t> AJP = 50%</a:t>
            </a:r>
          </a:p>
          <a:p>
            <a:pPr lvl="1">
              <a:lnSpc>
                <a:spcPct val="90000"/>
              </a:lnSpc>
              <a:buClr>
                <a:srgbClr val="33CC33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</a:rPr>
              <a:t> JBC = 65%</a:t>
            </a:r>
          </a:p>
          <a:p>
            <a:pPr lvl="1">
              <a:lnSpc>
                <a:spcPct val="90000"/>
              </a:lnSpc>
              <a:buClr>
                <a:srgbClr val="33CC33"/>
              </a:buClr>
              <a:buFont typeface="Wingdings" pitchFamily="2" charset="2"/>
              <a:buChar char="§"/>
            </a:pPr>
            <a:r>
              <a:rPr lang="en-US" sz="2000" dirty="0">
                <a:latin typeface="Times New Roman" pitchFamily="18" charset="0"/>
              </a:rPr>
              <a:t> NEJM, Science, Nature = 90%</a:t>
            </a:r>
            <a:endParaRPr lang="en-IN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14400" y="0"/>
            <a:ext cx="7772400" cy="5334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lnSpc>
                <a:spcPct val="90000"/>
              </a:lnSpc>
              <a:defRPr/>
            </a:pPr>
            <a:r>
              <a:rPr lang="en-US" sz="3200" kern="0" dirty="0">
                <a:latin typeface="Times New Roman" pitchFamily="18" charset="0"/>
                <a:ea typeface="+mj-ea"/>
                <a:cs typeface="+mj-cs"/>
              </a:rPr>
              <a:t>Major reasons for rejection</a:t>
            </a:r>
            <a:endParaRPr lang="en-GB" sz="3200" kern="0" dirty="0">
              <a:latin typeface="Times New Roman" pitchFamily="18" charset="0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66800" y="3733800"/>
            <a:ext cx="6400800" cy="2514600"/>
          </a:xfrm>
          <a:prstGeom prst="rect">
            <a:avLst/>
          </a:prstGeom>
        </p:spPr>
        <p:txBody>
          <a:bodyPr/>
          <a:lstStyle/>
          <a:p>
            <a:pPr marL="228600" indent="-228600" eaLnBrk="0" hangingPunct="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800" kern="0" dirty="0">
                <a:latin typeface="Times New Roman" pitchFamily="18" charset="0"/>
                <a:cs typeface="+mn-cs"/>
              </a:rPr>
              <a:t>  </a:t>
            </a:r>
            <a:r>
              <a:rPr lang="en-US" sz="2400" kern="0" dirty="0">
                <a:latin typeface="Times New Roman" pitchFamily="18" charset="0"/>
                <a:cs typeface="+mn-cs"/>
              </a:rPr>
              <a:t>Confirmatory (not novel)</a:t>
            </a:r>
          </a:p>
          <a:p>
            <a:pPr marL="228600" indent="-228600" eaLnBrk="0" hangingPunct="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  Poor experimental design </a:t>
            </a:r>
          </a:p>
          <a:p>
            <a:pPr marL="228600" indent="-228600" eaLnBrk="0" hangingPunct="0"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	 - Poor controls</a:t>
            </a:r>
          </a:p>
          <a:p>
            <a:pPr marL="228600" indent="-228600" eaLnBrk="0" hangingPunct="0">
              <a:buClr>
                <a:schemeClr val="accent2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	 - Hypothesis not adequately tested</a:t>
            </a:r>
          </a:p>
          <a:p>
            <a:pPr marL="228600" indent="-228600" eaLnBrk="0" hangingPunct="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  Inappropriate for journal</a:t>
            </a:r>
          </a:p>
          <a:p>
            <a:pPr marL="228600" indent="-228600" eaLnBrk="0" hangingPunct="0">
              <a:buClr>
                <a:srgbClr val="FF0000"/>
              </a:buClr>
              <a:buFont typeface="Arial" pitchFamily="34" charset="0"/>
              <a:buChar char="•"/>
              <a:defRPr/>
            </a:pPr>
            <a:r>
              <a:rPr lang="en-US" sz="2400" kern="0" dirty="0">
                <a:latin typeface="Times New Roman" pitchFamily="18" charset="0"/>
                <a:cs typeface="+mn-cs"/>
              </a:rPr>
              <a:t>  Poorly written</a:t>
            </a:r>
          </a:p>
          <a:p>
            <a:pPr marL="228600" indent="-228600" eaLnBrk="0" hangingPunct="0">
              <a:buClr>
                <a:schemeClr val="accent2"/>
              </a:buClr>
              <a:buFont typeface="Wingdings" pitchFamily="2" charset="2"/>
              <a:buChar char="§"/>
              <a:defRPr/>
            </a:pPr>
            <a:endParaRPr lang="en-GB" sz="2800" kern="0" dirty="0">
              <a:solidFill>
                <a:schemeClr val="bg1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38200"/>
            <a:ext cx="8839200" cy="5410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The subject matter is of insufficient interest to the readership to a specific journal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Lack of new information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The results are trivial, predictable, or duplicative of others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Insufficient international importance or interest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Scientific quality is substandard due to poor experimental design and methodology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Improper conclusion</a:t>
            </a:r>
          </a:p>
          <a:p>
            <a:pPr eaLnBrk="1" hangingPunct="1">
              <a:spcAft>
                <a:spcPct val="20000"/>
              </a:spcAft>
            </a:pPr>
            <a:r>
              <a:rPr lang="en-US" sz="2600" dirty="0" smtClean="0">
                <a:latin typeface="Book Antiqua" pitchFamily="18" charset="0"/>
              </a:rPr>
              <a:t>Suspected misconduct - fabrication and plagiarism</a:t>
            </a:r>
            <a:endParaRPr lang="en-US" altLang="zh-CN" sz="2600" dirty="0" smtClean="0">
              <a:latin typeface="Book Antiqua" pitchFamily="18" charset="0"/>
              <a:ea typeface="SimSun" pitchFamily="2" charset="-12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latin typeface="Bookman Old Style" pitchFamily="18" charset="0"/>
              </a:rPr>
              <a:t>Immediate Rejection Criteria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990600" y="2743200"/>
            <a:ext cx="7162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defRPr/>
            </a:pPr>
            <a:r>
              <a:rPr lang="en-US" sz="4000" dirty="0">
                <a:latin typeface="Bookman Old Style" pitchFamily="18" charset="0"/>
                <a:cs typeface="Arial" pitchFamily="34" charset="0"/>
              </a:rPr>
              <a:t>Neatness counts in scientific research publications</a:t>
            </a:r>
            <a:r>
              <a:rPr lang="en-US" sz="44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!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8229600" cy="4873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3200" dirty="0" smtClean="0">
                <a:latin typeface="Bookman Old Style" pitchFamily="18" charset="0"/>
              </a:rPr>
              <a:t>Tips for Novice Scholars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8200"/>
            <a:ext cx="8229600" cy="5791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Non-refereed contributions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Conference Proceedings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Match quality of contribution and rating of the journal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Maybe: build on practitioner focused publications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Be prepared to revise and revise and revise and revise…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Be prepared to resubmit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Second author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Use master’s thesis or dissertation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Book Antiqua" pitchFamily="18" charset="0"/>
              </a:rPr>
              <a:t>Don’t get discouraged!</a:t>
            </a:r>
          </a:p>
          <a:p>
            <a:pPr>
              <a:lnSpc>
                <a:spcPct val="90000"/>
              </a:lnSpc>
            </a:pP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04800" y="2133600"/>
            <a:ext cx="8305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3600" dirty="0">
                <a:latin typeface="Bookman Old Style" pitchFamily="18" charset="0"/>
              </a:rPr>
              <a:t>There is no way to get experience except through experience</a:t>
            </a:r>
            <a:endParaRPr lang="en-GB" sz="3600" dirty="0">
              <a:latin typeface="Bookman Old Style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143000"/>
            <a:ext cx="4724400" cy="762000"/>
          </a:xfrm>
          <a:noFill/>
        </p:spPr>
        <p:txBody>
          <a:bodyPr/>
          <a:lstStyle/>
          <a:p>
            <a:r>
              <a:rPr lang="en-US" sz="4800" dirty="0" smtClean="0">
                <a:latin typeface="Times New Roman" pitchFamily="18" charset="0"/>
              </a:rPr>
              <a:t>Publish </a:t>
            </a:r>
            <a:r>
              <a:rPr lang="en-US" sz="4800" u="sng" dirty="0" smtClean="0">
                <a:latin typeface="Times New Roman" pitchFamily="18" charset="0"/>
              </a:rPr>
              <a:t>and</a:t>
            </a:r>
            <a:r>
              <a:rPr lang="en-US" sz="4800" dirty="0" smtClean="0">
                <a:latin typeface="Times New Roman" pitchFamily="18" charset="0"/>
              </a:rPr>
              <a:t> perish</a:t>
            </a:r>
            <a:endParaRPr lang="en-GB" sz="4800" dirty="0" smtClean="0">
              <a:latin typeface="Times New Roman" pitchFamily="18" charset="0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2362200" y="2590800"/>
            <a:ext cx="44831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dirty="0">
                <a:latin typeface="Times New Roman" pitchFamily="18" charset="0"/>
              </a:rPr>
              <a:t>“</a:t>
            </a:r>
            <a:r>
              <a:rPr lang="en-US" sz="3200" dirty="0">
                <a:latin typeface="Times New Roman" pitchFamily="18" charset="0"/>
              </a:rPr>
              <a:t>The Seven Deadly Sins”</a:t>
            </a:r>
            <a:endParaRPr lang="en-GB" sz="3200" dirty="0">
              <a:latin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10"/>
          <p:cNvSpPr txBox="1">
            <a:spLocks noChangeArrowheads="1"/>
          </p:cNvSpPr>
          <p:nvPr/>
        </p:nvSpPr>
        <p:spPr bwMode="auto">
          <a:xfrm>
            <a:off x="1524000" y="990600"/>
            <a:ext cx="653732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Data manipulation, falsification</a:t>
            </a:r>
          </a:p>
          <a:p>
            <a:pPr marL="342900" indent="-342900">
              <a:buFontTx/>
              <a:buAutoNum type="arabicPeriod"/>
            </a:pPr>
            <a:endParaRPr lang="en-US" sz="1400">
              <a:latin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Duplicate manuscripts</a:t>
            </a:r>
          </a:p>
          <a:p>
            <a:pPr marL="342900" indent="-342900">
              <a:buFontTx/>
              <a:buAutoNum type="arabicPeriod"/>
            </a:pPr>
            <a:endParaRPr lang="en-US" sz="1400">
              <a:latin typeface="Times New Roman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Redundant publication</a:t>
            </a:r>
          </a:p>
          <a:p>
            <a:pPr marL="342900" indent="-342900">
              <a:buFontTx/>
              <a:buAutoNum type="arabicPeriod"/>
            </a:pPr>
            <a:endParaRPr lang="en-US"/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Plagiarism</a:t>
            </a:r>
          </a:p>
          <a:p>
            <a:pPr marL="342900" indent="-342900">
              <a:buFontTx/>
              <a:buAutoNum type="arabicPeriod"/>
            </a:pPr>
            <a:endParaRPr lang="en-US"/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Author conflicts of interest</a:t>
            </a:r>
          </a:p>
          <a:p>
            <a:pPr marL="342900" indent="-342900">
              <a:buFontTx/>
              <a:buAutoNum type="arabicPeriod"/>
            </a:pPr>
            <a:endParaRPr lang="en-US"/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Animal use concerns</a:t>
            </a:r>
          </a:p>
          <a:p>
            <a:pPr marL="342900" indent="-342900">
              <a:buFontTx/>
              <a:buAutoNum type="arabicPeriod"/>
            </a:pPr>
            <a:endParaRPr lang="en-US"/>
          </a:p>
          <a:p>
            <a:pPr marL="342900" indent="-342900">
              <a:buFontTx/>
              <a:buAutoNum type="arabicPeriod"/>
            </a:pPr>
            <a:r>
              <a:rPr lang="en-US" sz="2800">
                <a:latin typeface="Times New Roman" pitchFamily="18" charset="0"/>
              </a:rPr>
              <a:t> Humans use concerns </a:t>
            </a:r>
            <a:endParaRPr lang="en-GB" sz="2800">
              <a:latin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3626D97-0C5D-4EC9-BDE2-1CF59CC3D973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3" name="TextBox 2"/>
          <p:cNvSpPr txBox="1"/>
          <p:nvPr/>
        </p:nvSpPr>
        <p:spPr>
          <a:xfrm>
            <a:off x="609600" y="1981200"/>
            <a:ext cx="8001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IN" sz="3200" dirty="0">
                <a:solidFill>
                  <a:srgbClr val="FF0000"/>
                </a:solidFill>
                <a:latin typeface="Book Antiqua" pitchFamily="18" charset="0"/>
              </a:rPr>
              <a:t>If proved,  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Plagiarism  may cost research fellowship, demotion, loss of increments and even loss of job, </a:t>
            </a:r>
            <a:r>
              <a:rPr lang="en-US" sz="3200" dirty="0" smtClean="0">
                <a:solidFill>
                  <a:srgbClr val="FF0000"/>
                </a:solidFill>
                <a:latin typeface="Book Antiqua" pitchFamily="18" charset="0"/>
              </a:rPr>
              <a:t>along with the 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loss of  social status and prestige</a:t>
            </a: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Ph.D Course work on Research Methodology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A. K. Datta  University of Calcutta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2165</Words>
  <Application>Microsoft Office PowerPoint</Application>
  <PresentationFormat>On-screen Show (4:3)</PresentationFormat>
  <Paragraphs>517</Paragraphs>
  <Slides>41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Research Proposal &amp; Project Writing</vt:lpstr>
      <vt:lpstr>Sections</vt:lpstr>
      <vt:lpstr>Title</vt:lpstr>
      <vt:lpstr>Introduction</vt:lpstr>
      <vt:lpstr>Objectives</vt:lpstr>
      <vt:lpstr>Methodology</vt:lpstr>
      <vt:lpstr>References</vt:lpstr>
      <vt:lpstr>Activity Chart (Time line)</vt:lpstr>
      <vt:lpstr>Budget</vt:lpstr>
      <vt:lpstr>PAPER WRITING  Publish or Perish  </vt:lpstr>
      <vt:lpstr>Publishing in International Research Journals</vt:lpstr>
      <vt:lpstr>Purpose of Publishing</vt:lpstr>
      <vt:lpstr>Slide 13</vt:lpstr>
      <vt:lpstr>Types of Contributions</vt:lpstr>
      <vt:lpstr>Maturity of Contributions</vt:lpstr>
      <vt:lpstr>Research Journals</vt:lpstr>
      <vt:lpstr>Types of Research Journals</vt:lpstr>
      <vt:lpstr>Slide 18</vt:lpstr>
      <vt:lpstr>Slide 19</vt:lpstr>
      <vt:lpstr>Slide 20</vt:lpstr>
      <vt:lpstr>Slide 21</vt:lpstr>
      <vt:lpstr>Components in Original Research Manuscript</vt:lpstr>
      <vt:lpstr>Title</vt:lpstr>
      <vt:lpstr>Abstract</vt:lpstr>
      <vt:lpstr>Introduction</vt:lpstr>
      <vt:lpstr>Materials and Methods</vt:lpstr>
      <vt:lpstr>Results </vt:lpstr>
      <vt:lpstr>Discussion  (May not be separate from result)</vt:lpstr>
      <vt:lpstr>Conclusion</vt:lpstr>
      <vt:lpstr>References</vt:lpstr>
      <vt:lpstr>Successful Submissions </vt:lpstr>
      <vt:lpstr>Common Mistakes in Submitting  Papers to Research Journals</vt:lpstr>
      <vt:lpstr>Publishing Violations</vt:lpstr>
      <vt:lpstr>Slide 34</vt:lpstr>
      <vt:lpstr>Immediate Rejection Criteria</vt:lpstr>
      <vt:lpstr>Slide 36</vt:lpstr>
      <vt:lpstr>Tips for Novice Scholars</vt:lpstr>
      <vt:lpstr>Slide 38</vt:lpstr>
      <vt:lpstr>Publish and perish</vt:lpstr>
      <vt:lpstr>Slide 40</vt:lpstr>
      <vt:lpstr>Slide 41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 Project Writing</dc:title>
  <dc:creator>AKDatta</dc:creator>
  <cp:lastModifiedBy>Asit Datta</cp:lastModifiedBy>
  <cp:revision>11</cp:revision>
  <dcterms:created xsi:type="dcterms:W3CDTF">2006-08-16T00:00:00Z</dcterms:created>
  <dcterms:modified xsi:type="dcterms:W3CDTF">2023-12-28T03:56:30Z</dcterms:modified>
</cp:coreProperties>
</file>