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E5465-3F89-B550-97FB-C3B767C36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9/6/2024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0825" cy="1089025"/>
          </a:xfrm>
          <a:custGeom>
            <a:avLst/>
            <a:gdLst/>
            <a:ahLst/>
            <a:cxnLst/>
            <a:rect l="l" t="t" r="r" b="b"/>
            <a:pathLst>
              <a:path w="9140825" h="1089025">
                <a:moveTo>
                  <a:pt x="0" y="1088999"/>
                </a:moveTo>
                <a:lnTo>
                  <a:pt x="9140761" y="1088999"/>
                </a:lnTo>
                <a:lnTo>
                  <a:pt x="9140761" y="0"/>
                </a:lnTo>
                <a:lnTo>
                  <a:pt x="0" y="0"/>
                </a:lnTo>
                <a:lnTo>
                  <a:pt x="0" y="1088999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088999"/>
            <a:ext cx="9144000" cy="216535"/>
          </a:xfrm>
          <a:custGeom>
            <a:avLst/>
            <a:gdLst/>
            <a:ahLst/>
            <a:cxnLst/>
            <a:rect l="l" t="t" r="r" b="b"/>
            <a:pathLst>
              <a:path w="9144000" h="216534">
                <a:moveTo>
                  <a:pt x="9143631" y="0"/>
                </a:moveTo>
                <a:lnTo>
                  <a:pt x="0" y="0"/>
                </a:lnTo>
                <a:lnTo>
                  <a:pt x="0" y="216001"/>
                </a:lnTo>
                <a:lnTo>
                  <a:pt x="9143631" y="216001"/>
                </a:lnTo>
                <a:lnTo>
                  <a:pt x="9143631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0"/>
                </a:move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lnTo>
                  <a:pt x="0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02703" y="1438175"/>
            <a:ext cx="7749540" cy="4736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9/6/2024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hyperlink" Target="mailto:tushar@tusharkute.com" TargetMode="External"/><Relationship Id="rId7" Type="http://schemas.openxmlformats.org/officeDocument/2006/relationships/image" Target="../media/image37.png"/><Relationship Id="rId2" Type="http://schemas.openxmlformats.org/officeDocument/2006/relationships/hyperlink" Target="mailto:contact@mitu.co.i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hyperlink" Target="http://tusharkute.com/" TargetMode="External"/><Relationship Id="rId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5"/>
            <a:ext cx="9144000" cy="2421255"/>
          </a:xfrm>
          <a:custGeom>
            <a:avLst/>
            <a:gdLst/>
            <a:ahLst/>
            <a:cxnLst/>
            <a:rect l="l" t="t" r="r" b="b"/>
            <a:pathLst>
              <a:path w="9144000" h="2421255">
                <a:moveTo>
                  <a:pt x="9144000" y="0"/>
                </a:moveTo>
                <a:lnTo>
                  <a:pt x="0" y="0"/>
                </a:lnTo>
                <a:lnTo>
                  <a:pt x="0" y="2421001"/>
                </a:lnTo>
                <a:lnTo>
                  <a:pt x="4572000" y="2421001"/>
                </a:lnTo>
                <a:lnTo>
                  <a:pt x="9144000" y="2421001"/>
                </a:lnTo>
                <a:lnTo>
                  <a:pt x="91440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0"/>
                </a:move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lnTo>
                  <a:pt x="0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421001"/>
            <a:ext cx="9144000" cy="216535"/>
          </a:xfrm>
          <a:custGeom>
            <a:avLst/>
            <a:gdLst/>
            <a:ahLst/>
            <a:cxnLst/>
            <a:rect l="l" t="t" r="r" b="b"/>
            <a:pathLst>
              <a:path w="9144000" h="216535">
                <a:moveTo>
                  <a:pt x="9143644" y="0"/>
                </a:moveTo>
                <a:lnTo>
                  <a:pt x="0" y="0"/>
                </a:lnTo>
                <a:lnTo>
                  <a:pt x="0" y="216001"/>
                </a:lnTo>
                <a:lnTo>
                  <a:pt x="9143644" y="216001"/>
                </a:lnTo>
                <a:lnTo>
                  <a:pt x="9143644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 idx="4294967295"/>
          </p:nvPr>
        </p:nvSpPr>
        <p:spPr>
          <a:xfrm>
            <a:off x="547458" y="838339"/>
            <a:ext cx="2773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>
                <a:latin typeface="Times New Roman"/>
                <a:cs typeface="Times New Roman"/>
              </a:rPr>
              <a:t>Linear</a:t>
            </a:r>
            <a:r>
              <a:rPr spc="-19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Algebra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What</a:t>
            </a:r>
            <a:r>
              <a:rPr spc="-150" dirty="0"/>
              <a:t> </a:t>
            </a:r>
            <a:r>
              <a:rPr spc="-10" dirty="0"/>
              <a:t>is</a:t>
            </a:r>
            <a:r>
              <a:rPr spc="-140" dirty="0"/>
              <a:t> </a:t>
            </a:r>
            <a:r>
              <a:rPr dirty="0"/>
              <a:t>Linear</a:t>
            </a:r>
            <a:r>
              <a:rPr spc="-135" dirty="0"/>
              <a:t> </a:t>
            </a:r>
            <a:r>
              <a:rPr spc="45" dirty="0"/>
              <a:t>Algebra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8742"/>
            <a:ext cx="7943850" cy="4374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075" marR="243204" indent="-207010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"/>
              <a:buChar char="•"/>
              <a:tabLst>
                <a:tab pos="220979" algn="l"/>
              </a:tabLst>
            </a:pPr>
            <a:r>
              <a:rPr sz="1950" dirty="0">
                <a:latin typeface="Microsoft Sans Serif"/>
                <a:cs typeface="Microsoft Sans Serif"/>
              </a:rPr>
              <a:t>Linear</a:t>
            </a:r>
            <a:r>
              <a:rPr sz="1950" spc="3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algebra</a:t>
            </a:r>
            <a:r>
              <a:rPr sz="1950" spc="3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is</a:t>
            </a:r>
            <a:r>
              <a:rPr sz="1950" spc="3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central</a:t>
            </a:r>
            <a:r>
              <a:rPr sz="1950" spc="25" dirty="0">
                <a:latin typeface="Microsoft Sans Serif"/>
                <a:cs typeface="Microsoft Sans Serif"/>
              </a:rPr>
              <a:t> </a:t>
            </a:r>
            <a:r>
              <a:rPr sz="1950" spc="145" dirty="0">
                <a:latin typeface="Microsoft Sans Serif"/>
                <a:cs typeface="Microsoft Sans Serif"/>
              </a:rPr>
              <a:t>to</a:t>
            </a:r>
            <a:r>
              <a:rPr sz="1950" spc="3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almost</a:t>
            </a:r>
            <a:r>
              <a:rPr sz="1950" spc="3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all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25" dirty="0">
                <a:latin typeface="Microsoft Sans Serif"/>
                <a:cs typeface="Microsoft Sans Serif"/>
              </a:rPr>
              <a:t>areas</a:t>
            </a:r>
            <a:r>
              <a:rPr sz="1950" spc="30" dirty="0">
                <a:latin typeface="Microsoft Sans Serif"/>
                <a:cs typeface="Microsoft Sans Serif"/>
              </a:rPr>
              <a:t> </a:t>
            </a:r>
            <a:r>
              <a:rPr sz="1950" spc="135" dirty="0">
                <a:latin typeface="Microsoft Sans Serif"/>
                <a:cs typeface="Microsoft Sans Serif"/>
              </a:rPr>
              <a:t>of</a:t>
            </a:r>
            <a:r>
              <a:rPr sz="1950" spc="2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mathematics.</a:t>
            </a:r>
            <a:r>
              <a:rPr sz="1950" spc="30" dirty="0">
                <a:latin typeface="Microsoft Sans Serif"/>
                <a:cs typeface="Microsoft Sans Serif"/>
              </a:rPr>
              <a:t> </a:t>
            </a:r>
            <a:r>
              <a:rPr sz="1950" spc="-25" dirty="0">
                <a:latin typeface="Microsoft Sans Serif"/>
                <a:cs typeface="Microsoft Sans Serif"/>
              </a:rPr>
              <a:t>For 	</a:t>
            </a:r>
            <a:r>
              <a:rPr sz="1950" spc="10" dirty="0">
                <a:latin typeface="Microsoft Sans Serif"/>
                <a:cs typeface="Microsoft Sans Serif"/>
              </a:rPr>
              <a:t>instance, linear</a:t>
            </a:r>
            <a:r>
              <a:rPr sz="1950" spc="25" dirty="0">
                <a:latin typeface="Microsoft Sans Serif"/>
                <a:cs typeface="Microsoft Sans Serif"/>
              </a:rPr>
              <a:t> </a:t>
            </a:r>
            <a:r>
              <a:rPr sz="1950" spc="10" dirty="0">
                <a:latin typeface="Microsoft Sans Serif"/>
                <a:cs typeface="Microsoft Sans Serif"/>
              </a:rPr>
              <a:t>algebra</a:t>
            </a:r>
            <a:r>
              <a:rPr sz="1950" spc="1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is</a:t>
            </a:r>
            <a:r>
              <a:rPr sz="1950" spc="25" dirty="0">
                <a:latin typeface="Microsoft Sans Serif"/>
                <a:cs typeface="Microsoft Sans Serif"/>
              </a:rPr>
              <a:t> </a:t>
            </a:r>
            <a:r>
              <a:rPr sz="1950" spc="50" dirty="0">
                <a:latin typeface="Microsoft Sans Serif"/>
                <a:cs typeface="Microsoft Sans Serif"/>
              </a:rPr>
              <a:t>fundamental</a:t>
            </a:r>
            <a:r>
              <a:rPr sz="1950" spc="10" dirty="0">
                <a:latin typeface="Microsoft Sans Serif"/>
                <a:cs typeface="Microsoft Sans Serif"/>
              </a:rPr>
              <a:t> in</a:t>
            </a:r>
            <a:r>
              <a:rPr sz="1950" spc="25" dirty="0">
                <a:latin typeface="Microsoft Sans Serif"/>
                <a:cs typeface="Microsoft Sans Serif"/>
              </a:rPr>
              <a:t> </a:t>
            </a:r>
            <a:r>
              <a:rPr sz="1950" spc="10" dirty="0">
                <a:latin typeface="Microsoft Sans Serif"/>
                <a:cs typeface="Microsoft Sans Serif"/>
              </a:rPr>
              <a:t>modern</a:t>
            </a:r>
            <a:r>
              <a:rPr sz="1950" spc="30" dirty="0">
                <a:latin typeface="Microsoft Sans Serif"/>
                <a:cs typeface="Microsoft Sans Serif"/>
              </a:rPr>
              <a:t> </a:t>
            </a:r>
            <a:r>
              <a:rPr sz="1950" spc="10" dirty="0">
                <a:latin typeface="Microsoft Sans Serif"/>
                <a:cs typeface="Microsoft Sans Serif"/>
              </a:rPr>
              <a:t>presentations</a:t>
            </a:r>
            <a:r>
              <a:rPr sz="1950" spc="25" dirty="0">
                <a:latin typeface="Microsoft Sans Serif"/>
                <a:cs typeface="Microsoft Sans Serif"/>
              </a:rPr>
              <a:t> </a:t>
            </a:r>
            <a:r>
              <a:rPr sz="1950" spc="110" dirty="0">
                <a:latin typeface="Microsoft Sans Serif"/>
                <a:cs typeface="Microsoft Sans Serif"/>
              </a:rPr>
              <a:t>of 	</a:t>
            </a:r>
            <a:r>
              <a:rPr sz="1950" spc="45" dirty="0">
                <a:latin typeface="Microsoft Sans Serif"/>
                <a:cs typeface="Microsoft Sans Serif"/>
              </a:rPr>
              <a:t>geometry,</a:t>
            </a:r>
            <a:r>
              <a:rPr sz="1950" spc="-1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including</a:t>
            </a:r>
            <a:r>
              <a:rPr sz="1950" spc="-10" dirty="0">
                <a:latin typeface="Microsoft Sans Serif"/>
                <a:cs typeface="Microsoft Sans Serif"/>
              </a:rPr>
              <a:t> </a:t>
            </a:r>
            <a:r>
              <a:rPr sz="1950" spc="125" dirty="0">
                <a:latin typeface="Microsoft Sans Serif"/>
                <a:cs typeface="Microsoft Sans Serif"/>
              </a:rPr>
              <a:t>for</a:t>
            </a:r>
            <a:r>
              <a:rPr sz="1950" spc="-15" dirty="0">
                <a:latin typeface="Microsoft Sans Serif"/>
                <a:cs typeface="Microsoft Sans Serif"/>
              </a:rPr>
              <a:t> </a:t>
            </a:r>
            <a:r>
              <a:rPr sz="1950" spc="50" dirty="0">
                <a:latin typeface="Microsoft Sans Serif"/>
                <a:cs typeface="Microsoft Sans Serif"/>
              </a:rPr>
              <a:t>defining</a:t>
            </a:r>
            <a:r>
              <a:rPr sz="1950" spc="-20" dirty="0">
                <a:latin typeface="Microsoft Sans Serif"/>
                <a:cs typeface="Microsoft Sans Serif"/>
              </a:rPr>
              <a:t> </a:t>
            </a:r>
            <a:r>
              <a:rPr sz="1950" spc="-30" dirty="0">
                <a:latin typeface="Microsoft Sans Serif"/>
                <a:cs typeface="Microsoft Sans Serif"/>
              </a:rPr>
              <a:t>basic</a:t>
            </a:r>
            <a:r>
              <a:rPr sz="1950" spc="-2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objects</a:t>
            </a:r>
            <a:r>
              <a:rPr sz="1950" spc="-5" dirty="0">
                <a:latin typeface="Microsoft Sans Serif"/>
                <a:cs typeface="Microsoft Sans Serif"/>
              </a:rPr>
              <a:t> </a:t>
            </a:r>
            <a:r>
              <a:rPr sz="1950" spc="-25" dirty="0">
                <a:latin typeface="Microsoft Sans Serif"/>
                <a:cs typeface="Microsoft Sans Serif"/>
              </a:rPr>
              <a:t>such</a:t>
            </a:r>
            <a:r>
              <a:rPr sz="1950" spc="-20" dirty="0">
                <a:latin typeface="Microsoft Sans Serif"/>
                <a:cs typeface="Microsoft Sans Serif"/>
              </a:rPr>
              <a:t> </a:t>
            </a:r>
            <a:r>
              <a:rPr sz="1950" spc="-100" dirty="0">
                <a:latin typeface="Microsoft Sans Serif"/>
                <a:cs typeface="Microsoft Sans Serif"/>
              </a:rPr>
              <a:t>as</a:t>
            </a:r>
            <a:r>
              <a:rPr sz="1950" spc="-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lines,</a:t>
            </a:r>
            <a:r>
              <a:rPr sz="1950" spc="-10" dirty="0">
                <a:latin typeface="Microsoft Sans Serif"/>
                <a:cs typeface="Microsoft Sans Serif"/>
              </a:rPr>
              <a:t> planes 	</a:t>
            </a:r>
            <a:r>
              <a:rPr sz="1950" dirty="0">
                <a:latin typeface="Microsoft Sans Serif"/>
                <a:cs typeface="Microsoft Sans Serif"/>
              </a:rPr>
              <a:t>and</a:t>
            </a:r>
            <a:r>
              <a:rPr sz="1950" spc="-45" dirty="0">
                <a:latin typeface="Microsoft Sans Serif"/>
                <a:cs typeface="Microsoft Sans Serif"/>
              </a:rPr>
              <a:t> </a:t>
            </a:r>
            <a:r>
              <a:rPr sz="1950" spc="40" dirty="0">
                <a:latin typeface="Microsoft Sans Serif"/>
                <a:cs typeface="Microsoft Sans Serif"/>
              </a:rPr>
              <a:t>rotations.</a:t>
            </a:r>
            <a:endParaRPr sz="1950">
              <a:latin typeface="Microsoft Sans Serif"/>
              <a:cs typeface="Microsoft Sans Serif"/>
            </a:endParaRPr>
          </a:p>
          <a:p>
            <a:pPr marL="219075" marR="189230" indent="-207010">
              <a:lnSpc>
                <a:spcPct val="100000"/>
              </a:lnSpc>
              <a:spcBef>
                <a:spcPts val="490"/>
              </a:spcBef>
              <a:buClr>
                <a:srgbClr val="6697CC"/>
              </a:buClr>
              <a:buFont typeface="Arial"/>
              <a:buChar char="•"/>
              <a:tabLst>
                <a:tab pos="220979" algn="l"/>
              </a:tabLst>
            </a:pPr>
            <a:r>
              <a:rPr sz="1950" dirty="0">
                <a:latin typeface="Microsoft Sans Serif"/>
                <a:cs typeface="Microsoft Sans Serif"/>
              </a:rPr>
              <a:t>Also,</a:t>
            </a:r>
            <a:r>
              <a:rPr sz="1950" spc="-25" dirty="0">
                <a:latin typeface="Microsoft Sans Serif"/>
                <a:cs typeface="Microsoft Sans Serif"/>
              </a:rPr>
              <a:t> </a:t>
            </a:r>
            <a:r>
              <a:rPr sz="1950" spc="55" dirty="0">
                <a:latin typeface="Microsoft Sans Serif"/>
                <a:cs typeface="Microsoft Sans Serif"/>
              </a:rPr>
              <a:t>functional</a:t>
            </a:r>
            <a:r>
              <a:rPr sz="1950" spc="-10" dirty="0">
                <a:latin typeface="Microsoft Sans Serif"/>
                <a:cs typeface="Microsoft Sans Serif"/>
              </a:rPr>
              <a:t> </a:t>
            </a:r>
            <a:r>
              <a:rPr sz="1950" spc="-30" dirty="0">
                <a:latin typeface="Microsoft Sans Serif"/>
                <a:cs typeface="Microsoft Sans Serif"/>
              </a:rPr>
              <a:t>analysis,</a:t>
            </a:r>
            <a:r>
              <a:rPr sz="1950" spc="-20" dirty="0">
                <a:latin typeface="Microsoft Sans Serif"/>
                <a:cs typeface="Microsoft Sans Serif"/>
              </a:rPr>
              <a:t> </a:t>
            </a:r>
            <a:r>
              <a:rPr sz="1950" spc="-80" dirty="0">
                <a:latin typeface="Microsoft Sans Serif"/>
                <a:cs typeface="Microsoft Sans Serif"/>
              </a:rPr>
              <a:t>a</a:t>
            </a:r>
            <a:r>
              <a:rPr sz="1950" spc="-1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branch</a:t>
            </a:r>
            <a:r>
              <a:rPr sz="1950" spc="-15" dirty="0">
                <a:latin typeface="Microsoft Sans Serif"/>
                <a:cs typeface="Microsoft Sans Serif"/>
              </a:rPr>
              <a:t> </a:t>
            </a:r>
            <a:r>
              <a:rPr sz="1950" spc="135" dirty="0">
                <a:latin typeface="Microsoft Sans Serif"/>
                <a:cs typeface="Microsoft Sans Serif"/>
              </a:rPr>
              <a:t>of</a:t>
            </a:r>
            <a:r>
              <a:rPr sz="1950" spc="-1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mathematical</a:t>
            </a:r>
            <a:r>
              <a:rPr sz="1950" spc="-20" dirty="0">
                <a:latin typeface="Microsoft Sans Serif"/>
                <a:cs typeface="Microsoft Sans Serif"/>
              </a:rPr>
              <a:t> </a:t>
            </a:r>
            <a:r>
              <a:rPr sz="1950" spc="-30" dirty="0">
                <a:latin typeface="Microsoft Sans Serif"/>
                <a:cs typeface="Microsoft Sans Serif"/>
              </a:rPr>
              <a:t>analysis,</a:t>
            </a:r>
            <a:r>
              <a:rPr sz="1950" spc="-2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may</a:t>
            </a:r>
            <a:r>
              <a:rPr sz="1950" spc="-10" dirty="0">
                <a:latin typeface="Microsoft Sans Serif"/>
                <a:cs typeface="Microsoft Sans Serif"/>
              </a:rPr>
              <a:t> </a:t>
            </a:r>
            <a:r>
              <a:rPr sz="1950" spc="-25" dirty="0">
                <a:latin typeface="Microsoft Sans Serif"/>
                <a:cs typeface="Microsoft Sans Serif"/>
              </a:rPr>
              <a:t>be 	</a:t>
            </a:r>
            <a:r>
              <a:rPr sz="1950" dirty="0">
                <a:latin typeface="Microsoft Sans Serif"/>
                <a:cs typeface="Microsoft Sans Serif"/>
              </a:rPr>
              <a:t>viewed</a:t>
            </a:r>
            <a:r>
              <a:rPr sz="1950" spc="30" dirty="0">
                <a:latin typeface="Microsoft Sans Serif"/>
                <a:cs typeface="Microsoft Sans Serif"/>
              </a:rPr>
              <a:t> </a:t>
            </a:r>
            <a:r>
              <a:rPr sz="1950" spc="-95" dirty="0">
                <a:latin typeface="Microsoft Sans Serif"/>
                <a:cs typeface="Microsoft Sans Serif"/>
              </a:rPr>
              <a:t>as</a:t>
            </a:r>
            <a:r>
              <a:rPr sz="1950" spc="30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basically</a:t>
            </a:r>
            <a:r>
              <a:rPr sz="1950" spc="30" dirty="0">
                <a:latin typeface="Microsoft Sans Serif"/>
                <a:cs typeface="Microsoft Sans Serif"/>
              </a:rPr>
              <a:t> </a:t>
            </a:r>
            <a:r>
              <a:rPr sz="1950" spc="85" dirty="0">
                <a:latin typeface="Microsoft Sans Serif"/>
                <a:cs typeface="Microsoft Sans Serif"/>
              </a:rPr>
              <a:t>the</a:t>
            </a:r>
            <a:r>
              <a:rPr sz="1950" spc="3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application</a:t>
            </a:r>
            <a:r>
              <a:rPr sz="1950" spc="35" dirty="0">
                <a:latin typeface="Microsoft Sans Serif"/>
                <a:cs typeface="Microsoft Sans Serif"/>
              </a:rPr>
              <a:t> </a:t>
            </a:r>
            <a:r>
              <a:rPr sz="1950" spc="135" dirty="0">
                <a:latin typeface="Microsoft Sans Serif"/>
                <a:cs typeface="Microsoft Sans Serif"/>
              </a:rPr>
              <a:t>of</a:t>
            </a:r>
            <a:r>
              <a:rPr sz="1950" spc="2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linear</a:t>
            </a:r>
            <a:r>
              <a:rPr sz="1950" spc="2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algebra</a:t>
            </a:r>
            <a:r>
              <a:rPr sz="1950" spc="15" dirty="0">
                <a:latin typeface="Microsoft Sans Serif"/>
                <a:cs typeface="Microsoft Sans Serif"/>
              </a:rPr>
              <a:t> </a:t>
            </a:r>
            <a:r>
              <a:rPr sz="1950" spc="150" dirty="0">
                <a:latin typeface="Microsoft Sans Serif"/>
                <a:cs typeface="Microsoft Sans Serif"/>
              </a:rPr>
              <a:t>to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55" dirty="0">
                <a:latin typeface="Microsoft Sans Serif"/>
                <a:cs typeface="Microsoft Sans Serif"/>
              </a:rPr>
              <a:t>spaces</a:t>
            </a:r>
            <a:r>
              <a:rPr sz="1950" spc="30" dirty="0">
                <a:latin typeface="Microsoft Sans Serif"/>
                <a:cs typeface="Microsoft Sans Serif"/>
              </a:rPr>
              <a:t> </a:t>
            </a:r>
            <a:r>
              <a:rPr sz="1950" spc="110" dirty="0">
                <a:latin typeface="Microsoft Sans Serif"/>
                <a:cs typeface="Microsoft Sans Serif"/>
              </a:rPr>
              <a:t>of 	</a:t>
            </a:r>
            <a:r>
              <a:rPr sz="1950" spc="-10" dirty="0">
                <a:latin typeface="Microsoft Sans Serif"/>
                <a:cs typeface="Microsoft Sans Serif"/>
              </a:rPr>
              <a:t>functions.</a:t>
            </a:r>
            <a:endParaRPr sz="1950">
              <a:latin typeface="Microsoft Sans Serif"/>
              <a:cs typeface="Microsoft Sans Serif"/>
            </a:endParaRPr>
          </a:p>
          <a:p>
            <a:pPr marL="219075" marR="220979" indent="-207010">
              <a:lnSpc>
                <a:spcPct val="100000"/>
              </a:lnSpc>
              <a:spcBef>
                <a:spcPts val="490"/>
              </a:spcBef>
              <a:buClr>
                <a:srgbClr val="6697CC"/>
              </a:buClr>
              <a:buFont typeface="Arial"/>
              <a:buChar char="•"/>
              <a:tabLst>
                <a:tab pos="220979" algn="l"/>
              </a:tabLst>
            </a:pPr>
            <a:r>
              <a:rPr sz="1950" dirty="0">
                <a:latin typeface="Microsoft Sans Serif"/>
                <a:cs typeface="Microsoft Sans Serif"/>
              </a:rPr>
              <a:t>Linear</a:t>
            </a:r>
            <a:r>
              <a:rPr sz="1950" spc="-2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algebra</a:t>
            </a:r>
            <a:r>
              <a:rPr sz="1950" spc="-3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is</a:t>
            </a:r>
            <a:r>
              <a:rPr sz="1950" spc="-2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also</a:t>
            </a:r>
            <a:r>
              <a:rPr sz="1950" spc="-3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used</a:t>
            </a:r>
            <a:r>
              <a:rPr sz="1950" spc="-3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in</a:t>
            </a:r>
            <a:r>
              <a:rPr sz="1950" spc="-25" dirty="0">
                <a:latin typeface="Microsoft Sans Serif"/>
                <a:cs typeface="Microsoft Sans Serif"/>
              </a:rPr>
              <a:t> </a:t>
            </a:r>
            <a:r>
              <a:rPr sz="1950" spc="55" dirty="0">
                <a:latin typeface="Microsoft Sans Serif"/>
                <a:cs typeface="Microsoft Sans Serif"/>
              </a:rPr>
              <a:t>most</a:t>
            </a:r>
            <a:r>
              <a:rPr sz="1950" spc="-25" dirty="0">
                <a:latin typeface="Microsoft Sans Serif"/>
                <a:cs typeface="Microsoft Sans Serif"/>
              </a:rPr>
              <a:t> </a:t>
            </a:r>
            <a:r>
              <a:rPr sz="1950" spc="-35" dirty="0">
                <a:latin typeface="Microsoft Sans Serif"/>
                <a:cs typeface="Microsoft Sans Serif"/>
              </a:rPr>
              <a:t>sciences</a:t>
            </a:r>
            <a:r>
              <a:rPr sz="1950" spc="-2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and</a:t>
            </a:r>
            <a:r>
              <a:rPr sz="1950" spc="-3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fields</a:t>
            </a:r>
            <a:r>
              <a:rPr sz="1950" spc="-30" dirty="0">
                <a:latin typeface="Microsoft Sans Serif"/>
                <a:cs typeface="Microsoft Sans Serif"/>
              </a:rPr>
              <a:t> </a:t>
            </a:r>
            <a:r>
              <a:rPr sz="1950" spc="110" dirty="0">
                <a:latin typeface="Microsoft Sans Serif"/>
                <a:cs typeface="Microsoft Sans Serif"/>
              </a:rPr>
              <a:t>of 	</a:t>
            </a:r>
            <a:r>
              <a:rPr sz="1950" dirty="0">
                <a:latin typeface="Microsoft Sans Serif"/>
                <a:cs typeface="Microsoft Sans Serif"/>
              </a:rPr>
              <a:t>engineering,</a:t>
            </a:r>
            <a:r>
              <a:rPr sz="1950" spc="70" dirty="0">
                <a:latin typeface="Microsoft Sans Serif"/>
                <a:cs typeface="Microsoft Sans Serif"/>
              </a:rPr>
              <a:t> </a:t>
            </a:r>
            <a:r>
              <a:rPr sz="1950" spc="-20" dirty="0">
                <a:latin typeface="Microsoft Sans Serif"/>
                <a:cs typeface="Microsoft Sans Serif"/>
              </a:rPr>
              <a:t>because</a:t>
            </a:r>
            <a:r>
              <a:rPr sz="1950" spc="85" dirty="0">
                <a:latin typeface="Microsoft Sans Serif"/>
                <a:cs typeface="Microsoft Sans Serif"/>
              </a:rPr>
              <a:t> </a:t>
            </a:r>
            <a:r>
              <a:rPr sz="1950" spc="135" dirty="0">
                <a:latin typeface="Microsoft Sans Serif"/>
                <a:cs typeface="Microsoft Sans Serif"/>
              </a:rPr>
              <a:t>it</a:t>
            </a:r>
            <a:r>
              <a:rPr sz="1950" spc="8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allows</a:t>
            </a:r>
            <a:r>
              <a:rPr sz="1950" spc="8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modeling</a:t>
            </a:r>
            <a:r>
              <a:rPr sz="1950" spc="8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many</a:t>
            </a:r>
            <a:r>
              <a:rPr sz="1950" spc="7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natural</a:t>
            </a:r>
            <a:r>
              <a:rPr sz="1950" spc="65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phenomena, 	</a:t>
            </a:r>
            <a:r>
              <a:rPr sz="1950" dirty="0">
                <a:latin typeface="Microsoft Sans Serif"/>
                <a:cs typeface="Microsoft Sans Serif"/>
              </a:rPr>
              <a:t>and</a:t>
            </a:r>
            <a:r>
              <a:rPr sz="1950" spc="-60" dirty="0">
                <a:latin typeface="Microsoft Sans Serif"/>
                <a:cs typeface="Microsoft Sans Serif"/>
              </a:rPr>
              <a:t> </a:t>
            </a:r>
            <a:r>
              <a:rPr sz="1950" spc="50" dirty="0">
                <a:latin typeface="Microsoft Sans Serif"/>
                <a:cs typeface="Microsoft Sans Serif"/>
              </a:rPr>
              <a:t>computing</a:t>
            </a:r>
            <a:r>
              <a:rPr sz="1950" spc="-70" dirty="0">
                <a:latin typeface="Microsoft Sans Serif"/>
                <a:cs typeface="Microsoft Sans Serif"/>
              </a:rPr>
              <a:t> </a:t>
            </a:r>
            <a:r>
              <a:rPr sz="1950" spc="70" dirty="0">
                <a:latin typeface="Microsoft Sans Serif"/>
                <a:cs typeface="Microsoft Sans Serif"/>
              </a:rPr>
              <a:t>efficiently</a:t>
            </a:r>
            <a:r>
              <a:rPr sz="1950" spc="-55" dirty="0">
                <a:latin typeface="Microsoft Sans Serif"/>
                <a:cs typeface="Microsoft Sans Serif"/>
              </a:rPr>
              <a:t> </a:t>
            </a:r>
            <a:r>
              <a:rPr sz="1950" spc="100" dirty="0">
                <a:latin typeface="Microsoft Sans Serif"/>
                <a:cs typeface="Microsoft Sans Serif"/>
              </a:rPr>
              <a:t>with</a:t>
            </a:r>
            <a:r>
              <a:rPr sz="1950" spc="-65" dirty="0">
                <a:latin typeface="Microsoft Sans Serif"/>
                <a:cs typeface="Microsoft Sans Serif"/>
              </a:rPr>
              <a:t> </a:t>
            </a:r>
            <a:r>
              <a:rPr sz="1950" spc="-20" dirty="0">
                <a:latin typeface="Microsoft Sans Serif"/>
                <a:cs typeface="Microsoft Sans Serif"/>
              </a:rPr>
              <a:t>such</a:t>
            </a:r>
            <a:r>
              <a:rPr sz="1950" spc="-60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models.</a:t>
            </a:r>
            <a:endParaRPr sz="1950">
              <a:latin typeface="Microsoft Sans Serif"/>
              <a:cs typeface="Microsoft Sans Serif"/>
            </a:endParaRPr>
          </a:p>
          <a:p>
            <a:pPr marL="219075" marR="5080" indent="-207010">
              <a:lnSpc>
                <a:spcPct val="100000"/>
              </a:lnSpc>
              <a:spcBef>
                <a:spcPts val="490"/>
              </a:spcBef>
              <a:buClr>
                <a:srgbClr val="6697CC"/>
              </a:buClr>
              <a:buFont typeface="Arial"/>
              <a:buChar char="•"/>
              <a:tabLst>
                <a:tab pos="220979" algn="l"/>
              </a:tabLst>
            </a:pPr>
            <a:r>
              <a:rPr sz="1950" dirty="0">
                <a:latin typeface="Microsoft Sans Serif"/>
                <a:cs typeface="Microsoft Sans Serif"/>
              </a:rPr>
              <a:t>For</a:t>
            </a:r>
            <a:r>
              <a:rPr sz="1950" spc="6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nonlinear</a:t>
            </a:r>
            <a:r>
              <a:rPr sz="1950" spc="55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systems,</a:t>
            </a:r>
            <a:r>
              <a:rPr sz="1950" spc="6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which</a:t>
            </a:r>
            <a:r>
              <a:rPr sz="1950" spc="5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cannot</a:t>
            </a:r>
            <a:r>
              <a:rPr sz="1950" spc="6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be</a:t>
            </a:r>
            <a:r>
              <a:rPr sz="1950" spc="6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modeled</a:t>
            </a:r>
            <a:r>
              <a:rPr sz="1950" spc="50" dirty="0">
                <a:latin typeface="Microsoft Sans Serif"/>
                <a:cs typeface="Microsoft Sans Serif"/>
              </a:rPr>
              <a:t> </a:t>
            </a:r>
            <a:r>
              <a:rPr sz="1950" spc="100" dirty="0">
                <a:latin typeface="Microsoft Sans Serif"/>
                <a:cs typeface="Microsoft Sans Serif"/>
              </a:rPr>
              <a:t>with</a:t>
            </a:r>
            <a:r>
              <a:rPr sz="1950" spc="5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linear</a:t>
            </a:r>
            <a:r>
              <a:rPr sz="1950" spc="70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algebra, 	</a:t>
            </a:r>
            <a:r>
              <a:rPr sz="1950" spc="140" dirty="0">
                <a:latin typeface="Microsoft Sans Serif"/>
                <a:cs typeface="Microsoft Sans Serif"/>
              </a:rPr>
              <a:t>it</a:t>
            </a:r>
            <a:r>
              <a:rPr sz="1950" spc="-1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is </a:t>
            </a:r>
            <a:r>
              <a:rPr sz="1950" spc="105" dirty="0">
                <a:latin typeface="Microsoft Sans Serif"/>
                <a:cs typeface="Microsoft Sans Serif"/>
              </a:rPr>
              <a:t>often</a:t>
            </a:r>
            <a:r>
              <a:rPr sz="1950" dirty="0">
                <a:latin typeface="Microsoft Sans Serif"/>
                <a:cs typeface="Microsoft Sans Serif"/>
              </a:rPr>
              <a:t> used</a:t>
            </a:r>
            <a:r>
              <a:rPr sz="1950" spc="-5" dirty="0">
                <a:latin typeface="Microsoft Sans Serif"/>
                <a:cs typeface="Microsoft Sans Serif"/>
              </a:rPr>
              <a:t> </a:t>
            </a:r>
            <a:r>
              <a:rPr sz="1950" spc="120" dirty="0">
                <a:latin typeface="Microsoft Sans Serif"/>
                <a:cs typeface="Microsoft Sans Serif"/>
              </a:rPr>
              <a:t>for</a:t>
            </a:r>
            <a:r>
              <a:rPr sz="1950" spc="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dealing</a:t>
            </a:r>
            <a:r>
              <a:rPr sz="1950" spc="-15" dirty="0">
                <a:latin typeface="Microsoft Sans Serif"/>
                <a:cs typeface="Microsoft Sans Serif"/>
              </a:rPr>
              <a:t> </a:t>
            </a:r>
            <a:r>
              <a:rPr sz="1950" spc="100" dirty="0">
                <a:latin typeface="Microsoft Sans Serif"/>
                <a:cs typeface="Microsoft Sans Serif"/>
              </a:rPr>
              <a:t>with</a:t>
            </a:r>
            <a:r>
              <a:rPr sz="1950" spc="-10" dirty="0">
                <a:latin typeface="Microsoft Sans Serif"/>
                <a:cs typeface="Microsoft Sans Serif"/>
              </a:rPr>
              <a:t> </a:t>
            </a:r>
            <a:r>
              <a:rPr sz="1950" spc="70" dirty="0">
                <a:latin typeface="Microsoft Sans Serif"/>
                <a:cs typeface="Microsoft Sans Serif"/>
              </a:rPr>
              <a:t>first-</a:t>
            </a:r>
            <a:r>
              <a:rPr sz="1950" spc="60" dirty="0">
                <a:latin typeface="Microsoft Sans Serif"/>
                <a:cs typeface="Microsoft Sans Serif"/>
              </a:rPr>
              <a:t>order</a:t>
            </a:r>
            <a:r>
              <a:rPr sz="1950" spc="-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approximations,</a:t>
            </a:r>
            <a:r>
              <a:rPr sz="1950" spc="-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using </a:t>
            </a:r>
            <a:r>
              <a:rPr sz="1950" spc="60" dirty="0">
                <a:latin typeface="Microsoft Sans Serif"/>
                <a:cs typeface="Microsoft Sans Serif"/>
              </a:rPr>
              <a:t>the 	</a:t>
            </a:r>
            <a:r>
              <a:rPr sz="1950" spc="75" dirty="0">
                <a:latin typeface="Microsoft Sans Serif"/>
                <a:cs typeface="Microsoft Sans Serif"/>
              </a:rPr>
              <a:t>fact</a:t>
            </a:r>
            <a:r>
              <a:rPr sz="1950" spc="-45" dirty="0">
                <a:latin typeface="Microsoft Sans Serif"/>
                <a:cs typeface="Microsoft Sans Serif"/>
              </a:rPr>
              <a:t> </a:t>
            </a:r>
            <a:r>
              <a:rPr sz="1950" spc="105" dirty="0">
                <a:latin typeface="Microsoft Sans Serif"/>
                <a:cs typeface="Microsoft Sans Serif"/>
              </a:rPr>
              <a:t>that</a:t>
            </a:r>
            <a:r>
              <a:rPr sz="1950" spc="-50" dirty="0">
                <a:latin typeface="Microsoft Sans Serif"/>
                <a:cs typeface="Microsoft Sans Serif"/>
              </a:rPr>
              <a:t> </a:t>
            </a:r>
            <a:r>
              <a:rPr sz="1950" spc="85" dirty="0">
                <a:latin typeface="Microsoft Sans Serif"/>
                <a:cs typeface="Microsoft Sans Serif"/>
              </a:rPr>
              <a:t>the</a:t>
            </a:r>
            <a:r>
              <a:rPr sz="1950" spc="-50" dirty="0">
                <a:latin typeface="Microsoft Sans Serif"/>
                <a:cs typeface="Microsoft Sans Serif"/>
              </a:rPr>
              <a:t> </a:t>
            </a:r>
            <a:r>
              <a:rPr sz="1950" spc="75" dirty="0">
                <a:latin typeface="Microsoft Sans Serif"/>
                <a:cs typeface="Microsoft Sans Serif"/>
              </a:rPr>
              <a:t>differential</a:t>
            </a:r>
            <a:r>
              <a:rPr sz="1950" spc="-60" dirty="0">
                <a:latin typeface="Microsoft Sans Serif"/>
                <a:cs typeface="Microsoft Sans Serif"/>
              </a:rPr>
              <a:t> </a:t>
            </a:r>
            <a:r>
              <a:rPr sz="1950" spc="135" dirty="0">
                <a:latin typeface="Microsoft Sans Serif"/>
                <a:cs typeface="Microsoft Sans Serif"/>
              </a:rPr>
              <a:t>of</a:t>
            </a:r>
            <a:r>
              <a:rPr sz="1950" spc="-50" dirty="0">
                <a:latin typeface="Microsoft Sans Serif"/>
                <a:cs typeface="Microsoft Sans Serif"/>
              </a:rPr>
              <a:t> </a:t>
            </a:r>
            <a:r>
              <a:rPr sz="1950" spc="-85" dirty="0">
                <a:latin typeface="Microsoft Sans Serif"/>
                <a:cs typeface="Microsoft Sans Serif"/>
              </a:rPr>
              <a:t>a</a:t>
            </a:r>
            <a:r>
              <a:rPr sz="1950" spc="-60" dirty="0">
                <a:latin typeface="Microsoft Sans Serif"/>
                <a:cs typeface="Microsoft Sans Serif"/>
              </a:rPr>
              <a:t> </a:t>
            </a:r>
            <a:r>
              <a:rPr sz="1950" spc="50" dirty="0">
                <a:latin typeface="Microsoft Sans Serif"/>
                <a:cs typeface="Microsoft Sans Serif"/>
              </a:rPr>
              <a:t>multivariate</a:t>
            </a:r>
            <a:r>
              <a:rPr sz="1950" spc="-60" dirty="0">
                <a:latin typeface="Microsoft Sans Serif"/>
                <a:cs typeface="Microsoft Sans Serif"/>
              </a:rPr>
              <a:t> </a:t>
            </a:r>
            <a:r>
              <a:rPr sz="1950" spc="70" dirty="0">
                <a:latin typeface="Microsoft Sans Serif"/>
                <a:cs typeface="Microsoft Sans Serif"/>
              </a:rPr>
              <a:t>function</a:t>
            </a:r>
            <a:r>
              <a:rPr sz="1950" spc="-50" dirty="0">
                <a:latin typeface="Microsoft Sans Serif"/>
                <a:cs typeface="Microsoft Sans Serif"/>
              </a:rPr>
              <a:t> </a:t>
            </a:r>
            <a:r>
              <a:rPr sz="1950" spc="80" dirty="0">
                <a:latin typeface="Microsoft Sans Serif"/>
                <a:cs typeface="Microsoft Sans Serif"/>
              </a:rPr>
              <a:t>at</a:t>
            </a:r>
            <a:r>
              <a:rPr sz="1950" spc="-50" dirty="0">
                <a:latin typeface="Microsoft Sans Serif"/>
                <a:cs typeface="Microsoft Sans Serif"/>
              </a:rPr>
              <a:t> </a:t>
            </a:r>
            <a:r>
              <a:rPr sz="1950" spc="-80" dirty="0">
                <a:latin typeface="Microsoft Sans Serif"/>
                <a:cs typeface="Microsoft Sans Serif"/>
              </a:rPr>
              <a:t>a</a:t>
            </a:r>
            <a:r>
              <a:rPr sz="1950" spc="-45" dirty="0">
                <a:latin typeface="Microsoft Sans Serif"/>
                <a:cs typeface="Microsoft Sans Serif"/>
              </a:rPr>
              <a:t> </a:t>
            </a:r>
            <a:r>
              <a:rPr sz="1950" spc="80" dirty="0">
                <a:latin typeface="Microsoft Sans Serif"/>
                <a:cs typeface="Microsoft Sans Serif"/>
              </a:rPr>
              <a:t>point</a:t>
            </a:r>
            <a:r>
              <a:rPr sz="1950" spc="-50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is</a:t>
            </a:r>
            <a:r>
              <a:rPr sz="1950" spc="-50" dirty="0">
                <a:latin typeface="Microsoft Sans Serif"/>
                <a:cs typeface="Microsoft Sans Serif"/>
              </a:rPr>
              <a:t> </a:t>
            </a:r>
            <a:r>
              <a:rPr sz="1950" spc="60" dirty="0">
                <a:latin typeface="Microsoft Sans Serif"/>
                <a:cs typeface="Microsoft Sans Serif"/>
              </a:rPr>
              <a:t>the 	</a:t>
            </a:r>
            <a:r>
              <a:rPr sz="1950" dirty="0">
                <a:latin typeface="Microsoft Sans Serif"/>
                <a:cs typeface="Microsoft Sans Serif"/>
              </a:rPr>
              <a:t>linear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map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105" dirty="0">
                <a:latin typeface="Microsoft Sans Serif"/>
                <a:cs typeface="Microsoft Sans Serif"/>
              </a:rPr>
              <a:t>that</a:t>
            </a:r>
            <a:r>
              <a:rPr sz="1950" spc="4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best</a:t>
            </a:r>
            <a:r>
              <a:rPr sz="1950" spc="3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approximates</a:t>
            </a:r>
            <a:r>
              <a:rPr sz="1950" spc="30" dirty="0">
                <a:latin typeface="Microsoft Sans Serif"/>
                <a:cs typeface="Microsoft Sans Serif"/>
              </a:rPr>
              <a:t> </a:t>
            </a:r>
            <a:r>
              <a:rPr sz="1950" spc="85" dirty="0">
                <a:latin typeface="Microsoft Sans Serif"/>
                <a:cs typeface="Microsoft Sans Serif"/>
              </a:rPr>
              <a:t>the</a:t>
            </a:r>
            <a:r>
              <a:rPr sz="1950" spc="30" dirty="0">
                <a:latin typeface="Microsoft Sans Serif"/>
                <a:cs typeface="Microsoft Sans Serif"/>
              </a:rPr>
              <a:t> </a:t>
            </a:r>
            <a:r>
              <a:rPr sz="1950" spc="70" dirty="0">
                <a:latin typeface="Microsoft Sans Serif"/>
                <a:cs typeface="Microsoft Sans Serif"/>
              </a:rPr>
              <a:t>function</a:t>
            </a:r>
            <a:r>
              <a:rPr sz="1950" spc="3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near</a:t>
            </a:r>
            <a:r>
              <a:rPr sz="1950" spc="25" dirty="0">
                <a:latin typeface="Microsoft Sans Serif"/>
                <a:cs typeface="Microsoft Sans Serif"/>
              </a:rPr>
              <a:t> </a:t>
            </a:r>
            <a:r>
              <a:rPr sz="1950" spc="105" dirty="0">
                <a:latin typeface="Microsoft Sans Serif"/>
                <a:cs typeface="Microsoft Sans Serif"/>
              </a:rPr>
              <a:t>that</a:t>
            </a:r>
            <a:r>
              <a:rPr sz="1950" spc="35" dirty="0">
                <a:latin typeface="Microsoft Sans Serif"/>
                <a:cs typeface="Microsoft Sans Serif"/>
              </a:rPr>
              <a:t> </a:t>
            </a:r>
            <a:r>
              <a:rPr sz="1950" spc="45" dirty="0">
                <a:latin typeface="Microsoft Sans Serif"/>
                <a:cs typeface="Microsoft Sans Serif"/>
              </a:rPr>
              <a:t>point.</a:t>
            </a:r>
            <a:endParaRPr sz="1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What</a:t>
            </a:r>
            <a:r>
              <a:rPr spc="-150" dirty="0"/>
              <a:t> </a:t>
            </a:r>
            <a:r>
              <a:rPr spc="-10" dirty="0"/>
              <a:t>is</a:t>
            </a:r>
            <a:r>
              <a:rPr spc="-140" dirty="0"/>
              <a:t> </a:t>
            </a:r>
            <a:r>
              <a:rPr dirty="0"/>
              <a:t>Linear</a:t>
            </a:r>
            <a:r>
              <a:rPr spc="-135" dirty="0"/>
              <a:t> </a:t>
            </a:r>
            <a:r>
              <a:rPr spc="45" dirty="0"/>
              <a:t>Algebra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4030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476984"/>
            <a:ext cx="6055995" cy="7200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latin typeface="Microsoft Sans Serif"/>
                <a:cs typeface="Microsoft Sans Serif"/>
              </a:rPr>
              <a:t>Linear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algebra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is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branch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160" dirty="0">
                <a:latin typeface="Microsoft Sans Serif"/>
                <a:cs typeface="Microsoft Sans Serif"/>
              </a:rPr>
              <a:t>of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mathematics </a:t>
            </a:r>
            <a:r>
              <a:rPr sz="2400" dirty="0">
                <a:latin typeface="Microsoft Sans Serif"/>
                <a:cs typeface="Microsoft Sans Serif"/>
              </a:rPr>
              <a:t>concerning</a:t>
            </a:r>
            <a:r>
              <a:rPr sz="2400" spc="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linear</a:t>
            </a:r>
            <a:r>
              <a:rPr sz="2400" spc="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equations</a:t>
            </a:r>
            <a:r>
              <a:rPr sz="2400" spc="75" dirty="0">
                <a:latin typeface="Microsoft Sans Serif"/>
                <a:cs typeface="Microsoft Sans Serif"/>
              </a:rPr>
              <a:t> </a:t>
            </a:r>
            <a:r>
              <a:rPr sz="2400" spc="-35" dirty="0">
                <a:latin typeface="Microsoft Sans Serif"/>
                <a:cs typeface="Microsoft Sans Serif"/>
              </a:rPr>
              <a:t>such</a:t>
            </a:r>
            <a:r>
              <a:rPr sz="2400" spc="9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as: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018510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9017" y="3031464"/>
            <a:ext cx="27501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icrosoft Sans Serif"/>
                <a:cs typeface="Microsoft Sans Serif"/>
              </a:rPr>
              <a:t>linear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maps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35" dirty="0">
                <a:latin typeface="Microsoft Sans Serif"/>
                <a:cs typeface="Microsoft Sans Serif"/>
              </a:rPr>
              <a:t>such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as: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266984"/>
            <a:ext cx="7931150" cy="72199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5600" marR="5080" indent="-343535">
              <a:lnSpc>
                <a:spcPts val="2600"/>
              </a:lnSpc>
              <a:spcBef>
                <a:spcPts val="42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their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representations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vector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-75" dirty="0">
                <a:latin typeface="Microsoft Sans Serif"/>
                <a:cs typeface="Microsoft Sans Serif"/>
              </a:rPr>
              <a:t>spaces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75" dirty="0">
                <a:latin typeface="Microsoft Sans Serif"/>
                <a:cs typeface="Microsoft Sans Serif"/>
              </a:rPr>
              <a:t>through </a:t>
            </a:r>
            <a:r>
              <a:rPr sz="2400" spc="-10" dirty="0">
                <a:latin typeface="Microsoft Sans Serif"/>
                <a:cs typeface="Microsoft Sans Serif"/>
              </a:rPr>
              <a:t>matrices.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475" y="2472474"/>
            <a:ext cx="3631679" cy="40716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5161" y="3646080"/>
            <a:ext cx="4999685" cy="4215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Numerical</a:t>
            </a:r>
            <a:r>
              <a:rPr spc="45" dirty="0"/>
              <a:t> </a:t>
            </a:r>
            <a:r>
              <a:rPr dirty="0"/>
              <a:t>Linear</a:t>
            </a:r>
            <a:r>
              <a:rPr spc="55" dirty="0"/>
              <a:t> </a:t>
            </a:r>
            <a:r>
              <a:rPr spc="45" dirty="0"/>
              <a:t>Algebra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9097"/>
            <a:ext cx="7930515" cy="4624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2415" marR="95250" indent="-260350">
              <a:lnSpc>
                <a:spcPct val="101000"/>
              </a:lnSpc>
              <a:spcBef>
                <a:spcPts val="100"/>
              </a:spcBef>
              <a:buClr>
                <a:srgbClr val="6697CC"/>
              </a:buClr>
              <a:buFont typeface="Arial"/>
              <a:buChar char="•"/>
              <a:tabLst>
                <a:tab pos="272415" algn="l"/>
              </a:tabLst>
            </a:pPr>
            <a:r>
              <a:rPr sz="2400" dirty="0">
                <a:latin typeface="Microsoft Sans Serif"/>
                <a:cs typeface="Microsoft Sans Serif"/>
              </a:rPr>
              <a:t>The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application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180" dirty="0">
                <a:latin typeface="Microsoft Sans Serif"/>
                <a:cs typeface="Microsoft Sans Serif"/>
              </a:rPr>
              <a:t>of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linear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algebra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in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computers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spc="130" dirty="0">
                <a:latin typeface="Microsoft Sans Serif"/>
                <a:cs typeface="Microsoft Sans Serif"/>
              </a:rPr>
              <a:t>often </a:t>
            </a:r>
            <a:r>
              <a:rPr sz="2400" dirty="0">
                <a:latin typeface="Microsoft Sans Serif"/>
                <a:cs typeface="Microsoft Sans Serif"/>
              </a:rPr>
              <a:t>called</a:t>
            </a:r>
            <a:r>
              <a:rPr sz="2400" spc="19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numerical</a:t>
            </a:r>
            <a:r>
              <a:rPr sz="2400" spc="19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linear</a:t>
            </a:r>
            <a:r>
              <a:rPr sz="2400" spc="19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algebra.</a:t>
            </a:r>
            <a:endParaRPr sz="2400">
              <a:latin typeface="Microsoft Sans Serif"/>
              <a:cs typeface="Microsoft Sans Serif"/>
            </a:endParaRPr>
          </a:p>
          <a:p>
            <a:pPr marL="272415" marR="5080" indent="-260350">
              <a:lnSpc>
                <a:spcPct val="101200"/>
              </a:lnSpc>
              <a:spcBef>
                <a:spcPts val="615"/>
              </a:spcBef>
              <a:buClr>
                <a:srgbClr val="6697CC"/>
              </a:buClr>
              <a:buFont typeface="Arial"/>
              <a:buChar char="•"/>
              <a:tabLst>
                <a:tab pos="272415" algn="l"/>
              </a:tabLst>
            </a:pPr>
            <a:r>
              <a:rPr sz="2400" spc="145" dirty="0">
                <a:latin typeface="Microsoft Sans Serif"/>
                <a:cs typeface="Microsoft Sans Serif"/>
              </a:rPr>
              <a:t>It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75" dirty="0">
                <a:latin typeface="Microsoft Sans Serif"/>
                <a:cs typeface="Microsoft Sans Serif"/>
              </a:rPr>
              <a:t>more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75" dirty="0">
                <a:latin typeface="Microsoft Sans Serif"/>
                <a:cs typeface="Microsoft Sans Serif"/>
              </a:rPr>
              <a:t>than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75" dirty="0">
                <a:latin typeface="Microsoft Sans Serif"/>
                <a:cs typeface="Microsoft Sans Serif"/>
              </a:rPr>
              <a:t>just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the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85" dirty="0">
                <a:latin typeface="Microsoft Sans Serif"/>
                <a:cs typeface="Microsoft Sans Serif"/>
              </a:rPr>
              <a:t>implementation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180" dirty="0">
                <a:latin typeface="Microsoft Sans Serif"/>
                <a:cs typeface="Microsoft Sans Serif"/>
              </a:rPr>
              <a:t>of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linear </a:t>
            </a:r>
            <a:r>
              <a:rPr sz="2400" dirty="0">
                <a:latin typeface="Microsoft Sans Serif"/>
                <a:cs typeface="Microsoft Sans Serif"/>
              </a:rPr>
              <a:t>algebra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operations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in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code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libraries;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180" dirty="0">
                <a:latin typeface="Microsoft Sans Serif"/>
                <a:cs typeface="Microsoft Sans Serif"/>
              </a:rPr>
              <a:t>it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also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includes</a:t>
            </a:r>
            <a:r>
              <a:rPr sz="2400" spc="600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the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careful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handling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180" dirty="0">
                <a:latin typeface="Microsoft Sans Serif"/>
                <a:cs typeface="Microsoft Sans Serif"/>
              </a:rPr>
              <a:t>of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the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problems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180" dirty="0">
                <a:latin typeface="Microsoft Sans Serif"/>
                <a:cs typeface="Microsoft Sans Serif"/>
              </a:rPr>
              <a:t>of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40" dirty="0">
                <a:latin typeface="Microsoft Sans Serif"/>
                <a:cs typeface="Microsoft Sans Serif"/>
              </a:rPr>
              <a:t>applied </a:t>
            </a:r>
            <a:r>
              <a:rPr sz="2400" dirty="0">
                <a:latin typeface="Microsoft Sans Serif"/>
                <a:cs typeface="Microsoft Sans Serif"/>
              </a:rPr>
              <a:t>mathematics,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such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10" dirty="0">
                <a:latin typeface="Microsoft Sans Serif"/>
                <a:cs typeface="Microsoft Sans Serif"/>
              </a:rPr>
              <a:t>as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80" dirty="0">
                <a:latin typeface="Microsoft Sans Serif"/>
                <a:cs typeface="Microsoft Sans Serif"/>
              </a:rPr>
              <a:t>working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with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the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limited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floating </a:t>
            </a:r>
            <a:r>
              <a:rPr sz="2400" spc="114" dirty="0">
                <a:latin typeface="Microsoft Sans Serif"/>
                <a:cs typeface="Microsoft Sans Serif"/>
              </a:rPr>
              <a:t>point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precision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180" dirty="0">
                <a:latin typeface="Microsoft Sans Serif"/>
                <a:cs typeface="Microsoft Sans Serif"/>
              </a:rPr>
              <a:t>of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85" dirty="0">
                <a:latin typeface="Microsoft Sans Serif"/>
                <a:cs typeface="Microsoft Sans Serif"/>
              </a:rPr>
              <a:t>digital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40" dirty="0">
                <a:latin typeface="Microsoft Sans Serif"/>
                <a:cs typeface="Microsoft Sans Serif"/>
              </a:rPr>
              <a:t>computers.</a:t>
            </a:r>
            <a:endParaRPr sz="2400">
              <a:latin typeface="Microsoft Sans Serif"/>
              <a:cs typeface="Microsoft Sans Serif"/>
            </a:endParaRPr>
          </a:p>
          <a:p>
            <a:pPr marL="272415" marR="74930" indent="-260350">
              <a:lnSpc>
                <a:spcPct val="101200"/>
              </a:lnSpc>
              <a:spcBef>
                <a:spcPts val="615"/>
              </a:spcBef>
              <a:buClr>
                <a:srgbClr val="6697CC"/>
              </a:buClr>
              <a:buFont typeface="Arial"/>
              <a:buChar char="•"/>
              <a:tabLst>
                <a:tab pos="272415" algn="l"/>
              </a:tabLst>
            </a:pPr>
            <a:r>
              <a:rPr sz="2400" dirty="0">
                <a:latin typeface="Microsoft Sans Serif"/>
                <a:cs typeface="Microsoft Sans Serif"/>
              </a:rPr>
              <a:t>Computers</a:t>
            </a:r>
            <a:r>
              <a:rPr sz="2400" spc="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65" dirty="0">
                <a:latin typeface="Microsoft Sans Serif"/>
                <a:cs typeface="Microsoft Sans Serif"/>
              </a:rPr>
              <a:t> </a:t>
            </a:r>
            <a:r>
              <a:rPr sz="2400" spc="75" dirty="0">
                <a:latin typeface="Microsoft Sans Serif"/>
                <a:cs typeface="Microsoft Sans Serif"/>
              </a:rPr>
              <a:t>good</a:t>
            </a:r>
            <a:r>
              <a:rPr sz="2400" spc="60" dirty="0">
                <a:latin typeface="Microsoft Sans Serif"/>
                <a:cs typeface="Microsoft Sans Serif"/>
              </a:rPr>
              <a:t> </a:t>
            </a:r>
            <a:r>
              <a:rPr sz="2400" spc="114" dirty="0">
                <a:latin typeface="Microsoft Sans Serif"/>
                <a:cs typeface="Microsoft Sans Serif"/>
              </a:rPr>
              <a:t>at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performing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linear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algebra </a:t>
            </a:r>
            <a:r>
              <a:rPr sz="2400" dirty="0">
                <a:latin typeface="Microsoft Sans Serif"/>
                <a:cs typeface="Microsoft Sans Serif"/>
              </a:rPr>
              <a:t>calculations,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much</a:t>
            </a:r>
            <a:r>
              <a:rPr sz="2400" spc="75" dirty="0">
                <a:latin typeface="Microsoft Sans Serif"/>
                <a:cs typeface="Microsoft Sans Serif"/>
              </a:rPr>
              <a:t> </a:t>
            </a:r>
            <a:r>
              <a:rPr sz="2400" spc="180" dirty="0">
                <a:latin typeface="Microsoft Sans Serif"/>
                <a:cs typeface="Microsoft Sans Serif"/>
              </a:rPr>
              <a:t>of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the</a:t>
            </a:r>
            <a:r>
              <a:rPr sz="2400" spc="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dependence</a:t>
            </a:r>
            <a:r>
              <a:rPr sz="2400" spc="60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on </a:t>
            </a:r>
            <a:r>
              <a:rPr sz="2400" dirty="0">
                <a:latin typeface="Microsoft Sans Serif"/>
                <a:cs typeface="Microsoft Sans Serif"/>
              </a:rPr>
              <a:t>Graphical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Processing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Units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-110" dirty="0">
                <a:latin typeface="Microsoft Sans Serif"/>
                <a:cs typeface="Microsoft Sans Serif"/>
              </a:rPr>
              <a:t>(GPUs)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by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75" dirty="0">
                <a:latin typeface="Microsoft Sans Serif"/>
                <a:cs typeface="Microsoft Sans Serif"/>
              </a:rPr>
              <a:t>modern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machine </a:t>
            </a:r>
            <a:r>
              <a:rPr sz="2400" spc="45" dirty="0">
                <a:latin typeface="Microsoft Sans Serif"/>
                <a:cs typeface="Microsoft Sans Serif"/>
              </a:rPr>
              <a:t>learning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methods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such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-110" dirty="0">
                <a:latin typeface="Microsoft Sans Serif"/>
                <a:cs typeface="Microsoft Sans Serif"/>
              </a:rPr>
              <a:t>as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deep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learning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is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because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155" dirty="0">
                <a:latin typeface="Microsoft Sans Serif"/>
                <a:cs typeface="Microsoft Sans Serif"/>
              </a:rPr>
              <a:t>of </a:t>
            </a:r>
            <a:r>
              <a:rPr sz="2400" spc="110" dirty="0">
                <a:latin typeface="Microsoft Sans Serif"/>
                <a:cs typeface="Microsoft Sans Serif"/>
              </a:rPr>
              <a:t>their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75" dirty="0">
                <a:latin typeface="Microsoft Sans Serif"/>
                <a:cs typeface="Microsoft Sans Serif"/>
              </a:rPr>
              <a:t>ability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200" dirty="0">
                <a:latin typeface="Microsoft Sans Serif"/>
                <a:cs typeface="Microsoft Sans Serif"/>
              </a:rPr>
              <a:t>to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80" dirty="0">
                <a:latin typeface="Microsoft Sans Serif"/>
                <a:cs typeface="Microsoft Sans Serif"/>
              </a:rPr>
              <a:t>compute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linear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algebra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operations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fast.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Linear</a:t>
            </a:r>
            <a:r>
              <a:rPr spc="-95" dirty="0"/>
              <a:t> </a:t>
            </a:r>
            <a:r>
              <a:rPr spc="55" dirty="0"/>
              <a:t>Algebra</a:t>
            </a:r>
            <a:r>
              <a:rPr spc="-90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spc="-10" dirty="0"/>
              <a:t>Statistics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9110"/>
            <a:ext cx="7668895" cy="46412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13055" marR="320675" indent="-300990">
              <a:lnSpc>
                <a:spcPct val="100600"/>
              </a:lnSpc>
              <a:spcBef>
                <a:spcPts val="85"/>
              </a:spcBef>
              <a:buClr>
                <a:srgbClr val="6697CC"/>
              </a:buClr>
              <a:buFont typeface="Arial"/>
              <a:buChar char="•"/>
              <a:tabLst>
                <a:tab pos="313055" algn="l"/>
              </a:tabLst>
            </a:pPr>
            <a:r>
              <a:rPr sz="2800" spc="-45" dirty="0">
                <a:latin typeface="Microsoft Sans Serif"/>
                <a:cs typeface="Microsoft Sans Serif"/>
              </a:rPr>
              <a:t>Some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clear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95" dirty="0">
                <a:latin typeface="Microsoft Sans Serif"/>
                <a:cs typeface="Microsoft Sans Serif"/>
              </a:rPr>
              <a:t>fingerprints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spc="200" dirty="0">
                <a:latin typeface="Microsoft Sans Serif"/>
                <a:cs typeface="Microsoft Sans Serif"/>
              </a:rPr>
              <a:t>of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linear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algebra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45" dirty="0">
                <a:latin typeface="Microsoft Sans Serif"/>
                <a:cs typeface="Microsoft Sans Serif"/>
              </a:rPr>
              <a:t>on </a:t>
            </a:r>
            <a:r>
              <a:rPr sz="2800" spc="50" dirty="0">
                <a:latin typeface="Microsoft Sans Serif"/>
                <a:cs typeface="Microsoft Sans Serif"/>
              </a:rPr>
              <a:t>statistics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and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65" dirty="0">
                <a:latin typeface="Microsoft Sans Serif"/>
                <a:cs typeface="Microsoft Sans Serif"/>
              </a:rPr>
              <a:t>statistical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65" dirty="0">
                <a:latin typeface="Microsoft Sans Serif"/>
                <a:cs typeface="Microsoft Sans Serif"/>
              </a:rPr>
              <a:t>methods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include:</a:t>
            </a:r>
            <a:endParaRPr sz="2800">
              <a:latin typeface="Microsoft Sans Serif"/>
              <a:cs typeface="Microsoft Sans Serif"/>
            </a:endParaRPr>
          </a:p>
          <a:p>
            <a:pPr marL="662940" marR="5080" lvl="1" indent="-248920">
              <a:lnSpc>
                <a:spcPct val="100000"/>
              </a:lnSpc>
              <a:spcBef>
                <a:spcPts val="625"/>
              </a:spcBef>
              <a:buClr>
                <a:srgbClr val="6697CC"/>
              </a:buClr>
              <a:buFont typeface="Arial"/>
              <a:buChar char="–"/>
              <a:tabLst>
                <a:tab pos="664845" algn="l"/>
              </a:tabLst>
            </a:pPr>
            <a:r>
              <a:rPr sz="2450" spc="-80" dirty="0">
                <a:latin typeface="Microsoft Sans Serif"/>
                <a:cs typeface="Microsoft Sans Serif"/>
              </a:rPr>
              <a:t>Use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170" dirty="0">
                <a:latin typeface="Microsoft Sans Serif"/>
                <a:cs typeface="Microsoft Sans Serif"/>
              </a:rPr>
              <a:t>of</a:t>
            </a:r>
            <a:r>
              <a:rPr sz="2450" spc="-65" dirty="0">
                <a:latin typeface="Microsoft Sans Serif"/>
                <a:cs typeface="Microsoft Sans Serif"/>
              </a:rPr>
              <a:t> </a:t>
            </a:r>
            <a:r>
              <a:rPr sz="2450" spc="65" dirty="0">
                <a:latin typeface="Microsoft Sans Serif"/>
                <a:cs typeface="Microsoft Sans Serif"/>
              </a:rPr>
              <a:t>vector</a:t>
            </a:r>
            <a:r>
              <a:rPr sz="2450" spc="-7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and</a:t>
            </a:r>
            <a:r>
              <a:rPr sz="2450" spc="-65" dirty="0">
                <a:latin typeface="Microsoft Sans Serif"/>
                <a:cs typeface="Microsoft Sans Serif"/>
              </a:rPr>
              <a:t> </a:t>
            </a:r>
            <a:r>
              <a:rPr sz="2450" spc="80" dirty="0">
                <a:latin typeface="Microsoft Sans Serif"/>
                <a:cs typeface="Microsoft Sans Serif"/>
              </a:rPr>
              <a:t>matrix</a:t>
            </a:r>
            <a:r>
              <a:rPr sz="2450" spc="-65" dirty="0">
                <a:latin typeface="Microsoft Sans Serif"/>
                <a:cs typeface="Microsoft Sans Serif"/>
              </a:rPr>
              <a:t> </a:t>
            </a:r>
            <a:r>
              <a:rPr sz="2450" spc="80" dirty="0">
                <a:latin typeface="Microsoft Sans Serif"/>
                <a:cs typeface="Microsoft Sans Serif"/>
              </a:rPr>
              <a:t>notation,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especially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105" dirty="0">
                <a:latin typeface="Microsoft Sans Serif"/>
                <a:cs typeface="Microsoft Sans Serif"/>
              </a:rPr>
              <a:t>with 	</a:t>
            </a:r>
            <a:r>
              <a:rPr sz="2450" spc="75" dirty="0">
                <a:latin typeface="Microsoft Sans Serif"/>
                <a:cs typeface="Microsoft Sans Serif"/>
              </a:rPr>
              <a:t>multivariate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statistics.</a:t>
            </a:r>
            <a:endParaRPr sz="2450">
              <a:latin typeface="Microsoft Sans Serif"/>
              <a:cs typeface="Microsoft Sans Serif"/>
            </a:endParaRPr>
          </a:p>
          <a:p>
            <a:pPr marL="662940" marR="596265" lvl="1" indent="-248920">
              <a:lnSpc>
                <a:spcPct val="100400"/>
              </a:lnSpc>
              <a:spcBef>
                <a:spcPts val="615"/>
              </a:spcBef>
              <a:buClr>
                <a:srgbClr val="6697CC"/>
              </a:buClr>
              <a:buFont typeface="Arial"/>
              <a:buChar char="–"/>
              <a:tabLst>
                <a:tab pos="664845" algn="l"/>
              </a:tabLst>
            </a:pPr>
            <a:r>
              <a:rPr sz="2450" dirty="0">
                <a:latin typeface="Microsoft Sans Serif"/>
                <a:cs typeface="Microsoft Sans Serif"/>
              </a:rPr>
              <a:t>Solutions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spc="190" dirty="0">
                <a:latin typeface="Microsoft Sans Serif"/>
                <a:cs typeface="Microsoft Sans Serif"/>
              </a:rPr>
              <a:t>to</a:t>
            </a:r>
            <a:r>
              <a:rPr sz="2450" spc="-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least</a:t>
            </a:r>
            <a:r>
              <a:rPr sz="2450" spc="-10" dirty="0">
                <a:latin typeface="Microsoft Sans Serif"/>
                <a:cs typeface="Microsoft Sans Serif"/>
              </a:rPr>
              <a:t> squares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and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spc="75" dirty="0">
                <a:latin typeface="Microsoft Sans Serif"/>
                <a:cs typeface="Microsoft Sans Serif"/>
              </a:rPr>
              <a:t>weighted</a:t>
            </a:r>
            <a:r>
              <a:rPr sz="2450" spc="-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least 	</a:t>
            </a:r>
            <a:r>
              <a:rPr sz="2450" spc="-20" dirty="0">
                <a:latin typeface="Microsoft Sans Serif"/>
                <a:cs typeface="Microsoft Sans Serif"/>
              </a:rPr>
              <a:t>squares,</a:t>
            </a:r>
            <a:r>
              <a:rPr sz="2450" spc="-55" dirty="0">
                <a:latin typeface="Microsoft Sans Serif"/>
                <a:cs typeface="Microsoft Sans Serif"/>
              </a:rPr>
              <a:t> </a:t>
            </a:r>
            <a:r>
              <a:rPr sz="2450" spc="-30" dirty="0">
                <a:latin typeface="Microsoft Sans Serif"/>
                <a:cs typeface="Microsoft Sans Serif"/>
              </a:rPr>
              <a:t>such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spc="-114" dirty="0">
                <a:latin typeface="Microsoft Sans Serif"/>
                <a:cs typeface="Microsoft Sans Serif"/>
              </a:rPr>
              <a:t>as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spc="155" dirty="0">
                <a:latin typeface="Microsoft Sans Serif"/>
                <a:cs typeface="Microsoft Sans Serif"/>
              </a:rPr>
              <a:t>for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linear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regression.</a:t>
            </a:r>
            <a:endParaRPr sz="2450">
              <a:latin typeface="Microsoft Sans Serif"/>
              <a:cs typeface="Microsoft Sans Serif"/>
            </a:endParaRPr>
          </a:p>
          <a:p>
            <a:pPr marL="663575" lvl="1" indent="-248920">
              <a:lnSpc>
                <a:spcPct val="100000"/>
              </a:lnSpc>
              <a:spcBef>
                <a:spcPts val="620"/>
              </a:spcBef>
              <a:buClr>
                <a:srgbClr val="6697CC"/>
              </a:buClr>
              <a:buFont typeface="Arial"/>
              <a:buChar char="–"/>
              <a:tabLst>
                <a:tab pos="663575" algn="l"/>
              </a:tabLst>
            </a:pPr>
            <a:r>
              <a:rPr sz="2450" dirty="0">
                <a:latin typeface="Microsoft Sans Serif"/>
                <a:cs typeface="Microsoft Sans Serif"/>
              </a:rPr>
              <a:t>Estimates</a:t>
            </a:r>
            <a:r>
              <a:rPr sz="2450" spc="-65" dirty="0">
                <a:latin typeface="Microsoft Sans Serif"/>
                <a:cs typeface="Microsoft Sans Serif"/>
              </a:rPr>
              <a:t> </a:t>
            </a:r>
            <a:r>
              <a:rPr sz="2450" spc="170" dirty="0">
                <a:latin typeface="Microsoft Sans Serif"/>
                <a:cs typeface="Microsoft Sans Serif"/>
              </a:rPr>
              <a:t>of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mean</a:t>
            </a:r>
            <a:r>
              <a:rPr sz="2450" spc="-5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and</a:t>
            </a:r>
            <a:r>
              <a:rPr sz="2450" spc="-6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variance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spc="170" dirty="0">
                <a:latin typeface="Microsoft Sans Serif"/>
                <a:cs typeface="Microsoft Sans Serif"/>
              </a:rPr>
              <a:t>of</a:t>
            </a:r>
            <a:r>
              <a:rPr sz="2450" spc="-55" dirty="0">
                <a:latin typeface="Microsoft Sans Serif"/>
                <a:cs typeface="Microsoft Sans Serif"/>
              </a:rPr>
              <a:t> </a:t>
            </a:r>
            <a:r>
              <a:rPr sz="2450" spc="50" dirty="0">
                <a:latin typeface="Microsoft Sans Serif"/>
                <a:cs typeface="Microsoft Sans Serif"/>
              </a:rPr>
              <a:t>data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matrices.</a:t>
            </a:r>
            <a:endParaRPr sz="2450">
              <a:latin typeface="Microsoft Sans Serif"/>
              <a:cs typeface="Microsoft Sans Serif"/>
            </a:endParaRPr>
          </a:p>
          <a:p>
            <a:pPr marL="662940" marR="668655" lvl="1" indent="-248920">
              <a:lnSpc>
                <a:spcPct val="100400"/>
              </a:lnSpc>
              <a:spcBef>
                <a:spcPts val="610"/>
              </a:spcBef>
              <a:buClr>
                <a:srgbClr val="6697CC"/>
              </a:buClr>
              <a:buFont typeface="Arial"/>
              <a:buChar char="–"/>
              <a:tabLst>
                <a:tab pos="664845" algn="l"/>
              </a:tabLst>
            </a:pPr>
            <a:r>
              <a:rPr sz="2450" spc="-10" dirty="0">
                <a:latin typeface="Microsoft Sans Serif"/>
                <a:cs typeface="Microsoft Sans Serif"/>
              </a:rPr>
              <a:t>The</a:t>
            </a:r>
            <a:r>
              <a:rPr sz="2450" spc="-1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covariance</a:t>
            </a:r>
            <a:r>
              <a:rPr sz="2450" spc="-100" dirty="0">
                <a:latin typeface="Microsoft Sans Serif"/>
                <a:cs typeface="Microsoft Sans Serif"/>
              </a:rPr>
              <a:t> </a:t>
            </a:r>
            <a:r>
              <a:rPr sz="2450" spc="80" dirty="0">
                <a:latin typeface="Microsoft Sans Serif"/>
                <a:cs typeface="Microsoft Sans Serif"/>
              </a:rPr>
              <a:t>matrix</a:t>
            </a:r>
            <a:r>
              <a:rPr sz="2450" spc="-100" dirty="0">
                <a:latin typeface="Microsoft Sans Serif"/>
                <a:cs typeface="Microsoft Sans Serif"/>
              </a:rPr>
              <a:t> </a:t>
            </a:r>
            <a:r>
              <a:rPr sz="2450" spc="140" dirty="0">
                <a:latin typeface="Microsoft Sans Serif"/>
                <a:cs typeface="Microsoft Sans Serif"/>
              </a:rPr>
              <a:t>that</a:t>
            </a:r>
            <a:r>
              <a:rPr sz="2450" spc="-10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plays</a:t>
            </a:r>
            <a:r>
              <a:rPr sz="2450" spc="-100" dirty="0">
                <a:latin typeface="Microsoft Sans Serif"/>
                <a:cs typeface="Microsoft Sans Serif"/>
              </a:rPr>
              <a:t> </a:t>
            </a:r>
            <a:r>
              <a:rPr sz="2450" spc="-90" dirty="0">
                <a:latin typeface="Microsoft Sans Serif"/>
                <a:cs typeface="Microsoft Sans Serif"/>
              </a:rPr>
              <a:t>a </a:t>
            </a:r>
            <a:r>
              <a:rPr sz="2450" dirty="0">
                <a:latin typeface="Microsoft Sans Serif"/>
                <a:cs typeface="Microsoft Sans Serif"/>
              </a:rPr>
              <a:t>key</a:t>
            </a:r>
            <a:r>
              <a:rPr sz="2450" spc="-95" dirty="0">
                <a:latin typeface="Microsoft Sans Serif"/>
                <a:cs typeface="Microsoft Sans Serif"/>
              </a:rPr>
              <a:t> </a:t>
            </a:r>
            <a:r>
              <a:rPr sz="2450" spc="75" dirty="0">
                <a:latin typeface="Microsoft Sans Serif"/>
                <a:cs typeface="Microsoft Sans Serif"/>
              </a:rPr>
              <a:t>role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-25" dirty="0">
                <a:latin typeface="Microsoft Sans Serif"/>
                <a:cs typeface="Microsoft Sans Serif"/>
              </a:rPr>
              <a:t>in 	</a:t>
            </a:r>
            <a:r>
              <a:rPr sz="2450" spc="70" dirty="0">
                <a:latin typeface="Microsoft Sans Serif"/>
                <a:cs typeface="Microsoft Sans Serif"/>
              </a:rPr>
              <a:t>multinomial</a:t>
            </a:r>
            <a:r>
              <a:rPr sz="2450" spc="-30" dirty="0">
                <a:latin typeface="Microsoft Sans Serif"/>
                <a:cs typeface="Microsoft Sans Serif"/>
              </a:rPr>
              <a:t> </a:t>
            </a:r>
            <a:r>
              <a:rPr sz="2450" spc="-80" dirty="0">
                <a:latin typeface="Microsoft Sans Serif"/>
                <a:cs typeface="Microsoft Sans Serif"/>
              </a:rPr>
              <a:t>Gaussian</a:t>
            </a:r>
            <a:r>
              <a:rPr sz="2450" spc="-30" dirty="0">
                <a:latin typeface="Microsoft Sans Serif"/>
                <a:cs typeface="Microsoft Sans Serif"/>
              </a:rPr>
              <a:t> </a:t>
            </a:r>
            <a:r>
              <a:rPr sz="2450" spc="50" dirty="0">
                <a:latin typeface="Microsoft Sans Serif"/>
                <a:cs typeface="Microsoft Sans Serif"/>
              </a:rPr>
              <a:t>distributions.</a:t>
            </a:r>
            <a:endParaRPr sz="2450">
              <a:latin typeface="Microsoft Sans Serif"/>
              <a:cs typeface="Microsoft Sans Serif"/>
            </a:endParaRPr>
          </a:p>
          <a:p>
            <a:pPr marL="662940" marR="250825" lvl="1" indent="-248920">
              <a:lnSpc>
                <a:spcPct val="100000"/>
              </a:lnSpc>
              <a:spcBef>
                <a:spcPts val="615"/>
              </a:spcBef>
              <a:buClr>
                <a:srgbClr val="6697CC"/>
              </a:buClr>
              <a:buFont typeface="Arial"/>
              <a:buChar char="–"/>
              <a:tabLst>
                <a:tab pos="664845" algn="l"/>
              </a:tabLst>
            </a:pPr>
            <a:r>
              <a:rPr sz="2450" dirty="0">
                <a:latin typeface="Microsoft Sans Serif"/>
                <a:cs typeface="Microsoft Sans Serif"/>
              </a:rPr>
              <a:t>Principal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spc="65" dirty="0">
                <a:latin typeface="Microsoft Sans Serif"/>
                <a:cs typeface="Microsoft Sans Serif"/>
              </a:rPr>
              <a:t>component</a:t>
            </a:r>
            <a:r>
              <a:rPr sz="2450" spc="-55" dirty="0">
                <a:latin typeface="Microsoft Sans Serif"/>
                <a:cs typeface="Microsoft Sans Serif"/>
              </a:rPr>
              <a:t> </a:t>
            </a:r>
            <a:r>
              <a:rPr sz="2450" spc="-35" dirty="0">
                <a:latin typeface="Microsoft Sans Serif"/>
                <a:cs typeface="Microsoft Sans Serif"/>
              </a:rPr>
              <a:t>analysis</a:t>
            </a:r>
            <a:r>
              <a:rPr sz="2450" spc="-65" dirty="0">
                <a:latin typeface="Microsoft Sans Serif"/>
                <a:cs typeface="Microsoft Sans Serif"/>
              </a:rPr>
              <a:t> </a:t>
            </a:r>
            <a:r>
              <a:rPr sz="2450" spc="155" dirty="0">
                <a:latin typeface="Microsoft Sans Serif"/>
                <a:cs typeface="Microsoft Sans Serif"/>
              </a:rPr>
              <a:t>for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spc="50" dirty="0">
                <a:latin typeface="Microsoft Sans Serif"/>
                <a:cs typeface="Microsoft Sans Serif"/>
              </a:rPr>
              <a:t>data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spc="60" dirty="0">
                <a:latin typeface="Microsoft Sans Serif"/>
                <a:cs typeface="Microsoft Sans Serif"/>
              </a:rPr>
              <a:t>reduction 	</a:t>
            </a:r>
            <a:r>
              <a:rPr sz="2450" spc="140" dirty="0">
                <a:latin typeface="Microsoft Sans Serif"/>
                <a:cs typeface="Microsoft Sans Serif"/>
              </a:rPr>
              <a:t>that</a:t>
            </a:r>
            <a:r>
              <a:rPr sz="2450" spc="2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draws</a:t>
            </a:r>
            <a:r>
              <a:rPr sz="2450" spc="2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many</a:t>
            </a:r>
            <a:r>
              <a:rPr sz="2450" spc="20" dirty="0">
                <a:latin typeface="Microsoft Sans Serif"/>
                <a:cs typeface="Microsoft Sans Serif"/>
              </a:rPr>
              <a:t> </a:t>
            </a:r>
            <a:r>
              <a:rPr sz="2450" spc="175" dirty="0">
                <a:latin typeface="Microsoft Sans Serif"/>
                <a:cs typeface="Microsoft Sans Serif"/>
              </a:rPr>
              <a:t>of</a:t>
            </a:r>
            <a:r>
              <a:rPr sz="2450" spc="3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these</a:t>
            </a:r>
            <a:r>
              <a:rPr sz="2450" spc="3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elements</a:t>
            </a:r>
            <a:r>
              <a:rPr sz="2450" spc="25" dirty="0">
                <a:latin typeface="Microsoft Sans Serif"/>
                <a:cs typeface="Microsoft Sans Serif"/>
              </a:rPr>
              <a:t> </a:t>
            </a:r>
            <a:r>
              <a:rPr sz="2450" spc="80" dirty="0">
                <a:latin typeface="Microsoft Sans Serif"/>
                <a:cs typeface="Microsoft Sans Serif"/>
              </a:rPr>
              <a:t>together.</a:t>
            </a:r>
            <a:endParaRPr sz="24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Applications</a:t>
            </a:r>
            <a:r>
              <a:rPr spc="-110" dirty="0"/>
              <a:t> </a:t>
            </a:r>
            <a:r>
              <a:rPr spc="250" dirty="0"/>
              <a:t>of</a:t>
            </a:r>
            <a:r>
              <a:rPr spc="-95" dirty="0"/>
              <a:t> </a:t>
            </a:r>
            <a:r>
              <a:rPr dirty="0"/>
              <a:t>Linear</a:t>
            </a:r>
            <a:r>
              <a:rPr spc="-95" dirty="0"/>
              <a:t> </a:t>
            </a:r>
            <a:r>
              <a:rPr spc="40" dirty="0"/>
              <a:t>Algebra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38624"/>
            <a:ext cx="8403590" cy="5136021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293370" indent="-280670">
              <a:lnSpc>
                <a:spcPct val="100000"/>
              </a:lnSpc>
              <a:spcBef>
                <a:spcPts val="750"/>
              </a:spcBef>
              <a:buClr>
                <a:srgbClr val="6697CC"/>
              </a:buClr>
              <a:buFont typeface="Arial"/>
              <a:buChar char="•"/>
              <a:tabLst>
                <a:tab pos="293370" algn="l"/>
              </a:tabLst>
            </a:pPr>
            <a:r>
              <a:rPr sz="2600" dirty="0">
                <a:latin typeface="Microsoft Sans Serif"/>
                <a:cs typeface="Microsoft Sans Serif"/>
              </a:rPr>
              <a:t>Matrices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in</a:t>
            </a:r>
            <a:r>
              <a:rPr sz="2600" dirty="0">
                <a:latin typeface="Microsoft Sans Serif"/>
                <a:cs typeface="Microsoft Sans Serif"/>
              </a:rPr>
              <a:t> Engineering,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such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spc="-114" dirty="0">
                <a:latin typeface="Microsoft Sans Serif"/>
                <a:cs typeface="Microsoft Sans Serif"/>
              </a:rPr>
              <a:t>as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spc="-90" dirty="0">
                <a:latin typeface="Microsoft Sans Serif"/>
                <a:cs typeface="Microsoft Sans Serif"/>
              </a:rPr>
              <a:t>a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line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spc="180" dirty="0">
                <a:latin typeface="Microsoft Sans Serif"/>
                <a:cs typeface="Microsoft Sans Serif"/>
              </a:rPr>
              <a:t>of</a:t>
            </a:r>
            <a:r>
              <a:rPr sz="2600" spc="-10" dirty="0">
                <a:latin typeface="Microsoft Sans Serif"/>
                <a:cs typeface="Microsoft Sans Serif"/>
              </a:rPr>
              <a:t> springs.</a:t>
            </a:r>
            <a:endParaRPr sz="2600" dirty="0">
              <a:latin typeface="Microsoft Sans Serif"/>
              <a:cs typeface="Microsoft Sans Serif"/>
            </a:endParaRPr>
          </a:p>
          <a:p>
            <a:pPr marL="620395" lvl="1" indent="-233045">
              <a:lnSpc>
                <a:spcPct val="100000"/>
              </a:lnSpc>
              <a:spcBef>
                <a:spcPts val="560"/>
              </a:spcBef>
              <a:buClr>
                <a:srgbClr val="6697CC"/>
              </a:buClr>
              <a:buFont typeface="Arial"/>
              <a:buChar char="–"/>
              <a:tabLst>
                <a:tab pos="620395" algn="l"/>
              </a:tabLst>
            </a:pPr>
            <a:r>
              <a:rPr sz="2300" spc="-45" dirty="0">
                <a:latin typeface="Microsoft Sans Serif"/>
                <a:cs typeface="Microsoft Sans Serif"/>
              </a:rPr>
              <a:t>Graphs</a:t>
            </a:r>
            <a:r>
              <a:rPr sz="2300" spc="-2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and</a:t>
            </a:r>
            <a:r>
              <a:rPr sz="2300" spc="-3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Networks,</a:t>
            </a:r>
            <a:r>
              <a:rPr sz="2300" spc="-10" dirty="0">
                <a:latin typeface="Microsoft Sans Serif"/>
                <a:cs typeface="Microsoft Sans Serif"/>
              </a:rPr>
              <a:t> </a:t>
            </a:r>
            <a:r>
              <a:rPr sz="2300" spc="-30" dirty="0">
                <a:latin typeface="Microsoft Sans Serif"/>
                <a:cs typeface="Microsoft Sans Serif"/>
              </a:rPr>
              <a:t>such</a:t>
            </a:r>
            <a:r>
              <a:rPr sz="2300" spc="-35" dirty="0">
                <a:latin typeface="Microsoft Sans Serif"/>
                <a:cs typeface="Microsoft Sans Serif"/>
              </a:rPr>
              <a:t> </a:t>
            </a:r>
            <a:r>
              <a:rPr sz="2300" spc="-114" dirty="0">
                <a:latin typeface="Microsoft Sans Serif"/>
                <a:cs typeface="Microsoft Sans Serif"/>
              </a:rPr>
              <a:t>as</a:t>
            </a:r>
            <a:r>
              <a:rPr sz="2300" spc="-2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analyzing</a:t>
            </a:r>
            <a:r>
              <a:rPr sz="2300" spc="-25" dirty="0">
                <a:latin typeface="Microsoft Sans Serif"/>
                <a:cs typeface="Microsoft Sans Serif"/>
              </a:rPr>
              <a:t> </a:t>
            </a:r>
            <a:r>
              <a:rPr sz="2300" spc="40" dirty="0">
                <a:latin typeface="Microsoft Sans Serif"/>
                <a:cs typeface="Microsoft Sans Serif"/>
              </a:rPr>
              <a:t>networks.</a:t>
            </a:r>
            <a:endParaRPr sz="2300" dirty="0">
              <a:latin typeface="Microsoft Sans Serif"/>
              <a:cs typeface="Microsoft Sans Serif"/>
            </a:endParaRPr>
          </a:p>
          <a:p>
            <a:pPr marL="621030" marR="812165" lvl="1" indent="-233679">
              <a:lnSpc>
                <a:spcPct val="100000"/>
              </a:lnSpc>
              <a:spcBef>
                <a:spcPts val="560"/>
              </a:spcBef>
              <a:buClr>
                <a:srgbClr val="6697CC"/>
              </a:buClr>
              <a:buFont typeface="Arial"/>
              <a:buChar char="–"/>
              <a:tabLst>
                <a:tab pos="621030" algn="l"/>
              </a:tabLst>
            </a:pPr>
            <a:r>
              <a:rPr sz="2300" dirty="0">
                <a:latin typeface="Microsoft Sans Serif"/>
                <a:cs typeface="Microsoft Sans Serif"/>
              </a:rPr>
              <a:t>Markov</a:t>
            </a:r>
            <a:r>
              <a:rPr sz="2300" spc="4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Matrices,</a:t>
            </a:r>
            <a:r>
              <a:rPr sz="2300" spc="4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Population,</a:t>
            </a:r>
            <a:r>
              <a:rPr sz="2300" spc="4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and</a:t>
            </a:r>
            <a:r>
              <a:rPr sz="2300" spc="25" dirty="0">
                <a:latin typeface="Microsoft Sans Serif"/>
                <a:cs typeface="Microsoft Sans Serif"/>
              </a:rPr>
              <a:t> </a:t>
            </a:r>
            <a:r>
              <a:rPr sz="2300" spc="-35" dirty="0">
                <a:latin typeface="Microsoft Sans Serif"/>
                <a:cs typeface="Microsoft Sans Serif"/>
              </a:rPr>
              <a:t>Economics,</a:t>
            </a:r>
            <a:r>
              <a:rPr sz="2300" spc="40" dirty="0">
                <a:latin typeface="Microsoft Sans Serif"/>
                <a:cs typeface="Microsoft Sans Serif"/>
              </a:rPr>
              <a:t> </a:t>
            </a:r>
            <a:r>
              <a:rPr sz="2300" spc="-35" dirty="0">
                <a:latin typeface="Microsoft Sans Serif"/>
                <a:cs typeface="Microsoft Sans Serif"/>
              </a:rPr>
              <a:t>such</a:t>
            </a:r>
            <a:r>
              <a:rPr sz="2300" spc="35" dirty="0">
                <a:latin typeface="Microsoft Sans Serif"/>
                <a:cs typeface="Microsoft Sans Serif"/>
              </a:rPr>
              <a:t> </a:t>
            </a:r>
            <a:r>
              <a:rPr sz="2300" spc="-25" dirty="0">
                <a:latin typeface="Microsoft Sans Serif"/>
                <a:cs typeface="Microsoft Sans Serif"/>
              </a:rPr>
              <a:t>as </a:t>
            </a:r>
            <a:r>
              <a:rPr sz="2300" spc="65" dirty="0">
                <a:latin typeface="Microsoft Sans Serif"/>
                <a:cs typeface="Microsoft Sans Serif"/>
              </a:rPr>
              <a:t>population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spc="65" dirty="0">
                <a:latin typeface="Microsoft Sans Serif"/>
                <a:cs typeface="Microsoft Sans Serif"/>
              </a:rPr>
              <a:t>growth.</a:t>
            </a:r>
            <a:endParaRPr sz="2300" dirty="0">
              <a:latin typeface="Microsoft Sans Serif"/>
              <a:cs typeface="Microsoft Sans Serif"/>
            </a:endParaRPr>
          </a:p>
          <a:p>
            <a:pPr marL="620395" lvl="1" indent="-233045">
              <a:lnSpc>
                <a:spcPct val="100000"/>
              </a:lnSpc>
              <a:spcBef>
                <a:spcPts val="540"/>
              </a:spcBef>
              <a:buClr>
                <a:srgbClr val="6697CC"/>
              </a:buClr>
              <a:buFont typeface="Arial"/>
              <a:buChar char="–"/>
              <a:tabLst>
                <a:tab pos="620395" algn="l"/>
              </a:tabLst>
            </a:pPr>
            <a:r>
              <a:rPr sz="2300" dirty="0">
                <a:latin typeface="Microsoft Sans Serif"/>
                <a:cs typeface="Microsoft Sans Serif"/>
              </a:rPr>
              <a:t>Linear Programming,</a:t>
            </a:r>
            <a:r>
              <a:rPr sz="2300" spc="5" dirty="0">
                <a:latin typeface="Microsoft Sans Serif"/>
                <a:cs typeface="Microsoft Sans Serif"/>
              </a:rPr>
              <a:t> </a:t>
            </a:r>
            <a:r>
              <a:rPr sz="2300" spc="95" dirty="0">
                <a:latin typeface="Microsoft Sans Serif"/>
                <a:cs typeface="Microsoft Sans Serif"/>
              </a:rPr>
              <a:t>the</a:t>
            </a:r>
            <a:r>
              <a:rPr sz="2300" spc="-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simplex</a:t>
            </a:r>
            <a:r>
              <a:rPr sz="2300" spc="5" dirty="0">
                <a:latin typeface="Microsoft Sans Serif"/>
                <a:cs typeface="Microsoft Sans Serif"/>
              </a:rPr>
              <a:t> </a:t>
            </a:r>
            <a:r>
              <a:rPr sz="2300" spc="65" dirty="0">
                <a:latin typeface="Microsoft Sans Serif"/>
                <a:cs typeface="Microsoft Sans Serif"/>
              </a:rPr>
              <a:t>optimization</a:t>
            </a:r>
            <a:r>
              <a:rPr sz="2300" spc="5" dirty="0">
                <a:latin typeface="Microsoft Sans Serif"/>
                <a:cs typeface="Microsoft Sans Serif"/>
              </a:rPr>
              <a:t> </a:t>
            </a:r>
            <a:r>
              <a:rPr sz="2300" spc="45" dirty="0">
                <a:latin typeface="Microsoft Sans Serif"/>
                <a:cs typeface="Microsoft Sans Serif"/>
              </a:rPr>
              <a:t>method.</a:t>
            </a:r>
            <a:endParaRPr sz="2300" dirty="0">
              <a:latin typeface="Microsoft Sans Serif"/>
              <a:cs typeface="Microsoft Sans Serif"/>
            </a:endParaRPr>
          </a:p>
          <a:p>
            <a:pPr marL="621030" marR="1346835" lvl="1" indent="-233679">
              <a:lnSpc>
                <a:spcPct val="100000"/>
              </a:lnSpc>
              <a:spcBef>
                <a:spcPts val="560"/>
              </a:spcBef>
              <a:buClr>
                <a:srgbClr val="6697CC"/>
              </a:buClr>
              <a:buFont typeface="Arial"/>
              <a:buChar char="–"/>
              <a:tabLst>
                <a:tab pos="621030" algn="l"/>
              </a:tabLst>
            </a:pPr>
            <a:r>
              <a:rPr sz="2300" dirty="0">
                <a:latin typeface="Microsoft Sans Serif"/>
                <a:cs typeface="Microsoft Sans Serif"/>
              </a:rPr>
              <a:t>Fourier</a:t>
            </a:r>
            <a:r>
              <a:rPr sz="2300" spc="75" dirty="0">
                <a:latin typeface="Microsoft Sans Serif"/>
                <a:cs typeface="Microsoft Sans Serif"/>
              </a:rPr>
              <a:t> </a:t>
            </a:r>
            <a:r>
              <a:rPr sz="2300" spc="-60" dirty="0">
                <a:latin typeface="Microsoft Sans Serif"/>
                <a:cs typeface="Microsoft Sans Serif"/>
              </a:rPr>
              <a:t>Series:</a:t>
            </a:r>
            <a:r>
              <a:rPr sz="2300" spc="7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Linear</a:t>
            </a:r>
            <a:r>
              <a:rPr sz="2300" spc="7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Algebra</a:t>
            </a:r>
            <a:r>
              <a:rPr sz="2300" spc="65" dirty="0">
                <a:latin typeface="Microsoft Sans Serif"/>
                <a:cs typeface="Microsoft Sans Serif"/>
              </a:rPr>
              <a:t> </a:t>
            </a:r>
            <a:r>
              <a:rPr sz="2300" spc="150" dirty="0">
                <a:latin typeface="Microsoft Sans Serif"/>
                <a:cs typeface="Microsoft Sans Serif"/>
              </a:rPr>
              <a:t>for</a:t>
            </a:r>
            <a:r>
              <a:rPr sz="2300" spc="7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functions,</a:t>
            </a:r>
            <a:r>
              <a:rPr sz="2300" spc="70" dirty="0">
                <a:latin typeface="Microsoft Sans Serif"/>
                <a:cs typeface="Microsoft Sans Serif"/>
              </a:rPr>
              <a:t> </a:t>
            </a:r>
            <a:r>
              <a:rPr sz="2300" spc="-20" dirty="0">
                <a:latin typeface="Microsoft Sans Serif"/>
                <a:cs typeface="Microsoft Sans Serif"/>
              </a:rPr>
              <a:t>used </a:t>
            </a:r>
            <a:r>
              <a:rPr sz="2300" dirty="0">
                <a:latin typeface="Microsoft Sans Serif"/>
                <a:cs typeface="Microsoft Sans Serif"/>
              </a:rPr>
              <a:t>widely</a:t>
            </a:r>
            <a:r>
              <a:rPr sz="2300" spc="2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in</a:t>
            </a:r>
            <a:r>
              <a:rPr sz="2300" spc="4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signal</a:t>
            </a:r>
            <a:r>
              <a:rPr sz="2300" spc="4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processing.</a:t>
            </a:r>
            <a:endParaRPr sz="2300" dirty="0">
              <a:latin typeface="Microsoft Sans Serif"/>
              <a:cs typeface="Microsoft Sans Serif"/>
            </a:endParaRPr>
          </a:p>
          <a:p>
            <a:pPr marL="621030" marR="998219" lvl="1" indent="-233679">
              <a:lnSpc>
                <a:spcPts val="2750"/>
              </a:lnSpc>
              <a:spcBef>
                <a:spcPts val="640"/>
              </a:spcBef>
              <a:buClr>
                <a:srgbClr val="6697CC"/>
              </a:buClr>
              <a:buFont typeface="Arial"/>
              <a:buChar char="–"/>
              <a:tabLst>
                <a:tab pos="621030" algn="l"/>
              </a:tabLst>
            </a:pPr>
            <a:r>
              <a:rPr sz="2300" dirty="0">
                <a:latin typeface="Microsoft Sans Serif"/>
                <a:cs typeface="Microsoft Sans Serif"/>
              </a:rPr>
              <a:t>Linear</a:t>
            </a:r>
            <a:r>
              <a:rPr sz="2300" spc="1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Algebra</a:t>
            </a:r>
            <a:r>
              <a:rPr sz="2300" spc="10" dirty="0">
                <a:latin typeface="Microsoft Sans Serif"/>
                <a:cs typeface="Microsoft Sans Serif"/>
              </a:rPr>
              <a:t> </a:t>
            </a:r>
            <a:r>
              <a:rPr sz="2300" spc="145" dirty="0">
                <a:latin typeface="Microsoft Sans Serif"/>
                <a:cs typeface="Microsoft Sans Serif"/>
              </a:rPr>
              <a:t>for</a:t>
            </a:r>
            <a:r>
              <a:rPr sz="2300" spc="1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statistics</a:t>
            </a:r>
            <a:r>
              <a:rPr sz="2300" spc="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and</a:t>
            </a:r>
            <a:r>
              <a:rPr sz="2300" spc="-5" dirty="0">
                <a:latin typeface="Microsoft Sans Serif"/>
                <a:cs typeface="Microsoft Sans Serif"/>
              </a:rPr>
              <a:t> </a:t>
            </a:r>
            <a:r>
              <a:rPr sz="2300" spc="55" dirty="0">
                <a:latin typeface="Microsoft Sans Serif"/>
                <a:cs typeface="Microsoft Sans Serif"/>
              </a:rPr>
              <a:t>probability,</a:t>
            </a:r>
            <a:r>
              <a:rPr sz="2300" spc="5" dirty="0">
                <a:latin typeface="Microsoft Sans Serif"/>
                <a:cs typeface="Microsoft Sans Serif"/>
              </a:rPr>
              <a:t> </a:t>
            </a:r>
            <a:r>
              <a:rPr sz="2300" spc="-35" dirty="0">
                <a:latin typeface="Microsoft Sans Serif"/>
                <a:cs typeface="Microsoft Sans Serif"/>
              </a:rPr>
              <a:t>such</a:t>
            </a:r>
            <a:r>
              <a:rPr sz="2300" spc="5" dirty="0">
                <a:latin typeface="Microsoft Sans Serif"/>
                <a:cs typeface="Microsoft Sans Serif"/>
              </a:rPr>
              <a:t> </a:t>
            </a:r>
            <a:r>
              <a:rPr sz="2300" spc="-25" dirty="0">
                <a:latin typeface="Microsoft Sans Serif"/>
                <a:cs typeface="Microsoft Sans Serif"/>
              </a:rPr>
              <a:t>as </a:t>
            </a:r>
            <a:r>
              <a:rPr sz="2300" dirty="0">
                <a:latin typeface="Microsoft Sans Serif"/>
                <a:cs typeface="Microsoft Sans Serif"/>
              </a:rPr>
              <a:t>least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squares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sz="2300" spc="145" dirty="0">
                <a:latin typeface="Microsoft Sans Serif"/>
                <a:cs typeface="Microsoft Sans Serif"/>
              </a:rPr>
              <a:t>for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regression.</a:t>
            </a:r>
            <a:endParaRPr sz="2300" dirty="0">
              <a:latin typeface="Microsoft Sans Serif"/>
              <a:cs typeface="Microsoft Sans Serif"/>
            </a:endParaRPr>
          </a:p>
          <a:p>
            <a:pPr marL="621030" marR="1042035" lvl="1" indent="-233679">
              <a:lnSpc>
                <a:spcPts val="2740"/>
              </a:lnSpc>
              <a:spcBef>
                <a:spcPts val="580"/>
              </a:spcBef>
              <a:buClr>
                <a:srgbClr val="6697CC"/>
              </a:buClr>
              <a:buFont typeface="Arial"/>
              <a:buChar char="–"/>
              <a:tabLst>
                <a:tab pos="621030" algn="l"/>
              </a:tabLst>
            </a:pPr>
            <a:r>
              <a:rPr sz="2300" dirty="0">
                <a:latin typeface="Microsoft Sans Serif"/>
                <a:cs typeface="Microsoft Sans Serif"/>
              </a:rPr>
              <a:t>Computer</a:t>
            </a:r>
            <a:r>
              <a:rPr sz="2300" spc="-25" dirty="0">
                <a:latin typeface="Microsoft Sans Serif"/>
                <a:cs typeface="Microsoft Sans Serif"/>
              </a:rPr>
              <a:t> </a:t>
            </a:r>
            <a:r>
              <a:rPr sz="2300" spc="-45" dirty="0">
                <a:latin typeface="Microsoft Sans Serif"/>
                <a:cs typeface="Microsoft Sans Serif"/>
              </a:rPr>
              <a:t>Graphics,</a:t>
            </a:r>
            <a:r>
              <a:rPr sz="2300" spc="-25" dirty="0">
                <a:latin typeface="Microsoft Sans Serif"/>
                <a:cs typeface="Microsoft Sans Serif"/>
              </a:rPr>
              <a:t> such</a:t>
            </a:r>
            <a:r>
              <a:rPr sz="2300" spc="-15" dirty="0">
                <a:latin typeface="Microsoft Sans Serif"/>
                <a:cs typeface="Microsoft Sans Serif"/>
              </a:rPr>
              <a:t> </a:t>
            </a:r>
            <a:r>
              <a:rPr sz="2300" spc="-114" dirty="0">
                <a:latin typeface="Microsoft Sans Serif"/>
                <a:cs typeface="Microsoft Sans Serif"/>
              </a:rPr>
              <a:t>as</a:t>
            </a:r>
            <a:r>
              <a:rPr sz="2300" spc="-25" dirty="0">
                <a:latin typeface="Microsoft Sans Serif"/>
                <a:cs typeface="Microsoft Sans Serif"/>
              </a:rPr>
              <a:t> </a:t>
            </a:r>
            <a:r>
              <a:rPr sz="2300" spc="95" dirty="0">
                <a:latin typeface="Microsoft Sans Serif"/>
                <a:cs typeface="Microsoft Sans Serif"/>
              </a:rPr>
              <a:t>the</a:t>
            </a:r>
            <a:r>
              <a:rPr sz="2300" spc="-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various</a:t>
            </a:r>
            <a:r>
              <a:rPr sz="2300" spc="-25" dirty="0">
                <a:latin typeface="Microsoft Sans Serif"/>
                <a:cs typeface="Microsoft Sans Serif"/>
              </a:rPr>
              <a:t> </a:t>
            </a:r>
            <a:r>
              <a:rPr sz="2300" spc="35" dirty="0">
                <a:latin typeface="Microsoft Sans Serif"/>
                <a:cs typeface="Microsoft Sans Serif"/>
              </a:rPr>
              <a:t>translation, </a:t>
            </a:r>
            <a:r>
              <a:rPr sz="2300" dirty="0">
                <a:latin typeface="Microsoft Sans Serif"/>
                <a:cs typeface="Microsoft Sans Serif"/>
              </a:rPr>
              <a:t>rescaling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and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100" dirty="0">
                <a:latin typeface="Microsoft Sans Serif"/>
                <a:cs typeface="Microsoft Sans Serif"/>
              </a:rPr>
              <a:t>rotation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spc="155" dirty="0">
                <a:latin typeface="Microsoft Sans Serif"/>
                <a:cs typeface="Microsoft Sans Serif"/>
              </a:rPr>
              <a:t>of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images.</a:t>
            </a:r>
            <a:endParaRPr sz="23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2300" dirty="0">
              <a:latin typeface="Microsoft Sans Serif"/>
              <a:cs typeface="Microsoft Sans Serif"/>
            </a:endParaRPr>
          </a:p>
          <a:p>
            <a:pPr marL="2686050">
              <a:lnSpc>
                <a:spcPct val="100000"/>
              </a:lnSpc>
              <a:spcBef>
                <a:spcPts val="5"/>
              </a:spcBef>
            </a:pPr>
            <a:endParaRPr sz="18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Linear</a:t>
            </a:r>
            <a:r>
              <a:rPr spc="-110" dirty="0"/>
              <a:t> </a:t>
            </a:r>
            <a:r>
              <a:rPr spc="55" dirty="0"/>
              <a:t>Algebra</a:t>
            </a:r>
            <a:r>
              <a:rPr spc="-110" dirty="0"/>
              <a:t> </a:t>
            </a:r>
            <a:r>
              <a:rPr spc="70" dirty="0"/>
              <a:t>in</a:t>
            </a:r>
            <a:r>
              <a:rPr spc="-114" dirty="0"/>
              <a:t> </a:t>
            </a:r>
            <a:r>
              <a:rPr dirty="0"/>
              <a:t>Machine</a:t>
            </a:r>
            <a:r>
              <a:rPr spc="-12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38318"/>
            <a:ext cx="5098415" cy="473710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745"/>
              </a:spcBef>
              <a:buClr>
                <a:srgbClr val="6697CC"/>
              </a:buClr>
              <a:buFont typeface="Arial"/>
              <a:buChar char="•"/>
              <a:tabLst>
                <a:tab pos="286385" algn="l"/>
              </a:tabLst>
            </a:pPr>
            <a:r>
              <a:rPr sz="2550" dirty="0">
                <a:latin typeface="Microsoft Sans Serif"/>
                <a:cs typeface="Microsoft Sans Serif"/>
              </a:rPr>
              <a:t>1.</a:t>
            </a:r>
            <a:r>
              <a:rPr sz="2550" spc="-50" dirty="0">
                <a:latin typeface="Microsoft Sans Serif"/>
                <a:cs typeface="Microsoft Sans Serif"/>
              </a:rPr>
              <a:t> </a:t>
            </a:r>
            <a:r>
              <a:rPr sz="2550" spc="45" dirty="0">
                <a:latin typeface="Microsoft Sans Serif"/>
                <a:cs typeface="Microsoft Sans Serif"/>
              </a:rPr>
              <a:t>Dataset</a:t>
            </a:r>
            <a:r>
              <a:rPr sz="2550" spc="-4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and</a:t>
            </a:r>
            <a:r>
              <a:rPr sz="2550" spc="-5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Data</a:t>
            </a:r>
            <a:r>
              <a:rPr sz="2550" spc="-45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Files</a:t>
            </a:r>
            <a:endParaRPr sz="2550">
              <a:latin typeface="Microsoft Sans Serif"/>
              <a:cs typeface="Microsoft Sans Serif"/>
            </a:endParaRPr>
          </a:p>
          <a:p>
            <a:pPr marL="286385" indent="-273685">
              <a:lnSpc>
                <a:spcPct val="100000"/>
              </a:lnSpc>
              <a:spcBef>
                <a:spcPts val="645"/>
              </a:spcBef>
              <a:buClr>
                <a:srgbClr val="6697CC"/>
              </a:buClr>
              <a:buFont typeface="Arial"/>
              <a:buChar char="•"/>
              <a:tabLst>
                <a:tab pos="286385" algn="l"/>
              </a:tabLst>
            </a:pPr>
            <a:r>
              <a:rPr sz="2550" dirty="0">
                <a:latin typeface="Microsoft Sans Serif"/>
                <a:cs typeface="Microsoft Sans Serif"/>
              </a:rPr>
              <a:t>2.</a:t>
            </a:r>
            <a:r>
              <a:rPr sz="2550" spc="-105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Images</a:t>
            </a:r>
            <a:r>
              <a:rPr sz="2550" spc="-11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and</a:t>
            </a:r>
            <a:r>
              <a:rPr sz="2550" spc="-100" dirty="0">
                <a:latin typeface="Microsoft Sans Serif"/>
                <a:cs typeface="Microsoft Sans Serif"/>
              </a:rPr>
              <a:t> </a:t>
            </a:r>
            <a:r>
              <a:rPr sz="2550" spc="35" dirty="0">
                <a:latin typeface="Microsoft Sans Serif"/>
                <a:cs typeface="Microsoft Sans Serif"/>
              </a:rPr>
              <a:t>Photographs</a:t>
            </a:r>
            <a:endParaRPr sz="2550">
              <a:latin typeface="Microsoft Sans Serif"/>
              <a:cs typeface="Microsoft Sans Serif"/>
            </a:endParaRPr>
          </a:p>
          <a:p>
            <a:pPr marL="286385" indent="-273685">
              <a:lnSpc>
                <a:spcPct val="100000"/>
              </a:lnSpc>
              <a:spcBef>
                <a:spcPts val="655"/>
              </a:spcBef>
              <a:buClr>
                <a:srgbClr val="6697CC"/>
              </a:buClr>
              <a:buFont typeface="Arial"/>
              <a:buChar char="•"/>
              <a:tabLst>
                <a:tab pos="286385" algn="l"/>
              </a:tabLst>
            </a:pPr>
            <a:r>
              <a:rPr sz="2550" dirty="0">
                <a:latin typeface="Microsoft Sans Serif"/>
                <a:cs typeface="Microsoft Sans Serif"/>
              </a:rPr>
              <a:t>3.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One</a:t>
            </a:r>
            <a:r>
              <a:rPr sz="2550" spc="-80" dirty="0">
                <a:latin typeface="Microsoft Sans Serif"/>
                <a:cs typeface="Microsoft Sans Serif"/>
              </a:rPr>
              <a:t> </a:t>
            </a:r>
            <a:r>
              <a:rPr sz="2550" spc="120" dirty="0">
                <a:latin typeface="Microsoft Sans Serif"/>
                <a:cs typeface="Microsoft Sans Serif"/>
              </a:rPr>
              <a:t>Hot</a:t>
            </a:r>
            <a:r>
              <a:rPr sz="2550" spc="-85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Encoding</a:t>
            </a:r>
            <a:endParaRPr sz="2550">
              <a:latin typeface="Microsoft Sans Serif"/>
              <a:cs typeface="Microsoft Sans Serif"/>
            </a:endParaRPr>
          </a:p>
          <a:p>
            <a:pPr marL="286385" indent="-273685">
              <a:lnSpc>
                <a:spcPct val="100000"/>
              </a:lnSpc>
              <a:spcBef>
                <a:spcPts val="650"/>
              </a:spcBef>
              <a:buClr>
                <a:srgbClr val="6697CC"/>
              </a:buClr>
              <a:buFont typeface="Arial"/>
              <a:buChar char="•"/>
              <a:tabLst>
                <a:tab pos="286385" algn="l"/>
              </a:tabLst>
            </a:pPr>
            <a:r>
              <a:rPr sz="2550" dirty="0">
                <a:latin typeface="Microsoft Sans Serif"/>
                <a:cs typeface="Microsoft Sans Serif"/>
              </a:rPr>
              <a:t>4.</a:t>
            </a:r>
            <a:r>
              <a:rPr sz="2550" spc="-7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Linear</a:t>
            </a:r>
            <a:r>
              <a:rPr sz="2550" spc="-60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Regression</a:t>
            </a:r>
            <a:endParaRPr sz="2550">
              <a:latin typeface="Microsoft Sans Serif"/>
              <a:cs typeface="Microsoft Sans Serif"/>
            </a:endParaRPr>
          </a:p>
          <a:p>
            <a:pPr marL="286385" indent="-273685">
              <a:lnSpc>
                <a:spcPct val="100000"/>
              </a:lnSpc>
              <a:spcBef>
                <a:spcPts val="650"/>
              </a:spcBef>
              <a:buClr>
                <a:srgbClr val="6697CC"/>
              </a:buClr>
              <a:buFont typeface="Arial"/>
              <a:buChar char="•"/>
              <a:tabLst>
                <a:tab pos="286385" algn="l"/>
              </a:tabLst>
            </a:pPr>
            <a:r>
              <a:rPr sz="2550" dirty="0">
                <a:latin typeface="Microsoft Sans Serif"/>
                <a:cs typeface="Microsoft Sans Serif"/>
              </a:rPr>
              <a:t>5.</a:t>
            </a:r>
            <a:r>
              <a:rPr sz="2550" spc="-150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Regularization</a:t>
            </a:r>
            <a:endParaRPr sz="2550">
              <a:latin typeface="Microsoft Sans Serif"/>
              <a:cs typeface="Microsoft Sans Serif"/>
            </a:endParaRPr>
          </a:p>
          <a:p>
            <a:pPr marL="286385" indent="-273685">
              <a:lnSpc>
                <a:spcPct val="100000"/>
              </a:lnSpc>
              <a:spcBef>
                <a:spcPts val="650"/>
              </a:spcBef>
              <a:buClr>
                <a:srgbClr val="6697CC"/>
              </a:buClr>
              <a:buFont typeface="Arial"/>
              <a:buChar char="•"/>
              <a:tabLst>
                <a:tab pos="286385" algn="l"/>
              </a:tabLst>
            </a:pPr>
            <a:r>
              <a:rPr sz="2550" dirty="0">
                <a:latin typeface="Microsoft Sans Serif"/>
                <a:cs typeface="Microsoft Sans Serif"/>
              </a:rPr>
              <a:t>6.</a:t>
            </a:r>
            <a:r>
              <a:rPr sz="2550" spc="-4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Principal</a:t>
            </a:r>
            <a:r>
              <a:rPr sz="2550" spc="-50" dirty="0">
                <a:latin typeface="Microsoft Sans Serif"/>
                <a:cs typeface="Microsoft Sans Serif"/>
              </a:rPr>
              <a:t> </a:t>
            </a:r>
            <a:r>
              <a:rPr sz="2550" spc="50" dirty="0">
                <a:latin typeface="Microsoft Sans Serif"/>
                <a:cs typeface="Microsoft Sans Serif"/>
              </a:rPr>
              <a:t>Component</a:t>
            </a:r>
            <a:r>
              <a:rPr sz="2550" spc="-35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Analysis</a:t>
            </a:r>
            <a:endParaRPr sz="2550">
              <a:latin typeface="Microsoft Sans Serif"/>
              <a:cs typeface="Microsoft Sans Serif"/>
            </a:endParaRPr>
          </a:p>
          <a:p>
            <a:pPr marL="286385" indent="-273685">
              <a:lnSpc>
                <a:spcPct val="100000"/>
              </a:lnSpc>
              <a:spcBef>
                <a:spcPts val="645"/>
              </a:spcBef>
              <a:buClr>
                <a:srgbClr val="6697CC"/>
              </a:buClr>
              <a:buFont typeface="Arial"/>
              <a:buChar char="•"/>
              <a:tabLst>
                <a:tab pos="286385" algn="l"/>
              </a:tabLst>
            </a:pPr>
            <a:r>
              <a:rPr sz="2550" dirty="0">
                <a:latin typeface="Microsoft Sans Serif"/>
                <a:cs typeface="Microsoft Sans Serif"/>
              </a:rPr>
              <a:t>7.</a:t>
            </a:r>
            <a:r>
              <a:rPr sz="2550" spc="-70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Singular-</a:t>
            </a:r>
            <a:r>
              <a:rPr sz="2550" dirty="0">
                <a:latin typeface="Microsoft Sans Serif"/>
                <a:cs typeface="Microsoft Sans Serif"/>
              </a:rPr>
              <a:t>Value</a:t>
            </a:r>
            <a:r>
              <a:rPr sz="2550" spc="-60" dirty="0">
                <a:latin typeface="Microsoft Sans Serif"/>
                <a:cs typeface="Microsoft Sans Serif"/>
              </a:rPr>
              <a:t> </a:t>
            </a:r>
            <a:r>
              <a:rPr sz="2550" spc="40" dirty="0">
                <a:latin typeface="Microsoft Sans Serif"/>
                <a:cs typeface="Microsoft Sans Serif"/>
              </a:rPr>
              <a:t>Decomposition</a:t>
            </a:r>
            <a:endParaRPr sz="2550">
              <a:latin typeface="Microsoft Sans Serif"/>
              <a:cs typeface="Microsoft Sans Serif"/>
            </a:endParaRPr>
          </a:p>
          <a:p>
            <a:pPr marL="286385" indent="-273685">
              <a:lnSpc>
                <a:spcPct val="100000"/>
              </a:lnSpc>
              <a:spcBef>
                <a:spcPts val="650"/>
              </a:spcBef>
              <a:buClr>
                <a:srgbClr val="6697CC"/>
              </a:buClr>
              <a:buFont typeface="Arial"/>
              <a:buChar char="•"/>
              <a:tabLst>
                <a:tab pos="286385" algn="l"/>
              </a:tabLst>
            </a:pPr>
            <a:r>
              <a:rPr sz="2550" dirty="0">
                <a:latin typeface="Microsoft Sans Serif"/>
                <a:cs typeface="Microsoft Sans Serif"/>
              </a:rPr>
              <a:t>8.</a:t>
            </a:r>
            <a:r>
              <a:rPr sz="2550" spc="-114" dirty="0">
                <a:latin typeface="Microsoft Sans Serif"/>
                <a:cs typeface="Microsoft Sans Serif"/>
              </a:rPr>
              <a:t> </a:t>
            </a:r>
            <a:r>
              <a:rPr sz="2550" spc="90" dirty="0">
                <a:latin typeface="Microsoft Sans Serif"/>
                <a:cs typeface="Microsoft Sans Serif"/>
              </a:rPr>
              <a:t>Latent</a:t>
            </a:r>
            <a:r>
              <a:rPr sz="2550" spc="-11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Semantic</a:t>
            </a:r>
            <a:r>
              <a:rPr sz="2550" spc="-105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Analysis</a:t>
            </a:r>
            <a:endParaRPr sz="2550">
              <a:latin typeface="Microsoft Sans Serif"/>
              <a:cs typeface="Microsoft Sans Serif"/>
            </a:endParaRPr>
          </a:p>
          <a:p>
            <a:pPr marL="286385" indent="-273685">
              <a:lnSpc>
                <a:spcPct val="100000"/>
              </a:lnSpc>
              <a:spcBef>
                <a:spcPts val="655"/>
              </a:spcBef>
              <a:buClr>
                <a:srgbClr val="6697CC"/>
              </a:buClr>
              <a:buFont typeface="Arial"/>
              <a:buChar char="•"/>
              <a:tabLst>
                <a:tab pos="286385" algn="l"/>
              </a:tabLst>
            </a:pPr>
            <a:r>
              <a:rPr sz="2550" dirty="0">
                <a:latin typeface="Microsoft Sans Serif"/>
                <a:cs typeface="Microsoft Sans Serif"/>
              </a:rPr>
              <a:t>9.</a:t>
            </a:r>
            <a:r>
              <a:rPr sz="2550" spc="-1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Recommender</a:t>
            </a:r>
            <a:r>
              <a:rPr sz="2550" spc="5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Systems</a:t>
            </a:r>
            <a:endParaRPr sz="2550">
              <a:latin typeface="Microsoft Sans Serif"/>
              <a:cs typeface="Microsoft Sans Serif"/>
            </a:endParaRPr>
          </a:p>
          <a:p>
            <a:pPr marL="286385" indent="-273685">
              <a:lnSpc>
                <a:spcPct val="100000"/>
              </a:lnSpc>
              <a:spcBef>
                <a:spcPts val="650"/>
              </a:spcBef>
              <a:buClr>
                <a:srgbClr val="6697CC"/>
              </a:buClr>
              <a:buFont typeface="Arial"/>
              <a:buChar char="•"/>
              <a:tabLst>
                <a:tab pos="286385" algn="l"/>
              </a:tabLst>
            </a:pPr>
            <a:r>
              <a:rPr sz="2550" dirty="0">
                <a:latin typeface="Microsoft Sans Serif"/>
                <a:cs typeface="Microsoft Sans Serif"/>
              </a:rPr>
              <a:t>10.</a:t>
            </a:r>
            <a:r>
              <a:rPr sz="2550" spc="-5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Deep</a:t>
            </a:r>
            <a:r>
              <a:rPr sz="2550" spc="-45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Learning</a:t>
            </a:r>
            <a:endParaRPr sz="255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8742"/>
            <a:ext cx="42094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3200" i="1" dirty="0">
                <a:latin typeface="Arial"/>
                <a:cs typeface="Arial"/>
              </a:rPr>
              <a:t>Practical</a:t>
            </a:r>
            <a:r>
              <a:rPr sz="3200" i="1" spc="-125" dirty="0">
                <a:latin typeface="Arial"/>
                <a:cs typeface="Arial"/>
              </a:rPr>
              <a:t> </a:t>
            </a:r>
            <a:r>
              <a:rPr sz="3200" i="1" spc="150" dirty="0">
                <a:latin typeface="Arial"/>
                <a:cs typeface="Arial"/>
              </a:rPr>
              <a:t>with</a:t>
            </a:r>
            <a:r>
              <a:rPr sz="3200" i="1" spc="-130" dirty="0">
                <a:latin typeface="Arial"/>
                <a:cs typeface="Arial"/>
              </a:rPr>
              <a:t> </a:t>
            </a:r>
            <a:r>
              <a:rPr sz="3200" i="1" spc="-60" dirty="0">
                <a:latin typeface="Arial"/>
                <a:cs typeface="Arial"/>
              </a:rPr>
              <a:t>NumPy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Vector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948295" cy="3210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86360" indent="-343535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Microsoft Sans Serif"/>
                <a:cs typeface="Microsoft Sans Serif"/>
              </a:rPr>
              <a:t>A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vector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is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10" dirty="0">
                <a:latin typeface="Microsoft Sans Serif"/>
                <a:cs typeface="Microsoft Sans Serif"/>
              </a:rPr>
              <a:t>a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14" dirty="0">
                <a:latin typeface="Microsoft Sans Serif"/>
                <a:cs typeface="Microsoft Sans Serif"/>
              </a:rPr>
              <a:t>tuple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80" dirty="0">
                <a:latin typeface="Microsoft Sans Serif"/>
                <a:cs typeface="Microsoft Sans Serif"/>
              </a:rPr>
              <a:t>of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one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00" dirty="0">
                <a:latin typeface="Microsoft Sans Serif"/>
                <a:cs typeface="Microsoft Sans Serif"/>
              </a:rPr>
              <a:t>or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65" dirty="0">
                <a:latin typeface="Microsoft Sans Serif"/>
                <a:cs typeface="Microsoft Sans Serif"/>
              </a:rPr>
              <a:t>more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values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called scalars.</a:t>
            </a:r>
            <a:endParaRPr sz="2800">
              <a:latin typeface="Microsoft Sans Serif"/>
              <a:cs typeface="Microsoft Sans Serif"/>
            </a:endParaRPr>
          </a:p>
          <a:p>
            <a:pPr marL="355600" marR="245745" indent="-343535">
              <a:lnSpc>
                <a:spcPct val="100000"/>
              </a:lnSpc>
              <a:spcBef>
                <a:spcPts val="78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Microsoft Sans Serif"/>
                <a:cs typeface="Microsoft Sans Serif"/>
              </a:rPr>
              <a:t>Vectors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are</a:t>
            </a:r>
            <a:r>
              <a:rPr sz="2800" spc="20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built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spc="145" dirty="0">
                <a:latin typeface="Microsoft Sans Serif"/>
                <a:cs typeface="Microsoft Sans Serif"/>
              </a:rPr>
              <a:t>from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components,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which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are </a:t>
            </a:r>
            <a:r>
              <a:rPr sz="2800" dirty="0">
                <a:latin typeface="Microsoft Sans Serif"/>
                <a:cs typeface="Microsoft Sans Serif"/>
              </a:rPr>
              <a:t>ordinary</a:t>
            </a:r>
            <a:r>
              <a:rPr sz="2800" spc="29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numbers.</a:t>
            </a:r>
            <a:endParaRPr sz="2800">
              <a:latin typeface="Microsoft Sans Serif"/>
              <a:cs typeface="Microsoft Sans Serif"/>
            </a:endParaRPr>
          </a:p>
          <a:p>
            <a:pPr marL="355600" marR="508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spc="-20" dirty="0">
                <a:latin typeface="Microsoft Sans Serif"/>
                <a:cs typeface="Microsoft Sans Serif"/>
              </a:rPr>
              <a:t>You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55" dirty="0">
                <a:latin typeface="Microsoft Sans Serif"/>
                <a:cs typeface="Microsoft Sans Serif"/>
              </a:rPr>
              <a:t>can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105" dirty="0">
                <a:latin typeface="Microsoft Sans Serif"/>
                <a:cs typeface="Microsoft Sans Serif"/>
              </a:rPr>
              <a:t>think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85" dirty="0">
                <a:latin typeface="Microsoft Sans Serif"/>
                <a:cs typeface="Microsoft Sans Serif"/>
              </a:rPr>
              <a:t>of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110" dirty="0">
                <a:latin typeface="Microsoft Sans Serif"/>
                <a:cs typeface="Microsoft Sans Serif"/>
              </a:rPr>
              <a:t>a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vector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140" dirty="0">
                <a:latin typeface="Microsoft Sans Serif"/>
                <a:cs typeface="Microsoft Sans Serif"/>
              </a:rPr>
              <a:t>as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110" dirty="0">
                <a:latin typeface="Microsoft Sans Serif"/>
                <a:cs typeface="Microsoft Sans Serif"/>
              </a:rPr>
              <a:t>a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list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185" dirty="0">
                <a:latin typeface="Microsoft Sans Serif"/>
                <a:cs typeface="Microsoft Sans Serif"/>
              </a:rPr>
              <a:t>of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numbers, </a:t>
            </a:r>
            <a:r>
              <a:rPr sz="2800" dirty="0">
                <a:latin typeface="Microsoft Sans Serif"/>
                <a:cs typeface="Microsoft Sans Serif"/>
              </a:rPr>
              <a:t>and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vector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algebra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-140" dirty="0">
                <a:latin typeface="Microsoft Sans Serif"/>
                <a:cs typeface="Microsoft Sans Serif"/>
              </a:rPr>
              <a:t>as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operations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performed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on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numbers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in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45" dirty="0">
                <a:latin typeface="Microsoft Sans Serif"/>
                <a:cs typeface="Microsoft Sans Serif"/>
              </a:rPr>
              <a:t>list.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45459" y="6147980"/>
            <a:ext cx="5474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003366"/>
                </a:solidFill>
                <a:latin typeface="Arial"/>
                <a:cs typeface="Arial"/>
              </a:rPr>
              <a:t>Reference:</a:t>
            </a:r>
            <a:r>
              <a:rPr sz="1800" i="1" spc="-4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003366"/>
                </a:solidFill>
                <a:latin typeface="Arial"/>
                <a:cs typeface="Arial"/>
              </a:rPr>
              <a:t>No</a:t>
            </a:r>
            <a:r>
              <a:rPr sz="1800" i="1" spc="-4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003366"/>
                </a:solidFill>
                <a:latin typeface="Arial"/>
                <a:cs typeface="Arial"/>
              </a:rPr>
              <a:t>Bullshit</a:t>
            </a:r>
            <a:r>
              <a:rPr sz="1800" i="1" spc="-4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003366"/>
                </a:solidFill>
                <a:latin typeface="Arial"/>
                <a:cs typeface="Arial"/>
              </a:rPr>
              <a:t>Guide</a:t>
            </a:r>
            <a:r>
              <a:rPr sz="1800" i="1" spc="-4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003366"/>
                </a:solidFill>
                <a:latin typeface="Arial"/>
                <a:cs typeface="Arial"/>
              </a:rPr>
              <a:t>To</a:t>
            </a:r>
            <a:r>
              <a:rPr sz="1800" i="1" spc="-4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003366"/>
                </a:solidFill>
                <a:latin typeface="Arial"/>
                <a:cs typeface="Arial"/>
              </a:rPr>
              <a:t>Linear</a:t>
            </a:r>
            <a:r>
              <a:rPr sz="1800" i="1" spc="-3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003366"/>
                </a:solidFill>
                <a:latin typeface="Arial"/>
                <a:cs typeface="Arial"/>
              </a:rPr>
              <a:t>Algebra,</a:t>
            </a:r>
            <a:r>
              <a:rPr sz="1800" i="1" spc="-3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800" i="1" spc="-20" dirty="0">
                <a:solidFill>
                  <a:srgbClr val="003366"/>
                </a:solidFill>
                <a:latin typeface="Arial"/>
                <a:cs typeface="Arial"/>
              </a:rPr>
              <a:t>2017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22959" y="5195963"/>
            <a:ext cx="1349155" cy="118058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Vector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17662"/>
            <a:ext cx="7875905" cy="331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90550" indent="-343535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Microsoft Sans Serif"/>
                <a:cs typeface="Microsoft Sans Serif"/>
              </a:rPr>
              <a:t>Vectors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are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145" dirty="0">
                <a:latin typeface="Microsoft Sans Serif"/>
                <a:cs typeface="Microsoft Sans Serif"/>
              </a:rPr>
              <a:t>often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represented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using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a </a:t>
            </a:r>
            <a:r>
              <a:rPr sz="2800" dirty="0">
                <a:latin typeface="Microsoft Sans Serif"/>
                <a:cs typeface="Microsoft Sans Serif"/>
              </a:rPr>
              <a:t>lowercase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character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-45" dirty="0">
                <a:latin typeface="Microsoft Sans Serif"/>
                <a:cs typeface="Microsoft Sans Serif"/>
              </a:rPr>
              <a:t>such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-140" dirty="0">
                <a:latin typeface="Microsoft Sans Serif"/>
                <a:cs typeface="Microsoft Sans Serif"/>
              </a:rPr>
              <a:t>as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-30" dirty="0">
                <a:latin typeface="Microsoft Sans Serif"/>
                <a:cs typeface="Microsoft Sans Serif"/>
              </a:rPr>
              <a:t>v;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165" dirty="0">
                <a:latin typeface="Microsoft Sans Serif"/>
                <a:cs typeface="Microsoft Sans Serif"/>
              </a:rPr>
              <a:t>for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example:</a:t>
            </a:r>
            <a:endParaRPr sz="2800">
              <a:latin typeface="Microsoft Sans Serif"/>
              <a:cs typeface="Microsoft Sans Serif"/>
            </a:endParaRPr>
          </a:p>
          <a:p>
            <a:pPr marL="346075" algn="ctr">
              <a:lnSpc>
                <a:spcPct val="100000"/>
              </a:lnSpc>
              <a:spcBef>
                <a:spcPts val="780"/>
              </a:spcBef>
            </a:pPr>
            <a:r>
              <a:rPr sz="2800" i="1" spc="-60" dirty="0">
                <a:latin typeface="Arial"/>
                <a:cs typeface="Arial"/>
              </a:rPr>
              <a:t>v</a:t>
            </a:r>
            <a:r>
              <a:rPr sz="2800" i="1" spc="-140" dirty="0">
                <a:latin typeface="Arial"/>
                <a:cs typeface="Arial"/>
              </a:rPr>
              <a:t> </a:t>
            </a:r>
            <a:r>
              <a:rPr sz="2800" i="1" spc="-70" dirty="0">
                <a:latin typeface="Arial"/>
                <a:cs typeface="Arial"/>
              </a:rPr>
              <a:t>=</a:t>
            </a:r>
            <a:r>
              <a:rPr sz="2800" i="1" spc="-140" dirty="0">
                <a:latin typeface="Arial"/>
                <a:cs typeface="Arial"/>
              </a:rPr>
              <a:t> </a:t>
            </a:r>
            <a:r>
              <a:rPr sz="2800" i="1" spc="-35" dirty="0">
                <a:latin typeface="Arial"/>
                <a:cs typeface="Arial"/>
              </a:rPr>
              <a:t>(v1</a:t>
            </a:r>
            <a:r>
              <a:rPr sz="2800" i="1" spc="-160" dirty="0">
                <a:latin typeface="Arial"/>
                <a:cs typeface="Arial"/>
              </a:rPr>
              <a:t> </a:t>
            </a:r>
            <a:r>
              <a:rPr sz="2800" i="1" spc="-100" dirty="0">
                <a:latin typeface="Arial"/>
                <a:cs typeface="Arial"/>
              </a:rPr>
              <a:t>,</a:t>
            </a:r>
            <a:r>
              <a:rPr sz="2800" i="1" spc="-140" dirty="0">
                <a:latin typeface="Arial"/>
                <a:cs typeface="Arial"/>
              </a:rPr>
              <a:t> </a:t>
            </a:r>
            <a:r>
              <a:rPr sz="2800" i="1" spc="-10" dirty="0">
                <a:latin typeface="Arial"/>
                <a:cs typeface="Arial"/>
              </a:rPr>
              <a:t>v2</a:t>
            </a:r>
            <a:r>
              <a:rPr sz="2800" i="1" spc="-185" dirty="0">
                <a:latin typeface="Arial"/>
                <a:cs typeface="Arial"/>
              </a:rPr>
              <a:t> </a:t>
            </a:r>
            <a:r>
              <a:rPr sz="2800" i="1" spc="-100" dirty="0">
                <a:latin typeface="Arial"/>
                <a:cs typeface="Arial"/>
              </a:rPr>
              <a:t>,</a:t>
            </a:r>
            <a:r>
              <a:rPr sz="2800" i="1" spc="-14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v3</a:t>
            </a:r>
            <a:r>
              <a:rPr sz="2800" i="1" spc="-150" dirty="0">
                <a:latin typeface="Arial"/>
                <a:cs typeface="Arial"/>
              </a:rPr>
              <a:t> </a:t>
            </a:r>
            <a:r>
              <a:rPr sz="2800" i="1" spc="-50" dirty="0"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  <a:p>
            <a:pPr marL="355600" marR="5080" indent="-343535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Microsoft Sans Serif"/>
                <a:cs typeface="Microsoft Sans Serif"/>
              </a:rPr>
              <a:t>Where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v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1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100" dirty="0">
                <a:latin typeface="Microsoft Sans Serif"/>
                <a:cs typeface="Microsoft Sans Serif"/>
              </a:rPr>
              <a:t>,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v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2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100" dirty="0">
                <a:latin typeface="Microsoft Sans Serif"/>
                <a:cs typeface="Microsoft Sans Serif"/>
              </a:rPr>
              <a:t>,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v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3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are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30" dirty="0">
                <a:latin typeface="Microsoft Sans Serif"/>
                <a:cs typeface="Microsoft Sans Serif"/>
              </a:rPr>
              <a:t>scalar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values,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45" dirty="0">
                <a:latin typeface="Microsoft Sans Serif"/>
                <a:cs typeface="Microsoft Sans Serif"/>
              </a:rPr>
              <a:t>often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real </a:t>
            </a:r>
            <a:r>
              <a:rPr sz="2800" spc="-10" dirty="0">
                <a:latin typeface="Microsoft Sans Serif"/>
                <a:cs typeface="Microsoft Sans Serif"/>
              </a:rPr>
              <a:t>values.</a:t>
            </a:r>
            <a:endParaRPr sz="2800">
              <a:latin typeface="Microsoft Sans Serif"/>
              <a:cs typeface="Microsoft Sans Serif"/>
            </a:endParaRPr>
          </a:p>
          <a:p>
            <a:pPr marL="355600" marR="936625" indent="-343535">
              <a:lnSpc>
                <a:spcPct val="100000"/>
              </a:lnSpc>
              <a:spcBef>
                <a:spcPts val="78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Microsoft Sans Serif"/>
                <a:cs typeface="Microsoft Sans Serif"/>
              </a:rPr>
              <a:t>Vectors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are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also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shown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using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-110" dirty="0">
                <a:latin typeface="Microsoft Sans Serif"/>
                <a:cs typeface="Microsoft Sans Serif"/>
              </a:rPr>
              <a:t>a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40" dirty="0">
                <a:latin typeface="Microsoft Sans Serif"/>
                <a:cs typeface="Microsoft Sans Serif"/>
              </a:rPr>
              <a:t>vertical </a:t>
            </a:r>
            <a:r>
              <a:rPr sz="2800" spc="60" dirty="0">
                <a:latin typeface="Microsoft Sans Serif"/>
                <a:cs typeface="Microsoft Sans Serif"/>
              </a:rPr>
              <a:t>representation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100" dirty="0">
                <a:latin typeface="Microsoft Sans Serif"/>
                <a:cs typeface="Microsoft Sans Serif"/>
              </a:rPr>
              <a:t>or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-110" dirty="0">
                <a:latin typeface="Microsoft Sans Serif"/>
                <a:cs typeface="Microsoft Sans Serif"/>
              </a:rPr>
              <a:t>a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column;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165" dirty="0">
                <a:latin typeface="Microsoft Sans Serif"/>
                <a:cs typeface="Microsoft Sans Serif"/>
              </a:rPr>
              <a:t>for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example: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Vector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856855" cy="4396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7345" marR="5080" indent="-335280">
              <a:lnSpc>
                <a:spcPct val="99500"/>
              </a:lnSpc>
              <a:spcBef>
                <a:spcPts val="105"/>
              </a:spcBef>
              <a:buClr>
                <a:srgbClr val="6697CC"/>
              </a:buClr>
              <a:buFont typeface="Arial"/>
              <a:buChar char="•"/>
              <a:tabLst>
                <a:tab pos="347345" algn="l"/>
              </a:tabLst>
            </a:pPr>
            <a:r>
              <a:rPr sz="2750" spc="145" dirty="0">
                <a:latin typeface="Microsoft Sans Serif"/>
                <a:cs typeface="Microsoft Sans Serif"/>
              </a:rPr>
              <a:t>It</a:t>
            </a:r>
            <a:r>
              <a:rPr sz="2750" spc="-45" dirty="0">
                <a:latin typeface="Microsoft Sans Serif"/>
                <a:cs typeface="Microsoft Sans Serif"/>
              </a:rPr>
              <a:t> </a:t>
            </a:r>
            <a:r>
              <a:rPr sz="2750" spc="-20" dirty="0">
                <a:latin typeface="Microsoft Sans Serif"/>
                <a:cs typeface="Microsoft Sans Serif"/>
              </a:rPr>
              <a:t>is</a:t>
            </a:r>
            <a:r>
              <a:rPr sz="2750" spc="-40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common</a:t>
            </a:r>
            <a:r>
              <a:rPr sz="2750" spc="-55" dirty="0">
                <a:latin typeface="Microsoft Sans Serif"/>
                <a:cs typeface="Microsoft Sans Serif"/>
              </a:rPr>
              <a:t> </a:t>
            </a:r>
            <a:r>
              <a:rPr sz="2750" spc="215" dirty="0">
                <a:latin typeface="Microsoft Sans Serif"/>
                <a:cs typeface="Microsoft Sans Serif"/>
              </a:rPr>
              <a:t>to</a:t>
            </a:r>
            <a:r>
              <a:rPr sz="2750" spc="-50" dirty="0">
                <a:latin typeface="Microsoft Sans Serif"/>
                <a:cs typeface="Microsoft Sans Serif"/>
              </a:rPr>
              <a:t> </a:t>
            </a:r>
            <a:r>
              <a:rPr sz="2750" spc="55" dirty="0">
                <a:latin typeface="Microsoft Sans Serif"/>
                <a:cs typeface="Microsoft Sans Serif"/>
              </a:rPr>
              <a:t>represent</a:t>
            </a:r>
            <a:r>
              <a:rPr sz="2750" spc="-40" dirty="0">
                <a:latin typeface="Microsoft Sans Serif"/>
                <a:cs typeface="Microsoft Sans Serif"/>
              </a:rPr>
              <a:t> </a:t>
            </a:r>
            <a:r>
              <a:rPr sz="2750" spc="114" dirty="0">
                <a:latin typeface="Microsoft Sans Serif"/>
                <a:cs typeface="Microsoft Sans Serif"/>
              </a:rPr>
              <a:t>the</a:t>
            </a:r>
            <a:r>
              <a:rPr sz="2750" spc="-55" dirty="0">
                <a:latin typeface="Microsoft Sans Serif"/>
                <a:cs typeface="Microsoft Sans Serif"/>
              </a:rPr>
              <a:t> </a:t>
            </a:r>
            <a:r>
              <a:rPr sz="2750" spc="120" dirty="0">
                <a:latin typeface="Microsoft Sans Serif"/>
                <a:cs typeface="Microsoft Sans Serif"/>
              </a:rPr>
              <a:t>target</a:t>
            </a:r>
            <a:r>
              <a:rPr sz="2750" spc="-40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variable</a:t>
            </a:r>
            <a:r>
              <a:rPr sz="2750" spc="-55" dirty="0">
                <a:latin typeface="Microsoft Sans Serif"/>
                <a:cs typeface="Microsoft Sans Serif"/>
              </a:rPr>
              <a:t> </a:t>
            </a:r>
            <a:r>
              <a:rPr sz="2750" spc="-25" dirty="0">
                <a:latin typeface="Microsoft Sans Serif"/>
                <a:cs typeface="Microsoft Sans Serif"/>
              </a:rPr>
              <a:t>as </a:t>
            </a:r>
            <a:r>
              <a:rPr sz="2750" spc="-110" dirty="0">
                <a:latin typeface="Microsoft Sans Serif"/>
                <a:cs typeface="Microsoft Sans Serif"/>
              </a:rPr>
              <a:t>a</a:t>
            </a:r>
            <a:r>
              <a:rPr sz="2750" spc="-55" dirty="0">
                <a:latin typeface="Microsoft Sans Serif"/>
                <a:cs typeface="Microsoft Sans Serif"/>
              </a:rPr>
              <a:t> </a:t>
            </a:r>
            <a:r>
              <a:rPr sz="2750" spc="65" dirty="0">
                <a:latin typeface="Microsoft Sans Serif"/>
                <a:cs typeface="Microsoft Sans Serif"/>
              </a:rPr>
              <a:t>vector</a:t>
            </a:r>
            <a:r>
              <a:rPr sz="2750" spc="-55" dirty="0">
                <a:latin typeface="Microsoft Sans Serif"/>
                <a:cs typeface="Microsoft Sans Serif"/>
              </a:rPr>
              <a:t> </a:t>
            </a:r>
            <a:r>
              <a:rPr sz="2750" spc="135" dirty="0">
                <a:latin typeface="Microsoft Sans Serif"/>
                <a:cs typeface="Microsoft Sans Serif"/>
              </a:rPr>
              <a:t>with</a:t>
            </a:r>
            <a:r>
              <a:rPr sz="2750" spc="-60" dirty="0">
                <a:latin typeface="Microsoft Sans Serif"/>
                <a:cs typeface="Microsoft Sans Serif"/>
              </a:rPr>
              <a:t> </a:t>
            </a:r>
            <a:r>
              <a:rPr sz="2750" spc="114" dirty="0">
                <a:latin typeface="Microsoft Sans Serif"/>
                <a:cs typeface="Microsoft Sans Serif"/>
              </a:rPr>
              <a:t>the</a:t>
            </a:r>
            <a:r>
              <a:rPr sz="2750" spc="-65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lowercase</a:t>
            </a:r>
            <a:r>
              <a:rPr sz="2750" spc="-65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y</a:t>
            </a:r>
            <a:r>
              <a:rPr sz="2750" spc="-65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when</a:t>
            </a:r>
            <a:r>
              <a:rPr sz="2750" spc="-55" dirty="0">
                <a:latin typeface="Microsoft Sans Serif"/>
                <a:cs typeface="Microsoft Sans Serif"/>
              </a:rPr>
              <a:t> </a:t>
            </a:r>
            <a:r>
              <a:rPr sz="2750" spc="-10" dirty="0">
                <a:latin typeface="Microsoft Sans Serif"/>
                <a:cs typeface="Microsoft Sans Serif"/>
              </a:rPr>
              <a:t>describing </a:t>
            </a:r>
            <a:r>
              <a:rPr sz="2750" spc="120" dirty="0">
                <a:latin typeface="Microsoft Sans Serif"/>
                <a:cs typeface="Microsoft Sans Serif"/>
              </a:rPr>
              <a:t>the</a:t>
            </a:r>
            <a:r>
              <a:rPr sz="2750" spc="-60" dirty="0">
                <a:latin typeface="Microsoft Sans Serif"/>
                <a:cs typeface="Microsoft Sans Serif"/>
              </a:rPr>
              <a:t> </a:t>
            </a:r>
            <a:r>
              <a:rPr sz="2750" spc="75" dirty="0">
                <a:latin typeface="Microsoft Sans Serif"/>
                <a:cs typeface="Microsoft Sans Serif"/>
              </a:rPr>
              <a:t>training</a:t>
            </a:r>
            <a:r>
              <a:rPr sz="2750" spc="-50" dirty="0">
                <a:latin typeface="Microsoft Sans Serif"/>
                <a:cs typeface="Microsoft Sans Serif"/>
              </a:rPr>
              <a:t> </a:t>
            </a:r>
            <a:r>
              <a:rPr sz="2750" spc="180" dirty="0">
                <a:latin typeface="Microsoft Sans Serif"/>
                <a:cs typeface="Microsoft Sans Serif"/>
              </a:rPr>
              <a:t>of</a:t>
            </a:r>
            <a:r>
              <a:rPr sz="2750" spc="-50" dirty="0">
                <a:latin typeface="Microsoft Sans Serif"/>
                <a:cs typeface="Microsoft Sans Serif"/>
              </a:rPr>
              <a:t> </a:t>
            </a:r>
            <a:r>
              <a:rPr sz="2750" spc="-110" dirty="0">
                <a:latin typeface="Microsoft Sans Serif"/>
                <a:cs typeface="Microsoft Sans Serif"/>
              </a:rPr>
              <a:t>a</a:t>
            </a:r>
            <a:r>
              <a:rPr sz="2750" spc="-50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machine</a:t>
            </a:r>
            <a:r>
              <a:rPr sz="2750" spc="-55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learning</a:t>
            </a:r>
            <a:r>
              <a:rPr sz="2750" spc="-45" dirty="0">
                <a:latin typeface="Microsoft Sans Serif"/>
                <a:cs typeface="Microsoft Sans Serif"/>
              </a:rPr>
              <a:t> </a:t>
            </a:r>
            <a:r>
              <a:rPr sz="2750" spc="55" dirty="0">
                <a:latin typeface="Microsoft Sans Serif"/>
                <a:cs typeface="Microsoft Sans Serif"/>
              </a:rPr>
              <a:t>algorithm.</a:t>
            </a:r>
            <a:endParaRPr sz="2750">
              <a:latin typeface="Microsoft Sans Serif"/>
              <a:cs typeface="Microsoft Sans Serif"/>
            </a:endParaRPr>
          </a:p>
          <a:p>
            <a:pPr marL="347345" marR="13970" indent="-335280">
              <a:lnSpc>
                <a:spcPct val="99600"/>
              </a:lnSpc>
              <a:spcBef>
                <a:spcPts val="785"/>
              </a:spcBef>
              <a:buClr>
                <a:srgbClr val="6697CC"/>
              </a:buClr>
              <a:buFont typeface="Arial"/>
              <a:buChar char="•"/>
              <a:tabLst>
                <a:tab pos="347345" algn="l"/>
              </a:tabLst>
            </a:pPr>
            <a:r>
              <a:rPr sz="2750" spc="145" dirty="0">
                <a:latin typeface="Microsoft Sans Serif"/>
                <a:cs typeface="Microsoft Sans Serif"/>
              </a:rPr>
              <a:t>It</a:t>
            </a:r>
            <a:r>
              <a:rPr sz="2750" spc="-25" dirty="0">
                <a:latin typeface="Microsoft Sans Serif"/>
                <a:cs typeface="Microsoft Sans Serif"/>
              </a:rPr>
              <a:t> </a:t>
            </a:r>
            <a:r>
              <a:rPr sz="2750" spc="-20" dirty="0">
                <a:latin typeface="Microsoft Sans Serif"/>
                <a:cs typeface="Microsoft Sans Serif"/>
              </a:rPr>
              <a:t>is</a:t>
            </a:r>
            <a:r>
              <a:rPr sz="2750" spc="-25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common</a:t>
            </a:r>
            <a:r>
              <a:rPr sz="2750" spc="-40" dirty="0">
                <a:latin typeface="Microsoft Sans Serif"/>
                <a:cs typeface="Microsoft Sans Serif"/>
              </a:rPr>
              <a:t> </a:t>
            </a:r>
            <a:r>
              <a:rPr sz="2750" spc="215" dirty="0">
                <a:latin typeface="Microsoft Sans Serif"/>
                <a:cs typeface="Microsoft Sans Serif"/>
              </a:rPr>
              <a:t>to</a:t>
            </a:r>
            <a:r>
              <a:rPr sz="2750" spc="-30" dirty="0">
                <a:latin typeface="Microsoft Sans Serif"/>
                <a:cs typeface="Microsoft Sans Serif"/>
              </a:rPr>
              <a:t> </a:t>
            </a:r>
            <a:r>
              <a:rPr sz="2750" spc="70" dirty="0">
                <a:latin typeface="Microsoft Sans Serif"/>
                <a:cs typeface="Microsoft Sans Serif"/>
              </a:rPr>
              <a:t>introduce</a:t>
            </a:r>
            <a:r>
              <a:rPr sz="2750" spc="-35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vectors</a:t>
            </a:r>
            <a:r>
              <a:rPr sz="2750" spc="-25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using</a:t>
            </a:r>
            <a:r>
              <a:rPr sz="2750" spc="-30" dirty="0">
                <a:latin typeface="Microsoft Sans Serif"/>
                <a:cs typeface="Microsoft Sans Serif"/>
              </a:rPr>
              <a:t> </a:t>
            </a:r>
            <a:r>
              <a:rPr sz="2750" spc="-50" dirty="0">
                <a:latin typeface="Microsoft Sans Serif"/>
                <a:cs typeface="Microsoft Sans Serif"/>
              </a:rPr>
              <a:t>a </a:t>
            </a:r>
            <a:r>
              <a:rPr sz="2750" spc="60" dirty="0">
                <a:latin typeface="Microsoft Sans Serif"/>
                <a:cs typeface="Microsoft Sans Serif"/>
              </a:rPr>
              <a:t>geometric</a:t>
            </a:r>
            <a:r>
              <a:rPr sz="2750" spc="-40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analogy,</a:t>
            </a:r>
            <a:r>
              <a:rPr sz="2750" spc="-25" dirty="0">
                <a:latin typeface="Microsoft Sans Serif"/>
                <a:cs typeface="Microsoft Sans Serif"/>
              </a:rPr>
              <a:t> </a:t>
            </a:r>
            <a:r>
              <a:rPr sz="2750" spc="50" dirty="0">
                <a:latin typeface="Microsoft Sans Serif"/>
                <a:cs typeface="Microsoft Sans Serif"/>
              </a:rPr>
              <a:t>where</a:t>
            </a:r>
            <a:r>
              <a:rPr sz="2750" spc="-45" dirty="0">
                <a:latin typeface="Microsoft Sans Serif"/>
                <a:cs typeface="Microsoft Sans Serif"/>
              </a:rPr>
              <a:t> </a:t>
            </a:r>
            <a:r>
              <a:rPr sz="2750" spc="-110" dirty="0">
                <a:latin typeface="Microsoft Sans Serif"/>
                <a:cs typeface="Microsoft Sans Serif"/>
              </a:rPr>
              <a:t>a</a:t>
            </a:r>
            <a:r>
              <a:rPr sz="2750" spc="-25" dirty="0">
                <a:latin typeface="Microsoft Sans Serif"/>
                <a:cs typeface="Microsoft Sans Serif"/>
              </a:rPr>
              <a:t> </a:t>
            </a:r>
            <a:r>
              <a:rPr sz="2750" spc="65" dirty="0">
                <a:latin typeface="Microsoft Sans Serif"/>
                <a:cs typeface="Microsoft Sans Serif"/>
              </a:rPr>
              <a:t>vector</a:t>
            </a:r>
            <a:r>
              <a:rPr sz="2750" spc="-30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represents</a:t>
            </a:r>
            <a:r>
              <a:rPr sz="2750" spc="-30" dirty="0">
                <a:latin typeface="Microsoft Sans Serif"/>
                <a:cs typeface="Microsoft Sans Serif"/>
              </a:rPr>
              <a:t> </a:t>
            </a:r>
            <a:r>
              <a:rPr sz="2750" spc="-50" dirty="0">
                <a:latin typeface="Microsoft Sans Serif"/>
                <a:cs typeface="Microsoft Sans Serif"/>
              </a:rPr>
              <a:t>a </a:t>
            </a:r>
            <a:r>
              <a:rPr sz="2750" spc="114" dirty="0">
                <a:latin typeface="Microsoft Sans Serif"/>
                <a:cs typeface="Microsoft Sans Serif"/>
              </a:rPr>
              <a:t>point</a:t>
            </a:r>
            <a:r>
              <a:rPr sz="2750" spc="-65" dirty="0">
                <a:latin typeface="Microsoft Sans Serif"/>
                <a:cs typeface="Microsoft Sans Serif"/>
              </a:rPr>
              <a:t> </a:t>
            </a:r>
            <a:r>
              <a:rPr sz="2750" spc="105" dirty="0">
                <a:latin typeface="Microsoft Sans Serif"/>
                <a:cs typeface="Microsoft Sans Serif"/>
              </a:rPr>
              <a:t>or</a:t>
            </a:r>
            <a:r>
              <a:rPr sz="2750" spc="-70" dirty="0">
                <a:latin typeface="Microsoft Sans Serif"/>
                <a:cs typeface="Microsoft Sans Serif"/>
              </a:rPr>
              <a:t> </a:t>
            </a:r>
            <a:r>
              <a:rPr sz="2750" spc="55" dirty="0">
                <a:latin typeface="Microsoft Sans Serif"/>
                <a:cs typeface="Microsoft Sans Serif"/>
              </a:rPr>
              <a:t>coordinate</a:t>
            </a:r>
            <a:r>
              <a:rPr sz="2750" spc="-75" dirty="0">
                <a:latin typeface="Microsoft Sans Serif"/>
                <a:cs typeface="Microsoft Sans Serif"/>
              </a:rPr>
              <a:t> </a:t>
            </a:r>
            <a:r>
              <a:rPr sz="2750" spc="50" dirty="0">
                <a:latin typeface="Microsoft Sans Serif"/>
                <a:cs typeface="Microsoft Sans Serif"/>
              </a:rPr>
              <a:t>in</a:t>
            </a:r>
            <a:r>
              <a:rPr sz="2750" spc="-65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an</a:t>
            </a:r>
            <a:r>
              <a:rPr sz="2750" spc="-65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n-dimensional</a:t>
            </a:r>
            <a:r>
              <a:rPr sz="2750" spc="-60" dirty="0">
                <a:latin typeface="Microsoft Sans Serif"/>
                <a:cs typeface="Microsoft Sans Serif"/>
              </a:rPr>
              <a:t> </a:t>
            </a:r>
            <a:r>
              <a:rPr sz="2750" spc="-10" dirty="0">
                <a:latin typeface="Microsoft Sans Serif"/>
                <a:cs typeface="Microsoft Sans Serif"/>
              </a:rPr>
              <a:t>space, </a:t>
            </a:r>
            <a:r>
              <a:rPr sz="2750" spc="55" dirty="0">
                <a:latin typeface="Microsoft Sans Serif"/>
                <a:cs typeface="Microsoft Sans Serif"/>
              </a:rPr>
              <a:t>where</a:t>
            </a:r>
            <a:r>
              <a:rPr sz="2750" spc="-105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n</a:t>
            </a:r>
            <a:r>
              <a:rPr sz="2750" spc="-105" dirty="0">
                <a:latin typeface="Microsoft Sans Serif"/>
                <a:cs typeface="Microsoft Sans Serif"/>
              </a:rPr>
              <a:t> </a:t>
            </a:r>
            <a:r>
              <a:rPr sz="2750" spc="-20" dirty="0">
                <a:latin typeface="Microsoft Sans Serif"/>
                <a:cs typeface="Microsoft Sans Serif"/>
              </a:rPr>
              <a:t>is</a:t>
            </a:r>
            <a:r>
              <a:rPr sz="2750" spc="-95" dirty="0">
                <a:latin typeface="Microsoft Sans Serif"/>
                <a:cs typeface="Microsoft Sans Serif"/>
              </a:rPr>
              <a:t> </a:t>
            </a:r>
            <a:r>
              <a:rPr sz="2750" spc="114" dirty="0">
                <a:latin typeface="Microsoft Sans Serif"/>
                <a:cs typeface="Microsoft Sans Serif"/>
              </a:rPr>
              <a:t>the</a:t>
            </a:r>
            <a:r>
              <a:rPr sz="2750" spc="-105" dirty="0">
                <a:latin typeface="Microsoft Sans Serif"/>
                <a:cs typeface="Microsoft Sans Serif"/>
              </a:rPr>
              <a:t> </a:t>
            </a:r>
            <a:r>
              <a:rPr sz="2750" spc="55" dirty="0">
                <a:latin typeface="Microsoft Sans Serif"/>
                <a:cs typeface="Microsoft Sans Serif"/>
              </a:rPr>
              <a:t>number</a:t>
            </a:r>
            <a:r>
              <a:rPr sz="2750" spc="-100" dirty="0">
                <a:latin typeface="Microsoft Sans Serif"/>
                <a:cs typeface="Microsoft Sans Serif"/>
              </a:rPr>
              <a:t> </a:t>
            </a:r>
            <a:r>
              <a:rPr sz="2750" spc="180" dirty="0">
                <a:latin typeface="Microsoft Sans Serif"/>
                <a:cs typeface="Microsoft Sans Serif"/>
              </a:rPr>
              <a:t>of</a:t>
            </a:r>
            <a:r>
              <a:rPr sz="2750" spc="-95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dimensions,</a:t>
            </a:r>
            <a:r>
              <a:rPr sz="2750" spc="-95" dirty="0">
                <a:latin typeface="Microsoft Sans Serif"/>
                <a:cs typeface="Microsoft Sans Serif"/>
              </a:rPr>
              <a:t> </a:t>
            </a:r>
            <a:r>
              <a:rPr sz="2750" spc="-50" dirty="0">
                <a:latin typeface="Microsoft Sans Serif"/>
                <a:cs typeface="Microsoft Sans Serif"/>
              </a:rPr>
              <a:t>such</a:t>
            </a:r>
            <a:r>
              <a:rPr sz="2750" spc="-110" dirty="0">
                <a:latin typeface="Microsoft Sans Serif"/>
                <a:cs typeface="Microsoft Sans Serif"/>
              </a:rPr>
              <a:t> </a:t>
            </a:r>
            <a:r>
              <a:rPr sz="2750" spc="-135" dirty="0">
                <a:latin typeface="Microsoft Sans Serif"/>
                <a:cs typeface="Microsoft Sans Serif"/>
              </a:rPr>
              <a:t>as</a:t>
            </a:r>
            <a:r>
              <a:rPr sz="2750" spc="-95" dirty="0">
                <a:latin typeface="Microsoft Sans Serif"/>
                <a:cs typeface="Microsoft Sans Serif"/>
              </a:rPr>
              <a:t> </a:t>
            </a:r>
            <a:r>
              <a:rPr sz="2750" spc="-25" dirty="0">
                <a:latin typeface="Microsoft Sans Serif"/>
                <a:cs typeface="Microsoft Sans Serif"/>
              </a:rPr>
              <a:t>2.</a:t>
            </a:r>
            <a:endParaRPr sz="2750">
              <a:latin typeface="Microsoft Sans Serif"/>
              <a:cs typeface="Microsoft Sans Serif"/>
            </a:endParaRPr>
          </a:p>
          <a:p>
            <a:pPr marL="347345" marR="30480" indent="-335280">
              <a:lnSpc>
                <a:spcPct val="99600"/>
              </a:lnSpc>
              <a:spcBef>
                <a:spcPts val="770"/>
              </a:spcBef>
              <a:buClr>
                <a:srgbClr val="6697CC"/>
              </a:buClr>
              <a:buFont typeface="Arial"/>
              <a:buChar char="•"/>
              <a:tabLst>
                <a:tab pos="347345" algn="l"/>
              </a:tabLst>
            </a:pPr>
            <a:r>
              <a:rPr sz="2750" spc="-20" dirty="0">
                <a:latin typeface="Microsoft Sans Serif"/>
                <a:cs typeface="Microsoft Sans Serif"/>
              </a:rPr>
              <a:t>The</a:t>
            </a:r>
            <a:r>
              <a:rPr sz="2750" spc="-120" dirty="0">
                <a:latin typeface="Microsoft Sans Serif"/>
                <a:cs typeface="Microsoft Sans Serif"/>
              </a:rPr>
              <a:t> </a:t>
            </a:r>
            <a:r>
              <a:rPr sz="2750" spc="70" dirty="0">
                <a:latin typeface="Microsoft Sans Serif"/>
                <a:cs typeface="Microsoft Sans Serif"/>
              </a:rPr>
              <a:t>vector</a:t>
            </a:r>
            <a:r>
              <a:rPr sz="2750" spc="-105" dirty="0">
                <a:latin typeface="Microsoft Sans Serif"/>
                <a:cs typeface="Microsoft Sans Serif"/>
              </a:rPr>
              <a:t> </a:t>
            </a:r>
            <a:r>
              <a:rPr sz="2750" spc="-45" dirty="0">
                <a:latin typeface="Microsoft Sans Serif"/>
                <a:cs typeface="Microsoft Sans Serif"/>
              </a:rPr>
              <a:t>can</a:t>
            </a:r>
            <a:r>
              <a:rPr sz="2750" spc="-95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also</a:t>
            </a:r>
            <a:r>
              <a:rPr sz="2750" spc="-100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be</a:t>
            </a:r>
            <a:r>
              <a:rPr sz="2750" spc="-110" dirty="0">
                <a:latin typeface="Microsoft Sans Serif"/>
                <a:cs typeface="Microsoft Sans Serif"/>
              </a:rPr>
              <a:t> </a:t>
            </a:r>
            <a:r>
              <a:rPr sz="2750" spc="120" dirty="0">
                <a:latin typeface="Microsoft Sans Serif"/>
                <a:cs typeface="Microsoft Sans Serif"/>
              </a:rPr>
              <a:t>thought</a:t>
            </a:r>
            <a:r>
              <a:rPr sz="2750" spc="-100" dirty="0">
                <a:latin typeface="Microsoft Sans Serif"/>
                <a:cs typeface="Microsoft Sans Serif"/>
              </a:rPr>
              <a:t> </a:t>
            </a:r>
            <a:r>
              <a:rPr sz="2750" spc="180" dirty="0">
                <a:latin typeface="Microsoft Sans Serif"/>
                <a:cs typeface="Microsoft Sans Serif"/>
              </a:rPr>
              <a:t>of</a:t>
            </a:r>
            <a:r>
              <a:rPr sz="2750" spc="-105" dirty="0">
                <a:latin typeface="Microsoft Sans Serif"/>
                <a:cs typeface="Microsoft Sans Serif"/>
              </a:rPr>
              <a:t> </a:t>
            </a:r>
            <a:r>
              <a:rPr sz="2750" spc="-135" dirty="0">
                <a:latin typeface="Microsoft Sans Serif"/>
                <a:cs typeface="Microsoft Sans Serif"/>
              </a:rPr>
              <a:t>as</a:t>
            </a:r>
            <a:r>
              <a:rPr sz="2750" spc="-90" dirty="0">
                <a:latin typeface="Microsoft Sans Serif"/>
                <a:cs typeface="Microsoft Sans Serif"/>
              </a:rPr>
              <a:t> </a:t>
            </a:r>
            <a:r>
              <a:rPr sz="2750" spc="-110" dirty="0">
                <a:latin typeface="Microsoft Sans Serif"/>
                <a:cs typeface="Microsoft Sans Serif"/>
              </a:rPr>
              <a:t>a</a:t>
            </a:r>
            <a:r>
              <a:rPr sz="2750" spc="-105" dirty="0">
                <a:latin typeface="Microsoft Sans Serif"/>
                <a:cs typeface="Microsoft Sans Serif"/>
              </a:rPr>
              <a:t> </a:t>
            </a:r>
            <a:r>
              <a:rPr sz="2750" spc="55" dirty="0">
                <a:latin typeface="Microsoft Sans Serif"/>
                <a:cs typeface="Microsoft Sans Serif"/>
              </a:rPr>
              <a:t>line</a:t>
            </a:r>
            <a:r>
              <a:rPr sz="2750" spc="-105" dirty="0">
                <a:latin typeface="Microsoft Sans Serif"/>
                <a:cs typeface="Microsoft Sans Serif"/>
              </a:rPr>
              <a:t> </a:t>
            </a:r>
            <a:r>
              <a:rPr sz="2750" spc="130" dirty="0">
                <a:latin typeface="Microsoft Sans Serif"/>
                <a:cs typeface="Microsoft Sans Serif"/>
              </a:rPr>
              <a:t>from </a:t>
            </a:r>
            <a:r>
              <a:rPr sz="2750" spc="120" dirty="0">
                <a:latin typeface="Microsoft Sans Serif"/>
                <a:cs typeface="Microsoft Sans Serif"/>
              </a:rPr>
              <a:t>the</a:t>
            </a:r>
            <a:r>
              <a:rPr sz="2750" spc="-100" dirty="0">
                <a:latin typeface="Microsoft Sans Serif"/>
                <a:cs typeface="Microsoft Sans Serif"/>
              </a:rPr>
              <a:t> </a:t>
            </a:r>
            <a:r>
              <a:rPr sz="2750" spc="70" dirty="0">
                <a:latin typeface="Microsoft Sans Serif"/>
                <a:cs typeface="Microsoft Sans Serif"/>
              </a:rPr>
              <a:t>origin</a:t>
            </a:r>
            <a:r>
              <a:rPr sz="2750" spc="-85" dirty="0">
                <a:latin typeface="Microsoft Sans Serif"/>
                <a:cs typeface="Microsoft Sans Serif"/>
              </a:rPr>
              <a:t> </a:t>
            </a:r>
            <a:r>
              <a:rPr sz="2750" spc="180" dirty="0">
                <a:latin typeface="Microsoft Sans Serif"/>
                <a:cs typeface="Microsoft Sans Serif"/>
              </a:rPr>
              <a:t>of</a:t>
            </a:r>
            <a:r>
              <a:rPr sz="2750" spc="-90" dirty="0">
                <a:latin typeface="Microsoft Sans Serif"/>
                <a:cs typeface="Microsoft Sans Serif"/>
              </a:rPr>
              <a:t> </a:t>
            </a:r>
            <a:r>
              <a:rPr sz="2750" spc="114" dirty="0">
                <a:latin typeface="Microsoft Sans Serif"/>
                <a:cs typeface="Microsoft Sans Serif"/>
              </a:rPr>
              <a:t>the</a:t>
            </a:r>
            <a:r>
              <a:rPr sz="2750" spc="-95" dirty="0">
                <a:latin typeface="Microsoft Sans Serif"/>
                <a:cs typeface="Microsoft Sans Serif"/>
              </a:rPr>
              <a:t> </a:t>
            </a:r>
            <a:r>
              <a:rPr sz="2750" spc="65" dirty="0">
                <a:latin typeface="Microsoft Sans Serif"/>
                <a:cs typeface="Microsoft Sans Serif"/>
              </a:rPr>
              <a:t>vector</a:t>
            </a:r>
            <a:r>
              <a:rPr sz="2750" spc="-90" dirty="0">
                <a:latin typeface="Microsoft Sans Serif"/>
                <a:cs typeface="Microsoft Sans Serif"/>
              </a:rPr>
              <a:t> </a:t>
            </a:r>
            <a:r>
              <a:rPr sz="2750" spc="-65" dirty="0">
                <a:latin typeface="Microsoft Sans Serif"/>
                <a:cs typeface="Microsoft Sans Serif"/>
              </a:rPr>
              <a:t>space</a:t>
            </a:r>
            <a:r>
              <a:rPr sz="2750" spc="-95" dirty="0">
                <a:latin typeface="Microsoft Sans Serif"/>
                <a:cs typeface="Microsoft Sans Serif"/>
              </a:rPr>
              <a:t> </a:t>
            </a:r>
            <a:r>
              <a:rPr sz="2750" spc="140" dirty="0">
                <a:latin typeface="Microsoft Sans Serif"/>
                <a:cs typeface="Microsoft Sans Serif"/>
              </a:rPr>
              <a:t>with</a:t>
            </a:r>
            <a:r>
              <a:rPr sz="2750" spc="-100" dirty="0">
                <a:latin typeface="Microsoft Sans Serif"/>
                <a:cs typeface="Microsoft Sans Serif"/>
              </a:rPr>
              <a:t> </a:t>
            </a:r>
            <a:r>
              <a:rPr sz="2750" spc="-110" dirty="0">
                <a:latin typeface="Microsoft Sans Serif"/>
                <a:cs typeface="Microsoft Sans Serif"/>
              </a:rPr>
              <a:t>a</a:t>
            </a:r>
            <a:r>
              <a:rPr sz="2750" spc="-85" dirty="0">
                <a:latin typeface="Microsoft Sans Serif"/>
                <a:cs typeface="Microsoft Sans Serif"/>
              </a:rPr>
              <a:t> </a:t>
            </a:r>
            <a:r>
              <a:rPr sz="2750" spc="65" dirty="0">
                <a:latin typeface="Microsoft Sans Serif"/>
                <a:cs typeface="Microsoft Sans Serif"/>
              </a:rPr>
              <a:t>direction </a:t>
            </a:r>
            <a:r>
              <a:rPr sz="2750" dirty="0">
                <a:latin typeface="Microsoft Sans Serif"/>
                <a:cs typeface="Microsoft Sans Serif"/>
              </a:rPr>
              <a:t>and</a:t>
            </a:r>
            <a:r>
              <a:rPr sz="2750" spc="-90" dirty="0">
                <a:latin typeface="Microsoft Sans Serif"/>
                <a:cs typeface="Microsoft Sans Serif"/>
              </a:rPr>
              <a:t> </a:t>
            </a:r>
            <a:r>
              <a:rPr sz="2750" spc="-114" dirty="0">
                <a:latin typeface="Microsoft Sans Serif"/>
                <a:cs typeface="Microsoft Sans Serif"/>
              </a:rPr>
              <a:t>a</a:t>
            </a:r>
            <a:r>
              <a:rPr sz="2750" spc="-95" dirty="0">
                <a:latin typeface="Microsoft Sans Serif"/>
                <a:cs typeface="Microsoft Sans Serif"/>
              </a:rPr>
              <a:t> </a:t>
            </a:r>
            <a:r>
              <a:rPr sz="2750" spc="-10" dirty="0">
                <a:latin typeface="Microsoft Sans Serif"/>
                <a:cs typeface="Microsoft Sans Serif"/>
              </a:rPr>
              <a:t>magnitude.</a:t>
            </a:r>
            <a:endParaRPr sz="27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305560"/>
            <a:chOff x="0" y="0"/>
            <a:chExt cx="9144000" cy="13055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0825" cy="1089025"/>
            </a:xfrm>
            <a:custGeom>
              <a:avLst/>
              <a:gdLst/>
              <a:ahLst/>
              <a:cxnLst/>
              <a:rect l="l" t="t" r="r" b="b"/>
              <a:pathLst>
                <a:path w="9140825" h="1089025">
                  <a:moveTo>
                    <a:pt x="0" y="1088999"/>
                  </a:moveTo>
                  <a:lnTo>
                    <a:pt x="9140761" y="1088999"/>
                  </a:lnTo>
                  <a:lnTo>
                    <a:pt x="9140761" y="0"/>
                  </a:lnTo>
                  <a:lnTo>
                    <a:pt x="0" y="0"/>
                  </a:lnTo>
                  <a:lnTo>
                    <a:pt x="0" y="108899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88999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>
                  <a:moveTo>
                    <a:pt x="9143631" y="0"/>
                  </a:moveTo>
                  <a:lnTo>
                    <a:pt x="0" y="0"/>
                  </a:lnTo>
                  <a:lnTo>
                    <a:pt x="0" y="216001"/>
                  </a:lnTo>
                  <a:lnTo>
                    <a:pt x="9143631" y="216001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01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0"/>
                </a:move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lnTo>
                  <a:pt x="0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Vector</a:t>
            </a:r>
            <a:r>
              <a:rPr spc="-12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418808"/>
            <a:ext cx="7796530" cy="479425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47345" indent="-334645">
              <a:lnSpc>
                <a:spcPct val="100000"/>
              </a:lnSpc>
              <a:spcBef>
                <a:spcPts val="870"/>
              </a:spcBef>
              <a:buClr>
                <a:srgbClr val="6697CC"/>
              </a:buClr>
              <a:buFont typeface="Arial"/>
              <a:buChar char="•"/>
              <a:tabLst>
                <a:tab pos="347345" algn="l"/>
              </a:tabLst>
            </a:pPr>
            <a:r>
              <a:rPr sz="2750" b="1" spc="-10" dirty="0">
                <a:latin typeface="Arial"/>
                <a:cs typeface="Arial"/>
              </a:rPr>
              <a:t>Addition</a:t>
            </a:r>
            <a:endParaRPr sz="2750">
              <a:latin typeface="Arial"/>
              <a:cs typeface="Arial"/>
            </a:endParaRPr>
          </a:p>
          <a:p>
            <a:pPr marL="347345" marR="869315" indent="-335280">
              <a:lnSpc>
                <a:spcPts val="3279"/>
              </a:lnSpc>
              <a:spcBef>
                <a:spcPts val="890"/>
              </a:spcBef>
              <a:buClr>
                <a:srgbClr val="6697CC"/>
              </a:buClr>
              <a:buFont typeface="Arial"/>
              <a:buChar char="•"/>
              <a:tabLst>
                <a:tab pos="347345" algn="l"/>
              </a:tabLst>
            </a:pPr>
            <a:r>
              <a:rPr sz="2750" dirty="0">
                <a:latin typeface="Microsoft Sans Serif"/>
                <a:cs typeface="Microsoft Sans Serif"/>
              </a:rPr>
              <a:t>Two</a:t>
            </a:r>
            <a:r>
              <a:rPr sz="2750" spc="-25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vectors</a:t>
            </a:r>
            <a:r>
              <a:rPr sz="2750" spc="-25" dirty="0">
                <a:latin typeface="Microsoft Sans Serif"/>
                <a:cs typeface="Microsoft Sans Serif"/>
              </a:rPr>
              <a:t> </a:t>
            </a:r>
            <a:r>
              <a:rPr sz="2750" spc="180" dirty="0">
                <a:latin typeface="Microsoft Sans Serif"/>
                <a:cs typeface="Microsoft Sans Serif"/>
              </a:rPr>
              <a:t>of</a:t>
            </a:r>
            <a:r>
              <a:rPr sz="2750" spc="-25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equal</a:t>
            </a:r>
            <a:r>
              <a:rPr sz="2750" spc="-25" dirty="0">
                <a:latin typeface="Microsoft Sans Serif"/>
                <a:cs typeface="Microsoft Sans Serif"/>
              </a:rPr>
              <a:t> </a:t>
            </a:r>
            <a:r>
              <a:rPr sz="2750" spc="90" dirty="0">
                <a:latin typeface="Microsoft Sans Serif"/>
                <a:cs typeface="Microsoft Sans Serif"/>
              </a:rPr>
              <a:t>length</a:t>
            </a:r>
            <a:r>
              <a:rPr sz="2750" spc="-40" dirty="0">
                <a:latin typeface="Microsoft Sans Serif"/>
                <a:cs typeface="Microsoft Sans Serif"/>
              </a:rPr>
              <a:t> </a:t>
            </a:r>
            <a:r>
              <a:rPr sz="2750" spc="-45" dirty="0">
                <a:latin typeface="Microsoft Sans Serif"/>
                <a:cs typeface="Microsoft Sans Serif"/>
              </a:rPr>
              <a:t>can</a:t>
            </a:r>
            <a:r>
              <a:rPr sz="2750" spc="-25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be</a:t>
            </a:r>
            <a:r>
              <a:rPr sz="2750" spc="-35" dirty="0">
                <a:latin typeface="Microsoft Sans Serif"/>
                <a:cs typeface="Microsoft Sans Serif"/>
              </a:rPr>
              <a:t> </a:t>
            </a:r>
            <a:r>
              <a:rPr sz="2750" spc="-10" dirty="0">
                <a:latin typeface="Microsoft Sans Serif"/>
                <a:cs typeface="Microsoft Sans Serif"/>
              </a:rPr>
              <a:t>added </a:t>
            </a:r>
            <a:r>
              <a:rPr sz="2750" spc="114" dirty="0">
                <a:latin typeface="Microsoft Sans Serif"/>
                <a:cs typeface="Microsoft Sans Serif"/>
              </a:rPr>
              <a:t>together</a:t>
            </a:r>
            <a:r>
              <a:rPr sz="2750" spc="-55" dirty="0">
                <a:latin typeface="Microsoft Sans Serif"/>
                <a:cs typeface="Microsoft Sans Serif"/>
              </a:rPr>
              <a:t> </a:t>
            </a:r>
            <a:r>
              <a:rPr sz="2750" spc="215" dirty="0">
                <a:latin typeface="Microsoft Sans Serif"/>
                <a:cs typeface="Microsoft Sans Serif"/>
              </a:rPr>
              <a:t>to</a:t>
            </a:r>
            <a:r>
              <a:rPr sz="2750" spc="-55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create</a:t>
            </a:r>
            <a:r>
              <a:rPr sz="2750" spc="-55" dirty="0">
                <a:latin typeface="Microsoft Sans Serif"/>
                <a:cs typeface="Microsoft Sans Serif"/>
              </a:rPr>
              <a:t> </a:t>
            </a:r>
            <a:r>
              <a:rPr sz="2750" spc="-110" dirty="0">
                <a:latin typeface="Microsoft Sans Serif"/>
                <a:cs typeface="Microsoft Sans Serif"/>
              </a:rPr>
              <a:t>a</a:t>
            </a:r>
            <a:r>
              <a:rPr sz="2750" spc="-55" dirty="0">
                <a:latin typeface="Microsoft Sans Serif"/>
                <a:cs typeface="Microsoft Sans Serif"/>
              </a:rPr>
              <a:t> </a:t>
            </a:r>
            <a:r>
              <a:rPr sz="2750" spc="55" dirty="0">
                <a:latin typeface="Microsoft Sans Serif"/>
                <a:cs typeface="Microsoft Sans Serif"/>
              </a:rPr>
              <a:t>new</a:t>
            </a:r>
            <a:r>
              <a:rPr sz="2750" spc="-50" dirty="0">
                <a:latin typeface="Microsoft Sans Serif"/>
                <a:cs typeface="Microsoft Sans Serif"/>
              </a:rPr>
              <a:t> </a:t>
            </a:r>
            <a:r>
              <a:rPr sz="2750" spc="120" dirty="0">
                <a:latin typeface="Microsoft Sans Serif"/>
                <a:cs typeface="Microsoft Sans Serif"/>
              </a:rPr>
              <a:t>third</a:t>
            </a:r>
            <a:r>
              <a:rPr sz="2750" spc="-50" dirty="0">
                <a:latin typeface="Microsoft Sans Serif"/>
                <a:cs typeface="Microsoft Sans Serif"/>
              </a:rPr>
              <a:t> </a:t>
            </a:r>
            <a:r>
              <a:rPr sz="2750" spc="35" dirty="0">
                <a:latin typeface="Microsoft Sans Serif"/>
                <a:cs typeface="Microsoft Sans Serif"/>
              </a:rPr>
              <a:t>vector.</a:t>
            </a:r>
            <a:endParaRPr sz="2750">
              <a:latin typeface="Microsoft Sans Serif"/>
              <a:cs typeface="Microsoft Sans Serif"/>
            </a:endParaRPr>
          </a:p>
          <a:p>
            <a:pPr marL="334645" algn="ctr">
              <a:lnSpc>
                <a:spcPct val="100000"/>
              </a:lnSpc>
              <a:spcBef>
                <a:spcPts val="665"/>
              </a:spcBef>
            </a:pPr>
            <a:r>
              <a:rPr sz="2750" i="1" spc="-160" dirty="0">
                <a:latin typeface="Arial"/>
                <a:cs typeface="Arial"/>
              </a:rPr>
              <a:t>c</a:t>
            </a:r>
            <a:r>
              <a:rPr sz="2750" i="1" spc="-135" dirty="0">
                <a:latin typeface="Arial"/>
                <a:cs typeface="Arial"/>
              </a:rPr>
              <a:t> </a:t>
            </a:r>
            <a:r>
              <a:rPr sz="2750" i="1" dirty="0">
                <a:latin typeface="Arial"/>
                <a:cs typeface="Arial"/>
              </a:rPr>
              <a:t>=</a:t>
            </a:r>
            <a:r>
              <a:rPr sz="2750" i="1" spc="-195" dirty="0">
                <a:latin typeface="Arial"/>
                <a:cs typeface="Arial"/>
              </a:rPr>
              <a:t> </a:t>
            </a:r>
            <a:r>
              <a:rPr sz="2750" i="1" dirty="0">
                <a:latin typeface="Arial"/>
                <a:cs typeface="Arial"/>
              </a:rPr>
              <a:t>a</a:t>
            </a:r>
            <a:r>
              <a:rPr sz="2750" i="1" spc="-190" dirty="0">
                <a:latin typeface="Arial"/>
                <a:cs typeface="Arial"/>
              </a:rPr>
              <a:t> </a:t>
            </a:r>
            <a:r>
              <a:rPr sz="2750" i="1" dirty="0">
                <a:latin typeface="Arial"/>
                <a:cs typeface="Arial"/>
              </a:rPr>
              <a:t>+</a:t>
            </a:r>
            <a:r>
              <a:rPr sz="2750" i="1" spc="-165" dirty="0">
                <a:latin typeface="Arial"/>
                <a:cs typeface="Arial"/>
              </a:rPr>
              <a:t> </a:t>
            </a:r>
            <a:r>
              <a:rPr sz="2750" i="1" spc="-50" dirty="0">
                <a:latin typeface="Arial"/>
                <a:cs typeface="Arial"/>
              </a:rPr>
              <a:t>b</a:t>
            </a:r>
            <a:endParaRPr sz="2750">
              <a:latin typeface="Arial"/>
              <a:cs typeface="Arial"/>
            </a:endParaRPr>
          </a:p>
          <a:p>
            <a:pPr marL="347345" marR="742950" indent="-335280">
              <a:lnSpc>
                <a:spcPct val="100000"/>
              </a:lnSpc>
              <a:spcBef>
                <a:spcPts val="770"/>
              </a:spcBef>
              <a:buClr>
                <a:srgbClr val="6697CC"/>
              </a:buClr>
              <a:buFont typeface="Arial"/>
              <a:buChar char="•"/>
              <a:tabLst>
                <a:tab pos="347345" algn="l"/>
              </a:tabLst>
            </a:pPr>
            <a:r>
              <a:rPr sz="2750" spc="-20" dirty="0">
                <a:latin typeface="Microsoft Sans Serif"/>
                <a:cs typeface="Microsoft Sans Serif"/>
              </a:rPr>
              <a:t>The</a:t>
            </a:r>
            <a:r>
              <a:rPr sz="2750" spc="-105" dirty="0">
                <a:latin typeface="Microsoft Sans Serif"/>
                <a:cs typeface="Microsoft Sans Serif"/>
              </a:rPr>
              <a:t> </a:t>
            </a:r>
            <a:r>
              <a:rPr sz="2750" spc="55" dirty="0">
                <a:latin typeface="Microsoft Sans Serif"/>
                <a:cs typeface="Microsoft Sans Serif"/>
              </a:rPr>
              <a:t>new</a:t>
            </a:r>
            <a:r>
              <a:rPr sz="2750" spc="-95" dirty="0">
                <a:latin typeface="Microsoft Sans Serif"/>
                <a:cs typeface="Microsoft Sans Serif"/>
              </a:rPr>
              <a:t> </a:t>
            </a:r>
            <a:r>
              <a:rPr sz="2750" spc="65" dirty="0">
                <a:latin typeface="Microsoft Sans Serif"/>
                <a:cs typeface="Microsoft Sans Serif"/>
              </a:rPr>
              <a:t>vector</a:t>
            </a:r>
            <a:r>
              <a:rPr sz="2750" spc="-90" dirty="0">
                <a:latin typeface="Microsoft Sans Serif"/>
                <a:cs typeface="Microsoft Sans Serif"/>
              </a:rPr>
              <a:t> </a:t>
            </a:r>
            <a:r>
              <a:rPr sz="2750" spc="-85" dirty="0">
                <a:latin typeface="Microsoft Sans Serif"/>
                <a:cs typeface="Microsoft Sans Serif"/>
              </a:rPr>
              <a:t>has</a:t>
            </a:r>
            <a:r>
              <a:rPr sz="2750" spc="-90" dirty="0">
                <a:latin typeface="Microsoft Sans Serif"/>
                <a:cs typeface="Microsoft Sans Serif"/>
              </a:rPr>
              <a:t> </a:t>
            </a:r>
            <a:r>
              <a:rPr sz="2750" spc="120" dirty="0">
                <a:latin typeface="Microsoft Sans Serif"/>
                <a:cs typeface="Microsoft Sans Serif"/>
              </a:rPr>
              <a:t>the</a:t>
            </a:r>
            <a:r>
              <a:rPr sz="2750" spc="-105" dirty="0">
                <a:latin typeface="Microsoft Sans Serif"/>
                <a:cs typeface="Microsoft Sans Serif"/>
              </a:rPr>
              <a:t> </a:t>
            </a:r>
            <a:r>
              <a:rPr sz="2750" spc="-55" dirty="0">
                <a:latin typeface="Microsoft Sans Serif"/>
                <a:cs typeface="Microsoft Sans Serif"/>
              </a:rPr>
              <a:t>same</a:t>
            </a:r>
            <a:r>
              <a:rPr sz="2750" spc="-100" dirty="0">
                <a:latin typeface="Microsoft Sans Serif"/>
                <a:cs typeface="Microsoft Sans Serif"/>
              </a:rPr>
              <a:t> </a:t>
            </a:r>
            <a:r>
              <a:rPr sz="2750" spc="90" dirty="0">
                <a:latin typeface="Microsoft Sans Serif"/>
                <a:cs typeface="Microsoft Sans Serif"/>
              </a:rPr>
              <a:t>length</a:t>
            </a:r>
            <a:r>
              <a:rPr sz="2750" spc="-95" dirty="0">
                <a:latin typeface="Microsoft Sans Serif"/>
                <a:cs typeface="Microsoft Sans Serif"/>
              </a:rPr>
              <a:t> </a:t>
            </a:r>
            <a:r>
              <a:rPr sz="2750" spc="-150" dirty="0">
                <a:latin typeface="Microsoft Sans Serif"/>
                <a:cs typeface="Microsoft Sans Serif"/>
              </a:rPr>
              <a:t>as</a:t>
            </a:r>
            <a:r>
              <a:rPr sz="2750" spc="-90" dirty="0">
                <a:latin typeface="Microsoft Sans Serif"/>
                <a:cs typeface="Microsoft Sans Serif"/>
              </a:rPr>
              <a:t> </a:t>
            </a:r>
            <a:r>
              <a:rPr sz="2750" spc="95" dirty="0">
                <a:latin typeface="Microsoft Sans Serif"/>
                <a:cs typeface="Microsoft Sans Serif"/>
              </a:rPr>
              <a:t>the </a:t>
            </a:r>
            <a:r>
              <a:rPr sz="2750" spc="110" dirty="0">
                <a:latin typeface="Microsoft Sans Serif"/>
                <a:cs typeface="Microsoft Sans Serif"/>
              </a:rPr>
              <a:t>other</a:t>
            </a:r>
            <a:r>
              <a:rPr sz="2750" spc="-95" dirty="0">
                <a:latin typeface="Microsoft Sans Serif"/>
                <a:cs typeface="Microsoft Sans Serif"/>
              </a:rPr>
              <a:t> </a:t>
            </a:r>
            <a:r>
              <a:rPr sz="2750" spc="185" dirty="0">
                <a:latin typeface="Microsoft Sans Serif"/>
                <a:cs typeface="Microsoft Sans Serif"/>
              </a:rPr>
              <a:t>two</a:t>
            </a:r>
            <a:r>
              <a:rPr sz="2750" spc="-90" dirty="0">
                <a:latin typeface="Microsoft Sans Serif"/>
                <a:cs typeface="Microsoft Sans Serif"/>
              </a:rPr>
              <a:t> </a:t>
            </a:r>
            <a:r>
              <a:rPr sz="2750" spc="-10" dirty="0">
                <a:latin typeface="Microsoft Sans Serif"/>
                <a:cs typeface="Microsoft Sans Serif"/>
              </a:rPr>
              <a:t>vectors.</a:t>
            </a:r>
            <a:endParaRPr sz="2750">
              <a:latin typeface="Microsoft Sans Serif"/>
              <a:cs typeface="Microsoft Sans Serif"/>
            </a:endParaRPr>
          </a:p>
          <a:p>
            <a:pPr marL="347345" marR="5080" indent="-335280">
              <a:lnSpc>
                <a:spcPct val="99600"/>
              </a:lnSpc>
              <a:spcBef>
                <a:spcPts val="765"/>
              </a:spcBef>
              <a:buClr>
                <a:srgbClr val="6697CC"/>
              </a:buClr>
              <a:buFont typeface="Arial"/>
              <a:buChar char="•"/>
              <a:tabLst>
                <a:tab pos="347345" algn="l"/>
              </a:tabLst>
            </a:pPr>
            <a:r>
              <a:rPr sz="2750" spc="-125" dirty="0">
                <a:latin typeface="Microsoft Sans Serif"/>
                <a:cs typeface="Microsoft Sans Serif"/>
              </a:rPr>
              <a:t>Each</a:t>
            </a:r>
            <a:r>
              <a:rPr sz="2750" spc="-75" dirty="0">
                <a:latin typeface="Microsoft Sans Serif"/>
                <a:cs typeface="Microsoft Sans Serif"/>
              </a:rPr>
              <a:t> </a:t>
            </a:r>
            <a:r>
              <a:rPr sz="2750" spc="75" dirty="0">
                <a:latin typeface="Microsoft Sans Serif"/>
                <a:cs typeface="Microsoft Sans Serif"/>
              </a:rPr>
              <a:t>element</a:t>
            </a:r>
            <a:r>
              <a:rPr sz="2750" spc="-65" dirty="0">
                <a:latin typeface="Microsoft Sans Serif"/>
                <a:cs typeface="Microsoft Sans Serif"/>
              </a:rPr>
              <a:t> </a:t>
            </a:r>
            <a:r>
              <a:rPr sz="2750" spc="180" dirty="0">
                <a:latin typeface="Microsoft Sans Serif"/>
                <a:cs typeface="Microsoft Sans Serif"/>
              </a:rPr>
              <a:t>of</a:t>
            </a:r>
            <a:r>
              <a:rPr sz="2750" spc="-75" dirty="0">
                <a:latin typeface="Microsoft Sans Serif"/>
                <a:cs typeface="Microsoft Sans Serif"/>
              </a:rPr>
              <a:t> </a:t>
            </a:r>
            <a:r>
              <a:rPr sz="2750" spc="114" dirty="0">
                <a:latin typeface="Microsoft Sans Serif"/>
                <a:cs typeface="Microsoft Sans Serif"/>
              </a:rPr>
              <a:t>the</a:t>
            </a:r>
            <a:r>
              <a:rPr sz="2750" spc="-75" dirty="0">
                <a:latin typeface="Microsoft Sans Serif"/>
                <a:cs typeface="Microsoft Sans Serif"/>
              </a:rPr>
              <a:t> </a:t>
            </a:r>
            <a:r>
              <a:rPr sz="2750" spc="55" dirty="0">
                <a:latin typeface="Microsoft Sans Serif"/>
                <a:cs typeface="Microsoft Sans Serif"/>
              </a:rPr>
              <a:t>new</a:t>
            </a:r>
            <a:r>
              <a:rPr sz="2750" spc="-75" dirty="0">
                <a:latin typeface="Microsoft Sans Serif"/>
                <a:cs typeface="Microsoft Sans Serif"/>
              </a:rPr>
              <a:t> </a:t>
            </a:r>
            <a:r>
              <a:rPr sz="2750" spc="70" dirty="0">
                <a:latin typeface="Microsoft Sans Serif"/>
                <a:cs typeface="Microsoft Sans Serif"/>
              </a:rPr>
              <a:t>vector</a:t>
            </a:r>
            <a:r>
              <a:rPr sz="2750" spc="-70" dirty="0">
                <a:latin typeface="Microsoft Sans Serif"/>
                <a:cs typeface="Microsoft Sans Serif"/>
              </a:rPr>
              <a:t> </a:t>
            </a:r>
            <a:r>
              <a:rPr sz="2750" spc="-20" dirty="0">
                <a:latin typeface="Microsoft Sans Serif"/>
                <a:cs typeface="Microsoft Sans Serif"/>
              </a:rPr>
              <a:t>is</a:t>
            </a:r>
            <a:r>
              <a:rPr sz="2750" spc="-60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calculated</a:t>
            </a:r>
            <a:r>
              <a:rPr sz="2750" spc="-70" dirty="0">
                <a:latin typeface="Microsoft Sans Serif"/>
                <a:cs typeface="Microsoft Sans Serif"/>
              </a:rPr>
              <a:t> </a:t>
            </a:r>
            <a:r>
              <a:rPr sz="2750" spc="-25" dirty="0">
                <a:latin typeface="Microsoft Sans Serif"/>
                <a:cs typeface="Microsoft Sans Serif"/>
              </a:rPr>
              <a:t>as </a:t>
            </a:r>
            <a:r>
              <a:rPr sz="2750" spc="120" dirty="0">
                <a:latin typeface="Microsoft Sans Serif"/>
                <a:cs typeface="Microsoft Sans Serif"/>
              </a:rPr>
              <a:t>the</a:t>
            </a:r>
            <a:r>
              <a:rPr sz="2750" spc="-55" dirty="0">
                <a:latin typeface="Microsoft Sans Serif"/>
                <a:cs typeface="Microsoft Sans Serif"/>
              </a:rPr>
              <a:t> </a:t>
            </a:r>
            <a:r>
              <a:rPr sz="2750" spc="75" dirty="0">
                <a:latin typeface="Microsoft Sans Serif"/>
                <a:cs typeface="Microsoft Sans Serif"/>
              </a:rPr>
              <a:t>addition</a:t>
            </a:r>
            <a:r>
              <a:rPr sz="2750" spc="-50" dirty="0">
                <a:latin typeface="Microsoft Sans Serif"/>
                <a:cs typeface="Microsoft Sans Serif"/>
              </a:rPr>
              <a:t> </a:t>
            </a:r>
            <a:r>
              <a:rPr sz="2750" spc="195" dirty="0">
                <a:latin typeface="Microsoft Sans Serif"/>
                <a:cs typeface="Microsoft Sans Serif"/>
              </a:rPr>
              <a:t>of</a:t>
            </a:r>
            <a:r>
              <a:rPr sz="2750" spc="-60" dirty="0">
                <a:latin typeface="Microsoft Sans Serif"/>
                <a:cs typeface="Microsoft Sans Serif"/>
              </a:rPr>
              <a:t> </a:t>
            </a:r>
            <a:r>
              <a:rPr sz="2750" spc="120" dirty="0">
                <a:latin typeface="Microsoft Sans Serif"/>
                <a:cs typeface="Microsoft Sans Serif"/>
              </a:rPr>
              <a:t>the</a:t>
            </a:r>
            <a:r>
              <a:rPr sz="2750" spc="-50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elements</a:t>
            </a:r>
            <a:r>
              <a:rPr sz="2750" spc="-35" dirty="0">
                <a:latin typeface="Microsoft Sans Serif"/>
                <a:cs typeface="Microsoft Sans Serif"/>
              </a:rPr>
              <a:t> </a:t>
            </a:r>
            <a:r>
              <a:rPr sz="2750" spc="185" dirty="0">
                <a:latin typeface="Microsoft Sans Serif"/>
                <a:cs typeface="Microsoft Sans Serif"/>
              </a:rPr>
              <a:t>of</a:t>
            </a:r>
            <a:r>
              <a:rPr sz="2750" spc="-45" dirty="0">
                <a:latin typeface="Microsoft Sans Serif"/>
                <a:cs typeface="Microsoft Sans Serif"/>
              </a:rPr>
              <a:t> </a:t>
            </a:r>
            <a:r>
              <a:rPr sz="2750" spc="114" dirty="0">
                <a:latin typeface="Microsoft Sans Serif"/>
                <a:cs typeface="Microsoft Sans Serif"/>
              </a:rPr>
              <a:t>the</a:t>
            </a:r>
            <a:r>
              <a:rPr sz="2750" spc="-50" dirty="0">
                <a:latin typeface="Microsoft Sans Serif"/>
                <a:cs typeface="Microsoft Sans Serif"/>
              </a:rPr>
              <a:t> </a:t>
            </a:r>
            <a:r>
              <a:rPr sz="2750" spc="100" dirty="0">
                <a:latin typeface="Microsoft Sans Serif"/>
                <a:cs typeface="Microsoft Sans Serif"/>
              </a:rPr>
              <a:t>other </a:t>
            </a:r>
            <a:r>
              <a:rPr sz="2750" dirty="0">
                <a:latin typeface="Microsoft Sans Serif"/>
                <a:cs typeface="Microsoft Sans Serif"/>
              </a:rPr>
              <a:t>vectors</a:t>
            </a:r>
            <a:r>
              <a:rPr sz="2750" spc="-35" dirty="0">
                <a:latin typeface="Microsoft Sans Serif"/>
                <a:cs typeface="Microsoft Sans Serif"/>
              </a:rPr>
              <a:t> </a:t>
            </a:r>
            <a:r>
              <a:rPr sz="2750" spc="105" dirty="0">
                <a:latin typeface="Microsoft Sans Serif"/>
                <a:cs typeface="Microsoft Sans Serif"/>
              </a:rPr>
              <a:t>at</a:t>
            </a:r>
            <a:r>
              <a:rPr sz="2750" spc="-40" dirty="0">
                <a:latin typeface="Microsoft Sans Serif"/>
                <a:cs typeface="Microsoft Sans Serif"/>
              </a:rPr>
              <a:t> </a:t>
            </a:r>
            <a:r>
              <a:rPr sz="2750" spc="120" dirty="0">
                <a:latin typeface="Microsoft Sans Serif"/>
                <a:cs typeface="Microsoft Sans Serif"/>
              </a:rPr>
              <a:t>the</a:t>
            </a:r>
            <a:r>
              <a:rPr sz="2750" spc="-50" dirty="0">
                <a:latin typeface="Microsoft Sans Serif"/>
                <a:cs typeface="Microsoft Sans Serif"/>
              </a:rPr>
              <a:t> </a:t>
            </a:r>
            <a:r>
              <a:rPr sz="2750" spc="-55" dirty="0">
                <a:latin typeface="Microsoft Sans Serif"/>
                <a:cs typeface="Microsoft Sans Serif"/>
              </a:rPr>
              <a:t>same</a:t>
            </a:r>
            <a:r>
              <a:rPr sz="2750" spc="-50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index;</a:t>
            </a:r>
            <a:r>
              <a:rPr sz="2750" spc="-50" dirty="0">
                <a:latin typeface="Microsoft Sans Serif"/>
                <a:cs typeface="Microsoft Sans Serif"/>
              </a:rPr>
              <a:t> </a:t>
            </a:r>
            <a:r>
              <a:rPr sz="2750" spc="170" dirty="0">
                <a:latin typeface="Microsoft Sans Serif"/>
                <a:cs typeface="Microsoft Sans Serif"/>
              </a:rPr>
              <a:t>for</a:t>
            </a:r>
            <a:r>
              <a:rPr sz="2750" spc="-40" dirty="0">
                <a:latin typeface="Microsoft Sans Serif"/>
                <a:cs typeface="Microsoft Sans Serif"/>
              </a:rPr>
              <a:t> </a:t>
            </a:r>
            <a:r>
              <a:rPr sz="2750" spc="-10" dirty="0">
                <a:latin typeface="Microsoft Sans Serif"/>
                <a:cs typeface="Microsoft Sans Serif"/>
              </a:rPr>
              <a:t>example:</a:t>
            </a:r>
            <a:endParaRPr sz="2750">
              <a:latin typeface="Microsoft Sans Serif"/>
              <a:cs typeface="Microsoft Sans Serif"/>
            </a:endParaRPr>
          </a:p>
          <a:p>
            <a:pPr marL="334645" algn="ctr">
              <a:lnSpc>
                <a:spcPct val="100000"/>
              </a:lnSpc>
              <a:spcBef>
                <a:spcPts val="770"/>
              </a:spcBef>
            </a:pPr>
            <a:r>
              <a:rPr sz="2750" i="1" spc="-160" dirty="0">
                <a:latin typeface="Arial"/>
                <a:cs typeface="Arial"/>
              </a:rPr>
              <a:t>c</a:t>
            </a:r>
            <a:r>
              <a:rPr sz="2750" i="1" spc="-135" dirty="0">
                <a:latin typeface="Arial"/>
                <a:cs typeface="Arial"/>
              </a:rPr>
              <a:t> </a:t>
            </a:r>
            <a:r>
              <a:rPr sz="2750" i="1" spc="-70" dirty="0">
                <a:latin typeface="Arial"/>
                <a:cs typeface="Arial"/>
              </a:rPr>
              <a:t>=</a:t>
            </a:r>
            <a:r>
              <a:rPr sz="2750" i="1" spc="-135" dirty="0">
                <a:latin typeface="Arial"/>
                <a:cs typeface="Arial"/>
              </a:rPr>
              <a:t> </a:t>
            </a:r>
            <a:r>
              <a:rPr sz="2750" i="1" spc="-20" dirty="0">
                <a:latin typeface="Arial"/>
                <a:cs typeface="Arial"/>
              </a:rPr>
              <a:t>(a1</a:t>
            </a:r>
            <a:r>
              <a:rPr sz="2750" i="1" spc="-175" dirty="0">
                <a:latin typeface="Arial"/>
                <a:cs typeface="Arial"/>
              </a:rPr>
              <a:t> </a:t>
            </a:r>
            <a:r>
              <a:rPr sz="2750" i="1" spc="-70" dirty="0">
                <a:latin typeface="Arial"/>
                <a:cs typeface="Arial"/>
              </a:rPr>
              <a:t>+</a:t>
            </a:r>
            <a:r>
              <a:rPr sz="2750" i="1" spc="-135" dirty="0">
                <a:latin typeface="Arial"/>
                <a:cs typeface="Arial"/>
              </a:rPr>
              <a:t> </a:t>
            </a:r>
            <a:r>
              <a:rPr sz="2750" i="1" spc="-30" dirty="0">
                <a:latin typeface="Arial"/>
                <a:cs typeface="Arial"/>
              </a:rPr>
              <a:t>b1,</a:t>
            </a:r>
            <a:r>
              <a:rPr sz="2750" i="1" spc="-160" dirty="0">
                <a:latin typeface="Arial"/>
                <a:cs typeface="Arial"/>
              </a:rPr>
              <a:t> </a:t>
            </a:r>
            <a:r>
              <a:rPr sz="2750" i="1" dirty="0">
                <a:latin typeface="Arial"/>
                <a:cs typeface="Arial"/>
              </a:rPr>
              <a:t>a2</a:t>
            </a:r>
            <a:r>
              <a:rPr sz="2750" i="1" spc="-190" dirty="0">
                <a:latin typeface="Arial"/>
                <a:cs typeface="Arial"/>
              </a:rPr>
              <a:t> </a:t>
            </a:r>
            <a:r>
              <a:rPr sz="2750" i="1" dirty="0">
                <a:latin typeface="Arial"/>
                <a:cs typeface="Arial"/>
              </a:rPr>
              <a:t>+</a:t>
            </a:r>
            <a:r>
              <a:rPr sz="2750" i="1" spc="-150" dirty="0">
                <a:latin typeface="Arial"/>
                <a:cs typeface="Arial"/>
              </a:rPr>
              <a:t> </a:t>
            </a:r>
            <a:r>
              <a:rPr sz="2750" i="1" spc="-20" dirty="0">
                <a:latin typeface="Arial"/>
                <a:cs typeface="Arial"/>
              </a:rPr>
              <a:t>b2,</a:t>
            </a:r>
            <a:r>
              <a:rPr sz="2750" i="1" spc="-150" dirty="0">
                <a:latin typeface="Arial"/>
                <a:cs typeface="Arial"/>
              </a:rPr>
              <a:t> </a:t>
            </a:r>
            <a:r>
              <a:rPr sz="2750" i="1" dirty="0">
                <a:latin typeface="Arial"/>
                <a:cs typeface="Arial"/>
              </a:rPr>
              <a:t>a3</a:t>
            </a:r>
            <a:r>
              <a:rPr sz="2750" i="1" spc="-155" dirty="0">
                <a:latin typeface="Arial"/>
                <a:cs typeface="Arial"/>
              </a:rPr>
              <a:t> </a:t>
            </a:r>
            <a:r>
              <a:rPr sz="2750" i="1" dirty="0">
                <a:latin typeface="Arial"/>
                <a:cs typeface="Arial"/>
              </a:rPr>
              <a:t>+</a:t>
            </a:r>
            <a:r>
              <a:rPr sz="2750" i="1" spc="-150" dirty="0">
                <a:latin typeface="Arial"/>
                <a:cs typeface="Arial"/>
              </a:rPr>
              <a:t> </a:t>
            </a:r>
            <a:r>
              <a:rPr sz="2750" i="1" dirty="0">
                <a:latin typeface="Arial"/>
                <a:cs typeface="Arial"/>
              </a:rPr>
              <a:t>b3</a:t>
            </a:r>
            <a:r>
              <a:rPr sz="2750" i="1" spc="-155" dirty="0">
                <a:latin typeface="Arial"/>
                <a:cs typeface="Arial"/>
              </a:rPr>
              <a:t> </a:t>
            </a:r>
            <a:r>
              <a:rPr sz="2750" i="1" spc="-50" dirty="0">
                <a:latin typeface="Arial"/>
                <a:cs typeface="Arial"/>
              </a:rPr>
              <a:t>)</a:t>
            </a:r>
            <a:endParaRPr sz="2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Vector</a:t>
            </a:r>
            <a:r>
              <a:rPr spc="-12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17436"/>
            <a:ext cx="3743960" cy="262255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b="1" spc="-10" dirty="0">
                <a:latin typeface="Arial"/>
                <a:cs typeface="Arial"/>
              </a:rPr>
              <a:t>Addition</a:t>
            </a:r>
            <a:endParaRPr sz="2800">
              <a:latin typeface="Arial"/>
              <a:cs typeface="Arial"/>
            </a:endParaRPr>
          </a:p>
          <a:p>
            <a:pPr marL="355600" marR="5080" indent="-343535">
              <a:lnSpc>
                <a:spcPct val="120600"/>
              </a:lnSpc>
              <a:spcBef>
                <a:spcPts val="95"/>
              </a:spcBef>
              <a:buClr>
                <a:srgbClr val="6697CC"/>
              </a:buClr>
              <a:buFont typeface="Arial"/>
              <a:buChar char="•"/>
              <a:tabLst>
                <a:tab pos="755650" algn="l"/>
              </a:tabLst>
            </a:pPr>
            <a:r>
              <a:rPr sz="2800" spc="100" dirty="0">
                <a:latin typeface="Microsoft Sans Serif"/>
                <a:cs typeface="Microsoft Sans Serif"/>
              </a:rPr>
              <a:t>Putting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another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way, 	</a:t>
            </a:r>
            <a:r>
              <a:rPr sz="2800" dirty="0">
                <a:latin typeface="Microsoft Sans Serif"/>
                <a:cs typeface="Microsoft Sans Serif"/>
              </a:rPr>
              <a:t>c[0]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a[0]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+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b[0]</a:t>
            </a:r>
            <a:endParaRPr sz="2800">
              <a:latin typeface="Microsoft Sans Serif"/>
              <a:cs typeface="Microsoft Sans Serif"/>
            </a:endParaRPr>
          </a:p>
          <a:p>
            <a:pPr marL="75565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Microsoft Sans Serif"/>
                <a:cs typeface="Microsoft Sans Serif"/>
              </a:rPr>
              <a:t>c[1]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a[1]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+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b[1]</a:t>
            </a:r>
            <a:endParaRPr sz="2800">
              <a:latin typeface="Microsoft Sans Serif"/>
              <a:cs typeface="Microsoft Sans Serif"/>
            </a:endParaRPr>
          </a:p>
          <a:p>
            <a:pPr marL="75565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Microsoft Sans Serif"/>
                <a:cs typeface="Microsoft Sans Serif"/>
              </a:rPr>
              <a:t>c[2]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a[2]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+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b[2]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Vector</a:t>
            </a:r>
            <a:r>
              <a:rPr spc="-12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540" y="1418808"/>
            <a:ext cx="7985759" cy="469519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72745" indent="-334645">
              <a:lnSpc>
                <a:spcPct val="100000"/>
              </a:lnSpc>
              <a:spcBef>
                <a:spcPts val="870"/>
              </a:spcBef>
              <a:buClr>
                <a:srgbClr val="6697CC"/>
              </a:buClr>
              <a:buFont typeface="Arial"/>
              <a:buChar char="•"/>
              <a:tabLst>
                <a:tab pos="372745" algn="l"/>
              </a:tabLst>
            </a:pPr>
            <a:r>
              <a:rPr sz="2750" b="1" spc="-10" dirty="0">
                <a:latin typeface="Arial"/>
                <a:cs typeface="Arial"/>
              </a:rPr>
              <a:t>Subtraction</a:t>
            </a:r>
            <a:endParaRPr sz="2750">
              <a:latin typeface="Arial"/>
              <a:cs typeface="Arial"/>
            </a:endParaRPr>
          </a:p>
          <a:p>
            <a:pPr marL="371475" marR="750570" indent="-334010" algn="just">
              <a:lnSpc>
                <a:spcPct val="99600"/>
              </a:lnSpc>
              <a:spcBef>
                <a:spcPts val="780"/>
              </a:spcBef>
              <a:buClr>
                <a:srgbClr val="6697CC"/>
              </a:buClr>
              <a:buFont typeface="Arial"/>
              <a:buChar char="•"/>
              <a:tabLst>
                <a:tab pos="372745" algn="l"/>
              </a:tabLst>
            </a:pPr>
            <a:r>
              <a:rPr sz="2750" dirty="0">
                <a:latin typeface="Microsoft Sans Serif"/>
                <a:cs typeface="Microsoft Sans Serif"/>
              </a:rPr>
              <a:t>One</a:t>
            </a:r>
            <a:r>
              <a:rPr sz="2750" spc="-105" dirty="0">
                <a:latin typeface="Microsoft Sans Serif"/>
                <a:cs typeface="Microsoft Sans Serif"/>
              </a:rPr>
              <a:t> </a:t>
            </a:r>
            <a:r>
              <a:rPr sz="2750" spc="70" dirty="0">
                <a:latin typeface="Microsoft Sans Serif"/>
                <a:cs typeface="Microsoft Sans Serif"/>
              </a:rPr>
              <a:t>vector</a:t>
            </a:r>
            <a:r>
              <a:rPr sz="2750" spc="-100" dirty="0">
                <a:latin typeface="Microsoft Sans Serif"/>
                <a:cs typeface="Microsoft Sans Serif"/>
              </a:rPr>
              <a:t> </a:t>
            </a:r>
            <a:r>
              <a:rPr sz="2750" spc="-60" dirty="0">
                <a:latin typeface="Microsoft Sans Serif"/>
                <a:cs typeface="Microsoft Sans Serif"/>
              </a:rPr>
              <a:t>can</a:t>
            </a:r>
            <a:r>
              <a:rPr sz="2750" spc="-95" dirty="0">
                <a:latin typeface="Microsoft Sans Serif"/>
                <a:cs typeface="Microsoft Sans Serif"/>
              </a:rPr>
              <a:t> </a:t>
            </a:r>
            <a:r>
              <a:rPr sz="2750" spc="30" dirty="0">
                <a:latin typeface="Microsoft Sans Serif"/>
                <a:cs typeface="Microsoft Sans Serif"/>
              </a:rPr>
              <a:t>be</a:t>
            </a:r>
            <a:r>
              <a:rPr sz="2750" spc="-105" dirty="0">
                <a:latin typeface="Microsoft Sans Serif"/>
                <a:cs typeface="Microsoft Sans Serif"/>
              </a:rPr>
              <a:t> </a:t>
            </a:r>
            <a:r>
              <a:rPr sz="2750" spc="60" dirty="0">
                <a:latin typeface="Microsoft Sans Serif"/>
                <a:cs typeface="Microsoft Sans Serif"/>
              </a:rPr>
              <a:t>subtracted</a:t>
            </a:r>
            <a:r>
              <a:rPr sz="2750" spc="-110" dirty="0">
                <a:latin typeface="Microsoft Sans Serif"/>
                <a:cs typeface="Microsoft Sans Serif"/>
              </a:rPr>
              <a:t> </a:t>
            </a:r>
            <a:r>
              <a:rPr sz="2750" spc="140" dirty="0">
                <a:latin typeface="Microsoft Sans Serif"/>
                <a:cs typeface="Microsoft Sans Serif"/>
              </a:rPr>
              <a:t>from</a:t>
            </a:r>
            <a:r>
              <a:rPr sz="2750" spc="-100" dirty="0">
                <a:latin typeface="Microsoft Sans Serif"/>
                <a:cs typeface="Microsoft Sans Serif"/>
              </a:rPr>
              <a:t> </a:t>
            </a:r>
            <a:r>
              <a:rPr sz="2750" spc="70" dirty="0">
                <a:latin typeface="Microsoft Sans Serif"/>
                <a:cs typeface="Microsoft Sans Serif"/>
              </a:rPr>
              <a:t>another</a:t>
            </a:r>
            <a:r>
              <a:rPr sz="2750" spc="105" dirty="0">
                <a:latin typeface="Microsoft Sans Serif"/>
                <a:cs typeface="Microsoft Sans Serif"/>
              </a:rPr>
              <a:t> 	</a:t>
            </a:r>
            <a:r>
              <a:rPr sz="2750" spc="65" dirty="0">
                <a:latin typeface="Microsoft Sans Serif"/>
                <a:cs typeface="Microsoft Sans Serif"/>
              </a:rPr>
              <a:t>vector</a:t>
            </a:r>
            <a:r>
              <a:rPr sz="2750" spc="-100" dirty="0">
                <a:latin typeface="Microsoft Sans Serif"/>
                <a:cs typeface="Microsoft Sans Serif"/>
              </a:rPr>
              <a:t> </a:t>
            </a:r>
            <a:r>
              <a:rPr sz="2750" spc="180" dirty="0">
                <a:latin typeface="Microsoft Sans Serif"/>
                <a:cs typeface="Microsoft Sans Serif"/>
              </a:rPr>
              <a:t>of</a:t>
            </a:r>
            <a:r>
              <a:rPr sz="2750" spc="-100" dirty="0">
                <a:latin typeface="Microsoft Sans Serif"/>
                <a:cs typeface="Microsoft Sans Serif"/>
              </a:rPr>
              <a:t> </a:t>
            </a:r>
            <a:r>
              <a:rPr sz="2750" spc="20" dirty="0">
                <a:latin typeface="Microsoft Sans Serif"/>
                <a:cs typeface="Microsoft Sans Serif"/>
              </a:rPr>
              <a:t>equal</a:t>
            </a:r>
            <a:r>
              <a:rPr sz="2750" spc="-95" dirty="0">
                <a:latin typeface="Microsoft Sans Serif"/>
                <a:cs typeface="Microsoft Sans Serif"/>
              </a:rPr>
              <a:t> </a:t>
            </a:r>
            <a:r>
              <a:rPr sz="2750" spc="90" dirty="0">
                <a:latin typeface="Microsoft Sans Serif"/>
                <a:cs typeface="Microsoft Sans Serif"/>
              </a:rPr>
              <a:t>length</a:t>
            </a:r>
            <a:r>
              <a:rPr sz="2750" spc="-100" dirty="0">
                <a:latin typeface="Microsoft Sans Serif"/>
                <a:cs typeface="Microsoft Sans Serif"/>
              </a:rPr>
              <a:t> </a:t>
            </a:r>
            <a:r>
              <a:rPr sz="2750" spc="210" dirty="0">
                <a:latin typeface="Microsoft Sans Serif"/>
                <a:cs typeface="Microsoft Sans Serif"/>
              </a:rPr>
              <a:t>to</a:t>
            </a:r>
            <a:r>
              <a:rPr sz="2750" spc="-95" dirty="0">
                <a:latin typeface="Microsoft Sans Serif"/>
                <a:cs typeface="Microsoft Sans Serif"/>
              </a:rPr>
              <a:t> </a:t>
            </a:r>
            <a:r>
              <a:rPr sz="2750" spc="40" dirty="0">
                <a:latin typeface="Microsoft Sans Serif"/>
                <a:cs typeface="Microsoft Sans Serif"/>
              </a:rPr>
              <a:t>create</a:t>
            </a:r>
            <a:r>
              <a:rPr sz="2750" spc="-105" dirty="0">
                <a:latin typeface="Microsoft Sans Serif"/>
                <a:cs typeface="Microsoft Sans Serif"/>
              </a:rPr>
              <a:t> </a:t>
            </a:r>
            <a:r>
              <a:rPr sz="2750" spc="-110" dirty="0">
                <a:latin typeface="Microsoft Sans Serif"/>
                <a:cs typeface="Microsoft Sans Serif"/>
              </a:rPr>
              <a:t>a</a:t>
            </a:r>
            <a:r>
              <a:rPr sz="2750" spc="-95" dirty="0">
                <a:latin typeface="Microsoft Sans Serif"/>
                <a:cs typeface="Microsoft Sans Serif"/>
              </a:rPr>
              <a:t> </a:t>
            </a:r>
            <a:r>
              <a:rPr sz="2750" spc="55" dirty="0">
                <a:latin typeface="Microsoft Sans Serif"/>
                <a:cs typeface="Microsoft Sans Serif"/>
              </a:rPr>
              <a:t>new</a:t>
            </a:r>
            <a:r>
              <a:rPr sz="2750" spc="-100" dirty="0">
                <a:latin typeface="Microsoft Sans Serif"/>
                <a:cs typeface="Microsoft Sans Serif"/>
              </a:rPr>
              <a:t> </a:t>
            </a:r>
            <a:r>
              <a:rPr sz="2750" spc="125" dirty="0">
                <a:latin typeface="Microsoft Sans Serif"/>
                <a:cs typeface="Microsoft Sans Serif"/>
              </a:rPr>
              <a:t>third</a:t>
            </a:r>
            <a:r>
              <a:rPr sz="2750" spc="65" dirty="0">
                <a:latin typeface="Microsoft Sans Serif"/>
                <a:cs typeface="Microsoft Sans Serif"/>
              </a:rPr>
              <a:t> 	</a:t>
            </a:r>
            <a:r>
              <a:rPr sz="2750" spc="40" dirty="0">
                <a:latin typeface="Microsoft Sans Serif"/>
                <a:cs typeface="Microsoft Sans Serif"/>
              </a:rPr>
              <a:t>vector.</a:t>
            </a:r>
            <a:endParaRPr sz="2750">
              <a:latin typeface="Microsoft Sans Serif"/>
              <a:cs typeface="Microsoft Sans Serif"/>
            </a:endParaRPr>
          </a:p>
          <a:p>
            <a:pPr marL="335915" algn="ctr">
              <a:lnSpc>
                <a:spcPct val="100000"/>
              </a:lnSpc>
              <a:spcBef>
                <a:spcPts val="770"/>
              </a:spcBef>
            </a:pPr>
            <a:r>
              <a:rPr sz="2750" i="1" spc="-160" dirty="0">
                <a:latin typeface="Arial"/>
                <a:cs typeface="Arial"/>
              </a:rPr>
              <a:t>c</a:t>
            </a:r>
            <a:r>
              <a:rPr sz="2750" i="1" spc="-135" dirty="0">
                <a:latin typeface="Arial"/>
                <a:cs typeface="Arial"/>
              </a:rPr>
              <a:t> </a:t>
            </a:r>
            <a:r>
              <a:rPr sz="2750" i="1" spc="-70" dirty="0">
                <a:latin typeface="Arial"/>
                <a:cs typeface="Arial"/>
              </a:rPr>
              <a:t>=</a:t>
            </a:r>
            <a:r>
              <a:rPr sz="2750" i="1" spc="-135" dirty="0">
                <a:latin typeface="Arial"/>
                <a:cs typeface="Arial"/>
              </a:rPr>
              <a:t> </a:t>
            </a:r>
            <a:r>
              <a:rPr sz="2750" i="1" dirty="0">
                <a:latin typeface="Arial"/>
                <a:cs typeface="Arial"/>
              </a:rPr>
              <a:t>a</a:t>
            </a:r>
            <a:r>
              <a:rPr sz="2750" i="1" spc="-195" dirty="0">
                <a:latin typeface="Arial"/>
                <a:cs typeface="Arial"/>
              </a:rPr>
              <a:t> </a:t>
            </a:r>
            <a:r>
              <a:rPr sz="2750" i="1" dirty="0">
                <a:latin typeface="Arial"/>
                <a:cs typeface="Arial"/>
              </a:rPr>
              <a:t>−</a:t>
            </a:r>
            <a:r>
              <a:rPr sz="2750" i="1" spc="-160" dirty="0">
                <a:latin typeface="Arial"/>
                <a:cs typeface="Arial"/>
              </a:rPr>
              <a:t> </a:t>
            </a:r>
            <a:r>
              <a:rPr sz="2750" i="1" spc="-50" dirty="0">
                <a:latin typeface="Arial"/>
                <a:cs typeface="Arial"/>
              </a:rPr>
              <a:t>b</a:t>
            </a:r>
            <a:endParaRPr sz="2750">
              <a:latin typeface="Arial"/>
              <a:cs typeface="Arial"/>
            </a:endParaRPr>
          </a:p>
          <a:p>
            <a:pPr marL="372745" marR="30480" indent="-335280">
              <a:lnSpc>
                <a:spcPct val="99500"/>
              </a:lnSpc>
              <a:spcBef>
                <a:spcPts val="785"/>
              </a:spcBef>
              <a:buClr>
                <a:srgbClr val="6697CC"/>
              </a:buClr>
              <a:buFont typeface="Arial"/>
              <a:buChar char="•"/>
              <a:tabLst>
                <a:tab pos="372745" algn="l"/>
              </a:tabLst>
            </a:pPr>
            <a:r>
              <a:rPr sz="2750" spc="-114" dirty="0">
                <a:latin typeface="Microsoft Sans Serif"/>
                <a:cs typeface="Microsoft Sans Serif"/>
              </a:rPr>
              <a:t>As</a:t>
            </a:r>
            <a:r>
              <a:rPr sz="2750" spc="-90" dirty="0">
                <a:latin typeface="Microsoft Sans Serif"/>
                <a:cs typeface="Microsoft Sans Serif"/>
              </a:rPr>
              <a:t> </a:t>
            </a:r>
            <a:r>
              <a:rPr sz="2750" spc="140" dirty="0">
                <a:latin typeface="Microsoft Sans Serif"/>
                <a:cs typeface="Microsoft Sans Serif"/>
              </a:rPr>
              <a:t>with</a:t>
            </a:r>
            <a:r>
              <a:rPr sz="2750" spc="-100" dirty="0">
                <a:latin typeface="Microsoft Sans Serif"/>
                <a:cs typeface="Microsoft Sans Serif"/>
              </a:rPr>
              <a:t> </a:t>
            </a:r>
            <a:r>
              <a:rPr sz="2750" spc="55" dirty="0">
                <a:latin typeface="Microsoft Sans Serif"/>
                <a:cs typeface="Microsoft Sans Serif"/>
              </a:rPr>
              <a:t>addition,</a:t>
            </a:r>
            <a:r>
              <a:rPr sz="2750" spc="-100" dirty="0">
                <a:latin typeface="Microsoft Sans Serif"/>
                <a:cs typeface="Microsoft Sans Serif"/>
              </a:rPr>
              <a:t> </a:t>
            </a:r>
            <a:r>
              <a:rPr sz="2750" spc="120" dirty="0">
                <a:latin typeface="Microsoft Sans Serif"/>
                <a:cs typeface="Microsoft Sans Serif"/>
              </a:rPr>
              <a:t>the</a:t>
            </a:r>
            <a:r>
              <a:rPr sz="2750" spc="-95" dirty="0">
                <a:latin typeface="Microsoft Sans Serif"/>
                <a:cs typeface="Microsoft Sans Serif"/>
              </a:rPr>
              <a:t> </a:t>
            </a:r>
            <a:r>
              <a:rPr sz="2750" spc="55" dirty="0">
                <a:latin typeface="Microsoft Sans Serif"/>
                <a:cs typeface="Microsoft Sans Serif"/>
              </a:rPr>
              <a:t>new</a:t>
            </a:r>
            <a:r>
              <a:rPr sz="2750" spc="-90" dirty="0">
                <a:latin typeface="Microsoft Sans Serif"/>
                <a:cs typeface="Microsoft Sans Serif"/>
              </a:rPr>
              <a:t> </a:t>
            </a:r>
            <a:r>
              <a:rPr sz="2750" spc="70" dirty="0">
                <a:latin typeface="Microsoft Sans Serif"/>
                <a:cs typeface="Microsoft Sans Serif"/>
              </a:rPr>
              <a:t>vector</a:t>
            </a:r>
            <a:r>
              <a:rPr sz="2750" spc="-95" dirty="0">
                <a:latin typeface="Microsoft Sans Serif"/>
                <a:cs typeface="Microsoft Sans Serif"/>
              </a:rPr>
              <a:t> </a:t>
            </a:r>
            <a:r>
              <a:rPr sz="2750" spc="-85" dirty="0">
                <a:latin typeface="Microsoft Sans Serif"/>
                <a:cs typeface="Microsoft Sans Serif"/>
              </a:rPr>
              <a:t>has </a:t>
            </a:r>
            <a:r>
              <a:rPr sz="2750" spc="120" dirty="0">
                <a:latin typeface="Microsoft Sans Serif"/>
                <a:cs typeface="Microsoft Sans Serif"/>
              </a:rPr>
              <a:t>the</a:t>
            </a:r>
            <a:r>
              <a:rPr sz="2750" spc="-95" dirty="0">
                <a:latin typeface="Microsoft Sans Serif"/>
                <a:cs typeface="Microsoft Sans Serif"/>
              </a:rPr>
              <a:t> </a:t>
            </a:r>
            <a:r>
              <a:rPr sz="2750" spc="-20" dirty="0">
                <a:latin typeface="Microsoft Sans Serif"/>
                <a:cs typeface="Microsoft Sans Serif"/>
              </a:rPr>
              <a:t>same </a:t>
            </a:r>
            <a:r>
              <a:rPr sz="2750" spc="90" dirty="0">
                <a:latin typeface="Microsoft Sans Serif"/>
                <a:cs typeface="Microsoft Sans Serif"/>
              </a:rPr>
              <a:t>length</a:t>
            </a:r>
            <a:r>
              <a:rPr sz="2750" spc="-55" dirty="0">
                <a:latin typeface="Microsoft Sans Serif"/>
                <a:cs typeface="Microsoft Sans Serif"/>
              </a:rPr>
              <a:t> </a:t>
            </a:r>
            <a:r>
              <a:rPr sz="2750" spc="-150" dirty="0">
                <a:latin typeface="Microsoft Sans Serif"/>
                <a:cs typeface="Microsoft Sans Serif"/>
              </a:rPr>
              <a:t>as</a:t>
            </a:r>
            <a:r>
              <a:rPr sz="2750" spc="-40" dirty="0">
                <a:latin typeface="Microsoft Sans Serif"/>
                <a:cs typeface="Microsoft Sans Serif"/>
              </a:rPr>
              <a:t> </a:t>
            </a:r>
            <a:r>
              <a:rPr sz="2750" spc="114" dirty="0">
                <a:latin typeface="Microsoft Sans Serif"/>
                <a:cs typeface="Microsoft Sans Serif"/>
              </a:rPr>
              <a:t>the</a:t>
            </a:r>
            <a:r>
              <a:rPr sz="2750" spc="-60" dirty="0">
                <a:latin typeface="Microsoft Sans Serif"/>
                <a:cs typeface="Microsoft Sans Serif"/>
              </a:rPr>
              <a:t> </a:t>
            </a:r>
            <a:r>
              <a:rPr sz="2750" spc="75" dirty="0">
                <a:latin typeface="Microsoft Sans Serif"/>
                <a:cs typeface="Microsoft Sans Serif"/>
              </a:rPr>
              <a:t>parent</a:t>
            </a:r>
            <a:r>
              <a:rPr sz="2750" spc="-45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vectors</a:t>
            </a:r>
            <a:r>
              <a:rPr sz="2750" spc="-45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and</a:t>
            </a:r>
            <a:r>
              <a:rPr sz="2750" spc="-50" dirty="0">
                <a:latin typeface="Microsoft Sans Serif"/>
                <a:cs typeface="Microsoft Sans Serif"/>
              </a:rPr>
              <a:t> each</a:t>
            </a:r>
            <a:r>
              <a:rPr sz="2750" spc="-60" dirty="0">
                <a:latin typeface="Microsoft Sans Serif"/>
                <a:cs typeface="Microsoft Sans Serif"/>
              </a:rPr>
              <a:t> </a:t>
            </a:r>
            <a:r>
              <a:rPr sz="2750" spc="60" dirty="0">
                <a:latin typeface="Microsoft Sans Serif"/>
                <a:cs typeface="Microsoft Sans Serif"/>
              </a:rPr>
              <a:t>element </a:t>
            </a:r>
            <a:r>
              <a:rPr sz="2750" spc="180" dirty="0">
                <a:latin typeface="Microsoft Sans Serif"/>
                <a:cs typeface="Microsoft Sans Serif"/>
              </a:rPr>
              <a:t>of</a:t>
            </a:r>
            <a:r>
              <a:rPr sz="2750" spc="-80" dirty="0">
                <a:latin typeface="Microsoft Sans Serif"/>
                <a:cs typeface="Microsoft Sans Serif"/>
              </a:rPr>
              <a:t> </a:t>
            </a:r>
            <a:r>
              <a:rPr sz="2750" spc="120" dirty="0">
                <a:latin typeface="Microsoft Sans Serif"/>
                <a:cs typeface="Microsoft Sans Serif"/>
              </a:rPr>
              <a:t>the</a:t>
            </a:r>
            <a:r>
              <a:rPr sz="2750" spc="-80" dirty="0">
                <a:latin typeface="Microsoft Sans Serif"/>
                <a:cs typeface="Microsoft Sans Serif"/>
              </a:rPr>
              <a:t> </a:t>
            </a:r>
            <a:r>
              <a:rPr sz="2750" spc="55" dirty="0">
                <a:latin typeface="Microsoft Sans Serif"/>
                <a:cs typeface="Microsoft Sans Serif"/>
              </a:rPr>
              <a:t>new</a:t>
            </a:r>
            <a:r>
              <a:rPr sz="2750" spc="-75" dirty="0">
                <a:latin typeface="Microsoft Sans Serif"/>
                <a:cs typeface="Microsoft Sans Serif"/>
              </a:rPr>
              <a:t> </a:t>
            </a:r>
            <a:r>
              <a:rPr sz="2750" spc="70" dirty="0">
                <a:latin typeface="Microsoft Sans Serif"/>
                <a:cs typeface="Microsoft Sans Serif"/>
              </a:rPr>
              <a:t>vector</a:t>
            </a:r>
            <a:r>
              <a:rPr sz="2750" spc="-75" dirty="0">
                <a:latin typeface="Microsoft Sans Serif"/>
                <a:cs typeface="Microsoft Sans Serif"/>
              </a:rPr>
              <a:t> </a:t>
            </a:r>
            <a:r>
              <a:rPr sz="2750" spc="-20" dirty="0">
                <a:latin typeface="Microsoft Sans Serif"/>
                <a:cs typeface="Microsoft Sans Serif"/>
              </a:rPr>
              <a:t>is</a:t>
            </a:r>
            <a:r>
              <a:rPr sz="2750" spc="-70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calculated</a:t>
            </a:r>
            <a:r>
              <a:rPr sz="2750" spc="-85" dirty="0">
                <a:latin typeface="Microsoft Sans Serif"/>
                <a:cs typeface="Microsoft Sans Serif"/>
              </a:rPr>
              <a:t> </a:t>
            </a:r>
            <a:r>
              <a:rPr sz="2750" spc="-135" dirty="0">
                <a:latin typeface="Microsoft Sans Serif"/>
                <a:cs typeface="Microsoft Sans Serif"/>
              </a:rPr>
              <a:t>as</a:t>
            </a:r>
            <a:r>
              <a:rPr sz="2750" spc="-70" dirty="0">
                <a:latin typeface="Microsoft Sans Serif"/>
                <a:cs typeface="Microsoft Sans Serif"/>
              </a:rPr>
              <a:t> </a:t>
            </a:r>
            <a:r>
              <a:rPr sz="2750" spc="95" dirty="0">
                <a:latin typeface="Microsoft Sans Serif"/>
                <a:cs typeface="Microsoft Sans Serif"/>
              </a:rPr>
              <a:t>the </a:t>
            </a:r>
            <a:r>
              <a:rPr sz="2750" spc="65" dirty="0">
                <a:latin typeface="Microsoft Sans Serif"/>
                <a:cs typeface="Microsoft Sans Serif"/>
              </a:rPr>
              <a:t>subtraction</a:t>
            </a:r>
            <a:r>
              <a:rPr sz="2750" spc="-40" dirty="0">
                <a:latin typeface="Microsoft Sans Serif"/>
                <a:cs typeface="Microsoft Sans Serif"/>
              </a:rPr>
              <a:t> </a:t>
            </a:r>
            <a:r>
              <a:rPr sz="2750" spc="185" dirty="0">
                <a:latin typeface="Microsoft Sans Serif"/>
                <a:cs typeface="Microsoft Sans Serif"/>
              </a:rPr>
              <a:t>of</a:t>
            </a:r>
            <a:r>
              <a:rPr sz="2750" spc="-40" dirty="0">
                <a:latin typeface="Microsoft Sans Serif"/>
                <a:cs typeface="Microsoft Sans Serif"/>
              </a:rPr>
              <a:t> </a:t>
            </a:r>
            <a:r>
              <a:rPr sz="2750" spc="114" dirty="0">
                <a:latin typeface="Microsoft Sans Serif"/>
                <a:cs typeface="Microsoft Sans Serif"/>
              </a:rPr>
              <a:t>the</a:t>
            </a:r>
            <a:r>
              <a:rPr sz="2750" spc="-55" dirty="0">
                <a:latin typeface="Microsoft Sans Serif"/>
                <a:cs typeface="Microsoft Sans Serif"/>
              </a:rPr>
              <a:t> </a:t>
            </a:r>
            <a:r>
              <a:rPr sz="2750" dirty="0">
                <a:latin typeface="Microsoft Sans Serif"/>
                <a:cs typeface="Microsoft Sans Serif"/>
              </a:rPr>
              <a:t>elements</a:t>
            </a:r>
            <a:r>
              <a:rPr sz="2750" spc="-35" dirty="0">
                <a:latin typeface="Microsoft Sans Serif"/>
                <a:cs typeface="Microsoft Sans Serif"/>
              </a:rPr>
              <a:t> </a:t>
            </a:r>
            <a:r>
              <a:rPr sz="2750" spc="110" dirty="0">
                <a:latin typeface="Microsoft Sans Serif"/>
                <a:cs typeface="Microsoft Sans Serif"/>
              </a:rPr>
              <a:t>at</a:t>
            </a:r>
            <a:r>
              <a:rPr sz="2750" spc="-40" dirty="0">
                <a:latin typeface="Microsoft Sans Serif"/>
                <a:cs typeface="Microsoft Sans Serif"/>
              </a:rPr>
              <a:t> </a:t>
            </a:r>
            <a:r>
              <a:rPr sz="2750" spc="114" dirty="0">
                <a:latin typeface="Microsoft Sans Serif"/>
                <a:cs typeface="Microsoft Sans Serif"/>
              </a:rPr>
              <a:t>the</a:t>
            </a:r>
            <a:r>
              <a:rPr sz="2750" spc="-55" dirty="0">
                <a:latin typeface="Microsoft Sans Serif"/>
                <a:cs typeface="Microsoft Sans Serif"/>
              </a:rPr>
              <a:t> </a:t>
            </a:r>
            <a:r>
              <a:rPr sz="2750" spc="-50" dirty="0">
                <a:latin typeface="Microsoft Sans Serif"/>
                <a:cs typeface="Microsoft Sans Serif"/>
              </a:rPr>
              <a:t>same </a:t>
            </a:r>
            <a:r>
              <a:rPr sz="2750" spc="-10" dirty="0">
                <a:latin typeface="Microsoft Sans Serif"/>
                <a:cs typeface="Microsoft Sans Serif"/>
              </a:rPr>
              <a:t>indices.</a:t>
            </a:r>
            <a:endParaRPr sz="2750">
              <a:latin typeface="Microsoft Sans Serif"/>
              <a:cs typeface="Microsoft Sans Serif"/>
            </a:endParaRPr>
          </a:p>
          <a:p>
            <a:pPr marL="339090" algn="ctr">
              <a:lnSpc>
                <a:spcPct val="100000"/>
              </a:lnSpc>
              <a:spcBef>
                <a:spcPts val="770"/>
              </a:spcBef>
            </a:pPr>
            <a:r>
              <a:rPr sz="2750" i="1" spc="-160" dirty="0">
                <a:latin typeface="Arial"/>
                <a:cs typeface="Arial"/>
              </a:rPr>
              <a:t>c</a:t>
            </a:r>
            <a:r>
              <a:rPr sz="2750" i="1" spc="-135" dirty="0">
                <a:latin typeface="Arial"/>
                <a:cs typeface="Arial"/>
              </a:rPr>
              <a:t> </a:t>
            </a:r>
            <a:r>
              <a:rPr sz="2750" i="1" spc="-70" dirty="0">
                <a:latin typeface="Arial"/>
                <a:cs typeface="Arial"/>
              </a:rPr>
              <a:t>=</a:t>
            </a:r>
            <a:r>
              <a:rPr sz="2750" i="1" spc="-135" dirty="0">
                <a:latin typeface="Arial"/>
                <a:cs typeface="Arial"/>
              </a:rPr>
              <a:t> </a:t>
            </a:r>
            <a:r>
              <a:rPr sz="2750" i="1" dirty="0">
                <a:latin typeface="Arial"/>
                <a:cs typeface="Arial"/>
              </a:rPr>
              <a:t>(a</a:t>
            </a:r>
            <a:r>
              <a:rPr sz="2400" i="1" baseline="-17361" dirty="0">
                <a:latin typeface="Arial"/>
                <a:cs typeface="Arial"/>
              </a:rPr>
              <a:t>1</a:t>
            </a:r>
            <a:r>
              <a:rPr sz="2400" i="1" spc="112" baseline="-17361" dirty="0">
                <a:latin typeface="Arial"/>
                <a:cs typeface="Arial"/>
              </a:rPr>
              <a:t> </a:t>
            </a:r>
            <a:r>
              <a:rPr sz="2750" i="1" spc="-70" dirty="0">
                <a:latin typeface="Arial"/>
                <a:cs typeface="Arial"/>
              </a:rPr>
              <a:t>−</a:t>
            </a:r>
            <a:r>
              <a:rPr sz="2750" i="1" spc="-135" dirty="0">
                <a:latin typeface="Arial"/>
                <a:cs typeface="Arial"/>
              </a:rPr>
              <a:t> </a:t>
            </a:r>
            <a:r>
              <a:rPr sz="2750" i="1" dirty="0">
                <a:latin typeface="Arial"/>
                <a:cs typeface="Arial"/>
              </a:rPr>
              <a:t>b</a:t>
            </a:r>
            <a:r>
              <a:rPr sz="2400" i="1" baseline="-17361" dirty="0">
                <a:latin typeface="Arial"/>
                <a:cs typeface="Arial"/>
              </a:rPr>
              <a:t>1</a:t>
            </a:r>
            <a:r>
              <a:rPr sz="2400" i="1" spc="254" baseline="-17361" dirty="0">
                <a:latin typeface="Arial"/>
                <a:cs typeface="Arial"/>
              </a:rPr>
              <a:t> </a:t>
            </a:r>
            <a:r>
              <a:rPr sz="2750" i="1" spc="-100" dirty="0">
                <a:latin typeface="Arial"/>
                <a:cs typeface="Arial"/>
              </a:rPr>
              <a:t>,</a:t>
            </a:r>
            <a:r>
              <a:rPr sz="2750" i="1" spc="-130" dirty="0">
                <a:latin typeface="Arial"/>
                <a:cs typeface="Arial"/>
              </a:rPr>
              <a:t> </a:t>
            </a:r>
            <a:r>
              <a:rPr sz="2750" i="1" dirty="0">
                <a:latin typeface="Arial"/>
                <a:cs typeface="Arial"/>
              </a:rPr>
              <a:t>a</a:t>
            </a:r>
            <a:r>
              <a:rPr sz="2400" i="1" baseline="-17361" dirty="0">
                <a:latin typeface="Arial"/>
                <a:cs typeface="Arial"/>
              </a:rPr>
              <a:t>2</a:t>
            </a:r>
            <a:r>
              <a:rPr sz="2400" i="1" spc="247" baseline="-17361" dirty="0">
                <a:latin typeface="Arial"/>
                <a:cs typeface="Arial"/>
              </a:rPr>
              <a:t> </a:t>
            </a:r>
            <a:r>
              <a:rPr sz="2750" i="1" spc="-70" dirty="0">
                <a:latin typeface="Arial"/>
                <a:cs typeface="Arial"/>
              </a:rPr>
              <a:t>−</a:t>
            </a:r>
            <a:r>
              <a:rPr sz="2750" i="1" spc="-135" dirty="0">
                <a:latin typeface="Arial"/>
                <a:cs typeface="Arial"/>
              </a:rPr>
              <a:t> </a:t>
            </a:r>
            <a:r>
              <a:rPr sz="2750" i="1" dirty="0">
                <a:latin typeface="Arial"/>
                <a:cs typeface="Arial"/>
              </a:rPr>
              <a:t>b</a:t>
            </a:r>
            <a:r>
              <a:rPr sz="2400" i="1" baseline="-17361" dirty="0">
                <a:latin typeface="Arial"/>
                <a:cs typeface="Arial"/>
              </a:rPr>
              <a:t>2</a:t>
            </a:r>
            <a:r>
              <a:rPr sz="2400" i="1" spc="254" baseline="-17361" dirty="0">
                <a:latin typeface="Arial"/>
                <a:cs typeface="Arial"/>
              </a:rPr>
              <a:t> </a:t>
            </a:r>
            <a:r>
              <a:rPr sz="2750" i="1" spc="-100" dirty="0">
                <a:latin typeface="Arial"/>
                <a:cs typeface="Arial"/>
              </a:rPr>
              <a:t>,</a:t>
            </a:r>
            <a:r>
              <a:rPr sz="2750" i="1" spc="-130" dirty="0">
                <a:latin typeface="Arial"/>
                <a:cs typeface="Arial"/>
              </a:rPr>
              <a:t> </a:t>
            </a:r>
            <a:r>
              <a:rPr sz="2750" i="1" dirty="0">
                <a:latin typeface="Arial"/>
                <a:cs typeface="Arial"/>
              </a:rPr>
              <a:t>a</a:t>
            </a:r>
            <a:r>
              <a:rPr sz="2400" i="1" baseline="-17361" dirty="0">
                <a:latin typeface="Arial"/>
                <a:cs typeface="Arial"/>
              </a:rPr>
              <a:t>3</a:t>
            </a:r>
            <a:r>
              <a:rPr sz="2400" i="1" spc="262" baseline="-17361" dirty="0">
                <a:latin typeface="Arial"/>
                <a:cs typeface="Arial"/>
              </a:rPr>
              <a:t> </a:t>
            </a:r>
            <a:r>
              <a:rPr sz="2750" i="1" spc="-70" dirty="0">
                <a:latin typeface="Arial"/>
                <a:cs typeface="Arial"/>
              </a:rPr>
              <a:t>−</a:t>
            </a:r>
            <a:r>
              <a:rPr sz="2750" i="1" spc="-135" dirty="0">
                <a:latin typeface="Arial"/>
                <a:cs typeface="Arial"/>
              </a:rPr>
              <a:t> </a:t>
            </a:r>
            <a:r>
              <a:rPr sz="2750" i="1" dirty="0">
                <a:latin typeface="Arial"/>
                <a:cs typeface="Arial"/>
              </a:rPr>
              <a:t>b</a:t>
            </a:r>
            <a:r>
              <a:rPr sz="2400" i="1" baseline="-17361" dirty="0">
                <a:latin typeface="Arial"/>
                <a:cs typeface="Arial"/>
              </a:rPr>
              <a:t>3</a:t>
            </a:r>
            <a:r>
              <a:rPr sz="2400" i="1" spc="254" baseline="-17361" dirty="0">
                <a:latin typeface="Arial"/>
                <a:cs typeface="Arial"/>
              </a:rPr>
              <a:t> </a:t>
            </a:r>
            <a:r>
              <a:rPr sz="2750" i="1" spc="-50" dirty="0">
                <a:latin typeface="Arial"/>
                <a:cs typeface="Arial"/>
              </a:rPr>
              <a:t>)</a:t>
            </a:r>
            <a:endParaRPr sz="2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Vector</a:t>
            </a:r>
            <a:r>
              <a:rPr spc="-12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17436"/>
            <a:ext cx="3357879" cy="262255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b="1" spc="-10" dirty="0">
                <a:latin typeface="Arial"/>
                <a:cs typeface="Arial"/>
              </a:rPr>
              <a:t>Subtraction</a:t>
            </a:r>
            <a:endParaRPr sz="2800">
              <a:latin typeface="Arial"/>
              <a:cs typeface="Arial"/>
            </a:endParaRPr>
          </a:p>
          <a:p>
            <a:pPr marL="355600" marR="5080" indent="-343535">
              <a:lnSpc>
                <a:spcPct val="120600"/>
              </a:lnSpc>
              <a:spcBef>
                <a:spcPts val="95"/>
              </a:spcBef>
              <a:buClr>
                <a:srgbClr val="6697CC"/>
              </a:buClr>
              <a:buFont typeface="Arial"/>
              <a:buChar char="•"/>
              <a:tabLst>
                <a:tab pos="755650" algn="l"/>
              </a:tabLst>
            </a:pPr>
            <a:r>
              <a:rPr sz="2800" spc="65" dirty="0">
                <a:latin typeface="Microsoft Sans Serif"/>
                <a:cs typeface="Microsoft Sans Serif"/>
              </a:rPr>
              <a:t>Put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another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way: 	</a:t>
            </a:r>
            <a:r>
              <a:rPr sz="2800" dirty="0">
                <a:latin typeface="Microsoft Sans Serif"/>
                <a:cs typeface="Microsoft Sans Serif"/>
              </a:rPr>
              <a:t>c[0]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a[0]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−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b[0]</a:t>
            </a:r>
            <a:endParaRPr sz="2800">
              <a:latin typeface="Microsoft Sans Serif"/>
              <a:cs typeface="Microsoft Sans Serif"/>
            </a:endParaRPr>
          </a:p>
          <a:p>
            <a:pPr marL="75565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Microsoft Sans Serif"/>
                <a:cs typeface="Microsoft Sans Serif"/>
              </a:rPr>
              <a:t>c[1]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a[1]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−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b[1]</a:t>
            </a:r>
            <a:endParaRPr sz="2800">
              <a:latin typeface="Microsoft Sans Serif"/>
              <a:cs typeface="Microsoft Sans Serif"/>
            </a:endParaRPr>
          </a:p>
          <a:p>
            <a:pPr marL="75565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Microsoft Sans Serif"/>
                <a:cs typeface="Microsoft Sans Serif"/>
              </a:rPr>
              <a:t>c[2]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a[2]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−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b[2]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Vector</a:t>
            </a:r>
            <a:r>
              <a:rPr spc="-12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540" y="1417436"/>
            <a:ext cx="7867015" cy="450469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0"/>
              </a:spcBef>
              <a:buClr>
                <a:srgbClr val="6697CC"/>
              </a:buClr>
              <a:buFont typeface="Arial"/>
              <a:buChar char="•"/>
              <a:tabLst>
                <a:tab pos="381000" algn="l"/>
              </a:tabLst>
            </a:pPr>
            <a:r>
              <a:rPr sz="2800" b="1" spc="-10" dirty="0">
                <a:latin typeface="Arial"/>
                <a:cs typeface="Arial"/>
              </a:rPr>
              <a:t>Multiplication</a:t>
            </a:r>
            <a:endParaRPr sz="2800">
              <a:latin typeface="Arial"/>
              <a:cs typeface="Arial"/>
            </a:endParaRPr>
          </a:p>
          <a:p>
            <a:pPr marL="381000" marR="13335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"/>
              <a:buChar char="•"/>
              <a:tabLst>
                <a:tab pos="381000" algn="l"/>
              </a:tabLst>
            </a:pPr>
            <a:r>
              <a:rPr sz="2800" dirty="0">
                <a:latin typeface="Microsoft Sans Serif"/>
                <a:cs typeface="Microsoft Sans Serif"/>
              </a:rPr>
              <a:t>Two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vectors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spc="185" dirty="0">
                <a:latin typeface="Microsoft Sans Serif"/>
                <a:cs typeface="Microsoft Sans Serif"/>
              </a:rPr>
              <a:t>of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equal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length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spc="-55" dirty="0">
                <a:latin typeface="Microsoft Sans Serif"/>
                <a:cs typeface="Microsoft Sans Serif"/>
              </a:rPr>
              <a:t>can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be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85" dirty="0">
                <a:latin typeface="Microsoft Sans Serif"/>
                <a:cs typeface="Microsoft Sans Serif"/>
              </a:rPr>
              <a:t>multiplied </a:t>
            </a:r>
            <a:r>
              <a:rPr sz="2800" spc="80" dirty="0">
                <a:latin typeface="Microsoft Sans Serif"/>
                <a:cs typeface="Microsoft Sans Serif"/>
              </a:rPr>
              <a:t>together.</a:t>
            </a:r>
            <a:endParaRPr sz="2800">
              <a:latin typeface="Microsoft Sans Serif"/>
              <a:cs typeface="Microsoft Sans Serif"/>
            </a:endParaRPr>
          </a:p>
          <a:p>
            <a:pPr marL="3462020">
              <a:lnSpc>
                <a:spcPct val="100000"/>
              </a:lnSpc>
              <a:spcBef>
                <a:spcPts val="785"/>
              </a:spcBef>
            </a:pPr>
            <a:r>
              <a:rPr sz="2800" spc="-100" dirty="0">
                <a:latin typeface="Microsoft Sans Serif"/>
                <a:cs typeface="Microsoft Sans Serif"/>
              </a:rPr>
              <a:t>c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190" dirty="0">
                <a:latin typeface="Microsoft Sans Serif"/>
                <a:cs typeface="Microsoft Sans Serif"/>
              </a:rPr>
              <a:t> </a:t>
            </a:r>
            <a:r>
              <a:rPr sz="2800" spc="-110" dirty="0">
                <a:latin typeface="Microsoft Sans Serif"/>
                <a:cs typeface="Microsoft Sans Serif"/>
              </a:rPr>
              <a:t>a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×</a:t>
            </a:r>
            <a:r>
              <a:rPr sz="2800" spc="-160" dirty="0">
                <a:latin typeface="Microsoft Sans Serif"/>
                <a:cs typeface="Microsoft Sans Serif"/>
              </a:rPr>
              <a:t> </a:t>
            </a:r>
            <a:r>
              <a:rPr sz="2800" spc="25" dirty="0">
                <a:latin typeface="Microsoft Sans Serif"/>
                <a:cs typeface="Microsoft Sans Serif"/>
              </a:rPr>
              <a:t>b</a:t>
            </a:r>
            <a:endParaRPr sz="2800">
              <a:latin typeface="Microsoft Sans Serif"/>
              <a:cs typeface="Microsoft Sans Serif"/>
            </a:endParaRPr>
          </a:p>
          <a:p>
            <a:pPr marL="381000" marR="3048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"/>
              <a:buChar char="•"/>
              <a:tabLst>
                <a:tab pos="381000" algn="l"/>
              </a:tabLst>
            </a:pPr>
            <a:r>
              <a:rPr sz="2800" spc="-100" dirty="0">
                <a:latin typeface="Microsoft Sans Serif"/>
                <a:cs typeface="Microsoft Sans Serif"/>
              </a:rPr>
              <a:t>As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140" dirty="0">
                <a:latin typeface="Microsoft Sans Serif"/>
                <a:cs typeface="Microsoft Sans Serif"/>
              </a:rPr>
              <a:t>with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addition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and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subtraction,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45" dirty="0">
                <a:latin typeface="Microsoft Sans Serif"/>
                <a:cs typeface="Microsoft Sans Serif"/>
              </a:rPr>
              <a:t>this </a:t>
            </a:r>
            <a:r>
              <a:rPr sz="2800" spc="70" dirty="0">
                <a:latin typeface="Microsoft Sans Serif"/>
                <a:cs typeface="Microsoft Sans Serif"/>
              </a:rPr>
              <a:t>operation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is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performed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element-</a:t>
            </a:r>
            <a:r>
              <a:rPr sz="2800" spc="-10" dirty="0">
                <a:latin typeface="Microsoft Sans Serif"/>
                <a:cs typeface="Microsoft Sans Serif"/>
              </a:rPr>
              <a:t>wise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204" dirty="0">
                <a:latin typeface="Microsoft Sans Serif"/>
                <a:cs typeface="Microsoft Sans Serif"/>
              </a:rPr>
              <a:t>to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65" dirty="0">
                <a:latin typeface="Microsoft Sans Serif"/>
                <a:cs typeface="Microsoft Sans Serif"/>
              </a:rPr>
              <a:t>result </a:t>
            </a:r>
            <a:r>
              <a:rPr sz="2800" spc="55" dirty="0">
                <a:latin typeface="Microsoft Sans Serif"/>
                <a:cs typeface="Microsoft Sans Serif"/>
              </a:rPr>
              <a:t>in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-114" dirty="0">
                <a:latin typeface="Microsoft Sans Serif"/>
                <a:cs typeface="Microsoft Sans Serif"/>
              </a:rPr>
              <a:t>a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new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vector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185" dirty="0">
                <a:latin typeface="Microsoft Sans Serif"/>
                <a:cs typeface="Microsoft Sans Serif"/>
              </a:rPr>
              <a:t>of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55" dirty="0">
                <a:latin typeface="Microsoft Sans Serif"/>
                <a:cs typeface="Microsoft Sans Serif"/>
              </a:rPr>
              <a:t>same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length.</a:t>
            </a:r>
            <a:endParaRPr sz="2800">
              <a:latin typeface="Microsoft Sans Serif"/>
              <a:cs typeface="Microsoft Sans Serif"/>
            </a:endParaRPr>
          </a:p>
          <a:p>
            <a:pPr marL="2545715" marR="1359535" indent="-833119">
              <a:lnSpc>
                <a:spcPts val="4450"/>
              </a:lnSpc>
              <a:tabLst>
                <a:tab pos="6169660" algn="l"/>
              </a:tabLst>
            </a:pPr>
            <a:r>
              <a:rPr sz="2800" i="1" spc="-140" dirty="0">
                <a:latin typeface="Arial"/>
                <a:cs typeface="Arial"/>
              </a:rPr>
              <a:t>c </a:t>
            </a:r>
            <a:r>
              <a:rPr sz="2800" i="1" spc="-70" dirty="0">
                <a:latin typeface="Arial"/>
                <a:cs typeface="Arial"/>
              </a:rPr>
              <a:t>=</a:t>
            </a:r>
            <a:r>
              <a:rPr sz="2800" i="1" spc="-14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(a</a:t>
            </a:r>
            <a:r>
              <a:rPr sz="2400" i="1" baseline="-19097" dirty="0">
                <a:latin typeface="Arial"/>
                <a:cs typeface="Arial"/>
              </a:rPr>
              <a:t>1</a:t>
            </a:r>
            <a:r>
              <a:rPr sz="2400" i="1" spc="247" baseline="-19097" dirty="0">
                <a:latin typeface="Arial"/>
                <a:cs typeface="Arial"/>
              </a:rPr>
              <a:t> </a:t>
            </a:r>
            <a:r>
              <a:rPr sz="2800" i="1" spc="-70" dirty="0">
                <a:latin typeface="Arial"/>
                <a:cs typeface="Arial"/>
              </a:rPr>
              <a:t>×</a:t>
            </a:r>
            <a:r>
              <a:rPr sz="2800" i="1" spc="-14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b</a:t>
            </a:r>
            <a:r>
              <a:rPr sz="2400" i="1" baseline="-19097" dirty="0">
                <a:latin typeface="Arial"/>
                <a:cs typeface="Arial"/>
              </a:rPr>
              <a:t>1</a:t>
            </a:r>
            <a:r>
              <a:rPr sz="2400" i="1" spc="284" baseline="-19097" dirty="0">
                <a:latin typeface="Arial"/>
                <a:cs typeface="Arial"/>
              </a:rPr>
              <a:t> </a:t>
            </a:r>
            <a:r>
              <a:rPr sz="2800" i="1" spc="-100" dirty="0">
                <a:latin typeface="Arial"/>
                <a:cs typeface="Arial"/>
              </a:rPr>
              <a:t>,</a:t>
            </a:r>
            <a:r>
              <a:rPr sz="2800" i="1" spc="-14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a</a:t>
            </a:r>
            <a:r>
              <a:rPr sz="2400" i="1" baseline="-19097" dirty="0">
                <a:latin typeface="Arial"/>
                <a:cs typeface="Arial"/>
              </a:rPr>
              <a:t>2</a:t>
            </a:r>
            <a:r>
              <a:rPr sz="2400" i="1" spc="284" baseline="-19097" dirty="0">
                <a:latin typeface="Arial"/>
                <a:cs typeface="Arial"/>
              </a:rPr>
              <a:t> </a:t>
            </a:r>
            <a:r>
              <a:rPr sz="2800" i="1" spc="-70" dirty="0">
                <a:latin typeface="Arial"/>
                <a:cs typeface="Arial"/>
              </a:rPr>
              <a:t>×</a:t>
            </a:r>
            <a:r>
              <a:rPr sz="2800" i="1" spc="-14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b</a:t>
            </a:r>
            <a:r>
              <a:rPr sz="2400" i="1" baseline="-19097" dirty="0">
                <a:latin typeface="Arial"/>
                <a:cs typeface="Arial"/>
              </a:rPr>
              <a:t>2</a:t>
            </a:r>
            <a:r>
              <a:rPr sz="2400" i="1" spc="284" baseline="-19097" dirty="0">
                <a:latin typeface="Arial"/>
                <a:cs typeface="Arial"/>
              </a:rPr>
              <a:t> </a:t>
            </a:r>
            <a:r>
              <a:rPr sz="2800" i="1" spc="-100" dirty="0">
                <a:latin typeface="Arial"/>
                <a:cs typeface="Arial"/>
              </a:rPr>
              <a:t>,</a:t>
            </a:r>
            <a:r>
              <a:rPr sz="2800" i="1" spc="-13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a</a:t>
            </a:r>
            <a:r>
              <a:rPr sz="2400" i="1" baseline="-19097" dirty="0">
                <a:latin typeface="Arial"/>
                <a:cs typeface="Arial"/>
              </a:rPr>
              <a:t>3</a:t>
            </a:r>
            <a:r>
              <a:rPr sz="2400" i="1" spc="284" baseline="-19097" dirty="0">
                <a:latin typeface="Arial"/>
                <a:cs typeface="Arial"/>
              </a:rPr>
              <a:t> </a:t>
            </a:r>
            <a:r>
              <a:rPr sz="2800" i="1" spc="-70" dirty="0">
                <a:latin typeface="Arial"/>
                <a:cs typeface="Arial"/>
              </a:rPr>
              <a:t>×</a:t>
            </a:r>
            <a:r>
              <a:rPr sz="2800" i="1" spc="-14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b</a:t>
            </a:r>
            <a:r>
              <a:rPr sz="2400" i="1" baseline="-19097" dirty="0">
                <a:latin typeface="Arial"/>
                <a:cs typeface="Arial"/>
              </a:rPr>
              <a:t>3</a:t>
            </a:r>
            <a:r>
              <a:rPr sz="2400" i="1" spc="292" baseline="-19097" dirty="0">
                <a:latin typeface="Arial"/>
                <a:cs typeface="Arial"/>
              </a:rPr>
              <a:t> </a:t>
            </a:r>
            <a:r>
              <a:rPr sz="2800" i="1" spc="-50" dirty="0">
                <a:latin typeface="Arial"/>
                <a:cs typeface="Arial"/>
              </a:rPr>
              <a:t>)</a:t>
            </a:r>
            <a:r>
              <a:rPr sz="2800" i="1" dirty="0">
                <a:latin typeface="Arial"/>
                <a:cs typeface="Arial"/>
              </a:rPr>
              <a:t>	</a:t>
            </a:r>
            <a:r>
              <a:rPr sz="2800" i="1" spc="-25" dirty="0">
                <a:latin typeface="Arial"/>
                <a:cs typeface="Arial"/>
              </a:rPr>
              <a:t>or </a:t>
            </a:r>
            <a:r>
              <a:rPr sz="2800" i="1" spc="-140" dirty="0">
                <a:latin typeface="Arial"/>
                <a:cs typeface="Arial"/>
              </a:rPr>
              <a:t>c</a:t>
            </a:r>
            <a:r>
              <a:rPr sz="2800" i="1" spc="-135" dirty="0">
                <a:latin typeface="Arial"/>
                <a:cs typeface="Arial"/>
              </a:rPr>
              <a:t> </a:t>
            </a:r>
            <a:r>
              <a:rPr sz="2800" i="1" spc="-70" dirty="0">
                <a:latin typeface="Arial"/>
                <a:cs typeface="Arial"/>
              </a:rPr>
              <a:t>=</a:t>
            </a:r>
            <a:r>
              <a:rPr sz="2800" i="1" spc="-14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(a</a:t>
            </a:r>
            <a:r>
              <a:rPr sz="2400" i="1" baseline="-19097" dirty="0">
                <a:latin typeface="Arial"/>
                <a:cs typeface="Arial"/>
              </a:rPr>
              <a:t>1</a:t>
            </a:r>
            <a:r>
              <a:rPr sz="2800" i="1" dirty="0">
                <a:latin typeface="Arial"/>
                <a:cs typeface="Arial"/>
              </a:rPr>
              <a:t>b</a:t>
            </a:r>
            <a:r>
              <a:rPr sz="2400" i="1" baseline="-19097" dirty="0">
                <a:latin typeface="Arial"/>
                <a:cs typeface="Arial"/>
              </a:rPr>
              <a:t>1</a:t>
            </a:r>
            <a:r>
              <a:rPr sz="2400" i="1" spc="97" baseline="-19097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,a</a:t>
            </a:r>
            <a:r>
              <a:rPr sz="2400" i="1" baseline="-19097" dirty="0">
                <a:latin typeface="Arial"/>
                <a:cs typeface="Arial"/>
              </a:rPr>
              <a:t>2</a:t>
            </a:r>
            <a:r>
              <a:rPr sz="2800" i="1" dirty="0">
                <a:latin typeface="Arial"/>
                <a:cs typeface="Arial"/>
              </a:rPr>
              <a:t>b</a:t>
            </a:r>
            <a:r>
              <a:rPr sz="2400" i="1" baseline="-19097" dirty="0">
                <a:latin typeface="Arial"/>
                <a:cs typeface="Arial"/>
              </a:rPr>
              <a:t>2</a:t>
            </a:r>
            <a:r>
              <a:rPr sz="2400" i="1" spc="240" baseline="-19097" dirty="0">
                <a:latin typeface="Arial"/>
                <a:cs typeface="Arial"/>
              </a:rPr>
              <a:t> </a:t>
            </a:r>
            <a:r>
              <a:rPr sz="2800" i="1" spc="-100" dirty="0">
                <a:latin typeface="Arial"/>
                <a:cs typeface="Arial"/>
              </a:rPr>
              <a:t>,</a:t>
            </a:r>
            <a:r>
              <a:rPr sz="2800" i="1" spc="-14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a</a:t>
            </a:r>
            <a:r>
              <a:rPr sz="2400" i="1" baseline="-19097" dirty="0">
                <a:latin typeface="Arial"/>
                <a:cs typeface="Arial"/>
              </a:rPr>
              <a:t>3</a:t>
            </a:r>
            <a:r>
              <a:rPr sz="2800" i="1" dirty="0">
                <a:latin typeface="Arial"/>
                <a:cs typeface="Arial"/>
              </a:rPr>
              <a:t>b</a:t>
            </a:r>
            <a:r>
              <a:rPr sz="2400" i="1" baseline="-19097" dirty="0">
                <a:latin typeface="Arial"/>
                <a:cs typeface="Arial"/>
              </a:rPr>
              <a:t>3</a:t>
            </a:r>
            <a:r>
              <a:rPr sz="2400" i="1" spc="240" baseline="-19097" dirty="0">
                <a:latin typeface="Arial"/>
                <a:cs typeface="Arial"/>
              </a:rPr>
              <a:t> </a:t>
            </a:r>
            <a:r>
              <a:rPr sz="2800" i="1" spc="-50" dirty="0"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Vector</a:t>
            </a:r>
            <a:r>
              <a:rPr spc="-12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17436"/>
            <a:ext cx="3357879" cy="262255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b="1" spc="-10" dirty="0">
                <a:latin typeface="Arial"/>
                <a:cs typeface="Arial"/>
              </a:rPr>
              <a:t>Multiplication</a:t>
            </a:r>
            <a:endParaRPr sz="2800">
              <a:latin typeface="Arial"/>
              <a:cs typeface="Arial"/>
            </a:endParaRPr>
          </a:p>
          <a:p>
            <a:pPr marL="355600" marR="5080" indent="-343535">
              <a:lnSpc>
                <a:spcPct val="120600"/>
              </a:lnSpc>
              <a:spcBef>
                <a:spcPts val="95"/>
              </a:spcBef>
              <a:buClr>
                <a:srgbClr val="6697CC"/>
              </a:buClr>
              <a:buFont typeface="Arial"/>
              <a:buChar char="•"/>
              <a:tabLst>
                <a:tab pos="755650" algn="l"/>
              </a:tabLst>
            </a:pPr>
            <a:r>
              <a:rPr sz="2800" spc="65" dirty="0">
                <a:latin typeface="Microsoft Sans Serif"/>
                <a:cs typeface="Microsoft Sans Serif"/>
              </a:rPr>
              <a:t>Put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another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way: 	</a:t>
            </a:r>
            <a:r>
              <a:rPr sz="2800" dirty="0">
                <a:latin typeface="Microsoft Sans Serif"/>
                <a:cs typeface="Microsoft Sans Serif"/>
              </a:rPr>
              <a:t>c[0]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a[0]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×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b[0]</a:t>
            </a:r>
            <a:endParaRPr sz="2800">
              <a:latin typeface="Microsoft Sans Serif"/>
              <a:cs typeface="Microsoft Sans Serif"/>
            </a:endParaRPr>
          </a:p>
          <a:p>
            <a:pPr marL="75565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Microsoft Sans Serif"/>
                <a:cs typeface="Microsoft Sans Serif"/>
              </a:rPr>
              <a:t>c[1]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a[1]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×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b[1]</a:t>
            </a:r>
            <a:endParaRPr sz="2800">
              <a:latin typeface="Microsoft Sans Serif"/>
              <a:cs typeface="Microsoft Sans Serif"/>
            </a:endParaRPr>
          </a:p>
          <a:p>
            <a:pPr marL="75565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Microsoft Sans Serif"/>
                <a:cs typeface="Microsoft Sans Serif"/>
              </a:rPr>
              <a:t>c[2]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a[2]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×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b[2]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Vector</a:t>
            </a:r>
            <a:r>
              <a:rPr spc="-12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17436"/>
            <a:ext cx="7339965" cy="107950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b="1" spc="-10" dirty="0">
                <a:latin typeface="Arial"/>
                <a:cs typeface="Arial"/>
              </a:rPr>
              <a:t>Division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Microsoft Sans Serif"/>
                <a:cs typeface="Microsoft Sans Serif"/>
              </a:rPr>
              <a:t>Two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vectors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spc="185" dirty="0">
                <a:latin typeface="Microsoft Sans Serif"/>
                <a:cs typeface="Microsoft Sans Serif"/>
              </a:rPr>
              <a:t>of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equal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length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spc="-55" dirty="0">
                <a:latin typeface="Microsoft Sans Serif"/>
                <a:cs typeface="Microsoft Sans Serif"/>
              </a:rPr>
              <a:t>can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be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divided.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626904"/>
            <a:ext cx="7816215" cy="1304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spc="-100" dirty="0">
                <a:latin typeface="Microsoft Sans Serif"/>
                <a:cs typeface="Microsoft Sans Serif"/>
              </a:rPr>
              <a:t>As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spc="140" dirty="0">
                <a:latin typeface="Microsoft Sans Serif"/>
                <a:cs typeface="Microsoft Sans Serif"/>
              </a:rPr>
              <a:t>with</a:t>
            </a:r>
            <a:r>
              <a:rPr sz="2800" dirty="0">
                <a:latin typeface="Microsoft Sans Serif"/>
                <a:cs typeface="Microsoft Sans Serif"/>
              </a:rPr>
              <a:t> </a:t>
            </a:r>
            <a:r>
              <a:rPr sz="2800" spc="110" dirty="0">
                <a:latin typeface="Microsoft Sans Serif"/>
                <a:cs typeface="Microsoft Sans Serif"/>
              </a:rPr>
              <a:t>other</a:t>
            </a:r>
            <a:r>
              <a:rPr sz="2800" dirty="0">
                <a:latin typeface="Microsoft Sans Serif"/>
                <a:cs typeface="Microsoft Sans Serif"/>
              </a:rPr>
              <a:t> </a:t>
            </a:r>
            <a:r>
              <a:rPr sz="2800" spc="80" dirty="0">
                <a:latin typeface="Microsoft Sans Serif"/>
                <a:cs typeface="Microsoft Sans Serif"/>
              </a:rPr>
              <a:t>arithmetic</a:t>
            </a:r>
            <a:r>
              <a:rPr sz="2800" dirty="0">
                <a:latin typeface="Microsoft Sans Serif"/>
                <a:cs typeface="Microsoft Sans Serif"/>
              </a:rPr>
              <a:t> operations,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this </a:t>
            </a:r>
            <a:r>
              <a:rPr sz="2800" spc="70" dirty="0">
                <a:latin typeface="Microsoft Sans Serif"/>
                <a:cs typeface="Microsoft Sans Serif"/>
              </a:rPr>
              <a:t>operation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is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performed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element-</a:t>
            </a:r>
            <a:r>
              <a:rPr sz="2800" spc="-10" dirty="0">
                <a:latin typeface="Microsoft Sans Serif"/>
                <a:cs typeface="Microsoft Sans Serif"/>
              </a:rPr>
              <a:t>wise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204" dirty="0">
                <a:latin typeface="Microsoft Sans Serif"/>
                <a:cs typeface="Microsoft Sans Serif"/>
              </a:rPr>
              <a:t>to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65" dirty="0">
                <a:latin typeface="Microsoft Sans Serif"/>
                <a:cs typeface="Microsoft Sans Serif"/>
              </a:rPr>
              <a:t>result </a:t>
            </a:r>
            <a:r>
              <a:rPr sz="2800" spc="55" dirty="0">
                <a:latin typeface="Microsoft Sans Serif"/>
                <a:cs typeface="Microsoft Sans Serif"/>
              </a:rPr>
              <a:t>in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-114" dirty="0">
                <a:latin typeface="Microsoft Sans Serif"/>
                <a:cs typeface="Microsoft Sans Serif"/>
              </a:rPr>
              <a:t>a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new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vector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185" dirty="0">
                <a:latin typeface="Microsoft Sans Serif"/>
                <a:cs typeface="Microsoft Sans Serif"/>
              </a:rPr>
              <a:t>of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55" dirty="0">
                <a:latin typeface="Microsoft Sans Serif"/>
                <a:cs typeface="Microsoft Sans Serif"/>
              </a:rPr>
              <a:t>same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length.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9458" y="2723261"/>
            <a:ext cx="919403" cy="68946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91146" y="5217931"/>
            <a:ext cx="2590309" cy="86316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Vector</a:t>
            </a:r>
            <a:r>
              <a:rPr spc="-12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17436"/>
            <a:ext cx="3188335" cy="262255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b="1" spc="-10" dirty="0">
                <a:latin typeface="Arial"/>
                <a:cs typeface="Arial"/>
              </a:rPr>
              <a:t>Division</a:t>
            </a:r>
            <a:endParaRPr sz="2800">
              <a:latin typeface="Arial"/>
              <a:cs typeface="Arial"/>
            </a:endParaRPr>
          </a:p>
          <a:p>
            <a:pPr marL="355600" marR="5080" indent="-343535">
              <a:lnSpc>
                <a:spcPct val="120600"/>
              </a:lnSpc>
              <a:spcBef>
                <a:spcPts val="95"/>
              </a:spcBef>
              <a:buClr>
                <a:srgbClr val="6697CC"/>
              </a:buClr>
              <a:buFont typeface="Arial"/>
              <a:buChar char="•"/>
              <a:tabLst>
                <a:tab pos="755650" algn="l"/>
              </a:tabLst>
            </a:pPr>
            <a:r>
              <a:rPr sz="2800" spc="65" dirty="0">
                <a:latin typeface="Microsoft Sans Serif"/>
                <a:cs typeface="Microsoft Sans Serif"/>
              </a:rPr>
              <a:t>Put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another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-30" dirty="0">
                <a:latin typeface="Microsoft Sans Serif"/>
                <a:cs typeface="Microsoft Sans Serif"/>
              </a:rPr>
              <a:t>way:. 	</a:t>
            </a:r>
            <a:r>
              <a:rPr sz="2800" dirty="0">
                <a:latin typeface="Microsoft Sans Serif"/>
                <a:cs typeface="Microsoft Sans Serif"/>
              </a:rPr>
              <a:t>c[0]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80" dirty="0">
                <a:latin typeface="Microsoft Sans Serif"/>
                <a:cs typeface="Microsoft Sans Serif"/>
              </a:rPr>
              <a:t>a[0]/b[0]</a:t>
            </a:r>
            <a:endParaRPr sz="2800">
              <a:latin typeface="Microsoft Sans Serif"/>
              <a:cs typeface="Microsoft Sans Serif"/>
            </a:endParaRPr>
          </a:p>
          <a:p>
            <a:pPr marL="75565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Microsoft Sans Serif"/>
                <a:cs typeface="Microsoft Sans Serif"/>
              </a:rPr>
              <a:t>c[1]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80" dirty="0">
                <a:latin typeface="Microsoft Sans Serif"/>
                <a:cs typeface="Microsoft Sans Serif"/>
              </a:rPr>
              <a:t>a[1]/b[1]</a:t>
            </a:r>
            <a:endParaRPr sz="2800">
              <a:latin typeface="Microsoft Sans Serif"/>
              <a:cs typeface="Microsoft Sans Serif"/>
            </a:endParaRPr>
          </a:p>
          <a:p>
            <a:pPr marL="75565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Microsoft Sans Serif"/>
                <a:cs typeface="Microsoft Sans Serif"/>
              </a:rPr>
              <a:t>c[2]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80" dirty="0">
                <a:latin typeface="Microsoft Sans Serif"/>
                <a:cs typeface="Microsoft Sans Serif"/>
              </a:rPr>
              <a:t>a[2]/b[2]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Vector</a:t>
            </a:r>
            <a:r>
              <a:rPr spc="-12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28237"/>
            <a:ext cx="7861934" cy="473138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840"/>
              </a:spcBef>
              <a:buClr>
                <a:srgbClr val="6697CC"/>
              </a:buClr>
              <a:buFont typeface="Arial"/>
              <a:buChar char="•"/>
              <a:tabLst>
                <a:tab pos="317500" algn="l"/>
              </a:tabLst>
            </a:pPr>
            <a:r>
              <a:rPr sz="2450" b="1" spc="110" dirty="0">
                <a:latin typeface="Arial"/>
                <a:cs typeface="Arial"/>
              </a:rPr>
              <a:t>Dot</a:t>
            </a:r>
            <a:r>
              <a:rPr sz="2450" b="1" spc="-80" dirty="0">
                <a:latin typeface="Arial"/>
                <a:cs typeface="Arial"/>
              </a:rPr>
              <a:t> </a:t>
            </a:r>
            <a:r>
              <a:rPr sz="2450" b="1" spc="-10" dirty="0">
                <a:latin typeface="Arial"/>
                <a:cs typeface="Arial"/>
              </a:rPr>
              <a:t>Product</a:t>
            </a:r>
            <a:endParaRPr sz="2450">
              <a:latin typeface="Arial"/>
              <a:cs typeface="Arial"/>
            </a:endParaRPr>
          </a:p>
          <a:p>
            <a:pPr marL="314960" marR="52069" indent="-302895" algn="just">
              <a:lnSpc>
                <a:spcPct val="101299"/>
              </a:lnSpc>
              <a:spcBef>
                <a:spcPts val="715"/>
              </a:spcBef>
              <a:buClr>
                <a:srgbClr val="6697CC"/>
              </a:buClr>
              <a:buFont typeface="Arial"/>
              <a:buChar char="•"/>
              <a:tabLst>
                <a:tab pos="317500" algn="l"/>
              </a:tabLst>
            </a:pPr>
            <a:r>
              <a:rPr sz="2450" dirty="0">
                <a:latin typeface="Microsoft Sans Serif"/>
                <a:cs typeface="Microsoft Sans Serif"/>
              </a:rPr>
              <a:t>We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can</a:t>
            </a:r>
            <a:r>
              <a:rPr sz="2450" spc="-3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calculate</a:t>
            </a:r>
            <a:r>
              <a:rPr sz="2450" spc="-35" dirty="0">
                <a:latin typeface="Microsoft Sans Serif"/>
                <a:cs typeface="Microsoft Sans Serif"/>
              </a:rPr>
              <a:t> </a:t>
            </a:r>
            <a:r>
              <a:rPr sz="2450" spc="125" dirty="0">
                <a:latin typeface="Microsoft Sans Serif"/>
                <a:cs typeface="Microsoft Sans Serif"/>
              </a:rPr>
              <a:t>the</a:t>
            </a:r>
            <a:r>
              <a:rPr sz="2450" spc="-3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sum</a:t>
            </a:r>
            <a:r>
              <a:rPr sz="2450" spc="-35" dirty="0">
                <a:latin typeface="Microsoft Sans Serif"/>
                <a:cs typeface="Microsoft Sans Serif"/>
              </a:rPr>
              <a:t> </a:t>
            </a:r>
            <a:r>
              <a:rPr sz="2450" spc="180" dirty="0">
                <a:latin typeface="Microsoft Sans Serif"/>
                <a:cs typeface="Microsoft Sans Serif"/>
              </a:rPr>
              <a:t>of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spc="125" dirty="0">
                <a:latin typeface="Microsoft Sans Serif"/>
                <a:cs typeface="Microsoft Sans Serif"/>
              </a:rPr>
              <a:t>the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multiplied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elements 	</a:t>
            </a:r>
            <a:r>
              <a:rPr sz="2450" spc="180" dirty="0">
                <a:latin typeface="Microsoft Sans Serif"/>
                <a:cs typeface="Microsoft Sans Serif"/>
              </a:rPr>
              <a:t>of</a:t>
            </a:r>
            <a:r>
              <a:rPr sz="2450" spc="-65" dirty="0">
                <a:latin typeface="Microsoft Sans Serif"/>
                <a:cs typeface="Microsoft Sans Serif"/>
              </a:rPr>
              <a:t> </a:t>
            </a:r>
            <a:r>
              <a:rPr sz="2450" spc="185" dirty="0">
                <a:latin typeface="Microsoft Sans Serif"/>
                <a:cs typeface="Microsoft Sans Serif"/>
              </a:rPr>
              <a:t>two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vectors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180" dirty="0">
                <a:latin typeface="Microsoft Sans Serif"/>
                <a:cs typeface="Microsoft Sans Serif"/>
              </a:rPr>
              <a:t>of</a:t>
            </a:r>
            <a:r>
              <a:rPr sz="2450" spc="-65" dirty="0">
                <a:latin typeface="Microsoft Sans Serif"/>
                <a:cs typeface="Microsoft Sans Serif"/>
              </a:rPr>
              <a:t> </a:t>
            </a:r>
            <a:r>
              <a:rPr sz="2450" spc="125" dirty="0">
                <a:latin typeface="Microsoft Sans Serif"/>
                <a:cs typeface="Microsoft Sans Serif"/>
              </a:rPr>
              <a:t>the</a:t>
            </a:r>
            <a:r>
              <a:rPr sz="2450" spc="-7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same</a:t>
            </a:r>
            <a:r>
              <a:rPr sz="2450" spc="-70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length</a:t>
            </a:r>
            <a:r>
              <a:rPr sz="2450" spc="-70" dirty="0">
                <a:latin typeface="Microsoft Sans Serif"/>
                <a:cs typeface="Microsoft Sans Serif"/>
              </a:rPr>
              <a:t> </a:t>
            </a:r>
            <a:r>
              <a:rPr sz="2450" spc="200" dirty="0">
                <a:latin typeface="Microsoft Sans Serif"/>
                <a:cs typeface="Microsoft Sans Serif"/>
              </a:rPr>
              <a:t>to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give</a:t>
            </a:r>
            <a:r>
              <a:rPr sz="2450" spc="-7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scalar.</a:t>
            </a:r>
            <a:endParaRPr sz="2450">
              <a:latin typeface="Microsoft Sans Serif"/>
              <a:cs typeface="Microsoft Sans Serif"/>
            </a:endParaRPr>
          </a:p>
          <a:p>
            <a:pPr marL="314960" marR="105410" indent="-302895" algn="just">
              <a:lnSpc>
                <a:spcPct val="101299"/>
              </a:lnSpc>
              <a:spcBef>
                <a:spcPts val="710"/>
              </a:spcBef>
              <a:buClr>
                <a:srgbClr val="6697CC"/>
              </a:buClr>
              <a:buFont typeface="Arial"/>
              <a:buChar char="•"/>
              <a:tabLst>
                <a:tab pos="317500" algn="l"/>
              </a:tabLst>
            </a:pPr>
            <a:r>
              <a:rPr sz="2450" spc="-20" dirty="0">
                <a:latin typeface="Microsoft Sans Serif"/>
                <a:cs typeface="Microsoft Sans Serif"/>
              </a:rPr>
              <a:t>This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is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called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spc="130" dirty="0">
                <a:latin typeface="Microsoft Sans Serif"/>
                <a:cs typeface="Microsoft Sans Serif"/>
              </a:rPr>
              <a:t>the</a:t>
            </a:r>
            <a:r>
              <a:rPr sz="2450" spc="-55" dirty="0">
                <a:latin typeface="Microsoft Sans Serif"/>
                <a:cs typeface="Microsoft Sans Serif"/>
              </a:rPr>
              <a:t> </a:t>
            </a:r>
            <a:r>
              <a:rPr sz="2450" spc="160" dirty="0">
                <a:latin typeface="Microsoft Sans Serif"/>
                <a:cs typeface="Microsoft Sans Serif"/>
              </a:rPr>
              <a:t>dot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spc="80" dirty="0">
                <a:latin typeface="Microsoft Sans Serif"/>
                <a:cs typeface="Microsoft Sans Serif"/>
              </a:rPr>
              <a:t>product,</a:t>
            </a:r>
            <a:r>
              <a:rPr sz="2450" spc="-5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named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because</a:t>
            </a:r>
            <a:r>
              <a:rPr sz="2450" spc="-55" dirty="0">
                <a:latin typeface="Microsoft Sans Serif"/>
                <a:cs typeface="Microsoft Sans Serif"/>
              </a:rPr>
              <a:t> </a:t>
            </a:r>
            <a:r>
              <a:rPr sz="2450" spc="180" dirty="0">
                <a:latin typeface="Microsoft Sans Serif"/>
                <a:cs typeface="Microsoft Sans Serif"/>
              </a:rPr>
              <a:t>of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spc="105" dirty="0">
                <a:latin typeface="Microsoft Sans Serif"/>
                <a:cs typeface="Microsoft Sans Serif"/>
              </a:rPr>
              <a:t>the 	</a:t>
            </a:r>
            <a:r>
              <a:rPr sz="2450" spc="170" dirty="0">
                <a:latin typeface="Microsoft Sans Serif"/>
                <a:cs typeface="Microsoft Sans Serif"/>
              </a:rPr>
              <a:t>dot</a:t>
            </a:r>
            <a:r>
              <a:rPr sz="2450" spc="-10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operator</a:t>
            </a:r>
            <a:r>
              <a:rPr sz="2450" spc="-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used</a:t>
            </a:r>
            <a:r>
              <a:rPr sz="2450" spc="-10" dirty="0">
                <a:latin typeface="Microsoft Sans Serif"/>
                <a:cs typeface="Microsoft Sans Serif"/>
              </a:rPr>
              <a:t> </a:t>
            </a:r>
            <a:r>
              <a:rPr sz="2450" spc="65" dirty="0">
                <a:latin typeface="Microsoft Sans Serif"/>
                <a:cs typeface="Microsoft Sans Serif"/>
              </a:rPr>
              <a:t>when</a:t>
            </a:r>
            <a:r>
              <a:rPr sz="2450" spc="-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describing</a:t>
            </a:r>
            <a:r>
              <a:rPr sz="2450" spc="5" dirty="0">
                <a:latin typeface="Microsoft Sans Serif"/>
                <a:cs typeface="Microsoft Sans Serif"/>
              </a:rPr>
              <a:t> </a:t>
            </a:r>
            <a:r>
              <a:rPr sz="2450" spc="130" dirty="0">
                <a:latin typeface="Microsoft Sans Serif"/>
                <a:cs typeface="Microsoft Sans Serif"/>
              </a:rPr>
              <a:t>the</a:t>
            </a:r>
            <a:r>
              <a:rPr sz="2450" spc="-5" dirty="0">
                <a:latin typeface="Microsoft Sans Serif"/>
                <a:cs typeface="Microsoft Sans Serif"/>
              </a:rPr>
              <a:t> </a:t>
            </a:r>
            <a:r>
              <a:rPr sz="2450" spc="60" dirty="0">
                <a:latin typeface="Microsoft Sans Serif"/>
                <a:cs typeface="Microsoft Sans Serif"/>
              </a:rPr>
              <a:t>operation.</a:t>
            </a:r>
            <a:endParaRPr sz="2450">
              <a:latin typeface="Microsoft Sans Serif"/>
              <a:cs typeface="Microsoft Sans Serif"/>
            </a:endParaRPr>
          </a:p>
          <a:p>
            <a:pPr marL="314960" marR="5080" indent="-302895" algn="just">
              <a:lnSpc>
                <a:spcPct val="101299"/>
              </a:lnSpc>
              <a:spcBef>
                <a:spcPts val="725"/>
              </a:spcBef>
              <a:buClr>
                <a:srgbClr val="6697CC"/>
              </a:buClr>
              <a:buFont typeface="Arial"/>
              <a:buChar char="•"/>
              <a:tabLst>
                <a:tab pos="317500" algn="l"/>
              </a:tabLst>
            </a:pPr>
            <a:r>
              <a:rPr sz="2450" dirty="0">
                <a:latin typeface="Microsoft Sans Serif"/>
                <a:cs typeface="Microsoft Sans Serif"/>
              </a:rPr>
              <a:t>The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170" dirty="0">
                <a:latin typeface="Microsoft Sans Serif"/>
                <a:cs typeface="Microsoft Sans Serif"/>
              </a:rPr>
              <a:t>dot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product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is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130" dirty="0">
                <a:latin typeface="Microsoft Sans Serif"/>
                <a:cs typeface="Microsoft Sans Serif"/>
              </a:rPr>
              <a:t>the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key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150" dirty="0">
                <a:latin typeface="Microsoft Sans Serif"/>
                <a:cs typeface="Microsoft Sans Serif"/>
              </a:rPr>
              <a:t>tool</a:t>
            </a:r>
            <a:r>
              <a:rPr sz="2450" spc="-70" dirty="0">
                <a:latin typeface="Microsoft Sans Serif"/>
                <a:cs typeface="Microsoft Sans Serif"/>
              </a:rPr>
              <a:t> </a:t>
            </a:r>
            <a:r>
              <a:rPr sz="2450" spc="170" dirty="0">
                <a:latin typeface="Microsoft Sans Serif"/>
                <a:cs typeface="Microsoft Sans Serif"/>
              </a:rPr>
              <a:t>for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45" dirty="0">
                <a:latin typeface="Microsoft Sans Serif"/>
                <a:cs typeface="Microsoft Sans Serif"/>
              </a:rPr>
              <a:t>calculating</a:t>
            </a:r>
            <a:r>
              <a:rPr sz="2450" spc="-70" dirty="0">
                <a:latin typeface="Microsoft Sans Serif"/>
                <a:cs typeface="Microsoft Sans Serif"/>
              </a:rPr>
              <a:t> </a:t>
            </a:r>
            <a:r>
              <a:rPr sz="2450" spc="75" dirty="0">
                <a:latin typeface="Microsoft Sans Serif"/>
                <a:cs typeface="Microsoft Sans Serif"/>
              </a:rPr>
              <a:t>vector 	</a:t>
            </a:r>
            <a:r>
              <a:rPr sz="2450" spc="50" dirty="0">
                <a:latin typeface="Microsoft Sans Serif"/>
                <a:cs typeface="Microsoft Sans Serif"/>
              </a:rPr>
              <a:t>projections,</a:t>
            </a:r>
            <a:r>
              <a:rPr sz="2450" spc="75" dirty="0">
                <a:latin typeface="Microsoft Sans Serif"/>
                <a:cs typeface="Microsoft Sans Serif"/>
              </a:rPr>
              <a:t> </a:t>
            </a:r>
            <a:r>
              <a:rPr sz="2450" spc="85" dirty="0">
                <a:latin typeface="Microsoft Sans Serif"/>
                <a:cs typeface="Microsoft Sans Serif"/>
              </a:rPr>
              <a:t>vector</a:t>
            </a:r>
            <a:r>
              <a:rPr sz="2450" spc="90" dirty="0">
                <a:latin typeface="Microsoft Sans Serif"/>
                <a:cs typeface="Microsoft Sans Serif"/>
              </a:rPr>
              <a:t> </a:t>
            </a:r>
            <a:r>
              <a:rPr sz="2450" spc="10" dirty="0">
                <a:latin typeface="Microsoft Sans Serif"/>
                <a:cs typeface="Microsoft Sans Serif"/>
              </a:rPr>
              <a:t>decompositions,</a:t>
            </a:r>
            <a:r>
              <a:rPr sz="2450" spc="80" dirty="0">
                <a:latin typeface="Microsoft Sans Serif"/>
                <a:cs typeface="Microsoft Sans Serif"/>
              </a:rPr>
              <a:t> </a:t>
            </a:r>
            <a:r>
              <a:rPr sz="2450" spc="10" dirty="0">
                <a:latin typeface="Microsoft Sans Serif"/>
                <a:cs typeface="Microsoft Sans Serif"/>
              </a:rPr>
              <a:t>and</a:t>
            </a:r>
            <a:r>
              <a:rPr sz="2450" spc="70" dirty="0">
                <a:latin typeface="Microsoft Sans Serif"/>
                <a:cs typeface="Microsoft Sans Serif"/>
              </a:rPr>
              <a:t> </a:t>
            </a:r>
            <a:r>
              <a:rPr sz="2450" spc="75" dirty="0">
                <a:latin typeface="Microsoft Sans Serif"/>
                <a:cs typeface="Microsoft Sans Serif"/>
              </a:rPr>
              <a:t>determining 	</a:t>
            </a:r>
            <a:r>
              <a:rPr sz="2450" spc="80" dirty="0">
                <a:latin typeface="Microsoft Sans Serif"/>
                <a:cs typeface="Microsoft Sans Serif"/>
              </a:rPr>
              <a:t>orthogonality.</a:t>
            </a:r>
            <a:endParaRPr sz="2450">
              <a:latin typeface="Microsoft Sans Serif"/>
              <a:cs typeface="Microsoft Sans Serif"/>
            </a:endParaRPr>
          </a:p>
          <a:p>
            <a:pPr marL="314960" marR="180340" indent="-302895" algn="just">
              <a:lnSpc>
                <a:spcPct val="101299"/>
              </a:lnSpc>
              <a:spcBef>
                <a:spcPts val="715"/>
              </a:spcBef>
              <a:buClr>
                <a:srgbClr val="6697CC"/>
              </a:buClr>
              <a:buFont typeface="Arial"/>
              <a:buChar char="•"/>
              <a:tabLst>
                <a:tab pos="317500" algn="l"/>
              </a:tabLst>
            </a:pPr>
            <a:r>
              <a:rPr sz="2450" dirty="0">
                <a:latin typeface="Microsoft Sans Serif"/>
                <a:cs typeface="Microsoft Sans Serif"/>
              </a:rPr>
              <a:t>The</a:t>
            </a:r>
            <a:r>
              <a:rPr sz="2450" spc="-3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name</a:t>
            </a:r>
            <a:r>
              <a:rPr sz="2450" spc="-30" dirty="0">
                <a:latin typeface="Microsoft Sans Serif"/>
                <a:cs typeface="Microsoft Sans Serif"/>
              </a:rPr>
              <a:t> </a:t>
            </a:r>
            <a:r>
              <a:rPr sz="2450" spc="170" dirty="0">
                <a:latin typeface="Microsoft Sans Serif"/>
                <a:cs typeface="Microsoft Sans Serif"/>
              </a:rPr>
              <a:t>dot</a:t>
            </a:r>
            <a:r>
              <a:rPr sz="2450" spc="-35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product</a:t>
            </a:r>
            <a:r>
              <a:rPr sz="2450" spc="-3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comes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spc="150" dirty="0">
                <a:latin typeface="Microsoft Sans Serif"/>
                <a:cs typeface="Microsoft Sans Serif"/>
              </a:rPr>
              <a:t>from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spc="125" dirty="0">
                <a:latin typeface="Microsoft Sans Serif"/>
                <a:cs typeface="Microsoft Sans Serif"/>
              </a:rPr>
              <a:t>the</a:t>
            </a:r>
            <a:r>
              <a:rPr sz="2450" spc="-3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symbol</a:t>
            </a:r>
            <a:r>
              <a:rPr sz="2450" spc="-35" dirty="0">
                <a:latin typeface="Microsoft Sans Serif"/>
                <a:cs typeface="Microsoft Sans Serif"/>
              </a:rPr>
              <a:t> </a:t>
            </a:r>
            <a:r>
              <a:rPr sz="2450" spc="-20" dirty="0">
                <a:latin typeface="Microsoft Sans Serif"/>
                <a:cs typeface="Microsoft Sans Serif"/>
              </a:rPr>
              <a:t>used 	</a:t>
            </a:r>
            <a:r>
              <a:rPr sz="2450" spc="210" dirty="0">
                <a:latin typeface="Microsoft Sans Serif"/>
                <a:cs typeface="Microsoft Sans Serif"/>
              </a:rPr>
              <a:t>to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denote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75" dirty="0">
                <a:latin typeface="Microsoft Sans Serif"/>
                <a:cs typeface="Microsoft Sans Serif"/>
              </a:rPr>
              <a:t>it.</a:t>
            </a:r>
            <a:endParaRPr sz="2450">
              <a:latin typeface="Microsoft Sans Serif"/>
              <a:cs typeface="Microsoft Sans Serif"/>
            </a:endParaRPr>
          </a:p>
          <a:p>
            <a:pPr marL="311785" algn="ctr">
              <a:lnSpc>
                <a:spcPct val="100000"/>
              </a:lnSpc>
              <a:spcBef>
                <a:spcPts val="750"/>
              </a:spcBef>
            </a:pPr>
            <a:r>
              <a:rPr sz="2450" i="1" spc="-120" dirty="0">
                <a:latin typeface="Arial"/>
                <a:cs typeface="Arial"/>
              </a:rPr>
              <a:t>c </a:t>
            </a:r>
            <a:r>
              <a:rPr sz="2450" i="1" dirty="0">
                <a:latin typeface="Arial"/>
                <a:cs typeface="Arial"/>
              </a:rPr>
              <a:t>=</a:t>
            </a:r>
            <a:r>
              <a:rPr sz="2450" i="1" spc="-130" dirty="0">
                <a:latin typeface="Arial"/>
                <a:cs typeface="Arial"/>
              </a:rPr>
              <a:t> </a:t>
            </a:r>
            <a:r>
              <a:rPr sz="2450" i="1" dirty="0">
                <a:latin typeface="Arial"/>
                <a:cs typeface="Arial"/>
              </a:rPr>
              <a:t>a</a:t>
            </a:r>
            <a:r>
              <a:rPr sz="2450" i="1" spc="-120" dirty="0">
                <a:latin typeface="Arial"/>
                <a:cs typeface="Arial"/>
              </a:rPr>
              <a:t> </a:t>
            </a:r>
            <a:r>
              <a:rPr sz="2450" i="1" spc="-210" dirty="0">
                <a:latin typeface="Arial"/>
                <a:cs typeface="Arial"/>
              </a:rPr>
              <a:t>·</a:t>
            </a:r>
            <a:r>
              <a:rPr sz="2450" i="1" spc="-110" dirty="0">
                <a:latin typeface="Arial"/>
                <a:cs typeface="Arial"/>
              </a:rPr>
              <a:t> </a:t>
            </a:r>
            <a:r>
              <a:rPr sz="2450" i="1" spc="-50" dirty="0">
                <a:latin typeface="Arial"/>
                <a:cs typeface="Arial"/>
              </a:rPr>
              <a:t>b</a:t>
            </a:r>
            <a:endParaRPr sz="2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Vector</a:t>
            </a:r>
            <a:r>
              <a:rPr spc="-12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540" y="1417436"/>
            <a:ext cx="7876540" cy="365252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0"/>
              </a:spcBef>
              <a:buClr>
                <a:srgbClr val="6697CC"/>
              </a:buClr>
              <a:buFont typeface="Arial"/>
              <a:buChar char="•"/>
              <a:tabLst>
                <a:tab pos="381000" algn="l"/>
              </a:tabLst>
            </a:pPr>
            <a:r>
              <a:rPr sz="2800" b="1" spc="95" dirty="0">
                <a:latin typeface="Arial"/>
                <a:cs typeface="Arial"/>
              </a:rPr>
              <a:t>Dot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Product</a:t>
            </a:r>
            <a:endParaRPr sz="2800">
              <a:latin typeface="Arial"/>
              <a:cs typeface="Arial"/>
            </a:endParaRPr>
          </a:p>
          <a:p>
            <a:pPr marL="381000" marR="3048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"/>
              <a:buChar char="•"/>
              <a:tabLst>
                <a:tab pos="381000" algn="l"/>
              </a:tabLst>
            </a:pPr>
            <a:r>
              <a:rPr sz="2800" spc="-20" dirty="0">
                <a:latin typeface="Microsoft Sans Serif"/>
                <a:cs typeface="Microsoft Sans Serif"/>
              </a:rPr>
              <a:t>The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operation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can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be</a:t>
            </a:r>
            <a:r>
              <a:rPr sz="2800" spc="-1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used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in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machine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learning </a:t>
            </a:r>
            <a:r>
              <a:rPr sz="2800" spc="210" dirty="0">
                <a:latin typeface="Microsoft Sans Serif"/>
                <a:cs typeface="Microsoft Sans Serif"/>
              </a:rPr>
              <a:t>to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calculate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85" dirty="0">
                <a:latin typeface="Microsoft Sans Serif"/>
                <a:cs typeface="Microsoft Sans Serif"/>
              </a:rPr>
              <a:t>weighted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sum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185" dirty="0">
                <a:latin typeface="Microsoft Sans Serif"/>
                <a:cs typeface="Microsoft Sans Serif"/>
              </a:rPr>
              <a:t>of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-114" dirty="0">
                <a:latin typeface="Microsoft Sans Serif"/>
                <a:cs typeface="Microsoft Sans Serif"/>
              </a:rPr>
              <a:t>a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vector.</a:t>
            </a:r>
            <a:endParaRPr sz="2800">
              <a:latin typeface="Microsoft Sans Serif"/>
              <a:cs typeface="Microsoft Sans Serif"/>
            </a:endParaRPr>
          </a:p>
          <a:p>
            <a:pPr marL="381000" indent="-342900">
              <a:lnSpc>
                <a:spcPct val="100000"/>
              </a:lnSpc>
              <a:spcBef>
                <a:spcPts val="785"/>
              </a:spcBef>
              <a:buClr>
                <a:srgbClr val="6697CC"/>
              </a:buClr>
              <a:buFont typeface="Arial"/>
              <a:buChar char="•"/>
              <a:tabLst>
                <a:tab pos="381000" algn="l"/>
              </a:tabLst>
            </a:pPr>
            <a:r>
              <a:rPr sz="2800" spc="-20" dirty="0">
                <a:latin typeface="Microsoft Sans Serif"/>
                <a:cs typeface="Microsoft Sans Serif"/>
              </a:rPr>
              <a:t>The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160" dirty="0">
                <a:latin typeface="Microsoft Sans Serif"/>
                <a:cs typeface="Microsoft Sans Serif"/>
              </a:rPr>
              <a:t>dot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product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is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calculated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-135" dirty="0">
                <a:latin typeface="Microsoft Sans Serif"/>
                <a:cs typeface="Microsoft Sans Serif"/>
              </a:rPr>
              <a:t>as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follows:</a:t>
            </a:r>
            <a:endParaRPr sz="2800">
              <a:latin typeface="Microsoft Sans Serif"/>
              <a:cs typeface="Microsoft Sans Serif"/>
            </a:endParaRPr>
          </a:p>
          <a:p>
            <a:pPr marL="347980" algn="ctr">
              <a:lnSpc>
                <a:spcPct val="100000"/>
              </a:lnSpc>
              <a:spcBef>
                <a:spcPts val="790"/>
              </a:spcBef>
            </a:pPr>
            <a:r>
              <a:rPr sz="2800" i="1" spc="-140" dirty="0">
                <a:latin typeface="Arial"/>
                <a:cs typeface="Arial"/>
              </a:rPr>
              <a:t>c</a:t>
            </a:r>
            <a:r>
              <a:rPr sz="2800" i="1" spc="-135" dirty="0">
                <a:latin typeface="Arial"/>
                <a:cs typeface="Arial"/>
              </a:rPr>
              <a:t> </a:t>
            </a:r>
            <a:r>
              <a:rPr sz="2800" i="1" spc="-70" dirty="0">
                <a:latin typeface="Arial"/>
                <a:cs typeface="Arial"/>
              </a:rPr>
              <a:t>=</a:t>
            </a:r>
            <a:r>
              <a:rPr sz="2800" i="1" spc="-14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(a</a:t>
            </a:r>
            <a:r>
              <a:rPr sz="2400" i="1" baseline="-19097" dirty="0">
                <a:latin typeface="Arial"/>
                <a:cs typeface="Arial"/>
              </a:rPr>
              <a:t>1</a:t>
            </a:r>
            <a:r>
              <a:rPr sz="2400" i="1" spc="209" baseline="-19097" dirty="0">
                <a:latin typeface="Arial"/>
                <a:cs typeface="Arial"/>
              </a:rPr>
              <a:t> </a:t>
            </a:r>
            <a:r>
              <a:rPr sz="2800" i="1" spc="-70" dirty="0">
                <a:latin typeface="Arial"/>
                <a:cs typeface="Arial"/>
              </a:rPr>
              <a:t>×</a:t>
            </a:r>
            <a:r>
              <a:rPr sz="2800" i="1" spc="-14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b</a:t>
            </a:r>
            <a:r>
              <a:rPr sz="2400" i="1" baseline="-19097" dirty="0">
                <a:latin typeface="Arial"/>
                <a:cs typeface="Arial"/>
              </a:rPr>
              <a:t>1</a:t>
            </a:r>
            <a:r>
              <a:rPr sz="2400" i="1" spc="-120" baseline="-19097" dirty="0">
                <a:latin typeface="Arial"/>
                <a:cs typeface="Arial"/>
              </a:rPr>
              <a:t> </a:t>
            </a:r>
            <a:r>
              <a:rPr sz="2800" i="1" spc="-70" dirty="0">
                <a:latin typeface="Arial"/>
                <a:cs typeface="Arial"/>
              </a:rPr>
              <a:t>+</a:t>
            </a:r>
            <a:r>
              <a:rPr sz="2800" i="1" spc="-14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a</a:t>
            </a:r>
            <a:r>
              <a:rPr sz="2400" i="1" baseline="-19097" dirty="0">
                <a:latin typeface="Arial"/>
                <a:cs typeface="Arial"/>
              </a:rPr>
              <a:t>2</a:t>
            </a:r>
            <a:r>
              <a:rPr sz="2400" i="1" spc="-135" baseline="-19097" dirty="0">
                <a:latin typeface="Arial"/>
                <a:cs typeface="Arial"/>
              </a:rPr>
              <a:t> </a:t>
            </a:r>
            <a:r>
              <a:rPr sz="2800" i="1" spc="-70" dirty="0">
                <a:latin typeface="Arial"/>
                <a:cs typeface="Arial"/>
              </a:rPr>
              <a:t>×</a:t>
            </a:r>
            <a:r>
              <a:rPr sz="2800" i="1" spc="-14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b</a:t>
            </a:r>
            <a:r>
              <a:rPr sz="2400" i="1" baseline="-19097" dirty="0">
                <a:latin typeface="Arial"/>
                <a:cs typeface="Arial"/>
              </a:rPr>
              <a:t>2</a:t>
            </a:r>
            <a:r>
              <a:rPr sz="2400" i="1" spc="-127" baseline="-19097" dirty="0">
                <a:latin typeface="Arial"/>
                <a:cs typeface="Arial"/>
              </a:rPr>
              <a:t> </a:t>
            </a:r>
            <a:r>
              <a:rPr sz="2800" i="1" spc="-70" dirty="0">
                <a:latin typeface="Arial"/>
                <a:cs typeface="Arial"/>
              </a:rPr>
              <a:t>+</a:t>
            </a:r>
            <a:r>
              <a:rPr sz="2800" i="1" spc="-14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a</a:t>
            </a:r>
            <a:r>
              <a:rPr sz="2400" i="1" baseline="-19097" dirty="0">
                <a:latin typeface="Arial"/>
                <a:cs typeface="Arial"/>
              </a:rPr>
              <a:t>3</a:t>
            </a:r>
            <a:r>
              <a:rPr sz="2400" i="1" spc="-135" baseline="-19097" dirty="0">
                <a:latin typeface="Arial"/>
                <a:cs typeface="Arial"/>
              </a:rPr>
              <a:t> </a:t>
            </a:r>
            <a:r>
              <a:rPr sz="2800" i="1" spc="-70" dirty="0">
                <a:latin typeface="Arial"/>
                <a:cs typeface="Arial"/>
              </a:rPr>
              <a:t>×</a:t>
            </a:r>
            <a:r>
              <a:rPr sz="2800" i="1" spc="-14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b</a:t>
            </a:r>
            <a:r>
              <a:rPr sz="2400" i="1" baseline="-19097" dirty="0">
                <a:latin typeface="Arial"/>
                <a:cs typeface="Arial"/>
              </a:rPr>
              <a:t>3</a:t>
            </a:r>
            <a:r>
              <a:rPr sz="2400" i="1" spc="-120" baseline="-19097" dirty="0">
                <a:latin typeface="Arial"/>
                <a:cs typeface="Arial"/>
              </a:rPr>
              <a:t> </a:t>
            </a:r>
            <a:r>
              <a:rPr sz="2800" i="1" spc="-50" dirty="0"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  <a:p>
            <a:pPr marL="347980" algn="ctr">
              <a:lnSpc>
                <a:spcPct val="100000"/>
              </a:lnSpc>
              <a:spcBef>
                <a:spcPts val="1090"/>
              </a:spcBef>
            </a:pPr>
            <a:r>
              <a:rPr sz="2800" spc="75" dirty="0">
                <a:latin typeface="Microsoft Sans Serif"/>
                <a:cs typeface="Microsoft Sans Serif"/>
              </a:rPr>
              <a:t>or</a:t>
            </a:r>
            <a:endParaRPr sz="2800">
              <a:latin typeface="Microsoft Sans Serif"/>
              <a:cs typeface="Microsoft Sans Serif"/>
            </a:endParaRPr>
          </a:p>
          <a:p>
            <a:pPr marL="347345" algn="ctr">
              <a:lnSpc>
                <a:spcPct val="100000"/>
              </a:lnSpc>
              <a:spcBef>
                <a:spcPts val="790"/>
              </a:spcBef>
            </a:pPr>
            <a:r>
              <a:rPr sz="2800" i="1" spc="-140" dirty="0">
                <a:latin typeface="Arial"/>
                <a:cs typeface="Arial"/>
              </a:rPr>
              <a:t>c</a:t>
            </a:r>
            <a:r>
              <a:rPr sz="2800" i="1" spc="-135" dirty="0">
                <a:latin typeface="Arial"/>
                <a:cs typeface="Arial"/>
              </a:rPr>
              <a:t> </a:t>
            </a:r>
            <a:r>
              <a:rPr sz="2800" i="1" spc="-70" dirty="0">
                <a:latin typeface="Arial"/>
                <a:cs typeface="Arial"/>
              </a:rPr>
              <a:t>=</a:t>
            </a:r>
            <a:r>
              <a:rPr sz="2800" i="1" spc="-14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(a</a:t>
            </a:r>
            <a:r>
              <a:rPr sz="2400" i="1" baseline="-19097" dirty="0">
                <a:latin typeface="Arial"/>
                <a:cs typeface="Arial"/>
              </a:rPr>
              <a:t>1</a:t>
            </a:r>
            <a:r>
              <a:rPr sz="2800" i="1" dirty="0">
                <a:latin typeface="Arial"/>
                <a:cs typeface="Arial"/>
              </a:rPr>
              <a:t>b</a:t>
            </a:r>
            <a:r>
              <a:rPr sz="2400" i="1" baseline="-19097" dirty="0">
                <a:latin typeface="Arial"/>
                <a:cs typeface="Arial"/>
              </a:rPr>
              <a:t>1</a:t>
            </a:r>
            <a:r>
              <a:rPr sz="2400" i="1" spc="195" baseline="-19097" dirty="0">
                <a:latin typeface="Arial"/>
                <a:cs typeface="Arial"/>
              </a:rPr>
              <a:t> </a:t>
            </a:r>
            <a:r>
              <a:rPr sz="2800" i="1" spc="-70" dirty="0">
                <a:latin typeface="Arial"/>
                <a:cs typeface="Arial"/>
              </a:rPr>
              <a:t>+</a:t>
            </a:r>
            <a:r>
              <a:rPr sz="2800" i="1" spc="-14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a</a:t>
            </a:r>
            <a:r>
              <a:rPr sz="2400" i="1" baseline="-19097" dirty="0">
                <a:latin typeface="Arial"/>
                <a:cs typeface="Arial"/>
              </a:rPr>
              <a:t>2</a:t>
            </a:r>
            <a:r>
              <a:rPr sz="2800" i="1" dirty="0">
                <a:latin typeface="Arial"/>
                <a:cs typeface="Arial"/>
              </a:rPr>
              <a:t>b</a:t>
            </a:r>
            <a:r>
              <a:rPr sz="2400" i="1" baseline="-19097" dirty="0">
                <a:latin typeface="Arial"/>
                <a:cs typeface="Arial"/>
              </a:rPr>
              <a:t>2</a:t>
            </a:r>
            <a:r>
              <a:rPr sz="2400" i="1" spc="277" baseline="-19097" dirty="0">
                <a:latin typeface="Arial"/>
                <a:cs typeface="Arial"/>
              </a:rPr>
              <a:t> </a:t>
            </a:r>
            <a:r>
              <a:rPr sz="2800" i="1" spc="-70" dirty="0">
                <a:latin typeface="Arial"/>
                <a:cs typeface="Arial"/>
              </a:rPr>
              <a:t>+</a:t>
            </a:r>
            <a:r>
              <a:rPr sz="2800" i="1" spc="-14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a</a:t>
            </a:r>
            <a:r>
              <a:rPr sz="2400" i="1" baseline="-19097" dirty="0">
                <a:latin typeface="Arial"/>
                <a:cs typeface="Arial"/>
              </a:rPr>
              <a:t>3</a:t>
            </a:r>
            <a:r>
              <a:rPr sz="2800" i="1" dirty="0">
                <a:latin typeface="Arial"/>
                <a:cs typeface="Arial"/>
              </a:rPr>
              <a:t>b</a:t>
            </a:r>
            <a:r>
              <a:rPr sz="2400" i="1" baseline="-19097" dirty="0">
                <a:latin typeface="Arial"/>
                <a:cs typeface="Arial"/>
              </a:rPr>
              <a:t>3</a:t>
            </a:r>
            <a:r>
              <a:rPr sz="2400" i="1" spc="270" baseline="-19097" dirty="0">
                <a:latin typeface="Arial"/>
                <a:cs typeface="Arial"/>
              </a:rPr>
              <a:t> </a:t>
            </a:r>
            <a:r>
              <a:rPr sz="2800" i="1" spc="-50" dirty="0"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Vector</a:t>
            </a:r>
            <a:r>
              <a:rPr spc="-12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840" y="1428237"/>
            <a:ext cx="7947025" cy="473138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5600" indent="-304800">
              <a:lnSpc>
                <a:spcPct val="100000"/>
              </a:lnSpc>
              <a:spcBef>
                <a:spcPts val="84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450" b="1" spc="-20" dirty="0">
                <a:latin typeface="Arial"/>
                <a:cs typeface="Arial"/>
              </a:rPr>
              <a:t>Scalar</a:t>
            </a:r>
            <a:r>
              <a:rPr sz="2450" b="1" spc="-105" dirty="0">
                <a:latin typeface="Arial"/>
                <a:cs typeface="Arial"/>
              </a:rPr>
              <a:t> </a:t>
            </a:r>
            <a:r>
              <a:rPr sz="2450" b="1" spc="50" dirty="0">
                <a:latin typeface="Arial"/>
                <a:cs typeface="Arial"/>
              </a:rPr>
              <a:t>Multiplication</a:t>
            </a:r>
            <a:endParaRPr sz="2450">
              <a:latin typeface="Arial"/>
              <a:cs typeface="Arial"/>
            </a:endParaRPr>
          </a:p>
          <a:p>
            <a:pPr marL="355600" marR="30480" indent="-305435">
              <a:lnSpc>
                <a:spcPct val="101499"/>
              </a:lnSpc>
              <a:spcBef>
                <a:spcPts val="71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450" dirty="0">
                <a:latin typeface="Microsoft Sans Serif"/>
                <a:cs typeface="Microsoft Sans Serif"/>
              </a:rPr>
              <a:t>A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85" dirty="0">
                <a:latin typeface="Microsoft Sans Serif"/>
                <a:cs typeface="Microsoft Sans Serif"/>
              </a:rPr>
              <a:t>vector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can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50" dirty="0">
                <a:latin typeface="Microsoft Sans Serif"/>
                <a:cs typeface="Microsoft Sans Serif"/>
              </a:rPr>
              <a:t>be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multiplied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by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-20" dirty="0">
                <a:latin typeface="Microsoft Sans Serif"/>
                <a:cs typeface="Microsoft Sans Serif"/>
              </a:rPr>
              <a:t>scalar,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in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135" dirty="0">
                <a:latin typeface="Microsoft Sans Serif"/>
                <a:cs typeface="Microsoft Sans Serif"/>
              </a:rPr>
              <a:t>effect </a:t>
            </a:r>
            <a:r>
              <a:rPr sz="2450" dirty="0">
                <a:latin typeface="Microsoft Sans Serif"/>
                <a:cs typeface="Microsoft Sans Serif"/>
              </a:rPr>
              <a:t>scaling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125" dirty="0">
                <a:latin typeface="Microsoft Sans Serif"/>
                <a:cs typeface="Microsoft Sans Serif"/>
              </a:rPr>
              <a:t>the</a:t>
            </a:r>
            <a:r>
              <a:rPr sz="2450" spc="-70" dirty="0">
                <a:latin typeface="Microsoft Sans Serif"/>
                <a:cs typeface="Microsoft Sans Serif"/>
              </a:rPr>
              <a:t> </a:t>
            </a:r>
            <a:r>
              <a:rPr sz="2450" spc="70" dirty="0">
                <a:latin typeface="Microsoft Sans Serif"/>
                <a:cs typeface="Microsoft Sans Serif"/>
              </a:rPr>
              <a:t>magnitude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190" dirty="0">
                <a:latin typeface="Microsoft Sans Serif"/>
                <a:cs typeface="Microsoft Sans Serif"/>
              </a:rPr>
              <a:t>of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125" dirty="0">
                <a:latin typeface="Microsoft Sans Serif"/>
                <a:cs typeface="Microsoft Sans Serif"/>
              </a:rPr>
              <a:t>the</a:t>
            </a:r>
            <a:r>
              <a:rPr sz="2450" spc="-70" dirty="0">
                <a:latin typeface="Microsoft Sans Serif"/>
                <a:cs typeface="Microsoft Sans Serif"/>
              </a:rPr>
              <a:t> </a:t>
            </a:r>
            <a:r>
              <a:rPr sz="2450" spc="60" dirty="0">
                <a:latin typeface="Microsoft Sans Serif"/>
                <a:cs typeface="Microsoft Sans Serif"/>
              </a:rPr>
              <a:t>vector.</a:t>
            </a:r>
            <a:r>
              <a:rPr sz="2450" spc="-7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To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30" dirty="0">
                <a:latin typeface="Microsoft Sans Serif"/>
                <a:cs typeface="Microsoft Sans Serif"/>
              </a:rPr>
              <a:t>keep </a:t>
            </a:r>
            <a:r>
              <a:rPr sz="2450" spc="114" dirty="0">
                <a:latin typeface="Microsoft Sans Serif"/>
                <a:cs typeface="Microsoft Sans Serif"/>
              </a:rPr>
              <a:t>notation</a:t>
            </a:r>
            <a:r>
              <a:rPr sz="2450" spc="-3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simple,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spc="80" dirty="0">
                <a:latin typeface="Microsoft Sans Serif"/>
                <a:cs typeface="Microsoft Sans Serif"/>
              </a:rPr>
              <a:t>we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will</a:t>
            </a:r>
            <a:r>
              <a:rPr sz="2450" spc="-3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use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lowercase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spc="-130" dirty="0">
                <a:latin typeface="Microsoft Sans Serif"/>
                <a:cs typeface="Microsoft Sans Serif"/>
              </a:rPr>
              <a:t>s</a:t>
            </a:r>
            <a:r>
              <a:rPr sz="2450" spc="-30" dirty="0">
                <a:latin typeface="Microsoft Sans Serif"/>
                <a:cs typeface="Microsoft Sans Serif"/>
              </a:rPr>
              <a:t> </a:t>
            </a:r>
            <a:r>
              <a:rPr sz="2450" spc="200" dirty="0">
                <a:latin typeface="Microsoft Sans Serif"/>
                <a:cs typeface="Microsoft Sans Serif"/>
              </a:rPr>
              <a:t>to</a:t>
            </a:r>
            <a:r>
              <a:rPr sz="2450" spc="-30" dirty="0">
                <a:latin typeface="Microsoft Sans Serif"/>
                <a:cs typeface="Microsoft Sans Serif"/>
              </a:rPr>
              <a:t> </a:t>
            </a:r>
            <a:r>
              <a:rPr sz="2450" spc="65" dirty="0">
                <a:latin typeface="Microsoft Sans Serif"/>
                <a:cs typeface="Microsoft Sans Serif"/>
              </a:rPr>
              <a:t>represent </a:t>
            </a:r>
            <a:r>
              <a:rPr sz="2450" spc="125" dirty="0">
                <a:latin typeface="Microsoft Sans Serif"/>
                <a:cs typeface="Microsoft Sans Serif"/>
              </a:rPr>
              <a:t>the</a:t>
            </a:r>
            <a:r>
              <a:rPr sz="2450" spc="-10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scalar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value.</a:t>
            </a:r>
            <a:endParaRPr sz="2450">
              <a:latin typeface="Microsoft Sans Serif"/>
              <a:cs typeface="Microsoft Sans Serif"/>
            </a:endParaRPr>
          </a:p>
          <a:p>
            <a:pPr marL="3305810" marR="2976245" algn="ctr">
              <a:lnSpc>
                <a:spcPts val="3690"/>
              </a:lnSpc>
              <a:spcBef>
                <a:spcPts val="245"/>
              </a:spcBef>
              <a:tabLst>
                <a:tab pos="4669155" algn="l"/>
              </a:tabLst>
            </a:pPr>
            <a:r>
              <a:rPr sz="2450" i="1" spc="-120" dirty="0">
                <a:latin typeface="Arial"/>
                <a:cs typeface="Arial"/>
              </a:rPr>
              <a:t>c</a:t>
            </a:r>
            <a:r>
              <a:rPr sz="2450" i="1" spc="-110" dirty="0">
                <a:latin typeface="Arial"/>
                <a:cs typeface="Arial"/>
              </a:rPr>
              <a:t> </a:t>
            </a:r>
            <a:r>
              <a:rPr sz="2450" i="1" dirty="0">
                <a:latin typeface="Arial"/>
                <a:cs typeface="Arial"/>
              </a:rPr>
              <a:t>=</a:t>
            </a:r>
            <a:r>
              <a:rPr sz="2450" i="1" spc="-155" dirty="0">
                <a:latin typeface="Arial"/>
                <a:cs typeface="Arial"/>
              </a:rPr>
              <a:t> </a:t>
            </a:r>
            <a:r>
              <a:rPr sz="2450" i="1" spc="-215" dirty="0">
                <a:latin typeface="Arial"/>
                <a:cs typeface="Arial"/>
              </a:rPr>
              <a:t>s</a:t>
            </a:r>
            <a:r>
              <a:rPr sz="2450" i="1" spc="-110" dirty="0">
                <a:latin typeface="Arial"/>
                <a:cs typeface="Arial"/>
              </a:rPr>
              <a:t> </a:t>
            </a:r>
            <a:r>
              <a:rPr sz="2450" i="1" dirty="0">
                <a:latin typeface="Arial"/>
                <a:cs typeface="Arial"/>
              </a:rPr>
              <a:t>×</a:t>
            </a:r>
            <a:r>
              <a:rPr sz="2450" i="1" spc="-120" dirty="0">
                <a:latin typeface="Arial"/>
                <a:cs typeface="Arial"/>
              </a:rPr>
              <a:t> </a:t>
            </a:r>
            <a:r>
              <a:rPr sz="2450" i="1" spc="-50" dirty="0">
                <a:latin typeface="Arial"/>
                <a:cs typeface="Arial"/>
              </a:rPr>
              <a:t>v</a:t>
            </a:r>
            <a:r>
              <a:rPr sz="2450" i="1" dirty="0">
                <a:latin typeface="Arial"/>
                <a:cs typeface="Arial"/>
              </a:rPr>
              <a:t>	</a:t>
            </a:r>
            <a:r>
              <a:rPr sz="2450" i="1" spc="30" dirty="0">
                <a:latin typeface="Arial"/>
                <a:cs typeface="Arial"/>
              </a:rPr>
              <a:t>or </a:t>
            </a:r>
            <a:r>
              <a:rPr sz="2450" i="1" spc="-120" dirty="0">
                <a:latin typeface="Arial"/>
                <a:cs typeface="Arial"/>
              </a:rPr>
              <a:t>c </a:t>
            </a:r>
            <a:r>
              <a:rPr sz="2450" i="1" dirty="0">
                <a:latin typeface="Arial"/>
                <a:cs typeface="Arial"/>
              </a:rPr>
              <a:t>=</a:t>
            </a:r>
            <a:r>
              <a:rPr sz="2450" i="1" spc="-130" dirty="0">
                <a:latin typeface="Arial"/>
                <a:cs typeface="Arial"/>
              </a:rPr>
              <a:t> </a:t>
            </a:r>
            <a:r>
              <a:rPr sz="2450" i="1" spc="-25" dirty="0">
                <a:latin typeface="Arial"/>
                <a:cs typeface="Arial"/>
              </a:rPr>
              <a:t>sv</a:t>
            </a:r>
            <a:endParaRPr sz="2450">
              <a:latin typeface="Arial"/>
              <a:cs typeface="Arial"/>
            </a:endParaRPr>
          </a:p>
          <a:p>
            <a:pPr marL="355600" marR="255904" indent="-305435">
              <a:lnSpc>
                <a:spcPct val="101299"/>
              </a:lnSpc>
              <a:spcBef>
                <a:spcPts val="465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450" dirty="0">
                <a:latin typeface="Microsoft Sans Serif"/>
                <a:cs typeface="Microsoft Sans Serif"/>
              </a:rPr>
              <a:t>The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85" dirty="0">
                <a:latin typeface="Microsoft Sans Serif"/>
                <a:cs typeface="Microsoft Sans Serif"/>
              </a:rPr>
              <a:t>multiplication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is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105" dirty="0">
                <a:latin typeface="Microsoft Sans Serif"/>
                <a:cs typeface="Microsoft Sans Serif"/>
              </a:rPr>
              <a:t>performed</a:t>
            </a:r>
            <a:r>
              <a:rPr sz="2450" spc="-95" dirty="0">
                <a:latin typeface="Microsoft Sans Serif"/>
                <a:cs typeface="Microsoft Sans Serif"/>
              </a:rPr>
              <a:t> </a:t>
            </a:r>
            <a:r>
              <a:rPr sz="2450" spc="65" dirty="0">
                <a:latin typeface="Microsoft Sans Serif"/>
                <a:cs typeface="Microsoft Sans Serif"/>
              </a:rPr>
              <a:t>on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each</a:t>
            </a:r>
            <a:r>
              <a:rPr sz="2450" spc="-100" dirty="0">
                <a:latin typeface="Microsoft Sans Serif"/>
                <a:cs typeface="Microsoft Sans Serif"/>
              </a:rPr>
              <a:t> </a:t>
            </a:r>
            <a:r>
              <a:rPr sz="2450" spc="90" dirty="0">
                <a:latin typeface="Microsoft Sans Serif"/>
                <a:cs typeface="Microsoft Sans Serif"/>
              </a:rPr>
              <a:t>element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165" dirty="0">
                <a:latin typeface="Microsoft Sans Serif"/>
                <a:cs typeface="Microsoft Sans Serif"/>
              </a:rPr>
              <a:t>of </a:t>
            </a:r>
            <a:r>
              <a:rPr sz="2450" spc="125" dirty="0">
                <a:latin typeface="Microsoft Sans Serif"/>
                <a:cs typeface="Microsoft Sans Serif"/>
              </a:rPr>
              <a:t>the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85" dirty="0">
                <a:latin typeface="Microsoft Sans Serif"/>
                <a:cs typeface="Microsoft Sans Serif"/>
              </a:rPr>
              <a:t>vector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210" dirty="0">
                <a:latin typeface="Microsoft Sans Serif"/>
                <a:cs typeface="Microsoft Sans Serif"/>
              </a:rPr>
              <a:t>to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85" dirty="0">
                <a:latin typeface="Microsoft Sans Serif"/>
                <a:cs typeface="Microsoft Sans Serif"/>
              </a:rPr>
              <a:t>result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in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70" dirty="0">
                <a:latin typeface="Microsoft Sans Serif"/>
                <a:cs typeface="Microsoft Sans Serif"/>
              </a:rPr>
              <a:t>new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scaled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85" dirty="0">
                <a:latin typeface="Microsoft Sans Serif"/>
                <a:cs typeface="Microsoft Sans Serif"/>
              </a:rPr>
              <a:t>vector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180" dirty="0">
                <a:latin typeface="Microsoft Sans Serif"/>
                <a:cs typeface="Microsoft Sans Serif"/>
              </a:rPr>
              <a:t>of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the </a:t>
            </a:r>
            <a:r>
              <a:rPr sz="2450" dirty="0">
                <a:latin typeface="Microsoft Sans Serif"/>
                <a:cs typeface="Microsoft Sans Serif"/>
              </a:rPr>
              <a:t>same</a:t>
            </a:r>
            <a:r>
              <a:rPr sz="2450" spc="-165" dirty="0">
                <a:latin typeface="Microsoft Sans Serif"/>
                <a:cs typeface="Microsoft Sans Serif"/>
              </a:rPr>
              <a:t> </a:t>
            </a:r>
            <a:r>
              <a:rPr sz="2450" spc="70" dirty="0">
                <a:latin typeface="Microsoft Sans Serif"/>
                <a:cs typeface="Microsoft Sans Serif"/>
              </a:rPr>
              <a:t>length.</a:t>
            </a:r>
            <a:endParaRPr sz="2450">
              <a:latin typeface="Microsoft Sans Serif"/>
              <a:cs typeface="Microsoft Sans Serif"/>
            </a:endParaRPr>
          </a:p>
          <a:p>
            <a:pPr marL="322580" algn="ctr">
              <a:lnSpc>
                <a:spcPct val="100000"/>
              </a:lnSpc>
              <a:spcBef>
                <a:spcPts val="750"/>
              </a:spcBef>
            </a:pPr>
            <a:r>
              <a:rPr sz="2450" i="1" spc="-120" dirty="0">
                <a:latin typeface="Arial"/>
                <a:cs typeface="Arial"/>
              </a:rPr>
              <a:t>c</a:t>
            </a:r>
            <a:r>
              <a:rPr sz="2450" i="1" spc="-114" dirty="0">
                <a:latin typeface="Arial"/>
                <a:cs typeface="Arial"/>
              </a:rPr>
              <a:t> </a:t>
            </a:r>
            <a:r>
              <a:rPr sz="2450" i="1" dirty="0">
                <a:latin typeface="Arial"/>
                <a:cs typeface="Arial"/>
              </a:rPr>
              <a:t>=</a:t>
            </a:r>
            <a:r>
              <a:rPr sz="2450" i="1" spc="-170" dirty="0">
                <a:latin typeface="Arial"/>
                <a:cs typeface="Arial"/>
              </a:rPr>
              <a:t> </a:t>
            </a:r>
            <a:r>
              <a:rPr sz="2450" i="1" spc="-120" dirty="0">
                <a:latin typeface="Arial"/>
                <a:cs typeface="Arial"/>
              </a:rPr>
              <a:t>(s </a:t>
            </a:r>
            <a:r>
              <a:rPr sz="2450" i="1" dirty="0">
                <a:latin typeface="Arial"/>
                <a:cs typeface="Arial"/>
              </a:rPr>
              <a:t>×</a:t>
            </a:r>
            <a:r>
              <a:rPr sz="2450" i="1" spc="-165" dirty="0">
                <a:latin typeface="Arial"/>
                <a:cs typeface="Arial"/>
              </a:rPr>
              <a:t> </a:t>
            </a:r>
            <a:r>
              <a:rPr sz="2450" i="1" dirty="0">
                <a:latin typeface="Arial"/>
                <a:cs typeface="Arial"/>
              </a:rPr>
              <a:t>v</a:t>
            </a:r>
            <a:r>
              <a:rPr sz="2175" i="1" baseline="-19157" dirty="0">
                <a:latin typeface="Arial"/>
                <a:cs typeface="Arial"/>
              </a:rPr>
              <a:t>1</a:t>
            </a:r>
            <a:r>
              <a:rPr sz="2175" i="1" spc="232" baseline="-19157" dirty="0">
                <a:latin typeface="Arial"/>
                <a:cs typeface="Arial"/>
              </a:rPr>
              <a:t> </a:t>
            </a:r>
            <a:r>
              <a:rPr sz="2450" i="1" spc="-70" dirty="0">
                <a:latin typeface="Arial"/>
                <a:cs typeface="Arial"/>
              </a:rPr>
              <a:t>,</a:t>
            </a:r>
            <a:r>
              <a:rPr sz="2450" i="1" spc="-110" dirty="0">
                <a:latin typeface="Arial"/>
                <a:cs typeface="Arial"/>
              </a:rPr>
              <a:t> </a:t>
            </a:r>
            <a:r>
              <a:rPr sz="2450" i="1" spc="-215" dirty="0">
                <a:latin typeface="Arial"/>
                <a:cs typeface="Arial"/>
              </a:rPr>
              <a:t>s</a:t>
            </a:r>
            <a:r>
              <a:rPr sz="2450" i="1" spc="-110" dirty="0">
                <a:latin typeface="Arial"/>
                <a:cs typeface="Arial"/>
              </a:rPr>
              <a:t> </a:t>
            </a:r>
            <a:r>
              <a:rPr sz="2450" i="1" dirty="0">
                <a:latin typeface="Arial"/>
                <a:cs typeface="Arial"/>
              </a:rPr>
              <a:t>×</a:t>
            </a:r>
            <a:r>
              <a:rPr sz="2450" i="1" spc="-125" dirty="0">
                <a:latin typeface="Arial"/>
                <a:cs typeface="Arial"/>
              </a:rPr>
              <a:t> </a:t>
            </a:r>
            <a:r>
              <a:rPr sz="2450" i="1" dirty="0">
                <a:latin typeface="Arial"/>
                <a:cs typeface="Arial"/>
              </a:rPr>
              <a:t>v</a:t>
            </a:r>
            <a:r>
              <a:rPr sz="2175" i="1" baseline="-19157" dirty="0">
                <a:latin typeface="Arial"/>
                <a:cs typeface="Arial"/>
              </a:rPr>
              <a:t>2</a:t>
            </a:r>
            <a:r>
              <a:rPr sz="2175" i="1" spc="240" baseline="-19157" dirty="0">
                <a:latin typeface="Arial"/>
                <a:cs typeface="Arial"/>
              </a:rPr>
              <a:t> </a:t>
            </a:r>
            <a:r>
              <a:rPr sz="2450" i="1" spc="-70" dirty="0">
                <a:latin typeface="Arial"/>
                <a:cs typeface="Arial"/>
              </a:rPr>
              <a:t>,</a:t>
            </a:r>
            <a:r>
              <a:rPr sz="2450" i="1" spc="-110" dirty="0">
                <a:latin typeface="Arial"/>
                <a:cs typeface="Arial"/>
              </a:rPr>
              <a:t> </a:t>
            </a:r>
            <a:r>
              <a:rPr sz="2450" i="1" spc="-215" dirty="0">
                <a:latin typeface="Arial"/>
                <a:cs typeface="Arial"/>
              </a:rPr>
              <a:t>s</a:t>
            </a:r>
            <a:r>
              <a:rPr sz="2450" i="1" spc="-120" dirty="0">
                <a:latin typeface="Arial"/>
                <a:cs typeface="Arial"/>
              </a:rPr>
              <a:t> </a:t>
            </a:r>
            <a:r>
              <a:rPr sz="2450" i="1" dirty="0">
                <a:latin typeface="Arial"/>
                <a:cs typeface="Arial"/>
              </a:rPr>
              <a:t>×</a:t>
            </a:r>
            <a:r>
              <a:rPr sz="2450" i="1" spc="-120" dirty="0">
                <a:latin typeface="Arial"/>
                <a:cs typeface="Arial"/>
              </a:rPr>
              <a:t> </a:t>
            </a:r>
            <a:r>
              <a:rPr sz="2450" i="1" dirty="0">
                <a:latin typeface="Arial"/>
                <a:cs typeface="Arial"/>
              </a:rPr>
              <a:t>v</a:t>
            </a:r>
            <a:r>
              <a:rPr sz="2175" i="1" baseline="-19157" dirty="0">
                <a:latin typeface="Arial"/>
                <a:cs typeface="Arial"/>
              </a:rPr>
              <a:t>3</a:t>
            </a:r>
            <a:r>
              <a:rPr sz="2175" i="1" spc="247" baseline="-19157" dirty="0">
                <a:latin typeface="Arial"/>
                <a:cs typeface="Arial"/>
              </a:rPr>
              <a:t> </a:t>
            </a:r>
            <a:r>
              <a:rPr sz="2450" i="1" spc="-50" dirty="0">
                <a:latin typeface="Arial"/>
                <a:cs typeface="Arial"/>
              </a:rPr>
              <a:t>)</a:t>
            </a:r>
            <a:endParaRPr sz="2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Vector</a:t>
            </a:r>
            <a:r>
              <a:rPr spc="-114" dirty="0"/>
              <a:t> </a:t>
            </a:r>
            <a:r>
              <a:rPr spc="65" dirty="0"/>
              <a:t>Norm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930515" cy="4488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7785" indent="-343535">
              <a:lnSpc>
                <a:spcPct val="99800"/>
              </a:lnSpc>
              <a:spcBef>
                <a:spcPts val="105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Microsoft Sans Serif"/>
                <a:cs typeface="Microsoft Sans Serif"/>
              </a:rPr>
              <a:t>Calculating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length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100" dirty="0">
                <a:latin typeface="Microsoft Sans Serif"/>
                <a:cs typeface="Microsoft Sans Serif"/>
              </a:rPr>
              <a:t>or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magnitude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180" dirty="0">
                <a:latin typeface="Microsoft Sans Serif"/>
                <a:cs typeface="Microsoft Sans Serif"/>
              </a:rPr>
              <a:t>of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vectors is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145" dirty="0">
                <a:latin typeface="Microsoft Sans Serif"/>
                <a:cs typeface="Microsoft Sans Serif"/>
              </a:rPr>
              <a:t>often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required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either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directly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140" dirty="0">
                <a:latin typeface="Microsoft Sans Serif"/>
                <a:cs typeface="Microsoft Sans Serif"/>
              </a:rPr>
              <a:t>as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a </a:t>
            </a:r>
            <a:r>
              <a:rPr sz="2800" spc="50" dirty="0">
                <a:latin typeface="Microsoft Sans Serif"/>
                <a:cs typeface="Microsoft Sans Serif"/>
              </a:rPr>
              <a:t>regularization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method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in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machine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learning,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80" dirty="0">
                <a:latin typeface="Microsoft Sans Serif"/>
                <a:cs typeface="Microsoft Sans Serif"/>
              </a:rPr>
              <a:t>or </a:t>
            </a:r>
            <a:r>
              <a:rPr sz="2800" spc="-140" dirty="0">
                <a:latin typeface="Microsoft Sans Serif"/>
                <a:cs typeface="Microsoft Sans Serif"/>
              </a:rPr>
              <a:t>as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110" dirty="0">
                <a:latin typeface="Microsoft Sans Serif"/>
                <a:cs typeface="Microsoft Sans Serif"/>
              </a:rPr>
              <a:t>part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185" dirty="0">
                <a:latin typeface="Microsoft Sans Serif"/>
                <a:cs typeface="Microsoft Sans Serif"/>
              </a:rPr>
              <a:t>of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broader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vector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100" dirty="0">
                <a:latin typeface="Microsoft Sans Serif"/>
                <a:cs typeface="Microsoft Sans Serif"/>
              </a:rPr>
              <a:t>or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matrix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operations.</a:t>
            </a:r>
            <a:endParaRPr sz="2800">
              <a:latin typeface="Microsoft Sans Serif"/>
              <a:cs typeface="Microsoft Sans Serif"/>
            </a:endParaRPr>
          </a:p>
          <a:p>
            <a:pPr marL="355600" marR="41402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spc="-20" dirty="0">
                <a:latin typeface="Microsoft Sans Serif"/>
                <a:cs typeface="Microsoft Sans Serif"/>
              </a:rPr>
              <a:t>The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length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85" dirty="0">
                <a:latin typeface="Microsoft Sans Serif"/>
                <a:cs typeface="Microsoft Sans Serif"/>
              </a:rPr>
              <a:t>of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vector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is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referred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210" dirty="0">
                <a:latin typeface="Microsoft Sans Serif"/>
                <a:cs typeface="Microsoft Sans Serif"/>
              </a:rPr>
              <a:t>to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135" dirty="0">
                <a:latin typeface="Microsoft Sans Serif"/>
                <a:cs typeface="Microsoft Sans Serif"/>
              </a:rPr>
              <a:t>as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00" dirty="0">
                <a:latin typeface="Microsoft Sans Serif"/>
                <a:cs typeface="Microsoft Sans Serif"/>
              </a:rPr>
              <a:t>the </a:t>
            </a:r>
            <a:r>
              <a:rPr sz="2800" spc="70" dirty="0">
                <a:latin typeface="Microsoft Sans Serif"/>
                <a:cs typeface="Microsoft Sans Serif"/>
              </a:rPr>
              <a:t>vector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norm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spc="100" dirty="0">
                <a:latin typeface="Microsoft Sans Serif"/>
                <a:cs typeface="Microsoft Sans Serif"/>
              </a:rPr>
              <a:t>or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vector’s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magnitude.</a:t>
            </a:r>
            <a:endParaRPr sz="2800">
              <a:latin typeface="Microsoft Sans Serif"/>
              <a:cs typeface="Microsoft Sans Serif"/>
            </a:endParaRPr>
          </a:p>
          <a:p>
            <a:pPr marL="355600" marR="508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spc="-20" dirty="0">
                <a:latin typeface="Microsoft Sans Serif"/>
                <a:cs typeface="Microsoft Sans Serif"/>
              </a:rPr>
              <a:t>The</a:t>
            </a:r>
            <a:r>
              <a:rPr sz="2800" spc="-135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length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185" dirty="0">
                <a:latin typeface="Microsoft Sans Serif"/>
                <a:cs typeface="Microsoft Sans Serif"/>
              </a:rPr>
              <a:t>of</a:t>
            </a:r>
            <a:r>
              <a:rPr sz="2800" spc="-110" dirty="0">
                <a:latin typeface="Microsoft Sans Serif"/>
                <a:cs typeface="Microsoft Sans Serif"/>
              </a:rPr>
              <a:t> a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vector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is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-110" dirty="0">
                <a:latin typeface="Microsoft Sans Serif"/>
                <a:cs typeface="Microsoft Sans Serif"/>
              </a:rPr>
              <a:t>a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nonnegative</a:t>
            </a:r>
            <a:r>
              <a:rPr sz="2800" spc="700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number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50" dirty="0">
                <a:latin typeface="Microsoft Sans Serif"/>
                <a:cs typeface="Microsoft Sans Serif"/>
              </a:rPr>
              <a:t>that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describes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extent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80" dirty="0">
                <a:latin typeface="Microsoft Sans Serif"/>
                <a:cs typeface="Microsoft Sans Serif"/>
              </a:rPr>
              <a:t>of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vector </a:t>
            </a:r>
            <a:r>
              <a:rPr sz="2800" spc="55" dirty="0">
                <a:latin typeface="Microsoft Sans Serif"/>
                <a:cs typeface="Microsoft Sans Serif"/>
              </a:rPr>
              <a:t>in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-70" dirty="0">
                <a:latin typeface="Microsoft Sans Serif"/>
                <a:cs typeface="Microsoft Sans Serif"/>
              </a:rPr>
              <a:t>space, </a:t>
            </a:r>
            <a:r>
              <a:rPr sz="2800" dirty="0">
                <a:latin typeface="Microsoft Sans Serif"/>
                <a:cs typeface="Microsoft Sans Serif"/>
              </a:rPr>
              <a:t>and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is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sometimes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referred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204" dirty="0">
                <a:latin typeface="Microsoft Sans Serif"/>
                <a:cs typeface="Microsoft Sans Serif"/>
              </a:rPr>
              <a:t>to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-135" dirty="0">
                <a:latin typeface="Microsoft Sans Serif"/>
                <a:cs typeface="Microsoft Sans Serif"/>
              </a:rPr>
              <a:t>as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100" dirty="0">
                <a:latin typeface="Microsoft Sans Serif"/>
                <a:cs typeface="Microsoft Sans Serif"/>
              </a:rPr>
              <a:t>the </a:t>
            </a:r>
            <a:r>
              <a:rPr sz="2800" dirty="0">
                <a:latin typeface="Microsoft Sans Serif"/>
                <a:cs typeface="Microsoft Sans Serif"/>
              </a:rPr>
              <a:t>vector’s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magnitude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100" dirty="0">
                <a:latin typeface="Microsoft Sans Serif"/>
                <a:cs typeface="Microsoft Sans Serif"/>
              </a:rPr>
              <a:t>or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2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norm.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305560"/>
            <a:chOff x="0" y="0"/>
            <a:chExt cx="9144000" cy="13055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0825" cy="1089025"/>
            </a:xfrm>
            <a:custGeom>
              <a:avLst/>
              <a:gdLst/>
              <a:ahLst/>
              <a:cxnLst/>
              <a:rect l="l" t="t" r="r" b="b"/>
              <a:pathLst>
                <a:path w="9140825" h="1089025">
                  <a:moveTo>
                    <a:pt x="0" y="1088999"/>
                  </a:moveTo>
                  <a:lnTo>
                    <a:pt x="9140761" y="1088999"/>
                  </a:lnTo>
                  <a:lnTo>
                    <a:pt x="9140761" y="0"/>
                  </a:lnTo>
                  <a:lnTo>
                    <a:pt x="0" y="0"/>
                  </a:lnTo>
                  <a:lnTo>
                    <a:pt x="0" y="108899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88999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>
                  <a:moveTo>
                    <a:pt x="9143631" y="0"/>
                  </a:moveTo>
                  <a:lnTo>
                    <a:pt x="0" y="0"/>
                  </a:lnTo>
                  <a:lnTo>
                    <a:pt x="0" y="216001"/>
                  </a:lnTo>
                  <a:lnTo>
                    <a:pt x="9143631" y="216001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01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0"/>
                </a:move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lnTo>
                  <a:pt x="0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Vector</a:t>
            </a:r>
            <a:r>
              <a:rPr spc="-114" dirty="0"/>
              <a:t> </a:t>
            </a:r>
            <a:r>
              <a:rPr spc="65" dirty="0"/>
              <a:t>Norm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517650"/>
            <a:ext cx="7708265" cy="471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4010" marR="461009" indent="-321945">
              <a:lnSpc>
                <a:spcPct val="100899"/>
              </a:lnSpc>
              <a:spcBef>
                <a:spcPts val="100"/>
              </a:spcBef>
              <a:buClr>
                <a:srgbClr val="6697CC"/>
              </a:buClr>
              <a:buFont typeface="Arial"/>
              <a:buChar char="•"/>
              <a:tabLst>
                <a:tab pos="334010" algn="l"/>
              </a:tabLst>
            </a:pPr>
            <a:r>
              <a:rPr sz="2600" dirty="0">
                <a:latin typeface="Microsoft Sans Serif"/>
                <a:cs typeface="Microsoft Sans Serif"/>
              </a:rPr>
              <a:t>The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length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190" dirty="0">
                <a:latin typeface="Microsoft Sans Serif"/>
                <a:cs typeface="Microsoft Sans Serif"/>
              </a:rPr>
              <a:t>of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20" dirty="0">
                <a:latin typeface="Microsoft Sans Serif"/>
                <a:cs typeface="Microsoft Sans Serif"/>
              </a:rPr>
              <a:t>the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vector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always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-90" dirty="0">
                <a:latin typeface="Microsoft Sans Serif"/>
                <a:cs typeface="Microsoft Sans Serif"/>
              </a:rPr>
              <a:t>a </a:t>
            </a:r>
            <a:r>
              <a:rPr sz="2600" spc="55" dirty="0">
                <a:latin typeface="Microsoft Sans Serif"/>
                <a:cs typeface="Microsoft Sans Serif"/>
              </a:rPr>
              <a:t>positive </a:t>
            </a:r>
            <a:r>
              <a:rPr sz="2600" spc="50" dirty="0">
                <a:latin typeface="Microsoft Sans Serif"/>
                <a:cs typeface="Microsoft Sans Serif"/>
              </a:rPr>
              <a:t>number,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except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175" dirty="0">
                <a:latin typeface="Microsoft Sans Serif"/>
                <a:cs typeface="Microsoft Sans Serif"/>
              </a:rPr>
              <a:t>for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-90" dirty="0">
                <a:latin typeface="Microsoft Sans Serif"/>
                <a:cs typeface="Microsoft Sans Serif"/>
              </a:rPr>
              <a:t>a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vector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185" dirty="0">
                <a:latin typeface="Microsoft Sans Serif"/>
                <a:cs typeface="Microsoft Sans Serif"/>
              </a:rPr>
              <a:t>of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all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zero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values.</a:t>
            </a:r>
            <a:endParaRPr sz="2600">
              <a:latin typeface="Microsoft Sans Serif"/>
              <a:cs typeface="Microsoft Sans Serif"/>
            </a:endParaRPr>
          </a:p>
          <a:p>
            <a:pPr marL="334010" marR="186690" indent="-321945">
              <a:lnSpc>
                <a:spcPct val="100899"/>
              </a:lnSpc>
              <a:spcBef>
                <a:spcPts val="755"/>
              </a:spcBef>
              <a:buClr>
                <a:srgbClr val="6697CC"/>
              </a:buClr>
              <a:buFont typeface="Arial"/>
              <a:buChar char="•"/>
              <a:tabLst>
                <a:tab pos="334010" algn="l"/>
              </a:tabLst>
            </a:pPr>
            <a:r>
              <a:rPr sz="2600" spc="150" dirty="0">
                <a:latin typeface="Microsoft Sans Serif"/>
                <a:cs typeface="Microsoft Sans Serif"/>
              </a:rPr>
              <a:t>It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calculated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using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some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measure </a:t>
            </a:r>
            <a:r>
              <a:rPr sz="2600" spc="125" dirty="0">
                <a:latin typeface="Microsoft Sans Serif"/>
                <a:cs typeface="Microsoft Sans Serif"/>
              </a:rPr>
              <a:t>that </a:t>
            </a:r>
            <a:r>
              <a:rPr sz="2600" dirty="0">
                <a:latin typeface="Microsoft Sans Serif"/>
                <a:cs typeface="Microsoft Sans Serif"/>
              </a:rPr>
              <a:t>summarizes</a:t>
            </a:r>
            <a:r>
              <a:rPr sz="2600" spc="-45" dirty="0">
                <a:latin typeface="Microsoft Sans Serif"/>
                <a:cs typeface="Microsoft Sans Serif"/>
              </a:rPr>
              <a:t> </a:t>
            </a:r>
            <a:r>
              <a:rPr sz="2600" spc="125" dirty="0">
                <a:latin typeface="Microsoft Sans Serif"/>
                <a:cs typeface="Microsoft Sans Serif"/>
              </a:rPr>
              <a:t>the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distance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spc="190" dirty="0">
                <a:latin typeface="Microsoft Sans Serif"/>
                <a:cs typeface="Microsoft Sans Serif"/>
              </a:rPr>
              <a:t>of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spc="120" dirty="0">
                <a:latin typeface="Microsoft Sans Serif"/>
                <a:cs typeface="Microsoft Sans Serif"/>
              </a:rPr>
              <a:t>the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vector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spc="150" dirty="0">
                <a:latin typeface="Microsoft Sans Serif"/>
                <a:cs typeface="Microsoft Sans Serif"/>
              </a:rPr>
              <a:t>from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the </a:t>
            </a:r>
            <a:r>
              <a:rPr sz="2600" spc="80" dirty="0">
                <a:latin typeface="Microsoft Sans Serif"/>
                <a:cs typeface="Microsoft Sans Serif"/>
              </a:rPr>
              <a:t>origin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190" dirty="0">
                <a:latin typeface="Microsoft Sans Serif"/>
                <a:cs typeface="Microsoft Sans Serif"/>
              </a:rPr>
              <a:t>of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125" dirty="0">
                <a:latin typeface="Microsoft Sans Serif"/>
                <a:cs typeface="Microsoft Sans Serif"/>
              </a:rPr>
              <a:t>the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vector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space.</a:t>
            </a:r>
            <a:endParaRPr sz="2600">
              <a:latin typeface="Microsoft Sans Serif"/>
              <a:cs typeface="Microsoft Sans Serif"/>
            </a:endParaRPr>
          </a:p>
          <a:p>
            <a:pPr marL="334010" marR="440055" indent="-321945">
              <a:lnSpc>
                <a:spcPct val="100899"/>
              </a:lnSpc>
              <a:spcBef>
                <a:spcPts val="750"/>
              </a:spcBef>
              <a:buClr>
                <a:srgbClr val="6697CC"/>
              </a:buClr>
              <a:buFont typeface="Arial"/>
              <a:buChar char="•"/>
              <a:tabLst>
                <a:tab pos="334010" algn="l"/>
              </a:tabLst>
            </a:pPr>
            <a:r>
              <a:rPr sz="2600" dirty="0">
                <a:latin typeface="Microsoft Sans Serif"/>
                <a:cs typeface="Microsoft Sans Serif"/>
              </a:rPr>
              <a:t>For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example,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20" dirty="0">
                <a:latin typeface="Microsoft Sans Serif"/>
                <a:cs typeface="Microsoft Sans Serif"/>
              </a:rPr>
              <a:t>the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origin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90" dirty="0">
                <a:latin typeface="Microsoft Sans Serif"/>
                <a:cs typeface="Microsoft Sans Serif"/>
              </a:rPr>
              <a:t>of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vector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-40" dirty="0">
                <a:latin typeface="Microsoft Sans Serif"/>
                <a:cs typeface="Microsoft Sans Serif"/>
              </a:rPr>
              <a:t>space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75" dirty="0">
                <a:latin typeface="Microsoft Sans Serif"/>
                <a:cs typeface="Microsoft Sans Serif"/>
              </a:rPr>
              <a:t>for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-50" dirty="0">
                <a:latin typeface="Microsoft Sans Serif"/>
                <a:cs typeface="Microsoft Sans Serif"/>
              </a:rPr>
              <a:t>a </a:t>
            </a:r>
            <a:r>
              <a:rPr sz="2600" spc="80" dirty="0">
                <a:latin typeface="Microsoft Sans Serif"/>
                <a:cs typeface="Microsoft Sans Serif"/>
              </a:rPr>
              <a:t>vector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with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3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elements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(0,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0,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0).</a:t>
            </a:r>
            <a:endParaRPr sz="2600">
              <a:latin typeface="Microsoft Sans Serif"/>
              <a:cs typeface="Microsoft Sans Serif"/>
            </a:endParaRPr>
          </a:p>
          <a:p>
            <a:pPr marL="334010" marR="5080" indent="-321945">
              <a:lnSpc>
                <a:spcPct val="100899"/>
              </a:lnSpc>
              <a:spcBef>
                <a:spcPts val="755"/>
              </a:spcBef>
              <a:buClr>
                <a:srgbClr val="6697CC"/>
              </a:buClr>
              <a:buFont typeface="Arial"/>
              <a:buChar char="•"/>
              <a:tabLst>
                <a:tab pos="334010" algn="l"/>
              </a:tabLst>
            </a:pPr>
            <a:r>
              <a:rPr sz="2600" spc="80" dirty="0">
                <a:latin typeface="Microsoft Sans Serif"/>
                <a:cs typeface="Microsoft Sans Serif"/>
              </a:rPr>
              <a:t>Notations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are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used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204" dirty="0">
                <a:latin typeface="Microsoft Sans Serif"/>
                <a:cs typeface="Microsoft Sans Serif"/>
              </a:rPr>
              <a:t>to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70" dirty="0">
                <a:latin typeface="Microsoft Sans Serif"/>
                <a:cs typeface="Microsoft Sans Serif"/>
              </a:rPr>
              <a:t>represent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120" dirty="0">
                <a:latin typeface="Microsoft Sans Serif"/>
                <a:cs typeface="Microsoft Sans Serif"/>
              </a:rPr>
              <a:t>the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vector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norm </a:t>
            </a:r>
            <a:r>
              <a:rPr sz="2600" spc="60" dirty="0">
                <a:latin typeface="Microsoft Sans Serif"/>
                <a:cs typeface="Microsoft Sans Serif"/>
              </a:rPr>
              <a:t>in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broader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calculations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and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spc="120" dirty="0">
                <a:latin typeface="Microsoft Sans Serif"/>
                <a:cs typeface="Microsoft Sans Serif"/>
              </a:rPr>
              <a:t>the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type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spc="190" dirty="0">
                <a:latin typeface="Microsoft Sans Serif"/>
                <a:cs typeface="Microsoft Sans Serif"/>
              </a:rPr>
              <a:t>of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spc="70" dirty="0">
                <a:latin typeface="Microsoft Sans Serif"/>
                <a:cs typeface="Microsoft Sans Serif"/>
              </a:rPr>
              <a:t>vector </a:t>
            </a:r>
            <a:r>
              <a:rPr sz="2600" spc="95" dirty="0">
                <a:latin typeface="Microsoft Sans Serif"/>
                <a:cs typeface="Microsoft Sans Serif"/>
              </a:rPr>
              <a:t>norm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45" dirty="0">
                <a:latin typeface="Microsoft Sans Serif"/>
                <a:cs typeface="Microsoft Sans Serif"/>
              </a:rPr>
              <a:t>calculation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almost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always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-60" dirty="0">
                <a:latin typeface="Microsoft Sans Serif"/>
                <a:cs typeface="Microsoft Sans Serif"/>
              </a:rPr>
              <a:t>has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its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own </a:t>
            </a:r>
            <a:r>
              <a:rPr sz="2600" spc="55" dirty="0">
                <a:latin typeface="Microsoft Sans Serif"/>
                <a:cs typeface="Microsoft Sans Serif"/>
              </a:rPr>
              <a:t>unique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notation.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Vector</a:t>
            </a:r>
            <a:r>
              <a:rPr spc="-180" dirty="0"/>
              <a:t> </a:t>
            </a:r>
            <a:r>
              <a:rPr dirty="0"/>
              <a:t>L</a:t>
            </a:r>
            <a:r>
              <a:rPr sz="3075" baseline="32520" dirty="0"/>
              <a:t>1</a:t>
            </a:r>
            <a:r>
              <a:rPr sz="3075" spc="359" baseline="32520" dirty="0"/>
              <a:t> </a:t>
            </a:r>
            <a:r>
              <a:rPr sz="3600" spc="75" dirty="0"/>
              <a:t>Norm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10540" y="1517662"/>
            <a:ext cx="7963534" cy="3737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0" marR="78105" indent="-343535">
              <a:lnSpc>
                <a:spcPct val="99700"/>
              </a:lnSpc>
              <a:spcBef>
                <a:spcPts val="110"/>
              </a:spcBef>
              <a:buClr>
                <a:srgbClr val="6697CC"/>
              </a:buClr>
              <a:buFont typeface="Arial"/>
              <a:buChar char="•"/>
              <a:tabLst>
                <a:tab pos="381000" algn="l"/>
              </a:tabLst>
            </a:pPr>
            <a:r>
              <a:rPr sz="2800" spc="-20" dirty="0">
                <a:latin typeface="Microsoft Sans Serif"/>
                <a:cs typeface="Microsoft Sans Serif"/>
              </a:rPr>
              <a:t>The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length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185" dirty="0">
                <a:latin typeface="Microsoft Sans Serif"/>
                <a:cs typeface="Microsoft Sans Serif"/>
              </a:rPr>
              <a:t>of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-110" dirty="0">
                <a:latin typeface="Microsoft Sans Serif"/>
                <a:cs typeface="Microsoft Sans Serif"/>
              </a:rPr>
              <a:t>a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vector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-60" dirty="0">
                <a:latin typeface="Microsoft Sans Serif"/>
                <a:cs typeface="Microsoft Sans Serif"/>
              </a:rPr>
              <a:t>can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be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calculated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using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L</a:t>
            </a:r>
            <a:r>
              <a:rPr sz="2400" baseline="19097" dirty="0">
                <a:latin typeface="Microsoft Sans Serif"/>
                <a:cs typeface="Microsoft Sans Serif"/>
              </a:rPr>
              <a:t>1</a:t>
            </a:r>
            <a:r>
              <a:rPr sz="2400" spc="405" baseline="19097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norm,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where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1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is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-110" dirty="0">
                <a:latin typeface="Microsoft Sans Serif"/>
                <a:cs typeface="Microsoft Sans Serif"/>
              </a:rPr>
              <a:t>a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superscript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180" dirty="0">
                <a:latin typeface="Microsoft Sans Serif"/>
                <a:cs typeface="Microsoft Sans Serif"/>
              </a:rPr>
              <a:t>of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95" dirty="0">
                <a:latin typeface="Microsoft Sans Serif"/>
                <a:cs typeface="Microsoft Sans Serif"/>
              </a:rPr>
              <a:t>the </a:t>
            </a:r>
            <a:r>
              <a:rPr sz="2800" spc="-25" dirty="0">
                <a:latin typeface="Microsoft Sans Serif"/>
                <a:cs typeface="Microsoft Sans Serif"/>
              </a:rPr>
              <a:t>L.</a:t>
            </a:r>
            <a:endParaRPr sz="2800">
              <a:latin typeface="Microsoft Sans Serif"/>
              <a:cs typeface="Microsoft Sans Serif"/>
            </a:endParaRPr>
          </a:p>
          <a:p>
            <a:pPr marL="381000" marR="30480" indent="-343535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"/>
              <a:buChar char="•"/>
              <a:tabLst>
                <a:tab pos="381000" algn="l"/>
              </a:tabLst>
            </a:pPr>
            <a:r>
              <a:rPr sz="2800" spc="-20" dirty="0">
                <a:latin typeface="Microsoft Sans Serif"/>
                <a:cs typeface="Microsoft Sans Serif"/>
              </a:rPr>
              <a:t>The</a:t>
            </a:r>
            <a:r>
              <a:rPr sz="2800" spc="-125" dirty="0">
                <a:latin typeface="Microsoft Sans Serif"/>
                <a:cs typeface="Microsoft Sans Serif"/>
              </a:rPr>
              <a:t> </a:t>
            </a:r>
            <a:r>
              <a:rPr sz="2800" spc="105" dirty="0">
                <a:latin typeface="Microsoft Sans Serif"/>
                <a:cs typeface="Microsoft Sans Serif"/>
              </a:rPr>
              <a:t>notation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65" dirty="0">
                <a:latin typeface="Microsoft Sans Serif"/>
                <a:cs typeface="Microsoft Sans Serif"/>
              </a:rPr>
              <a:t>for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110" dirty="0">
                <a:latin typeface="Microsoft Sans Serif"/>
                <a:cs typeface="Microsoft Sans Serif"/>
              </a:rPr>
              <a:t> L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1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norm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85" dirty="0">
                <a:latin typeface="Microsoft Sans Serif"/>
                <a:cs typeface="Microsoft Sans Serif"/>
              </a:rPr>
              <a:t>of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110" dirty="0">
                <a:latin typeface="Microsoft Sans Serif"/>
                <a:cs typeface="Microsoft Sans Serif"/>
              </a:rPr>
              <a:t>a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vector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is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||v|| </a:t>
            </a:r>
            <a:r>
              <a:rPr sz="2800" dirty="0">
                <a:latin typeface="Microsoft Sans Serif"/>
                <a:cs typeface="Microsoft Sans Serif"/>
              </a:rPr>
              <a:t>1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-100" dirty="0">
                <a:latin typeface="Microsoft Sans Serif"/>
                <a:cs typeface="Microsoft Sans Serif"/>
              </a:rPr>
              <a:t>,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where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1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is</a:t>
            </a:r>
            <a:r>
              <a:rPr sz="2800" spc="-110" dirty="0">
                <a:latin typeface="Microsoft Sans Serif"/>
                <a:cs typeface="Microsoft Sans Serif"/>
              </a:rPr>
              <a:t> a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subscript.</a:t>
            </a:r>
            <a:endParaRPr sz="2800">
              <a:latin typeface="Microsoft Sans Serif"/>
              <a:cs typeface="Microsoft Sans Serif"/>
            </a:endParaRPr>
          </a:p>
          <a:p>
            <a:pPr marL="381000" marR="634365" indent="-343535">
              <a:lnSpc>
                <a:spcPct val="100000"/>
              </a:lnSpc>
              <a:spcBef>
                <a:spcPts val="780"/>
              </a:spcBef>
              <a:buClr>
                <a:srgbClr val="6697CC"/>
              </a:buClr>
              <a:buFont typeface="Arial"/>
              <a:buChar char="•"/>
              <a:tabLst>
                <a:tab pos="381000" algn="l"/>
              </a:tabLst>
            </a:pPr>
            <a:r>
              <a:rPr sz="2800" spc="-100" dirty="0">
                <a:latin typeface="Microsoft Sans Serif"/>
                <a:cs typeface="Microsoft Sans Serif"/>
              </a:rPr>
              <a:t>As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-60" dirty="0">
                <a:latin typeface="Microsoft Sans Serif"/>
                <a:cs typeface="Microsoft Sans Serif"/>
              </a:rPr>
              <a:t>such,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65" dirty="0">
                <a:latin typeface="Microsoft Sans Serif"/>
                <a:cs typeface="Microsoft Sans Serif"/>
              </a:rPr>
              <a:t>this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length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is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sometimes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called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95" dirty="0">
                <a:latin typeface="Microsoft Sans Serif"/>
                <a:cs typeface="Microsoft Sans Serif"/>
              </a:rPr>
              <a:t>the </a:t>
            </a:r>
            <a:r>
              <a:rPr sz="2800" dirty="0">
                <a:latin typeface="Microsoft Sans Serif"/>
                <a:cs typeface="Microsoft Sans Serif"/>
              </a:rPr>
              <a:t>taxicab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norm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100" dirty="0">
                <a:latin typeface="Microsoft Sans Serif"/>
                <a:cs typeface="Microsoft Sans Serif"/>
              </a:rPr>
              <a:t>or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Manhattan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norm.</a:t>
            </a:r>
            <a:endParaRPr sz="2800">
              <a:latin typeface="Microsoft Sans Serif"/>
              <a:cs typeface="Microsoft Sans Serif"/>
            </a:endParaRPr>
          </a:p>
          <a:p>
            <a:pPr marL="381000">
              <a:lnSpc>
                <a:spcPct val="100000"/>
              </a:lnSpc>
              <a:spcBef>
                <a:spcPts val="790"/>
              </a:spcBef>
            </a:pPr>
            <a:r>
              <a:rPr sz="2800" dirty="0">
                <a:latin typeface="Microsoft Sans Serif"/>
                <a:cs typeface="Microsoft Sans Serif"/>
              </a:rPr>
              <a:t>L</a:t>
            </a:r>
            <a:r>
              <a:rPr sz="2400" baseline="19097" dirty="0">
                <a:latin typeface="Microsoft Sans Serif"/>
                <a:cs typeface="Microsoft Sans Serif"/>
              </a:rPr>
              <a:t>1</a:t>
            </a:r>
            <a:r>
              <a:rPr sz="2400" spc="315" baseline="19097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(v)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||v||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400" spc="-75" baseline="-19097" dirty="0">
                <a:latin typeface="Microsoft Sans Serif"/>
                <a:cs typeface="Microsoft Sans Serif"/>
              </a:rPr>
              <a:t>1</a:t>
            </a:r>
            <a:endParaRPr sz="2400" baseline="-19097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Vector</a:t>
            </a:r>
            <a:r>
              <a:rPr spc="-180" dirty="0"/>
              <a:t> </a:t>
            </a:r>
            <a:r>
              <a:rPr dirty="0"/>
              <a:t>L</a:t>
            </a:r>
            <a:r>
              <a:rPr sz="3075" baseline="32520" dirty="0"/>
              <a:t>1</a:t>
            </a:r>
            <a:r>
              <a:rPr sz="3075" spc="359" baseline="32520" dirty="0"/>
              <a:t> </a:t>
            </a:r>
            <a:r>
              <a:rPr sz="3600" spc="75" dirty="0"/>
              <a:t>Norm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10540" y="1517662"/>
            <a:ext cx="7333615" cy="32473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0" marR="30480" indent="-343535">
              <a:lnSpc>
                <a:spcPct val="99700"/>
              </a:lnSpc>
              <a:spcBef>
                <a:spcPts val="110"/>
              </a:spcBef>
              <a:buClr>
                <a:srgbClr val="6697CC"/>
              </a:buClr>
              <a:buFont typeface="Arial"/>
              <a:buChar char="•"/>
              <a:tabLst>
                <a:tab pos="381000" algn="l"/>
              </a:tabLst>
            </a:pPr>
            <a:r>
              <a:rPr sz="2800" spc="-20" dirty="0">
                <a:latin typeface="Microsoft Sans Serif"/>
                <a:cs typeface="Microsoft Sans Serif"/>
              </a:rPr>
              <a:t>The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L</a:t>
            </a:r>
            <a:r>
              <a:rPr sz="2400" spc="-75" baseline="19097" dirty="0">
                <a:latin typeface="Microsoft Sans Serif"/>
                <a:cs typeface="Microsoft Sans Serif"/>
              </a:rPr>
              <a:t>1</a:t>
            </a:r>
            <a:r>
              <a:rPr sz="2400" spc="-82" baseline="19097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norm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is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calculated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35" dirty="0">
                <a:latin typeface="Microsoft Sans Serif"/>
                <a:cs typeface="Microsoft Sans Serif"/>
              </a:rPr>
              <a:t>as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sum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180" dirty="0">
                <a:latin typeface="Microsoft Sans Serif"/>
                <a:cs typeface="Microsoft Sans Serif"/>
              </a:rPr>
              <a:t>of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100" dirty="0">
                <a:latin typeface="Microsoft Sans Serif"/>
                <a:cs typeface="Microsoft Sans Serif"/>
              </a:rPr>
              <a:t>the </a:t>
            </a:r>
            <a:r>
              <a:rPr sz="2800" spc="45" dirty="0">
                <a:latin typeface="Microsoft Sans Serif"/>
                <a:cs typeface="Microsoft Sans Serif"/>
              </a:rPr>
              <a:t>absolute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vector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values,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where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absolute </a:t>
            </a:r>
            <a:r>
              <a:rPr sz="2800" dirty="0">
                <a:latin typeface="Microsoft Sans Serif"/>
                <a:cs typeface="Microsoft Sans Serif"/>
              </a:rPr>
              <a:t>value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180" dirty="0">
                <a:latin typeface="Microsoft Sans Serif"/>
                <a:cs typeface="Microsoft Sans Serif"/>
              </a:rPr>
              <a:t>of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114" dirty="0">
                <a:latin typeface="Microsoft Sans Serif"/>
                <a:cs typeface="Microsoft Sans Serif"/>
              </a:rPr>
              <a:t>a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30" dirty="0">
                <a:latin typeface="Microsoft Sans Serif"/>
                <a:cs typeface="Microsoft Sans Serif"/>
              </a:rPr>
              <a:t>scalar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75" dirty="0">
                <a:latin typeface="Microsoft Sans Serif"/>
                <a:cs typeface="Microsoft Sans Serif"/>
              </a:rPr>
              <a:t>uses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05" dirty="0">
                <a:latin typeface="Microsoft Sans Serif"/>
                <a:cs typeface="Microsoft Sans Serif"/>
              </a:rPr>
              <a:t>notation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|a</a:t>
            </a:r>
            <a:r>
              <a:rPr sz="2400" spc="-15" baseline="-19097" dirty="0">
                <a:latin typeface="Microsoft Sans Serif"/>
                <a:cs typeface="Microsoft Sans Serif"/>
              </a:rPr>
              <a:t>1</a:t>
            </a:r>
            <a:r>
              <a:rPr sz="2800" spc="-10" dirty="0">
                <a:latin typeface="Microsoft Sans Serif"/>
                <a:cs typeface="Microsoft Sans Serif"/>
              </a:rPr>
              <a:t>|.</a:t>
            </a:r>
            <a:endParaRPr sz="2800">
              <a:latin typeface="Microsoft Sans Serif"/>
              <a:cs typeface="Microsoft Sans Serif"/>
            </a:endParaRPr>
          </a:p>
          <a:p>
            <a:pPr marL="381000" marR="177165" indent="-343535">
              <a:lnSpc>
                <a:spcPct val="99700"/>
              </a:lnSpc>
              <a:spcBef>
                <a:spcPts val="1110"/>
              </a:spcBef>
              <a:buClr>
                <a:srgbClr val="6697CC"/>
              </a:buClr>
              <a:buFont typeface="Arial"/>
              <a:buChar char="•"/>
              <a:tabLst>
                <a:tab pos="381000" algn="l"/>
              </a:tabLst>
            </a:pPr>
            <a:r>
              <a:rPr sz="2800" dirty="0">
                <a:latin typeface="Microsoft Sans Serif"/>
                <a:cs typeface="Microsoft Sans Serif"/>
              </a:rPr>
              <a:t>In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105" dirty="0">
                <a:latin typeface="Microsoft Sans Serif"/>
                <a:cs typeface="Microsoft Sans Serif"/>
              </a:rPr>
              <a:t>effect,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norm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is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-110" dirty="0">
                <a:latin typeface="Microsoft Sans Serif"/>
                <a:cs typeface="Microsoft Sans Serif"/>
              </a:rPr>
              <a:t>a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calculation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180" dirty="0">
                <a:latin typeface="Microsoft Sans Serif"/>
                <a:cs typeface="Microsoft Sans Serif"/>
              </a:rPr>
              <a:t>of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95" dirty="0">
                <a:latin typeface="Microsoft Sans Serif"/>
                <a:cs typeface="Microsoft Sans Serif"/>
              </a:rPr>
              <a:t>the </a:t>
            </a:r>
            <a:r>
              <a:rPr sz="2800" spc="60" dirty="0">
                <a:latin typeface="Microsoft Sans Serif"/>
                <a:cs typeface="Microsoft Sans Serif"/>
              </a:rPr>
              <a:t>Manhattan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distance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140" dirty="0">
                <a:latin typeface="Microsoft Sans Serif"/>
                <a:cs typeface="Microsoft Sans Serif"/>
              </a:rPr>
              <a:t>from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origin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180" dirty="0">
                <a:latin typeface="Microsoft Sans Serif"/>
                <a:cs typeface="Microsoft Sans Serif"/>
              </a:rPr>
              <a:t>of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95" dirty="0">
                <a:latin typeface="Microsoft Sans Serif"/>
                <a:cs typeface="Microsoft Sans Serif"/>
              </a:rPr>
              <a:t>the </a:t>
            </a:r>
            <a:r>
              <a:rPr sz="2800" spc="70" dirty="0">
                <a:latin typeface="Microsoft Sans Serif"/>
                <a:cs typeface="Microsoft Sans Serif"/>
              </a:rPr>
              <a:t>vector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space.</a:t>
            </a:r>
            <a:endParaRPr sz="2800">
              <a:latin typeface="Microsoft Sans Serif"/>
              <a:cs typeface="Microsoft Sans Serif"/>
            </a:endParaRPr>
          </a:p>
          <a:p>
            <a:pPr marL="381000">
              <a:lnSpc>
                <a:spcPct val="100000"/>
              </a:lnSpc>
              <a:spcBef>
                <a:spcPts val="790"/>
              </a:spcBef>
            </a:pPr>
            <a:r>
              <a:rPr sz="2800" dirty="0">
                <a:latin typeface="Microsoft Sans Serif"/>
                <a:cs typeface="Microsoft Sans Serif"/>
              </a:rPr>
              <a:t>||v||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400" baseline="-19097" dirty="0">
                <a:latin typeface="Microsoft Sans Serif"/>
                <a:cs typeface="Microsoft Sans Serif"/>
              </a:rPr>
              <a:t>1</a:t>
            </a:r>
            <a:r>
              <a:rPr sz="2400" spc="322" baseline="-19097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|a</a:t>
            </a:r>
            <a:r>
              <a:rPr sz="2400" baseline="-19097" dirty="0">
                <a:latin typeface="Microsoft Sans Serif"/>
                <a:cs typeface="Microsoft Sans Serif"/>
              </a:rPr>
              <a:t>1</a:t>
            </a:r>
            <a:r>
              <a:rPr sz="2400" spc="322" baseline="-19097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|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+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|a</a:t>
            </a:r>
            <a:r>
              <a:rPr sz="2400" baseline="-19097" dirty="0">
                <a:latin typeface="Microsoft Sans Serif"/>
                <a:cs typeface="Microsoft Sans Serif"/>
              </a:rPr>
              <a:t>2</a:t>
            </a:r>
            <a:r>
              <a:rPr sz="2400" spc="322" baseline="-19097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|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+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|a</a:t>
            </a:r>
            <a:r>
              <a:rPr sz="2400" baseline="-19097" dirty="0">
                <a:latin typeface="Microsoft Sans Serif"/>
                <a:cs typeface="Microsoft Sans Serif"/>
              </a:rPr>
              <a:t>3</a:t>
            </a:r>
            <a:r>
              <a:rPr sz="2400" spc="-97" baseline="-19097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|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Vector</a:t>
            </a:r>
            <a:r>
              <a:rPr spc="-180" dirty="0"/>
              <a:t> </a:t>
            </a:r>
            <a:r>
              <a:rPr dirty="0"/>
              <a:t>L</a:t>
            </a:r>
            <a:r>
              <a:rPr sz="3075" baseline="32520" dirty="0"/>
              <a:t>2</a:t>
            </a:r>
            <a:r>
              <a:rPr sz="3075" spc="359" baseline="32520" dirty="0"/>
              <a:t> </a:t>
            </a:r>
            <a:r>
              <a:rPr sz="3600" spc="75" dirty="0"/>
              <a:t>Norm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10540" y="1517662"/>
            <a:ext cx="7963534" cy="27844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0" marR="78105" indent="-343535">
              <a:lnSpc>
                <a:spcPct val="99700"/>
              </a:lnSpc>
              <a:spcBef>
                <a:spcPts val="110"/>
              </a:spcBef>
              <a:buClr>
                <a:srgbClr val="6697CC"/>
              </a:buClr>
              <a:buFont typeface="Arial"/>
              <a:buChar char="•"/>
              <a:tabLst>
                <a:tab pos="381000" algn="l"/>
              </a:tabLst>
            </a:pPr>
            <a:r>
              <a:rPr sz="2800" spc="-20" dirty="0">
                <a:latin typeface="Microsoft Sans Serif"/>
                <a:cs typeface="Microsoft Sans Serif"/>
              </a:rPr>
              <a:t>The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length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185" dirty="0">
                <a:latin typeface="Microsoft Sans Serif"/>
                <a:cs typeface="Microsoft Sans Serif"/>
              </a:rPr>
              <a:t>of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-110" dirty="0">
                <a:latin typeface="Microsoft Sans Serif"/>
                <a:cs typeface="Microsoft Sans Serif"/>
              </a:rPr>
              <a:t>a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vector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-60" dirty="0">
                <a:latin typeface="Microsoft Sans Serif"/>
                <a:cs typeface="Microsoft Sans Serif"/>
              </a:rPr>
              <a:t>can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be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calculated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using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L</a:t>
            </a:r>
            <a:r>
              <a:rPr sz="2400" baseline="19097" dirty="0">
                <a:latin typeface="Microsoft Sans Serif"/>
                <a:cs typeface="Microsoft Sans Serif"/>
              </a:rPr>
              <a:t>2</a:t>
            </a:r>
            <a:r>
              <a:rPr sz="2400" spc="405" baseline="19097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norm,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where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2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is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-110" dirty="0">
                <a:latin typeface="Microsoft Sans Serif"/>
                <a:cs typeface="Microsoft Sans Serif"/>
              </a:rPr>
              <a:t>a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superscript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180" dirty="0">
                <a:latin typeface="Microsoft Sans Serif"/>
                <a:cs typeface="Microsoft Sans Serif"/>
              </a:rPr>
              <a:t>of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95" dirty="0">
                <a:latin typeface="Microsoft Sans Serif"/>
                <a:cs typeface="Microsoft Sans Serif"/>
              </a:rPr>
              <a:t>the </a:t>
            </a:r>
            <a:r>
              <a:rPr sz="2800" spc="-25" dirty="0">
                <a:latin typeface="Microsoft Sans Serif"/>
                <a:cs typeface="Microsoft Sans Serif"/>
              </a:rPr>
              <a:t>L.</a:t>
            </a:r>
            <a:endParaRPr sz="2800">
              <a:latin typeface="Microsoft Sans Serif"/>
              <a:cs typeface="Microsoft Sans Serif"/>
            </a:endParaRPr>
          </a:p>
          <a:p>
            <a:pPr marL="381000" marR="30480" indent="-343535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"/>
              <a:buChar char="•"/>
              <a:tabLst>
                <a:tab pos="381000" algn="l"/>
              </a:tabLst>
            </a:pPr>
            <a:r>
              <a:rPr sz="2800" spc="-20" dirty="0">
                <a:latin typeface="Microsoft Sans Serif"/>
                <a:cs typeface="Microsoft Sans Serif"/>
              </a:rPr>
              <a:t>The</a:t>
            </a:r>
            <a:r>
              <a:rPr sz="2800" spc="-125" dirty="0">
                <a:latin typeface="Microsoft Sans Serif"/>
                <a:cs typeface="Microsoft Sans Serif"/>
              </a:rPr>
              <a:t> </a:t>
            </a:r>
            <a:r>
              <a:rPr sz="2800" spc="105" dirty="0">
                <a:latin typeface="Microsoft Sans Serif"/>
                <a:cs typeface="Microsoft Sans Serif"/>
              </a:rPr>
              <a:t>notation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65" dirty="0">
                <a:latin typeface="Microsoft Sans Serif"/>
                <a:cs typeface="Microsoft Sans Serif"/>
              </a:rPr>
              <a:t>for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110" dirty="0">
                <a:latin typeface="Microsoft Sans Serif"/>
                <a:cs typeface="Microsoft Sans Serif"/>
              </a:rPr>
              <a:t> L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2</a:t>
            </a:r>
            <a:r>
              <a:rPr sz="2800" spc="-120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norm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85" dirty="0">
                <a:latin typeface="Microsoft Sans Serif"/>
                <a:cs typeface="Microsoft Sans Serif"/>
              </a:rPr>
              <a:t>of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110" dirty="0">
                <a:latin typeface="Microsoft Sans Serif"/>
                <a:cs typeface="Microsoft Sans Serif"/>
              </a:rPr>
              <a:t>a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vector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is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||v|| </a:t>
            </a:r>
            <a:r>
              <a:rPr sz="2800" dirty="0">
                <a:latin typeface="Microsoft Sans Serif"/>
                <a:cs typeface="Microsoft Sans Serif"/>
              </a:rPr>
              <a:t>2</a:t>
            </a:r>
            <a:r>
              <a:rPr sz="2800" spc="-130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where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2</a:t>
            </a:r>
            <a:r>
              <a:rPr sz="2800" spc="-1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is</a:t>
            </a:r>
            <a:r>
              <a:rPr sz="2800" spc="-110" dirty="0">
                <a:latin typeface="Microsoft Sans Serif"/>
                <a:cs typeface="Microsoft Sans Serif"/>
              </a:rPr>
              <a:t> a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subscript.</a:t>
            </a:r>
            <a:endParaRPr sz="2800">
              <a:latin typeface="Microsoft Sans Serif"/>
              <a:cs typeface="Microsoft Sans Serif"/>
            </a:endParaRPr>
          </a:p>
          <a:p>
            <a:pPr marL="381000">
              <a:lnSpc>
                <a:spcPct val="100000"/>
              </a:lnSpc>
              <a:spcBef>
                <a:spcPts val="780"/>
              </a:spcBef>
            </a:pPr>
            <a:r>
              <a:rPr sz="2800" dirty="0">
                <a:latin typeface="Microsoft Sans Serif"/>
                <a:cs typeface="Microsoft Sans Serif"/>
              </a:rPr>
              <a:t>L</a:t>
            </a:r>
            <a:r>
              <a:rPr sz="2400" baseline="19097" dirty="0">
                <a:latin typeface="Microsoft Sans Serif"/>
                <a:cs typeface="Microsoft Sans Serif"/>
              </a:rPr>
              <a:t>2</a:t>
            </a:r>
            <a:r>
              <a:rPr sz="2400" spc="202" baseline="19097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(v)</a:t>
            </a:r>
            <a:r>
              <a:rPr sz="2800" spc="-18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18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||v||</a:t>
            </a:r>
            <a:r>
              <a:rPr sz="2400" spc="-15" baseline="-19097" dirty="0">
                <a:latin typeface="Microsoft Sans Serif"/>
                <a:cs typeface="Microsoft Sans Serif"/>
              </a:rPr>
              <a:t>2</a:t>
            </a:r>
            <a:endParaRPr sz="2400" baseline="-19097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Vector</a:t>
            </a:r>
            <a:r>
              <a:rPr spc="-180" dirty="0"/>
              <a:t> </a:t>
            </a:r>
            <a:r>
              <a:rPr dirty="0"/>
              <a:t>L</a:t>
            </a:r>
            <a:r>
              <a:rPr sz="3075" baseline="32520" dirty="0"/>
              <a:t>2</a:t>
            </a:r>
            <a:r>
              <a:rPr sz="3075" spc="359" baseline="32520" dirty="0"/>
              <a:t> </a:t>
            </a:r>
            <a:r>
              <a:rPr sz="3600" spc="75" dirty="0"/>
              <a:t>Norm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3617" y="1519097"/>
            <a:ext cx="7571105" cy="3401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240665" algn="just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latin typeface="Microsoft Sans Serif"/>
                <a:cs typeface="Microsoft Sans Serif"/>
              </a:rPr>
              <a:t>The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L</a:t>
            </a:r>
            <a:r>
              <a:rPr sz="2250" baseline="18518" dirty="0">
                <a:latin typeface="Microsoft Sans Serif"/>
                <a:cs typeface="Microsoft Sans Serif"/>
              </a:rPr>
              <a:t>2</a:t>
            </a:r>
            <a:r>
              <a:rPr sz="2250" spc="322" baseline="18518" dirty="0">
                <a:latin typeface="Microsoft Sans Serif"/>
                <a:cs typeface="Microsoft Sans Serif"/>
              </a:rPr>
              <a:t> </a:t>
            </a:r>
            <a:r>
              <a:rPr sz="2600" spc="70" dirty="0">
                <a:latin typeface="Microsoft Sans Serif"/>
                <a:cs typeface="Microsoft Sans Serif"/>
              </a:rPr>
              <a:t>norm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calculates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14" dirty="0">
                <a:latin typeface="Microsoft Sans Serif"/>
                <a:cs typeface="Microsoft Sans Serif"/>
              </a:rPr>
              <a:t>the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distance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of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vector coordinate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from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70" dirty="0">
                <a:latin typeface="Microsoft Sans Serif"/>
                <a:cs typeface="Microsoft Sans Serif"/>
              </a:rPr>
              <a:t>origin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of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vector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space.</a:t>
            </a:r>
            <a:endParaRPr sz="2600">
              <a:latin typeface="Microsoft Sans Serif"/>
              <a:cs typeface="Microsoft Sans Serif"/>
            </a:endParaRPr>
          </a:p>
          <a:p>
            <a:pPr marL="38100" marR="163830" algn="just">
              <a:lnSpc>
                <a:spcPct val="100000"/>
              </a:lnSpc>
              <a:spcBef>
                <a:spcPts val="795"/>
              </a:spcBef>
            </a:pPr>
            <a:r>
              <a:rPr sz="2600" spc="-90" dirty="0">
                <a:latin typeface="Microsoft Sans Serif"/>
                <a:cs typeface="Microsoft Sans Serif"/>
              </a:rPr>
              <a:t>As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60" dirty="0">
                <a:latin typeface="Microsoft Sans Serif"/>
                <a:cs typeface="Microsoft Sans Serif"/>
              </a:rPr>
              <a:t>such,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spc="190" dirty="0">
                <a:latin typeface="Microsoft Sans Serif"/>
                <a:cs typeface="Microsoft Sans Serif"/>
              </a:rPr>
              <a:t>it</a:t>
            </a:r>
            <a:r>
              <a:rPr sz="2600" spc="-1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also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known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175" dirty="0">
                <a:latin typeface="Microsoft Sans Serif"/>
                <a:cs typeface="Microsoft Sans Serif"/>
              </a:rPr>
              <a:t>as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Euclidean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norm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as </a:t>
            </a:r>
            <a:r>
              <a:rPr sz="2600" spc="190" dirty="0">
                <a:latin typeface="Microsoft Sans Serif"/>
                <a:cs typeface="Microsoft Sans Serif"/>
              </a:rPr>
              <a:t>it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calculated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spc="-175" dirty="0">
                <a:latin typeface="Microsoft Sans Serif"/>
                <a:cs typeface="Microsoft Sans Serif"/>
              </a:rPr>
              <a:t>as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Euclidean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distance</a:t>
            </a:r>
            <a:r>
              <a:rPr sz="2600" spc="-45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from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the </a:t>
            </a:r>
            <a:r>
              <a:rPr sz="2600" spc="35" dirty="0">
                <a:latin typeface="Microsoft Sans Serif"/>
                <a:cs typeface="Microsoft Sans Serif"/>
              </a:rPr>
              <a:t>origin.</a:t>
            </a:r>
            <a:endParaRPr sz="2600">
              <a:latin typeface="Microsoft Sans Serif"/>
              <a:cs typeface="Microsoft Sans Serif"/>
            </a:endParaRPr>
          </a:p>
          <a:p>
            <a:pPr marL="38100" marR="30480">
              <a:lnSpc>
                <a:spcPct val="100000"/>
              </a:lnSpc>
              <a:spcBef>
                <a:spcPts val="825"/>
              </a:spcBef>
            </a:pPr>
            <a:r>
              <a:rPr sz="2600" spc="-10" dirty="0">
                <a:latin typeface="Microsoft Sans Serif"/>
                <a:cs typeface="Microsoft Sans Serif"/>
              </a:rPr>
              <a:t>The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result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-110" dirty="0">
                <a:latin typeface="Microsoft Sans Serif"/>
                <a:cs typeface="Microsoft Sans Serif"/>
              </a:rPr>
              <a:t>a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positive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distance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value.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The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L</a:t>
            </a:r>
            <a:r>
              <a:rPr sz="2250" baseline="18518" dirty="0">
                <a:latin typeface="Microsoft Sans Serif"/>
                <a:cs typeface="Microsoft Sans Serif"/>
              </a:rPr>
              <a:t>2</a:t>
            </a:r>
            <a:r>
              <a:rPr sz="2250" spc="284" baseline="18518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norm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calculated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-130" dirty="0">
                <a:latin typeface="Microsoft Sans Serif"/>
                <a:cs typeface="Microsoft Sans Serif"/>
              </a:rPr>
              <a:t>as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square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root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of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sum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65" dirty="0">
                <a:latin typeface="Microsoft Sans Serif"/>
                <a:cs typeface="Microsoft Sans Serif"/>
              </a:rPr>
              <a:t>of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the </a:t>
            </a:r>
            <a:r>
              <a:rPr sz="2600" dirty="0">
                <a:latin typeface="Microsoft Sans Serif"/>
                <a:cs typeface="Microsoft Sans Serif"/>
              </a:rPr>
              <a:t>squared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vector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values.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395334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687013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4203" y="5239623"/>
            <a:ext cx="3790560" cy="74279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Matrix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3622" rIns="0" bIns="0" rtlCol="0">
            <a:spAutoFit/>
          </a:bodyPr>
          <a:lstStyle/>
          <a:p>
            <a:pPr marL="88900" marR="771525">
              <a:lnSpc>
                <a:spcPct val="100000"/>
              </a:lnSpc>
              <a:spcBef>
                <a:spcPts val="100"/>
              </a:spcBef>
            </a:pPr>
            <a:r>
              <a:rPr dirty="0"/>
              <a:t>Matrices</a:t>
            </a:r>
            <a:r>
              <a:rPr spc="-35" dirty="0"/>
              <a:t> </a:t>
            </a:r>
            <a:r>
              <a:rPr dirty="0"/>
              <a:t>are</a:t>
            </a:r>
            <a:r>
              <a:rPr spc="-35" dirty="0"/>
              <a:t> </a:t>
            </a:r>
            <a:r>
              <a:rPr spc="-110" dirty="0"/>
              <a:t>a</a:t>
            </a:r>
            <a:r>
              <a:rPr spc="-50" dirty="0"/>
              <a:t> </a:t>
            </a:r>
            <a:r>
              <a:rPr spc="70" dirty="0"/>
              <a:t>foundational</a:t>
            </a:r>
            <a:r>
              <a:rPr spc="-45" dirty="0"/>
              <a:t> </a:t>
            </a:r>
            <a:r>
              <a:rPr spc="75" dirty="0"/>
              <a:t>element</a:t>
            </a:r>
            <a:r>
              <a:rPr spc="-30" dirty="0"/>
              <a:t> </a:t>
            </a:r>
            <a:r>
              <a:rPr spc="165" dirty="0"/>
              <a:t>of</a:t>
            </a:r>
            <a:r>
              <a:rPr spc="-30" dirty="0"/>
              <a:t> </a:t>
            </a:r>
            <a:r>
              <a:rPr spc="-10" dirty="0"/>
              <a:t>linear algebra.</a:t>
            </a:r>
          </a:p>
          <a:p>
            <a:pPr marL="88900" marR="5080">
              <a:lnSpc>
                <a:spcPct val="100000"/>
              </a:lnSpc>
              <a:spcBef>
                <a:spcPts val="795"/>
              </a:spcBef>
            </a:pPr>
            <a:r>
              <a:rPr dirty="0"/>
              <a:t>Matrices</a:t>
            </a:r>
            <a:r>
              <a:rPr spc="-55" dirty="0"/>
              <a:t> </a:t>
            </a:r>
            <a:r>
              <a:rPr dirty="0"/>
              <a:t>are</a:t>
            </a:r>
            <a:r>
              <a:rPr spc="-50" dirty="0"/>
              <a:t> </a:t>
            </a:r>
            <a:r>
              <a:rPr dirty="0"/>
              <a:t>used</a:t>
            </a:r>
            <a:r>
              <a:rPr spc="-45" dirty="0"/>
              <a:t> </a:t>
            </a:r>
            <a:r>
              <a:rPr spc="105" dirty="0"/>
              <a:t>throughout</a:t>
            </a:r>
            <a:r>
              <a:rPr spc="-45" dirty="0"/>
              <a:t> </a:t>
            </a:r>
            <a:r>
              <a:rPr spc="110" dirty="0"/>
              <a:t>the</a:t>
            </a:r>
            <a:r>
              <a:rPr spc="-55" dirty="0"/>
              <a:t> </a:t>
            </a:r>
            <a:r>
              <a:rPr spc="105" dirty="0"/>
              <a:t>field</a:t>
            </a:r>
            <a:r>
              <a:rPr spc="-50" dirty="0"/>
              <a:t> </a:t>
            </a:r>
            <a:r>
              <a:rPr spc="170" dirty="0"/>
              <a:t>of</a:t>
            </a:r>
            <a:r>
              <a:rPr spc="-45" dirty="0"/>
              <a:t> </a:t>
            </a:r>
            <a:r>
              <a:rPr spc="-10" dirty="0"/>
              <a:t>machine </a:t>
            </a:r>
            <a:r>
              <a:rPr dirty="0"/>
              <a:t>learning</a:t>
            </a:r>
            <a:r>
              <a:rPr spc="-30" dirty="0"/>
              <a:t> </a:t>
            </a:r>
            <a:r>
              <a:rPr spc="50" dirty="0"/>
              <a:t>in</a:t>
            </a:r>
            <a:r>
              <a:rPr spc="-15" dirty="0"/>
              <a:t> </a:t>
            </a:r>
            <a:r>
              <a:rPr spc="110" dirty="0"/>
              <a:t>the</a:t>
            </a:r>
            <a:r>
              <a:rPr spc="-15" dirty="0"/>
              <a:t> </a:t>
            </a:r>
            <a:r>
              <a:rPr spc="50" dirty="0"/>
              <a:t>description</a:t>
            </a:r>
            <a:r>
              <a:rPr spc="-15" dirty="0"/>
              <a:t> </a:t>
            </a:r>
            <a:r>
              <a:rPr spc="170" dirty="0"/>
              <a:t>of</a:t>
            </a:r>
            <a:r>
              <a:rPr spc="-20" dirty="0"/>
              <a:t> </a:t>
            </a:r>
            <a:r>
              <a:rPr spc="55" dirty="0"/>
              <a:t>algorithms</a:t>
            </a:r>
            <a:r>
              <a:rPr spc="-15" dirty="0"/>
              <a:t> </a:t>
            </a:r>
            <a:r>
              <a:rPr spc="-25" dirty="0"/>
              <a:t>and processes</a:t>
            </a:r>
            <a:r>
              <a:rPr spc="-50" dirty="0"/>
              <a:t> </a:t>
            </a:r>
            <a:r>
              <a:rPr spc="-45" dirty="0"/>
              <a:t>such</a:t>
            </a:r>
            <a:r>
              <a:rPr spc="-50" dirty="0"/>
              <a:t> </a:t>
            </a:r>
            <a:r>
              <a:rPr spc="-130" dirty="0"/>
              <a:t>as</a:t>
            </a:r>
            <a:r>
              <a:rPr spc="-55" dirty="0"/>
              <a:t> </a:t>
            </a:r>
            <a:r>
              <a:rPr spc="110" dirty="0"/>
              <a:t>the</a:t>
            </a:r>
            <a:r>
              <a:rPr spc="-50" dirty="0"/>
              <a:t> </a:t>
            </a:r>
            <a:r>
              <a:rPr spc="105" dirty="0"/>
              <a:t>input</a:t>
            </a:r>
            <a:r>
              <a:rPr spc="-50" dirty="0"/>
              <a:t> </a:t>
            </a:r>
            <a:r>
              <a:rPr dirty="0"/>
              <a:t>data</a:t>
            </a:r>
            <a:r>
              <a:rPr spc="-55" dirty="0"/>
              <a:t> </a:t>
            </a:r>
            <a:r>
              <a:rPr dirty="0"/>
              <a:t>variable</a:t>
            </a:r>
            <a:r>
              <a:rPr spc="-60" dirty="0"/>
              <a:t> </a:t>
            </a:r>
            <a:r>
              <a:rPr spc="-45" dirty="0"/>
              <a:t>(X)</a:t>
            </a:r>
            <a:r>
              <a:rPr spc="-60" dirty="0"/>
              <a:t> </a:t>
            </a:r>
            <a:r>
              <a:rPr spc="-20" dirty="0"/>
              <a:t>when </a:t>
            </a:r>
            <a:r>
              <a:rPr spc="75" dirty="0"/>
              <a:t>training</a:t>
            </a:r>
            <a:r>
              <a:rPr spc="-135" dirty="0"/>
              <a:t> </a:t>
            </a:r>
            <a:r>
              <a:rPr dirty="0"/>
              <a:t>an</a:t>
            </a:r>
            <a:r>
              <a:rPr spc="-130" dirty="0"/>
              <a:t> </a:t>
            </a:r>
            <a:r>
              <a:rPr spc="50" dirty="0"/>
              <a:t>algorithm.</a:t>
            </a:r>
          </a:p>
          <a:p>
            <a:pPr marL="88900" marR="68580">
              <a:lnSpc>
                <a:spcPct val="100000"/>
              </a:lnSpc>
              <a:spcBef>
                <a:spcPts val="819"/>
              </a:spcBef>
            </a:pPr>
            <a:r>
              <a:rPr dirty="0"/>
              <a:t>A</a:t>
            </a:r>
            <a:r>
              <a:rPr spc="-75" dirty="0"/>
              <a:t> </a:t>
            </a:r>
            <a:r>
              <a:rPr spc="80" dirty="0"/>
              <a:t>matrix</a:t>
            </a:r>
            <a:r>
              <a:rPr spc="-75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spc="-110" dirty="0"/>
              <a:t>a</a:t>
            </a:r>
            <a:r>
              <a:rPr spc="-80" dirty="0"/>
              <a:t> </a:t>
            </a:r>
            <a:r>
              <a:rPr spc="125" dirty="0"/>
              <a:t>two-</a:t>
            </a:r>
            <a:r>
              <a:rPr dirty="0"/>
              <a:t>dimensional</a:t>
            </a:r>
            <a:r>
              <a:rPr spc="-75" dirty="0"/>
              <a:t> </a:t>
            </a:r>
            <a:r>
              <a:rPr dirty="0"/>
              <a:t>array</a:t>
            </a:r>
            <a:r>
              <a:rPr spc="-65" dirty="0"/>
              <a:t> </a:t>
            </a:r>
            <a:r>
              <a:rPr spc="165" dirty="0"/>
              <a:t>of</a:t>
            </a:r>
            <a:r>
              <a:rPr spc="-70" dirty="0"/>
              <a:t> </a:t>
            </a:r>
            <a:r>
              <a:rPr spc="-45" dirty="0"/>
              <a:t>scalars</a:t>
            </a:r>
            <a:r>
              <a:rPr spc="-75" dirty="0"/>
              <a:t> </a:t>
            </a:r>
            <a:r>
              <a:rPr spc="110" dirty="0"/>
              <a:t>with </a:t>
            </a:r>
            <a:r>
              <a:rPr dirty="0"/>
              <a:t>one</a:t>
            </a:r>
            <a:r>
              <a:rPr spc="-50" dirty="0"/>
              <a:t> </a:t>
            </a:r>
            <a:r>
              <a:rPr spc="100" dirty="0"/>
              <a:t>or</a:t>
            </a:r>
            <a:r>
              <a:rPr spc="-50" dirty="0"/>
              <a:t> </a:t>
            </a:r>
            <a:r>
              <a:rPr spc="65" dirty="0"/>
              <a:t>more</a:t>
            </a:r>
            <a:r>
              <a:rPr spc="-55" dirty="0"/>
              <a:t> </a:t>
            </a:r>
            <a:r>
              <a:rPr dirty="0"/>
              <a:t>columns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one</a:t>
            </a:r>
            <a:r>
              <a:rPr spc="-45" dirty="0"/>
              <a:t> </a:t>
            </a:r>
            <a:r>
              <a:rPr spc="100" dirty="0"/>
              <a:t>or</a:t>
            </a:r>
            <a:r>
              <a:rPr spc="-55" dirty="0"/>
              <a:t> </a:t>
            </a:r>
            <a:r>
              <a:rPr spc="70" dirty="0"/>
              <a:t>more</a:t>
            </a:r>
            <a:r>
              <a:rPr spc="-55" dirty="0"/>
              <a:t> </a:t>
            </a:r>
            <a:r>
              <a:rPr spc="-10" dirty="0"/>
              <a:t>rows.</a:t>
            </a:r>
          </a:p>
          <a:p>
            <a:pPr marL="88900" marR="581660">
              <a:lnSpc>
                <a:spcPct val="100000"/>
              </a:lnSpc>
              <a:spcBef>
                <a:spcPts val="810"/>
              </a:spcBef>
            </a:pPr>
            <a:r>
              <a:rPr dirty="0"/>
              <a:t>A</a:t>
            </a:r>
            <a:r>
              <a:rPr spc="-70" dirty="0"/>
              <a:t> </a:t>
            </a:r>
            <a:r>
              <a:rPr spc="80" dirty="0"/>
              <a:t>matrix</a:t>
            </a:r>
            <a:r>
              <a:rPr spc="-75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spc="-110" dirty="0"/>
              <a:t>a</a:t>
            </a:r>
            <a:r>
              <a:rPr spc="-80" dirty="0"/>
              <a:t> </a:t>
            </a:r>
            <a:r>
              <a:rPr spc="125" dirty="0"/>
              <a:t>two-</a:t>
            </a:r>
            <a:r>
              <a:rPr dirty="0"/>
              <a:t>dimensional</a:t>
            </a:r>
            <a:r>
              <a:rPr spc="-75" dirty="0"/>
              <a:t> </a:t>
            </a:r>
            <a:r>
              <a:rPr dirty="0"/>
              <a:t>array</a:t>
            </a:r>
            <a:r>
              <a:rPr spc="-65" dirty="0"/>
              <a:t> </a:t>
            </a:r>
            <a:r>
              <a:rPr spc="-60" dirty="0"/>
              <a:t>(a</a:t>
            </a:r>
            <a:r>
              <a:rPr spc="-75" dirty="0"/>
              <a:t> </a:t>
            </a:r>
            <a:r>
              <a:rPr spc="60" dirty="0"/>
              <a:t>table)</a:t>
            </a:r>
            <a:r>
              <a:rPr spc="-75" dirty="0"/>
              <a:t> </a:t>
            </a:r>
            <a:r>
              <a:rPr spc="145" dirty="0"/>
              <a:t>of </a:t>
            </a:r>
            <a:r>
              <a:rPr spc="-10" dirty="0"/>
              <a:t>numbers.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395334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08301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978336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8812" y="5024457"/>
            <a:ext cx="2215829" cy="113629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Matrix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01101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3617" y="1517662"/>
            <a:ext cx="7490459" cy="335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Microsoft Sans Serif"/>
                <a:cs typeface="Microsoft Sans Serif"/>
              </a:rPr>
              <a:t>The</a:t>
            </a:r>
            <a:r>
              <a:rPr sz="2400" spc="-114" dirty="0">
                <a:latin typeface="Microsoft Sans Serif"/>
                <a:cs typeface="Microsoft Sans Serif"/>
              </a:rPr>
              <a:t> </a:t>
            </a:r>
            <a:r>
              <a:rPr sz="2400" spc="90" dirty="0">
                <a:latin typeface="Microsoft Sans Serif"/>
                <a:cs typeface="Microsoft Sans Serif"/>
              </a:rPr>
              <a:t>notation</a:t>
            </a:r>
            <a:r>
              <a:rPr sz="2400" spc="-105" dirty="0">
                <a:latin typeface="Microsoft Sans Serif"/>
                <a:cs typeface="Microsoft Sans Serif"/>
              </a:rPr>
              <a:t> </a:t>
            </a:r>
            <a:r>
              <a:rPr sz="2400" spc="145" dirty="0">
                <a:latin typeface="Microsoft Sans Serif"/>
                <a:cs typeface="Microsoft Sans Serif"/>
              </a:rPr>
              <a:t>for</a:t>
            </a:r>
            <a:r>
              <a:rPr sz="2400" spc="-105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a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matrix</a:t>
            </a:r>
            <a:r>
              <a:rPr sz="2400" spc="-11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is</a:t>
            </a:r>
            <a:r>
              <a:rPr sz="2400" spc="-105" dirty="0">
                <a:latin typeface="Microsoft Sans Serif"/>
                <a:cs typeface="Microsoft Sans Serif"/>
              </a:rPr>
              <a:t> </a:t>
            </a:r>
            <a:r>
              <a:rPr sz="2400" spc="125" dirty="0">
                <a:latin typeface="Microsoft Sans Serif"/>
                <a:cs typeface="Microsoft Sans Serif"/>
              </a:rPr>
              <a:t>often</a:t>
            </a:r>
            <a:r>
              <a:rPr sz="2400" spc="-10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an</a:t>
            </a:r>
            <a:r>
              <a:rPr sz="2400" spc="-1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uppercase</a:t>
            </a:r>
            <a:r>
              <a:rPr sz="2400" spc="-100" dirty="0">
                <a:latin typeface="Microsoft Sans Serif"/>
                <a:cs typeface="Microsoft Sans Serif"/>
              </a:rPr>
              <a:t> </a:t>
            </a:r>
            <a:r>
              <a:rPr sz="2400" spc="90" dirty="0">
                <a:latin typeface="Microsoft Sans Serif"/>
                <a:cs typeface="Microsoft Sans Serif"/>
              </a:rPr>
              <a:t>letter, </a:t>
            </a:r>
            <a:r>
              <a:rPr sz="2400" spc="-40" dirty="0">
                <a:latin typeface="Microsoft Sans Serif"/>
                <a:cs typeface="Microsoft Sans Serif"/>
              </a:rPr>
              <a:t>such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125" dirty="0">
                <a:latin typeface="Microsoft Sans Serif"/>
                <a:cs typeface="Microsoft Sans Serif"/>
              </a:rPr>
              <a:t>as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A,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entries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80" dirty="0">
                <a:latin typeface="Microsoft Sans Serif"/>
                <a:cs typeface="Microsoft Sans Serif"/>
              </a:rPr>
              <a:t>referred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180" dirty="0">
                <a:latin typeface="Microsoft Sans Serif"/>
                <a:cs typeface="Microsoft Sans Serif"/>
              </a:rPr>
              <a:t>to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by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their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75" dirty="0">
                <a:latin typeface="Microsoft Sans Serif"/>
                <a:cs typeface="Microsoft Sans Serif"/>
              </a:rPr>
              <a:t>two- </a:t>
            </a:r>
            <a:r>
              <a:rPr sz="2400" dirty="0">
                <a:latin typeface="Microsoft Sans Serif"/>
                <a:cs typeface="Microsoft Sans Serif"/>
              </a:rPr>
              <a:t>dimensional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subscript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160" dirty="0">
                <a:latin typeface="Microsoft Sans Serif"/>
                <a:cs typeface="Microsoft Sans Serif"/>
              </a:rPr>
              <a:t>of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row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(</a:t>
            </a:r>
            <a:r>
              <a:rPr sz="2025" baseline="-18518" dirty="0">
                <a:latin typeface="Microsoft Sans Serif"/>
                <a:cs typeface="Microsoft Sans Serif"/>
              </a:rPr>
              <a:t>i</a:t>
            </a:r>
            <a:r>
              <a:rPr sz="2400" dirty="0">
                <a:latin typeface="Microsoft Sans Serif"/>
                <a:cs typeface="Microsoft Sans Serif"/>
              </a:rPr>
              <a:t>)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column</a:t>
            </a:r>
            <a:r>
              <a:rPr sz="2400" spc="-10" dirty="0">
                <a:latin typeface="Microsoft Sans Serif"/>
                <a:cs typeface="Microsoft Sans Serif"/>
              </a:rPr>
              <a:t> (</a:t>
            </a:r>
            <a:r>
              <a:rPr sz="2025" spc="-15" baseline="-18518" dirty="0">
                <a:latin typeface="Microsoft Sans Serif"/>
                <a:cs typeface="Microsoft Sans Serif"/>
              </a:rPr>
              <a:t>j</a:t>
            </a:r>
            <a:r>
              <a:rPr sz="2400" spc="-10" dirty="0">
                <a:latin typeface="Microsoft Sans Serif"/>
                <a:cs typeface="Microsoft Sans Serif"/>
              </a:rPr>
              <a:t>), </a:t>
            </a:r>
            <a:r>
              <a:rPr sz="2400" spc="-40" dirty="0">
                <a:latin typeface="Microsoft Sans Serif"/>
                <a:cs typeface="Microsoft Sans Serif"/>
              </a:rPr>
              <a:t>such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as</a:t>
            </a:r>
            <a:endParaRPr sz="2400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  <a:spcBef>
                <a:spcPts val="720"/>
              </a:spcBef>
            </a:pPr>
            <a:r>
              <a:rPr sz="3600" baseline="10416" dirty="0">
                <a:latin typeface="Microsoft Sans Serif"/>
                <a:cs typeface="Microsoft Sans Serif"/>
              </a:rPr>
              <a:t>a</a:t>
            </a:r>
            <a:r>
              <a:rPr sz="1350" dirty="0">
                <a:latin typeface="Microsoft Sans Serif"/>
                <a:cs typeface="Microsoft Sans Serif"/>
              </a:rPr>
              <a:t>i,j</a:t>
            </a:r>
            <a:r>
              <a:rPr sz="1350" spc="114" dirty="0">
                <a:latin typeface="Microsoft Sans Serif"/>
                <a:cs typeface="Microsoft Sans Serif"/>
              </a:rPr>
              <a:t> </a:t>
            </a:r>
            <a:r>
              <a:rPr sz="3600" spc="-75" baseline="10416" dirty="0">
                <a:latin typeface="Microsoft Sans Serif"/>
                <a:cs typeface="Microsoft Sans Serif"/>
              </a:rPr>
              <a:t>.</a:t>
            </a:r>
            <a:endParaRPr sz="3600" baseline="10416">
              <a:latin typeface="Microsoft Sans Serif"/>
              <a:cs typeface="Microsoft Sans Serif"/>
            </a:endParaRPr>
          </a:p>
          <a:p>
            <a:pPr marL="38100" marR="116205">
              <a:lnSpc>
                <a:spcPts val="3679"/>
              </a:lnSpc>
              <a:spcBef>
                <a:spcPts val="55"/>
              </a:spcBef>
            </a:pPr>
            <a:r>
              <a:rPr sz="2400" dirty="0">
                <a:latin typeface="Microsoft Sans Serif"/>
                <a:cs typeface="Microsoft Sans Serif"/>
              </a:rPr>
              <a:t>For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example,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we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can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define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a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3-row,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40" dirty="0">
                <a:latin typeface="Microsoft Sans Serif"/>
                <a:cs typeface="Microsoft Sans Serif"/>
              </a:rPr>
              <a:t>2-</a:t>
            </a:r>
            <a:r>
              <a:rPr sz="2400" dirty="0">
                <a:latin typeface="Microsoft Sans Serif"/>
                <a:cs typeface="Microsoft Sans Serif"/>
              </a:rPr>
              <a:t>column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40" dirty="0">
                <a:latin typeface="Microsoft Sans Serif"/>
                <a:cs typeface="Microsoft Sans Serif"/>
              </a:rPr>
              <a:t>matrix: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1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-1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((a</a:t>
            </a:r>
            <a:r>
              <a:rPr sz="2025" baseline="-18518" dirty="0">
                <a:latin typeface="Microsoft Sans Serif"/>
                <a:cs typeface="Microsoft Sans Serif"/>
              </a:rPr>
              <a:t>1,1</a:t>
            </a:r>
            <a:r>
              <a:rPr sz="2025" spc="-15" baseline="-18518" dirty="0">
                <a:latin typeface="Microsoft Sans Serif"/>
                <a:cs typeface="Microsoft Sans Serif"/>
              </a:rPr>
              <a:t> </a:t>
            </a:r>
            <a:r>
              <a:rPr sz="2400" spc="-80" dirty="0">
                <a:latin typeface="Microsoft Sans Serif"/>
                <a:cs typeface="Microsoft Sans Serif"/>
              </a:rPr>
              <a:t>,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025" baseline="-18518" dirty="0">
                <a:latin typeface="Microsoft Sans Serif"/>
                <a:cs typeface="Microsoft Sans Serif"/>
              </a:rPr>
              <a:t>1,2</a:t>
            </a:r>
            <a:r>
              <a:rPr sz="2025" spc="195" baseline="-18518" dirty="0">
                <a:latin typeface="Microsoft Sans Serif"/>
                <a:cs typeface="Microsoft Sans Serif"/>
              </a:rPr>
              <a:t> </a:t>
            </a:r>
            <a:r>
              <a:rPr sz="2400" spc="-35" dirty="0">
                <a:latin typeface="Microsoft Sans Serif"/>
                <a:cs typeface="Microsoft Sans Serif"/>
              </a:rPr>
              <a:t>),</a:t>
            </a:r>
            <a:r>
              <a:rPr sz="2400" spc="-1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(a</a:t>
            </a:r>
            <a:r>
              <a:rPr sz="2025" baseline="-18518" dirty="0">
                <a:latin typeface="Microsoft Sans Serif"/>
                <a:cs typeface="Microsoft Sans Serif"/>
              </a:rPr>
              <a:t>2,1</a:t>
            </a:r>
            <a:r>
              <a:rPr sz="2025" spc="209" baseline="-18518" dirty="0">
                <a:latin typeface="Microsoft Sans Serif"/>
                <a:cs typeface="Microsoft Sans Serif"/>
              </a:rPr>
              <a:t> </a:t>
            </a:r>
            <a:r>
              <a:rPr sz="2400" spc="-80" dirty="0">
                <a:latin typeface="Microsoft Sans Serif"/>
                <a:cs typeface="Microsoft Sans Serif"/>
              </a:rPr>
              <a:t>,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025" baseline="-18518" dirty="0">
                <a:latin typeface="Microsoft Sans Serif"/>
                <a:cs typeface="Microsoft Sans Serif"/>
              </a:rPr>
              <a:t>2,2</a:t>
            </a:r>
            <a:r>
              <a:rPr sz="2025" spc="217" baseline="-18518" dirty="0">
                <a:latin typeface="Microsoft Sans Serif"/>
                <a:cs typeface="Microsoft Sans Serif"/>
              </a:rPr>
              <a:t> </a:t>
            </a:r>
            <a:r>
              <a:rPr sz="2400" spc="-45" dirty="0">
                <a:latin typeface="Microsoft Sans Serif"/>
                <a:cs typeface="Microsoft Sans Serif"/>
              </a:rPr>
              <a:t>),</a:t>
            </a:r>
            <a:r>
              <a:rPr sz="2400" spc="-114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(a</a:t>
            </a:r>
            <a:r>
              <a:rPr sz="2025" baseline="-18518" dirty="0">
                <a:latin typeface="Microsoft Sans Serif"/>
                <a:cs typeface="Microsoft Sans Serif"/>
              </a:rPr>
              <a:t>3,1</a:t>
            </a:r>
            <a:r>
              <a:rPr sz="2025" spc="202" baseline="-18518" dirty="0">
                <a:latin typeface="Microsoft Sans Serif"/>
                <a:cs typeface="Microsoft Sans Serif"/>
              </a:rPr>
              <a:t> </a:t>
            </a:r>
            <a:r>
              <a:rPr sz="2400" spc="-80" dirty="0">
                <a:latin typeface="Microsoft Sans Serif"/>
                <a:cs typeface="Microsoft Sans Serif"/>
              </a:rPr>
              <a:t>,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025" baseline="-18518" dirty="0">
                <a:latin typeface="Microsoft Sans Serif"/>
                <a:cs typeface="Microsoft Sans Serif"/>
              </a:rPr>
              <a:t>3,2</a:t>
            </a:r>
            <a:r>
              <a:rPr sz="2025" spc="202" baseline="-18518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))</a:t>
            </a:r>
            <a:endParaRPr sz="2400">
              <a:latin typeface="Microsoft Sans Serif"/>
              <a:cs typeface="Microsoft Sans Serif"/>
            </a:endParaRPr>
          </a:p>
          <a:p>
            <a:pPr marL="38100" marR="531495">
              <a:lnSpc>
                <a:spcPct val="100000"/>
              </a:lnSpc>
              <a:spcBef>
                <a:spcPts val="800"/>
              </a:spcBef>
            </a:pPr>
            <a:r>
              <a:rPr sz="2400" spc="135" dirty="0">
                <a:latin typeface="Microsoft Sans Serif"/>
                <a:cs typeface="Microsoft Sans Serif"/>
              </a:rPr>
              <a:t>It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is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more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common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180" dirty="0">
                <a:latin typeface="Microsoft Sans Serif"/>
                <a:cs typeface="Microsoft Sans Serif"/>
              </a:rPr>
              <a:t>to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40" dirty="0">
                <a:latin typeface="Microsoft Sans Serif"/>
                <a:cs typeface="Microsoft Sans Serif"/>
              </a:rPr>
              <a:t>see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matrices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defined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using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a </a:t>
            </a:r>
            <a:r>
              <a:rPr sz="2400" spc="60" dirty="0">
                <a:latin typeface="Microsoft Sans Serif"/>
                <a:cs typeface="Microsoft Sans Serif"/>
              </a:rPr>
              <a:t>horizontal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notation.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131540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098150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Matrix</a:t>
            </a:r>
            <a:r>
              <a:rPr spc="-13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00"/>
              </a:spcBef>
            </a:pPr>
            <a:r>
              <a:rPr sz="2400" b="1" spc="70" dirty="0">
                <a:latin typeface="Arial"/>
                <a:cs typeface="Arial"/>
              </a:rPr>
              <a:t>Matrix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Addition</a:t>
            </a:r>
            <a:endParaRPr sz="2400">
              <a:latin typeface="Arial"/>
              <a:cs typeface="Arial"/>
            </a:endParaRPr>
          </a:p>
          <a:p>
            <a:pPr marL="88900" marR="71755">
              <a:lnSpc>
                <a:spcPct val="100000"/>
              </a:lnSpc>
              <a:spcBef>
                <a:spcPts val="795"/>
              </a:spcBef>
            </a:pPr>
            <a:r>
              <a:rPr sz="2400" dirty="0"/>
              <a:t>Two</a:t>
            </a:r>
            <a:r>
              <a:rPr sz="2400" spc="-45" dirty="0"/>
              <a:t> </a:t>
            </a:r>
            <a:r>
              <a:rPr sz="2400" dirty="0"/>
              <a:t>matrices</a:t>
            </a:r>
            <a:r>
              <a:rPr sz="2400" spc="-40" dirty="0"/>
              <a:t> </a:t>
            </a:r>
            <a:r>
              <a:rPr sz="2400" spc="120" dirty="0"/>
              <a:t>with</a:t>
            </a:r>
            <a:r>
              <a:rPr sz="2400" spc="-40" dirty="0"/>
              <a:t> </a:t>
            </a:r>
            <a:r>
              <a:rPr sz="2400" spc="105" dirty="0"/>
              <a:t>the</a:t>
            </a:r>
            <a:r>
              <a:rPr sz="2400" spc="-30" dirty="0"/>
              <a:t> </a:t>
            </a:r>
            <a:r>
              <a:rPr sz="2400" spc="-45" dirty="0"/>
              <a:t>same </a:t>
            </a:r>
            <a:r>
              <a:rPr sz="2400" dirty="0"/>
              <a:t>dimensions</a:t>
            </a:r>
            <a:r>
              <a:rPr sz="2400" spc="-40" dirty="0"/>
              <a:t> </a:t>
            </a:r>
            <a:r>
              <a:rPr sz="2400" spc="-45" dirty="0"/>
              <a:t>can</a:t>
            </a:r>
            <a:r>
              <a:rPr sz="2400" spc="-40" dirty="0"/>
              <a:t> </a:t>
            </a:r>
            <a:r>
              <a:rPr sz="2400" dirty="0"/>
              <a:t>be</a:t>
            </a:r>
            <a:r>
              <a:rPr sz="2400" spc="-40" dirty="0"/>
              <a:t> </a:t>
            </a:r>
            <a:r>
              <a:rPr sz="2400" spc="-10" dirty="0"/>
              <a:t>added </a:t>
            </a:r>
            <a:r>
              <a:rPr sz="2400" spc="100" dirty="0"/>
              <a:t>together</a:t>
            </a:r>
            <a:r>
              <a:rPr sz="2400" spc="-45" dirty="0"/>
              <a:t> </a:t>
            </a:r>
            <a:r>
              <a:rPr sz="2400" spc="180" dirty="0"/>
              <a:t>to</a:t>
            </a:r>
            <a:r>
              <a:rPr sz="2400" spc="-45" dirty="0"/>
              <a:t> </a:t>
            </a:r>
            <a:r>
              <a:rPr sz="2400" dirty="0"/>
              <a:t>create</a:t>
            </a:r>
            <a:r>
              <a:rPr sz="2400" spc="-50" dirty="0"/>
              <a:t> </a:t>
            </a:r>
            <a:r>
              <a:rPr sz="2400" spc="-100" dirty="0"/>
              <a:t>a</a:t>
            </a:r>
            <a:r>
              <a:rPr sz="2400" spc="-55" dirty="0"/>
              <a:t> </a:t>
            </a:r>
            <a:r>
              <a:rPr sz="2400" spc="50" dirty="0"/>
              <a:t>new</a:t>
            </a:r>
            <a:r>
              <a:rPr sz="2400" spc="-50" dirty="0"/>
              <a:t> </a:t>
            </a:r>
            <a:r>
              <a:rPr sz="2400" spc="110" dirty="0"/>
              <a:t>third</a:t>
            </a:r>
            <a:r>
              <a:rPr sz="2400" spc="-35" dirty="0"/>
              <a:t> </a:t>
            </a:r>
            <a:r>
              <a:rPr sz="2400" spc="40" dirty="0"/>
              <a:t>matrix.</a:t>
            </a:r>
            <a:endParaRPr sz="2400"/>
          </a:p>
          <a:p>
            <a:pPr marL="88900">
              <a:lnSpc>
                <a:spcPct val="100000"/>
              </a:lnSpc>
              <a:spcBef>
                <a:spcPts val="800"/>
              </a:spcBef>
            </a:pPr>
            <a:r>
              <a:rPr sz="2400" spc="-265" dirty="0"/>
              <a:t>C</a:t>
            </a:r>
            <a:r>
              <a:rPr sz="2400" spc="-90" dirty="0"/>
              <a:t> </a:t>
            </a:r>
            <a:r>
              <a:rPr sz="2400" dirty="0"/>
              <a:t>=</a:t>
            </a:r>
            <a:r>
              <a:rPr sz="2400" spc="-155" dirty="0"/>
              <a:t> </a:t>
            </a:r>
            <a:r>
              <a:rPr sz="2400" dirty="0"/>
              <a:t>A</a:t>
            </a:r>
            <a:r>
              <a:rPr sz="2400" spc="-114" dirty="0"/>
              <a:t> </a:t>
            </a:r>
            <a:r>
              <a:rPr sz="2400" dirty="0"/>
              <a:t>+</a:t>
            </a:r>
            <a:r>
              <a:rPr sz="2400" spc="-125" dirty="0"/>
              <a:t> </a:t>
            </a:r>
            <a:r>
              <a:rPr sz="2400" spc="-50" dirty="0"/>
              <a:t>B</a:t>
            </a:r>
            <a:endParaRPr sz="2400"/>
          </a:p>
          <a:p>
            <a:pPr marL="88900" marR="5080">
              <a:lnSpc>
                <a:spcPct val="100000"/>
              </a:lnSpc>
              <a:spcBef>
                <a:spcPts val="800"/>
              </a:spcBef>
            </a:pPr>
            <a:r>
              <a:rPr sz="2400" spc="-20" dirty="0"/>
              <a:t>The</a:t>
            </a:r>
            <a:r>
              <a:rPr sz="2400" spc="-75" dirty="0"/>
              <a:t> </a:t>
            </a:r>
            <a:r>
              <a:rPr sz="2400" spc="-30" dirty="0"/>
              <a:t>scalar</a:t>
            </a:r>
            <a:r>
              <a:rPr sz="2400" spc="-85" dirty="0"/>
              <a:t> </a:t>
            </a:r>
            <a:r>
              <a:rPr sz="2400" spc="45" dirty="0"/>
              <a:t>elements</a:t>
            </a:r>
            <a:r>
              <a:rPr sz="2400" spc="-75" dirty="0"/>
              <a:t> </a:t>
            </a:r>
            <a:r>
              <a:rPr sz="2400" dirty="0"/>
              <a:t>in</a:t>
            </a:r>
            <a:r>
              <a:rPr sz="2400" spc="-80" dirty="0"/>
              <a:t> </a:t>
            </a:r>
            <a:r>
              <a:rPr sz="2400" spc="105" dirty="0"/>
              <a:t>the</a:t>
            </a:r>
            <a:r>
              <a:rPr sz="2400" spc="-70" dirty="0"/>
              <a:t> </a:t>
            </a:r>
            <a:r>
              <a:rPr sz="2400" spc="55" dirty="0"/>
              <a:t>resulting</a:t>
            </a:r>
            <a:r>
              <a:rPr sz="2400" spc="-80" dirty="0"/>
              <a:t> </a:t>
            </a:r>
            <a:r>
              <a:rPr sz="2400" spc="70" dirty="0"/>
              <a:t>matrix</a:t>
            </a:r>
            <a:r>
              <a:rPr sz="2400" spc="-75" dirty="0"/>
              <a:t> </a:t>
            </a:r>
            <a:r>
              <a:rPr sz="2400" dirty="0"/>
              <a:t>are</a:t>
            </a:r>
            <a:r>
              <a:rPr sz="2400" spc="-85" dirty="0"/>
              <a:t> </a:t>
            </a:r>
            <a:r>
              <a:rPr sz="2400" spc="-40" dirty="0"/>
              <a:t>each</a:t>
            </a:r>
            <a:r>
              <a:rPr sz="2400" spc="-75" dirty="0"/>
              <a:t> </a:t>
            </a:r>
            <a:r>
              <a:rPr sz="2400" spc="135" dirty="0"/>
              <a:t>of </a:t>
            </a:r>
            <a:r>
              <a:rPr sz="2400" spc="105" dirty="0"/>
              <a:t>the</a:t>
            </a:r>
            <a:r>
              <a:rPr sz="2400" spc="30" dirty="0"/>
              <a:t> </a:t>
            </a:r>
            <a:r>
              <a:rPr sz="2400" dirty="0"/>
              <a:t>matrices</a:t>
            </a:r>
            <a:r>
              <a:rPr sz="2400" spc="40" dirty="0"/>
              <a:t> </a:t>
            </a:r>
            <a:r>
              <a:rPr sz="2400" dirty="0"/>
              <a:t>being</a:t>
            </a:r>
            <a:r>
              <a:rPr sz="2400" spc="45" dirty="0"/>
              <a:t> </a:t>
            </a:r>
            <a:r>
              <a:rPr sz="2400" spc="-10" dirty="0"/>
              <a:t>added.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399715"/>
            <a:ext cx="132715" cy="96011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268700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5287" y="4625517"/>
            <a:ext cx="4181094" cy="121881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Matrix</a:t>
            </a:r>
            <a:r>
              <a:rPr spc="-13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99715"/>
            <a:ext cx="132715" cy="96011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416276"/>
            <a:ext cx="2325370" cy="96011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b="1" spc="70" dirty="0">
                <a:latin typeface="Arial"/>
                <a:cs typeface="Arial"/>
              </a:rPr>
              <a:t>Matrix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Addition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spc="70" dirty="0">
                <a:latin typeface="Microsoft Sans Serif"/>
                <a:cs typeface="Microsoft Sans Serif"/>
              </a:rPr>
              <a:t>Another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way-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4632" y="2993937"/>
            <a:ext cx="3562026" cy="280006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Matrix</a:t>
            </a:r>
            <a:r>
              <a:rPr spc="-13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00"/>
              </a:spcBef>
            </a:pPr>
            <a:r>
              <a:rPr sz="2400" b="1" spc="70" dirty="0">
                <a:latin typeface="Arial"/>
                <a:cs typeface="Arial"/>
              </a:rPr>
              <a:t>Matrix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Subtraction</a:t>
            </a:r>
            <a:endParaRPr sz="2400">
              <a:latin typeface="Arial"/>
              <a:cs typeface="Arial"/>
            </a:endParaRPr>
          </a:p>
          <a:p>
            <a:pPr marL="88900" marR="685165">
              <a:lnSpc>
                <a:spcPct val="100000"/>
              </a:lnSpc>
              <a:spcBef>
                <a:spcPts val="795"/>
              </a:spcBef>
            </a:pPr>
            <a:r>
              <a:rPr sz="2400" dirty="0"/>
              <a:t>Two</a:t>
            </a:r>
            <a:r>
              <a:rPr sz="2400" spc="-50" dirty="0"/>
              <a:t> </a:t>
            </a:r>
            <a:r>
              <a:rPr sz="2400" dirty="0"/>
              <a:t>matrices</a:t>
            </a:r>
            <a:r>
              <a:rPr sz="2400" spc="-40" dirty="0"/>
              <a:t> </a:t>
            </a:r>
            <a:r>
              <a:rPr sz="2400" spc="120" dirty="0"/>
              <a:t>with</a:t>
            </a:r>
            <a:r>
              <a:rPr sz="2400" spc="-40" dirty="0"/>
              <a:t> </a:t>
            </a:r>
            <a:r>
              <a:rPr sz="2400" spc="105" dirty="0"/>
              <a:t>the</a:t>
            </a:r>
            <a:r>
              <a:rPr sz="2400" spc="-35" dirty="0"/>
              <a:t> </a:t>
            </a:r>
            <a:r>
              <a:rPr sz="2400" spc="-45" dirty="0"/>
              <a:t>same </a:t>
            </a:r>
            <a:r>
              <a:rPr sz="2400" dirty="0"/>
              <a:t>dimensions</a:t>
            </a:r>
            <a:r>
              <a:rPr sz="2400" spc="-45" dirty="0"/>
              <a:t> can</a:t>
            </a:r>
            <a:r>
              <a:rPr sz="2400" spc="-40" dirty="0"/>
              <a:t> </a:t>
            </a:r>
            <a:r>
              <a:rPr sz="2400" spc="-25" dirty="0"/>
              <a:t>be </a:t>
            </a:r>
            <a:r>
              <a:rPr sz="2400" spc="50" dirty="0"/>
              <a:t>subtracted</a:t>
            </a:r>
            <a:r>
              <a:rPr sz="2400" spc="-35" dirty="0"/>
              <a:t> </a:t>
            </a:r>
            <a:r>
              <a:rPr sz="2400" spc="105" dirty="0"/>
              <a:t>together</a:t>
            </a:r>
            <a:r>
              <a:rPr sz="2400" spc="-35" dirty="0"/>
              <a:t> </a:t>
            </a:r>
            <a:r>
              <a:rPr sz="2400" spc="180" dirty="0"/>
              <a:t>to</a:t>
            </a:r>
            <a:r>
              <a:rPr sz="2400" spc="-25" dirty="0"/>
              <a:t> </a:t>
            </a:r>
            <a:r>
              <a:rPr sz="2400" dirty="0"/>
              <a:t>create</a:t>
            </a:r>
            <a:r>
              <a:rPr sz="2400" spc="-25" dirty="0"/>
              <a:t> </a:t>
            </a:r>
            <a:r>
              <a:rPr sz="2400" spc="-100" dirty="0"/>
              <a:t>a</a:t>
            </a:r>
            <a:r>
              <a:rPr sz="2400" spc="-30" dirty="0"/>
              <a:t> </a:t>
            </a:r>
            <a:r>
              <a:rPr sz="2400" dirty="0"/>
              <a:t>new</a:t>
            </a:r>
            <a:r>
              <a:rPr sz="2400" spc="-30" dirty="0"/>
              <a:t> </a:t>
            </a:r>
            <a:r>
              <a:rPr sz="2400" spc="110" dirty="0"/>
              <a:t>third</a:t>
            </a:r>
            <a:r>
              <a:rPr sz="2400" spc="-25" dirty="0"/>
              <a:t> </a:t>
            </a:r>
            <a:r>
              <a:rPr sz="2400" spc="40" dirty="0"/>
              <a:t>matrix.</a:t>
            </a:r>
            <a:endParaRPr sz="2400"/>
          </a:p>
          <a:p>
            <a:pPr marL="88900">
              <a:lnSpc>
                <a:spcPct val="100000"/>
              </a:lnSpc>
              <a:spcBef>
                <a:spcPts val="800"/>
              </a:spcBef>
            </a:pPr>
            <a:r>
              <a:rPr sz="2400" spc="-265" dirty="0"/>
              <a:t>C</a:t>
            </a:r>
            <a:r>
              <a:rPr sz="2400" spc="-90" dirty="0"/>
              <a:t> </a:t>
            </a:r>
            <a:r>
              <a:rPr sz="2400" dirty="0"/>
              <a:t>=</a:t>
            </a:r>
            <a:r>
              <a:rPr sz="2400" spc="-125" dirty="0"/>
              <a:t> </a:t>
            </a:r>
            <a:r>
              <a:rPr sz="2400" dirty="0"/>
              <a:t>A</a:t>
            </a:r>
            <a:r>
              <a:rPr sz="2400" spc="-105" dirty="0"/>
              <a:t> </a:t>
            </a:r>
            <a:r>
              <a:rPr sz="2400" spc="490" dirty="0"/>
              <a:t>–</a:t>
            </a:r>
            <a:r>
              <a:rPr sz="2400" spc="-114" dirty="0"/>
              <a:t> </a:t>
            </a:r>
            <a:r>
              <a:rPr sz="2400" spc="-50" dirty="0"/>
              <a:t>B</a:t>
            </a:r>
            <a:endParaRPr sz="2400"/>
          </a:p>
          <a:p>
            <a:pPr marL="88900" marR="5080">
              <a:lnSpc>
                <a:spcPct val="100000"/>
              </a:lnSpc>
              <a:spcBef>
                <a:spcPts val="800"/>
              </a:spcBef>
            </a:pPr>
            <a:r>
              <a:rPr sz="2400" spc="-20" dirty="0"/>
              <a:t>The</a:t>
            </a:r>
            <a:r>
              <a:rPr sz="2400" spc="-75" dirty="0"/>
              <a:t> </a:t>
            </a:r>
            <a:r>
              <a:rPr sz="2400" spc="-30" dirty="0"/>
              <a:t>scalar</a:t>
            </a:r>
            <a:r>
              <a:rPr sz="2400" spc="-85" dirty="0"/>
              <a:t> </a:t>
            </a:r>
            <a:r>
              <a:rPr sz="2400" spc="45" dirty="0"/>
              <a:t>elements</a:t>
            </a:r>
            <a:r>
              <a:rPr sz="2400" spc="-75" dirty="0"/>
              <a:t> </a:t>
            </a:r>
            <a:r>
              <a:rPr sz="2400" dirty="0"/>
              <a:t>in</a:t>
            </a:r>
            <a:r>
              <a:rPr sz="2400" spc="-80" dirty="0"/>
              <a:t> </a:t>
            </a:r>
            <a:r>
              <a:rPr sz="2400" spc="105" dirty="0"/>
              <a:t>the</a:t>
            </a:r>
            <a:r>
              <a:rPr sz="2400" spc="-70" dirty="0"/>
              <a:t> </a:t>
            </a:r>
            <a:r>
              <a:rPr sz="2400" spc="55" dirty="0"/>
              <a:t>resulting</a:t>
            </a:r>
            <a:r>
              <a:rPr sz="2400" spc="-80" dirty="0"/>
              <a:t> </a:t>
            </a:r>
            <a:r>
              <a:rPr sz="2400" spc="70" dirty="0"/>
              <a:t>matrix</a:t>
            </a:r>
            <a:r>
              <a:rPr sz="2400" spc="-75" dirty="0"/>
              <a:t> </a:t>
            </a:r>
            <a:r>
              <a:rPr sz="2400" dirty="0"/>
              <a:t>are</a:t>
            </a:r>
            <a:r>
              <a:rPr sz="2400" spc="-85" dirty="0"/>
              <a:t> </a:t>
            </a:r>
            <a:r>
              <a:rPr sz="2400" spc="-40" dirty="0"/>
              <a:t>each</a:t>
            </a:r>
            <a:r>
              <a:rPr sz="2400" spc="-75" dirty="0"/>
              <a:t> </a:t>
            </a:r>
            <a:r>
              <a:rPr sz="2400" spc="135" dirty="0"/>
              <a:t>of </a:t>
            </a:r>
            <a:r>
              <a:rPr sz="2400" spc="105" dirty="0"/>
              <a:t>the</a:t>
            </a:r>
            <a:r>
              <a:rPr sz="2400" spc="30" dirty="0"/>
              <a:t> </a:t>
            </a:r>
            <a:r>
              <a:rPr sz="2400" dirty="0"/>
              <a:t>matrices</a:t>
            </a:r>
            <a:r>
              <a:rPr sz="2400" spc="40" dirty="0"/>
              <a:t> </a:t>
            </a:r>
            <a:r>
              <a:rPr sz="2400" dirty="0"/>
              <a:t>being</a:t>
            </a:r>
            <a:r>
              <a:rPr sz="2400" spc="45" dirty="0"/>
              <a:t> </a:t>
            </a:r>
            <a:r>
              <a:rPr sz="2400" spc="-10" dirty="0"/>
              <a:t>subtracted.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535940" y="1399715"/>
            <a:ext cx="132715" cy="96011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268700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8291" y="4476305"/>
            <a:ext cx="5028731" cy="146657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Matrix</a:t>
            </a:r>
            <a:r>
              <a:rPr spc="-13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99715"/>
            <a:ext cx="132715" cy="96011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416276"/>
            <a:ext cx="2774950" cy="96011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b="1" spc="70" dirty="0">
                <a:latin typeface="Arial"/>
                <a:cs typeface="Arial"/>
              </a:rPr>
              <a:t>Matrix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Subtraction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spc="70" dirty="0">
                <a:latin typeface="Microsoft Sans Serif"/>
                <a:cs typeface="Microsoft Sans Serif"/>
              </a:rPr>
              <a:t>Another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way-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7759" y="3140933"/>
            <a:ext cx="3644495" cy="286507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8396" y="5062873"/>
            <a:ext cx="4200295" cy="122846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Matrix</a:t>
            </a:r>
            <a:r>
              <a:rPr spc="-13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399715"/>
            <a:ext cx="132715" cy="96011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9017" y="1416276"/>
            <a:ext cx="7513320" cy="335787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b="1" spc="70" dirty="0">
                <a:latin typeface="Arial"/>
                <a:cs typeface="Arial"/>
              </a:rPr>
              <a:t>Matrix</a:t>
            </a:r>
            <a:r>
              <a:rPr sz="2400" b="1" spc="55" dirty="0">
                <a:latin typeface="Arial"/>
                <a:cs typeface="Arial"/>
              </a:rPr>
              <a:t> </a:t>
            </a:r>
            <a:r>
              <a:rPr sz="2400" b="1" spc="10" dirty="0">
                <a:latin typeface="Arial"/>
                <a:cs typeface="Arial"/>
              </a:rPr>
              <a:t>Multiplication</a:t>
            </a:r>
            <a:r>
              <a:rPr sz="2400" b="1" spc="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(Hadamard</a:t>
            </a:r>
            <a:r>
              <a:rPr sz="2400" b="1" spc="6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Product)</a:t>
            </a:r>
            <a:endParaRPr sz="2400">
              <a:latin typeface="Arial"/>
              <a:cs typeface="Arial"/>
            </a:endParaRPr>
          </a:p>
          <a:p>
            <a:pPr marL="12700" marR="118745">
              <a:lnSpc>
                <a:spcPct val="100000"/>
              </a:lnSpc>
              <a:spcBef>
                <a:spcPts val="795"/>
              </a:spcBef>
            </a:pPr>
            <a:r>
              <a:rPr sz="2400" dirty="0">
                <a:latin typeface="Microsoft Sans Serif"/>
                <a:cs typeface="Microsoft Sans Serif"/>
              </a:rPr>
              <a:t>Two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matrices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with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45" dirty="0">
                <a:latin typeface="Microsoft Sans Serif"/>
                <a:cs typeface="Microsoft Sans Serif"/>
              </a:rPr>
              <a:t> same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-40" dirty="0">
                <a:latin typeface="Microsoft Sans Serif"/>
                <a:cs typeface="Microsoft Sans Serif"/>
              </a:rPr>
              <a:t>size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can </a:t>
            </a:r>
            <a:r>
              <a:rPr sz="2400" dirty="0">
                <a:latin typeface="Microsoft Sans Serif"/>
                <a:cs typeface="Microsoft Sans Serif"/>
              </a:rPr>
              <a:t>be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multiplied </a:t>
            </a:r>
            <a:r>
              <a:rPr sz="2400" spc="80" dirty="0">
                <a:latin typeface="Microsoft Sans Serif"/>
                <a:cs typeface="Microsoft Sans Serif"/>
              </a:rPr>
              <a:t>together,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this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is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125" dirty="0">
                <a:latin typeface="Microsoft Sans Serif"/>
                <a:cs typeface="Microsoft Sans Serif"/>
              </a:rPr>
              <a:t>often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called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element-</a:t>
            </a:r>
            <a:r>
              <a:rPr sz="2400" spc="-10" dirty="0">
                <a:latin typeface="Microsoft Sans Serif"/>
                <a:cs typeface="Microsoft Sans Serif"/>
              </a:rPr>
              <a:t>wise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matrix </a:t>
            </a:r>
            <a:r>
              <a:rPr sz="2400" spc="70" dirty="0">
                <a:latin typeface="Microsoft Sans Serif"/>
                <a:cs typeface="Microsoft Sans Serif"/>
              </a:rPr>
              <a:t>multiplication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85" dirty="0">
                <a:latin typeface="Microsoft Sans Serif"/>
                <a:cs typeface="Microsoft Sans Serif"/>
              </a:rPr>
              <a:t>or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Hadamard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product.</a:t>
            </a:r>
            <a:endParaRPr sz="240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ct val="100000"/>
              </a:lnSpc>
              <a:spcBef>
                <a:spcPts val="800"/>
              </a:spcBef>
            </a:pPr>
            <a:r>
              <a:rPr sz="2400" spc="135" dirty="0">
                <a:latin typeface="Microsoft Sans Serif"/>
                <a:cs typeface="Microsoft Sans Serif"/>
              </a:rPr>
              <a:t>It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45" dirty="0">
                <a:latin typeface="Microsoft Sans Serif"/>
                <a:cs typeface="Microsoft Sans Serif"/>
              </a:rPr>
              <a:t>is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not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40" dirty="0">
                <a:latin typeface="Microsoft Sans Serif"/>
                <a:cs typeface="Microsoft Sans Serif"/>
              </a:rPr>
              <a:t>typical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operation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meant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40" dirty="0">
                <a:latin typeface="Microsoft Sans Serif"/>
                <a:cs typeface="Microsoft Sans Serif"/>
              </a:rPr>
              <a:t>when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80" dirty="0">
                <a:latin typeface="Microsoft Sans Serif"/>
                <a:cs typeface="Microsoft Sans Serif"/>
              </a:rPr>
              <a:t>referring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80" dirty="0">
                <a:latin typeface="Microsoft Sans Serif"/>
                <a:cs typeface="Microsoft Sans Serif"/>
              </a:rPr>
              <a:t>to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matrix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multiplication,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therefore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95" dirty="0">
                <a:latin typeface="Microsoft Sans Serif"/>
                <a:cs typeface="Microsoft Sans Serif"/>
              </a:rPr>
              <a:t>a </a:t>
            </a:r>
            <a:r>
              <a:rPr sz="2400" spc="120" dirty="0">
                <a:latin typeface="Microsoft Sans Serif"/>
                <a:cs typeface="Microsoft Sans Serif"/>
              </a:rPr>
              <a:t>different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75" dirty="0">
                <a:latin typeface="Microsoft Sans Serif"/>
                <a:cs typeface="Microsoft Sans Serif"/>
              </a:rPr>
              <a:t>operator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45" dirty="0">
                <a:latin typeface="Microsoft Sans Serif"/>
                <a:cs typeface="Microsoft Sans Serif"/>
              </a:rPr>
              <a:t>is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125" dirty="0">
                <a:latin typeface="Microsoft Sans Serif"/>
                <a:cs typeface="Microsoft Sans Serif"/>
              </a:rPr>
              <a:t>often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used,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40" dirty="0">
                <a:latin typeface="Microsoft Sans Serif"/>
                <a:cs typeface="Microsoft Sans Serif"/>
              </a:rPr>
              <a:t>such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125" dirty="0">
                <a:latin typeface="Microsoft Sans Serif"/>
                <a:cs typeface="Microsoft Sans Serif"/>
              </a:rPr>
              <a:t>as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95" dirty="0">
                <a:latin typeface="Microsoft Sans Serif"/>
                <a:cs typeface="Microsoft Sans Serif"/>
              </a:rPr>
              <a:t>a </a:t>
            </a:r>
            <a:r>
              <a:rPr sz="2400" spc="15" dirty="0">
                <a:latin typeface="Microsoft Sans Serif"/>
                <a:cs typeface="Microsoft Sans Serif"/>
              </a:rPr>
              <a:t>circle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229" dirty="0">
                <a:latin typeface="Trebuchet MS"/>
                <a:cs typeface="Trebuchet MS"/>
              </a:rPr>
              <a:t>◦</a:t>
            </a:r>
            <a:r>
              <a:rPr sz="2400" spc="229" dirty="0">
                <a:latin typeface="Microsoft Sans Serif"/>
                <a:cs typeface="Microsoft Sans Serif"/>
              </a:rPr>
              <a:t>.</a:t>
            </a:r>
            <a:endParaRPr sz="2400">
              <a:latin typeface="Microsoft Sans Serif"/>
              <a:cs typeface="Microsoft Sans Serif"/>
            </a:endParaRPr>
          </a:p>
          <a:p>
            <a:pPr marL="1905" algn="ctr">
              <a:lnSpc>
                <a:spcPct val="100000"/>
              </a:lnSpc>
              <a:spcBef>
                <a:spcPts val="800"/>
              </a:spcBef>
            </a:pPr>
            <a:r>
              <a:rPr sz="2400" spc="-265" dirty="0">
                <a:latin typeface="Microsoft Sans Serif"/>
                <a:cs typeface="Microsoft Sans Serif"/>
              </a:rPr>
              <a:t>C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-1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560" dirty="0">
                <a:latin typeface="Trebuchet MS"/>
                <a:cs typeface="Trebuchet MS"/>
              </a:rPr>
              <a:t>◦</a:t>
            </a:r>
            <a:r>
              <a:rPr sz="2400" spc="-19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B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167189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Matrix</a:t>
            </a:r>
            <a:r>
              <a:rPr spc="-13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99715"/>
            <a:ext cx="132715" cy="96011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416276"/>
            <a:ext cx="7370445" cy="132588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b="1" spc="70" dirty="0">
                <a:latin typeface="Arial"/>
                <a:cs typeface="Arial"/>
              </a:rPr>
              <a:t>Matrix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Division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795"/>
              </a:spcBef>
            </a:pPr>
            <a:r>
              <a:rPr sz="2400" dirty="0">
                <a:latin typeface="Microsoft Sans Serif"/>
                <a:cs typeface="Microsoft Sans Serif"/>
              </a:rPr>
              <a:t>One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matrix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45" dirty="0">
                <a:latin typeface="Microsoft Sans Serif"/>
                <a:cs typeface="Microsoft Sans Serif"/>
              </a:rPr>
              <a:t>can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divided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by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another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matrix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with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80" dirty="0">
                <a:latin typeface="Microsoft Sans Serif"/>
                <a:cs typeface="Microsoft Sans Serif"/>
              </a:rPr>
              <a:t>the </a:t>
            </a:r>
            <a:r>
              <a:rPr sz="2400" spc="-45" dirty="0">
                <a:latin typeface="Microsoft Sans Serif"/>
                <a:cs typeface="Microsoft Sans Serif"/>
              </a:rPr>
              <a:t>same</a:t>
            </a:r>
            <a:r>
              <a:rPr sz="2400" spc="-10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dimensions.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736340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9017" y="3752900"/>
            <a:ext cx="71354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Microsoft Sans Serif"/>
                <a:cs typeface="Microsoft Sans Serif"/>
              </a:rPr>
              <a:t>The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-30" dirty="0">
                <a:latin typeface="Microsoft Sans Serif"/>
                <a:cs typeface="Microsoft Sans Serif"/>
              </a:rPr>
              <a:t>scalar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elements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resulting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matrix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are </a:t>
            </a:r>
            <a:r>
              <a:rPr sz="2400" dirty="0">
                <a:latin typeface="Microsoft Sans Serif"/>
                <a:cs typeface="Microsoft Sans Serif"/>
              </a:rPr>
              <a:t>calculated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125" dirty="0">
                <a:latin typeface="Microsoft Sans Serif"/>
                <a:cs typeface="Microsoft Sans Serif"/>
              </a:rPr>
              <a:t>as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division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155" dirty="0">
                <a:latin typeface="Microsoft Sans Serif"/>
                <a:cs typeface="Microsoft Sans Serif"/>
              </a:rPr>
              <a:t>of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elements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30" dirty="0">
                <a:latin typeface="Microsoft Sans Serif"/>
                <a:cs typeface="Microsoft Sans Serif"/>
              </a:rPr>
              <a:t>each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of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matrices.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5336" y="2946958"/>
            <a:ext cx="761803" cy="60920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2723" y="5014980"/>
            <a:ext cx="1685649" cy="99037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Matrix</a:t>
            </a:r>
            <a:r>
              <a:rPr spc="-13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99715"/>
            <a:ext cx="132715" cy="96011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416276"/>
            <a:ext cx="2381885" cy="96011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b="1" spc="70" dirty="0">
                <a:latin typeface="Arial"/>
                <a:cs typeface="Arial"/>
              </a:rPr>
              <a:t>Matrix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Division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spc="60" dirty="0">
                <a:latin typeface="Microsoft Sans Serif"/>
                <a:cs typeface="Microsoft Sans Serif"/>
              </a:rPr>
              <a:t>Put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another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way-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2254" y="3006600"/>
            <a:ext cx="3072305" cy="260250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Matrix</a:t>
            </a:r>
            <a:r>
              <a:rPr spc="-13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99715"/>
            <a:ext cx="132715" cy="96011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416276"/>
            <a:ext cx="7527925" cy="429260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b="1" spc="65" dirty="0">
                <a:latin typeface="Arial"/>
                <a:cs typeface="Arial"/>
              </a:rPr>
              <a:t>Matrix-</a:t>
            </a:r>
            <a:r>
              <a:rPr sz="2400" b="1" spc="70" dirty="0">
                <a:latin typeface="Arial"/>
                <a:cs typeface="Arial"/>
              </a:rPr>
              <a:t>Matrix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Multiplication</a:t>
            </a:r>
            <a:endParaRPr sz="2400">
              <a:latin typeface="Arial"/>
              <a:cs typeface="Arial"/>
            </a:endParaRPr>
          </a:p>
          <a:p>
            <a:pPr marL="12700" marR="277495">
              <a:lnSpc>
                <a:spcPct val="100000"/>
              </a:lnSpc>
              <a:spcBef>
                <a:spcPts val="795"/>
              </a:spcBef>
            </a:pPr>
            <a:r>
              <a:rPr sz="2400" spc="75" dirty="0">
                <a:latin typeface="Microsoft Sans Serif"/>
                <a:cs typeface="Microsoft Sans Serif"/>
              </a:rPr>
              <a:t>Matrix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multiplication,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also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called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matrix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114" dirty="0">
                <a:latin typeface="Microsoft Sans Serif"/>
                <a:cs typeface="Microsoft Sans Serif"/>
              </a:rPr>
              <a:t>dot </a:t>
            </a:r>
            <a:r>
              <a:rPr sz="2400" spc="75" dirty="0">
                <a:latin typeface="Microsoft Sans Serif"/>
                <a:cs typeface="Microsoft Sans Serif"/>
              </a:rPr>
              <a:t>product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is </a:t>
            </a:r>
            <a:r>
              <a:rPr sz="2400" spc="55" dirty="0">
                <a:latin typeface="Microsoft Sans Serif"/>
                <a:cs typeface="Microsoft Sans Serif"/>
              </a:rPr>
              <a:t>more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complicated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than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previous </a:t>
            </a:r>
            <a:r>
              <a:rPr sz="2400" dirty="0">
                <a:latin typeface="Microsoft Sans Serif"/>
                <a:cs typeface="Microsoft Sans Serif"/>
              </a:rPr>
              <a:t>operations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involves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a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rule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125" dirty="0">
                <a:latin typeface="Microsoft Sans Serif"/>
                <a:cs typeface="Microsoft Sans Serif"/>
              </a:rPr>
              <a:t>as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not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all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matrices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can </a:t>
            </a:r>
            <a:r>
              <a:rPr sz="2400" dirty="0">
                <a:latin typeface="Microsoft Sans Serif"/>
                <a:cs typeface="Microsoft Sans Serif"/>
              </a:rPr>
              <a:t>be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80" dirty="0">
                <a:latin typeface="Microsoft Sans Serif"/>
                <a:cs typeface="Microsoft Sans Serif"/>
              </a:rPr>
              <a:t>multiplied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together.</a:t>
            </a:r>
            <a:endParaRPr sz="2400">
              <a:latin typeface="Microsoft Sans Serif"/>
              <a:cs typeface="Microsoft Sans Serif"/>
            </a:endParaRPr>
          </a:p>
          <a:p>
            <a:pPr marL="2988945" marR="2976880" algn="ctr">
              <a:lnSpc>
                <a:spcPts val="3679"/>
              </a:lnSpc>
              <a:spcBef>
                <a:spcPts val="259"/>
              </a:spcBef>
              <a:tabLst>
                <a:tab pos="4244340" algn="l"/>
              </a:tabLst>
            </a:pPr>
            <a:r>
              <a:rPr sz="2400" spc="-265" dirty="0">
                <a:latin typeface="Microsoft Sans Serif"/>
                <a:cs typeface="Microsoft Sans Serif"/>
              </a:rPr>
              <a:t>C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-1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100" dirty="0">
                <a:latin typeface="Microsoft Sans Serif"/>
                <a:cs typeface="Microsoft Sans Serif"/>
              </a:rPr>
              <a:t> </a:t>
            </a:r>
            <a:r>
              <a:rPr sz="2400" spc="-80" dirty="0">
                <a:latin typeface="Microsoft Sans Serif"/>
                <a:cs typeface="Microsoft Sans Serif"/>
              </a:rPr>
              <a:t>·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B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65" dirty="0">
                <a:latin typeface="Microsoft Sans Serif"/>
                <a:cs typeface="Microsoft Sans Serif"/>
              </a:rPr>
              <a:t>or </a:t>
            </a:r>
            <a:r>
              <a:rPr sz="2400" spc="-265" dirty="0">
                <a:latin typeface="Microsoft Sans Serif"/>
                <a:cs typeface="Microsoft Sans Serif"/>
              </a:rPr>
              <a:t>C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-14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AB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2400" spc="-20" dirty="0">
                <a:latin typeface="Microsoft Sans Serif"/>
                <a:cs typeface="Microsoft Sans Serif"/>
              </a:rPr>
              <a:t>The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rule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145" dirty="0">
                <a:latin typeface="Microsoft Sans Serif"/>
                <a:cs typeface="Microsoft Sans Serif"/>
              </a:rPr>
              <a:t>for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matrix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multiplication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is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125" dirty="0">
                <a:latin typeface="Microsoft Sans Serif"/>
                <a:cs typeface="Microsoft Sans Serif"/>
              </a:rPr>
              <a:t>as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follows:</a:t>
            </a:r>
            <a:endParaRPr sz="24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795"/>
              </a:spcBef>
            </a:pPr>
            <a:r>
              <a:rPr sz="2400" spc="-20" dirty="0">
                <a:latin typeface="Microsoft Sans Serif"/>
                <a:cs typeface="Microsoft Sans Serif"/>
              </a:rPr>
              <a:t>The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number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160" dirty="0">
                <a:latin typeface="Microsoft Sans Serif"/>
                <a:cs typeface="Microsoft Sans Serif"/>
              </a:rPr>
              <a:t>of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columns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(n)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first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matrix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(A)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40" dirty="0">
                <a:latin typeface="Microsoft Sans Serif"/>
                <a:cs typeface="Microsoft Sans Serif"/>
              </a:rPr>
              <a:t>must </a:t>
            </a:r>
            <a:r>
              <a:rPr sz="2400" dirty="0">
                <a:latin typeface="Microsoft Sans Serif"/>
                <a:cs typeface="Microsoft Sans Serif"/>
              </a:rPr>
              <a:t>equal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number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160" dirty="0">
                <a:latin typeface="Microsoft Sans Serif"/>
                <a:cs typeface="Microsoft Sans Serif"/>
              </a:rPr>
              <a:t>of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rows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(m)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the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second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matrix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(B).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366473"/>
            <a:ext cx="132715" cy="96011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Matrix</a:t>
            </a:r>
            <a:r>
              <a:rPr spc="-13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99715"/>
            <a:ext cx="132715" cy="96011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416276"/>
            <a:ext cx="7475855" cy="419100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b="1" spc="65" dirty="0">
                <a:latin typeface="Arial"/>
                <a:cs typeface="Arial"/>
              </a:rPr>
              <a:t>Matrix-</a:t>
            </a:r>
            <a:r>
              <a:rPr sz="2400" b="1" spc="70" dirty="0">
                <a:latin typeface="Arial"/>
                <a:cs typeface="Arial"/>
              </a:rPr>
              <a:t>Matrix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Multiplication</a:t>
            </a:r>
            <a:endParaRPr sz="2400">
              <a:latin typeface="Arial"/>
              <a:cs typeface="Arial"/>
            </a:endParaRPr>
          </a:p>
          <a:p>
            <a:pPr marL="12700" marR="66675">
              <a:lnSpc>
                <a:spcPct val="100000"/>
              </a:lnSpc>
              <a:spcBef>
                <a:spcPts val="795"/>
              </a:spcBef>
            </a:pPr>
            <a:r>
              <a:rPr sz="2400" dirty="0">
                <a:latin typeface="Microsoft Sans Serif"/>
                <a:cs typeface="Microsoft Sans Serif"/>
              </a:rPr>
              <a:t>For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example,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matrix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80" dirty="0">
                <a:latin typeface="Microsoft Sans Serif"/>
                <a:cs typeface="Microsoft Sans Serif"/>
              </a:rPr>
              <a:t>has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dimensions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m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rows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and </a:t>
            </a:r>
            <a:r>
              <a:rPr sz="2400" dirty="0">
                <a:latin typeface="Microsoft Sans Serif"/>
                <a:cs typeface="Microsoft Sans Serif"/>
              </a:rPr>
              <a:t>n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columns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matrix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-80" dirty="0">
                <a:latin typeface="Microsoft Sans Serif"/>
                <a:cs typeface="Microsoft Sans Serif"/>
              </a:rPr>
              <a:t>has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dimensions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k.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400" spc="-20" dirty="0">
                <a:latin typeface="Microsoft Sans Serif"/>
                <a:cs typeface="Microsoft Sans Serif"/>
              </a:rPr>
              <a:t>The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columns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rows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equal.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400" spc="-20" dirty="0">
                <a:latin typeface="Microsoft Sans Serif"/>
                <a:cs typeface="Microsoft Sans Serif"/>
              </a:rPr>
              <a:t>The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result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is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a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new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matrix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with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m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rows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columns.</a:t>
            </a:r>
            <a:endParaRPr sz="2400">
              <a:latin typeface="Microsoft Sans Serif"/>
              <a:cs typeface="Microsoft Sans Serif"/>
            </a:endParaRPr>
          </a:p>
          <a:p>
            <a:pPr marL="2070735">
              <a:lnSpc>
                <a:spcPct val="100000"/>
              </a:lnSpc>
              <a:spcBef>
                <a:spcPts val="800"/>
              </a:spcBef>
            </a:pPr>
            <a:r>
              <a:rPr sz="2400" spc="-85" dirty="0">
                <a:latin typeface="Microsoft Sans Serif"/>
                <a:cs typeface="Microsoft Sans Serif"/>
              </a:rPr>
              <a:t>C(m,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k)</a:t>
            </a:r>
            <a:r>
              <a:rPr sz="2400" spc="-1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-10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A(m,</a:t>
            </a:r>
            <a:r>
              <a:rPr sz="2400" spc="-10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n)</a:t>
            </a:r>
            <a:r>
              <a:rPr sz="2400" spc="-105" dirty="0">
                <a:latin typeface="Microsoft Sans Serif"/>
                <a:cs typeface="Microsoft Sans Serif"/>
              </a:rPr>
              <a:t> </a:t>
            </a:r>
            <a:r>
              <a:rPr sz="2400" spc="-80" dirty="0">
                <a:latin typeface="Microsoft Sans Serif"/>
                <a:cs typeface="Microsoft Sans Serif"/>
              </a:rPr>
              <a:t>·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B(n,</a:t>
            </a:r>
            <a:r>
              <a:rPr sz="2400" spc="-10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k)</a:t>
            </a:r>
            <a:endParaRPr sz="24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805"/>
              </a:spcBef>
            </a:pPr>
            <a:r>
              <a:rPr sz="2400" spc="-45" dirty="0">
                <a:latin typeface="Microsoft Sans Serif"/>
                <a:cs typeface="Microsoft Sans Serif"/>
              </a:rPr>
              <a:t>This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rule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applies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145" dirty="0">
                <a:latin typeface="Microsoft Sans Serif"/>
                <a:cs typeface="Microsoft Sans Serif"/>
              </a:rPr>
              <a:t>for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a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chain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160" dirty="0">
                <a:latin typeface="Microsoft Sans Serif"/>
                <a:cs typeface="Microsoft Sans Serif"/>
              </a:rPr>
              <a:t>of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matrix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multiplications </a:t>
            </a:r>
            <a:r>
              <a:rPr sz="2400" dirty="0">
                <a:latin typeface="Microsoft Sans Serif"/>
                <a:cs typeface="Microsoft Sans Serif"/>
              </a:rPr>
              <a:t>where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number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160" dirty="0">
                <a:latin typeface="Microsoft Sans Serif"/>
                <a:cs typeface="Microsoft Sans Serif"/>
              </a:rPr>
              <a:t>of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columns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one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matrix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80" dirty="0">
                <a:latin typeface="Microsoft Sans Serif"/>
                <a:cs typeface="Microsoft Sans Serif"/>
              </a:rPr>
              <a:t>the </a:t>
            </a:r>
            <a:r>
              <a:rPr sz="2400" spc="-10" dirty="0">
                <a:latin typeface="Microsoft Sans Serif"/>
                <a:cs typeface="Microsoft Sans Serif"/>
              </a:rPr>
              <a:t>chain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must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match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number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160" dirty="0">
                <a:latin typeface="Microsoft Sans Serif"/>
                <a:cs typeface="Microsoft Sans Serif"/>
              </a:rPr>
              <a:t>of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rows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80" dirty="0">
                <a:latin typeface="Microsoft Sans Serif"/>
                <a:cs typeface="Microsoft Sans Serif"/>
              </a:rPr>
              <a:t>following </a:t>
            </a:r>
            <a:r>
              <a:rPr sz="2400" spc="70" dirty="0">
                <a:latin typeface="Microsoft Sans Serif"/>
                <a:cs typeface="Microsoft Sans Serif"/>
              </a:rPr>
              <a:t>matrix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the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chain..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167189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102100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Matrix</a:t>
            </a:r>
            <a:r>
              <a:rPr spc="-13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99715"/>
            <a:ext cx="132715" cy="96011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416276"/>
            <a:ext cx="7424420" cy="419100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b="1" spc="65" dirty="0">
                <a:latin typeface="Arial"/>
                <a:cs typeface="Arial"/>
              </a:rPr>
              <a:t>Matrix-</a:t>
            </a:r>
            <a:r>
              <a:rPr sz="2400" b="1" spc="50" dirty="0">
                <a:latin typeface="Arial"/>
                <a:cs typeface="Arial"/>
              </a:rPr>
              <a:t>Vector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Multiplication</a:t>
            </a:r>
            <a:endParaRPr sz="2400">
              <a:latin typeface="Arial"/>
              <a:cs typeface="Arial"/>
            </a:endParaRPr>
          </a:p>
          <a:p>
            <a:pPr marL="12700" marR="243204">
              <a:lnSpc>
                <a:spcPct val="100000"/>
              </a:lnSpc>
              <a:spcBef>
                <a:spcPts val="795"/>
              </a:spcBef>
            </a:pP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matrix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and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a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vector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can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be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80" dirty="0">
                <a:latin typeface="Microsoft Sans Serif"/>
                <a:cs typeface="Microsoft Sans Serif"/>
              </a:rPr>
              <a:t>multiplied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together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as </a:t>
            </a:r>
            <a:r>
              <a:rPr sz="2400" spc="60" dirty="0">
                <a:latin typeface="Microsoft Sans Serif"/>
                <a:cs typeface="Microsoft Sans Serif"/>
              </a:rPr>
              <a:t>long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125" dirty="0">
                <a:latin typeface="Microsoft Sans Serif"/>
                <a:cs typeface="Microsoft Sans Serif"/>
              </a:rPr>
              <a:t>as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the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rule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60" dirty="0">
                <a:latin typeface="Microsoft Sans Serif"/>
                <a:cs typeface="Microsoft Sans Serif"/>
              </a:rPr>
              <a:t>of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matrix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multiplication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-9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observed.</a:t>
            </a:r>
            <a:endParaRPr sz="24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2400" dirty="0">
                <a:latin typeface="Microsoft Sans Serif"/>
                <a:cs typeface="Microsoft Sans Serif"/>
              </a:rPr>
              <a:t>Specifically,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130" dirty="0">
                <a:latin typeface="Microsoft Sans Serif"/>
                <a:cs typeface="Microsoft Sans Serif"/>
              </a:rPr>
              <a:t>that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the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number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160" dirty="0">
                <a:latin typeface="Microsoft Sans Serif"/>
                <a:cs typeface="Microsoft Sans Serif"/>
              </a:rPr>
              <a:t>of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columns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matrix must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equal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number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155" dirty="0">
                <a:latin typeface="Microsoft Sans Serif"/>
                <a:cs typeface="Microsoft Sans Serif"/>
              </a:rPr>
              <a:t>of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items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vector.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80" dirty="0">
                <a:latin typeface="Microsoft Sans Serif"/>
                <a:cs typeface="Microsoft Sans Serif"/>
              </a:rPr>
              <a:t>As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with </a:t>
            </a:r>
            <a:r>
              <a:rPr sz="2400" spc="70" dirty="0">
                <a:latin typeface="Microsoft Sans Serif"/>
                <a:cs typeface="Microsoft Sans Serif"/>
              </a:rPr>
              <a:t>matrix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multiplication,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operation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can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be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114" dirty="0">
                <a:latin typeface="Microsoft Sans Serif"/>
                <a:cs typeface="Microsoft Sans Serif"/>
              </a:rPr>
              <a:t>written </a:t>
            </a:r>
            <a:r>
              <a:rPr sz="2400" dirty="0">
                <a:latin typeface="Microsoft Sans Serif"/>
                <a:cs typeface="Microsoft Sans Serif"/>
              </a:rPr>
              <a:t>using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140" dirty="0">
                <a:latin typeface="Microsoft Sans Serif"/>
                <a:cs typeface="Microsoft Sans Serif"/>
              </a:rPr>
              <a:t>dot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notation.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60" dirty="0">
                <a:latin typeface="Microsoft Sans Serif"/>
                <a:cs typeface="Microsoft Sans Serif"/>
              </a:rPr>
              <a:t>Because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vector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only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has </a:t>
            </a:r>
            <a:r>
              <a:rPr sz="2400" dirty="0">
                <a:latin typeface="Microsoft Sans Serif"/>
                <a:cs typeface="Microsoft Sans Serif"/>
              </a:rPr>
              <a:t>one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column,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result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is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always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a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vector.</a:t>
            </a:r>
            <a:endParaRPr sz="2400">
              <a:latin typeface="Microsoft Sans Serif"/>
              <a:cs typeface="Microsoft Sans Serif"/>
            </a:endParaRPr>
          </a:p>
          <a:p>
            <a:pPr marL="3034665" marR="3024505" algn="ctr">
              <a:lnSpc>
                <a:spcPts val="3679"/>
              </a:lnSpc>
              <a:spcBef>
                <a:spcPts val="105"/>
              </a:spcBef>
            </a:pPr>
            <a:r>
              <a:rPr sz="2400" i="1" spc="-120" dirty="0">
                <a:latin typeface="Arial"/>
                <a:cs typeface="Arial"/>
              </a:rPr>
              <a:t>c </a:t>
            </a:r>
            <a:r>
              <a:rPr sz="2400" i="1" spc="-60" dirty="0">
                <a:latin typeface="Arial"/>
                <a:cs typeface="Arial"/>
              </a:rPr>
              <a:t>=</a:t>
            </a:r>
            <a:r>
              <a:rPr sz="2400" i="1" spc="-110" dirty="0">
                <a:latin typeface="Arial"/>
                <a:cs typeface="Arial"/>
              </a:rPr>
              <a:t> </a:t>
            </a:r>
            <a:r>
              <a:rPr sz="2400" i="1" spc="-80" dirty="0">
                <a:latin typeface="Arial"/>
                <a:cs typeface="Arial"/>
              </a:rPr>
              <a:t>A</a:t>
            </a:r>
            <a:r>
              <a:rPr sz="2400" i="1" spc="-120" dirty="0">
                <a:latin typeface="Arial"/>
                <a:cs typeface="Arial"/>
              </a:rPr>
              <a:t> </a:t>
            </a:r>
            <a:r>
              <a:rPr sz="2400" i="1" spc="-225" dirty="0">
                <a:latin typeface="Arial"/>
                <a:cs typeface="Arial"/>
              </a:rPr>
              <a:t>·</a:t>
            </a:r>
            <a:r>
              <a:rPr sz="2400" i="1" spc="-114" dirty="0">
                <a:latin typeface="Arial"/>
                <a:cs typeface="Arial"/>
              </a:rPr>
              <a:t> </a:t>
            </a:r>
            <a:r>
              <a:rPr sz="2400" i="1" spc="-50" dirty="0">
                <a:latin typeface="Arial"/>
                <a:cs typeface="Arial"/>
              </a:rPr>
              <a:t>v</a:t>
            </a:r>
            <a:r>
              <a:rPr sz="2400" i="1" spc="-120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or </a:t>
            </a:r>
            <a:r>
              <a:rPr sz="2400" i="1" spc="-120" dirty="0">
                <a:latin typeface="Arial"/>
                <a:cs typeface="Arial"/>
              </a:rPr>
              <a:t>c </a:t>
            </a:r>
            <a:r>
              <a:rPr sz="2400" i="1" spc="-60" dirty="0">
                <a:latin typeface="Arial"/>
                <a:cs typeface="Arial"/>
              </a:rPr>
              <a:t>=</a:t>
            </a:r>
            <a:r>
              <a:rPr sz="2400" i="1" spc="-114" dirty="0">
                <a:latin typeface="Arial"/>
                <a:cs typeface="Arial"/>
              </a:rPr>
              <a:t> </a:t>
            </a:r>
            <a:r>
              <a:rPr sz="2400" i="1" spc="-25" dirty="0">
                <a:latin typeface="Arial"/>
                <a:cs typeface="Arial"/>
              </a:rPr>
              <a:t>Av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801429"/>
            <a:ext cx="1327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926803"/>
            <a:ext cx="9139555" cy="3931285"/>
            <a:chOff x="0" y="2926803"/>
            <a:chExt cx="9139555" cy="39312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35970" y="2926803"/>
              <a:ext cx="3482172" cy="341512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15799" y="5288388"/>
              <a:ext cx="2114124" cy="85710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Matrix</a:t>
            </a:r>
            <a:r>
              <a:rPr spc="-13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5940" y="1399715"/>
            <a:ext cx="132715" cy="960119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4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9017" y="1416276"/>
            <a:ext cx="7515225" cy="132588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400" b="1" spc="65" dirty="0">
                <a:latin typeface="Arial"/>
                <a:cs typeface="Arial"/>
              </a:rPr>
              <a:t>Matrix-</a:t>
            </a:r>
            <a:r>
              <a:rPr sz="2400" b="1" spc="50" dirty="0">
                <a:latin typeface="Arial"/>
                <a:cs typeface="Arial"/>
              </a:rPr>
              <a:t>Vector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Multiplication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795"/>
              </a:spcBef>
            </a:pPr>
            <a:r>
              <a:rPr sz="2400" spc="-20" dirty="0">
                <a:latin typeface="Microsoft Sans Serif"/>
                <a:cs typeface="Microsoft Sans Serif"/>
              </a:rPr>
              <a:t>The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result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is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a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vector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with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70" dirty="0">
                <a:latin typeface="Microsoft Sans Serif"/>
                <a:cs typeface="Microsoft Sans Serif"/>
              </a:rPr>
              <a:t> </a:t>
            </a:r>
            <a:r>
              <a:rPr sz="2400" spc="-45" dirty="0">
                <a:latin typeface="Microsoft Sans Serif"/>
                <a:cs typeface="Microsoft Sans Serif"/>
              </a:rPr>
              <a:t>same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number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160" dirty="0">
                <a:latin typeface="Microsoft Sans Serif"/>
                <a:cs typeface="Microsoft Sans Serif"/>
              </a:rPr>
              <a:t>of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rows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as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parent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40" dirty="0">
                <a:latin typeface="Microsoft Sans Serif"/>
                <a:cs typeface="Microsoft Sans Serif"/>
              </a:rPr>
              <a:t>matrix.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Matrix</a:t>
            </a:r>
            <a:r>
              <a:rPr spc="-13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17436"/>
            <a:ext cx="7899400" cy="361569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b="1" spc="75" dirty="0">
                <a:latin typeface="Arial"/>
                <a:cs typeface="Arial"/>
              </a:rPr>
              <a:t>Matrix-</a:t>
            </a:r>
            <a:r>
              <a:rPr sz="2800" b="1" spc="-40" dirty="0">
                <a:latin typeface="Arial"/>
                <a:cs typeface="Arial"/>
              </a:rPr>
              <a:t>Scalar</a:t>
            </a:r>
            <a:r>
              <a:rPr sz="2800" b="1" spc="-15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Multiplication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Microsoft Sans Serif"/>
                <a:cs typeface="Microsoft Sans Serif"/>
              </a:rPr>
              <a:t>A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matrix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can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be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95" dirty="0">
                <a:latin typeface="Microsoft Sans Serif"/>
                <a:cs typeface="Microsoft Sans Serif"/>
              </a:rPr>
              <a:t>multiplied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by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-110" dirty="0">
                <a:latin typeface="Microsoft Sans Serif"/>
                <a:cs typeface="Microsoft Sans Serif"/>
              </a:rPr>
              <a:t>a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scalar.</a:t>
            </a:r>
            <a:endParaRPr sz="2800">
              <a:latin typeface="Microsoft Sans Serif"/>
              <a:cs typeface="Microsoft Sans Serif"/>
            </a:endParaRPr>
          </a:p>
          <a:p>
            <a:pPr marL="355600" marR="508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spc="-50" dirty="0">
                <a:latin typeface="Microsoft Sans Serif"/>
                <a:cs typeface="Microsoft Sans Serif"/>
              </a:rPr>
              <a:t>This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can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be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represented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using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160" dirty="0">
                <a:latin typeface="Microsoft Sans Serif"/>
                <a:cs typeface="Microsoft Sans Serif"/>
              </a:rPr>
              <a:t>dot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95" dirty="0">
                <a:latin typeface="Microsoft Sans Serif"/>
                <a:cs typeface="Microsoft Sans Serif"/>
              </a:rPr>
              <a:t>notation </a:t>
            </a:r>
            <a:r>
              <a:rPr sz="2800" spc="75" dirty="0">
                <a:latin typeface="Microsoft Sans Serif"/>
                <a:cs typeface="Microsoft Sans Serif"/>
              </a:rPr>
              <a:t>between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matrix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and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scalar.</a:t>
            </a:r>
            <a:endParaRPr sz="2800">
              <a:latin typeface="Microsoft Sans Serif"/>
              <a:cs typeface="Microsoft Sans Serif"/>
            </a:endParaRPr>
          </a:p>
          <a:p>
            <a:pPr marL="346710" algn="ctr">
              <a:lnSpc>
                <a:spcPct val="100000"/>
              </a:lnSpc>
              <a:spcBef>
                <a:spcPts val="785"/>
              </a:spcBef>
            </a:pPr>
            <a:r>
              <a:rPr sz="2800" spc="-305" dirty="0">
                <a:latin typeface="Microsoft Sans Serif"/>
                <a:cs typeface="Microsoft Sans Serif"/>
              </a:rPr>
              <a:t>C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17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</a:t>
            </a:r>
            <a:r>
              <a:rPr sz="2800" spc="-125" dirty="0">
                <a:latin typeface="Microsoft Sans Serif"/>
                <a:cs typeface="Microsoft Sans Serif"/>
              </a:rPr>
              <a:t> </a:t>
            </a:r>
            <a:r>
              <a:rPr sz="2800" spc="-100" dirty="0">
                <a:latin typeface="Microsoft Sans Serif"/>
                <a:cs typeface="Microsoft Sans Serif"/>
              </a:rPr>
              <a:t>·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25" dirty="0">
                <a:latin typeface="Microsoft Sans Serif"/>
                <a:cs typeface="Microsoft Sans Serif"/>
              </a:rPr>
              <a:t>b</a:t>
            </a:r>
            <a:endParaRPr sz="2800">
              <a:latin typeface="Microsoft Sans Serif"/>
              <a:cs typeface="Microsoft Sans Serif"/>
            </a:endParaRPr>
          </a:p>
          <a:p>
            <a:pPr marL="346075" algn="ctr">
              <a:lnSpc>
                <a:spcPct val="100000"/>
              </a:lnSpc>
              <a:spcBef>
                <a:spcPts val="790"/>
              </a:spcBef>
            </a:pPr>
            <a:r>
              <a:rPr sz="2800" spc="65" dirty="0">
                <a:latin typeface="Microsoft Sans Serif"/>
                <a:cs typeface="Microsoft Sans Serif"/>
              </a:rPr>
              <a:t>Or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140" dirty="0">
                <a:latin typeface="Microsoft Sans Serif"/>
                <a:cs typeface="Microsoft Sans Serif"/>
              </a:rPr>
              <a:t>without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60" dirty="0">
                <a:latin typeface="Microsoft Sans Serif"/>
                <a:cs typeface="Microsoft Sans Serif"/>
              </a:rPr>
              <a:t>dot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notation.</a:t>
            </a:r>
            <a:endParaRPr sz="2800">
              <a:latin typeface="Microsoft Sans Serif"/>
              <a:cs typeface="Microsoft Sans Serif"/>
            </a:endParaRPr>
          </a:p>
          <a:p>
            <a:pPr marL="349250" algn="ctr">
              <a:lnSpc>
                <a:spcPct val="100000"/>
              </a:lnSpc>
              <a:spcBef>
                <a:spcPts val="805"/>
              </a:spcBef>
            </a:pPr>
            <a:r>
              <a:rPr sz="2800" spc="-305" dirty="0">
                <a:latin typeface="Microsoft Sans Serif"/>
                <a:cs typeface="Microsoft Sans Serif"/>
              </a:rPr>
              <a:t>C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170" dirty="0">
                <a:latin typeface="Microsoft Sans Serif"/>
                <a:cs typeface="Microsoft Sans Serif"/>
              </a:rPr>
              <a:t> </a:t>
            </a:r>
            <a:r>
              <a:rPr sz="2800" spc="-35" dirty="0">
                <a:latin typeface="Microsoft Sans Serif"/>
                <a:cs typeface="Microsoft Sans Serif"/>
              </a:rPr>
              <a:t>Ab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6951" y="3498136"/>
            <a:ext cx="2287040" cy="29073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Matrix</a:t>
            </a:r>
            <a:r>
              <a:rPr spc="-135" dirty="0"/>
              <a:t> </a:t>
            </a:r>
            <a:r>
              <a:rPr spc="110" dirty="0"/>
              <a:t>Arithmetic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00"/>
              </a:spcBef>
            </a:pPr>
            <a:r>
              <a:rPr b="1" spc="75" dirty="0">
                <a:latin typeface="Arial"/>
                <a:cs typeface="Arial"/>
              </a:rPr>
              <a:t>Matrix-</a:t>
            </a:r>
            <a:r>
              <a:rPr b="1" spc="-40" dirty="0">
                <a:latin typeface="Arial"/>
                <a:cs typeface="Arial"/>
              </a:rPr>
              <a:t>Scalar</a:t>
            </a:r>
            <a:r>
              <a:rPr b="1" spc="-125" dirty="0">
                <a:latin typeface="Arial"/>
                <a:cs typeface="Arial"/>
              </a:rPr>
              <a:t> </a:t>
            </a:r>
            <a:r>
              <a:rPr b="1" spc="35" dirty="0">
                <a:latin typeface="Arial"/>
                <a:cs typeface="Arial"/>
              </a:rPr>
              <a:t>Multiplication</a:t>
            </a:r>
          </a:p>
          <a:p>
            <a:pPr marL="88900" marR="5080">
              <a:lnSpc>
                <a:spcPct val="100000"/>
              </a:lnSpc>
              <a:spcBef>
                <a:spcPts val="800"/>
              </a:spcBef>
            </a:pPr>
            <a:r>
              <a:rPr spc="-10" dirty="0"/>
              <a:t>The</a:t>
            </a:r>
            <a:r>
              <a:rPr spc="-120" dirty="0"/>
              <a:t> </a:t>
            </a:r>
            <a:r>
              <a:rPr spc="75" dirty="0"/>
              <a:t>result</a:t>
            </a:r>
            <a:r>
              <a:rPr spc="-110" dirty="0"/>
              <a:t> </a:t>
            </a:r>
            <a:r>
              <a:rPr dirty="0"/>
              <a:t>is</a:t>
            </a:r>
            <a:r>
              <a:rPr spc="-105" dirty="0"/>
              <a:t> </a:t>
            </a:r>
            <a:r>
              <a:rPr spc="-110" dirty="0"/>
              <a:t>a</a:t>
            </a:r>
            <a:r>
              <a:rPr spc="-95" dirty="0"/>
              <a:t> </a:t>
            </a:r>
            <a:r>
              <a:rPr spc="80" dirty="0"/>
              <a:t>matrix</a:t>
            </a:r>
            <a:r>
              <a:rPr spc="-105" dirty="0"/>
              <a:t> </a:t>
            </a:r>
            <a:r>
              <a:rPr spc="135" dirty="0"/>
              <a:t>with</a:t>
            </a:r>
            <a:r>
              <a:rPr spc="-100" dirty="0"/>
              <a:t> </a:t>
            </a:r>
            <a:r>
              <a:rPr spc="110" dirty="0"/>
              <a:t>the</a:t>
            </a:r>
            <a:r>
              <a:rPr spc="-105" dirty="0"/>
              <a:t> </a:t>
            </a:r>
            <a:r>
              <a:rPr spc="-45" dirty="0"/>
              <a:t>same</a:t>
            </a:r>
            <a:r>
              <a:rPr spc="-110" dirty="0"/>
              <a:t> </a:t>
            </a:r>
            <a:r>
              <a:rPr spc="-40" dirty="0"/>
              <a:t>size</a:t>
            </a:r>
            <a:r>
              <a:rPr spc="-110" dirty="0"/>
              <a:t> </a:t>
            </a:r>
            <a:r>
              <a:rPr spc="-130" dirty="0"/>
              <a:t>as</a:t>
            </a:r>
            <a:r>
              <a:rPr spc="-95" dirty="0"/>
              <a:t> </a:t>
            </a:r>
            <a:r>
              <a:rPr spc="90" dirty="0"/>
              <a:t>the </a:t>
            </a:r>
            <a:r>
              <a:rPr spc="75" dirty="0"/>
              <a:t>parent</a:t>
            </a:r>
            <a:r>
              <a:rPr spc="-95" dirty="0"/>
              <a:t> </a:t>
            </a:r>
            <a:r>
              <a:rPr spc="85" dirty="0"/>
              <a:t>matrix</a:t>
            </a:r>
            <a:r>
              <a:rPr spc="-90" dirty="0"/>
              <a:t> </a:t>
            </a:r>
            <a:r>
              <a:rPr spc="55" dirty="0"/>
              <a:t>where</a:t>
            </a:r>
            <a:r>
              <a:rPr spc="-90" dirty="0"/>
              <a:t> </a:t>
            </a:r>
            <a:r>
              <a:rPr spc="-35" dirty="0"/>
              <a:t>each</a:t>
            </a:r>
            <a:r>
              <a:rPr spc="-95" dirty="0"/>
              <a:t> </a:t>
            </a:r>
            <a:r>
              <a:rPr spc="75" dirty="0"/>
              <a:t>element</a:t>
            </a:r>
            <a:r>
              <a:rPr spc="-85" dirty="0"/>
              <a:t> </a:t>
            </a:r>
            <a:r>
              <a:rPr spc="165" dirty="0"/>
              <a:t>of</a:t>
            </a:r>
            <a:r>
              <a:rPr spc="-85" dirty="0"/>
              <a:t> </a:t>
            </a:r>
            <a:r>
              <a:rPr spc="165" dirty="0"/>
              <a:t>th</a:t>
            </a:r>
            <a:r>
              <a:rPr spc="-85" dirty="0"/>
              <a:t> </a:t>
            </a:r>
            <a:r>
              <a:rPr spc="80" dirty="0"/>
              <a:t>matrix</a:t>
            </a:r>
            <a:r>
              <a:rPr spc="-80" dirty="0"/>
              <a:t> </a:t>
            </a:r>
            <a:r>
              <a:rPr spc="-25" dirty="0"/>
              <a:t>is </a:t>
            </a:r>
            <a:r>
              <a:rPr spc="90" dirty="0"/>
              <a:t>multiplied</a:t>
            </a:r>
            <a:r>
              <a:rPr spc="-75" dirty="0"/>
              <a:t> </a:t>
            </a:r>
            <a:r>
              <a:rPr dirty="0"/>
              <a:t>by</a:t>
            </a:r>
            <a:r>
              <a:rPr spc="-75" dirty="0"/>
              <a:t> </a:t>
            </a:r>
            <a:r>
              <a:rPr spc="110" dirty="0"/>
              <a:t>the</a:t>
            </a:r>
            <a:r>
              <a:rPr spc="-80" dirty="0"/>
              <a:t> </a:t>
            </a:r>
            <a:r>
              <a:rPr spc="-25" dirty="0"/>
              <a:t>scalar</a:t>
            </a:r>
            <a:r>
              <a:rPr spc="-80" dirty="0"/>
              <a:t> </a:t>
            </a:r>
            <a:r>
              <a:rPr spc="-10" dirty="0"/>
              <a:t>value.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397212"/>
            <a:ext cx="140970" cy="1023619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Linear</a:t>
            </a:r>
            <a:r>
              <a:rPr spc="-50" dirty="0"/>
              <a:t> </a:t>
            </a:r>
            <a:r>
              <a:rPr dirty="0"/>
              <a:t>Equations</a:t>
            </a:r>
            <a:r>
              <a:rPr spc="-55" dirty="0"/>
              <a:t> </a:t>
            </a:r>
            <a:r>
              <a:rPr dirty="0"/>
              <a:t>using</a:t>
            </a:r>
            <a:r>
              <a:rPr spc="-60" dirty="0"/>
              <a:t> </a:t>
            </a:r>
            <a:r>
              <a:rPr spc="100" dirty="0"/>
              <a:t>Matrix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8235" y="2095304"/>
            <a:ext cx="4026063" cy="290768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System</a:t>
            </a:r>
            <a:r>
              <a:rPr spc="-130" dirty="0"/>
              <a:t> </a:t>
            </a:r>
            <a:r>
              <a:rPr spc="245" dirty="0"/>
              <a:t>of</a:t>
            </a:r>
            <a:r>
              <a:rPr spc="-125" dirty="0"/>
              <a:t> </a:t>
            </a:r>
            <a:r>
              <a:rPr dirty="0"/>
              <a:t>Linear</a:t>
            </a:r>
            <a:r>
              <a:rPr spc="-13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97212"/>
            <a:ext cx="140970" cy="1023619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417368"/>
            <a:ext cx="5113655" cy="380809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600" dirty="0">
                <a:latin typeface="Microsoft Sans Serif"/>
                <a:cs typeface="Microsoft Sans Serif"/>
              </a:rPr>
              <a:t>y</a:t>
            </a:r>
            <a:r>
              <a:rPr sz="2600" spc="-1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-130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mx</a:t>
            </a:r>
            <a:r>
              <a:rPr sz="2600" spc="-1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+</a:t>
            </a:r>
            <a:r>
              <a:rPr sz="2600" spc="-130" dirty="0">
                <a:latin typeface="Microsoft Sans Serif"/>
                <a:cs typeface="Microsoft Sans Serif"/>
              </a:rPr>
              <a:t> </a:t>
            </a:r>
            <a:r>
              <a:rPr sz="2600" spc="-50" dirty="0">
                <a:latin typeface="Microsoft Sans Serif"/>
                <a:cs typeface="Microsoft Sans Serif"/>
              </a:rPr>
              <a:t>c</a:t>
            </a:r>
            <a:endParaRPr sz="2600">
              <a:latin typeface="Microsoft Sans Serif"/>
              <a:cs typeface="Microsoft Sans Serif"/>
            </a:endParaRPr>
          </a:p>
          <a:p>
            <a:pPr marL="12700" marR="202565">
              <a:lnSpc>
                <a:spcPct val="100000"/>
              </a:lnSpc>
              <a:spcBef>
                <a:spcPts val="800"/>
              </a:spcBef>
            </a:pPr>
            <a:r>
              <a:rPr sz="2600" dirty="0">
                <a:latin typeface="Microsoft Sans Serif"/>
                <a:cs typeface="Microsoft Sans Serif"/>
              </a:rPr>
              <a:t>A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linear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equation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140" dirty="0">
                <a:latin typeface="Microsoft Sans Serif"/>
                <a:cs typeface="Microsoft Sans Serif"/>
              </a:rPr>
              <a:t>not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always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25" dirty="0">
                <a:latin typeface="Microsoft Sans Serif"/>
                <a:cs typeface="Microsoft Sans Serif"/>
              </a:rPr>
              <a:t>in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125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form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y</a:t>
            </a:r>
            <a:r>
              <a:rPr sz="2600" spc="-1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-12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3.5</a:t>
            </a:r>
            <a:r>
              <a:rPr sz="2600" spc="-1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−</a:t>
            </a:r>
            <a:r>
              <a:rPr sz="2600" spc="-12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0.5x,</a:t>
            </a:r>
            <a:endParaRPr sz="2600">
              <a:latin typeface="Microsoft Sans Serif"/>
              <a:cs typeface="Microsoft Sans Serif"/>
            </a:endParaRPr>
          </a:p>
          <a:p>
            <a:pPr marL="12700" marR="601980">
              <a:lnSpc>
                <a:spcPct val="125699"/>
              </a:lnSpc>
              <a:spcBef>
                <a:spcPts val="5"/>
              </a:spcBef>
            </a:pPr>
            <a:r>
              <a:rPr sz="2600" spc="145" dirty="0">
                <a:latin typeface="Microsoft Sans Serif"/>
                <a:cs typeface="Microsoft Sans Serif"/>
              </a:rPr>
              <a:t>It</a:t>
            </a:r>
            <a:r>
              <a:rPr sz="2600" spc="-120" dirty="0">
                <a:latin typeface="Microsoft Sans Serif"/>
                <a:cs typeface="Microsoft Sans Serif"/>
              </a:rPr>
              <a:t> </a:t>
            </a:r>
            <a:r>
              <a:rPr sz="2600" spc="-45" dirty="0">
                <a:latin typeface="Microsoft Sans Serif"/>
                <a:cs typeface="Microsoft Sans Serif"/>
              </a:rPr>
              <a:t>can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also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be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like</a:t>
            </a:r>
            <a:r>
              <a:rPr sz="2600" spc="-1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y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-120" dirty="0">
                <a:latin typeface="Microsoft Sans Serif"/>
                <a:cs typeface="Microsoft Sans Serif"/>
              </a:rPr>
              <a:t> </a:t>
            </a:r>
            <a:r>
              <a:rPr sz="2600" spc="-20" dirty="0">
                <a:latin typeface="Microsoft Sans Serif"/>
                <a:cs typeface="Microsoft Sans Serif"/>
              </a:rPr>
              <a:t>0.5(7</a:t>
            </a:r>
            <a:r>
              <a:rPr sz="2600" spc="-1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−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x) </a:t>
            </a:r>
            <a:r>
              <a:rPr sz="2600" spc="60" dirty="0">
                <a:latin typeface="Microsoft Sans Serif"/>
                <a:cs typeface="Microsoft Sans Serif"/>
              </a:rPr>
              <a:t>Or</a:t>
            </a:r>
            <a:r>
              <a:rPr sz="2600" spc="-120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like</a:t>
            </a:r>
            <a:r>
              <a:rPr sz="2600" spc="-1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y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+</a:t>
            </a:r>
            <a:r>
              <a:rPr sz="2600" spc="-1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0.5x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-135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3.5</a:t>
            </a:r>
            <a:endParaRPr sz="2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600" spc="60" dirty="0">
                <a:latin typeface="Microsoft Sans Serif"/>
                <a:cs typeface="Microsoft Sans Serif"/>
              </a:rPr>
              <a:t>Or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like</a:t>
            </a:r>
            <a:r>
              <a:rPr sz="2600" spc="-1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y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+</a:t>
            </a:r>
            <a:r>
              <a:rPr sz="2600" spc="-1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0.5x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−</a:t>
            </a:r>
            <a:r>
              <a:rPr sz="2600" spc="-12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3.5</a:t>
            </a:r>
            <a:r>
              <a:rPr sz="2600" spc="-1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-1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0</a:t>
            </a:r>
            <a:r>
              <a:rPr sz="2600" spc="-1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and</a:t>
            </a:r>
            <a:r>
              <a:rPr sz="2600" spc="-12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more.</a:t>
            </a:r>
            <a:endParaRPr sz="2600">
              <a:latin typeface="Microsoft Sans Serif"/>
              <a:cs typeface="Microsoft Sans Serif"/>
            </a:endParaRPr>
          </a:p>
          <a:p>
            <a:pPr marL="12700" marR="795655">
              <a:lnSpc>
                <a:spcPct val="100000"/>
              </a:lnSpc>
              <a:spcBef>
                <a:spcPts val="810"/>
              </a:spcBef>
            </a:pPr>
            <a:r>
              <a:rPr sz="2600" dirty="0">
                <a:latin typeface="Microsoft Sans Serif"/>
                <a:cs typeface="Microsoft Sans Serif"/>
              </a:rPr>
              <a:t>(Note: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those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are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all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spc="-20" dirty="0">
                <a:latin typeface="Microsoft Sans Serif"/>
                <a:cs typeface="Microsoft Sans Serif"/>
              </a:rPr>
              <a:t>same </a:t>
            </a:r>
            <a:r>
              <a:rPr sz="2600" dirty="0">
                <a:latin typeface="Microsoft Sans Serif"/>
                <a:cs typeface="Microsoft Sans Serif"/>
              </a:rPr>
              <a:t>linear</a:t>
            </a:r>
            <a:r>
              <a:rPr sz="2600" spc="14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equation!)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790403"/>
            <a:ext cx="140970" cy="201930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6004" y="1863369"/>
            <a:ext cx="2511717" cy="260027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System</a:t>
            </a:r>
            <a:r>
              <a:rPr spc="-130" dirty="0"/>
              <a:t> </a:t>
            </a:r>
            <a:r>
              <a:rPr spc="245" dirty="0"/>
              <a:t>of</a:t>
            </a:r>
            <a:r>
              <a:rPr spc="-125" dirty="0"/>
              <a:t> </a:t>
            </a:r>
            <a:r>
              <a:rPr dirty="0"/>
              <a:t>Linear</a:t>
            </a:r>
            <a:r>
              <a:rPr spc="-13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519097"/>
            <a:ext cx="7553325" cy="1315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Microsoft Sans Serif"/>
                <a:cs typeface="Microsoft Sans Serif"/>
              </a:rPr>
              <a:t>A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20" dirty="0">
                <a:latin typeface="Microsoft Sans Serif"/>
                <a:cs typeface="Microsoft Sans Serif"/>
              </a:rPr>
              <a:t>System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165" dirty="0">
                <a:latin typeface="Microsoft Sans Serif"/>
                <a:cs typeface="Microsoft Sans Serif"/>
              </a:rPr>
              <a:t>of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Linear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Equations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when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we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have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two </a:t>
            </a:r>
            <a:r>
              <a:rPr sz="2600" spc="100" dirty="0">
                <a:latin typeface="Microsoft Sans Serif"/>
                <a:cs typeface="Microsoft Sans Serif"/>
              </a:rPr>
              <a:t>or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more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linear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equations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working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together.</a:t>
            </a:r>
            <a:endParaRPr sz="2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600" spc="-20" dirty="0">
                <a:latin typeface="Microsoft Sans Serif"/>
                <a:cs typeface="Microsoft Sans Serif"/>
              </a:rPr>
              <a:t>Example: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Here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are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spc="175" dirty="0">
                <a:latin typeface="Microsoft Sans Serif"/>
                <a:cs typeface="Microsoft Sans Serif"/>
              </a:rPr>
              <a:t>two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linear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equations: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395334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59967" y="2947448"/>
          <a:ext cx="3565523" cy="867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4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9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3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2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3705">
                <a:tc>
                  <a:txBody>
                    <a:bodyPr/>
                    <a:lstStyle/>
                    <a:p>
                      <a:pPr marR="68580" algn="ctr">
                        <a:lnSpc>
                          <a:spcPts val="2945"/>
                        </a:lnSpc>
                      </a:pPr>
                      <a:r>
                        <a:rPr sz="2600" spc="-25" dirty="0">
                          <a:latin typeface="Microsoft Sans Serif"/>
                          <a:cs typeface="Microsoft Sans Serif"/>
                        </a:rPr>
                        <a:t>2x</a:t>
                      </a:r>
                      <a:endParaRPr sz="2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2945"/>
                        </a:lnSpc>
                      </a:pPr>
                      <a:r>
                        <a:rPr sz="2600" spc="-50" dirty="0">
                          <a:latin typeface="Microsoft Sans Serif"/>
                          <a:cs typeface="Microsoft Sans Serif"/>
                        </a:rPr>
                        <a:t>+</a:t>
                      </a:r>
                      <a:endParaRPr sz="2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ts val="2945"/>
                        </a:lnSpc>
                      </a:pPr>
                      <a:r>
                        <a:rPr sz="2600" spc="-50" dirty="0">
                          <a:latin typeface="Microsoft Sans Serif"/>
                          <a:cs typeface="Microsoft Sans Serif"/>
                        </a:rPr>
                        <a:t>y</a:t>
                      </a:r>
                      <a:endParaRPr sz="2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2945"/>
                        </a:lnSpc>
                      </a:pPr>
                      <a:r>
                        <a:rPr sz="2600" spc="-50" dirty="0">
                          <a:latin typeface="Microsoft Sans Serif"/>
                          <a:cs typeface="Microsoft Sans Serif"/>
                        </a:rPr>
                        <a:t>=</a:t>
                      </a:r>
                      <a:endParaRPr sz="2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945"/>
                        </a:lnSpc>
                      </a:pPr>
                      <a:r>
                        <a:rPr sz="2600" spc="-5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2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 marR="69215" algn="ctr">
                        <a:lnSpc>
                          <a:spcPts val="2990"/>
                        </a:lnSpc>
                        <a:spcBef>
                          <a:spcPts val="325"/>
                        </a:spcBef>
                      </a:pPr>
                      <a:r>
                        <a:rPr sz="2600" spc="-25" dirty="0">
                          <a:latin typeface="Microsoft Sans Serif"/>
                          <a:cs typeface="Microsoft Sans Serif"/>
                        </a:rPr>
                        <a:t>−x</a:t>
                      </a:r>
                      <a:endParaRPr sz="2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2990"/>
                        </a:lnSpc>
                        <a:spcBef>
                          <a:spcPts val="325"/>
                        </a:spcBef>
                      </a:pPr>
                      <a:r>
                        <a:rPr sz="2600" spc="-50" dirty="0">
                          <a:latin typeface="Microsoft Sans Serif"/>
                          <a:cs typeface="Microsoft Sans Serif"/>
                        </a:rPr>
                        <a:t>+</a:t>
                      </a:r>
                      <a:endParaRPr sz="2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ts val="2990"/>
                        </a:lnSpc>
                        <a:spcBef>
                          <a:spcPts val="325"/>
                        </a:spcBef>
                      </a:pPr>
                      <a:r>
                        <a:rPr sz="2600" spc="-50" dirty="0">
                          <a:latin typeface="Microsoft Sans Serif"/>
                          <a:cs typeface="Microsoft Sans Serif"/>
                        </a:rPr>
                        <a:t>y</a:t>
                      </a:r>
                      <a:endParaRPr sz="2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2990"/>
                        </a:lnSpc>
                        <a:spcBef>
                          <a:spcPts val="325"/>
                        </a:spcBef>
                      </a:pPr>
                      <a:r>
                        <a:rPr sz="2600" spc="-50" dirty="0">
                          <a:latin typeface="Microsoft Sans Serif"/>
                          <a:cs typeface="Microsoft Sans Serif"/>
                        </a:rPr>
                        <a:t>=</a:t>
                      </a:r>
                      <a:endParaRPr sz="2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990"/>
                        </a:lnSpc>
                        <a:spcBef>
                          <a:spcPts val="325"/>
                        </a:spcBef>
                      </a:pPr>
                      <a:r>
                        <a:rPr sz="26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2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35940" y="3788331"/>
            <a:ext cx="140970" cy="102171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9017" y="3804536"/>
            <a:ext cx="7107555" cy="1420495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2600" spc="55" dirty="0">
                <a:latin typeface="Microsoft Sans Serif"/>
                <a:cs typeface="Microsoft Sans Serif"/>
              </a:rPr>
              <a:t>Together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they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are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spc="-110" dirty="0">
                <a:latin typeface="Microsoft Sans Serif"/>
                <a:cs typeface="Microsoft Sans Serif"/>
              </a:rPr>
              <a:t>a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system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of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linear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equations.</a:t>
            </a:r>
            <a:endParaRPr sz="26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810"/>
              </a:spcBef>
            </a:pPr>
            <a:r>
              <a:rPr sz="2600" spc="-125" dirty="0">
                <a:latin typeface="Microsoft Sans Serif"/>
                <a:cs typeface="Microsoft Sans Serif"/>
              </a:rPr>
              <a:t>Can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you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discover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114" dirty="0">
                <a:latin typeface="Microsoft Sans Serif"/>
                <a:cs typeface="Microsoft Sans Serif"/>
              </a:rPr>
              <a:t>the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values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65" dirty="0">
                <a:latin typeface="Microsoft Sans Serif"/>
                <a:cs typeface="Microsoft Sans Serif"/>
              </a:rPr>
              <a:t>of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x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and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y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yourself? </a:t>
            </a:r>
            <a:r>
              <a:rPr sz="2600" dirty="0">
                <a:latin typeface="Microsoft Sans Serif"/>
                <a:cs typeface="Microsoft Sans Serif"/>
              </a:rPr>
              <a:t>(Just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have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-110" dirty="0">
                <a:latin typeface="Microsoft Sans Serif"/>
                <a:cs typeface="Microsoft Sans Serif"/>
              </a:rPr>
              <a:t>a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go,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play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with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them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-110" dirty="0">
                <a:latin typeface="Microsoft Sans Serif"/>
                <a:cs typeface="Microsoft Sans Serif"/>
              </a:rPr>
              <a:t>a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bit.)</a:t>
            </a:r>
            <a:endParaRPr sz="2600">
              <a:latin typeface="Microsoft Sans Serif"/>
              <a:cs typeface="Microsoft Sans Serif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1597" y="70916"/>
            <a:ext cx="1184757" cy="64800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305560"/>
            <a:chOff x="0" y="0"/>
            <a:chExt cx="9144000" cy="13055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0825" cy="1089025"/>
            </a:xfrm>
            <a:custGeom>
              <a:avLst/>
              <a:gdLst/>
              <a:ahLst/>
              <a:cxnLst/>
              <a:rect l="l" t="t" r="r" b="b"/>
              <a:pathLst>
                <a:path w="9140825" h="1089025">
                  <a:moveTo>
                    <a:pt x="0" y="1088999"/>
                  </a:moveTo>
                  <a:lnTo>
                    <a:pt x="9140761" y="1088999"/>
                  </a:lnTo>
                  <a:lnTo>
                    <a:pt x="9140761" y="0"/>
                  </a:lnTo>
                  <a:lnTo>
                    <a:pt x="0" y="0"/>
                  </a:lnTo>
                  <a:lnTo>
                    <a:pt x="0" y="108899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88999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>
                  <a:moveTo>
                    <a:pt x="9143631" y="0"/>
                  </a:moveTo>
                  <a:lnTo>
                    <a:pt x="0" y="0"/>
                  </a:lnTo>
                  <a:lnTo>
                    <a:pt x="0" y="216001"/>
                  </a:lnTo>
                  <a:lnTo>
                    <a:pt x="9143631" y="216001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01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0"/>
                </a:move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lnTo>
                  <a:pt x="0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System</a:t>
            </a:r>
            <a:r>
              <a:rPr spc="-130" dirty="0"/>
              <a:t> </a:t>
            </a:r>
            <a:r>
              <a:rPr spc="245" dirty="0"/>
              <a:t>of</a:t>
            </a:r>
            <a:r>
              <a:rPr spc="-125" dirty="0"/>
              <a:t> </a:t>
            </a:r>
            <a:r>
              <a:rPr dirty="0"/>
              <a:t>Linear</a:t>
            </a:r>
            <a:r>
              <a:rPr spc="-13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417873"/>
            <a:ext cx="122555" cy="861694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1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1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2858" y="1433723"/>
            <a:ext cx="7519034" cy="4763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450340">
              <a:lnSpc>
                <a:spcPct val="127400"/>
              </a:lnSpc>
              <a:spcBef>
                <a:spcPts val="95"/>
              </a:spcBef>
            </a:pPr>
            <a:r>
              <a:rPr sz="2150" dirty="0">
                <a:latin typeface="Microsoft Sans Serif"/>
                <a:cs typeface="Microsoft Sans Serif"/>
              </a:rPr>
              <a:t>Let's</a:t>
            </a:r>
            <a:r>
              <a:rPr sz="2150" spc="-5" dirty="0">
                <a:latin typeface="Microsoft Sans Serif"/>
                <a:cs typeface="Microsoft Sans Serif"/>
              </a:rPr>
              <a:t> </a:t>
            </a:r>
            <a:r>
              <a:rPr sz="2150" spc="125" dirty="0">
                <a:latin typeface="Microsoft Sans Serif"/>
                <a:cs typeface="Microsoft Sans Serif"/>
              </a:rPr>
              <a:t>try</a:t>
            </a:r>
            <a:r>
              <a:rPr sz="2150" spc="-5" dirty="0">
                <a:latin typeface="Microsoft Sans Serif"/>
                <a:cs typeface="Microsoft Sans Serif"/>
              </a:rPr>
              <a:t> </a:t>
            </a:r>
            <a:r>
              <a:rPr sz="2150" spc="175" dirty="0">
                <a:latin typeface="Microsoft Sans Serif"/>
                <a:cs typeface="Microsoft Sans Serif"/>
              </a:rPr>
              <a:t>to</a:t>
            </a:r>
            <a:r>
              <a:rPr sz="2150" spc="-5" dirty="0">
                <a:latin typeface="Microsoft Sans Serif"/>
                <a:cs typeface="Microsoft Sans Serif"/>
              </a:rPr>
              <a:t> </a:t>
            </a:r>
            <a:r>
              <a:rPr sz="2150" spc="65" dirty="0">
                <a:latin typeface="Microsoft Sans Serif"/>
                <a:cs typeface="Microsoft Sans Serif"/>
              </a:rPr>
              <a:t>build</a:t>
            </a:r>
            <a:r>
              <a:rPr sz="2150" spc="-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and</a:t>
            </a:r>
            <a:r>
              <a:rPr sz="2150" spc="-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solve </a:t>
            </a:r>
            <a:r>
              <a:rPr sz="2150" spc="-80" dirty="0">
                <a:latin typeface="Microsoft Sans Serif"/>
                <a:cs typeface="Microsoft Sans Serif"/>
              </a:rPr>
              <a:t>a</a:t>
            </a:r>
            <a:r>
              <a:rPr sz="2150" spc="-1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real </a:t>
            </a:r>
            <a:r>
              <a:rPr sz="2150" spc="100" dirty="0">
                <a:latin typeface="Microsoft Sans Serif"/>
                <a:cs typeface="Microsoft Sans Serif"/>
              </a:rPr>
              <a:t>world</a:t>
            </a:r>
            <a:r>
              <a:rPr sz="2150" spc="-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example: </a:t>
            </a:r>
            <a:r>
              <a:rPr sz="2150" dirty="0">
                <a:latin typeface="Microsoft Sans Serif"/>
                <a:cs typeface="Microsoft Sans Serif"/>
              </a:rPr>
              <a:t>Example:</a:t>
            </a:r>
            <a:r>
              <a:rPr sz="2150" spc="-9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You</a:t>
            </a:r>
            <a:r>
              <a:rPr sz="2150" spc="-10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versus</a:t>
            </a:r>
            <a:r>
              <a:rPr sz="2150" spc="-10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Horse</a:t>
            </a:r>
            <a:endParaRPr sz="2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150" spc="65" dirty="0">
                <a:latin typeface="Microsoft Sans Serif"/>
                <a:cs typeface="Microsoft Sans Serif"/>
              </a:rPr>
              <a:t>It's</a:t>
            </a:r>
            <a:r>
              <a:rPr sz="2150" spc="-11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</a:t>
            </a:r>
            <a:r>
              <a:rPr sz="2150" spc="-10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race!</a:t>
            </a:r>
            <a:endParaRPr sz="2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150" dirty="0">
                <a:latin typeface="Microsoft Sans Serif"/>
                <a:cs typeface="Microsoft Sans Serif"/>
              </a:rPr>
              <a:t>You</a:t>
            </a:r>
            <a:r>
              <a:rPr sz="2150" spc="-6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can</a:t>
            </a:r>
            <a:r>
              <a:rPr sz="2150" spc="-60" dirty="0">
                <a:latin typeface="Microsoft Sans Serif"/>
                <a:cs typeface="Microsoft Sans Serif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run</a:t>
            </a:r>
            <a:r>
              <a:rPr sz="2150" spc="-6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0.2</a:t>
            </a:r>
            <a:r>
              <a:rPr sz="2150" spc="-50" dirty="0">
                <a:latin typeface="Microsoft Sans Serif"/>
                <a:cs typeface="Microsoft Sans Serif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km</a:t>
            </a:r>
            <a:r>
              <a:rPr sz="2150" spc="-6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every</a:t>
            </a:r>
            <a:r>
              <a:rPr sz="2150" spc="-55" dirty="0">
                <a:latin typeface="Microsoft Sans Serif"/>
                <a:cs typeface="Microsoft Sans Serif"/>
              </a:rPr>
              <a:t> </a:t>
            </a:r>
            <a:r>
              <a:rPr sz="2150" spc="50" dirty="0">
                <a:latin typeface="Microsoft Sans Serif"/>
                <a:cs typeface="Microsoft Sans Serif"/>
              </a:rPr>
              <a:t>minute.</a:t>
            </a:r>
            <a:endParaRPr sz="2150">
              <a:latin typeface="Microsoft Sans Serif"/>
              <a:cs typeface="Microsoft Sans Serif"/>
            </a:endParaRPr>
          </a:p>
          <a:p>
            <a:pPr marL="12700" marR="844550">
              <a:lnSpc>
                <a:spcPct val="101499"/>
              </a:lnSpc>
              <a:spcBef>
                <a:spcPts val="670"/>
              </a:spcBef>
            </a:pPr>
            <a:r>
              <a:rPr sz="2150" dirty="0">
                <a:latin typeface="Microsoft Sans Serif"/>
                <a:cs typeface="Microsoft Sans Serif"/>
              </a:rPr>
              <a:t>The</a:t>
            </a:r>
            <a:r>
              <a:rPr sz="2150" spc="-3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Horse</a:t>
            </a:r>
            <a:r>
              <a:rPr sz="2150" spc="-3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can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run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0.5</a:t>
            </a:r>
            <a:r>
              <a:rPr sz="2150" spc="-35" dirty="0">
                <a:latin typeface="Microsoft Sans Serif"/>
                <a:cs typeface="Microsoft Sans Serif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km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every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spc="60" dirty="0">
                <a:latin typeface="Microsoft Sans Serif"/>
                <a:cs typeface="Microsoft Sans Serif"/>
              </a:rPr>
              <a:t>minute.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spc="90" dirty="0">
                <a:latin typeface="Microsoft Sans Serif"/>
                <a:cs typeface="Microsoft Sans Serif"/>
              </a:rPr>
              <a:t>But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spc="165" dirty="0">
                <a:latin typeface="Microsoft Sans Serif"/>
                <a:cs typeface="Microsoft Sans Serif"/>
              </a:rPr>
              <a:t>it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takes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-50" dirty="0">
                <a:latin typeface="Microsoft Sans Serif"/>
                <a:cs typeface="Microsoft Sans Serif"/>
              </a:rPr>
              <a:t>6 </a:t>
            </a:r>
            <a:r>
              <a:rPr sz="2150" spc="55" dirty="0">
                <a:latin typeface="Microsoft Sans Serif"/>
                <a:cs typeface="Microsoft Sans Serif"/>
              </a:rPr>
              <a:t>minutes</a:t>
            </a:r>
            <a:r>
              <a:rPr sz="2150" spc="-50" dirty="0">
                <a:latin typeface="Microsoft Sans Serif"/>
                <a:cs typeface="Microsoft Sans Serif"/>
              </a:rPr>
              <a:t> </a:t>
            </a:r>
            <a:r>
              <a:rPr sz="2150" spc="180" dirty="0">
                <a:latin typeface="Microsoft Sans Serif"/>
                <a:cs typeface="Microsoft Sans Serif"/>
              </a:rPr>
              <a:t>to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saddle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spc="100" dirty="0">
                <a:latin typeface="Microsoft Sans Serif"/>
                <a:cs typeface="Microsoft Sans Serif"/>
              </a:rPr>
              <a:t>the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horse.</a:t>
            </a:r>
            <a:endParaRPr sz="2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150" spc="60" dirty="0">
                <a:latin typeface="Microsoft Sans Serif"/>
                <a:cs typeface="Microsoft Sans Serif"/>
              </a:rPr>
              <a:t>How</a:t>
            </a:r>
            <a:r>
              <a:rPr sz="2150" spc="-55" dirty="0">
                <a:latin typeface="Microsoft Sans Serif"/>
                <a:cs typeface="Microsoft Sans Serif"/>
              </a:rPr>
              <a:t> </a:t>
            </a:r>
            <a:r>
              <a:rPr sz="2150" spc="95" dirty="0">
                <a:latin typeface="Microsoft Sans Serif"/>
                <a:cs typeface="Microsoft Sans Serif"/>
              </a:rPr>
              <a:t>far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can</a:t>
            </a:r>
            <a:r>
              <a:rPr sz="2150" spc="-3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you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114" dirty="0">
                <a:latin typeface="Microsoft Sans Serif"/>
                <a:cs typeface="Microsoft Sans Serif"/>
              </a:rPr>
              <a:t>get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spc="85" dirty="0">
                <a:latin typeface="Microsoft Sans Serif"/>
                <a:cs typeface="Microsoft Sans Serif"/>
              </a:rPr>
              <a:t>before</a:t>
            </a:r>
            <a:r>
              <a:rPr sz="2150" spc="-35" dirty="0">
                <a:latin typeface="Microsoft Sans Serif"/>
                <a:cs typeface="Microsoft Sans Serif"/>
              </a:rPr>
              <a:t> </a:t>
            </a:r>
            <a:r>
              <a:rPr sz="2150" spc="100" dirty="0">
                <a:latin typeface="Microsoft Sans Serif"/>
                <a:cs typeface="Microsoft Sans Serif"/>
              </a:rPr>
              <a:t>the</a:t>
            </a:r>
            <a:r>
              <a:rPr sz="2150" spc="-3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horse</a:t>
            </a:r>
            <a:r>
              <a:rPr sz="2150" spc="-3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catches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-20" dirty="0">
                <a:latin typeface="Microsoft Sans Serif"/>
                <a:cs typeface="Microsoft Sans Serif"/>
              </a:rPr>
              <a:t>you?</a:t>
            </a:r>
            <a:endParaRPr sz="2150">
              <a:latin typeface="Microsoft Sans Serif"/>
              <a:cs typeface="Microsoft Sans Serif"/>
            </a:endParaRPr>
          </a:p>
          <a:p>
            <a:pPr marL="12700" marR="441959">
              <a:lnSpc>
                <a:spcPct val="101499"/>
              </a:lnSpc>
              <a:spcBef>
                <a:spcPts val="665"/>
              </a:spcBef>
            </a:pPr>
            <a:r>
              <a:rPr sz="2150" dirty="0">
                <a:latin typeface="Microsoft Sans Serif"/>
                <a:cs typeface="Microsoft Sans Serif"/>
              </a:rPr>
              <a:t>We</a:t>
            </a:r>
            <a:r>
              <a:rPr sz="2150" spc="-2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can</a:t>
            </a:r>
            <a:r>
              <a:rPr sz="2150" spc="-3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make</a:t>
            </a:r>
            <a:r>
              <a:rPr sz="2150" spc="-20" dirty="0">
                <a:latin typeface="Microsoft Sans Serif"/>
                <a:cs typeface="Microsoft Sans Serif"/>
              </a:rPr>
              <a:t> </a:t>
            </a:r>
            <a:r>
              <a:rPr sz="2150" spc="160" dirty="0">
                <a:latin typeface="Microsoft Sans Serif"/>
                <a:cs typeface="Microsoft Sans Serif"/>
              </a:rPr>
              <a:t>two</a:t>
            </a:r>
            <a:r>
              <a:rPr sz="2150" spc="-25" dirty="0">
                <a:latin typeface="Microsoft Sans Serif"/>
                <a:cs typeface="Microsoft Sans Serif"/>
              </a:rPr>
              <a:t> </a:t>
            </a:r>
            <a:r>
              <a:rPr sz="2150" spc="45" dirty="0">
                <a:latin typeface="Microsoft Sans Serif"/>
                <a:cs typeface="Microsoft Sans Serif"/>
              </a:rPr>
              <a:t>equations</a:t>
            </a:r>
            <a:r>
              <a:rPr sz="2150" spc="-3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(d=distance</a:t>
            </a:r>
            <a:r>
              <a:rPr sz="2150" spc="-20" dirty="0">
                <a:latin typeface="Microsoft Sans Serif"/>
                <a:cs typeface="Microsoft Sans Serif"/>
              </a:rPr>
              <a:t> </a:t>
            </a:r>
            <a:r>
              <a:rPr sz="2150" spc="50" dirty="0">
                <a:latin typeface="Microsoft Sans Serif"/>
                <a:cs typeface="Microsoft Sans Serif"/>
              </a:rPr>
              <a:t>in</a:t>
            </a:r>
            <a:r>
              <a:rPr sz="2150" spc="-3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km,</a:t>
            </a:r>
            <a:r>
              <a:rPr sz="2150" spc="-25" dirty="0">
                <a:latin typeface="Microsoft Sans Serif"/>
                <a:cs typeface="Microsoft Sans Serif"/>
              </a:rPr>
              <a:t> </a:t>
            </a:r>
            <a:r>
              <a:rPr sz="2150" spc="110" dirty="0">
                <a:latin typeface="Microsoft Sans Serif"/>
                <a:cs typeface="Microsoft Sans Serif"/>
              </a:rPr>
              <a:t>t=time</a:t>
            </a:r>
            <a:r>
              <a:rPr sz="2150" spc="-25" dirty="0">
                <a:latin typeface="Microsoft Sans Serif"/>
                <a:cs typeface="Microsoft Sans Serif"/>
              </a:rPr>
              <a:t> </a:t>
            </a:r>
            <a:r>
              <a:rPr sz="2150" spc="25" dirty="0">
                <a:latin typeface="Microsoft Sans Serif"/>
                <a:cs typeface="Microsoft Sans Serif"/>
              </a:rPr>
              <a:t>in </a:t>
            </a:r>
            <a:r>
              <a:rPr sz="2150" spc="35" dirty="0">
                <a:latin typeface="Microsoft Sans Serif"/>
                <a:cs typeface="Microsoft Sans Serif"/>
              </a:rPr>
              <a:t>minutes)</a:t>
            </a:r>
            <a:endParaRPr sz="2150">
              <a:latin typeface="Microsoft Sans Serif"/>
              <a:cs typeface="Microsoft Sans Serif"/>
            </a:endParaRPr>
          </a:p>
          <a:p>
            <a:pPr marL="348615" indent="-240029">
              <a:lnSpc>
                <a:spcPct val="100000"/>
              </a:lnSpc>
              <a:spcBef>
                <a:spcPts val="620"/>
              </a:spcBef>
              <a:buClr>
                <a:srgbClr val="6697CC"/>
              </a:buClr>
              <a:buFont typeface="Arial"/>
              <a:buChar char="–"/>
              <a:tabLst>
                <a:tab pos="348615" algn="l"/>
              </a:tabLst>
            </a:pPr>
            <a:r>
              <a:rPr sz="2150" dirty="0">
                <a:latin typeface="Microsoft Sans Serif"/>
                <a:cs typeface="Microsoft Sans Serif"/>
              </a:rPr>
              <a:t>You</a:t>
            </a:r>
            <a:r>
              <a:rPr sz="2150" spc="-50" dirty="0">
                <a:latin typeface="Microsoft Sans Serif"/>
                <a:cs typeface="Microsoft Sans Serif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run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95" dirty="0">
                <a:latin typeface="Microsoft Sans Serif"/>
                <a:cs typeface="Microsoft Sans Serif"/>
              </a:rPr>
              <a:t>at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0.2km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every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spc="60" dirty="0">
                <a:latin typeface="Microsoft Sans Serif"/>
                <a:cs typeface="Microsoft Sans Serif"/>
              </a:rPr>
              <a:t>minute,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so</a:t>
            </a:r>
            <a:r>
              <a:rPr sz="2150" spc="-55" dirty="0">
                <a:latin typeface="Microsoft Sans Serif"/>
                <a:cs typeface="Microsoft Sans Serif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d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=</a:t>
            </a:r>
            <a:r>
              <a:rPr sz="2150" spc="-35" dirty="0">
                <a:latin typeface="Microsoft Sans Serif"/>
                <a:cs typeface="Microsoft Sans Serif"/>
              </a:rPr>
              <a:t> </a:t>
            </a:r>
            <a:r>
              <a:rPr sz="2150" spc="40" dirty="0">
                <a:latin typeface="Microsoft Sans Serif"/>
                <a:cs typeface="Microsoft Sans Serif"/>
              </a:rPr>
              <a:t>0.2t</a:t>
            </a:r>
            <a:endParaRPr sz="2150">
              <a:latin typeface="Microsoft Sans Serif"/>
              <a:cs typeface="Microsoft Sans Serif"/>
            </a:endParaRPr>
          </a:p>
          <a:p>
            <a:pPr marL="349250" marR="5080" indent="-240665">
              <a:lnSpc>
                <a:spcPct val="101499"/>
              </a:lnSpc>
              <a:spcBef>
                <a:spcPts val="595"/>
              </a:spcBef>
              <a:buClr>
                <a:srgbClr val="6697CC"/>
              </a:buClr>
              <a:buFont typeface="Arial"/>
              <a:buChar char="–"/>
              <a:tabLst>
                <a:tab pos="349250" algn="l"/>
              </a:tabLst>
            </a:pPr>
            <a:r>
              <a:rPr sz="2150" dirty="0">
                <a:latin typeface="Microsoft Sans Serif"/>
                <a:cs typeface="Microsoft Sans Serif"/>
              </a:rPr>
              <a:t>The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horse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runs</a:t>
            </a:r>
            <a:r>
              <a:rPr sz="2150" spc="-50" dirty="0">
                <a:latin typeface="Microsoft Sans Serif"/>
                <a:cs typeface="Microsoft Sans Serif"/>
              </a:rPr>
              <a:t> </a:t>
            </a:r>
            <a:r>
              <a:rPr sz="2150" spc="95" dirty="0">
                <a:latin typeface="Microsoft Sans Serif"/>
                <a:cs typeface="Microsoft Sans Serif"/>
              </a:rPr>
              <a:t>at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0.5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km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per</a:t>
            </a:r>
            <a:r>
              <a:rPr sz="2150" spc="-55" dirty="0">
                <a:latin typeface="Microsoft Sans Serif"/>
                <a:cs typeface="Microsoft Sans Serif"/>
              </a:rPr>
              <a:t> </a:t>
            </a:r>
            <a:r>
              <a:rPr sz="2150" spc="60" dirty="0">
                <a:latin typeface="Microsoft Sans Serif"/>
                <a:cs typeface="Microsoft Sans Serif"/>
              </a:rPr>
              <a:t>minute,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spc="125" dirty="0">
                <a:latin typeface="Microsoft Sans Serif"/>
                <a:cs typeface="Microsoft Sans Serif"/>
              </a:rPr>
              <a:t>but</a:t>
            </a:r>
            <a:r>
              <a:rPr sz="2150" spc="-50" dirty="0">
                <a:latin typeface="Microsoft Sans Serif"/>
                <a:cs typeface="Microsoft Sans Serif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we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65" dirty="0">
                <a:latin typeface="Microsoft Sans Serif"/>
                <a:cs typeface="Microsoft Sans Serif"/>
              </a:rPr>
              <a:t>take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6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185" dirty="0">
                <a:latin typeface="Microsoft Sans Serif"/>
                <a:cs typeface="Microsoft Sans Serif"/>
              </a:rPr>
              <a:t>off</a:t>
            </a:r>
            <a:r>
              <a:rPr sz="2150" spc="-55" dirty="0">
                <a:latin typeface="Microsoft Sans Serif"/>
                <a:cs typeface="Microsoft Sans Serif"/>
              </a:rPr>
              <a:t> </a:t>
            </a:r>
            <a:r>
              <a:rPr sz="2150" spc="50" dirty="0">
                <a:latin typeface="Microsoft Sans Serif"/>
                <a:cs typeface="Microsoft Sans Serif"/>
              </a:rPr>
              <a:t>its </a:t>
            </a:r>
            <a:r>
              <a:rPr sz="2150" spc="70" dirty="0">
                <a:latin typeface="Microsoft Sans Serif"/>
                <a:cs typeface="Microsoft Sans Serif"/>
              </a:rPr>
              <a:t>time:</a:t>
            </a:r>
            <a:r>
              <a:rPr sz="2150" spc="-75" dirty="0">
                <a:latin typeface="Microsoft Sans Serif"/>
                <a:cs typeface="Microsoft Sans Serif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d</a:t>
            </a:r>
            <a:r>
              <a:rPr sz="2150" spc="-7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=</a:t>
            </a:r>
            <a:r>
              <a:rPr sz="2150" spc="-6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0.5(t−6)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3176180"/>
            <a:ext cx="12255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4344746"/>
            <a:ext cx="12255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305560"/>
            <a:chOff x="0" y="0"/>
            <a:chExt cx="9144000" cy="13055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0825" cy="1089025"/>
            </a:xfrm>
            <a:custGeom>
              <a:avLst/>
              <a:gdLst/>
              <a:ahLst/>
              <a:cxnLst/>
              <a:rect l="l" t="t" r="r" b="b"/>
              <a:pathLst>
                <a:path w="9140825" h="1089025">
                  <a:moveTo>
                    <a:pt x="0" y="1088999"/>
                  </a:moveTo>
                  <a:lnTo>
                    <a:pt x="9140761" y="1088999"/>
                  </a:lnTo>
                  <a:lnTo>
                    <a:pt x="9140761" y="0"/>
                  </a:lnTo>
                  <a:lnTo>
                    <a:pt x="0" y="0"/>
                  </a:lnTo>
                  <a:lnTo>
                    <a:pt x="0" y="108899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88999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>
                  <a:moveTo>
                    <a:pt x="9143631" y="0"/>
                  </a:moveTo>
                  <a:lnTo>
                    <a:pt x="0" y="0"/>
                  </a:lnTo>
                  <a:lnTo>
                    <a:pt x="0" y="216001"/>
                  </a:lnTo>
                  <a:lnTo>
                    <a:pt x="9143631" y="216001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01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0"/>
                </a:move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lnTo>
                  <a:pt x="0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System</a:t>
            </a:r>
            <a:r>
              <a:rPr spc="-130" dirty="0"/>
              <a:t> </a:t>
            </a:r>
            <a:r>
              <a:rPr spc="245" dirty="0"/>
              <a:t>of</a:t>
            </a:r>
            <a:r>
              <a:rPr spc="-125" dirty="0"/>
              <a:t> </a:t>
            </a:r>
            <a:r>
              <a:rPr dirty="0"/>
              <a:t>Linear</a:t>
            </a:r>
            <a:r>
              <a:rPr spc="-13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503616"/>
            <a:ext cx="12192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0343" y="1444371"/>
            <a:ext cx="6256655" cy="1647189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150" spc="-125" dirty="0">
                <a:latin typeface="Microsoft Sans Serif"/>
                <a:cs typeface="Microsoft Sans Serif"/>
              </a:rPr>
              <a:t>So</a:t>
            </a:r>
            <a:r>
              <a:rPr sz="2150" spc="-30" dirty="0">
                <a:latin typeface="Microsoft Sans Serif"/>
                <a:cs typeface="Microsoft Sans Serif"/>
              </a:rPr>
              <a:t> </a:t>
            </a:r>
            <a:r>
              <a:rPr sz="2150" spc="55" dirty="0">
                <a:latin typeface="Microsoft Sans Serif"/>
                <a:cs typeface="Microsoft Sans Serif"/>
              </a:rPr>
              <a:t>we</a:t>
            </a:r>
            <a:r>
              <a:rPr sz="2150" spc="-3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have</a:t>
            </a:r>
            <a:r>
              <a:rPr sz="2150" spc="-30" dirty="0">
                <a:latin typeface="Microsoft Sans Serif"/>
                <a:cs typeface="Microsoft Sans Serif"/>
              </a:rPr>
              <a:t> </a:t>
            </a:r>
            <a:r>
              <a:rPr sz="2150" spc="-90" dirty="0">
                <a:latin typeface="Microsoft Sans Serif"/>
                <a:cs typeface="Microsoft Sans Serif"/>
              </a:rPr>
              <a:t>a</a:t>
            </a:r>
            <a:r>
              <a:rPr sz="2150" spc="-2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system</a:t>
            </a:r>
            <a:r>
              <a:rPr sz="2150" spc="-35" dirty="0">
                <a:latin typeface="Microsoft Sans Serif"/>
                <a:cs typeface="Microsoft Sans Serif"/>
              </a:rPr>
              <a:t> </a:t>
            </a:r>
            <a:r>
              <a:rPr sz="2150" spc="145" dirty="0">
                <a:latin typeface="Microsoft Sans Serif"/>
                <a:cs typeface="Microsoft Sans Serif"/>
              </a:rPr>
              <a:t>of</a:t>
            </a:r>
            <a:r>
              <a:rPr sz="2150" spc="-2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equations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spc="85" dirty="0">
                <a:latin typeface="Microsoft Sans Serif"/>
                <a:cs typeface="Microsoft Sans Serif"/>
              </a:rPr>
              <a:t>(that</a:t>
            </a:r>
            <a:r>
              <a:rPr sz="2150" spc="-3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are</a:t>
            </a:r>
            <a:r>
              <a:rPr sz="2150" spc="-20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linear):</a:t>
            </a:r>
            <a:endParaRPr sz="2150">
              <a:latin typeface="Microsoft Sans Serif"/>
              <a:cs typeface="Microsoft Sans Serif"/>
            </a:endParaRPr>
          </a:p>
          <a:p>
            <a:pPr marL="107950">
              <a:lnSpc>
                <a:spcPct val="100000"/>
              </a:lnSpc>
              <a:spcBef>
                <a:spcPts val="590"/>
              </a:spcBef>
            </a:pPr>
            <a:r>
              <a:rPr sz="3225" baseline="2583" dirty="0">
                <a:solidFill>
                  <a:srgbClr val="6697CC"/>
                </a:solidFill>
                <a:latin typeface="Arial"/>
                <a:cs typeface="Arial"/>
              </a:rPr>
              <a:t>–</a:t>
            </a:r>
            <a:r>
              <a:rPr sz="3225" spc="67" baseline="2583" dirty="0">
                <a:solidFill>
                  <a:srgbClr val="6697CC"/>
                </a:solidFill>
                <a:latin typeface="Arial"/>
                <a:cs typeface="Arial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d</a:t>
            </a:r>
            <a:r>
              <a:rPr sz="2150" spc="-8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=</a:t>
            </a:r>
            <a:r>
              <a:rPr sz="2150" spc="-80" dirty="0">
                <a:latin typeface="Microsoft Sans Serif"/>
                <a:cs typeface="Microsoft Sans Serif"/>
              </a:rPr>
              <a:t> </a:t>
            </a:r>
            <a:r>
              <a:rPr sz="2150" spc="30" dirty="0">
                <a:latin typeface="Microsoft Sans Serif"/>
                <a:cs typeface="Microsoft Sans Serif"/>
              </a:rPr>
              <a:t>0.2t</a:t>
            </a:r>
            <a:endParaRPr sz="2150">
              <a:latin typeface="Microsoft Sans Serif"/>
              <a:cs typeface="Microsoft Sans Serif"/>
            </a:endParaRPr>
          </a:p>
          <a:p>
            <a:pPr marL="107950">
              <a:lnSpc>
                <a:spcPct val="100000"/>
              </a:lnSpc>
              <a:spcBef>
                <a:spcPts val="590"/>
              </a:spcBef>
            </a:pPr>
            <a:r>
              <a:rPr sz="3225" baseline="2583" dirty="0">
                <a:solidFill>
                  <a:srgbClr val="6697CC"/>
                </a:solidFill>
                <a:latin typeface="Arial"/>
                <a:cs typeface="Arial"/>
              </a:rPr>
              <a:t>–</a:t>
            </a:r>
            <a:r>
              <a:rPr sz="3225" spc="67" baseline="2583" dirty="0">
                <a:solidFill>
                  <a:srgbClr val="6697CC"/>
                </a:solidFill>
                <a:latin typeface="Arial"/>
                <a:cs typeface="Arial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d</a:t>
            </a:r>
            <a:r>
              <a:rPr sz="2150" spc="-8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=</a:t>
            </a:r>
            <a:r>
              <a:rPr sz="2150" spc="-80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0.5(t−6)</a:t>
            </a:r>
            <a:endParaRPr sz="2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150" dirty="0">
                <a:latin typeface="Microsoft Sans Serif"/>
                <a:cs typeface="Microsoft Sans Serif"/>
              </a:rPr>
              <a:t>We</a:t>
            </a:r>
            <a:r>
              <a:rPr sz="2150" spc="-65" dirty="0">
                <a:latin typeface="Microsoft Sans Serif"/>
                <a:cs typeface="Microsoft Sans Serif"/>
              </a:rPr>
              <a:t> </a:t>
            </a:r>
            <a:r>
              <a:rPr sz="2150" spc="-35" dirty="0">
                <a:latin typeface="Microsoft Sans Serif"/>
                <a:cs typeface="Microsoft Sans Serif"/>
              </a:rPr>
              <a:t>can</a:t>
            </a:r>
            <a:r>
              <a:rPr sz="2150" spc="-7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solve</a:t>
            </a:r>
            <a:r>
              <a:rPr sz="2150" spc="-75" dirty="0">
                <a:latin typeface="Microsoft Sans Serif"/>
                <a:cs typeface="Microsoft Sans Serif"/>
              </a:rPr>
              <a:t> </a:t>
            </a:r>
            <a:r>
              <a:rPr sz="2150" spc="160" dirty="0">
                <a:latin typeface="Microsoft Sans Serif"/>
                <a:cs typeface="Microsoft Sans Serif"/>
              </a:rPr>
              <a:t>it</a:t>
            </a:r>
            <a:r>
              <a:rPr sz="2150" spc="-75" dirty="0">
                <a:latin typeface="Microsoft Sans Serif"/>
                <a:cs typeface="Microsoft Sans Serif"/>
              </a:rPr>
              <a:t> </a:t>
            </a:r>
            <a:r>
              <a:rPr sz="2150" spc="50" dirty="0">
                <a:latin typeface="Microsoft Sans Serif"/>
                <a:cs typeface="Microsoft Sans Serif"/>
              </a:rPr>
              <a:t>on</a:t>
            </a:r>
            <a:r>
              <a:rPr sz="2150" spc="-70" dirty="0">
                <a:latin typeface="Microsoft Sans Serif"/>
                <a:cs typeface="Microsoft Sans Serif"/>
              </a:rPr>
              <a:t> </a:t>
            </a:r>
            <a:r>
              <a:rPr sz="2150" spc="-90" dirty="0">
                <a:latin typeface="Microsoft Sans Serif"/>
                <a:cs typeface="Microsoft Sans Serif"/>
              </a:rPr>
              <a:t>a</a:t>
            </a:r>
            <a:r>
              <a:rPr sz="2150" spc="-6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graph: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2721495"/>
            <a:ext cx="12192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4374984"/>
            <a:ext cx="12192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940" y="5116944"/>
            <a:ext cx="12192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40" y="5859614"/>
            <a:ext cx="121920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1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0343" y="4389018"/>
            <a:ext cx="7632065" cy="1839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8440">
              <a:lnSpc>
                <a:spcPct val="100400"/>
              </a:lnSpc>
              <a:spcBef>
                <a:spcPts val="100"/>
              </a:spcBef>
            </a:pPr>
            <a:r>
              <a:rPr sz="2150" dirty="0">
                <a:latin typeface="Microsoft Sans Serif"/>
                <a:cs typeface="Microsoft Sans Serif"/>
              </a:rPr>
              <a:t>Do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you</a:t>
            </a:r>
            <a:r>
              <a:rPr sz="2150" spc="-35" dirty="0">
                <a:latin typeface="Microsoft Sans Serif"/>
                <a:cs typeface="Microsoft Sans Serif"/>
              </a:rPr>
              <a:t> </a:t>
            </a:r>
            <a:r>
              <a:rPr sz="2150" spc="-30" dirty="0">
                <a:latin typeface="Microsoft Sans Serif"/>
                <a:cs typeface="Microsoft Sans Serif"/>
              </a:rPr>
              <a:t>see</a:t>
            </a:r>
            <a:r>
              <a:rPr sz="2150" spc="-25" dirty="0">
                <a:latin typeface="Microsoft Sans Serif"/>
                <a:cs typeface="Microsoft Sans Serif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how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spc="90" dirty="0">
                <a:latin typeface="Microsoft Sans Serif"/>
                <a:cs typeface="Microsoft Sans Serif"/>
              </a:rPr>
              <a:t>the</a:t>
            </a:r>
            <a:r>
              <a:rPr sz="2150" spc="-2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horse</a:t>
            </a:r>
            <a:r>
              <a:rPr sz="2150" spc="-25" dirty="0">
                <a:latin typeface="Microsoft Sans Serif"/>
                <a:cs typeface="Microsoft Sans Serif"/>
              </a:rPr>
              <a:t> </a:t>
            </a:r>
            <a:r>
              <a:rPr sz="2150" spc="50" dirty="0">
                <a:latin typeface="Microsoft Sans Serif"/>
                <a:cs typeface="Microsoft Sans Serif"/>
              </a:rPr>
              <a:t>starts</a:t>
            </a:r>
            <a:r>
              <a:rPr sz="2150" spc="-30" dirty="0">
                <a:latin typeface="Microsoft Sans Serif"/>
                <a:cs typeface="Microsoft Sans Serif"/>
              </a:rPr>
              <a:t> </a:t>
            </a:r>
            <a:r>
              <a:rPr sz="2150" spc="85" dirty="0">
                <a:latin typeface="Microsoft Sans Serif"/>
                <a:cs typeface="Microsoft Sans Serif"/>
              </a:rPr>
              <a:t>at</a:t>
            </a:r>
            <a:r>
              <a:rPr sz="2150" spc="-3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6</a:t>
            </a:r>
            <a:r>
              <a:rPr sz="2150" spc="-2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minutes,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spc="120" dirty="0">
                <a:latin typeface="Microsoft Sans Serif"/>
                <a:cs typeface="Microsoft Sans Serif"/>
              </a:rPr>
              <a:t>but</a:t>
            </a:r>
            <a:r>
              <a:rPr sz="2150" spc="-35" dirty="0">
                <a:latin typeface="Microsoft Sans Serif"/>
                <a:cs typeface="Microsoft Sans Serif"/>
              </a:rPr>
              <a:t> </a:t>
            </a:r>
            <a:r>
              <a:rPr sz="2150" spc="75" dirty="0">
                <a:latin typeface="Microsoft Sans Serif"/>
                <a:cs typeface="Microsoft Sans Serif"/>
              </a:rPr>
              <a:t>then</a:t>
            </a:r>
            <a:r>
              <a:rPr sz="2150" spc="-35" dirty="0">
                <a:latin typeface="Microsoft Sans Serif"/>
                <a:cs typeface="Microsoft Sans Serif"/>
              </a:rPr>
              <a:t> </a:t>
            </a:r>
            <a:r>
              <a:rPr sz="2150" spc="-20" dirty="0">
                <a:latin typeface="Microsoft Sans Serif"/>
                <a:cs typeface="Microsoft Sans Serif"/>
              </a:rPr>
              <a:t>runs </a:t>
            </a:r>
            <a:r>
              <a:rPr sz="2150" spc="-10" dirty="0">
                <a:latin typeface="Microsoft Sans Serif"/>
                <a:cs typeface="Microsoft Sans Serif"/>
              </a:rPr>
              <a:t>faster?</a:t>
            </a:r>
            <a:endParaRPr sz="2150">
              <a:latin typeface="Microsoft Sans Serif"/>
              <a:cs typeface="Microsoft Sans Serif"/>
            </a:endParaRPr>
          </a:p>
          <a:p>
            <a:pPr marL="12700" marR="5080">
              <a:lnSpc>
                <a:spcPct val="100400"/>
              </a:lnSpc>
              <a:spcBef>
                <a:spcPts val="670"/>
              </a:spcBef>
            </a:pPr>
            <a:r>
              <a:rPr sz="2150" spc="110" dirty="0">
                <a:latin typeface="Microsoft Sans Serif"/>
                <a:cs typeface="Microsoft Sans Serif"/>
              </a:rPr>
              <a:t>It</a:t>
            </a:r>
            <a:r>
              <a:rPr sz="2150" spc="-20" dirty="0">
                <a:latin typeface="Microsoft Sans Serif"/>
                <a:cs typeface="Microsoft Sans Serif"/>
              </a:rPr>
              <a:t> </a:t>
            </a:r>
            <a:r>
              <a:rPr sz="2150" spc="-25" dirty="0">
                <a:latin typeface="Microsoft Sans Serif"/>
                <a:cs typeface="Microsoft Sans Serif"/>
              </a:rPr>
              <a:t>seems</a:t>
            </a:r>
            <a:r>
              <a:rPr sz="2150" spc="-2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you</a:t>
            </a:r>
            <a:r>
              <a:rPr sz="2150" spc="-15" dirty="0">
                <a:latin typeface="Microsoft Sans Serif"/>
                <a:cs typeface="Microsoft Sans Serif"/>
              </a:rPr>
              <a:t> </a:t>
            </a:r>
            <a:r>
              <a:rPr sz="2150" spc="100" dirty="0">
                <a:latin typeface="Microsoft Sans Serif"/>
                <a:cs typeface="Microsoft Sans Serif"/>
              </a:rPr>
              <a:t>get</a:t>
            </a:r>
            <a:r>
              <a:rPr sz="2150" spc="-2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caught</a:t>
            </a:r>
            <a:r>
              <a:rPr sz="2150" spc="-25" dirty="0">
                <a:latin typeface="Microsoft Sans Serif"/>
                <a:cs typeface="Microsoft Sans Serif"/>
              </a:rPr>
              <a:t> </a:t>
            </a:r>
            <a:r>
              <a:rPr sz="2150" spc="100" dirty="0">
                <a:latin typeface="Microsoft Sans Serif"/>
                <a:cs typeface="Microsoft Sans Serif"/>
              </a:rPr>
              <a:t>after</a:t>
            </a:r>
            <a:r>
              <a:rPr sz="2150" spc="-2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10</a:t>
            </a:r>
            <a:r>
              <a:rPr sz="2150" spc="-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minutes</a:t>
            </a:r>
            <a:r>
              <a:rPr sz="2150" spc="-20" dirty="0">
                <a:latin typeface="Microsoft Sans Serif"/>
                <a:cs typeface="Microsoft Sans Serif"/>
              </a:rPr>
              <a:t> </a:t>
            </a:r>
            <a:r>
              <a:rPr sz="2150" spc="-85" dirty="0">
                <a:latin typeface="Microsoft Sans Serif"/>
                <a:cs typeface="Microsoft Sans Serif"/>
              </a:rPr>
              <a:t>...</a:t>
            </a:r>
            <a:r>
              <a:rPr sz="2150" spc="-1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you</a:t>
            </a:r>
            <a:r>
              <a:rPr sz="2150" spc="-20" dirty="0">
                <a:latin typeface="Microsoft Sans Serif"/>
                <a:cs typeface="Microsoft Sans Serif"/>
              </a:rPr>
              <a:t> </a:t>
            </a:r>
            <a:r>
              <a:rPr sz="2150" spc="50" dirty="0">
                <a:latin typeface="Microsoft Sans Serif"/>
                <a:cs typeface="Microsoft Sans Serif"/>
              </a:rPr>
              <a:t>only</a:t>
            </a:r>
            <a:r>
              <a:rPr sz="2150" spc="-20" dirty="0">
                <a:latin typeface="Microsoft Sans Serif"/>
                <a:cs typeface="Microsoft Sans Serif"/>
              </a:rPr>
              <a:t> </a:t>
            </a:r>
            <a:r>
              <a:rPr sz="2150" spc="125" dirty="0">
                <a:latin typeface="Microsoft Sans Serif"/>
                <a:cs typeface="Microsoft Sans Serif"/>
              </a:rPr>
              <a:t>got</a:t>
            </a:r>
            <a:r>
              <a:rPr sz="2150" spc="-1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2</a:t>
            </a:r>
            <a:r>
              <a:rPr sz="2150" spc="-5" dirty="0">
                <a:latin typeface="Microsoft Sans Serif"/>
                <a:cs typeface="Microsoft Sans Serif"/>
              </a:rPr>
              <a:t> </a:t>
            </a:r>
            <a:r>
              <a:rPr sz="2150" spc="25" dirty="0">
                <a:latin typeface="Microsoft Sans Serif"/>
                <a:cs typeface="Microsoft Sans Serif"/>
              </a:rPr>
              <a:t>km </a:t>
            </a:r>
            <a:r>
              <a:rPr sz="2150" spc="-10" dirty="0">
                <a:latin typeface="Microsoft Sans Serif"/>
                <a:cs typeface="Microsoft Sans Serif"/>
              </a:rPr>
              <a:t>away.</a:t>
            </a:r>
            <a:endParaRPr sz="21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150" spc="-40" dirty="0">
                <a:latin typeface="Microsoft Sans Serif"/>
                <a:cs typeface="Microsoft Sans Serif"/>
              </a:rPr>
              <a:t>Run</a:t>
            </a:r>
            <a:r>
              <a:rPr sz="2150" spc="-70" dirty="0">
                <a:latin typeface="Microsoft Sans Serif"/>
                <a:cs typeface="Microsoft Sans Serif"/>
              </a:rPr>
              <a:t> </a:t>
            </a:r>
            <a:r>
              <a:rPr sz="2150" spc="60" dirty="0">
                <a:latin typeface="Microsoft Sans Serif"/>
                <a:cs typeface="Microsoft Sans Serif"/>
              </a:rPr>
              <a:t>faster</a:t>
            </a:r>
            <a:r>
              <a:rPr sz="2150" spc="-75" dirty="0">
                <a:latin typeface="Microsoft Sans Serif"/>
                <a:cs typeface="Microsoft Sans Serif"/>
              </a:rPr>
              <a:t> </a:t>
            </a:r>
            <a:r>
              <a:rPr sz="2150" spc="80" dirty="0">
                <a:latin typeface="Microsoft Sans Serif"/>
                <a:cs typeface="Microsoft Sans Serif"/>
              </a:rPr>
              <a:t>next</a:t>
            </a:r>
            <a:r>
              <a:rPr sz="2150" spc="-70" dirty="0">
                <a:latin typeface="Microsoft Sans Serif"/>
                <a:cs typeface="Microsoft Sans Serif"/>
              </a:rPr>
              <a:t> </a:t>
            </a:r>
            <a:r>
              <a:rPr sz="2150" spc="50" dirty="0">
                <a:latin typeface="Microsoft Sans Serif"/>
                <a:cs typeface="Microsoft Sans Serif"/>
              </a:rPr>
              <a:t>time.</a:t>
            </a:r>
            <a:endParaRPr sz="2150">
              <a:latin typeface="Microsoft Sans Serif"/>
              <a:cs typeface="Microsoft Sans Serif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3639" y="2591650"/>
            <a:ext cx="3114357" cy="141875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305560"/>
            <a:chOff x="0" y="0"/>
            <a:chExt cx="9144000" cy="13055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0825" cy="1089025"/>
            </a:xfrm>
            <a:custGeom>
              <a:avLst/>
              <a:gdLst/>
              <a:ahLst/>
              <a:cxnLst/>
              <a:rect l="l" t="t" r="r" b="b"/>
              <a:pathLst>
                <a:path w="9140825" h="1089025">
                  <a:moveTo>
                    <a:pt x="0" y="1088999"/>
                  </a:moveTo>
                  <a:lnTo>
                    <a:pt x="9140761" y="1088999"/>
                  </a:lnTo>
                  <a:lnTo>
                    <a:pt x="9140761" y="0"/>
                  </a:lnTo>
                  <a:lnTo>
                    <a:pt x="0" y="0"/>
                  </a:lnTo>
                  <a:lnTo>
                    <a:pt x="0" y="108899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88999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>
                  <a:moveTo>
                    <a:pt x="9143631" y="0"/>
                  </a:moveTo>
                  <a:lnTo>
                    <a:pt x="0" y="0"/>
                  </a:lnTo>
                  <a:lnTo>
                    <a:pt x="0" y="216001"/>
                  </a:lnTo>
                  <a:lnTo>
                    <a:pt x="9143631" y="216001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01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0"/>
                </a:move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lnTo>
                  <a:pt x="0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System</a:t>
            </a:r>
            <a:r>
              <a:rPr spc="-130" dirty="0"/>
              <a:t> </a:t>
            </a:r>
            <a:r>
              <a:rPr spc="245" dirty="0"/>
              <a:t>of</a:t>
            </a:r>
            <a:r>
              <a:rPr spc="-125" dirty="0"/>
              <a:t> </a:t>
            </a:r>
            <a:r>
              <a:rPr dirty="0"/>
              <a:t>Linear</a:t>
            </a:r>
            <a:r>
              <a:rPr spc="-13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402466"/>
            <a:ext cx="139065" cy="100076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25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5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1105" y="1417591"/>
            <a:ext cx="7353934" cy="4809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800"/>
              </a:lnSpc>
              <a:spcBef>
                <a:spcPts val="100"/>
              </a:spcBef>
            </a:pPr>
            <a:r>
              <a:rPr sz="2550" dirty="0">
                <a:latin typeface="Microsoft Sans Serif"/>
                <a:cs typeface="Microsoft Sans Serif"/>
              </a:rPr>
              <a:t>There</a:t>
            </a:r>
            <a:r>
              <a:rPr sz="2550" spc="-50" dirty="0">
                <a:latin typeface="Microsoft Sans Serif"/>
                <a:cs typeface="Microsoft Sans Serif"/>
              </a:rPr>
              <a:t> </a:t>
            </a:r>
            <a:r>
              <a:rPr sz="2550" spc="-40" dirty="0">
                <a:latin typeface="Microsoft Sans Serif"/>
                <a:cs typeface="Microsoft Sans Serif"/>
              </a:rPr>
              <a:t>can</a:t>
            </a:r>
            <a:r>
              <a:rPr sz="2550" spc="-7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be</a:t>
            </a:r>
            <a:r>
              <a:rPr sz="2550" spc="-5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many</a:t>
            </a:r>
            <a:r>
              <a:rPr sz="2550" spc="-50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ways</a:t>
            </a:r>
            <a:r>
              <a:rPr sz="2550" spc="-50" dirty="0">
                <a:latin typeface="Microsoft Sans Serif"/>
                <a:cs typeface="Microsoft Sans Serif"/>
              </a:rPr>
              <a:t> </a:t>
            </a:r>
            <a:r>
              <a:rPr sz="2550" spc="195" dirty="0">
                <a:latin typeface="Microsoft Sans Serif"/>
                <a:cs typeface="Microsoft Sans Serif"/>
              </a:rPr>
              <a:t>to</a:t>
            </a:r>
            <a:r>
              <a:rPr sz="2550" spc="-5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solve</a:t>
            </a:r>
            <a:r>
              <a:rPr sz="2550" spc="-5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linear</a:t>
            </a:r>
            <a:r>
              <a:rPr sz="2550" spc="-50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equations! </a:t>
            </a:r>
            <a:r>
              <a:rPr sz="2550" spc="70" dirty="0">
                <a:latin typeface="Microsoft Sans Serif"/>
                <a:cs typeface="Microsoft Sans Serif"/>
              </a:rPr>
              <a:t>Let</a:t>
            </a:r>
            <a:r>
              <a:rPr sz="2550" spc="-105" dirty="0">
                <a:latin typeface="Microsoft Sans Serif"/>
                <a:cs typeface="Microsoft Sans Serif"/>
              </a:rPr>
              <a:t> </a:t>
            </a:r>
            <a:r>
              <a:rPr sz="2550" spc="-30" dirty="0">
                <a:latin typeface="Microsoft Sans Serif"/>
                <a:cs typeface="Microsoft Sans Serif"/>
              </a:rPr>
              <a:t>us</a:t>
            </a:r>
            <a:r>
              <a:rPr sz="2550" spc="-110" dirty="0">
                <a:latin typeface="Microsoft Sans Serif"/>
                <a:cs typeface="Microsoft Sans Serif"/>
              </a:rPr>
              <a:t> </a:t>
            </a:r>
            <a:r>
              <a:rPr sz="2550" spc="-35" dirty="0">
                <a:latin typeface="Microsoft Sans Serif"/>
                <a:cs typeface="Microsoft Sans Serif"/>
              </a:rPr>
              <a:t>see</a:t>
            </a:r>
            <a:r>
              <a:rPr sz="2550" spc="-100" dirty="0">
                <a:latin typeface="Microsoft Sans Serif"/>
                <a:cs typeface="Microsoft Sans Serif"/>
              </a:rPr>
              <a:t> </a:t>
            </a:r>
            <a:r>
              <a:rPr sz="2550" spc="70" dirty="0">
                <a:latin typeface="Microsoft Sans Serif"/>
                <a:cs typeface="Microsoft Sans Serif"/>
              </a:rPr>
              <a:t>another</a:t>
            </a:r>
            <a:r>
              <a:rPr sz="2550" spc="-114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example:</a:t>
            </a:r>
            <a:endParaRPr sz="2550">
              <a:latin typeface="Microsoft Sans Serif"/>
              <a:cs typeface="Microsoft Sans Serif"/>
            </a:endParaRPr>
          </a:p>
          <a:p>
            <a:pPr marL="12700" marR="1958339">
              <a:lnSpc>
                <a:spcPts val="3850"/>
              </a:lnSpc>
              <a:spcBef>
                <a:spcPts val="245"/>
              </a:spcBef>
            </a:pPr>
            <a:r>
              <a:rPr sz="2550" spc="-20" dirty="0">
                <a:latin typeface="Microsoft Sans Serif"/>
                <a:cs typeface="Microsoft Sans Serif"/>
              </a:rPr>
              <a:t>Example:</a:t>
            </a:r>
            <a:r>
              <a:rPr sz="2550" spc="-50" dirty="0">
                <a:latin typeface="Microsoft Sans Serif"/>
                <a:cs typeface="Microsoft Sans Serif"/>
              </a:rPr>
              <a:t> </a:t>
            </a:r>
            <a:r>
              <a:rPr sz="2550" spc="-30" dirty="0">
                <a:latin typeface="Microsoft Sans Serif"/>
                <a:cs typeface="Microsoft Sans Serif"/>
              </a:rPr>
              <a:t>Solve</a:t>
            </a:r>
            <a:r>
              <a:rPr sz="2550" spc="-5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these</a:t>
            </a:r>
            <a:r>
              <a:rPr sz="2550" spc="-35" dirty="0">
                <a:latin typeface="Microsoft Sans Serif"/>
                <a:cs typeface="Microsoft Sans Serif"/>
              </a:rPr>
              <a:t> </a:t>
            </a:r>
            <a:r>
              <a:rPr sz="2550" spc="170" dirty="0">
                <a:latin typeface="Microsoft Sans Serif"/>
                <a:cs typeface="Microsoft Sans Serif"/>
              </a:rPr>
              <a:t>two</a:t>
            </a:r>
            <a:r>
              <a:rPr sz="2550" spc="-25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equations: </a:t>
            </a:r>
            <a:r>
              <a:rPr sz="2550" dirty="0">
                <a:latin typeface="Microsoft Sans Serif"/>
                <a:cs typeface="Microsoft Sans Serif"/>
              </a:rPr>
              <a:t>system</a:t>
            </a:r>
            <a:r>
              <a:rPr sz="2550" spc="13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linear</a:t>
            </a:r>
            <a:r>
              <a:rPr sz="2550" spc="12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equations</a:t>
            </a:r>
            <a:r>
              <a:rPr sz="2550" spc="130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graph</a:t>
            </a:r>
            <a:endParaRPr sz="2550">
              <a:latin typeface="Microsoft Sans Serif"/>
              <a:cs typeface="Microsoft Sans Serif"/>
            </a:endParaRPr>
          </a:p>
          <a:p>
            <a:pPr marL="237490">
              <a:lnSpc>
                <a:spcPct val="100000"/>
              </a:lnSpc>
              <a:spcBef>
                <a:spcPts val="520"/>
              </a:spcBef>
            </a:pPr>
            <a:r>
              <a:rPr sz="2550" dirty="0">
                <a:latin typeface="Microsoft Sans Serif"/>
                <a:cs typeface="Microsoft Sans Serif"/>
              </a:rPr>
              <a:t>x</a:t>
            </a:r>
            <a:r>
              <a:rPr sz="2550" spc="-12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+</a:t>
            </a:r>
            <a:r>
              <a:rPr sz="2550" spc="-114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y</a:t>
            </a:r>
            <a:r>
              <a:rPr sz="2550" spc="-114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=</a:t>
            </a:r>
            <a:r>
              <a:rPr sz="2550" spc="-120" dirty="0">
                <a:latin typeface="Microsoft Sans Serif"/>
                <a:cs typeface="Microsoft Sans Serif"/>
              </a:rPr>
              <a:t> </a:t>
            </a:r>
            <a:r>
              <a:rPr sz="2550" spc="-50" dirty="0">
                <a:latin typeface="Microsoft Sans Serif"/>
                <a:cs typeface="Microsoft Sans Serif"/>
              </a:rPr>
              <a:t>6</a:t>
            </a:r>
            <a:endParaRPr sz="2550">
              <a:latin typeface="Microsoft Sans Serif"/>
              <a:cs typeface="Microsoft Sans Serif"/>
            </a:endParaRPr>
          </a:p>
          <a:p>
            <a:pPr marL="236854">
              <a:lnSpc>
                <a:spcPct val="100000"/>
              </a:lnSpc>
              <a:spcBef>
                <a:spcPts val="785"/>
              </a:spcBef>
            </a:pPr>
            <a:r>
              <a:rPr sz="2550" dirty="0">
                <a:latin typeface="Microsoft Sans Serif"/>
                <a:cs typeface="Microsoft Sans Serif"/>
              </a:rPr>
              <a:t>−3x</a:t>
            </a:r>
            <a:r>
              <a:rPr sz="2550" spc="-13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+</a:t>
            </a:r>
            <a:r>
              <a:rPr sz="2550" spc="-12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y</a:t>
            </a:r>
            <a:r>
              <a:rPr sz="2550" spc="-12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=</a:t>
            </a:r>
            <a:r>
              <a:rPr sz="2550" spc="-125" dirty="0">
                <a:latin typeface="Microsoft Sans Serif"/>
                <a:cs typeface="Microsoft Sans Serif"/>
              </a:rPr>
              <a:t> </a:t>
            </a:r>
            <a:r>
              <a:rPr sz="2550" spc="-50" dirty="0">
                <a:latin typeface="Microsoft Sans Serif"/>
                <a:cs typeface="Microsoft Sans Serif"/>
              </a:rPr>
              <a:t>2</a:t>
            </a:r>
            <a:endParaRPr sz="2550">
              <a:latin typeface="Microsoft Sans Serif"/>
              <a:cs typeface="Microsoft Sans Serif"/>
            </a:endParaRPr>
          </a:p>
          <a:p>
            <a:pPr marL="12700" marR="833119">
              <a:lnSpc>
                <a:spcPct val="125499"/>
              </a:lnSpc>
              <a:spcBef>
                <a:spcPts val="5"/>
              </a:spcBef>
            </a:pPr>
            <a:r>
              <a:rPr sz="2550" spc="-10" dirty="0">
                <a:latin typeface="Microsoft Sans Serif"/>
                <a:cs typeface="Microsoft Sans Serif"/>
              </a:rPr>
              <a:t>The</a:t>
            </a:r>
            <a:r>
              <a:rPr sz="2550" spc="-20" dirty="0">
                <a:latin typeface="Microsoft Sans Serif"/>
                <a:cs typeface="Microsoft Sans Serif"/>
              </a:rPr>
              <a:t> </a:t>
            </a:r>
            <a:r>
              <a:rPr sz="2550" spc="170" dirty="0">
                <a:latin typeface="Microsoft Sans Serif"/>
                <a:cs typeface="Microsoft Sans Serif"/>
              </a:rPr>
              <a:t>two</a:t>
            </a:r>
            <a:r>
              <a:rPr sz="2550" spc="-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equations</a:t>
            </a:r>
            <a:r>
              <a:rPr sz="2550" spc="-2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are</a:t>
            </a:r>
            <a:r>
              <a:rPr sz="2550" spc="-1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shown</a:t>
            </a:r>
            <a:r>
              <a:rPr sz="2550" spc="-15" dirty="0">
                <a:latin typeface="Microsoft Sans Serif"/>
                <a:cs typeface="Microsoft Sans Serif"/>
              </a:rPr>
              <a:t> </a:t>
            </a:r>
            <a:r>
              <a:rPr sz="2550" spc="60" dirty="0">
                <a:latin typeface="Microsoft Sans Serif"/>
                <a:cs typeface="Microsoft Sans Serif"/>
              </a:rPr>
              <a:t>on</a:t>
            </a:r>
            <a:r>
              <a:rPr sz="2550" spc="-20" dirty="0">
                <a:latin typeface="Microsoft Sans Serif"/>
                <a:cs typeface="Microsoft Sans Serif"/>
              </a:rPr>
              <a:t> </a:t>
            </a:r>
            <a:r>
              <a:rPr sz="2550" spc="65" dirty="0">
                <a:latin typeface="Microsoft Sans Serif"/>
                <a:cs typeface="Microsoft Sans Serif"/>
              </a:rPr>
              <a:t>this</a:t>
            </a:r>
            <a:r>
              <a:rPr sz="2550" spc="-20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graph: </a:t>
            </a:r>
            <a:r>
              <a:rPr sz="2550" spc="50" dirty="0">
                <a:latin typeface="Microsoft Sans Serif"/>
                <a:cs typeface="Microsoft Sans Serif"/>
              </a:rPr>
              <a:t>Our</a:t>
            </a:r>
            <a:r>
              <a:rPr sz="2550" spc="-8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task</a:t>
            </a:r>
            <a:r>
              <a:rPr sz="2550" spc="-80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is</a:t>
            </a:r>
            <a:r>
              <a:rPr sz="2550" spc="-75" dirty="0">
                <a:latin typeface="Microsoft Sans Serif"/>
                <a:cs typeface="Microsoft Sans Serif"/>
              </a:rPr>
              <a:t> </a:t>
            </a:r>
            <a:r>
              <a:rPr sz="2550" spc="195" dirty="0">
                <a:latin typeface="Microsoft Sans Serif"/>
                <a:cs typeface="Microsoft Sans Serif"/>
              </a:rPr>
              <a:t>to</a:t>
            </a:r>
            <a:r>
              <a:rPr sz="2550" spc="-75" dirty="0">
                <a:latin typeface="Microsoft Sans Serif"/>
                <a:cs typeface="Microsoft Sans Serif"/>
              </a:rPr>
              <a:t> </a:t>
            </a:r>
            <a:r>
              <a:rPr sz="2550" spc="114" dirty="0">
                <a:latin typeface="Microsoft Sans Serif"/>
                <a:cs typeface="Microsoft Sans Serif"/>
              </a:rPr>
              <a:t>find</a:t>
            </a:r>
            <a:r>
              <a:rPr sz="2550" spc="-80" dirty="0">
                <a:latin typeface="Microsoft Sans Serif"/>
                <a:cs typeface="Microsoft Sans Serif"/>
              </a:rPr>
              <a:t> </a:t>
            </a:r>
            <a:r>
              <a:rPr sz="2550" spc="55" dirty="0">
                <a:latin typeface="Microsoft Sans Serif"/>
                <a:cs typeface="Microsoft Sans Serif"/>
              </a:rPr>
              <a:t>where</a:t>
            </a:r>
            <a:r>
              <a:rPr sz="2550" spc="-75" dirty="0">
                <a:latin typeface="Microsoft Sans Serif"/>
                <a:cs typeface="Microsoft Sans Serif"/>
              </a:rPr>
              <a:t> </a:t>
            </a:r>
            <a:r>
              <a:rPr sz="2550" spc="114" dirty="0">
                <a:latin typeface="Microsoft Sans Serif"/>
                <a:cs typeface="Microsoft Sans Serif"/>
              </a:rPr>
              <a:t>the</a:t>
            </a:r>
            <a:r>
              <a:rPr sz="2550" spc="-85" dirty="0">
                <a:latin typeface="Microsoft Sans Serif"/>
                <a:cs typeface="Microsoft Sans Serif"/>
              </a:rPr>
              <a:t> </a:t>
            </a:r>
            <a:r>
              <a:rPr sz="2550" spc="175" dirty="0">
                <a:latin typeface="Microsoft Sans Serif"/>
                <a:cs typeface="Microsoft Sans Serif"/>
              </a:rPr>
              <a:t>two</a:t>
            </a:r>
            <a:r>
              <a:rPr sz="2550" spc="-7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lines</a:t>
            </a:r>
            <a:r>
              <a:rPr sz="2550" spc="-80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cross.</a:t>
            </a:r>
            <a:endParaRPr sz="2550">
              <a:latin typeface="Microsoft Sans Serif"/>
              <a:cs typeface="Microsoft Sans Serif"/>
            </a:endParaRPr>
          </a:p>
          <a:p>
            <a:pPr marL="12700" marR="119380">
              <a:lnSpc>
                <a:spcPct val="100400"/>
              </a:lnSpc>
              <a:spcBef>
                <a:spcPts val="770"/>
              </a:spcBef>
            </a:pPr>
            <a:r>
              <a:rPr sz="2550" dirty="0">
                <a:latin typeface="Microsoft Sans Serif"/>
                <a:cs typeface="Microsoft Sans Serif"/>
              </a:rPr>
              <a:t>Well,</a:t>
            </a:r>
            <a:r>
              <a:rPr sz="2550" spc="-110" dirty="0">
                <a:latin typeface="Microsoft Sans Serif"/>
                <a:cs typeface="Microsoft Sans Serif"/>
              </a:rPr>
              <a:t> </a:t>
            </a:r>
            <a:r>
              <a:rPr sz="2550" spc="65" dirty="0">
                <a:latin typeface="Microsoft Sans Serif"/>
                <a:cs typeface="Microsoft Sans Serif"/>
              </a:rPr>
              <a:t>we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-40" dirty="0">
                <a:latin typeface="Microsoft Sans Serif"/>
                <a:cs typeface="Microsoft Sans Serif"/>
              </a:rPr>
              <a:t>can</a:t>
            </a:r>
            <a:r>
              <a:rPr sz="2550" spc="-100" dirty="0">
                <a:latin typeface="Microsoft Sans Serif"/>
                <a:cs typeface="Microsoft Sans Serif"/>
              </a:rPr>
              <a:t> </a:t>
            </a:r>
            <a:r>
              <a:rPr sz="2550" spc="-35" dirty="0">
                <a:latin typeface="Microsoft Sans Serif"/>
                <a:cs typeface="Microsoft Sans Serif"/>
              </a:rPr>
              <a:t>see</a:t>
            </a:r>
            <a:r>
              <a:rPr sz="2550" spc="-100" dirty="0">
                <a:latin typeface="Microsoft Sans Serif"/>
                <a:cs typeface="Microsoft Sans Serif"/>
              </a:rPr>
              <a:t> </a:t>
            </a:r>
            <a:r>
              <a:rPr sz="2550" spc="55" dirty="0">
                <a:latin typeface="Microsoft Sans Serif"/>
                <a:cs typeface="Microsoft Sans Serif"/>
              </a:rPr>
              <a:t>where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80" dirty="0">
                <a:latin typeface="Microsoft Sans Serif"/>
                <a:cs typeface="Microsoft Sans Serif"/>
              </a:rPr>
              <a:t>they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-40" dirty="0">
                <a:latin typeface="Microsoft Sans Serif"/>
                <a:cs typeface="Microsoft Sans Serif"/>
              </a:rPr>
              <a:t>cross,</a:t>
            </a:r>
            <a:r>
              <a:rPr sz="2550" spc="-11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so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170" dirty="0">
                <a:latin typeface="Microsoft Sans Serif"/>
                <a:cs typeface="Microsoft Sans Serif"/>
              </a:rPr>
              <a:t>it</a:t>
            </a:r>
            <a:r>
              <a:rPr sz="2550" spc="-85" dirty="0">
                <a:latin typeface="Microsoft Sans Serif"/>
                <a:cs typeface="Microsoft Sans Serif"/>
              </a:rPr>
              <a:t> </a:t>
            </a:r>
            <a:r>
              <a:rPr sz="2550" spc="-20" dirty="0">
                <a:latin typeface="Microsoft Sans Serif"/>
                <a:cs typeface="Microsoft Sans Serif"/>
              </a:rPr>
              <a:t>is</a:t>
            </a:r>
            <a:r>
              <a:rPr sz="2550" spc="-105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already </a:t>
            </a:r>
            <a:r>
              <a:rPr sz="2550" dirty="0">
                <a:latin typeface="Microsoft Sans Serif"/>
                <a:cs typeface="Microsoft Sans Serif"/>
              </a:rPr>
              <a:t>solved</a:t>
            </a:r>
            <a:r>
              <a:rPr sz="2550" spc="40" dirty="0">
                <a:latin typeface="Microsoft Sans Serif"/>
                <a:cs typeface="Microsoft Sans Serif"/>
              </a:rPr>
              <a:t> </a:t>
            </a:r>
            <a:r>
              <a:rPr sz="2550" spc="-10" dirty="0">
                <a:latin typeface="Microsoft Sans Serif"/>
                <a:cs typeface="Microsoft Sans Serif"/>
              </a:rPr>
              <a:t>graphically.</a:t>
            </a:r>
            <a:endParaRPr sz="25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4331060"/>
            <a:ext cx="139065" cy="148971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25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5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5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09675" y="2141283"/>
            <a:ext cx="1390319" cy="3114357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System</a:t>
            </a:r>
            <a:r>
              <a:rPr spc="-130" dirty="0"/>
              <a:t> </a:t>
            </a:r>
            <a:r>
              <a:rPr spc="245" dirty="0"/>
              <a:t>of</a:t>
            </a:r>
            <a:r>
              <a:rPr spc="-125" dirty="0"/>
              <a:t> </a:t>
            </a:r>
            <a:r>
              <a:rPr dirty="0"/>
              <a:t>Linear</a:t>
            </a:r>
            <a:r>
              <a:rPr spc="-13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1102"/>
            <a:ext cx="139065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105" y="1517662"/>
            <a:ext cx="7619365" cy="363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550" spc="50" dirty="0">
                <a:latin typeface="Microsoft Sans Serif"/>
                <a:cs typeface="Microsoft Sans Serif"/>
              </a:rPr>
              <a:t>How</a:t>
            </a:r>
            <a:r>
              <a:rPr sz="2550" spc="-65" dirty="0">
                <a:latin typeface="Microsoft Sans Serif"/>
                <a:cs typeface="Microsoft Sans Serif"/>
              </a:rPr>
              <a:t> </a:t>
            </a:r>
            <a:r>
              <a:rPr sz="2550" spc="195" dirty="0">
                <a:latin typeface="Microsoft Sans Serif"/>
                <a:cs typeface="Microsoft Sans Serif"/>
              </a:rPr>
              <a:t>to</a:t>
            </a:r>
            <a:r>
              <a:rPr sz="2550" spc="-8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solve</a:t>
            </a:r>
            <a:r>
              <a:rPr sz="2550" spc="-85" dirty="0">
                <a:latin typeface="Microsoft Sans Serif"/>
                <a:cs typeface="Microsoft Sans Serif"/>
              </a:rPr>
              <a:t> </a:t>
            </a:r>
            <a:r>
              <a:rPr sz="2550" spc="-20" dirty="0">
                <a:latin typeface="Microsoft Sans Serif"/>
                <a:cs typeface="Microsoft Sans Serif"/>
              </a:rPr>
              <a:t>this?</a:t>
            </a:r>
            <a:r>
              <a:rPr sz="2550" spc="-8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There</a:t>
            </a:r>
            <a:r>
              <a:rPr sz="2550" spc="-75" dirty="0">
                <a:latin typeface="Microsoft Sans Serif"/>
                <a:cs typeface="Microsoft Sans Serif"/>
              </a:rPr>
              <a:t> </a:t>
            </a:r>
            <a:r>
              <a:rPr sz="2550" spc="-45" dirty="0">
                <a:latin typeface="Microsoft Sans Serif"/>
                <a:cs typeface="Microsoft Sans Serif"/>
              </a:rPr>
              <a:t>can</a:t>
            </a:r>
            <a:r>
              <a:rPr sz="2550" spc="-8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be</a:t>
            </a:r>
            <a:r>
              <a:rPr sz="2550" spc="-8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many</a:t>
            </a:r>
            <a:r>
              <a:rPr sz="2550" spc="-75" dirty="0">
                <a:latin typeface="Microsoft Sans Serif"/>
                <a:cs typeface="Microsoft Sans Serif"/>
              </a:rPr>
              <a:t> </a:t>
            </a:r>
            <a:r>
              <a:rPr sz="2550" spc="-20" dirty="0">
                <a:latin typeface="Microsoft Sans Serif"/>
                <a:cs typeface="Microsoft Sans Serif"/>
              </a:rPr>
              <a:t>ways!</a:t>
            </a:r>
            <a:r>
              <a:rPr sz="2550" spc="-8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In</a:t>
            </a:r>
            <a:r>
              <a:rPr sz="2550" spc="-85" dirty="0">
                <a:latin typeface="Microsoft Sans Serif"/>
                <a:cs typeface="Microsoft Sans Serif"/>
              </a:rPr>
              <a:t> </a:t>
            </a:r>
            <a:r>
              <a:rPr sz="2550" spc="45" dirty="0">
                <a:latin typeface="Microsoft Sans Serif"/>
                <a:cs typeface="Microsoft Sans Serif"/>
              </a:rPr>
              <a:t>this </a:t>
            </a:r>
            <a:r>
              <a:rPr sz="2550" spc="-75" dirty="0">
                <a:latin typeface="Microsoft Sans Serif"/>
                <a:cs typeface="Microsoft Sans Serif"/>
              </a:rPr>
              <a:t>case</a:t>
            </a:r>
            <a:r>
              <a:rPr sz="2550" spc="-55" dirty="0">
                <a:latin typeface="Microsoft Sans Serif"/>
                <a:cs typeface="Microsoft Sans Serif"/>
              </a:rPr>
              <a:t> </a:t>
            </a:r>
            <a:r>
              <a:rPr sz="2550" spc="125" dirty="0">
                <a:latin typeface="Microsoft Sans Serif"/>
                <a:cs typeface="Microsoft Sans Serif"/>
              </a:rPr>
              <a:t>both</a:t>
            </a:r>
            <a:r>
              <a:rPr sz="2550" spc="-5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equations</a:t>
            </a:r>
            <a:r>
              <a:rPr sz="2550" spc="-5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have</a:t>
            </a:r>
            <a:r>
              <a:rPr sz="2550" spc="-50" dirty="0">
                <a:latin typeface="Microsoft Sans Serif"/>
                <a:cs typeface="Microsoft Sans Serif"/>
              </a:rPr>
              <a:t> </a:t>
            </a:r>
            <a:r>
              <a:rPr sz="2550" spc="100" dirty="0">
                <a:latin typeface="Microsoft Sans Serif"/>
                <a:cs typeface="Microsoft Sans Serif"/>
              </a:rPr>
              <a:t>"y"</a:t>
            </a:r>
            <a:r>
              <a:rPr sz="2550" spc="-5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so</a:t>
            </a:r>
            <a:r>
              <a:rPr sz="2550" spc="-40" dirty="0">
                <a:latin typeface="Microsoft Sans Serif"/>
                <a:cs typeface="Microsoft Sans Serif"/>
              </a:rPr>
              <a:t> </a:t>
            </a:r>
            <a:r>
              <a:rPr sz="2550" spc="75" dirty="0">
                <a:latin typeface="Microsoft Sans Serif"/>
                <a:cs typeface="Microsoft Sans Serif"/>
              </a:rPr>
              <a:t>let's</a:t>
            </a:r>
            <a:r>
              <a:rPr sz="2550" spc="-50" dirty="0">
                <a:latin typeface="Microsoft Sans Serif"/>
                <a:cs typeface="Microsoft Sans Serif"/>
              </a:rPr>
              <a:t> </a:t>
            </a:r>
            <a:r>
              <a:rPr sz="2550" spc="140" dirty="0">
                <a:latin typeface="Microsoft Sans Serif"/>
                <a:cs typeface="Microsoft Sans Serif"/>
              </a:rPr>
              <a:t>try</a:t>
            </a:r>
            <a:r>
              <a:rPr sz="2550" spc="-50" dirty="0">
                <a:latin typeface="Microsoft Sans Serif"/>
                <a:cs typeface="Microsoft Sans Serif"/>
              </a:rPr>
              <a:t> </a:t>
            </a:r>
            <a:r>
              <a:rPr sz="2550" spc="50" dirty="0">
                <a:latin typeface="Microsoft Sans Serif"/>
                <a:cs typeface="Microsoft Sans Serif"/>
              </a:rPr>
              <a:t>subtracting </a:t>
            </a:r>
            <a:r>
              <a:rPr sz="2550" spc="114" dirty="0">
                <a:latin typeface="Microsoft Sans Serif"/>
                <a:cs typeface="Microsoft Sans Serif"/>
              </a:rPr>
              <a:t>the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75" dirty="0">
                <a:latin typeface="Microsoft Sans Serif"/>
                <a:cs typeface="Microsoft Sans Serif"/>
              </a:rPr>
              <a:t>whole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second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spc="60" dirty="0">
                <a:latin typeface="Microsoft Sans Serif"/>
                <a:cs typeface="Microsoft Sans Serif"/>
              </a:rPr>
              <a:t>equation</a:t>
            </a:r>
            <a:r>
              <a:rPr sz="2550" spc="-85" dirty="0">
                <a:latin typeface="Microsoft Sans Serif"/>
                <a:cs typeface="Microsoft Sans Serif"/>
              </a:rPr>
              <a:t> </a:t>
            </a:r>
            <a:r>
              <a:rPr sz="2550" spc="130" dirty="0">
                <a:latin typeface="Microsoft Sans Serif"/>
                <a:cs typeface="Microsoft Sans Serif"/>
              </a:rPr>
              <a:t>from</a:t>
            </a:r>
            <a:r>
              <a:rPr sz="2550" spc="-80" dirty="0">
                <a:latin typeface="Microsoft Sans Serif"/>
                <a:cs typeface="Microsoft Sans Serif"/>
              </a:rPr>
              <a:t> </a:t>
            </a:r>
            <a:r>
              <a:rPr sz="2550" spc="114" dirty="0">
                <a:latin typeface="Microsoft Sans Serif"/>
                <a:cs typeface="Microsoft Sans Serif"/>
              </a:rPr>
              <a:t>the</a:t>
            </a:r>
            <a:r>
              <a:rPr sz="2550" spc="-85" dirty="0">
                <a:latin typeface="Microsoft Sans Serif"/>
                <a:cs typeface="Microsoft Sans Serif"/>
              </a:rPr>
              <a:t> </a:t>
            </a:r>
            <a:r>
              <a:rPr sz="2550" spc="80" dirty="0">
                <a:latin typeface="Microsoft Sans Serif"/>
                <a:cs typeface="Microsoft Sans Serif"/>
              </a:rPr>
              <a:t>first:</a:t>
            </a:r>
            <a:endParaRPr sz="25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550" dirty="0">
                <a:latin typeface="Microsoft Sans Serif"/>
                <a:cs typeface="Microsoft Sans Serif"/>
              </a:rPr>
              <a:t>x</a:t>
            </a:r>
            <a:r>
              <a:rPr sz="2550" spc="-12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+</a:t>
            </a:r>
            <a:r>
              <a:rPr sz="2550" spc="-12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y</a:t>
            </a:r>
            <a:r>
              <a:rPr sz="2550" spc="-13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−</a:t>
            </a:r>
            <a:r>
              <a:rPr sz="2550" spc="-13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(−3x</a:t>
            </a:r>
            <a:r>
              <a:rPr sz="2550" spc="-12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+</a:t>
            </a:r>
            <a:r>
              <a:rPr sz="2550" spc="-12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y)</a:t>
            </a:r>
            <a:r>
              <a:rPr sz="2550" spc="-12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=</a:t>
            </a:r>
            <a:r>
              <a:rPr sz="2550" spc="-14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6</a:t>
            </a:r>
            <a:r>
              <a:rPr sz="2550" spc="-12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−</a:t>
            </a:r>
            <a:r>
              <a:rPr sz="2550" spc="-125" dirty="0">
                <a:latin typeface="Microsoft Sans Serif"/>
                <a:cs typeface="Microsoft Sans Serif"/>
              </a:rPr>
              <a:t> </a:t>
            </a:r>
            <a:r>
              <a:rPr sz="2550" spc="-60" dirty="0">
                <a:latin typeface="Microsoft Sans Serif"/>
                <a:cs typeface="Microsoft Sans Serif"/>
              </a:rPr>
              <a:t>2</a:t>
            </a:r>
            <a:endParaRPr sz="25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550" spc="75" dirty="0">
                <a:latin typeface="Microsoft Sans Serif"/>
                <a:cs typeface="Microsoft Sans Serif"/>
              </a:rPr>
              <a:t>Now</a:t>
            </a:r>
            <a:r>
              <a:rPr sz="2550" spc="-100" dirty="0">
                <a:latin typeface="Microsoft Sans Serif"/>
                <a:cs typeface="Microsoft Sans Serif"/>
              </a:rPr>
              <a:t> </a:t>
            </a:r>
            <a:r>
              <a:rPr sz="2550" spc="135" dirty="0">
                <a:latin typeface="Microsoft Sans Serif"/>
                <a:cs typeface="Microsoft Sans Serif"/>
              </a:rPr>
              <a:t>let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-30" dirty="0">
                <a:latin typeface="Microsoft Sans Serif"/>
                <a:cs typeface="Microsoft Sans Serif"/>
              </a:rPr>
              <a:t>us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55" dirty="0">
                <a:latin typeface="Microsoft Sans Serif"/>
                <a:cs typeface="Microsoft Sans Serif"/>
              </a:rPr>
              <a:t>simplify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65" dirty="0">
                <a:latin typeface="Microsoft Sans Serif"/>
                <a:cs typeface="Microsoft Sans Serif"/>
              </a:rPr>
              <a:t>it:</a:t>
            </a:r>
            <a:endParaRPr sz="2550">
              <a:latin typeface="Microsoft Sans Serif"/>
              <a:cs typeface="Microsoft Sans Serif"/>
            </a:endParaRPr>
          </a:p>
          <a:p>
            <a:pPr marL="12700" marR="4736465">
              <a:lnSpc>
                <a:spcPct val="125400"/>
              </a:lnSpc>
              <a:spcBef>
                <a:spcPts val="15"/>
              </a:spcBef>
            </a:pPr>
            <a:r>
              <a:rPr sz="2550" dirty="0">
                <a:latin typeface="Microsoft Sans Serif"/>
                <a:cs typeface="Microsoft Sans Serif"/>
              </a:rPr>
              <a:t>x</a:t>
            </a:r>
            <a:r>
              <a:rPr sz="2550" spc="-11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+</a:t>
            </a:r>
            <a:r>
              <a:rPr sz="2550" spc="-114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y</a:t>
            </a:r>
            <a:r>
              <a:rPr sz="2550" spc="-12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+</a:t>
            </a:r>
            <a:r>
              <a:rPr sz="2550" spc="-114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3x</a:t>
            </a:r>
            <a:r>
              <a:rPr sz="2550" spc="-10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−</a:t>
            </a:r>
            <a:r>
              <a:rPr sz="2550" spc="-114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y</a:t>
            </a:r>
            <a:r>
              <a:rPr sz="2550" spc="-114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=</a:t>
            </a:r>
            <a:r>
              <a:rPr sz="2550" spc="-11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6</a:t>
            </a:r>
            <a:r>
              <a:rPr sz="2550" spc="-12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−</a:t>
            </a:r>
            <a:r>
              <a:rPr sz="2550" spc="-110" dirty="0">
                <a:latin typeface="Microsoft Sans Serif"/>
                <a:cs typeface="Microsoft Sans Serif"/>
              </a:rPr>
              <a:t> </a:t>
            </a:r>
            <a:r>
              <a:rPr sz="2550" spc="-50" dirty="0">
                <a:latin typeface="Microsoft Sans Serif"/>
                <a:cs typeface="Microsoft Sans Serif"/>
              </a:rPr>
              <a:t>2 </a:t>
            </a:r>
            <a:r>
              <a:rPr sz="2550" dirty="0">
                <a:latin typeface="Microsoft Sans Serif"/>
                <a:cs typeface="Microsoft Sans Serif"/>
              </a:rPr>
              <a:t>4x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=</a:t>
            </a:r>
            <a:r>
              <a:rPr sz="2550" spc="-95" dirty="0">
                <a:latin typeface="Microsoft Sans Serif"/>
                <a:cs typeface="Microsoft Sans Serif"/>
              </a:rPr>
              <a:t> </a:t>
            </a:r>
            <a:r>
              <a:rPr sz="2550" spc="-50" dirty="0">
                <a:latin typeface="Microsoft Sans Serif"/>
                <a:cs typeface="Microsoft Sans Serif"/>
              </a:rPr>
              <a:t>4</a:t>
            </a:r>
            <a:endParaRPr sz="25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550" dirty="0">
                <a:latin typeface="Microsoft Sans Serif"/>
                <a:cs typeface="Microsoft Sans Serif"/>
              </a:rPr>
              <a:t>x</a:t>
            </a:r>
            <a:r>
              <a:rPr sz="2550" spc="-10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=</a:t>
            </a:r>
            <a:r>
              <a:rPr sz="2550" spc="-105" dirty="0">
                <a:latin typeface="Microsoft Sans Serif"/>
                <a:cs typeface="Microsoft Sans Serif"/>
              </a:rPr>
              <a:t> </a:t>
            </a:r>
            <a:r>
              <a:rPr sz="2550" spc="-50" dirty="0">
                <a:latin typeface="Microsoft Sans Serif"/>
                <a:cs typeface="Microsoft Sans Serif"/>
              </a:rPr>
              <a:t>1</a:t>
            </a:r>
            <a:endParaRPr sz="25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255022"/>
            <a:ext cx="139065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5694375"/>
            <a:ext cx="139065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105" y="5712383"/>
            <a:ext cx="5698490" cy="41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-150" dirty="0">
                <a:latin typeface="Microsoft Sans Serif"/>
                <a:cs typeface="Microsoft Sans Serif"/>
              </a:rPr>
              <a:t>So</a:t>
            </a:r>
            <a:r>
              <a:rPr sz="2550" spc="-85" dirty="0">
                <a:latin typeface="Microsoft Sans Serif"/>
                <a:cs typeface="Microsoft Sans Serif"/>
              </a:rPr>
              <a:t> </a:t>
            </a:r>
            <a:r>
              <a:rPr sz="2550" spc="80" dirty="0">
                <a:latin typeface="Microsoft Sans Serif"/>
                <a:cs typeface="Microsoft Sans Serif"/>
              </a:rPr>
              <a:t>now</a:t>
            </a:r>
            <a:r>
              <a:rPr sz="2550" spc="-75" dirty="0">
                <a:latin typeface="Microsoft Sans Serif"/>
                <a:cs typeface="Microsoft Sans Serif"/>
              </a:rPr>
              <a:t> </a:t>
            </a:r>
            <a:r>
              <a:rPr sz="2550" spc="70" dirty="0">
                <a:latin typeface="Microsoft Sans Serif"/>
                <a:cs typeface="Microsoft Sans Serif"/>
              </a:rPr>
              <a:t>we</a:t>
            </a:r>
            <a:r>
              <a:rPr sz="2550" spc="-90" dirty="0">
                <a:latin typeface="Microsoft Sans Serif"/>
                <a:cs typeface="Microsoft Sans Serif"/>
              </a:rPr>
              <a:t> </a:t>
            </a:r>
            <a:r>
              <a:rPr sz="2550" spc="80" dirty="0">
                <a:latin typeface="Microsoft Sans Serif"/>
                <a:cs typeface="Microsoft Sans Serif"/>
              </a:rPr>
              <a:t>know</a:t>
            </a:r>
            <a:r>
              <a:rPr sz="2550" spc="-75" dirty="0">
                <a:latin typeface="Microsoft Sans Serif"/>
                <a:cs typeface="Microsoft Sans Serif"/>
              </a:rPr>
              <a:t> </a:t>
            </a:r>
            <a:r>
              <a:rPr sz="2550" spc="114" dirty="0">
                <a:latin typeface="Microsoft Sans Serif"/>
                <a:cs typeface="Microsoft Sans Serif"/>
              </a:rPr>
              <a:t>the</a:t>
            </a:r>
            <a:r>
              <a:rPr sz="2550" spc="-85" dirty="0">
                <a:latin typeface="Microsoft Sans Serif"/>
                <a:cs typeface="Microsoft Sans Serif"/>
              </a:rPr>
              <a:t> </a:t>
            </a:r>
            <a:r>
              <a:rPr sz="2550" dirty="0">
                <a:latin typeface="Microsoft Sans Serif"/>
                <a:cs typeface="Microsoft Sans Serif"/>
              </a:rPr>
              <a:t>lines</a:t>
            </a:r>
            <a:r>
              <a:rPr sz="2550" spc="-85" dirty="0">
                <a:latin typeface="Microsoft Sans Serif"/>
                <a:cs typeface="Microsoft Sans Serif"/>
              </a:rPr>
              <a:t> </a:t>
            </a:r>
            <a:r>
              <a:rPr sz="2550" spc="-25" dirty="0">
                <a:latin typeface="Microsoft Sans Serif"/>
                <a:cs typeface="Microsoft Sans Serif"/>
              </a:rPr>
              <a:t>cross</a:t>
            </a:r>
            <a:r>
              <a:rPr sz="2550" spc="-80" dirty="0">
                <a:latin typeface="Microsoft Sans Serif"/>
                <a:cs typeface="Microsoft Sans Serif"/>
              </a:rPr>
              <a:t> </a:t>
            </a:r>
            <a:r>
              <a:rPr sz="2550" spc="105" dirty="0">
                <a:latin typeface="Microsoft Sans Serif"/>
                <a:cs typeface="Microsoft Sans Serif"/>
              </a:rPr>
              <a:t>at</a:t>
            </a:r>
            <a:r>
              <a:rPr sz="2550" spc="-85" dirty="0">
                <a:latin typeface="Microsoft Sans Serif"/>
                <a:cs typeface="Microsoft Sans Serif"/>
              </a:rPr>
              <a:t> </a:t>
            </a:r>
            <a:r>
              <a:rPr sz="2550" spc="-20" dirty="0">
                <a:latin typeface="Microsoft Sans Serif"/>
                <a:cs typeface="Microsoft Sans Serif"/>
              </a:rPr>
              <a:t>x=1.</a:t>
            </a:r>
            <a:endParaRPr sz="25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System</a:t>
            </a:r>
            <a:r>
              <a:rPr spc="-130" dirty="0"/>
              <a:t> </a:t>
            </a:r>
            <a:r>
              <a:rPr spc="245" dirty="0"/>
              <a:t>of</a:t>
            </a:r>
            <a:r>
              <a:rPr spc="-125" dirty="0"/>
              <a:t> </a:t>
            </a:r>
            <a:r>
              <a:rPr dirty="0"/>
              <a:t>Linear</a:t>
            </a:r>
            <a:r>
              <a:rPr spc="-130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2987" rIns="0" bIns="0" rtlCol="0">
            <a:spAutoFit/>
          </a:bodyPr>
          <a:lstStyle/>
          <a:p>
            <a:pPr marL="88900" marR="5080">
              <a:lnSpc>
                <a:spcPct val="100099"/>
              </a:lnSpc>
              <a:spcBef>
                <a:spcPts val="95"/>
              </a:spcBef>
            </a:pPr>
            <a:r>
              <a:rPr dirty="0"/>
              <a:t>And</a:t>
            </a:r>
            <a:r>
              <a:rPr spc="-80" dirty="0"/>
              <a:t> </a:t>
            </a:r>
            <a:r>
              <a:rPr spc="65" dirty="0"/>
              <a:t>we</a:t>
            </a:r>
            <a:r>
              <a:rPr spc="-80" dirty="0"/>
              <a:t> </a:t>
            </a:r>
            <a:r>
              <a:rPr spc="-45" dirty="0"/>
              <a:t>can</a:t>
            </a:r>
            <a:r>
              <a:rPr spc="-70" dirty="0"/>
              <a:t> </a:t>
            </a:r>
            <a:r>
              <a:rPr spc="114" dirty="0"/>
              <a:t>find</a:t>
            </a:r>
            <a:r>
              <a:rPr spc="-70" dirty="0"/>
              <a:t> </a:t>
            </a:r>
            <a:r>
              <a:rPr spc="110" dirty="0"/>
              <a:t>the</a:t>
            </a:r>
            <a:r>
              <a:rPr spc="-80" dirty="0"/>
              <a:t> </a:t>
            </a:r>
            <a:r>
              <a:rPr spc="45" dirty="0"/>
              <a:t>matching</a:t>
            </a:r>
            <a:r>
              <a:rPr spc="-85" dirty="0"/>
              <a:t> </a:t>
            </a:r>
            <a:r>
              <a:rPr dirty="0"/>
              <a:t>value</a:t>
            </a:r>
            <a:r>
              <a:rPr spc="-80" dirty="0"/>
              <a:t> </a:t>
            </a:r>
            <a:r>
              <a:rPr spc="165" dirty="0"/>
              <a:t>of</a:t>
            </a:r>
            <a:r>
              <a:rPr spc="-75" dirty="0"/>
              <a:t> </a:t>
            </a:r>
            <a:r>
              <a:rPr dirty="0"/>
              <a:t>y</a:t>
            </a:r>
            <a:r>
              <a:rPr spc="-70" dirty="0"/>
              <a:t> </a:t>
            </a:r>
            <a:r>
              <a:rPr spc="-10" dirty="0"/>
              <a:t>using </a:t>
            </a:r>
            <a:r>
              <a:rPr spc="85" dirty="0"/>
              <a:t>either</a:t>
            </a:r>
            <a:r>
              <a:rPr spc="-45" dirty="0"/>
              <a:t> </a:t>
            </a:r>
            <a:r>
              <a:rPr spc="170" dirty="0"/>
              <a:t>of</a:t>
            </a:r>
            <a:r>
              <a:rPr spc="-40" dirty="0"/>
              <a:t> </a:t>
            </a:r>
            <a:r>
              <a:rPr spc="110" dirty="0"/>
              <a:t>the</a:t>
            </a:r>
            <a:r>
              <a:rPr spc="-45" dirty="0"/>
              <a:t> </a:t>
            </a:r>
            <a:r>
              <a:rPr spc="170" dirty="0"/>
              <a:t>two</a:t>
            </a:r>
            <a:r>
              <a:rPr spc="-40" dirty="0"/>
              <a:t> </a:t>
            </a:r>
            <a:r>
              <a:rPr spc="55" dirty="0"/>
              <a:t>original</a:t>
            </a:r>
            <a:r>
              <a:rPr spc="-40" dirty="0"/>
              <a:t> </a:t>
            </a:r>
            <a:r>
              <a:rPr dirty="0"/>
              <a:t>equations</a:t>
            </a:r>
            <a:r>
              <a:rPr spc="-35" dirty="0"/>
              <a:t> </a:t>
            </a:r>
            <a:r>
              <a:rPr spc="-30" dirty="0"/>
              <a:t>(because</a:t>
            </a:r>
            <a:r>
              <a:rPr spc="-35" dirty="0"/>
              <a:t> </a:t>
            </a:r>
            <a:r>
              <a:rPr spc="40" dirty="0"/>
              <a:t>we </a:t>
            </a:r>
            <a:r>
              <a:rPr spc="65" dirty="0"/>
              <a:t>know</a:t>
            </a:r>
            <a:r>
              <a:rPr spc="-65" dirty="0"/>
              <a:t> </a:t>
            </a:r>
            <a:r>
              <a:rPr spc="80" dirty="0"/>
              <a:t>they</a:t>
            </a:r>
            <a:r>
              <a:rPr spc="-60" dirty="0"/>
              <a:t> </a:t>
            </a:r>
            <a:r>
              <a:rPr spc="-10" dirty="0"/>
              <a:t>have</a:t>
            </a:r>
            <a:r>
              <a:rPr spc="-75" dirty="0"/>
              <a:t> </a:t>
            </a:r>
            <a:r>
              <a:rPr spc="114" dirty="0"/>
              <a:t>the</a:t>
            </a:r>
            <a:r>
              <a:rPr spc="-70" dirty="0"/>
              <a:t> </a:t>
            </a:r>
            <a:r>
              <a:rPr spc="-45" dirty="0"/>
              <a:t>same</a:t>
            </a:r>
            <a:r>
              <a:rPr spc="-75" dirty="0"/>
              <a:t> </a:t>
            </a:r>
            <a:r>
              <a:rPr dirty="0"/>
              <a:t>value</a:t>
            </a:r>
            <a:r>
              <a:rPr spc="-60" dirty="0"/>
              <a:t> </a:t>
            </a:r>
            <a:r>
              <a:rPr spc="100" dirty="0"/>
              <a:t>at</a:t>
            </a:r>
            <a:r>
              <a:rPr spc="-70" dirty="0"/>
              <a:t> </a:t>
            </a:r>
            <a:r>
              <a:rPr spc="-25" dirty="0"/>
              <a:t>x=1).</a:t>
            </a:r>
            <a:r>
              <a:rPr spc="-80" dirty="0"/>
              <a:t> </a:t>
            </a:r>
            <a:r>
              <a:rPr dirty="0"/>
              <a:t>Let's</a:t>
            </a:r>
            <a:r>
              <a:rPr spc="-75" dirty="0"/>
              <a:t> </a:t>
            </a:r>
            <a:r>
              <a:rPr spc="-25" dirty="0"/>
              <a:t>use </a:t>
            </a:r>
            <a:r>
              <a:rPr spc="110" dirty="0"/>
              <a:t>the</a:t>
            </a:r>
            <a:r>
              <a:rPr spc="-75" dirty="0"/>
              <a:t> </a:t>
            </a:r>
            <a:r>
              <a:rPr spc="130" dirty="0"/>
              <a:t>first</a:t>
            </a:r>
            <a:r>
              <a:rPr spc="-70" dirty="0"/>
              <a:t> </a:t>
            </a:r>
            <a:r>
              <a:rPr dirty="0"/>
              <a:t>one</a:t>
            </a:r>
            <a:r>
              <a:rPr spc="-65" dirty="0"/>
              <a:t> </a:t>
            </a:r>
            <a:r>
              <a:rPr dirty="0"/>
              <a:t>(you</a:t>
            </a:r>
            <a:r>
              <a:rPr spc="-65" dirty="0"/>
              <a:t> </a:t>
            </a:r>
            <a:r>
              <a:rPr spc="-45" dirty="0"/>
              <a:t>can</a:t>
            </a:r>
            <a:r>
              <a:rPr spc="-65" dirty="0"/>
              <a:t> </a:t>
            </a:r>
            <a:r>
              <a:rPr spc="140" dirty="0"/>
              <a:t>try</a:t>
            </a:r>
            <a:r>
              <a:rPr spc="-60" dirty="0"/>
              <a:t> </a:t>
            </a:r>
            <a:r>
              <a:rPr spc="110" dirty="0"/>
              <a:t>the</a:t>
            </a:r>
            <a:r>
              <a:rPr spc="-75" dirty="0"/>
              <a:t> </a:t>
            </a:r>
            <a:r>
              <a:rPr dirty="0"/>
              <a:t>second</a:t>
            </a:r>
            <a:r>
              <a:rPr spc="-65" dirty="0"/>
              <a:t> </a:t>
            </a:r>
            <a:r>
              <a:rPr dirty="0"/>
              <a:t>one</a:t>
            </a:r>
            <a:r>
              <a:rPr spc="-65" dirty="0"/>
              <a:t> </a:t>
            </a:r>
            <a:r>
              <a:rPr spc="-10" dirty="0"/>
              <a:t>yourself):</a:t>
            </a:r>
          </a:p>
          <a:p>
            <a:pPr marL="88900" marR="6323965">
              <a:lnSpc>
                <a:spcPts val="3929"/>
              </a:lnSpc>
              <a:spcBef>
                <a:spcPts val="254"/>
              </a:spcBef>
            </a:pPr>
            <a:r>
              <a:rPr dirty="0"/>
              <a:t>x</a:t>
            </a:r>
            <a:r>
              <a:rPr spc="-125" dirty="0"/>
              <a:t> </a:t>
            </a:r>
            <a:r>
              <a:rPr dirty="0"/>
              <a:t>+</a:t>
            </a:r>
            <a:r>
              <a:rPr spc="-114" dirty="0"/>
              <a:t> </a:t>
            </a:r>
            <a:r>
              <a:rPr dirty="0"/>
              <a:t>y</a:t>
            </a:r>
            <a:r>
              <a:rPr spc="-125" dirty="0"/>
              <a:t> </a:t>
            </a:r>
            <a:r>
              <a:rPr dirty="0"/>
              <a:t>=</a:t>
            </a:r>
            <a:r>
              <a:rPr spc="-114" dirty="0"/>
              <a:t> </a:t>
            </a:r>
            <a:r>
              <a:rPr spc="-50" dirty="0"/>
              <a:t>6 </a:t>
            </a:r>
            <a:r>
              <a:rPr dirty="0"/>
              <a:t>1</a:t>
            </a:r>
            <a:r>
              <a:rPr spc="-130" dirty="0"/>
              <a:t> </a:t>
            </a:r>
            <a:r>
              <a:rPr dirty="0"/>
              <a:t>+</a:t>
            </a:r>
            <a:r>
              <a:rPr spc="-125" dirty="0"/>
              <a:t> </a:t>
            </a:r>
            <a:r>
              <a:rPr dirty="0"/>
              <a:t>y</a:t>
            </a:r>
            <a:r>
              <a:rPr spc="-125" dirty="0"/>
              <a:t> </a:t>
            </a:r>
            <a:r>
              <a:rPr dirty="0"/>
              <a:t>=</a:t>
            </a:r>
            <a:r>
              <a:rPr spc="-125" dirty="0"/>
              <a:t> </a:t>
            </a:r>
            <a:r>
              <a:rPr spc="-50" dirty="0"/>
              <a:t>6</a:t>
            </a:r>
          </a:p>
          <a:p>
            <a:pPr marL="88900">
              <a:lnSpc>
                <a:spcPct val="100000"/>
              </a:lnSpc>
              <a:spcBef>
                <a:spcPts val="535"/>
              </a:spcBef>
            </a:pPr>
            <a:r>
              <a:rPr dirty="0"/>
              <a:t>y</a:t>
            </a:r>
            <a:r>
              <a:rPr spc="-135" dirty="0"/>
              <a:t> </a:t>
            </a:r>
            <a:r>
              <a:rPr dirty="0"/>
              <a:t>=</a:t>
            </a:r>
            <a:r>
              <a:rPr spc="-130" dirty="0"/>
              <a:t> </a:t>
            </a:r>
            <a:r>
              <a:rPr spc="-50" dirty="0"/>
              <a:t>5</a:t>
            </a:r>
          </a:p>
          <a:p>
            <a:pPr marL="88900">
              <a:lnSpc>
                <a:spcPct val="100000"/>
              </a:lnSpc>
              <a:spcBef>
                <a:spcPts val="800"/>
              </a:spcBef>
            </a:pPr>
            <a:r>
              <a:rPr dirty="0"/>
              <a:t>And</a:t>
            </a:r>
            <a:r>
              <a:rPr spc="-55" dirty="0"/>
              <a:t> </a:t>
            </a:r>
            <a:r>
              <a:rPr spc="114" dirty="0"/>
              <a:t>the</a:t>
            </a:r>
            <a:r>
              <a:rPr spc="-55" dirty="0"/>
              <a:t> </a:t>
            </a:r>
            <a:r>
              <a:rPr spc="65" dirty="0"/>
              <a:t>solution</a:t>
            </a:r>
            <a:r>
              <a:rPr spc="-35" dirty="0"/>
              <a:t> </a:t>
            </a:r>
            <a:r>
              <a:rPr spc="-25" dirty="0"/>
              <a:t>is:</a:t>
            </a:r>
          </a:p>
          <a:p>
            <a:pPr marL="2812415">
              <a:lnSpc>
                <a:spcPct val="100000"/>
              </a:lnSpc>
              <a:spcBef>
                <a:spcPts val="810"/>
              </a:spcBef>
            </a:pPr>
            <a:r>
              <a:rPr dirty="0"/>
              <a:t>x</a:t>
            </a:r>
            <a:r>
              <a:rPr spc="-110" dirty="0"/>
              <a:t> </a:t>
            </a:r>
            <a:r>
              <a:rPr dirty="0"/>
              <a:t>=</a:t>
            </a:r>
            <a:r>
              <a:rPr spc="-105" dirty="0"/>
              <a:t> </a:t>
            </a:r>
            <a:r>
              <a:rPr dirty="0"/>
              <a:t>1</a:t>
            </a:r>
            <a:r>
              <a:rPr spc="-114" dirty="0"/>
              <a:t> </a:t>
            </a:r>
            <a:r>
              <a:rPr dirty="0"/>
              <a:t>and</a:t>
            </a:r>
            <a:r>
              <a:rPr spc="-105" dirty="0"/>
              <a:t> </a:t>
            </a:r>
            <a:r>
              <a:rPr dirty="0"/>
              <a:t>y</a:t>
            </a:r>
            <a:r>
              <a:rPr spc="-100" dirty="0"/>
              <a:t> </a:t>
            </a:r>
            <a:r>
              <a:rPr dirty="0"/>
              <a:t>=</a:t>
            </a:r>
            <a:r>
              <a:rPr spc="-110" dirty="0"/>
              <a:t> </a:t>
            </a:r>
            <a:r>
              <a:rPr spc="-50" dirty="0"/>
              <a:t>5</a:t>
            </a:r>
          </a:p>
          <a:p>
            <a:pPr marL="88900">
              <a:lnSpc>
                <a:spcPct val="100000"/>
              </a:lnSpc>
              <a:spcBef>
                <a:spcPts val="800"/>
              </a:spcBef>
            </a:pPr>
            <a:r>
              <a:rPr dirty="0"/>
              <a:t>And</a:t>
            </a:r>
            <a:r>
              <a:rPr spc="-70" dirty="0"/>
              <a:t> </a:t>
            </a:r>
            <a:r>
              <a:rPr spc="114" dirty="0"/>
              <a:t>the</a:t>
            </a:r>
            <a:r>
              <a:rPr spc="-65" dirty="0"/>
              <a:t> </a:t>
            </a:r>
            <a:r>
              <a:rPr dirty="0"/>
              <a:t>graph</a:t>
            </a:r>
            <a:r>
              <a:rPr spc="-70" dirty="0"/>
              <a:t> </a:t>
            </a:r>
            <a:r>
              <a:rPr dirty="0"/>
              <a:t>shows</a:t>
            </a:r>
            <a:r>
              <a:rPr spc="-70" dirty="0"/>
              <a:t> </a:t>
            </a:r>
            <a:r>
              <a:rPr spc="-30" dirty="0"/>
              <a:t>us</a:t>
            </a:r>
            <a:r>
              <a:rPr spc="-55" dirty="0"/>
              <a:t> </a:t>
            </a:r>
            <a:r>
              <a:rPr spc="65" dirty="0"/>
              <a:t>we</a:t>
            </a:r>
            <a:r>
              <a:rPr spc="-65" dirty="0"/>
              <a:t> </a:t>
            </a:r>
            <a:r>
              <a:rPr dirty="0"/>
              <a:t>are</a:t>
            </a:r>
            <a:r>
              <a:rPr spc="-70" dirty="0"/>
              <a:t> </a:t>
            </a:r>
            <a:r>
              <a:rPr spc="85" dirty="0"/>
              <a:t>right!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683861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5679617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Linear</a:t>
            </a:r>
            <a:r>
              <a:rPr spc="-85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240" y="1516227"/>
            <a:ext cx="4170679" cy="3235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"/>
              <a:buChar char="•"/>
              <a:tabLst>
                <a:tab pos="368300" algn="l"/>
              </a:tabLst>
            </a:pPr>
            <a:r>
              <a:rPr sz="3200" dirty="0">
                <a:latin typeface="Microsoft Sans Serif"/>
                <a:cs typeface="Microsoft Sans Serif"/>
              </a:rPr>
              <a:t>Linear</a:t>
            </a:r>
            <a:r>
              <a:rPr sz="3200" spc="-80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Equation</a:t>
            </a:r>
            <a:endParaRPr sz="3200">
              <a:latin typeface="Microsoft Sans Serif"/>
              <a:cs typeface="Microsoft Sans Serif"/>
            </a:endParaRPr>
          </a:p>
          <a:p>
            <a:pPr marL="368300">
              <a:lnSpc>
                <a:spcPct val="100000"/>
              </a:lnSpc>
              <a:spcBef>
                <a:spcPts val="3260"/>
              </a:spcBef>
            </a:pPr>
            <a:r>
              <a:rPr sz="3200" dirty="0">
                <a:latin typeface="Microsoft Sans Serif"/>
                <a:cs typeface="Microsoft Sans Serif"/>
              </a:rPr>
              <a:t>2x</a:t>
            </a:r>
            <a:r>
              <a:rPr sz="3200" spc="-170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+</a:t>
            </a:r>
            <a:r>
              <a:rPr sz="3200" spc="-150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y</a:t>
            </a:r>
            <a:r>
              <a:rPr sz="3200" spc="-150" dirty="0">
                <a:latin typeface="Microsoft Sans Serif"/>
                <a:cs typeface="Microsoft Sans Serif"/>
              </a:rPr>
              <a:t> </a:t>
            </a:r>
            <a:r>
              <a:rPr sz="3200" spc="645" dirty="0">
                <a:latin typeface="Microsoft Sans Serif"/>
                <a:cs typeface="Microsoft Sans Serif"/>
              </a:rPr>
              <a:t>–</a:t>
            </a:r>
            <a:r>
              <a:rPr sz="3200" spc="-140" dirty="0">
                <a:latin typeface="Microsoft Sans Serif"/>
                <a:cs typeface="Microsoft Sans Serif"/>
              </a:rPr>
              <a:t> </a:t>
            </a:r>
            <a:r>
              <a:rPr sz="3200" spc="-100" dirty="0">
                <a:latin typeface="Microsoft Sans Serif"/>
                <a:cs typeface="Microsoft Sans Serif"/>
              </a:rPr>
              <a:t>z</a:t>
            </a:r>
            <a:r>
              <a:rPr sz="3200" spc="-130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=</a:t>
            </a:r>
            <a:r>
              <a:rPr sz="3200" spc="-150" dirty="0">
                <a:latin typeface="Microsoft Sans Serif"/>
                <a:cs typeface="Microsoft Sans Serif"/>
              </a:rPr>
              <a:t> </a:t>
            </a:r>
            <a:r>
              <a:rPr sz="3200" spc="-50" dirty="0">
                <a:latin typeface="Microsoft Sans Serif"/>
                <a:cs typeface="Microsoft Sans Serif"/>
              </a:rPr>
              <a:t>4</a:t>
            </a:r>
            <a:endParaRPr sz="3200">
              <a:latin typeface="Microsoft Sans Serif"/>
              <a:cs typeface="Microsoft Sans Serif"/>
            </a:endParaRPr>
          </a:p>
          <a:p>
            <a:pPr marL="368300" marR="17780" indent="-343535">
              <a:lnSpc>
                <a:spcPct val="184800"/>
              </a:lnSpc>
              <a:spcBef>
                <a:spcPts val="135"/>
              </a:spcBef>
              <a:buClr>
                <a:srgbClr val="6697CC"/>
              </a:buClr>
              <a:buFont typeface="Arial"/>
              <a:buChar char="•"/>
              <a:tabLst>
                <a:tab pos="368300" algn="l"/>
              </a:tabLst>
            </a:pPr>
            <a:r>
              <a:rPr sz="3200" spc="-10" dirty="0">
                <a:latin typeface="Microsoft Sans Serif"/>
                <a:cs typeface="Microsoft Sans Serif"/>
              </a:rPr>
              <a:t>Non-</a:t>
            </a:r>
            <a:r>
              <a:rPr sz="3200" dirty="0">
                <a:latin typeface="Microsoft Sans Serif"/>
                <a:cs typeface="Microsoft Sans Serif"/>
              </a:rPr>
              <a:t>Linear</a:t>
            </a:r>
            <a:r>
              <a:rPr sz="3200" spc="-5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Equation </a:t>
            </a:r>
            <a:r>
              <a:rPr sz="3200" dirty="0">
                <a:latin typeface="Microsoft Sans Serif"/>
                <a:cs typeface="Microsoft Sans Serif"/>
              </a:rPr>
              <a:t>2x</a:t>
            </a:r>
            <a:r>
              <a:rPr sz="3200" spc="-170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+</a:t>
            </a:r>
            <a:r>
              <a:rPr sz="3200" spc="-14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y</a:t>
            </a:r>
            <a:r>
              <a:rPr sz="2775" baseline="18018" dirty="0">
                <a:latin typeface="Microsoft Sans Serif"/>
                <a:cs typeface="Microsoft Sans Serif"/>
              </a:rPr>
              <a:t>2</a:t>
            </a:r>
            <a:r>
              <a:rPr sz="2775" spc="315" baseline="18018" dirty="0">
                <a:latin typeface="Microsoft Sans Serif"/>
                <a:cs typeface="Microsoft Sans Serif"/>
              </a:rPr>
              <a:t> </a:t>
            </a:r>
            <a:r>
              <a:rPr sz="3200" spc="645" dirty="0">
                <a:latin typeface="Microsoft Sans Serif"/>
                <a:cs typeface="Microsoft Sans Serif"/>
              </a:rPr>
              <a:t>–</a:t>
            </a:r>
            <a:r>
              <a:rPr sz="3200" spc="-145" dirty="0">
                <a:latin typeface="Microsoft Sans Serif"/>
                <a:cs typeface="Microsoft Sans Serif"/>
              </a:rPr>
              <a:t> </a:t>
            </a:r>
            <a:r>
              <a:rPr sz="3200" spc="-100" dirty="0">
                <a:latin typeface="Microsoft Sans Serif"/>
                <a:cs typeface="Microsoft Sans Serif"/>
              </a:rPr>
              <a:t>z</a:t>
            </a:r>
            <a:r>
              <a:rPr sz="3200" spc="-130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=</a:t>
            </a:r>
            <a:r>
              <a:rPr sz="3200" spc="-150" dirty="0">
                <a:latin typeface="Microsoft Sans Serif"/>
                <a:cs typeface="Microsoft Sans Serif"/>
              </a:rPr>
              <a:t> </a:t>
            </a:r>
            <a:r>
              <a:rPr sz="3200" spc="-50" dirty="0">
                <a:latin typeface="Microsoft Sans Serif"/>
                <a:cs typeface="Microsoft Sans Serif"/>
              </a:rPr>
              <a:t>4</a:t>
            </a:r>
            <a:endParaRPr sz="3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Dimensions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248525" cy="878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Microsoft Sans Serif"/>
                <a:cs typeface="Microsoft Sans Serif"/>
              </a:rPr>
              <a:t>A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Linear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Equation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-50" dirty="0">
                <a:latin typeface="Microsoft Sans Serif"/>
                <a:cs typeface="Microsoft Sans Serif"/>
              </a:rPr>
              <a:t>can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be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in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2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dimensions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-40" dirty="0">
                <a:latin typeface="Microsoft Sans Serif"/>
                <a:cs typeface="Microsoft Sans Serif"/>
              </a:rPr>
              <a:t>... </a:t>
            </a:r>
            <a:r>
              <a:rPr sz="2800" spc="-50" dirty="0">
                <a:latin typeface="Microsoft Sans Serif"/>
                <a:cs typeface="Microsoft Sans Serif"/>
              </a:rPr>
              <a:t>(such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35" dirty="0">
                <a:latin typeface="Microsoft Sans Serif"/>
                <a:cs typeface="Microsoft Sans Serif"/>
              </a:rPr>
              <a:t>as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x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and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y)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586581"/>
            <a:ext cx="68707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spc="-100" dirty="0">
                <a:latin typeface="Microsoft Sans Serif"/>
                <a:cs typeface="Microsoft Sans Serif"/>
              </a:rPr>
              <a:t>...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00" dirty="0">
                <a:latin typeface="Microsoft Sans Serif"/>
                <a:cs typeface="Microsoft Sans Serif"/>
              </a:rPr>
              <a:t>or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in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3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dimensions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00" dirty="0">
                <a:latin typeface="Microsoft Sans Serif"/>
                <a:cs typeface="Microsoft Sans Serif"/>
              </a:rPr>
              <a:t>...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(it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makes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110" dirty="0">
                <a:latin typeface="Microsoft Sans Serif"/>
                <a:cs typeface="Microsoft Sans Serif"/>
              </a:rPr>
              <a:t>a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plane)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2715" y="2259355"/>
            <a:ext cx="2213279" cy="1251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59999" y="4357077"/>
            <a:ext cx="2160003" cy="151164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2181"/>
            <a:ext cx="12382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820" y="1442783"/>
            <a:ext cx="7611109" cy="352361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200" dirty="0">
                <a:latin typeface="Microsoft Sans Serif"/>
                <a:cs typeface="Microsoft Sans Serif"/>
              </a:rPr>
              <a:t>Common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Variables</a:t>
            </a:r>
            <a:endParaRPr sz="2200">
              <a:latin typeface="Microsoft Sans Serif"/>
              <a:cs typeface="Microsoft Sans Serif"/>
            </a:endParaRPr>
          </a:p>
          <a:p>
            <a:pPr marL="352425" marR="231775" indent="-242570">
              <a:lnSpc>
                <a:spcPct val="100400"/>
              </a:lnSpc>
              <a:spcBef>
                <a:spcPts val="600"/>
              </a:spcBef>
              <a:buClr>
                <a:srgbClr val="6697CC"/>
              </a:buClr>
              <a:buFont typeface="Arial"/>
              <a:buChar char="–"/>
              <a:tabLst>
                <a:tab pos="352425" algn="l"/>
              </a:tabLst>
            </a:pPr>
            <a:r>
              <a:rPr sz="2200" dirty="0">
                <a:latin typeface="Microsoft Sans Serif"/>
                <a:cs typeface="Microsoft Sans Serif"/>
              </a:rPr>
              <a:t>For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spc="100" dirty="0">
                <a:latin typeface="Microsoft Sans Serif"/>
                <a:cs typeface="Microsoft Sans Serif"/>
              </a:rPr>
              <a:t>the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equations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spc="170" dirty="0">
                <a:latin typeface="Microsoft Sans Serif"/>
                <a:cs typeface="Microsoft Sans Serif"/>
              </a:rPr>
              <a:t>to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spc="95" dirty="0">
                <a:latin typeface="Microsoft Sans Serif"/>
                <a:cs typeface="Microsoft Sans Serif"/>
              </a:rPr>
              <a:t>"work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100" dirty="0">
                <a:latin typeface="Microsoft Sans Serif"/>
                <a:cs typeface="Microsoft Sans Serif"/>
              </a:rPr>
              <a:t>together"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spc="70" dirty="0">
                <a:latin typeface="Microsoft Sans Serif"/>
                <a:cs typeface="Microsoft Sans Serif"/>
              </a:rPr>
              <a:t>they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share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one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65" dirty="0">
                <a:latin typeface="Microsoft Sans Serif"/>
                <a:cs typeface="Microsoft Sans Serif"/>
              </a:rPr>
              <a:t>or </a:t>
            </a:r>
            <a:r>
              <a:rPr sz="2200" spc="55" dirty="0">
                <a:latin typeface="Microsoft Sans Serif"/>
                <a:cs typeface="Microsoft Sans Serif"/>
              </a:rPr>
              <a:t>more</a:t>
            </a:r>
            <a:r>
              <a:rPr sz="2200" spc="-7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variables:</a:t>
            </a:r>
            <a:endParaRPr sz="2200">
              <a:latin typeface="Microsoft Sans Serif"/>
              <a:cs typeface="Microsoft Sans Serif"/>
            </a:endParaRPr>
          </a:p>
          <a:p>
            <a:pPr marL="352425" marR="87630" indent="-242570">
              <a:lnSpc>
                <a:spcPct val="100699"/>
              </a:lnSpc>
              <a:spcBef>
                <a:spcPts val="590"/>
              </a:spcBef>
              <a:buClr>
                <a:srgbClr val="6697CC"/>
              </a:buClr>
              <a:buFont typeface="Arial"/>
              <a:buChar char="–"/>
              <a:tabLst>
                <a:tab pos="352425" algn="l"/>
              </a:tabLst>
            </a:pP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System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spc="150" dirty="0">
                <a:latin typeface="Microsoft Sans Serif"/>
                <a:cs typeface="Microsoft Sans Serif"/>
              </a:rPr>
              <a:t>of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Equations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spc="-45" dirty="0">
                <a:latin typeface="Microsoft Sans Serif"/>
                <a:cs typeface="Microsoft Sans Serif"/>
              </a:rPr>
              <a:t>has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spc="150" dirty="0">
                <a:latin typeface="Microsoft Sans Serif"/>
                <a:cs typeface="Microsoft Sans Serif"/>
              </a:rPr>
              <a:t>two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85" dirty="0">
                <a:latin typeface="Microsoft Sans Serif"/>
                <a:cs typeface="Microsoft Sans Serif"/>
              </a:rPr>
              <a:t>or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spc="55" dirty="0">
                <a:latin typeface="Microsoft Sans Serif"/>
                <a:cs typeface="Microsoft Sans Serif"/>
              </a:rPr>
              <a:t>more</a:t>
            </a:r>
            <a:r>
              <a:rPr sz="2200" spc="-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equations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spc="50" dirty="0">
                <a:latin typeface="Microsoft Sans Serif"/>
                <a:cs typeface="Microsoft Sans Serif"/>
              </a:rPr>
              <a:t>in</a:t>
            </a:r>
            <a:r>
              <a:rPr sz="2200" spc="-25" dirty="0">
                <a:latin typeface="Microsoft Sans Serif"/>
                <a:cs typeface="Microsoft Sans Serif"/>
              </a:rPr>
              <a:t> one </a:t>
            </a:r>
            <a:r>
              <a:rPr sz="2200" spc="90" dirty="0">
                <a:latin typeface="Microsoft Sans Serif"/>
                <a:cs typeface="Microsoft Sans Serif"/>
              </a:rPr>
              <a:t>or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spc="50" dirty="0">
                <a:latin typeface="Microsoft Sans Serif"/>
                <a:cs typeface="Microsoft Sans Serif"/>
              </a:rPr>
              <a:t>more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variables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200" dirty="0">
                <a:latin typeface="Microsoft Sans Serif"/>
                <a:cs typeface="Microsoft Sans Serif"/>
              </a:rPr>
              <a:t>Many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Variables</a:t>
            </a:r>
            <a:endParaRPr sz="2200">
              <a:latin typeface="Microsoft Sans Serif"/>
              <a:cs typeface="Microsoft Sans Serif"/>
            </a:endParaRPr>
          </a:p>
          <a:p>
            <a:pPr marL="352425" marR="5080" indent="-242570">
              <a:lnSpc>
                <a:spcPct val="100400"/>
              </a:lnSpc>
              <a:spcBef>
                <a:spcPts val="600"/>
              </a:spcBef>
              <a:buClr>
                <a:srgbClr val="6697CC"/>
              </a:buClr>
              <a:buFont typeface="Arial"/>
              <a:buChar char="–"/>
              <a:tabLst>
                <a:tab pos="352425" algn="l"/>
              </a:tabLst>
            </a:pPr>
            <a:r>
              <a:rPr sz="2200" spc="-114" dirty="0">
                <a:latin typeface="Microsoft Sans Serif"/>
                <a:cs typeface="Microsoft Sans Serif"/>
              </a:rPr>
              <a:t>So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spc="-80" dirty="0">
                <a:latin typeface="Microsoft Sans Serif"/>
                <a:cs typeface="Microsoft Sans Serif"/>
              </a:rPr>
              <a:t>a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System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spc="155" dirty="0">
                <a:latin typeface="Microsoft Sans Serif"/>
                <a:cs typeface="Microsoft Sans Serif"/>
              </a:rPr>
              <a:t>of</a:t>
            </a:r>
            <a:r>
              <a:rPr sz="2200" dirty="0">
                <a:latin typeface="Microsoft Sans Serif"/>
                <a:cs typeface="Microsoft Sans Serif"/>
              </a:rPr>
              <a:t> Equations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could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have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many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equations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Microsoft Sans Serif"/>
                <a:cs typeface="Microsoft Sans Serif"/>
              </a:rPr>
              <a:t>and </a:t>
            </a:r>
            <a:r>
              <a:rPr sz="2200" dirty="0">
                <a:latin typeface="Microsoft Sans Serif"/>
                <a:cs typeface="Microsoft Sans Serif"/>
              </a:rPr>
              <a:t>many</a:t>
            </a:r>
            <a:r>
              <a:rPr sz="2200" spc="-9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variables.</a:t>
            </a:r>
            <a:endParaRPr sz="2200">
              <a:latin typeface="Microsoft Sans Serif"/>
              <a:cs typeface="Microsoft Sans Serif"/>
            </a:endParaRPr>
          </a:p>
          <a:p>
            <a:pPr marL="352425" indent="-241935">
              <a:lnSpc>
                <a:spcPct val="100000"/>
              </a:lnSpc>
              <a:spcBef>
                <a:spcPts val="610"/>
              </a:spcBef>
              <a:buClr>
                <a:srgbClr val="6697CC"/>
              </a:buClr>
              <a:buFont typeface="Arial"/>
              <a:buChar char="–"/>
              <a:tabLst>
                <a:tab pos="352425" algn="l"/>
              </a:tabLst>
            </a:pPr>
            <a:r>
              <a:rPr sz="2200" spc="-10" dirty="0">
                <a:latin typeface="Microsoft Sans Serif"/>
                <a:cs typeface="Microsoft Sans Serif"/>
              </a:rPr>
              <a:t>Example: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3</a:t>
            </a:r>
            <a:r>
              <a:rPr sz="2200" spc="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equations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in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3 </a:t>
            </a:r>
            <a:r>
              <a:rPr sz="2200" spc="-10" dirty="0">
                <a:latin typeface="Microsoft Sans Serif"/>
                <a:cs typeface="Microsoft Sans Serif"/>
              </a:rPr>
              <a:t>variables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426383"/>
            <a:ext cx="123825" cy="3625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147965" y="5048294"/>
          <a:ext cx="5189854" cy="1138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8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7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6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18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3220">
                <a:tc>
                  <a:txBody>
                    <a:bodyPr/>
                    <a:lstStyle/>
                    <a:p>
                      <a:pPr marL="31750">
                        <a:lnSpc>
                          <a:spcPts val="2500"/>
                        </a:lnSpc>
                      </a:pPr>
                      <a:r>
                        <a:rPr sz="2200" spc="-25" dirty="0">
                          <a:latin typeface="Microsoft Sans Serif"/>
                          <a:cs typeface="Microsoft Sans Serif"/>
                        </a:rPr>
                        <a:t>2x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00"/>
                        </a:lnSpc>
                      </a:pPr>
                      <a:r>
                        <a:rPr sz="2200" spc="-50" dirty="0">
                          <a:latin typeface="Microsoft Sans Serif"/>
                          <a:cs typeface="Microsoft Sans Serif"/>
                        </a:rPr>
                        <a:t>+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2500"/>
                        </a:lnSpc>
                      </a:pPr>
                      <a:r>
                        <a:rPr sz="2200" spc="-50" dirty="0">
                          <a:latin typeface="Microsoft Sans Serif"/>
                          <a:cs typeface="Microsoft Sans Serif"/>
                        </a:rPr>
                        <a:t>y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2500"/>
                        </a:lnSpc>
                      </a:pPr>
                      <a:r>
                        <a:rPr sz="2200" spc="-50" dirty="0">
                          <a:latin typeface="Microsoft Sans Serif"/>
                          <a:cs typeface="Microsoft Sans Serif"/>
                        </a:rPr>
                        <a:t>−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ts val="2500"/>
                        </a:lnSpc>
                      </a:pPr>
                      <a:r>
                        <a:rPr sz="2200" spc="-25" dirty="0">
                          <a:latin typeface="Microsoft Sans Serif"/>
                          <a:cs typeface="Microsoft Sans Serif"/>
                        </a:rPr>
                        <a:t>2z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7785" algn="ctr">
                        <a:lnSpc>
                          <a:spcPts val="2500"/>
                        </a:lnSpc>
                      </a:pPr>
                      <a:r>
                        <a:rPr sz="2200" spc="-50" dirty="0">
                          <a:latin typeface="Microsoft Sans Serif"/>
                          <a:cs typeface="Microsoft Sans Serif"/>
                        </a:rPr>
                        <a:t>=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ts val="2500"/>
                        </a:lnSpc>
                      </a:pPr>
                      <a:r>
                        <a:rPr sz="22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1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200" spc="-50" dirty="0">
                          <a:latin typeface="Microsoft Sans Serif"/>
                          <a:cs typeface="Microsoft Sans Serif"/>
                        </a:rPr>
                        <a:t>x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200" spc="-50" dirty="0">
                          <a:latin typeface="Microsoft Sans Serif"/>
                          <a:cs typeface="Microsoft Sans Serif"/>
                        </a:rPr>
                        <a:t>−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200" spc="-50" dirty="0">
                          <a:latin typeface="Microsoft Sans Serif"/>
                          <a:cs typeface="Microsoft Sans Serif"/>
                        </a:rPr>
                        <a:t>y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200" spc="-50" dirty="0">
                          <a:latin typeface="Microsoft Sans Serif"/>
                          <a:cs typeface="Microsoft Sans Serif"/>
                        </a:rPr>
                        <a:t>−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200" spc="-50" dirty="0">
                          <a:latin typeface="Microsoft Sans Serif"/>
                          <a:cs typeface="Microsoft Sans Serif"/>
                        </a:rPr>
                        <a:t>z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R="5778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200" spc="-50" dirty="0">
                          <a:latin typeface="Microsoft Sans Serif"/>
                          <a:cs typeface="Microsoft Sans Serif"/>
                        </a:rPr>
                        <a:t>=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 marL="31750">
                        <a:lnSpc>
                          <a:spcPts val="2520"/>
                        </a:lnSpc>
                        <a:spcBef>
                          <a:spcPts val="245"/>
                        </a:spcBef>
                      </a:pPr>
                      <a:r>
                        <a:rPr sz="2200" spc="-50" dirty="0">
                          <a:latin typeface="Microsoft Sans Serif"/>
                          <a:cs typeface="Microsoft Sans Serif"/>
                        </a:rPr>
                        <a:t>x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20"/>
                        </a:lnSpc>
                        <a:spcBef>
                          <a:spcPts val="245"/>
                        </a:spcBef>
                      </a:pPr>
                      <a:r>
                        <a:rPr sz="2200" spc="-50" dirty="0">
                          <a:latin typeface="Microsoft Sans Serif"/>
                          <a:cs typeface="Microsoft Sans Serif"/>
                        </a:rPr>
                        <a:t>+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2520"/>
                        </a:lnSpc>
                        <a:spcBef>
                          <a:spcPts val="245"/>
                        </a:spcBef>
                      </a:pPr>
                      <a:r>
                        <a:rPr sz="2200" spc="-50" dirty="0">
                          <a:latin typeface="Microsoft Sans Serif"/>
                          <a:cs typeface="Microsoft Sans Serif"/>
                        </a:rPr>
                        <a:t>y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2520"/>
                        </a:lnSpc>
                        <a:spcBef>
                          <a:spcPts val="245"/>
                        </a:spcBef>
                      </a:pPr>
                      <a:r>
                        <a:rPr sz="2200" spc="-50" dirty="0">
                          <a:latin typeface="Microsoft Sans Serif"/>
                          <a:cs typeface="Microsoft Sans Serif"/>
                        </a:rPr>
                        <a:t>+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ts val="2520"/>
                        </a:lnSpc>
                        <a:spcBef>
                          <a:spcPts val="245"/>
                        </a:spcBef>
                      </a:pPr>
                      <a:r>
                        <a:rPr sz="2200" spc="-25" dirty="0">
                          <a:latin typeface="Microsoft Sans Serif"/>
                          <a:cs typeface="Microsoft Sans Serif"/>
                        </a:rPr>
                        <a:t>3z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R="57785" algn="ctr">
                        <a:lnSpc>
                          <a:spcPts val="2520"/>
                        </a:lnSpc>
                        <a:spcBef>
                          <a:spcPts val="245"/>
                        </a:spcBef>
                      </a:pPr>
                      <a:r>
                        <a:rPr sz="2200" spc="-50" dirty="0">
                          <a:latin typeface="Microsoft Sans Serif"/>
                          <a:cs typeface="Microsoft Sans Serif"/>
                        </a:rPr>
                        <a:t>=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/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ts val="2520"/>
                        </a:lnSpc>
                        <a:spcBef>
                          <a:spcPts val="245"/>
                        </a:spcBef>
                      </a:pPr>
                      <a:r>
                        <a:rPr sz="2200" spc="-25" dirty="0">
                          <a:latin typeface="Microsoft Sans Serif"/>
                          <a:cs typeface="Microsoft Sans Serif"/>
                        </a:rPr>
                        <a:t>12</a:t>
                      </a:r>
                      <a:endParaRPr sz="2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305560"/>
            <a:chOff x="0" y="0"/>
            <a:chExt cx="9144000" cy="13055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0825" cy="1089025"/>
            </a:xfrm>
            <a:custGeom>
              <a:avLst/>
              <a:gdLst/>
              <a:ahLst/>
              <a:cxnLst/>
              <a:rect l="l" t="t" r="r" b="b"/>
              <a:pathLst>
                <a:path w="9140825" h="1089025">
                  <a:moveTo>
                    <a:pt x="0" y="1088999"/>
                  </a:moveTo>
                  <a:lnTo>
                    <a:pt x="9140761" y="1088999"/>
                  </a:lnTo>
                  <a:lnTo>
                    <a:pt x="9140761" y="0"/>
                  </a:lnTo>
                  <a:lnTo>
                    <a:pt x="0" y="0"/>
                  </a:lnTo>
                  <a:lnTo>
                    <a:pt x="0" y="108899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88999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>
                  <a:moveTo>
                    <a:pt x="9143631" y="0"/>
                  </a:moveTo>
                  <a:lnTo>
                    <a:pt x="0" y="0"/>
                  </a:lnTo>
                  <a:lnTo>
                    <a:pt x="0" y="216001"/>
                  </a:lnTo>
                  <a:lnTo>
                    <a:pt x="9143631" y="216001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01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0"/>
                </a:move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lnTo>
                  <a:pt x="0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Variables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501101"/>
            <a:ext cx="135255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1021" y="1519097"/>
            <a:ext cx="7184390" cy="47110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90"/>
              </a:spcBef>
            </a:pPr>
            <a:r>
              <a:rPr sz="2450" dirty="0">
                <a:latin typeface="Microsoft Sans Serif"/>
                <a:cs typeface="Microsoft Sans Serif"/>
              </a:rPr>
              <a:t>When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125" dirty="0">
                <a:latin typeface="Microsoft Sans Serif"/>
                <a:cs typeface="Microsoft Sans Serif"/>
              </a:rPr>
              <a:t>the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65" dirty="0">
                <a:latin typeface="Microsoft Sans Serif"/>
                <a:cs typeface="Microsoft Sans Serif"/>
              </a:rPr>
              <a:t>number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180" dirty="0">
                <a:latin typeface="Microsoft Sans Serif"/>
                <a:cs typeface="Microsoft Sans Serif"/>
              </a:rPr>
              <a:t>of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50" dirty="0">
                <a:latin typeface="Microsoft Sans Serif"/>
                <a:cs typeface="Microsoft Sans Serif"/>
              </a:rPr>
              <a:t>equations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is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120" dirty="0">
                <a:latin typeface="Microsoft Sans Serif"/>
                <a:cs typeface="Microsoft Sans Serif"/>
              </a:rPr>
              <a:t>the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-20" dirty="0">
                <a:latin typeface="Microsoft Sans Serif"/>
                <a:cs typeface="Microsoft Sans Serif"/>
              </a:rPr>
              <a:t>same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-114" dirty="0">
                <a:latin typeface="Microsoft Sans Serif"/>
                <a:cs typeface="Microsoft Sans Serif"/>
              </a:rPr>
              <a:t>as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95" dirty="0">
                <a:latin typeface="Microsoft Sans Serif"/>
                <a:cs typeface="Microsoft Sans Serif"/>
              </a:rPr>
              <a:t>the </a:t>
            </a:r>
            <a:r>
              <a:rPr sz="2450" spc="65" dirty="0">
                <a:latin typeface="Microsoft Sans Serif"/>
                <a:cs typeface="Microsoft Sans Serif"/>
              </a:rPr>
              <a:t>number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spc="180" dirty="0">
                <a:latin typeface="Microsoft Sans Serif"/>
                <a:cs typeface="Microsoft Sans Serif"/>
              </a:rPr>
              <a:t>of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variables</a:t>
            </a:r>
            <a:r>
              <a:rPr sz="2450" spc="-70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there</a:t>
            </a:r>
            <a:r>
              <a:rPr sz="2450" spc="-6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is</a:t>
            </a:r>
            <a:r>
              <a:rPr sz="2450" spc="-65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likely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195" dirty="0">
                <a:latin typeface="Microsoft Sans Serif"/>
                <a:cs typeface="Microsoft Sans Serif"/>
              </a:rPr>
              <a:t>to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be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</a:t>
            </a:r>
            <a:r>
              <a:rPr sz="2450" spc="-65" dirty="0">
                <a:latin typeface="Microsoft Sans Serif"/>
                <a:cs typeface="Microsoft Sans Serif"/>
              </a:rPr>
              <a:t> </a:t>
            </a:r>
            <a:r>
              <a:rPr sz="2450" spc="50" dirty="0">
                <a:latin typeface="Microsoft Sans Serif"/>
                <a:cs typeface="Microsoft Sans Serif"/>
              </a:rPr>
              <a:t>solution. </a:t>
            </a:r>
            <a:r>
              <a:rPr sz="2450" spc="135" dirty="0">
                <a:latin typeface="Microsoft Sans Serif"/>
                <a:cs typeface="Microsoft Sans Serif"/>
              </a:rPr>
              <a:t>Not</a:t>
            </a:r>
            <a:r>
              <a:rPr sz="2450" spc="8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guaranteed,</a:t>
            </a:r>
            <a:r>
              <a:rPr sz="2450" spc="90" dirty="0">
                <a:latin typeface="Microsoft Sans Serif"/>
                <a:cs typeface="Microsoft Sans Serif"/>
              </a:rPr>
              <a:t> </a:t>
            </a:r>
            <a:r>
              <a:rPr sz="2450" spc="145" dirty="0">
                <a:latin typeface="Microsoft Sans Serif"/>
                <a:cs typeface="Microsoft Sans Serif"/>
              </a:rPr>
              <a:t>but</a:t>
            </a:r>
            <a:r>
              <a:rPr sz="2450" spc="9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likely.</a:t>
            </a:r>
            <a:endParaRPr sz="2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450" dirty="0">
                <a:latin typeface="Microsoft Sans Serif"/>
                <a:cs typeface="Microsoft Sans Serif"/>
              </a:rPr>
              <a:t>In</a:t>
            </a:r>
            <a:r>
              <a:rPr sz="2450" spc="-35" dirty="0">
                <a:latin typeface="Microsoft Sans Serif"/>
                <a:cs typeface="Microsoft Sans Serif"/>
              </a:rPr>
              <a:t> </a:t>
            </a:r>
            <a:r>
              <a:rPr sz="2450" spc="105" dirty="0">
                <a:latin typeface="Microsoft Sans Serif"/>
                <a:cs typeface="Microsoft Sans Serif"/>
              </a:rPr>
              <a:t>fact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spc="105" dirty="0">
                <a:latin typeface="Microsoft Sans Serif"/>
                <a:cs typeface="Microsoft Sans Serif"/>
              </a:rPr>
              <a:t>there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are</a:t>
            </a:r>
            <a:r>
              <a:rPr sz="2450" spc="-35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only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three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possible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cases:</a:t>
            </a:r>
            <a:endParaRPr sz="2450">
              <a:latin typeface="Microsoft Sans Serif"/>
              <a:cs typeface="Microsoft Sans Serif"/>
            </a:endParaRPr>
          </a:p>
          <a:p>
            <a:pPr marL="391160" indent="-269240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"/>
              <a:buChar char="–"/>
              <a:tabLst>
                <a:tab pos="391160" algn="l"/>
              </a:tabLst>
            </a:pPr>
            <a:r>
              <a:rPr sz="2450" dirty="0">
                <a:latin typeface="Microsoft Sans Serif"/>
                <a:cs typeface="Microsoft Sans Serif"/>
              </a:rPr>
              <a:t>No</a:t>
            </a:r>
            <a:r>
              <a:rPr sz="2450" spc="15" dirty="0">
                <a:latin typeface="Microsoft Sans Serif"/>
                <a:cs typeface="Microsoft Sans Serif"/>
              </a:rPr>
              <a:t> </a:t>
            </a:r>
            <a:r>
              <a:rPr sz="2450" spc="65" dirty="0">
                <a:latin typeface="Microsoft Sans Serif"/>
                <a:cs typeface="Microsoft Sans Serif"/>
              </a:rPr>
              <a:t>solution</a:t>
            </a:r>
            <a:endParaRPr sz="2450">
              <a:latin typeface="Microsoft Sans Serif"/>
              <a:cs typeface="Microsoft Sans Serif"/>
            </a:endParaRPr>
          </a:p>
          <a:p>
            <a:pPr marL="391160" indent="-269240">
              <a:lnSpc>
                <a:spcPct val="100000"/>
              </a:lnSpc>
              <a:spcBef>
                <a:spcPts val="680"/>
              </a:spcBef>
              <a:buClr>
                <a:srgbClr val="6697CC"/>
              </a:buClr>
              <a:buFont typeface="Arial"/>
              <a:buChar char="–"/>
              <a:tabLst>
                <a:tab pos="391160" algn="l"/>
              </a:tabLst>
            </a:pPr>
            <a:r>
              <a:rPr sz="2450" dirty="0">
                <a:latin typeface="Microsoft Sans Serif"/>
                <a:cs typeface="Microsoft Sans Serif"/>
              </a:rPr>
              <a:t>One</a:t>
            </a:r>
            <a:r>
              <a:rPr sz="2450" spc="-10" dirty="0">
                <a:latin typeface="Microsoft Sans Serif"/>
                <a:cs typeface="Microsoft Sans Serif"/>
              </a:rPr>
              <a:t> </a:t>
            </a:r>
            <a:r>
              <a:rPr sz="2450" spc="65" dirty="0">
                <a:latin typeface="Microsoft Sans Serif"/>
                <a:cs typeface="Microsoft Sans Serif"/>
              </a:rPr>
              <a:t>solution</a:t>
            </a:r>
            <a:endParaRPr sz="2450">
              <a:latin typeface="Microsoft Sans Serif"/>
              <a:cs typeface="Microsoft Sans Serif"/>
            </a:endParaRPr>
          </a:p>
          <a:p>
            <a:pPr marL="391160" indent="-269240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"/>
              <a:buChar char="–"/>
              <a:tabLst>
                <a:tab pos="391160" algn="l"/>
              </a:tabLst>
            </a:pPr>
            <a:r>
              <a:rPr sz="2450" spc="90" dirty="0">
                <a:latin typeface="Microsoft Sans Serif"/>
                <a:cs typeface="Microsoft Sans Serif"/>
              </a:rPr>
              <a:t>Infinitely</a:t>
            </a:r>
            <a:r>
              <a:rPr sz="2450" spc="-6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many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spc="40" dirty="0">
                <a:latin typeface="Microsoft Sans Serif"/>
                <a:cs typeface="Microsoft Sans Serif"/>
              </a:rPr>
              <a:t>solutions</a:t>
            </a:r>
            <a:endParaRPr sz="2450">
              <a:latin typeface="Microsoft Sans Serif"/>
              <a:cs typeface="Microsoft Sans Serif"/>
            </a:endParaRPr>
          </a:p>
          <a:p>
            <a:pPr marL="12700" marR="34925">
              <a:lnSpc>
                <a:spcPct val="101000"/>
              </a:lnSpc>
              <a:spcBef>
                <a:spcPts val="760"/>
              </a:spcBef>
            </a:pPr>
            <a:r>
              <a:rPr sz="2450" dirty="0">
                <a:latin typeface="Microsoft Sans Serif"/>
                <a:cs typeface="Microsoft Sans Serif"/>
              </a:rPr>
              <a:t>When</a:t>
            </a:r>
            <a:r>
              <a:rPr sz="2450" spc="-70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there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is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spc="65" dirty="0">
                <a:latin typeface="Microsoft Sans Serif"/>
                <a:cs typeface="Microsoft Sans Serif"/>
              </a:rPr>
              <a:t>no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spc="75" dirty="0">
                <a:latin typeface="Microsoft Sans Serif"/>
                <a:cs typeface="Microsoft Sans Serif"/>
              </a:rPr>
              <a:t>solution</a:t>
            </a:r>
            <a:r>
              <a:rPr sz="2450" spc="-65" dirty="0">
                <a:latin typeface="Microsoft Sans Serif"/>
                <a:cs typeface="Microsoft Sans Serif"/>
              </a:rPr>
              <a:t> </a:t>
            </a:r>
            <a:r>
              <a:rPr sz="2450" spc="120" dirty="0">
                <a:latin typeface="Microsoft Sans Serif"/>
                <a:cs typeface="Microsoft Sans Serif"/>
              </a:rPr>
              <a:t>the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spc="45" dirty="0">
                <a:latin typeface="Microsoft Sans Serif"/>
                <a:cs typeface="Microsoft Sans Serif"/>
              </a:rPr>
              <a:t>equations</a:t>
            </a:r>
            <a:r>
              <a:rPr sz="2450" spc="-6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are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called </a:t>
            </a:r>
            <a:r>
              <a:rPr sz="2450" spc="45" dirty="0">
                <a:latin typeface="Microsoft Sans Serif"/>
                <a:cs typeface="Microsoft Sans Serif"/>
              </a:rPr>
              <a:t>"inconsistent".</a:t>
            </a:r>
            <a:endParaRPr sz="2450">
              <a:latin typeface="Microsoft Sans Serif"/>
              <a:cs typeface="Microsoft Sans Serif"/>
            </a:endParaRPr>
          </a:p>
          <a:p>
            <a:pPr marL="12700" marR="1188720">
              <a:lnSpc>
                <a:spcPct val="101000"/>
              </a:lnSpc>
              <a:spcBef>
                <a:spcPts val="750"/>
              </a:spcBef>
            </a:pPr>
            <a:r>
              <a:rPr sz="2450" dirty="0">
                <a:latin typeface="Microsoft Sans Serif"/>
                <a:cs typeface="Microsoft Sans Serif"/>
              </a:rPr>
              <a:t>One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spc="110" dirty="0">
                <a:latin typeface="Microsoft Sans Serif"/>
                <a:cs typeface="Microsoft Sans Serif"/>
              </a:rPr>
              <a:t>or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spc="95" dirty="0">
                <a:latin typeface="Microsoft Sans Serif"/>
                <a:cs typeface="Microsoft Sans Serif"/>
              </a:rPr>
              <a:t>infinitely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many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spc="50" dirty="0">
                <a:latin typeface="Microsoft Sans Serif"/>
                <a:cs typeface="Microsoft Sans Serif"/>
              </a:rPr>
              <a:t>solutions</a:t>
            </a:r>
            <a:r>
              <a:rPr sz="2450" spc="-4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are</a:t>
            </a:r>
            <a:r>
              <a:rPr sz="2450" spc="-3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called </a:t>
            </a:r>
            <a:r>
              <a:rPr sz="2450" spc="55" dirty="0">
                <a:latin typeface="Microsoft Sans Serif"/>
                <a:cs typeface="Microsoft Sans Serif"/>
              </a:rPr>
              <a:t>"consistent"</a:t>
            </a:r>
            <a:endParaRPr sz="24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2727972"/>
            <a:ext cx="135255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4583417"/>
            <a:ext cx="135255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940" y="5433021"/>
            <a:ext cx="135255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40" y="6282981"/>
            <a:ext cx="135255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519097"/>
            <a:ext cx="707263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Microsoft Sans Serif"/>
                <a:cs typeface="Microsoft Sans Serif"/>
              </a:rPr>
              <a:t>Here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spc="-110" dirty="0">
                <a:latin typeface="Microsoft Sans Serif"/>
                <a:cs typeface="Microsoft Sans Serif"/>
              </a:rPr>
              <a:t>a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diagram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spc="155" dirty="0">
                <a:latin typeface="Microsoft Sans Serif"/>
                <a:cs typeface="Microsoft Sans Serif"/>
              </a:rPr>
              <a:t>for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2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equations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in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2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variables:</a:t>
            </a:r>
            <a:endParaRPr sz="26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7203" y="2337485"/>
            <a:ext cx="7066800" cy="325871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Independent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519097"/>
            <a:ext cx="7666355" cy="4601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600" spc="65" dirty="0">
                <a:latin typeface="Microsoft Sans Serif"/>
                <a:cs typeface="Microsoft Sans Serif"/>
              </a:rPr>
              <a:t>"Independent"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-20" dirty="0">
                <a:latin typeface="Microsoft Sans Serif"/>
                <a:cs typeface="Microsoft Sans Serif"/>
              </a:rPr>
              <a:t>means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that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45" dirty="0">
                <a:latin typeface="Microsoft Sans Serif"/>
                <a:cs typeface="Microsoft Sans Serif"/>
              </a:rPr>
              <a:t>each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equation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gives </a:t>
            </a:r>
            <a:r>
              <a:rPr sz="2600" spc="50" dirty="0">
                <a:latin typeface="Microsoft Sans Serif"/>
                <a:cs typeface="Microsoft Sans Serif"/>
              </a:rPr>
              <a:t>new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information.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Otherwise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they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are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"Dependent".</a:t>
            </a:r>
            <a:endParaRPr sz="2600">
              <a:latin typeface="Microsoft Sans Serif"/>
              <a:cs typeface="Microsoft Sans Serif"/>
            </a:endParaRPr>
          </a:p>
          <a:p>
            <a:pPr marL="12700" marR="763270">
              <a:lnSpc>
                <a:spcPct val="100000"/>
              </a:lnSpc>
              <a:spcBef>
                <a:spcPts val="795"/>
              </a:spcBef>
            </a:pPr>
            <a:r>
              <a:rPr sz="2600" dirty="0">
                <a:latin typeface="Microsoft Sans Serif"/>
                <a:cs typeface="Microsoft Sans Serif"/>
              </a:rPr>
              <a:t>Also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called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"Linear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Independence"</a:t>
            </a:r>
            <a:r>
              <a:rPr sz="2600" spc="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and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"Linear Dependence"</a:t>
            </a:r>
            <a:endParaRPr sz="2600">
              <a:latin typeface="Microsoft Sans Serif"/>
              <a:cs typeface="Microsoft Sans Serif"/>
            </a:endParaRPr>
          </a:p>
          <a:p>
            <a:pPr marL="316865" marR="6144895" indent="-304800">
              <a:lnSpc>
                <a:spcPct val="125699"/>
              </a:lnSpc>
              <a:spcBef>
                <a:spcPts val="10"/>
              </a:spcBef>
            </a:pPr>
            <a:r>
              <a:rPr sz="2600" spc="-10" dirty="0">
                <a:latin typeface="Microsoft Sans Serif"/>
                <a:cs typeface="Microsoft Sans Serif"/>
              </a:rPr>
              <a:t>Example: </a:t>
            </a:r>
            <a:r>
              <a:rPr sz="2600" dirty="0">
                <a:latin typeface="Microsoft Sans Serif"/>
                <a:cs typeface="Microsoft Sans Serif"/>
              </a:rPr>
              <a:t>x</a:t>
            </a:r>
            <a:r>
              <a:rPr sz="2600" spc="-1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+</a:t>
            </a:r>
            <a:r>
              <a:rPr sz="2600" spc="-1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y</a:t>
            </a:r>
            <a:r>
              <a:rPr sz="2600" spc="-1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-120" dirty="0">
                <a:latin typeface="Microsoft Sans Serif"/>
                <a:cs typeface="Microsoft Sans Serif"/>
              </a:rPr>
              <a:t> </a:t>
            </a:r>
            <a:r>
              <a:rPr sz="2600" spc="-50" dirty="0">
                <a:latin typeface="Microsoft Sans Serif"/>
                <a:cs typeface="Microsoft Sans Serif"/>
              </a:rPr>
              <a:t>3</a:t>
            </a:r>
            <a:endParaRPr sz="2600">
              <a:latin typeface="Microsoft Sans Serif"/>
              <a:cs typeface="Microsoft Sans Serif"/>
            </a:endParaRPr>
          </a:p>
          <a:p>
            <a:pPr marL="316865">
              <a:lnSpc>
                <a:spcPct val="100000"/>
              </a:lnSpc>
              <a:spcBef>
                <a:spcPts val="810"/>
              </a:spcBef>
            </a:pPr>
            <a:r>
              <a:rPr sz="2600" dirty="0">
                <a:latin typeface="Microsoft Sans Serif"/>
                <a:cs typeface="Microsoft Sans Serif"/>
              </a:rPr>
              <a:t>2x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+</a:t>
            </a:r>
            <a:r>
              <a:rPr sz="2600" spc="-1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2y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-125" dirty="0">
                <a:latin typeface="Microsoft Sans Serif"/>
                <a:cs typeface="Microsoft Sans Serif"/>
              </a:rPr>
              <a:t> </a:t>
            </a:r>
            <a:r>
              <a:rPr sz="2600" spc="-50" dirty="0">
                <a:latin typeface="Microsoft Sans Serif"/>
                <a:cs typeface="Microsoft Sans Serif"/>
              </a:rPr>
              <a:t>6</a:t>
            </a:r>
            <a:endParaRPr sz="2600">
              <a:latin typeface="Microsoft Sans Serif"/>
              <a:cs typeface="Microsoft Sans Serif"/>
            </a:endParaRPr>
          </a:p>
          <a:p>
            <a:pPr marL="12700" marR="299085">
              <a:lnSpc>
                <a:spcPct val="100000"/>
              </a:lnSpc>
              <a:spcBef>
                <a:spcPts val="800"/>
              </a:spcBef>
            </a:pPr>
            <a:r>
              <a:rPr sz="2600" spc="-25" dirty="0">
                <a:latin typeface="Microsoft Sans Serif"/>
                <a:cs typeface="Microsoft Sans Serif"/>
              </a:rPr>
              <a:t>Those </a:t>
            </a:r>
            <a:r>
              <a:rPr sz="2600" dirty="0">
                <a:latin typeface="Microsoft Sans Serif"/>
                <a:cs typeface="Microsoft Sans Serif"/>
              </a:rPr>
              <a:t>equations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are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"Dependent",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spc="-30" dirty="0">
                <a:latin typeface="Microsoft Sans Serif"/>
                <a:cs typeface="Microsoft Sans Serif"/>
              </a:rPr>
              <a:t>because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they </a:t>
            </a:r>
            <a:r>
              <a:rPr sz="2600" dirty="0">
                <a:latin typeface="Microsoft Sans Serif"/>
                <a:cs typeface="Microsoft Sans Serif"/>
              </a:rPr>
              <a:t>are really </a:t>
            </a:r>
            <a:r>
              <a:rPr sz="2600" spc="114" dirty="0">
                <a:latin typeface="Microsoft Sans Serif"/>
                <a:cs typeface="Microsoft Sans Serif"/>
              </a:rPr>
              <a:t>the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-45" dirty="0">
                <a:latin typeface="Microsoft Sans Serif"/>
                <a:cs typeface="Microsoft Sans Serif"/>
              </a:rPr>
              <a:t>same</a:t>
            </a:r>
            <a:r>
              <a:rPr sz="2600" dirty="0">
                <a:latin typeface="Microsoft Sans Serif"/>
                <a:cs typeface="Microsoft Sans Serif"/>
              </a:rPr>
              <a:t> equation,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spc="70" dirty="0">
                <a:latin typeface="Microsoft Sans Serif"/>
                <a:cs typeface="Microsoft Sans Serif"/>
              </a:rPr>
              <a:t>just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spc="90" dirty="0">
                <a:latin typeface="Microsoft Sans Serif"/>
                <a:cs typeface="Microsoft Sans Serif"/>
              </a:rPr>
              <a:t>multiplied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by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2.</a:t>
            </a:r>
            <a:endParaRPr sz="2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600" spc="-155" dirty="0">
                <a:latin typeface="Microsoft Sans Serif"/>
                <a:cs typeface="Microsoft Sans Serif"/>
              </a:rPr>
              <a:t>So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114" dirty="0">
                <a:latin typeface="Microsoft Sans Serif"/>
                <a:cs typeface="Microsoft Sans Serif"/>
              </a:rPr>
              <a:t>the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second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equation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gave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no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new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information.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395334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290658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78537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5679617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Where</a:t>
            </a:r>
            <a:r>
              <a:rPr spc="-35" dirty="0"/>
              <a:t> </a:t>
            </a:r>
            <a:r>
              <a:rPr spc="165" dirty="0"/>
              <a:t>the</a:t>
            </a:r>
            <a:r>
              <a:rPr spc="-35" dirty="0"/>
              <a:t> </a:t>
            </a:r>
            <a:r>
              <a:rPr dirty="0"/>
              <a:t>Equations</a:t>
            </a:r>
            <a:r>
              <a:rPr spc="-25" dirty="0"/>
              <a:t> </a:t>
            </a:r>
            <a:r>
              <a:rPr dirty="0"/>
              <a:t>are</a:t>
            </a:r>
            <a:r>
              <a:rPr spc="-40" dirty="0"/>
              <a:t> </a:t>
            </a:r>
            <a:r>
              <a:rPr spc="-20" dirty="0"/>
              <a:t>True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222250">
              <a:lnSpc>
                <a:spcPct val="127600"/>
              </a:lnSpc>
              <a:spcBef>
                <a:spcPts val="90"/>
              </a:spcBef>
            </a:pPr>
            <a:r>
              <a:rPr sz="2000" dirty="0"/>
              <a:t>The</a:t>
            </a:r>
            <a:r>
              <a:rPr sz="2000" spc="-40" dirty="0"/>
              <a:t> </a:t>
            </a:r>
            <a:r>
              <a:rPr sz="2000" spc="85" dirty="0"/>
              <a:t>trick</a:t>
            </a:r>
            <a:r>
              <a:rPr sz="2000" spc="-25" dirty="0"/>
              <a:t> </a:t>
            </a:r>
            <a:r>
              <a:rPr sz="2000" dirty="0"/>
              <a:t>is</a:t>
            </a:r>
            <a:r>
              <a:rPr sz="2000" spc="-30" dirty="0"/>
              <a:t> </a:t>
            </a:r>
            <a:r>
              <a:rPr sz="2000" spc="165" dirty="0"/>
              <a:t>to</a:t>
            </a:r>
            <a:r>
              <a:rPr sz="2000" spc="-25" dirty="0"/>
              <a:t> </a:t>
            </a:r>
            <a:r>
              <a:rPr sz="2000" spc="105" dirty="0"/>
              <a:t>find</a:t>
            </a:r>
            <a:r>
              <a:rPr sz="2000" spc="-25" dirty="0"/>
              <a:t> </a:t>
            </a:r>
            <a:r>
              <a:rPr sz="2000" spc="50" dirty="0"/>
              <a:t>where</a:t>
            </a:r>
            <a:r>
              <a:rPr sz="2000" spc="-30" dirty="0"/>
              <a:t> </a:t>
            </a:r>
            <a:r>
              <a:rPr sz="2000" dirty="0"/>
              <a:t>all</a:t>
            </a:r>
            <a:r>
              <a:rPr sz="2000" spc="-30" dirty="0"/>
              <a:t> </a:t>
            </a:r>
            <a:r>
              <a:rPr sz="2000" dirty="0"/>
              <a:t>equations</a:t>
            </a:r>
            <a:r>
              <a:rPr sz="2000" spc="-30" dirty="0"/>
              <a:t> </a:t>
            </a:r>
            <a:r>
              <a:rPr sz="2000" dirty="0"/>
              <a:t>are</a:t>
            </a:r>
            <a:r>
              <a:rPr sz="2000" spc="-30" dirty="0"/>
              <a:t> </a:t>
            </a:r>
            <a:r>
              <a:rPr sz="2000" spc="105" dirty="0"/>
              <a:t>true</a:t>
            </a:r>
            <a:r>
              <a:rPr sz="2000" spc="-30" dirty="0"/>
              <a:t> </a:t>
            </a:r>
            <a:r>
              <a:rPr sz="2000" spc="95" dirty="0"/>
              <a:t>at</a:t>
            </a:r>
            <a:r>
              <a:rPr sz="2000" spc="-25" dirty="0"/>
              <a:t> </a:t>
            </a:r>
            <a:r>
              <a:rPr sz="2000" spc="100" dirty="0"/>
              <a:t>the</a:t>
            </a:r>
            <a:r>
              <a:rPr sz="2000" spc="-40" dirty="0"/>
              <a:t> </a:t>
            </a:r>
            <a:r>
              <a:rPr sz="2000" spc="-10" dirty="0"/>
              <a:t>same</a:t>
            </a:r>
            <a:r>
              <a:rPr sz="2000" spc="-30" dirty="0"/>
              <a:t> </a:t>
            </a:r>
            <a:r>
              <a:rPr sz="2000" spc="55" dirty="0"/>
              <a:t>time. </a:t>
            </a:r>
            <a:r>
              <a:rPr sz="2000" spc="-50" dirty="0"/>
              <a:t>True?</a:t>
            </a:r>
            <a:r>
              <a:rPr sz="2000" spc="-5" dirty="0"/>
              <a:t> </a:t>
            </a:r>
            <a:r>
              <a:rPr sz="2000" dirty="0"/>
              <a:t>What does</a:t>
            </a:r>
            <a:r>
              <a:rPr sz="2000" spc="5" dirty="0"/>
              <a:t> </a:t>
            </a:r>
            <a:r>
              <a:rPr sz="2000" spc="120" dirty="0"/>
              <a:t>that</a:t>
            </a:r>
            <a:r>
              <a:rPr sz="2000" spc="10" dirty="0"/>
              <a:t> </a:t>
            </a:r>
            <a:r>
              <a:rPr sz="2000" spc="-10" dirty="0"/>
              <a:t>mean?</a:t>
            </a:r>
            <a:endParaRPr sz="2000"/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000" dirty="0"/>
              <a:t>Example:</a:t>
            </a:r>
            <a:r>
              <a:rPr sz="2000" spc="-90" dirty="0"/>
              <a:t> </a:t>
            </a:r>
            <a:r>
              <a:rPr sz="2000" dirty="0"/>
              <a:t>You</a:t>
            </a:r>
            <a:r>
              <a:rPr sz="2000" spc="-95" dirty="0"/>
              <a:t> </a:t>
            </a:r>
            <a:r>
              <a:rPr sz="2000" dirty="0"/>
              <a:t>versus</a:t>
            </a:r>
            <a:r>
              <a:rPr sz="2000" spc="-90" dirty="0"/>
              <a:t> </a:t>
            </a:r>
            <a:r>
              <a:rPr sz="2000" spc="-20" dirty="0"/>
              <a:t>Horse</a:t>
            </a:r>
            <a:endParaRPr sz="2000"/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000" dirty="0"/>
              <a:t>The</a:t>
            </a:r>
            <a:r>
              <a:rPr sz="2000" spc="-50" dirty="0"/>
              <a:t> </a:t>
            </a:r>
            <a:r>
              <a:rPr sz="2000" spc="80" dirty="0"/>
              <a:t>"you"</a:t>
            </a:r>
            <a:r>
              <a:rPr sz="2000" spc="-40" dirty="0"/>
              <a:t> </a:t>
            </a:r>
            <a:r>
              <a:rPr sz="2000" spc="50" dirty="0"/>
              <a:t>line</a:t>
            </a:r>
            <a:r>
              <a:rPr sz="2000" spc="-40" dirty="0"/>
              <a:t> </a:t>
            </a:r>
            <a:r>
              <a:rPr sz="2000" dirty="0"/>
              <a:t>is</a:t>
            </a:r>
            <a:r>
              <a:rPr sz="2000" spc="-35" dirty="0"/>
              <a:t> </a:t>
            </a:r>
            <a:r>
              <a:rPr sz="2000" spc="105" dirty="0"/>
              <a:t>true</a:t>
            </a:r>
            <a:r>
              <a:rPr sz="2000" spc="-40" dirty="0"/>
              <a:t> </a:t>
            </a:r>
            <a:r>
              <a:rPr sz="2000" dirty="0"/>
              <a:t>all</a:t>
            </a:r>
            <a:r>
              <a:rPr sz="2000" spc="-35" dirty="0"/>
              <a:t> </a:t>
            </a:r>
            <a:r>
              <a:rPr sz="2000" dirty="0"/>
              <a:t>along</a:t>
            </a:r>
            <a:r>
              <a:rPr sz="2000" spc="-25" dirty="0"/>
              <a:t> </a:t>
            </a:r>
            <a:r>
              <a:rPr sz="2000" spc="70" dirty="0"/>
              <a:t>its</a:t>
            </a:r>
            <a:r>
              <a:rPr sz="2000" spc="-35" dirty="0"/>
              <a:t> </a:t>
            </a:r>
            <a:r>
              <a:rPr sz="2000" spc="80" dirty="0"/>
              <a:t>length</a:t>
            </a:r>
            <a:r>
              <a:rPr sz="2000" spc="-40" dirty="0"/>
              <a:t> </a:t>
            </a:r>
            <a:r>
              <a:rPr sz="2000" spc="90" dirty="0"/>
              <a:t>(but</a:t>
            </a:r>
            <a:r>
              <a:rPr sz="2000" spc="-35" dirty="0"/>
              <a:t> </a:t>
            </a:r>
            <a:r>
              <a:rPr sz="2000" spc="55" dirty="0"/>
              <a:t>nowhere</a:t>
            </a:r>
            <a:r>
              <a:rPr sz="2000" spc="-50" dirty="0"/>
              <a:t> </a:t>
            </a:r>
            <a:r>
              <a:rPr sz="2000" spc="-10" dirty="0"/>
              <a:t>else).</a:t>
            </a:r>
            <a:endParaRPr sz="2000"/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000" dirty="0"/>
              <a:t>Anywhere</a:t>
            </a:r>
            <a:r>
              <a:rPr sz="2000" spc="-15" dirty="0"/>
              <a:t> </a:t>
            </a:r>
            <a:r>
              <a:rPr sz="2000" spc="65" dirty="0"/>
              <a:t>on</a:t>
            </a:r>
            <a:r>
              <a:rPr sz="2000" spc="-15" dirty="0"/>
              <a:t> </a:t>
            </a:r>
            <a:r>
              <a:rPr sz="2000" spc="120" dirty="0"/>
              <a:t>that</a:t>
            </a:r>
            <a:r>
              <a:rPr sz="2000" spc="-10" dirty="0"/>
              <a:t> </a:t>
            </a:r>
            <a:r>
              <a:rPr sz="2000" spc="50" dirty="0"/>
              <a:t>line</a:t>
            </a:r>
            <a:r>
              <a:rPr sz="2000" spc="-15" dirty="0"/>
              <a:t> </a:t>
            </a:r>
            <a:r>
              <a:rPr sz="2000" spc="75" dirty="0"/>
              <a:t>d</a:t>
            </a:r>
            <a:r>
              <a:rPr sz="2000" spc="-15" dirty="0"/>
              <a:t> </a:t>
            </a:r>
            <a:r>
              <a:rPr sz="2000" dirty="0"/>
              <a:t>is</a:t>
            </a:r>
            <a:r>
              <a:rPr sz="2000" spc="-15" dirty="0"/>
              <a:t> </a:t>
            </a:r>
            <a:r>
              <a:rPr sz="2000" dirty="0"/>
              <a:t>equal</a:t>
            </a:r>
            <a:r>
              <a:rPr sz="2000" spc="-5" dirty="0"/>
              <a:t> </a:t>
            </a:r>
            <a:r>
              <a:rPr sz="2000" spc="165" dirty="0"/>
              <a:t>to</a:t>
            </a:r>
            <a:r>
              <a:rPr sz="2000" spc="-10" dirty="0"/>
              <a:t> </a:t>
            </a:r>
            <a:r>
              <a:rPr sz="2000" spc="40" dirty="0"/>
              <a:t>0.2t</a:t>
            </a:r>
            <a:endParaRPr sz="2000"/>
          </a:p>
          <a:p>
            <a:pPr marL="323215" marR="5080" indent="-220979">
              <a:lnSpc>
                <a:spcPct val="101699"/>
              </a:lnSpc>
              <a:spcBef>
                <a:spcPts val="530"/>
              </a:spcBef>
              <a:buClr>
                <a:srgbClr val="6697CC"/>
              </a:buClr>
              <a:buFont typeface="Arial"/>
              <a:buChar char="–"/>
              <a:tabLst>
                <a:tab pos="325120" algn="l"/>
              </a:tabLst>
            </a:pPr>
            <a:r>
              <a:rPr sz="2000" spc="95" dirty="0"/>
              <a:t>at</a:t>
            </a:r>
            <a:r>
              <a:rPr sz="2000" spc="-70" dirty="0"/>
              <a:t> </a:t>
            </a:r>
            <a:r>
              <a:rPr sz="2000" spc="85" dirty="0"/>
              <a:t>t=5</a:t>
            </a:r>
            <a:r>
              <a:rPr sz="2000" spc="-70" dirty="0"/>
              <a:t> </a:t>
            </a:r>
            <a:r>
              <a:rPr sz="2000" dirty="0"/>
              <a:t>and</a:t>
            </a:r>
            <a:r>
              <a:rPr sz="2000" spc="-65" dirty="0"/>
              <a:t> </a:t>
            </a:r>
            <a:r>
              <a:rPr sz="2000" dirty="0"/>
              <a:t>d=1,</a:t>
            </a:r>
            <a:r>
              <a:rPr sz="2000" spc="-55" dirty="0"/>
              <a:t> </a:t>
            </a:r>
            <a:r>
              <a:rPr sz="2000" spc="95" dirty="0"/>
              <a:t>the</a:t>
            </a:r>
            <a:r>
              <a:rPr sz="2000" spc="-70" dirty="0"/>
              <a:t> </a:t>
            </a:r>
            <a:r>
              <a:rPr sz="2000" spc="60" dirty="0"/>
              <a:t>equation</a:t>
            </a:r>
            <a:r>
              <a:rPr sz="2000" spc="-65" dirty="0"/>
              <a:t> </a:t>
            </a:r>
            <a:r>
              <a:rPr sz="2000" dirty="0"/>
              <a:t>is</a:t>
            </a:r>
            <a:r>
              <a:rPr sz="2000" spc="-80" dirty="0"/>
              <a:t> </a:t>
            </a:r>
            <a:r>
              <a:rPr sz="2000" spc="105" dirty="0"/>
              <a:t>true</a:t>
            </a:r>
            <a:r>
              <a:rPr sz="2000" spc="-75" dirty="0"/>
              <a:t> </a:t>
            </a:r>
            <a:r>
              <a:rPr sz="2000" spc="-35" dirty="0"/>
              <a:t>(Is</a:t>
            </a:r>
            <a:r>
              <a:rPr sz="2000" spc="-70" dirty="0"/>
              <a:t> </a:t>
            </a:r>
            <a:r>
              <a:rPr sz="2000" spc="75" dirty="0"/>
              <a:t>d</a:t>
            </a:r>
            <a:r>
              <a:rPr sz="2000" spc="-65" dirty="0"/>
              <a:t> </a:t>
            </a:r>
            <a:r>
              <a:rPr sz="2000" dirty="0"/>
              <a:t>=</a:t>
            </a:r>
            <a:r>
              <a:rPr sz="2000" spc="-65" dirty="0"/>
              <a:t> </a:t>
            </a:r>
            <a:r>
              <a:rPr sz="2000" dirty="0"/>
              <a:t>0.2t?</a:t>
            </a:r>
            <a:r>
              <a:rPr sz="2000" spc="-75" dirty="0"/>
              <a:t> </a:t>
            </a:r>
            <a:r>
              <a:rPr sz="2000" spc="-80" dirty="0"/>
              <a:t>Yes,</a:t>
            </a:r>
            <a:r>
              <a:rPr sz="2000" spc="-60" dirty="0"/>
              <a:t> </a:t>
            </a:r>
            <a:r>
              <a:rPr sz="2000" spc="-80" dirty="0"/>
              <a:t>as</a:t>
            </a:r>
            <a:r>
              <a:rPr sz="2000" spc="-70" dirty="0"/>
              <a:t> </a:t>
            </a:r>
            <a:r>
              <a:rPr sz="2000" dirty="0"/>
              <a:t>1</a:t>
            </a:r>
            <a:r>
              <a:rPr sz="2000" spc="-75" dirty="0"/>
              <a:t> </a:t>
            </a:r>
            <a:r>
              <a:rPr sz="2000" dirty="0"/>
              <a:t>=</a:t>
            </a:r>
            <a:r>
              <a:rPr sz="2000" spc="-65" dirty="0"/>
              <a:t> </a:t>
            </a:r>
            <a:r>
              <a:rPr sz="2000" spc="-10" dirty="0"/>
              <a:t>0.2×5 	</a:t>
            </a:r>
            <a:r>
              <a:rPr sz="2000" dirty="0"/>
              <a:t>is</a:t>
            </a:r>
            <a:r>
              <a:rPr sz="2000" spc="-110" dirty="0"/>
              <a:t> </a:t>
            </a:r>
            <a:r>
              <a:rPr sz="2000" spc="60" dirty="0"/>
              <a:t>true)</a:t>
            </a:r>
            <a:endParaRPr sz="2000"/>
          </a:p>
          <a:p>
            <a:pPr marL="323215" marR="315595" indent="-220979">
              <a:lnSpc>
                <a:spcPct val="101699"/>
              </a:lnSpc>
              <a:spcBef>
                <a:spcPts val="530"/>
              </a:spcBef>
              <a:buClr>
                <a:srgbClr val="6697CC"/>
              </a:buClr>
              <a:buFont typeface="Arial"/>
              <a:buChar char="–"/>
              <a:tabLst>
                <a:tab pos="325120" algn="l"/>
              </a:tabLst>
            </a:pPr>
            <a:r>
              <a:rPr sz="2000" spc="95" dirty="0"/>
              <a:t>at</a:t>
            </a:r>
            <a:r>
              <a:rPr sz="2000" spc="-70" dirty="0"/>
              <a:t> </a:t>
            </a:r>
            <a:r>
              <a:rPr sz="2000" spc="85" dirty="0"/>
              <a:t>t=5</a:t>
            </a:r>
            <a:r>
              <a:rPr sz="2000" spc="-65" dirty="0"/>
              <a:t> </a:t>
            </a:r>
            <a:r>
              <a:rPr sz="2000" dirty="0"/>
              <a:t>and</a:t>
            </a:r>
            <a:r>
              <a:rPr sz="2000" spc="-65" dirty="0"/>
              <a:t> </a:t>
            </a:r>
            <a:r>
              <a:rPr sz="2000" dirty="0"/>
              <a:t>d=3,</a:t>
            </a:r>
            <a:r>
              <a:rPr sz="2000" spc="-55" dirty="0"/>
              <a:t> </a:t>
            </a:r>
            <a:r>
              <a:rPr sz="2000" spc="95" dirty="0"/>
              <a:t>the</a:t>
            </a:r>
            <a:r>
              <a:rPr sz="2000" spc="-65" dirty="0"/>
              <a:t> </a:t>
            </a:r>
            <a:r>
              <a:rPr sz="2000" spc="60" dirty="0"/>
              <a:t>equation</a:t>
            </a:r>
            <a:r>
              <a:rPr sz="2000" spc="-65" dirty="0"/>
              <a:t> </a:t>
            </a:r>
            <a:r>
              <a:rPr sz="2000" dirty="0"/>
              <a:t>is</a:t>
            </a:r>
            <a:r>
              <a:rPr sz="2000" spc="-75" dirty="0"/>
              <a:t> </a:t>
            </a:r>
            <a:r>
              <a:rPr sz="2000" spc="130" dirty="0"/>
              <a:t>not</a:t>
            </a:r>
            <a:r>
              <a:rPr sz="2000" spc="-70" dirty="0"/>
              <a:t> </a:t>
            </a:r>
            <a:r>
              <a:rPr sz="2000" spc="105" dirty="0"/>
              <a:t>true</a:t>
            </a:r>
            <a:r>
              <a:rPr sz="2000" spc="-65" dirty="0"/>
              <a:t> </a:t>
            </a:r>
            <a:r>
              <a:rPr sz="2000" spc="-35" dirty="0"/>
              <a:t>(Is</a:t>
            </a:r>
            <a:r>
              <a:rPr sz="2000" spc="-65" dirty="0"/>
              <a:t> </a:t>
            </a:r>
            <a:r>
              <a:rPr sz="2000" spc="75" dirty="0"/>
              <a:t>d</a:t>
            </a:r>
            <a:r>
              <a:rPr sz="2000" spc="-65" dirty="0"/>
              <a:t> </a:t>
            </a:r>
            <a:r>
              <a:rPr sz="2000" dirty="0"/>
              <a:t>=</a:t>
            </a:r>
            <a:r>
              <a:rPr sz="2000" spc="-70" dirty="0"/>
              <a:t> </a:t>
            </a:r>
            <a:r>
              <a:rPr sz="2000" dirty="0"/>
              <a:t>0.2t?</a:t>
            </a:r>
            <a:r>
              <a:rPr sz="2000" spc="-60" dirty="0"/>
              <a:t> </a:t>
            </a:r>
            <a:r>
              <a:rPr sz="2000" dirty="0"/>
              <a:t>No,</a:t>
            </a:r>
            <a:r>
              <a:rPr sz="2000" spc="-60" dirty="0"/>
              <a:t> </a:t>
            </a:r>
            <a:r>
              <a:rPr sz="2000" spc="-80" dirty="0"/>
              <a:t>as</a:t>
            </a:r>
            <a:r>
              <a:rPr sz="2000" spc="-70" dirty="0"/>
              <a:t> </a:t>
            </a:r>
            <a:r>
              <a:rPr sz="2000" dirty="0"/>
              <a:t>3</a:t>
            </a:r>
            <a:r>
              <a:rPr sz="2000" spc="-65" dirty="0"/>
              <a:t> </a:t>
            </a:r>
            <a:r>
              <a:rPr sz="2000" spc="-50" dirty="0"/>
              <a:t>= 	</a:t>
            </a:r>
            <a:r>
              <a:rPr sz="2000" dirty="0"/>
              <a:t>0.2×5</a:t>
            </a:r>
            <a:r>
              <a:rPr sz="2000" spc="-90" dirty="0"/>
              <a:t> </a:t>
            </a:r>
            <a:r>
              <a:rPr sz="2000" dirty="0"/>
              <a:t>is</a:t>
            </a:r>
            <a:r>
              <a:rPr sz="2000" spc="-90" dirty="0"/>
              <a:t> </a:t>
            </a:r>
            <a:r>
              <a:rPr sz="2000" spc="125" dirty="0"/>
              <a:t>not</a:t>
            </a:r>
            <a:r>
              <a:rPr sz="2000" spc="-90" dirty="0"/>
              <a:t> </a:t>
            </a:r>
            <a:r>
              <a:rPr sz="2000" spc="70" dirty="0"/>
              <a:t>true)</a:t>
            </a:r>
            <a:endParaRPr sz="2000"/>
          </a:p>
          <a:p>
            <a:pPr marL="12700" marR="785495">
              <a:lnSpc>
                <a:spcPct val="101600"/>
              </a:lnSpc>
              <a:spcBef>
                <a:spcPts val="610"/>
              </a:spcBef>
            </a:pPr>
            <a:r>
              <a:rPr sz="2000" dirty="0"/>
              <a:t>Likewise</a:t>
            </a:r>
            <a:r>
              <a:rPr sz="2000" spc="-30" dirty="0"/>
              <a:t> </a:t>
            </a:r>
            <a:r>
              <a:rPr sz="2000" spc="100" dirty="0"/>
              <a:t>the</a:t>
            </a:r>
            <a:r>
              <a:rPr sz="2000" spc="-25" dirty="0"/>
              <a:t> </a:t>
            </a:r>
            <a:r>
              <a:rPr sz="2000" spc="50" dirty="0"/>
              <a:t>"horse"</a:t>
            </a:r>
            <a:r>
              <a:rPr sz="2000" spc="-20" dirty="0"/>
              <a:t> </a:t>
            </a:r>
            <a:r>
              <a:rPr sz="2000" spc="50" dirty="0"/>
              <a:t>line</a:t>
            </a:r>
            <a:r>
              <a:rPr sz="2000" spc="-20" dirty="0"/>
              <a:t> </a:t>
            </a:r>
            <a:r>
              <a:rPr sz="2000" dirty="0"/>
              <a:t>is</a:t>
            </a:r>
            <a:r>
              <a:rPr sz="2000" spc="-25" dirty="0"/>
              <a:t> </a:t>
            </a:r>
            <a:r>
              <a:rPr sz="2000" dirty="0"/>
              <a:t>also</a:t>
            </a:r>
            <a:r>
              <a:rPr sz="2000" spc="-15" dirty="0"/>
              <a:t> </a:t>
            </a:r>
            <a:r>
              <a:rPr sz="2000" spc="105" dirty="0"/>
              <a:t>true</a:t>
            </a:r>
            <a:r>
              <a:rPr sz="2000" spc="-30" dirty="0"/>
              <a:t> </a:t>
            </a:r>
            <a:r>
              <a:rPr sz="2000" dirty="0"/>
              <a:t>all</a:t>
            </a:r>
            <a:r>
              <a:rPr sz="2000" spc="-25" dirty="0"/>
              <a:t> </a:t>
            </a:r>
            <a:r>
              <a:rPr sz="2000" dirty="0"/>
              <a:t>along</a:t>
            </a:r>
            <a:r>
              <a:rPr sz="2000" spc="-10" dirty="0"/>
              <a:t> </a:t>
            </a:r>
            <a:r>
              <a:rPr sz="2000" spc="70" dirty="0"/>
              <a:t>its</a:t>
            </a:r>
            <a:r>
              <a:rPr sz="2000" spc="-25" dirty="0"/>
              <a:t> </a:t>
            </a:r>
            <a:r>
              <a:rPr sz="2000" spc="80" dirty="0"/>
              <a:t>length</a:t>
            </a:r>
            <a:r>
              <a:rPr sz="2000" spc="-30" dirty="0"/>
              <a:t> </a:t>
            </a:r>
            <a:r>
              <a:rPr sz="2000" spc="70" dirty="0"/>
              <a:t>(but </a:t>
            </a:r>
            <a:r>
              <a:rPr sz="2000" spc="55" dirty="0"/>
              <a:t>nowhere</a:t>
            </a:r>
            <a:r>
              <a:rPr sz="2000" spc="-50" dirty="0"/>
              <a:t> </a:t>
            </a:r>
            <a:r>
              <a:rPr sz="2000" spc="-10" dirty="0"/>
              <a:t>else).</a:t>
            </a:r>
            <a:endParaRPr sz="2000"/>
          </a:p>
          <a:p>
            <a:pPr marL="12700" marR="38100">
              <a:lnSpc>
                <a:spcPct val="101699"/>
              </a:lnSpc>
              <a:spcBef>
                <a:spcPts val="610"/>
              </a:spcBef>
            </a:pPr>
            <a:r>
              <a:rPr sz="2000" spc="85" dirty="0"/>
              <a:t>But</a:t>
            </a:r>
            <a:r>
              <a:rPr sz="2000" spc="-45" dirty="0"/>
              <a:t> </a:t>
            </a:r>
            <a:r>
              <a:rPr sz="2000" spc="55" dirty="0"/>
              <a:t>only</a:t>
            </a:r>
            <a:r>
              <a:rPr sz="2000" spc="-45" dirty="0"/>
              <a:t> </a:t>
            </a:r>
            <a:r>
              <a:rPr sz="2000" spc="95" dirty="0"/>
              <a:t>at</a:t>
            </a:r>
            <a:r>
              <a:rPr sz="2000" spc="-40" dirty="0"/>
              <a:t> </a:t>
            </a:r>
            <a:r>
              <a:rPr sz="2000" spc="100" dirty="0"/>
              <a:t>the</a:t>
            </a:r>
            <a:r>
              <a:rPr sz="2000" spc="-45" dirty="0"/>
              <a:t> </a:t>
            </a:r>
            <a:r>
              <a:rPr sz="2000" spc="105" dirty="0"/>
              <a:t>point</a:t>
            </a:r>
            <a:r>
              <a:rPr sz="2000" spc="-40" dirty="0"/>
              <a:t> </a:t>
            </a:r>
            <a:r>
              <a:rPr sz="2000" spc="50" dirty="0"/>
              <a:t>where</a:t>
            </a:r>
            <a:r>
              <a:rPr sz="2000" spc="-45" dirty="0"/>
              <a:t> </a:t>
            </a:r>
            <a:r>
              <a:rPr sz="2000" spc="75" dirty="0"/>
              <a:t>they</a:t>
            </a:r>
            <a:r>
              <a:rPr sz="2000" spc="-35" dirty="0"/>
              <a:t> </a:t>
            </a:r>
            <a:r>
              <a:rPr sz="2000" spc="-10" dirty="0"/>
              <a:t>cross</a:t>
            </a:r>
            <a:r>
              <a:rPr sz="2000" spc="-40" dirty="0"/>
              <a:t> </a:t>
            </a:r>
            <a:r>
              <a:rPr sz="2000" spc="60" dirty="0"/>
              <a:t>(at</a:t>
            </a:r>
            <a:r>
              <a:rPr sz="2000" spc="-35" dirty="0"/>
              <a:t> </a:t>
            </a:r>
            <a:r>
              <a:rPr sz="2000" dirty="0"/>
              <a:t>t=10,</a:t>
            </a:r>
            <a:r>
              <a:rPr sz="2000" spc="-35" dirty="0"/>
              <a:t> </a:t>
            </a:r>
            <a:r>
              <a:rPr sz="2000" dirty="0"/>
              <a:t>d=2)</a:t>
            </a:r>
            <a:r>
              <a:rPr sz="2000" spc="-35" dirty="0"/>
              <a:t> </a:t>
            </a:r>
            <a:r>
              <a:rPr sz="2000" dirty="0"/>
              <a:t>are</a:t>
            </a:r>
            <a:r>
              <a:rPr sz="2000" spc="-50" dirty="0"/>
              <a:t> </a:t>
            </a:r>
            <a:r>
              <a:rPr sz="2000" spc="75" dirty="0"/>
              <a:t>they</a:t>
            </a:r>
            <a:r>
              <a:rPr sz="2000" spc="-50" dirty="0"/>
              <a:t> </a:t>
            </a:r>
            <a:r>
              <a:rPr sz="2000" spc="95" dirty="0"/>
              <a:t>both </a:t>
            </a:r>
            <a:r>
              <a:rPr sz="2000" spc="60" dirty="0"/>
              <a:t>true.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535940" y="1425565"/>
            <a:ext cx="116205" cy="19653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20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0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0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0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0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818507"/>
            <a:ext cx="11620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5515825"/>
            <a:ext cx="11620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Where</a:t>
            </a:r>
            <a:r>
              <a:rPr spc="-35" dirty="0"/>
              <a:t> </a:t>
            </a:r>
            <a:r>
              <a:rPr spc="165" dirty="0"/>
              <a:t>the</a:t>
            </a:r>
            <a:r>
              <a:rPr spc="-35" dirty="0"/>
              <a:t> </a:t>
            </a:r>
            <a:r>
              <a:rPr dirty="0"/>
              <a:t>Equations</a:t>
            </a:r>
            <a:r>
              <a:rPr spc="-25" dirty="0"/>
              <a:t> </a:t>
            </a:r>
            <a:r>
              <a:rPr dirty="0"/>
              <a:t>are</a:t>
            </a:r>
            <a:r>
              <a:rPr spc="-40" dirty="0"/>
              <a:t> </a:t>
            </a:r>
            <a:r>
              <a:rPr spc="-20" dirty="0"/>
              <a:t>True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001" y="1915922"/>
            <a:ext cx="5492877" cy="24037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92934" y="5576658"/>
            <a:ext cx="1103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3366"/>
                </a:solidFill>
                <a:latin typeface="Arial"/>
                <a:cs typeface="Arial"/>
              </a:rPr>
              <a:t>Example...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Linear</a:t>
            </a:r>
            <a:r>
              <a:rPr spc="-95" dirty="0"/>
              <a:t> </a:t>
            </a:r>
            <a:r>
              <a:rPr spc="-10" dirty="0"/>
              <a:t>Independence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96306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7840" y="1484690"/>
            <a:ext cx="6823075" cy="3380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3700" marR="573405" indent="-343535">
              <a:lnSpc>
                <a:spcPct val="108700"/>
              </a:lnSpc>
              <a:spcBef>
                <a:spcPts val="95"/>
              </a:spcBef>
              <a:buClr>
                <a:srgbClr val="6697CC"/>
              </a:buClr>
              <a:buFont typeface="Arial"/>
              <a:buChar char="•"/>
              <a:tabLst>
                <a:tab pos="393700" algn="l"/>
              </a:tabLst>
            </a:pPr>
            <a:r>
              <a:rPr sz="2600" dirty="0">
                <a:latin typeface="Microsoft Sans Serif"/>
                <a:cs typeface="Microsoft Sans Serif"/>
              </a:rPr>
              <a:t>A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set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165" dirty="0">
                <a:latin typeface="Microsoft Sans Serif"/>
                <a:cs typeface="Microsoft Sans Serif"/>
              </a:rPr>
              <a:t>of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vectors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{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</a:t>
            </a:r>
            <a:r>
              <a:rPr sz="2250" baseline="-18518" dirty="0">
                <a:latin typeface="Microsoft Sans Serif"/>
                <a:cs typeface="Microsoft Sans Serif"/>
              </a:rPr>
              <a:t>1</a:t>
            </a:r>
            <a:r>
              <a:rPr sz="2250" spc="345" baseline="-18518" dirty="0">
                <a:latin typeface="Microsoft Sans Serif"/>
                <a:cs typeface="Microsoft Sans Serif"/>
              </a:rPr>
              <a:t> </a:t>
            </a:r>
            <a:r>
              <a:rPr sz="2600" spc="-90" dirty="0">
                <a:latin typeface="Microsoft Sans Serif"/>
                <a:cs typeface="Microsoft Sans Serif"/>
              </a:rPr>
              <a:t>,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</a:t>
            </a:r>
            <a:r>
              <a:rPr sz="2250" baseline="-18518" dirty="0">
                <a:latin typeface="Microsoft Sans Serif"/>
                <a:cs typeface="Microsoft Sans Serif"/>
              </a:rPr>
              <a:t>2</a:t>
            </a:r>
            <a:r>
              <a:rPr sz="2250" spc="-52" baseline="-18518" dirty="0">
                <a:latin typeface="Microsoft Sans Serif"/>
                <a:cs typeface="Microsoft Sans Serif"/>
              </a:rPr>
              <a:t> </a:t>
            </a:r>
            <a:r>
              <a:rPr sz="2600" spc="-100" dirty="0">
                <a:latin typeface="Microsoft Sans Serif"/>
                <a:cs typeface="Microsoft Sans Serif"/>
              </a:rPr>
              <a:t>,...,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</a:t>
            </a:r>
            <a:r>
              <a:rPr sz="2250" baseline="-18518" dirty="0">
                <a:latin typeface="Microsoft Sans Serif"/>
                <a:cs typeface="Microsoft Sans Serif"/>
              </a:rPr>
              <a:t>k</a:t>
            </a:r>
            <a:r>
              <a:rPr sz="2250" spc="322" baseline="-18518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}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linearly </a:t>
            </a:r>
            <a:r>
              <a:rPr sz="2600" spc="60" dirty="0">
                <a:latin typeface="Microsoft Sans Serif"/>
                <a:cs typeface="Microsoft Sans Serif"/>
              </a:rPr>
              <a:t>independent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if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vector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equation:</a:t>
            </a:r>
            <a:endParaRPr sz="2600">
              <a:latin typeface="Microsoft Sans Serif"/>
              <a:cs typeface="Microsoft Sans Serif"/>
            </a:endParaRPr>
          </a:p>
          <a:p>
            <a:pPr marL="393700">
              <a:lnSpc>
                <a:spcPct val="100000"/>
              </a:lnSpc>
              <a:spcBef>
                <a:spcPts val="810"/>
              </a:spcBef>
            </a:pPr>
            <a:r>
              <a:rPr sz="2600" dirty="0">
                <a:latin typeface="Microsoft Sans Serif"/>
                <a:cs typeface="Microsoft Sans Serif"/>
              </a:rPr>
              <a:t>x</a:t>
            </a:r>
            <a:r>
              <a:rPr sz="2250" baseline="-18518" dirty="0">
                <a:latin typeface="Microsoft Sans Serif"/>
                <a:cs typeface="Microsoft Sans Serif"/>
              </a:rPr>
              <a:t>1</a:t>
            </a:r>
            <a:r>
              <a:rPr sz="2250" spc="284" baseline="-18518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</a:t>
            </a:r>
            <a:r>
              <a:rPr sz="2250" baseline="-18518" dirty="0">
                <a:latin typeface="Microsoft Sans Serif"/>
                <a:cs typeface="Microsoft Sans Serif"/>
              </a:rPr>
              <a:t>1</a:t>
            </a:r>
            <a:r>
              <a:rPr sz="2250" spc="307" baseline="-18518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+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x</a:t>
            </a:r>
            <a:r>
              <a:rPr sz="2250" baseline="-18518" dirty="0">
                <a:latin typeface="Microsoft Sans Serif"/>
                <a:cs typeface="Microsoft Sans Serif"/>
              </a:rPr>
              <a:t>2</a:t>
            </a:r>
            <a:r>
              <a:rPr sz="2250" spc="300" baseline="-18518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</a:t>
            </a:r>
            <a:r>
              <a:rPr sz="2250" baseline="-18518" dirty="0">
                <a:latin typeface="Microsoft Sans Serif"/>
                <a:cs typeface="Microsoft Sans Serif"/>
              </a:rPr>
              <a:t>2</a:t>
            </a:r>
            <a:r>
              <a:rPr sz="2250" spc="307" baseline="-18518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+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-95" dirty="0">
                <a:latin typeface="Microsoft Sans Serif"/>
                <a:cs typeface="Microsoft Sans Serif"/>
              </a:rPr>
              <a:t>··· </a:t>
            </a:r>
            <a:r>
              <a:rPr sz="2600" dirty="0">
                <a:latin typeface="Microsoft Sans Serif"/>
                <a:cs typeface="Microsoft Sans Serif"/>
              </a:rPr>
              <a:t>+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x</a:t>
            </a:r>
            <a:r>
              <a:rPr sz="2250" baseline="-18518" dirty="0">
                <a:latin typeface="Microsoft Sans Serif"/>
                <a:cs typeface="Microsoft Sans Serif"/>
              </a:rPr>
              <a:t>k</a:t>
            </a:r>
            <a:r>
              <a:rPr sz="2250" spc="270" baseline="-18518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</a:t>
            </a:r>
            <a:r>
              <a:rPr sz="2250" baseline="-18518" dirty="0">
                <a:latin typeface="Microsoft Sans Serif"/>
                <a:cs typeface="Microsoft Sans Serif"/>
              </a:rPr>
              <a:t>k</a:t>
            </a:r>
            <a:r>
              <a:rPr sz="2250" spc="270" baseline="-18518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-50" dirty="0">
                <a:latin typeface="Microsoft Sans Serif"/>
                <a:cs typeface="Microsoft Sans Serif"/>
              </a:rPr>
              <a:t>0</a:t>
            </a:r>
            <a:endParaRPr sz="2600">
              <a:latin typeface="Microsoft Sans Serif"/>
              <a:cs typeface="Microsoft Sans Serif"/>
            </a:endParaRPr>
          </a:p>
          <a:p>
            <a:pPr marL="393700" marR="2386330">
              <a:lnSpc>
                <a:spcPct val="126000"/>
              </a:lnSpc>
              <a:spcBef>
                <a:spcPts val="260"/>
              </a:spcBef>
            </a:pPr>
            <a:r>
              <a:rPr sz="2600" spc="-70" dirty="0">
                <a:latin typeface="Microsoft Sans Serif"/>
                <a:cs typeface="Microsoft Sans Serif"/>
              </a:rPr>
              <a:t>has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only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trivial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solution </a:t>
            </a:r>
            <a:r>
              <a:rPr sz="2600" dirty="0">
                <a:latin typeface="Microsoft Sans Serif"/>
                <a:cs typeface="Microsoft Sans Serif"/>
              </a:rPr>
              <a:t>x</a:t>
            </a:r>
            <a:r>
              <a:rPr sz="2250" baseline="-18518" dirty="0">
                <a:latin typeface="Microsoft Sans Serif"/>
                <a:cs typeface="Microsoft Sans Serif"/>
              </a:rPr>
              <a:t>1</a:t>
            </a:r>
            <a:r>
              <a:rPr sz="2250" spc="262" baseline="-18518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x</a:t>
            </a:r>
            <a:r>
              <a:rPr sz="2250" baseline="-18518" dirty="0">
                <a:latin typeface="Microsoft Sans Serif"/>
                <a:cs typeface="Microsoft Sans Serif"/>
              </a:rPr>
              <a:t>2</a:t>
            </a:r>
            <a:r>
              <a:rPr sz="2250" spc="284" baseline="-18518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spc="-95" dirty="0">
                <a:latin typeface="Microsoft Sans Serif"/>
                <a:cs typeface="Microsoft Sans Serif"/>
              </a:rPr>
              <a:t>···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x</a:t>
            </a:r>
            <a:r>
              <a:rPr sz="2250" baseline="-18518" dirty="0">
                <a:latin typeface="Microsoft Sans Serif"/>
                <a:cs typeface="Microsoft Sans Serif"/>
              </a:rPr>
              <a:t>k</a:t>
            </a:r>
            <a:r>
              <a:rPr sz="2250" spc="270" baseline="-18518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0.</a:t>
            </a:r>
            <a:endParaRPr sz="2600">
              <a:latin typeface="Microsoft Sans Serif"/>
              <a:cs typeface="Microsoft Sans Serif"/>
            </a:endParaRPr>
          </a:p>
          <a:p>
            <a:pPr marL="393700" marR="55880" indent="-343535">
              <a:lnSpc>
                <a:spcPct val="108900"/>
              </a:lnSpc>
              <a:spcBef>
                <a:spcPts val="790"/>
              </a:spcBef>
              <a:buClr>
                <a:srgbClr val="6697CC"/>
              </a:buClr>
              <a:buFont typeface="Arial"/>
              <a:buChar char="•"/>
              <a:tabLst>
                <a:tab pos="393700" algn="l"/>
              </a:tabLst>
            </a:pPr>
            <a:r>
              <a:rPr sz="2600" spc="-10" dirty="0">
                <a:latin typeface="Microsoft Sans Serif"/>
                <a:cs typeface="Microsoft Sans Serif"/>
              </a:rPr>
              <a:t>The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set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{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</a:t>
            </a:r>
            <a:r>
              <a:rPr sz="2250" baseline="-18518" dirty="0">
                <a:latin typeface="Microsoft Sans Serif"/>
                <a:cs typeface="Microsoft Sans Serif"/>
              </a:rPr>
              <a:t>1</a:t>
            </a:r>
            <a:r>
              <a:rPr sz="2250" spc="345" baseline="-18518" dirty="0">
                <a:latin typeface="Microsoft Sans Serif"/>
                <a:cs typeface="Microsoft Sans Serif"/>
              </a:rPr>
              <a:t> </a:t>
            </a:r>
            <a:r>
              <a:rPr sz="2600" spc="-90" dirty="0">
                <a:latin typeface="Microsoft Sans Serif"/>
                <a:cs typeface="Microsoft Sans Serif"/>
              </a:rPr>
              <a:t>,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</a:t>
            </a:r>
            <a:r>
              <a:rPr sz="2250" baseline="-18518" dirty="0">
                <a:latin typeface="Microsoft Sans Serif"/>
                <a:cs typeface="Microsoft Sans Serif"/>
              </a:rPr>
              <a:t>2</a:t>
            </a:r>
            <a:r>
              <a:rPr sz="2250" spc="359" baseline="-18518" dirty="0">
                <a:latin typeface="Microsoft Sans Serif"/>
                <a:cs typeface="Microsoft Sans Serif"/>
              </a:rPr>
              <a:t> </a:t>
            </a:r>
            <a:r>
              <a:rPr sz="2600" spc="-100" dirty="0">
                <a:latin typeface="Microsoft Sans Serif"/>
                <a:cs typeface="Microsoft Sans Serif"/>
              </a:rPr>
              <a:t>,...,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</a:t>
            </a:r>
            <a:r>
              <a:rPr sz="2250" baseline="-18518" dirty="0">
                <a:latin typeface="Microsoft Sans Serif"/>
                <a:cs typeface="Microsoft Sans Serif"/>
              </a:rPr>
              <a:t>k</a:t>
            </a:r>
            <a:r>
              <a:rPr sz="2250" spc="322" baseline="-18518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}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linearly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dependent </a:t>
            </a:r>
            <a:r>
              <a:rPr sz="2600" spc="-10" dirty="0">
                <a:latin typeface="Microsoft Sans Serif"/>
                <a:cs typeface="Microsoft Sans Serif"/>
              </a:rPr>
              <a:t>otherwise.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Linear</a:t>
            </a:r>
            <a:r>
              <a:rPr spc="-95" dirty="0"/>
              <a:t> </a:t>
            </a:r>
            <a:r>
              <a:rPr spc="-10" dirty="0"/>
              <a:t>Independence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0540" y="1430322"/>
            <a:ext cx="8040370" cy="461899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81000" algn="just">
              <a:lnSpc>
                <a:spcPct val="100000"/>
              </a:lnSpc>
              <a:spcBef>
                <a:spcPts val="795"/>
              </a:spcBef>
            </a:pPr>
            <a:r>
              <a:rPr sz="2600" spc="-50" dirty="0">
                <a:latin typeface="Microsoft Sans Serif"/>
                <a:cs typeface="Microsoft Sans Serif"/>
              </a:rPr>
              <a:t>Facts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about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linear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independence</a:t>
            </a:r>
            <a:endParaRPr sz="2600">
              <a:latin typeface="Microsoft Sans Serif"/>
              <a:cs typeface="Microsoft Sans Serif"/>
            </a:endParaRPr>
          </a:p>
          <a:p>
            <a:pPr marL="781050" marR="43180" indent="-286385" algn="just">
              <a:lnSpc>
                <a:spcPct val="100000"/>
              </a:lnSpc>
              <a:spcBef>
                <a:spcPts val="700"/>
              </a:spcBef>
              <a:buClr>
                <a:srgbClr val="6697CC"/>
              </a:buClr>
              <a:buFont typeface="Arial"/>
              <a:buChar char="–"/>
              <a:tabLst>
                <a:tab pos="781050" algn="l"/>
              </a:tabLst>
            </a:pPr>
            <a:r>
              <a:rPr sz="2600" spc="25" dirty="0">
                <a:latin typeface="Microsoft Sans Serif"/>
                <a:cs typeface="Microsoft Sans Serif"/>
              </a:rPr>
              <a:t>Two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35" dirty="0">
                <a:latin typeface="Microsoft Sans Serif"/>
                <a:cs typeface="Microsoft Sans Serif"/>
              </a:rPr>
              <a:t>vectors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5" dirty="0">
                <a:latin typeface="Microsoft Sans Serif"/>
                <a:cs typeface="Microsoft Sans Serif"/>
              </a:rPr>
              <a:t>are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40" dirty="0">
                <a:latin typeface="Microsoft Sans Serif"/>
                <a:cs typeface="Microsoft Sans Serif"/>
              </a:rPr>
              <a:t>linearly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dependent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if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and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only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if</a:t>
            </a:r>
            <a:r>
              <a:rPr sz="2600" spc="175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they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are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25" dirty="0">
                <a:latin typeface="Microsoft Sans Serif"/>
                <a:cs typeface="Microsoft Sans Serif"/>
              </a:rPr>
              <a:t>collinear,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45" dirty="0">
                <a:latin typeface="Microsoft Sans Serif"/>
                <a:cs typeface="Microsoft Sans Serif"/>
              </a:rPr>
              <a:t>i.e.,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35" dirty="0">
                <a:latin typeface="Microsoft Sans Serif"/>
                <a:cs typeface="Microsoft Sans Serif"/>
              </a:rPr>
              <a:t>one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40" dirty="0">
                <a:latin typeface="Microsoft Sans Serif"/>
                <a:cs typeface="Microsoft Sans Serif"/>
              </a:rPr>
              <a:t>is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105" dirty="0">
                <a:latin typeface="Microsoft Sans Serif"/>
                <a:cs typeface="Microsoft Sans Serif"/>
              </a:rPr>
              <a:t>a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35" dirty="0">
                <a:latin typeface="Microsoft Sans Serif"/>
                <a:cs typeface="Microsoft Sans Serif"/>
              </a:rPr>
              <a:t>scalar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95" dirty="0">
                <a:latin typeface="Microsoft Sans Serif"/>
                <a:cs typeface="Microsoft Sans Serif"/>
              </a:rPr>
              <a:t>multiple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65" dirty="0">
                <a:latin typeface="Microsoft Sans Serif"/>
                <a:cs typeface="Microsoft Sans Serif"/>
              </a:rPr>
              <a:t>of</a:t>
            </a:r>
            <a:r>
              <a:rPr sz="2600" spc="26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other.</a:t>
            </a:r>
            <a:endParaRPr sz="2600">
              <a:latin typeface="Microsoft Sans Serif"/>
              <a:cs typeface="Microsoft Sans Serif"/>
            </a:endParaRPr>
          </a:p>
          <a:p>
            <a:pPr marL="781050" marR="639445" indent="-286385" algn="just">
              <a:lnSpc>
                <a:spcPct val="100000"/>
              </a:lnSpc>
              <a:spcBef>
                <a:spcPts val="710"/>
              </a:spcBef>
              <a:buClr>
                <a:srgbClr val="6697CC"/>
              </a:buClr>
              <a:buFont typeface="Arial"/>
              <a:buChar char="–"/>
              <a:tabLst>
                <a:tab pos="781050" algn="l"/>
              </a:tabLst>
            </a:pPr>
            <a:r>
              <a:rPr sz="2600" dirty="0">
                <a:latin typeface="Microsoft Sans Serif"/>
                <a:cs typeface="Microsoft Sans Serif"/>
              </a:rPr>
              <a:t>Any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set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45" dirty="0">
                <a:latin typeface="Microsoft Sans Serif"/>
                <a:cs typeface="Microsoft Sans Serif"/>
              </a:rPr>
              <a:t>containing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zero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70" dirty="0">
                <a:latin typeface="Microsoft Sans Serif"/>
                <a:cs typeface="Microsoft Sans Serif"/>
              </a:rPr>
              <a:t>vector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is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linearly </a:t>
            </a:r>
            <a:r>
              <a:rPr sz="2600" spc="40" dirty="0">
                <a:latin typeface="Microsoft Sans Serif"/>
                <a:cs typeface="Microsoft Sans Serif"/>
              </a:rPr>
              <a:t>dependent.</a:t>
            </a:r>
            <a:endParaRPr sz="2600">
              <a:latin typeface="Microsoft Sans Serif"/>
              <a:cs typeface="Microsoft Sans Serif"/>
            </a:endParaRPr>
          </a:p>
          <a:p>
            <a:pPr marL="381000" marR="367665" indent="-343535" algn="just">
              <a:lnSpc>
                <a:spcPct val="109000"/>
              </a:lnSpc>
              <a:spcBef>
                <a:spcPts val="520"/>
              </a:spcBef>
              <a:buClr>
                <a:srgbClr val="6697CC"/>
              </a:buClr>
              <a:buFont typeface="Arial"/>
              <a:buChar char="•"/>
              <a:tabLst>
                <a:tab pos="381000" algn="l"/>
              </a:tabLst>
            </a:pPr>
            <a:r>
              <a:rPr sz="2600" spc="120" dirty="0">
                <a:latin typeface="Microsoft Sans Serif"/>
                <a:cs typeface="Microsoft Sans Serif"/>
              </a:rPr>
              <a:t>If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105" dirty="0">
                <a:latin typeface="Microsoft Sans Serif"/>
                <a:cs typeface="Microsoft Sans Serif"/>
              </a:rPr>
              <a:t>a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20" dirty="0">
                <a:latin typeface="Microsoft Sans Serif"/>
                <a:cs typeface="Microsoft Sans Serif"/>
              </a:rPr>
              <a:t>subset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165" dirty="0">
                <a:latin typeface="Microsoft Sans Serif"/>
                <a:cs typeface="Microsoft Sans Serif"/>
              </a:rPr>
              <a:t>of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{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v</a:t>
            </a:r>
            <a:r>
              <a:rPr sz="2250" spc="7" baseline="-18518" dirty="0">
                <a:latin typeface="Microsoft Sans Serif"/>
                <a:cs typeface="Microsoft Sans Serif"/>
              </a:rPr>
              <a:t>1</a:t>
            </a:r>
            <a:r>
              <a:rPr sz="2250" spc="315" baseline="-18518" dirty="0">
                <a:latin typeface="Microsoft Sans Serif"/>
                <a:cs typeface="Microsoft Sans Serif"/>
              </a:rPr>
              <a:t> </a:t>
            </a:r>
            <a:r>
              <a:rPr sz="2600" spc="-90" dirty="0">
                <a:latin typeface="Microsoft Sans Serif"/>
                <a:cs typeface="Microsoft Sans Serif"/>
              </a:rPr>
              <a:t>,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5" dirty="0">
                <a:latin typeface="Microsoft Sans Serif"/>
                <a:cs typeface="Microsoft Sans Serif"/>
              </a:rPr>
              <a:t>v</a:t>
            </a:r>
            <a:r>
              <a:rPr sz="2250" spc="7" baseline="-18518" dirty="0">
                <a:latin typeface="Microsoft Sans Serif"/>
                <a:cs typeface="Microsoft Sans Serif"/>
              </a:rPr>
              <a:t>2</a:t>
            </a:r>
            <a:r>
              <a:rPr sz="2250" spc="300" baseline="-18518" dirty="0">
                <a:latin typeface="Microsoft Sans Serif"/>
                <a:cs typeface="Microsoft Sans Serif"/>
              </a:rPr>
              <a:t> </a:t>
            </a:r>
            <a:r>
              <a:rPr sz="2600" spc="-90" dirty="0">
                <a:latin typeface="Microsoft Sans Serif"/>
                <a:cs typeface="Microsoft Sans Serif"/>
              </a:rPr>
              <a:t>,...,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20" dirty="0">
                <a:latin typeface="Microsoft Sans Serif"/>
                <a:cs typeface="Microsoft Sans Serif"/>
              </a:rPr>
              <a:t>v</a:t>
            </a:r>
            <a:r>
              <a:rPr sz="2250" spc="30" baseline="-18518" dirty="0">
                <a:latin typeface="Microsoft Sans Serif"/>
                <a:cs typeface="Microsoft Sans Serif"/>
              </a:rPr>
              <a:t>k</a:t>
            </a:r>
            <a:r>
              <a:rPr sz="2250" spc="284" baseline="-18518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}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-40" dirty="0">
                <a:latin typeface="Microsoft Sans Serif"/>
                <a:cs typeface="Microsoft Sans Serif"/>
              </a:rPr>
              <a:t>is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45" dirty="0">
                <a:latin typeface="Microsoft Sans Serif"/>
                <a:cs typeface="Microsoft Sans Serif"/>
              </a:rPr>
              <a:t>linearly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dependent,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90" dirty="0">
                <a:latin typeface="Microsoft Sans Serif"/>
                <a:cs typeface="Microsoft Sans Serif"/>
              </a:rPr>
              <a:t>then</a:t>
            </a:r>
            <a:endParaRPr sz="2600">
              <a:latin typeface="Microsoft Sans Serif"/>
              <a:cs typeface="Microsoft Sans Serif"/>
            </a:endParaRPr>
          </a:p>
          <a:p>
            <a:pPr marL="781050" algn="just">
              <a:lnSpc>
                <a:spcPct val="100000"/>
              </a:lnSpc>
              <a:spcBef>
                <a:spcPts val="700"/>
              </a:spcBef>
            </a:pPr>
            <a:r>
              <a:rPr sz="2600" dirty="0">
                <a:latin typeface="Microsoft Sans Serif"/>
                <a:cs typeface="Microsoft Sans Serif"/>
              </a:rPr>
              <a:t>{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</a:t>
            </a:r>
            <a:r>
              <a:rPr sz="2250" baseline="-18518" dirty="0">
                <a:latin typeface="Microsoft Sans Serif"/>
                <a:cs typeface="Microsoft Sans Serif"/>
              </a:rPr>
              <a:t>1</a:t>
            </a:r>
            <a:r>
              <a:rPr sz="2250" spc="322" baseline="-18518" dirty="0">
                <a:latin typeface="Microsoft Sans Serif"/>
                <a:cs typeface="Microsoft Sans Serif"/>
              </a:rPr>
              <a:t> </a:t>
            </a:r>
            <a:r>
              <a:rPr sz="2600" spc="-90" dirty="0">
                <a:latin typeface="Microsoft Sans Serif"/>
                <a:cs typeface="Microsoft Sans Serif"/>
              </a:rPr>
              <a:t>,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</a:t>
            </a:r>
            <a:r>
              <a:rPr sz="2250" baseline="-18518" dirty="0">
                <a:latin typeface="Microsoft Sans Serif"/>
                <a:cs typeface="Microsoft Sans Serif"/>
              </a:rPr>
              <a:t>2</a:t>
            </a:r>
            <a:r>
              <a:rPr sz="2250" spc="330" baseline="-18518" dirty="0">
                <a:latin typeface="Microsoft Sans Serif"/>
                <a:cs typeface="Microsoft Sans Serif"/>
              </a:rPr>
              <a:t> </a:t>
            </a:r>
            <a:r>
              <a:rPr sz="2600" spc="-100" dirty="0">
                <a:latin typeface="Microsoft Sans Serif"/>
                <a:cs typeface="Microsoft Sans Serif"/>
              </a:rPr>
              <a:t>,...,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</a:t>
            </a:r>
            <a:r>
              <a:rPr sz="2250" baseline="-18518" dirty="0">
                <a:latin typeface="Microsoft Sans Serif"/>
                <a:cs typeface="Microsoft Sans Serif"/>
              </a:rPr>
              <a:t>k</a:t>
            </a:r>
            <a:r>
              <a:rPr sz="2250" spc="307" baseline="-18518" dirty="0">
                <a:latin typeface="Microsoft Sans Serif"/>
                <a:cs typeface="Microsoft Sans Serif"/>
              </a:rPr>
              <a:t> </a:t>
            </a:r>
            <a:r>
              <a:rPr sz="2600" spc="-50" dirty="0">
                <a:latin typeface="Microsoft Sans Serif"/>
                <a:cs typeface="Microsoft Sans Serif"/>
              </a:rPr>
              <a:t>}</a:t>
            </a:r>
            <a:endParaRPr sz="2600">
              <a:latin typeface="Microsoft Sans Serif"/>
              <a:cs typeface="Microsoft Sans Serif"/>
            </a:endParaRPr>
          </a:p>
          <a:p>
            <a:pPr marL="685165" algn="just">
              <a:lnSpc>
                <a:spcPct val="100000"/>
              </a:lnSpc>
              <a:spcBef>
                <a:spcPts val="1080"/>
              </a:spcBef>
            </a:pP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linearly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dependent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spc="-130" dirty="0">
                <a:latin typeface="Microsoft Sans Serif"/>
                <a:cs typeface="Microsoft Sans Serif"/>
              </a:rPr>
              <a:t>as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spc="40" dirty="0">
                <a:latin typeface="Microsoft Sans Serif"/>
                <a:cs typeface="Microsoft Sans Serif"/>
              </a:rPr>
              <a:t>well.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Picture</a:t>
            </a:r>
            <a:r>
              <a:rPr spc="-110" dirty="0"/>
              <a:t> </a:t>
            </a:r>
            <a:r>
              <a:rPr spc="245" dirty="0"/>
              <a:t>of</a:t>
            </a:r>
            <a:r>
              <a:rPr spc="-100" dirty="0"/>
              <a:t> </a:t>
            </a:r>
            <a:r>
              <a:rPr dirty="0"/>
              <a:t>Linear</a:t>
            </a:r>
            <a:r>
              <a:rPr spc="-100" dirty="0"/>
              <a:t> </a:t>
            </a:r>
            <a:r>
              <a:rPr spc="-10" dirty="0"/>
              <a:t>Independence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519097"/>
            <a:ext cx="755015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Microsoft Sans Serif"/>
                <a:cs typeface="Microsoft Sans Serif"/>
              </a:rPr>
              <a:t>A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set</a:t>
            </a:r>
            <a:r>
              <a:rPr sz="2600" spc="-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containg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one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spc="70" dirty="0">
                <a:latin typeface="Microsoft Sans Serif"/>
                <a:cs typeface="Microsoft Sans Serif"/>
              </a:rPr>
              <a:t>vector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{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}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linearly </a:t>
            </a:r>
            <a:r>
              <a:rPr sz="2600" spc="60" dirty="0">
                <a:latin typeface="Microsoft Sans Serif"/>
                <a:cs typeface="Microsoft Sans Serif"/>
              </a:rPr>
              <a:t>independent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when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!=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0,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-20" dirty="0">
                <a:latin typeface="Microsoft Sans Serif"/>
                <a:cs typeface="Microsoft Sans Serif"/>
              </a:rPr>
              <a:t>since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xv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0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implies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x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0.</a:t>
            </a:r>
            <a:endParaRPr sz="26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6394" y="3311639"/>
            <a:ext cx="3885914" cy="210455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Matrix</a:t>
            </a:r>
            <a:r>
              <a:rPr spc="-135" dirty="0"/>
              <a:t> </a:t>
            </a:r>
            <a:r>
              <a:rPr spc="45" dirty="0"/>
              <a:t>Factorization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2351" rIns="0" bIns="0" rtlCol="0">
            <a:spAutoFit/>
          </a:bodyPr>
          <a:lstStyle/>
          <a:p>
            <a:pPr marL="70485" marR="32384">
              <a:lnSpc>
                <a:spcPct val="100899"/>
              </a:lnSpc>
              <a:spcBef>
                <a:spcPts val="90"/>
              </a:spcBef>
            </a:pPr>
            <a:r>
              <a:rPr sz="2450" dirty="0"/>
              <a:t>Many</a:t>
            </a:r>
            <a:r>
              <a:rPr sz="2450" spc="-5" dirty="0"/>
              <a:t> </a:t>
            </a:r>
            <a:r>
              <a:rPr sz="2450" dirty="0"/>
              <a:t>complex </a:t>
            </a:r>
            <a:r>
              <a:rPr sz="2450" spc="90" dirty="0"/>
              <a:t>matrix</a:t>
            </a:r>
            <a:r>
              <a:rPr sz="2450" dirty="0"/>
              <a:t> </a:t>
            </a:r>
            <a:r>
              <a:rPr sz="2450" spc="60" dirty="0"/>
              <a:t>operations</a:t>
            </a:r>
            <a:r>
              <a:rPr sz="2450" spc="5" dirty="0"/>
              <a:t> </a:t>
            </a:r>
            <a:r>
              <a:rPr sz="2450" spc="55" dirty="0"/>
              <a:t>cannot</a:t>
            </a:r>
            <a:r>
              <a:rPr sz="2450" spc="5" dirty="0"/>
              <a:t> </a:t>
            </a:r>
            <a:r>
              <a:rPr sz="2450" dirty="0"/>
              <a:t>be</a:t>
            </a:r>
            <a:r>
              <a:rPr sz="2450" spc="-5" dirty="0"/>
              <a:t> </a:t>
            </a:r>
            <a:r>
              <a:rPr sz="2450" spc="-10" dirty="0"/>
              <a:t>solved </a:t>
            </a:r>
            <a:r>
              <a:rPr sz="2450" spc="100" dirty="0"/>
              <a:t>efficiently</a:t>
            </a:r>
            <a:r>
              <a:rPr sz="2450" spc="-65" dirty="0"/>
              <a:t> </a:t>
            </a:r>
            <a:r>
              <a:rPr sz="2450" spc="105" dirty="0"/>
              <a:t>or</a:t>
            </a:r>
            <a:r>
              <a:rPr sz="2450" spc="-50" dirty="0"/>
              <a:t> </a:t>
            </a:r>
            <a:r>
              <a:rPr sz="2450" spc="135" dirty="0"/>
              <a:t>with</a:t>
            </a:r>
            <a:r>
              <a:rPr sz="2450" spc="-55" dirty="0"/>
              <a:t> </a:t>
            </a:r>
            <a:r>
              <a:rPr sz="2450" spc="75" dirty="0"/>
              <a:t>stability</a:t>
            </a:r>
            <a:r>
              <a:rPr sz="2450" spc="-65" dirty="0"/>
              <a:t> </a:t>
            </a:r>
            <a:r>
              <a:rPr sz="2450" dirty="0"/>
              <a:t>using</a:t>
            </a:r>
            <a:r>
              <a:rPr sz="2450" spc="-55" dirty="0"/>
              <a:t> </a:t>
            </a:r>
            <a:r>
              <a:rPr sz="2450" spc="120" dirty="0"/>
              <a:t>the</a:t>
            </a:r>
            <a:r>
              <a:rPr sz="2450" spc="-55" dirty="0"/>
              <a:t> </a:t>
            </a:r>
            <a:r>
              <a:rPr sz="2450" spc="100" dirty="0"/>
              <a:t>limited</a:t>
            </a:r>
            <a:r>
              <a:rPr sz="2450" spc="-60" dirty="0"/>
              <a:t> </a:t>
            </a:r>
            <a:r>
              <a:rPr sz="2450" spc="-10" dirty="0"/>
              <a:t>precision </a:t>
            </a:r>
            <a:r>
              <a:rPr sz="2450" spc="180" dirty="0"/>
              <a:t>of</a:t>
            </a:r>
            <a:r>
              <a:rPr sz="2450" spc="-80" dirty="0"/>
              <a:t> </a:t>
            </a:r>
            <a:r>
              <a:rPr sz="2450" spc="-10" dirty="0"/>
              <a:t>computers.</a:t>
            </a:r>
            <a:endParaRPr sz="2450"/>
          </a:p>
          <a:p>
            <a:pPr marL="70485" marR="396875">
              <a:lnSpc>
                <a:spcPct val="100899"/>
              </a:lnSpc>
              <a:spcBef>
                <a:spcPts val="765"/>
              </a:spcBef>
            </a:pPr>
            <a:r>
              <a:rPr sz="2450" spc="90" dirty="0"/>
              <a:t>Matrix</a:t>
            </a:r>
            <a:r>
              <a:rPr sz="2450" spc="20" dirty="0"/>
              <a:t> </a:t>
            </a:r>
            <a:r>
              <a:rPr sz="2450" spc="10" dirty="0"/>
              <a:t>decompositions</a:t>
            </a:r>
            <a:r>
              <a:rPr sz="2450" spc="40" dirty="0"/>
              <a:t> </a:t>
            </a:r>
            <a:r>
              <a:rPr sz="2450" spc="10" dirty="0"/>
              <a:t>are</a:t>
            </a:r>
            <a:r>
              <a:rPr sz="2450" spc="40" dirty="0"/>
              <a:t> </a:t>
            </a:r>
            <a:r>
              <a:rPr sz="2450" spc="65" dirty="0"/>
              <a:t>methods</a:t>
            </a:r>
            <a:r>
              <a:rPr sz="2450" spc="40" dirty="0"/>
              <a:t> </a:t>
            </a:r>
            <a:r>
              <a:rPr sz="2450" spc="145" dirty="0"/>
              <a:t>that</a:t>
            </a:r>
            <a:r>
              <a:rPr sz="2450" spc="40" dirty="0"/>
              <a:t> </a:t>
            </a:r>
            <a:r>
              <a:rPr sz="2450" spc="10" dirty="0"/>
              <a:t>reduce</a:t>
            </a:r>
            <a:r>
              <a:rPr sz="2450" spc="45" dirty="0"/>
              <a:t> </a:t>
            </a:r>
            <a:r>
              <a:rPr sz="2450" spc="-50" dirty="0"/>
              <a:t>a </a:t>
            </a:r>
            <a:r>
              <a:rPr sz="2450" spc="90" dirty="0"/>
              <a:t>matrix</a:t>
            </a:r>
            <a:r>
              <a:rPr sz="2450" spc="-65" dirty="0"/>
              <a:t> </a:t>
            </a:r>
            <a:r>
              <a:rPr sz="2450" spc="125" dirty="0"/>
              <a:t>into</a:t>
            </a:r>
            <a:r>
              <a:rPr sz="2450" spc="-55" dirty="0"/>
              <a:t> </a:t>
            </a:r>
            <a:r>
              <a:rPr sz="2450" spc="90" dirty="0"/>
              <a:t>constituent</a:t>
            </a:r>
            <a:r>
              <a:rPr sz="2450" spc="-60" dirty="0"/>
              <a:t> </a:t>
            </a:r>
            <a:r>
              <a:rPr sz="2450" spc="60" dirty="0"/>
              <a:t>parts</a:t>
            </a:r>
            <a:r>
              <a:rPr sz="2450" spc="-65" dirty="0"/>
              <a:t> </a:t>
            </a:r>
            <a:r>
              <a:rPr sz="2450" spc="145" dirty="0"/>
              <a:t>that</a:t>
            </a:r>
            <a:r>
              <a:rPr sz="2450" spc="-60" dirty="0"/>
              <a:t> </a:t>
            </a:r>
            <a:r>
              <a:rPr sz="2450" dirty="0"/>
              <a:t>make</a:t>
            </a:r>
            <a:r>
              <a:rPr sz="2450" spc="-60" dirty="0"/>
              <a:t> </a:t>
            </a:r>
            <a:r>
              <a:rPr sz="2450" spc="185" dirty="0"/>
              <a:t>it</a:t>
            </a:r>
            <a:r>
              <a:rPr sz="2450" spc="-60" dirty="0"/>
              <a:t> </a:t>
            </a:r>
            <a:r>
              <a:rPr sz="2450" dirty="0"/>
              <a:t>easier</a:t>
            </a:r>
            <a:r>
              <a:rPr sz="2450" spc="-60" dirty="0"/>
              <a:t> </a:t>
            </a:r>
            <a:r>
              <a:rPr sz="2450" spc="170" dirty="0"/>
              <a:t>to </a:t>
            </a:r>
            <a:r>
              <a:rPr sz="2450" dirty="0"/>
              <a:t>calculate</a:t>
            </a:r>
            <a:r>
              <a:rPr sz="2450" spc="70" dirty="0"/>
              <a:t> </a:t>
            </a:r>
            <a:r>
              <a:rPr sz="2450" spc="75" dirty="0"/>
              <a:t>more </a:t>
            </a:r>
            <a:r>
              <a:rPr sz="2450" dirty="0"/>
              <a:t>complex</a:t>
            </a:r>
            <a:r>
              <a:rPr sz="2450" spc="65" dirty="0"/>
              <a:t> </a:t>
            </a:r>
            <a:r>
              <a:rPr sz="2450" spc="85" dirty="0"/>
              <a:t>matrix</a:t>
            </a:r>
            <a:r>
              <a:rPr sz="2450" spc="70" dirty="0"/>
              <a:t> </a:t>
            </a:r>
            <a:r>
              <a:rPr sz="2450" spc="35" dirty="0"/>
              <a:t>operations.</a:t>
            </a:r>
            <a:endParaRPr sz="2450"/>
          </a:p>
          <a:p>
            <a:pPr marL="70485" marR="5080">
              <a:lnSpc>
                <a:spcPct val="100899"/>
              </a:lnSpc>
              <a:spcBef>
                <a:spcPts val="765"/>
              </a:spcBef>
            </a:pPr>
            <a:r>
              <a:rPr sz="2450" spc="90" dirty="0"/>
              <a:t>Matrix</a:t>
            </a:r>
            <a:r>
              <a:rPr sz="2450" spc="-45" dirty="0"/>
              <a:t> </a:t>
            </a:r>
            <a:r>
              <a:rPr sz="2450" spc="55" dirty="0"/>
              <a:t>decomposition</a:t>
            </a:r>
            <a:r>
              <a:rPr sz="2450" spc="-45" dirty="0"/>
              <a:t> </a:t>
            </a:r>
            <a:r>
              <a:rPr sz="2450" spc="50" dirty="0"/>
              <a:t>methods,</a:t>
            </a:r>
            <a:r>
              <a:rPr sz="2450" spc="-35" dirty="0"/>
              <a:t> </a:t>
            </a:r>
            <a:r>
              <a:rPr sz="2450" dirty="0"/>
              <a:t>also</a:t>
            </a:r>
            <a:r>
              <a:rPr sz="2450" spc="-35" dirty="0"/>
              <a:t> </a:t>
            </a:r>
            <a:r>
              <a:rPr sz="2450" dirty="0"/>
              <a:t>called</a:t>
            </a:r>
            <a:r>
              <a:rPr sz="2450" spc="-40" dirty="0"/>
              <a:t> </a:t>
            </a:r>
            <a:r>
              <a:rPr sz="2450" spc="75" dirty="0"/>
              <a:t>matrix </a:t>
            </a:r>
            <a:r>
              <a:rPr sz="2450" spc="80" dirty="0"/>
              <a:t>factorization</a:t>
            </a:r>
            <a:r>
              <a:rPr sz="2450" spc="-70" dirty="0"/>
              <a:t> </a:t>
            </a:r>
            <a:r>
              <a:rPr sz="2450" spc="45" dirty="0"/>
              <a:t>methods,</a:t>
            </a:r>
            <a:r>
              <a:rPr sz="2450" spc="-60" dirty="0"/>
              <a:t> </a:t>
            </a:r>
            <a:r>
              <a:rPr sz="2450" dirty="0"/>
              <a:t>are</a:t>
            </a:r>
            <a:r>
              <a:rPr sz="2450" spc="-60" dirty="0"/>
              <a:t> </a:t>
            </a:r>
            <a:r>
              <a:rPr sz="2450" dirty="0"/>
              <a:t>a</a:t>
            </a:r>
            <a:r>
              <a:rPr sz="2450" spc="-55" dirty="0"/>
              <a:t> </a:t>
            </a:r>
            <a:r>
              <a:rPr sz="2450" spc="90" dirty="0"/>
              <a:t>foundation</a:t>
            </a:r>
            <a:r>
              <a:rPr sz="2450" spc="-70" dirty="0"/>
              <a:t> </a:t>
            </a:r>
            <a:r>
              <a:rPr sz="2450" spc="180" dirty="0"/>
              <a:t>of</a:t>
            </a:r>
            <a:r>
              <a:rPr sz="2450" spc="-55" dirty="0"/>
              <a:t> </a:t>
            </a:r>
            <a:r>
              <a:rPr sz="2450" spc="-10" dirty="0"/>
              <a:t>linear </a:t>
            </a:r>
            <a:r>
              <a:rPr sz="2450" dirty="0"/>
              <a:t>algebra</a:t>
            </a:r>
            <a:r>
              <a:rPr sz="2450" spc="30" dirty="0"/>
              <a:t> </a:t>
            </a:r>
            <a:r>
              <a:rPr sz="2450" spc="55" dirty="0"/>
              <a:t>in</a:t>
            </a:r>
            <a:r>
              <a:rPr sz="2450" spc="25" dirty="0"/>
              <a:t> </a:t>
            </a:r>
            <a:r>
              <a:rPr sz="2450" dirty="0"/>
              <a:t>computers,</a:t>
            </a:r>
            <a:r>
              <a:rPr sz="2450" spc="25" dirty="0"/>
              <a:t> </a:t>
            </a:r>
            <a:r>
              <a:rPr sz="2450" dirty="0"/>
              <a:t>even</a:t>
            </a:r>
            <a:r>
              <a:rPr sz="2450" spc="20" dirty="0"/>
              <a:t> </a:t>
            </a:r>
            <a:r>
              <a:rPr sz="2450" spc="165" dirty="0"/>
              <a:t>for</a:t>
            </a:r>
            <a:r>
              <a:rPr sz="2450" spc="25" dirty="0"/>
              <a:t> </a:t>
            </a:r>
            <a:r>
              <a:rPr sz="2450" spc="-25" dirty="0"/>
              <a:t>basic</a:t>
            </a:r>
            <a:r>
              <a:rPr sz="2450" spc="35" dirty="0"/>
              <a:t> </a:t>
            </a:r>
            <a:r>
              <a:rPr sz="2450" spc="60" dirty="0"/>
              <a:t>operations</a:t>
            </a:r>
            <a:r>
              <a:rPr sz="2450" spc="30" dirty="0"/>
              <a:t> </a:t>
            </a:r>
            <a:r>
              <a:rPr sz="2450" spc="-20" dirty="0"/>
              <a:t>such </a:t>
            </a:r>
            <a:r>
              <a:rPr sz="2450" spc="-114" dirty="0"/>
              <a:t>as</a:t>
            </a:r>
            <a:r>
              <a:rPr sz="2450" spc="105" dirty="0"/>
              <a:t> </a:t>
            </a:r>
            <a:r>
              <a:rPr sz="2450" dirty="0"/>
              <a:t>solving</a:t>
            </a:r>
            <a:r>
              <a:rPr sz="2450" spc="100" dirty="0"/>
              <a:t> </a:t>
            </a:r>
            <a:r>
              <a:rPr sz="2450" dirty="0"/>
              <a:t>systems</a:t>
            </a:r>
            <a:r>
              <a:rPr sz="2450" spc="100" dirty="0"/>
              <a:t> </a:t>
            </a:r>
            <a:r>
              <a:rPr sz="2450" spc="180" dirty="0"/>
              <a:t>of</a:t>
            </a:r>
            <a:r>
              <a:rPr sz="2450" spc="120" dirty="0"/>
              <a:t> </a:t>
            </a:r>
            <a:r>
              <a:rPr sz="2450" dirty="0"/>
              <a:t>linear</a:t>
            </a:r>
            <a:r>
              <a:rPr sz="2450" spc="110" dirty="0"/>
              <a:t> </a:t>
            </a:r>
            <a:r>
              <a:rPr sz="2450" dirty="0"/>
              <a:t>equations,</a:t>
            </a:r>
            <a:r>
              <a:rPr sz="2450" spc="110" dirty="0"/>
              <a:t> </a:t>
            </a:r>
            <a:r>
              <a:rPr sz="2450" dirty="0"/>
              <a:t>calculating</a:t>
            </a:r>
            <a:r>
              <a:rPr sz="2450" spc="110" dirty="0"/>
              <a:t> </a:t>
            </a:r>
            <a:r>
              <a:rPr sz="2450" spc="95" dirty="0"/>
              <a:t>the </a:t>
            </a:r>
            <a:r>
              <a:rPr sz="2450" dirty="0"/>
              <a:t>inverse,</a:t>
            </a:r>
            <a:r>
              <a:rPr sz="2450" spc="-10" dirty="0"/>
              <a:t> </a:t>
            </a:r>
            <a:r>
              <a:rPr sz="2450" dirty="0"/>
              <a:t>and</a:t>
            </a:r>
            <a:r>
              <a:rPr sz="2450" spc="-10" dirty="0"/>
              <a:t> </a:t>
            </a:r>
            <a:r>
              <a:rPr sz="2450" dirty="0"/>
              <a:t>calculating</a:t>
            </a:r>
            <a:r>
              <a:rPr sz="2450" spc="-5" dirty="0"/>
              <a:t> </a:t>
            </a:r>
            <a:r>
              <a:rPr sz="2450" spc="120" dirty="0"/>
              <a:t>the</a:t>
            </a:r>
            <a:r>
              <a:rPr sz="2450" spc="-5" dirty="0"/>
              <a:t> </a:t>
            </a:r>
            <a:r>
              <a:rPr sz="2450" spc="90" dirty="0"/>
              <a:t>determinant</a:t>
            </a:r>
            <a:r>
              <a:rPr sz="2450" spc="-10" dirty="0"/>
              <a:t> </a:t>
            </a:r>
            <a:r>
              <a:rPr sz="2450" spc="180" dirty="0"/>
              <a:t>of</a:t>
            </a:r>
            <a:r>
              <a:rPr sz="2450" dirty="0"/>
              <a:t> a</a:t>
            </a:r>
            <a:r>
              <a:rPr sz="2450" spc="-5" dirty="0"/>
              <a:t> </a:t>
            </a:r>
            <a:r>
              <a:rPr sz="2450" spc="55" dirty="0"/>
              <a:t>matrix.</a:t>
            </a:r>
            <a:endParaRPr sz="2450"/>
          </a:p>
        </p:txBody>
      </p:sp>
      <p:sp>
        <p:nvSpPr>
          <p:cNvPr id="3" name="object 3"/>
          <p:cNvSpPr txBox="1"/>
          <p:nvPr/>
        </p:nvSpPr>
        <p:spPr>
          <a:xfrm>
            <a:off x="535940" y="1501101"/>
            <a:ext cx="135255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727972"/>
            <a:ext cx="135255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954856"/>
            <a:ext cx="135255" cy="4019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Matrix</a:t>
            </a:r>
            <a:r>
              <a:rPr spc="-135" dirty="0"/>
              <a:t> </a:t>
            </a:r>
            <a:r>
              <a:rPr spc="100" dirty="0"/>
              <a:t>Decompotition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3622" rIns="0" bIns="0" rtlCol="0">
            <a:spAutoFit/>
          </a:bodyPr>
          <a:lstStyle/>
          <a:p>
            <a:pPr marL="88900" marR="78613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65" dirty="0"/>
              <a:t> </a:t>
            </a:r>
            <a:r>
              <a:rPr spc="80" dirty="0"/>
              <a:t>matrix</a:t>
            </a:r>
            <a:r>
              <a:rPr spc="-65" dirty="0"/>
              <a:t> </a:t>
            </a:r>
            <a:r>
              <a:rPr spc="50" dirty="0"/>
              <a:t>decomposition</a:t>
            </a:r>
            <a:r>
              <a:rPr spc="-55" dirty="0"/>
              <a:t> </a:t>
            </a:r>
            <a:r>
              <a:rPr dirty="0"/>
              <a:t>is</a:t>
            </a:r>
            <a:r>
              <a:rPr spc="-65" dirty="0"/>
              <a:t> </a:t>
            </a:r>
            <a:r>
              <a:rPr spc="-110" dirty="0"/>
              <a:t>a</a:t>
            </a:r>
            <a:r>
              <a:rPr spc="-70" dirty="0"/>
              <a:t> </a:t>
            </a:r>
            <a:r>
              <a:rPr dirty="0"/>
              <a:t>way</a:t>
            </a:r>
            <a:r>
              <a:rPr spc="-55" dirty="0"/>
              <a:t> </a:t>
            </a:r>
            <a:r>
              <a:rPr spc="165" dirty="0"/>
              <a:t>of</a:t>
            </a:r>
            <a:r>
              <a:rPr spc="-60" dirty="0"/>
              <a:t> </a:t>
            </a:r>
            <a:r>
              <a:rPr dirty="0"/>
              <a:t>reducing</a:t>
            </a:r>
            <a:r>
              <a:rPr spc="-65" dirty="0"/>
              <a:t> </a:t>
            </a:r>
            <a:r>
              <a:rPr spc="-50" dirty="0"/>
              <a:t>a </a:t>
            </a:r>
            <a:r>
              <a:rPr spc="80" dirty="0"/>
              <a:t>matrix</a:t>
            </a:r>
            <a:r>
              <a:rPr spc="-80" dirty="0"/>
              <a:t> </a:t>
            </a:r>
            <a:r>
              <a:rPr spc="120" dirty="0"/>
              <a:t>into</a:t>
            </a:r>
            <a:r>
              <a:rPr spc="-80" dirty="0"/>
              <a:t> </a:t>
            </a:r>
            <a:r>
              <a:rPr spc="75" dirty="0"/>
              <a:t>its</a:t>
            </a:r>
            <a:r>
              <a:rPr spc="-75" dirty="0"/>
              <a:t> </a:t>
            </a:r>
            <a:r>
              <a:rPr spc="80" dirty="0"/>
              <a:t>constituent</a:t>
            </a:r>
            <a:r>
              <a:rPr spc="-75" dirty="0"/>
              <a:t> </a:t>
            </a:r>
            <a:r>
              <a:rPr spc="-10" dirty="0"/>
              <a:t>parts.</a:t>
            </a:r>
          </a:p>
          <a:p>
            <a:pPr marL="88900" marR="422909">
              <a:lnSpc>
                <a:spcPct val="100000"/>
              </a:lnSpc>
              <a:spcBef>
                <a:spcPts val="795"/>
              </a:spcBef>
            </a:pPr>
            <a:r>
              <a:rPr spc="145" dirty="0"/>
              <a:t>It</a:t>
            </a:r>
            <a:r>
              <a:rPr spc="-110" dirty="0"/>
              <a:t> </a:t>
            </a:r>
            <a:r>
              <a:rPr dirty="0"/>
              <a:t>is</a:t>
            </a:r>
            <a:r>
              <a:rPr spc="-100" dirty="0"/>
              <a:t> </a:t>
            </a:r>
            <a:r>
              <a:rPr dirty="0"/>
              <a:t>an</a:t>
            </a:r>
            <a:r>
              <a:rPr spc="-90" dirty="0"/>
              <a:t> </a:t>
            </a:r>
            <a:r>
              <a:rPr dirty="0"/>
              <a:t>approach</a:t>
            </a:r>
            <a:r>
              <a:rPr spc="-95" dirty="0"/>
              <a:t> </a:t>
            </a:r>
            <a:r>
              <a:rPr spc="135" dirty="0"/>
              <a:t>that</a:t>
            </a:r>
            <a:r>
              <a:rPr spc="-105" dirty="0"/>
              <a:t> </a:t>
            </a:r>
            <a:r>
              <a:rPr spc="-45" dirty="0"/>
              <a:t>can</a:t>
            </a:r>
            <a:r>
              <a:rPr spc="-90" dirty="0"/>
              <a:t> </a:t>
            </a:r>
            <a:r>
              <a:rPr spc="60" dirty="0"/>
              <a:t>simplify</a:t>
            </a:r>
            <a:r>
              <a:rPr spc="-100" dirty="0"/>
              <a:t> </a:t>
            </a:r>
            <a:r>
              <a:rPr spc="65" dirty="0"/>
              <a:t>more</a:t>
            </a:r>
            <a:r>
              <a:rPr spc="-100" dirty="0"/>
              <a:t> </a:t>
            </a:r>
            <a:r>
              <a:rPr spc="-10" dirty="0"/>
              <a:t>complex </a:t>
            </a:r>
            <a:r>
              <a:rPr spc="80" dirty="0"/>
              <a:t>matrix</a:t>
            </a:r>
            <a:r>
              <a:rPr spc="-85" dirty="0"/>
              <a:t> </a:t>
            </a:r>
            <a:r>
              <a:rPr spc="50" dirty="0"/>
              <a:t>operations</a:t>
            </a:r>
            <a:r>
              <a:rPr spc="-70" dirty="0"/>
              <a:t> </a:t>
            </a:r>
            <a:r>
              <a:rPr spc="135" dirty="0"/>
              <a:t>that</a:t>
            </a:r>
            <a:r>
              <a:rPr spc="-80" dirty="0"/>
              <a:t> </a:t>
            </a:r>
            <a:r>
              <a:rPr spc="-45" dirty="0"/>
              <a:t>can</a:t>
            </a:r>
            <a:r>
              <a:rPr spc="-70" dirty="0"/>
              <a:t> </a:t>
            </a:r>
            <a:r>
              <a:rPr dirty="0"/>
              <a:t>be</a:t>
            </a:r>
            <a:r>
              <a:rPr spc="-85" dirty="0"/>
              <a:t> </a:t>
            </a:r>
            <a:r>
              <a:rPr spc="90" dirty="0"/>
              <a:t>performed</a:t>
            </a:r>
            <a:r>
              <a:rPr spc="-80" dirty="0"/>
              <a:t> </a:t>
            </a:r>
            <a:r>
              <a:rPr spc="50" dirty="0"/>
              <a:t>on</a:t>
            </a:r>
            <a:r>
              <a:rPr spc="-75" dirty="0"/>
              <a:t> </a:t>
            </a:r>
            <a:r>
              <a:rPr spc="85" dirty="0"/>
              <a:t>the </a:t>
            </a:r>
            <a:r>
              <a:rPr dirty="0"/>
              <a:t>decomposed</a:t>
            </a:r>
            <a:r>
              <a:rPr spc="-55" dirty="0"/>
              <a:t> </a:t>
            </a:r>
            <a:r>
              <a:rPr spc="80" dirty="0"/>
              <a:t>matrix</a:t>
            </a:r>
            <a:r>
              <a:rPr spc="-45" dirty="0"/>
              <a:t> </a:t>
            </a:r>
            <a:r>
              <a:rPr spc="80" dirty="0"/>
              <a:t>rather</a:t>
            </a:r>
            <a:r>
              <a:rPr spc="-50" dirty="0"/>
              <a:t> </a:t>
            </a:r>
            <a:r>
              <a:rPr spc="65" dirty="0"/>
              <a:t>than</a:t>
            </a:r>
            <a:r>
              <a:rPr spc="-40" dirty="0"/>
              <a:t> </a:t>
            </a:r>
            <a:r>
              <a:rPr spc="50" dirty="0"/>
              <a:t>on</a:t>
            </a:r>
            <a:r>
              <a:rPr spc="-45" dirty="0"/>
              <a:t> </a:t>
            </a:r>
            <a:r>
              <a:rPr spc="110" dirty="0"/>
              <a:t>the</a:t>
            </a:r>
            <a:r>
              <a:rPr spc="-55" dirty="0"/>
              <a:t> </a:t>
            </a:r>
            <a:r>
              <a:rPr spc="45" dirty="0"/>
              <a:t>original </a:t>
            </a:r>
            <a:r>
              <a:rPr spc="80" dirty="0"/>
              <a:t>matrix</a:t>
            </a:r>
            <a:r>
              <a:rPr spc="-95" dirty="0"/>
              <a:t> </a:t>
            </a:r>
            <a:r>
              <a:rPr spc="65" dirty="0"/>
              <a:t>itself.</a:t>
            </a:r>
          </a:p>
          <a:p>
            <a:pPr marL="88900" marR="5080">
              <a:lnSpc>
                <a:spcPct val="100000"/>
              </a:lnSpc>
              <a:spcBef>
                <a:spcPts val="819"/>
              </a:spcBef>
            </a:pPr>
            <a:r>
              <a:rPr dirty="0"/>
              <a:t>A</a:t>
            </a:r>
            <a:r>
              <a:rPr spc="-55" dirty="0"/>
              <a:t> </a:t>
            </a:r>
            <a:r>
              <a:rPr dirty="0"/>
              <a:t>common</a:t>
            </a:r>
            <a:r>
              <a:rPr spc="-50" dirty="0"/>
              <a:t> </a:t>
            </a:r>
            <a:r>
              <a:rPr dirty="0"/>
              <a:t>analogy</a:t>
            </a:r>
            <a:r>
              <a:rPr spc="-50" dirty="0"/>
              <a:t> </a:t>
            </a:r>
            <a:r>
              <a:rPr spc="160" dirty="0"/>
              <a:t>for</a:t>
            </a:r>
            <a:r>
              <a:rPr spc="-60" dirty="0"/>
              <a:t> </a:t>
            </a:r>
            <a:r>
              <a:rPr spc="85" dirty="0"/>
              <a:t>matrix</a:t>
            </a:r>
            <a:r>
              <a:rPr spc="-60" dirty="0"/>
              <a:t> </a:t>
            </a:r>
            <a:r>
              <a:rPr spc="45" dirty="0"/>
              <a:t>decomposition</a:t>
            </a:r>
            <a:r>
              <a:rPr spc="-5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spc="85" dirty="0"/>
              <a:t>the </a:t>
            </a:r>
            <a:r>
              <a:rPr spc="80" dirty="0"/>
              <a:t>factoring</a:t>
            </a:r>
            <a:r>
              <a:rPr spc="-75" dirty="0"/>
              <a:t> </a:t>
            </a:r>
            <a:r>
              <a:rPr spc="170" dirty="0"/>
              <a:t>of</a:t>
            </a:r>
            <a:r>
              <a:rPr spc="-70" dirty="0"/>
              <a:t> </a:t>
            </a:r>
            <a:r>
              <a:rPr dirty="0"/>
              <a:t>numbers,</a:t>
            </a:r>
            <a:r>
              <a:rPr spc="-75" dirty="0"/>
              <a:t> </a:t>
            </a:r>
            <a:r>
              <a:rPr spc="-45" dirty="0"/>
              <a:t>such</a:t>
            </a:r>
            <a:r>
              <a:rPr spc="-65" dirty="0"/>
              <a:t> </a:t>
            </a:r>
            <a:r>
              <a:rPr spc="-130" dirty="0"/>
              <a:t>as</a:t>
            </a:r>
            <a:r>
              <a:rPr spc="-75" dirty="0"/>
              <a:t> </a:t>
            </a:r>
            <a:r>
              <a:rPr spc="110" dirty="0"/>
              <a:t>the</a:t>
            </a:r>
            <a:r>
              <a:rPr spc="-80" dirty="0"/>
              <a:t> </a:t>
            </a:r>
            <a:r>
              <a:rPr spc="80" dirty="0"/>
              <a:t>factoring</a:t>
            </a:r>
            <a:r>
              <a:rPr spc="-75" dirty="0"/>
              <a:t> </a:t>
            </a:r>
            <a:r>
              <a:rPr spc="165" dirty="0"/>
              <a:t>of</a:t>
            </a:r>
            <a:r>
              <a:rPr spc="-65" dirty="0"/>
              <a:t> </a:t>
            </a:r>
            <a:r>
              <a:rPr spc="-25" dirty="0"/>
              <a:t>10 </a:t>
            </a:r>
            <a:r>
              <a:rPr spc="120" dirty="0"/>
              <a:t>into</a:t>
            </a:r>
            <a:r>
              <a:rPr spc="-95" dirty="0"/>
              <a:t> </a:t>
            </a:r>
            <a:r>
              <a:rPr dirty="0"/>
              <a:t>2</a:t>
            </a:r>
            <a:r>
              <a:rPr spc="-100" dirty="0"/>
              <a:t> </a:t>
            </a:r>
            <a:r>
              <a:rPr dirty="0"/>
              <a:t>×</a:t>
            </a:r>
            <a:r>
              <a:rPr spc="-95" dirty="0"/>
              <a:t> </a:t>
            </a:r>
            <a:r>
              <a:rPr spc="-10" dirty="0"/>
              <a:t>5.</a:t>
            </a:r>
            <a:r>
              <a:rPr spc="-95" dirty="0"/>
              <a:t> </a:t>
            </a:r>
            <a:r>
              <a:rPr dirty="0"/>
              <a:t>For</a:t>
            </a:r>
            <a:r>
              <a:rPr spc="-95" dirty="0"/>
              <a:t> </a:t>
            </a:r>
            <a:r>
              <a:rPr spc="65" dirty="0"/>
              <a:t>this</a:t>
            </a:r>
            <a:r>
              <a:rPr spc="-100" dirty="0"/>
              <a:t> </a:t>
            </a:r>
            <a:r>
              <a:rPr spc="-10" dirty="0"/>
              <a:t>reason,</a:t>
            </a:r>
            <a:r>
              <a:rPr spc="-105" dirty="0"/>
              <a:t> </a:t>
            </a:r>
            <a:r>
              <a:rPr spc="80" dirty="0"/>
              <a:t>matrix</a:t>
            </a:r>
            <a:r>
              <a:rPr spc="-85" dirty="0"/>
              <a:t> </a:t>
            </a:r>
            <a:r>
              <a:rPr spc="45" dirty="0"/>
              <a:t>decomposition</a:t>
            </a:r>
            <a:r>
              <a:rPr spc="-85" dirty="0"/>
              <a:t> </a:t>
            </a:r>
            <a:r>
              <a:rPr spc="-25" dirty="0"/>
              <a:t>is </a:t>
            </a:r>
            <a:r>
              <a:rPr dirty="0"/>
              <a:t>also</a:t>
            </a:r>
            <a:r>
              <a:rPr spc="-80" dirty="0"/>
              <a:t> </a:t>
            </a:r>
            <a:r>
              <a:rPr dirty="0"/>
              <a:t>called</a:t>
            </a:r>
            <a:r>
              <a:rPr spc="-60" dirty="0"/>
              <a:t> </a:t>
            </a:r>
            <a:r>
              <a:rPr spc="80" dirty="0"/>
              <a:t>matrix</a:t>
            </a:r>
            <a:r>
              <a:rPr spc="-70" dirty="0"/>
              <a:t> </a:t>
            </a:r>
            <a:r>
              <a:rPr spc="50" dirty="0"/>
              <a:t>factorization.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395334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08301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Matrix</a:t>
            </a:r>
            <a:r>
              <a:rPr spc="-135" dirty="0"/>
              <a:t> </a:t>
            </a:r>
            <a:r>
              <a:rPr spc="100" dirty="0"/>
              <a:t>Decompotition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30034"/>
            <a:ext cx="4549140" cy="259778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spc="-10" dirty="0">
                <a:latin typeface="Microsoft Sans Serif"/>
                <a:cs typeface="Microsoft Sans Serif"/>
              </a:rPr>
              <a:t>Types: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"/>
              <a:buChar char="–"/>
              <a:tabLst>
                <a:tab pos="755015" algn="l"/>
              </a:tabLst>
            </a:pPr>
            <a:r>
              <a:rPr sz="2800" spc="-114" dirty="0">
                <a:latin typeface="Microsoft Sans Serif"/>
                <a:cs typeface="Microsoft Sans Serif"/>
              </a:rPr>
              <a:t>LU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Decomposition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"/>
              <a:buChar char="–"/>
              <a:tabLst>
                <a:tab pos="755015" algn="l"/>
              </a:tabLst>
            </a:pPr>
            <a:r>
              <a:rPr sz="2800" spc="-155" dirty="0">
                <a:latin typeface="Microsoft Sans Serif"/>
                <a:cs typeface="Microsoft Sans Serif"/>
              </a:rPr>
              <a:t>QR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Decomposition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"/>
              <a:buChar char="–"/>
              <a:tabLst>
                <a:tab pos="755015" algn="l"/>
              </a:tabLst>
            </a:pPr>
            <a:r>
              <a:rPr sz="2800" spc="-55" dirty="0">
                <a:latin typeface="Microsoft Sans Serif"/>
                <a:cs typeface="Microsoft Sans Serif"/>
              </a:rPr>
              <a:t>Comsky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Decomposition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"/>
              <a:buChar char="–"/>
              <a:tabLst>
                <a:tab pos="755015" algn="l"/>
              </a:tabLst>
            </a:pPr>
            <a:r>
              <a:rPr sz="2800" spc="-20" dirty="0">
                <a:latin typeface="Microsoft Sans Serif"/>
                <a:cs typeface="Microsoft Sans Serif"/>
              </a:rPr>
              <a:t>Eigen</a:t>
            </a:r>
            <a:r>
              <a:rPr sz="2800" spc="-16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Decomposition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LU</a:t>
            </a:r>
            <a:r>
              <a:rPr spc="-125" dirty="0"/>
              <a:t> </a:t>
            </a:r>
            <a:r>
              <a:rPr spc="95" dirty="0"/>
              <a:t>Decompotition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519097"/>
            <a:ext cx="7604125" cy="4001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16865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latin typeface="Microsoft Sans Serif"/>
                <a:cs typeface="Microsoft Sans Serif"/>
              </a:rPr>
              <a:t>The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-100" dirty="0">
                <a:latin typeface="Microsoft Sans Serif"/>
                <a:cs typeface="Microsoft Sans Serif"/>
              </a:rPr>
              <a:t>LU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decomposition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is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155" dirty="0">
                <a:latin typeface="Microsoft Sans Serif"/>
                <a:cs typeface="Microsoft Sans Serif"/>
              </a:rPr>
              <a:t>for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square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matrices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and </a:t>
            </a:r>
            <a:r>
              <a:rPr sz="2600" dirty="0">
                <a:latin typeface="Microsoft Sans Serif"/>
                <a:cs typeface="Microsoft Sans Serif"/>
              </a:rPr>
              <a:t>decomposes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110" dirty="0">
                <a:latin typeface="Microsoft Sans Serif"/>
                <a:cs typeface="Microsoft Sans Serif"/>
              </a:rPr>
              <a:t>a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matrix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20" dirty="0">
                <a:latin typeface="Microsoft Sans Serif"/>
                <a:cs typeface="Microsoft Sans Serif"/>
              </a:rPr>
              <a:t>into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110" dirty="0">
                <a:latin typeface="Microsoft Sans Serif"/>
                <a:cs typeface="Microsoft Sans Serif"/>
              </a:rPr>
              <a:t>L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and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100" dirty="0">
                <a:latin typeface="Microsoft Sans Serif"/>
                <a:cs typeface="Microsoft Sans Serif"/>
              </a:rPr>
              <a:t>U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components.</a:t>
            </a:r>
            <a:endParaRPr sz="2600">
              <a:latin typeface="Microsoft Sans Serif"/>
              <a:cs typeface="Microsoft Sans Serif"/>
            </a:endParaRPr>
          </a:p>
          <a:p>
            <a:pPr marL="12700" marR="1816735">
              <a:lnSpc>
                <a:spcPts val="3929"/>
              </a:lnSpc>
              <a:spcBef>
                <a:spcPts val="250"/>
              </a:spcBef>
              <a:tabLst>
                <a:tab pos="1430655" algn="l"/>
              </a:tabLst>
            </a:pPr>
            <a:r>
              <a:rPr sz="2600" dirty="0">
                <a:latin typeface="Microsoft Sans Serif"/>
                <a:cs typeface="Microsoft Sans Serif"/>
              </a:rPr>
              <a:t>A</a:t>
            </a:r>
            <a:r>
              <a:rPr sz="2600" spc="-1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-120" dirty="0">
                <a:latin typeface="Microsoft Sans Serif"/>
                <a:cs typeface="Microsoft Sans Serif"/>
              </a:rPr>
              <a:t> </a:t>
            </a:r>
            <a:r>
              <a:rPr sz="2600" spc="-110" dirty="0">
                <a:latin typeface="Microsoft Sans Serif"/>
                <a:cs typeface="Microsoft Sans Serif"/>
              </a:rPr>
              <a:t>L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90" dirty="0">
                <a:latin typeface="Microsoft Sans Serif"/>
                <a:cs typeface="Microsoft Sans Serif"/>
              </a:rPr>
              <a:t>·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-50" dirty="0">
                <a:latin typeface="Microsoft Sans Serif"/>
                <a:cs typeface="Microsoft Sans Serif"/>
              </a:rPr>
              <a:t>U</a:t>
            </a:r>
            <a:r>
              <a:rPr sz="2600" dirty="0">
                <a:latin typeface="Microsoft Sans Serif"/>
                <a:cs typeface="Microsoft Sans Serif"/>
              </a:rPr>
              <a:t>	Or,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without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50" dirty="0">
                <a:latin typeface="Microsoft Sans Serif"/>
                <a:cs typeface="Microsoft Sans Serif"/>
              </a:rPr>
              <a:t>dot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notation. </a:t>
            </a:r>
            <a:r>
              <a:rPr sz="2600" dirty="0">
                <a:latin typeface="Microsoft Sans Serif"/>
                <a:cs typeface="Microsoft Sans Serif"/>
              </a:rPr>
              <a:t>A</a:t>
            </a:r>
            <a:r>
              <a:rPr sz="2600" spc="-1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-140" dirty="0">
                <a:latin typeface="Microsoft Sans Serif"/>
                <a:cs typeface="Microsoft Sans Serif"/>
              </a:rPr>
              <a:t> </a:t>
            </a:r>
            <a:r>
              <a:rPr sz="2600" spc="-35" dirty="0">
                <a:latin typeface="Microsoft Sans Serif"/>
                <a:cs typeface="Microsoft Sans Serif"/>
              </a:rPr>
              <a:t>LU</a:t>
            </a:r>
            <a:endParaRPr sz="2600">
              <a:latin typeface="Microsoft Sans Serif"/>
              <a:cs typeface="Microsoft Sans Serif"/>
            </a:endParaRPr>
          </a:p>
          <a:p>
            <a:pPr marL="12700" marR="167640">
              <a:lnSpc>
                <a:spcPct val="100000"/>
              </a:lnSpc>
              <a:spcBef>
                <a:spcPts val="540"/>
              </a:spcBef>
            </a:pPr>
            <a:r>
              <a:rPr sz="2600" dirty="0">
                <a:latin typeface="Microsoft Sans Serif"/>
                <a:cs typeface="Microsoft Sans Serif"/>
              </a:rPr>
              <a:t>Where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14" dirty="0">
                <a:latin typeface="Microsoft Sans Serif"/>
                <a:cs typeface="Microsoft Sans Serif"/>
              </a:rPr>
              <a:t>the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square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matrix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that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we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wish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165" dirty="0">
                <a:latin typeface="Microsoft Sans Serif"/>
                <a:cs typeface="Microsoft Sans Serif"/>
              </a:rPr>
              <a:t>to </a:t>
            </a:r>
            <a:r>
              <a:rPr sz="2600" dirty="0">
                <a:latin typeface="Microsoft Sans Serif"/>
                <a:cs typeface="Microsoft Sans Serif"/>
              </a:rPr>
              <a:t>decompose,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-110" dirty="0">
                <a:latin typeface="Microsoft Sans Serif"/>
                <a:cs typeface="Microsoft Sans Serif"/>
              </a:rPr>
              <a:t>L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lower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70" dirty="0">
                <a:latin typeface="Microsoft Sans Serif"/>
                <a:cs typeface="Microsoft Sans Serif"/>
              </a:rPr>
              <a:t>triangle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matrix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and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-100" dirty="0">
                <a:latin typeface="Microsoft Sans Serif"/>
                <a:cs typeface="Microsoft Sans Serif"/>
              </a:rPr>
              <a:t>U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is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upper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70" dirty="0">
                <a:latin typeface="Microsoft Sans Serif"/>
                <a:cs typeface="Microsoft Sans Serif"/>
              </a:rPr>
              <a:t>triangle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45" dirty="0">
                <a:latin typeface="Microsoft Sans Serif"/>
                <a:cs typeface="Microsoft Sans Serif"/>
              </a:rPr>
              <a:t>matrix.</a:t>
            </a:r>
            <a:endParaRPr sz="26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400"/>
              </a:lnSpc>
              <a:spcBef>
                <a:spcPts val="795"/>
              </a:spcBef>
            </a:pPr>
            <a:r>
              <a:rPr sz="2600" spc="-10" dirty="0">
                <a:latin typeface="Microsoft Sans Serif"/>
                <a:cs typeface="Microsoft Sans Serif"/>
              </a:rPr>
              <a:t>The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factors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-110" dirty="0">
                <a:latin typeface="Microsoft Sans Serif"/>
                <a:cs typeface="Microsoft Sans Serif"/>
              </a:rPr>
              <a:t>L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and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-100" dirty="0">
                <a:latin typeface="Microsoft Sans Serif"/>
                <a:cs typeface="Microsoft Sans Serif"/>
              </a:rPr>
              <a:t>U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are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triangular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matrices.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The </a:t>
            </a:r>
            <a:r>
              <a:rPr sz="2600" spc="70" dirty="0">
                <a:latin typeface="Microsoft Sans Serif"/>
                <a:cs typeface="Microsoft Sans Serif"/>
              </a:rPr>
              <a:t>factorization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that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comes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from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elimination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LU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392170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683861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LU</a:t>
            </a:r>
            <a:r>
              <a:rPr spc="-125" dirty="0"/>
              <a:t> </a:t>
            </a:r>
            <a:r>
              <a:rPr spc="95" dirty="0"/>
              <a:t>Decompotition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2352" rIns="0" bIns="0" rtlCol="0">
            <a:spAutoFit/>
          </a:bodyPr>
          <a:lstStyle/>
          <a:p>
            <a:pPr marL="88900" marR="5080">
              <a:lnSpc>
                <a:spcPct val="100200"/>
              </a:lnSpc>
              <a:spcBef>
                <a:spcPts val="90"/>
              </a:spcBef>
            </a:pPr>
            <a:r>
              <a:rPr spc="-10" dirty="0"/>
              <a:t>The</a:t>
            </a:r>
            <a:r>
              <a:rPr spc="-125" dirty="0"/>
              <a:t> </a:t>
            </a:r>
            <a:r>
              <a:rPr spc="-100" dirty="0"/>
              <a:t>LU</a:t>
            </a:r>
            <a:r>
              <a:rPr spc="-95" dirty="0"/>
              <a:t> </a:t>
            </a:r>
            <a:r>
              <a:rPr spc="50" dirty="0"/>
              <a:t>decomposition</a:t>
            </a:r>
            <a:r>
              <a:rPr spc="-105" dirty="0"/>
              <a:t> </a:t>
            </a:r>
            <a:r>
              <a:rPr spc="-10" dirty="0"/>
              <a:t>is</a:t>
            </a:r>
            <a:r>
              <a:rPr spc="-105" dirty="0"/>
              <a:t> </a:t>
            </a:r>
            <a:r>
              <a:rPr spc="95" dirty="0"/>
              <a:t>found</a:t>
            </a:r>
            <a:r>
              <a:rPr spc="-105" dirty="0"/>
              <a:t> </a:t>
            </a:r>
            <a:r>
              <a:rPr dirty="0"/>
              <a:t>using</a:t>
            </a:r>
            <a:r>
              <a:rPr spc="-114" dirty="0"/>
              <a:t> </a:t>
            </a:r>
            <a:r>
              <a:rPr dirty="0"/>
              <a:t>an</a:t>
            </a:r>
            <a:r>
              <a:rPr spc="-105" dirty="0"/>
              <a:t> </a:t>
            </a:r>
            <a:r>
              <a:rPr spc="75" dirty="0"/>
              <a:t>iterative </a:t>
            </a:r>
            <a:r>
              <a:rPr dirty="0"/>
              <a:t>numerical</a:t>
            </a:r>
            <a:r>
              <a:rPr spc="-60" dirty="0"/>
              <a:t> </a:t>
            </a:r>
            <a:r>
              <a:rPr spc="-10" dirty="0"/>
              <a:t>process</a:t>
            </a:r>
            <a:r>
              <a:rPr spc="-6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45" dirty="0"/>
              <a:t>can </a:t>
            </a:r>
            <a:r>
              <a:rPr spc="85" dirty="0"/>
              <a:t>fail</a:t>
            </a:r>
            <a:r>
              <a:rPr spc="-70" dirty="0"/>
              <a:t> </a:t>
            </a:r>
            <a:r>
              <a:rPr spc="160" dirty="0"/>
              <a:t>for</a:t>
            </a:r>
            <a:r>
              <a:rPr spc="-60" dirty="0"/>
              <a:t> </a:t>
            </a:r>
            <a:r>
              <a:rPr spc="50" dirty="0"/>
              <a:t>those</a:t>
            </a:r>
            <a:r>
              <a:rPr spc="-55" dirty="0"/>
              <a:t> </a:t>
            </a:r>
            <a:r>
              <a:rPr spc="-10" dirty="0"/>
              <a:t>matrices </a:t>
            </a:r>
            <a:r>
              <a:rPr spc="135" dirty="0"/>
              <a:t>that</a:t>
            </a:r>
            <a:r>
              <a:rPr spc="20" dirty="0"/>
              <a:t> </a:t>
            </a:r>
            <a:r>
              <a:rPr dirty="0"/>
              <a:t>cannot</a:t>
            </a:r>
            <a:r>
              <a:rPr spc="20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dirty="0"/>
              <a:t>decomposed</a:t>
            </a:r>
            <a:r>
              <a:rPr spc="40" dirty="0"/>
              <a:t> </a:t>
            </a:r>
            <a:r>
              <a:rPr spc="105" dirty="0"/>
              <a:t>or</a:t>
            </a:r>
            <a:r>
              <a:rPr spc="25" dirty="0"/>
              <a:t> </a:t>
            </a:r>
            <a:r>
              <a:rPr dirty="0"/>
              <a:t>decomposed</a:t>
            </a:r>
            <a:r>
              <a:rPr spc="40" dirty="0"/>
              <a:t> </a:t>
            </a:r>
            <a:r>
              <a:rPr spc="-10" dirty="0"/>
              <a:t>easily.</a:t>
            </a:r>
          </a:p>
          <a:p>
            <a:pPr marL="88900" marR="808990">
              <a:lnSpc>
                <a:spcPct val="100000"/>
              </a:lnSpc>
              <a:spcBef>
                <a:spcPts val="800"/>
              </a:spcBef>
            </a:pPr>
            <a:r>
              <a:rPr dirty="0"/>
              <a:t>A</a:t>
            </a:r>
            <a:r>
              <a:rPr spc="-90" dirty="0"/>
              <a:t> </a:t>
            </a:r>
            <a:r>
              <a:rPr spc="50" dirty="0"/>
              <a:t>variation</a:t>
            </a:r>
            <a:r>
              <a:rPr spc="-75" dirty="0"/>
              <a:t> </a:t>
            </a:r>
            <a:r>
              <a:rPr spc="165" dirty="0"/>
              <a:t>of</a:t>
            </a:r>
            <a:r>
              <a:rPr spc="-85" dirty="0"/>
              <a:t> </a:t>
            </a:r>
            <a:r>
              <a:rPr spc="65" dirty="0"/>
              <a:t>this</a:t>
            </a:r>
            <a:r>
              <a:rPr spc="-90" dirty="0"/>
              <a:t> </a:t>
            </a:r>
            <a:r>
              <a:rPr spc="50" dirty="0"/>
              <a:t>decomposition</a:t>
            </a:r>
            <a:r>
              <a:rPr spc="-85" dirty="0"/>
              <a:t> </a:t>
            </a:r>
            <a:r>
              <a:rPr spc="135" dirty="0"/>
              <a:t>that</a:t>
            </a:r>
            <a:r>
              <a:rPr spc="-95" dirty="0"/>
              <a:t> </a:t>
            </a:r>
            <a:r>
              <a:rPr spc="-25" dirty="0"/>
              <a:t>is </a:t>
            </a:r>
            <a:r>
              <a:rPr dirty="0"/>
              <a:t>numerically</a:t>
            </a:r>
            <a:r>
              <a:rPr spc="45" dirty="0"/>
              <a:t> </a:t>
            </a:r>
            <a:r>
              <a:rPr spc="65" dirty="0"/>
              <a:t>more</a:t>
            </a:r>
            <a:r>
              <a:rPr spc="45" dirty="0"/>
              <a:t> </a:t>
            </a:r>
            <a:r>
              <a:rPr dirty="0"/>
              <a:t>stable</a:t>
            </a:r>
            <a:r>
              <a:rPr spc="45" dirty="0"/>
              <a:t> </a:t>
            </a:r>
            <a:r>
              <a:rPr spc="195" dirty="0"/>
              <a:t>to</a:t>
            </a:r>
            <a:r>
              <a:rPr spc="35" dirty="0"/>
              <a:t> </a:t>
            </a:r>
            <a:r>
              <a:rPr dirty="0"/>
              <a:t>solve</a:t>
            </a:r>
            <a:r>
              <a:rPr spc="45" dirty="0"/>
              <a:t> </a:t>
            </a:r>
            <a:r>
              <a:rPr spc="50" dirty="0"/>
              <a:t>in</a:t>
            </a:r>
            <a:r>
              <a:rPr spc="60" dirty="0"/>
              <a:t> </a:t>
            </a:r>
            <a:r>
              <a:rPr dirty="0"/>
              <a:t>practice</a:t>
            </a:r>
            <a:r>
              <a:rPr spc="45" dirty="0"/>
              <a:t> </a:t>
            </a:r>
            <a:r>
              <a:rPr spc="-25" dirty="0"/>
              <a:t>is </a:t>
            </a:r>
            <a:r>
              <a:rPr dirty="0"/>
              <a:t>called</a:t>
            </a:r>
            <a:r>
              <a:rPr spc="25" dirty="0"/>
              <a:t> </a:t>
            </a:r>
            <a:r>
              <a:rPr spc="110" dirty="0"/>
              <a:t>the</a:t>
            </a:r>
            <a:r>
              <a:rPr spc="20" dirty="0"/>
              <a:t> </a:t>
            </a:r>
            <a:r>
              <a:rPr spc="-125" dirty="0"/>
              <a:t>LUP</a:t>
            </a:r>
            <a:r>
              <a:rPr spc="25" dirty="0"/>
              <a:t> </a:t>
            </a:r>
            <a:r>
              <a:rPr dirty="0"/>
              <a:t>decomposition,</a:t>
            </a:r>
            <a:r>
              <a:rPr spc="25" dirty="0"/>
              <a:t> </a:t>
            </a:r>
            <a:r>
              <a:rPr spc="100" dirty="0"/>
              <a:t>or</a:t>
            </a:r>
            <a:r>
              <a:rPr spc="30" dirty="0"/>
              <a:t> </a:t>
            </a:r>
            <a:r>
              <a:rPr spc="110" dirty="0"/>
              <a:t>the</a:t>
            </a:r>
            <a:r>
              <a:rPr spc="25" dirty="0"/>
              <a:t> </a:t>
            </a:r>
            <a:r>
              <a:rPr spc="-25" dirty="0"/>
              <a:t>LU </a:t>
            </a:r>
            <a:r>
              <a:rPr spc="50" dirty="0"/>
              <a:t>decomposition</a:t>
            </a:r>
            <a:r>
              <a:rPr spc="-75" dirty="0"/>
              <a:t> </a:t>
            </a:r>
            <a:r>
              <a:rPr spc="135" dirty="0"/>
              <a:t>with</a:t>
            </a:r>
            <a:r>
              <a:rPr spc="-90" dirty="0"/>
              <a:t> </a:t>
            </a:r>
            <a:r>
              <a:rPr spc="70" dirty="0"/>
              <a:t>partial</a:t>
            </a:r>
            <a:r>
              <a:rPr spc="-90" dirty="0"/>
              <a:t> </a:t>
            </a:r>
            <a:r>
              <a:rPr spc="55" dirty="0"/>
              <a:t>pivoting.</a:t>
            </a:r>
          </a:p>
          <a:p>
            <a:pPr marL="33020" algn="ctr">
              <a:lnSpc>
                <a:spcPct val="100000"/>
              </a:lnSpc>
              <a:spcBef>
                <a:spcPts val="810"/>
              </a:spcBef>
            </a:pPr>
            <a:r>
              <a:rPr dirty="0"/>
              <a:t>A</a:t>
            </a:r>
            <a:r>
              <a:rPr spc="-140" dirty="0"/>
              <a:t> </a:t>
            </a:r>
            <a:r>
              <a:rPr dirty="0"/>
              <a:t>=</a:t>
            </a:r>
            <a:r>
              <a:rPr spc="-110" dirty="0"/>
              <a:t> L</a:t>
            </a:r>
            <a:r>
              <a:rPr spc="-85" dirty="0"/>
              <a:t> </a:t>
            </a:r>
            <a:r>
              <a:rPr spc="-90" dirty="0"/>
              <a:t>·</a:t>
            </a:r>
            <a:r>
              <a:rPr spc="-105" dirty="0"/>
              <a:t> </a:t>
            </a:r>
            <a:r>
              <a:rPr spc="-100" dirty="0"/>
              <a:t>U</a:t>
            </a:r>
            <a:r>
              <a:rPr spc="-95" dirty="0"/>
              <a:t> </a:t>
            </a:r>
            <a:r>
              <a:rPr spc="-90" dirty="0"/>
              <a:t>·</a:t>
            </a:r>
            <a:r>
              <a:rPr spc="-95" dirty="0"/>
              <a:t> </a:t>
            </a:r>
            <a:r>
              <a:rPr spc="-50" dirty="0"/>
              <a:t>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791701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LU</a:t>
            </a:r>
            <a:r>
              <a:rPr spc="-125" dirty="0"/>
              <a:t> </a:t>
            </a:r>
            <a:r>
              <a:rPr spc="95" dirty="0"/>
              <a:t>Decompotition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519097"/>
            <a:ext cx="7641590" cy="4093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7635">
              <a:lnSpc>
                <a:spcPct val="100099"/>
              </a:lnSpc>
              <a:spcBef>
                <a:spcPts val="95"/>
              </a:spcBef>
            </a:pPr>
            <a:r>
              <a:rPr sz="2600" spc="-10" dirty="0">
                <a:latin typeface="Microsoft Sans Serif"/>
                <a:cs typeface="Microsoft Sans Serif"/>
              </a:rPr>
              <a:t>The</a:t>
            </a:r>
            <a:r>
              <a:rPr sz="2600" spc="-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rows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of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114" dirty="0">
                <a:latin typeface="Microsoft Sans Serif"/>
                <a:cs typeface="Microsoft Sans Serif"/>
              </a:rPr>
              <a:t>the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parent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matrix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are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re-</a:t>
            </a:r>
            <a:r>
              <a:rPr sz="2600" spc="55" dirty="0">
                <a:latin typeface="Microsoft Sans Serif"/>
                <a:cs typeface="Microsoft Sans Serif"/>
              </a:rPr>
              <a:t>ordered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to </a:t>
            </a:r>
            <a:r>
              <a:rPr sz="2600" spc="60" dirty="0">
                <a:latin typeface="Microsoft Sans Serif"/>
                <a:cs typeface="Microsoft Sans Serif"/>
              </a:rPr>
              <a:t>simplify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14" dirty="0">
                <a:latin typeface="Microsoft Sans Serif"/>
                <a:cs typeface="Microsoft Sans Serif"/>
              </a:rPr>
              <a:t>the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decomposition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process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and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the </a:t>
            </a:r>
            <a:r>
              <a:rPr sz="2600" spc="55" dirty="0">
                <a:latin typeface="Microsoft Sans Serif"/>
                <a:cs typeface="Microsoft Sans Serif"/>
              </a:rPr>
              <a:t>additional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-180" dirty="0">
                <a:latin typeface="Microsoft Sans Serif"/>
                <a:cs typeface="Microsoft Sans Serif"/>
              </a:rPr>
              <a:t>P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matrix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specifies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-110" dirty="0">
                <a:latin typeface="Microsoft Sans Serif"/>
                <a:cs typeface="Microsoft Sans Serif"/>
              </a:rPr>
              <a:t>a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way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190" dirty="0">
                <a:latin typeface="Microsoft Sans Serif"/>
                <a:cs typeface="Microsoft Sans Serif"/>
              </a:rPr>
              <a:t>to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90" dirty="0">
                <a:latin typeface="Microsoft Sans Serif"/>
                <a:cs typeface="Microsoft Sans Serif"/>
              </a:rPr>
              <a:t>permute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the </a:t>
            </a:r>
            <a:r>
              <a:rPr sz="2600" spc="75" dirty="0">
                <a:latin typeface="Microsoft Sans Serif"/>
                <a:cs typeface="Microsoft Sans Serif"/>
              </a:rPr>
              <a:t>result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or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return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result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190" dirty="0">
                <a:latin typeface="Microsoft Sans Serif"/>
                <a:cs typeface="Microsoft Sans Serif"/>
              </a:rPr>
              <a:t>to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original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40" dirty="0">
                <a:latin typeface="Microsoft Sans Serif"/>
                <a:cs typeface="Microsoft Sans Serif"/>
              </a:rPr>
              <a:t>order.</a:t>
            </a:r>
            <a:endParaRPr sz="26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</a:pPr>
            <a:r>
              <a:rPr sz="2600" dirty="0">
                <a:latin typeface="Microsoft Sans Serif"/>
                <a:cs typeface="Microsoft Sans Serif"/>
              </a:rPr>
              <a:t>There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are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also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105" dirty="0">
                <a:latin typeface="Microsoft Sans Serif"/>
                <a:cs typeface="Microsoft Sans Serif"/>
              </a:rPr>
              <a:t>other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variations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of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-100" dirty="0">
                <a:latin typeface="Microsoft Sans Serif"/>
                <a:cs typeface="Microsoft Sans Serif"/>
              </a:rPr>
              <a:t>LU.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The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LU </a:t>
            </a:r>
            <a:r>
              <a:rPr sz="2600" spc="50" dirty="0">
                <a:latin typeface="Microsoft Sans Serif"/>
                <a:cs typeface="Microsoft Sans Serif"/>
              </a:rPr>
              <a:t>decomposition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often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used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190" dirty="0">
                <a:latin typeface="Microsoft Sans Serif"/>
                <a:cs typeface="Microsoft Sans Serif"/>
              </a:rPr>
              <a:t>to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simplify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solving </a:t>
            </a:r>
            <a:r>
              <a:rPr sz="2600" spc="165" dirty="0">
                <a:latin typeface="Microsoft Sans Serif"/>
                <a:cs typeface="Microsoft Sans Serif"/>
              </a:rPr>
              <a:t>of</a:t>
            </a:r>
            <a:r>
              <a:rPr sz="2600" spc="-4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systems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of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linear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equations,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-35" dirty="0">
                <a:latin typeface="Microsoft Sans Serif"/>
                <a:cs typeface="Microsoft Sans Serif"/>
              </a:rPr>
              <a:t>such </a:t>
            </a:r>
            <a:r>
              <a:rPr sz="2600" spc="-130" dirty="0">
                <a:latin typeface="Microsoft Sans Serif"/>
                <a:cs typeface="Microsoft Sans Serif"/>
              </a:rPr>
              <a:t>as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finding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spc="90" dirty="0">
                <a:latin typeface="Microsoft Sans Serif"/>
                <a:cs typeface="Microsoft Sans Serif"/>
              </a:rPr>
              <a:t>the </a:t>
            </a:r>
            <a:r>
              <a:rPr sz="2600" spc="60" dirty="0">
                <a:latin typeface="Microsoft Sans Serif"/>
                <a:cs typeface="Microsoft Sans Serif"/>
              </a:rPr>
              <a:t>coefficients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in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spc="-110" dirty="0">
                <a:latin typeface="Microsoft Sans Serif"/>
                <a:cs typeface="Microsoft Sans Serif"/>
              </a:rPr>
              <a:t>a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linear</a:t>
            </a:r>
            <a:r>
              <a:rPr sz="2600" spc="-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regression,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spc="-130" dirty="0">
                <a:latin typeface="Microsoft Sans Serif"/>
                <a:cs typeface="Microsoft Sans Serif"/>
              </a:rPr>
              <a:t>as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spc="90" dirty="0">
                <a:latin typeface="Microsoft Sans Serif"/>
                <a:cs typeface="Microsoft Sans Serif"/>
              </a:rPr>
              <a:t>well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spc="-130" dirty="0">
                <a:latin typeface="Microsoft Sans Serif"/>
                <a:cs typeface="Microsoft Sans Serif"/>
              </a:rPr>
              <a:t>as</a:t>
            </a:r>
            <a:r>
              <a:rPr sz="2600" spc="-45" dirty="0">
                <a:latin typeface="Microsoft Sans Serif"/>
                <a:cs typeface="Microsoft Sans Serif"/>
              </a:rPr>
              <a:t> </a:t>
            </a:r>
            <a:r>
              <a:rPr sz="2600" spc="25" dirty="0">
                <a:latin typeface="Microsoft Sans Serif"/>
                <a:cs typeface="Microsoft Sans Serif"/>
              </a:rPr>
              <a:t>in </a:t>
            </a:r>
            <a:r>
              <a:rPr sz="2600" dirty="0">
                <a:latin typeface="Microsoft Sans Serif"/>
                <a:cs typeface="Microsoft Sans Serif"/>
              </a:rPr>
              <a:t>calculating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5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determinant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and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inverse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of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spc="-50" dirty="0">
                <a:latin typeface="Microsoft Sans Serif"/>
                <a:cs typeface="Microsoft Sans Serif"/>
              </a:rPr>
              <a:t>a </a:t>
            </a:r>
            <a:r>
              <a:rPr sz="2600" spc="45" dirty="0">
                <a:latin typeface="Microsoft Sans Serif"/>
                <a:cs typeface="Microsoft Sans Serif"/>
              </a:rPr>
              <a:t>matrix.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189134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Eigen</a:t>
            </a:r>
            <a:r>
              <a:rPr spc="-195" dirty="0"/>
              <a:t> </a:t>
            </a:r>
            <a:r>
              <a:rPr spc="100" dirty="0"/>
              <a:t>Decompotition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2987" rIns="0" bIns="0" rtlCol="0">
            <a:spAutoFit/>
          </a:bodyPr>
          <a:lstStyle/>
          <a:p>
            <a:pPr marL="88900" marR="581025">
              <a:lnSpc>
                <a:spcPct val="100099"/>
              </a:lnSpc>
              <a:spcBef>
                <a:spcPts val="95"/>
              </a:spcBef>
            </a:pPr>
            <a:r>
              <a:rPr dirty="0"/>
              <a:t>Eigendecomposition</a:t>
            </a:r>
            <a:r>
              <a:rPr spc="-15" dirty="0"/>
              <a:t> </a:t>
            </a:r>
            <a:r>
              <a:rPr spc="165" dirty="0"/>
              <a:t>of</a:t>
            </a:r>
            <a:r>
              <a:rPr spc="-15" dirty="0"/>
              <a:t> </a:t>
            </a:r>
            <a:r>
              <a:rPr spc="-110" dirty="0"/>
              <a:t>a</a:t>
            </a:r>
            <a:r>
              <a:rPr spc="-20" dirty="0"/>
              <a:t> </a:t>
            </a:r>
            <a:r>
              <a:rPr spc="80" dirty="0"/>
              <a:t>matrix</a:t>
            </a:r>
            <a:r>
              <a:rPr spc="-2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spc="-110" dirty="0"/>
              <a:t>a</a:t>
            </a:r>
            <a:r>
              <a:rPr spc="-20" dirty="0"/>
              <a:t> </a:t>
            </a:r>
            <a:r>
              <a:rPr spc="90" dirty="0"/>
              <a:t>type</a:t>
            </a:r>
            <a:r>
              <a:rPr spc="-20" dirty="0"/>
              <a:t> </a:t>
            </a:r>
            <a:r>
              <a:rPr spc="140" dirty="0"/>
              <a:t>of </a:t>
            </a:r>
            <a:r>
              <a:rPr spc="50" dirty="0"/>
              <a:t>decomposition</a:t>
            </a:r>
            <a:r>
              <a:rPr spc="25" dirty="0"/>
              <a:t> </a:t>
            </a:r>
            <a:r>
              <a:rPr spc="135" dirty="0"/>
              <a:t>that</a:t>
            </a:r>
            <a:r>
              <a:rPr spc="15" dirty="0"/>
              <a:t> </a:t>
            </a:r>
            <a:r>
              <a:rPr dirty="0"/>
              <a:t>involves</a:t>
            </a:r>
            <a:r>
              <a:rPr spc="15" dirty="0"/>
              <a:t> </a:t>
            </a:r>
            <a:r>
              <a:rPr dirty="0"/>
              <a:t>decomposing</a:t>
            </a:r>
            <a:r>
              <a:rPr spc="15" dirty="0"/>
              <a:t> </a:t>
            </a:r>
            <a:r>
              <a:rPr spc="-50" dirty="0"/>
              <a:t>a </a:t>
            </a:r>
            <a:r>
              <a:rPr dirty="0"/>
              <a:t>square</a:t>
            </a:r>
            <a:r>
              <a:rPr spc="-25" dirty="0"/>
              <a:t> </a:t>
            </a:r>
            <a:r>
              <a:rPr spc="80" dirty="0"/>
              <a:t>matrix</a:t>
            </a:r>
            <a:r>
              <a:rPr spc="-30" dirty="0"/>
              <a:t> </a:t>
            </a:r>
            <a:r>
              <a:rPr spc="120" dirty="0"/>
              <a:t>into</a:t>
            </a:r>
            <a:r>
              <a:rPr spc="-25" dirty="0"/>
              <a:t> </a:t>
            </a:r>
            <a:r>
              <a:rPr spc="-110" dirty="0"/>
              <a:t>a</a:t>
            </a:r>
            <a:r>
              <a:rPr spc="-35" dirty="0"/>
              <a:t> </a:t>
            </a:r>
            <a:r>
              <a:rPr spc="55" dirty="0"/>
              <a:t>set</a:t>
            </a:r>
            <a:r>
              <a:rPr spc="-25" dirty="0"/>
              <a:t> </a:t>
            </a:r>
            <a:r>
              <a:rPr spc="165" dirty="0"/>
              <a:t>of</a:t>
            </a:r>
            <a:r>
              <a:rPr spc="-30" dirty="0"/>
              <a:t> </a:t>
            </a:r>
            <a:r>
              <a:rPr dirty="0"/>
              <a:t>eigenvectors</a:t>
            </a:r>
            <a:r>
              <a:rPr spc="-20" dirty="0"/>
              <a:t> </a:t>
            </a:r>
            <a:r>
              <a:rPr spc="-25" dirty="0"/>
              <a:t>and </a:t>
            </a:r>
            <a:r>
              <a:rPr spc="-10" dirty="0"/>
              <a:t>eigenvalues.</a:t>
            </a:r>
          </a:p>
          <a:p>
            <a:pPr marL="88900" marR="5080">
              <a:lnSpc>
                <a:spcPct val="100000"/>
              </a:lnSpc>
              <a:spcBef>
                <a:spcPts val="800"/>
              </a:spcBef>
            </a:pPr>
            <a:r>
              <a:rPr dirty="0"/>
              <a:t>One</a:t>
            </a:r>
            <a:r>
              <a:rPr spc="-85" dirty="0"/>
              <a:t> </a:t>
            </a:r>
            <a:r>
              <a:rPr spc="165" dirty="0"/>
              <a:t>of</a:t>
            </a:r>
            <a:r>
              <a:rPr spc="-80" dirty="0"/>
              <a:t> </a:t>
            </a:r>
            <a:r>
              <a:rPr spc="110" dirty="0"/>
              <a:t>the</a:t>
            </a:r>
            <a:r>
              <a:rPr spc="-70" dirty="0"/>
              <a:t> </a:t>
            </a:r>
            <a:r>
              <a:rPr spc="75" dirty="0"/>
              <a:t>most</a:t>
            </a:r>
            <a:r>
              <a:rPr spc="-90" dirty="0"/>
              <a:t> </a:t>
            </a:r>
            <a:r>
              <a:rPr spc="65" dirty="0"/>
              <a:t>widely</a:t>
            </a:r>
            <a:r>
              <a:rPr spc="-80" dirty="0"/>
              <a:t> </a:t>
            </a:r>
            <a:r>
              <a:rPr dirty="0"/>
              <a:t>used</a:t>
            </a:r>
            <a:r>
              <a:rPr spc="-75" dirty="0"/>
              <a:t> </a:t>
            </a:r>
            <a:r>
              <a:rPr dirty="0"/>
              <a:t>kinds</a:t>
            </a:r>
            <a:r>
              <a:rPr spc="-80" dirty="0"/>
              <a:t> </a:t>
            </a:r>
            <a:r>
              <a:rPr spc="170" dirty="0"/>
              <a:t>of</a:t>
            </a:r>
            <a:r>
              <a:rPr spc="-80" dirty="0"/>
              <a:t> </a:t>
            </a:r>
            <a:r>
              <a:rPr spc="70" dirty="0"/>
              <a:t>matrix </a:t>
            </a:r>
            <a:r>
              <a:rPr spc="50" dirty="0"/>
              <a:t>decomposition</a:t>
            </a:r>
            <a:r>
              <a:rPr spc="65" dirty="0"/>
              <a:t> </a:t>
            </a:r>
            <a:r>
              <a:rPr dirty="0"/>
              <a:t>is</a:t>
            </a:r>
            <a:r>
              <a:rPr spc="65" dirty="0"/>
              <a:t> </a:t>
            </a:r>
            <a:r>
              <a:rPr dirty="0"/>
              <a:t>called</a:t>
            </a:r>
            <a:r>
              <a:rPr spc="65" dirty="0"/>
              <a:t> </a:t>
            </a:r>
            <a:r>
              <a:rPr dirty="0"/>
              <a:t>eigen</a:t>
            </a:r>
            <a:r>
              <a:rPr spc="65" dirty="0"/>
              <a:t> </a:t>
            </a:r>
            <a:r>
              <a:rPr dirty="0"/>
              <a:t>decomposition,</a:t>
            </a:r>
            <a:r>
              <a:rPr spc="55" dirty="0"/>
              <a:t> </a:t>
            </a:r>
            <a:r>
              <a:rPr spc="25" dirty="0"/>
              <a:t>in </a:t>
            </a:r>
            <a:r>
              <a:rPr dirty="0"/>
              <a:t>which</a:t>
            </a:r>
            <a:r>
              <a:rPr spc="-60" dirty="0"/>
              <a:t> </a:t>
            </a:r>
            <a:r>
              <a:rPr spc="65" dirty="0"/>
              <a:t>we</a:t>
            </a:r>
            <a:r>
              <a:rPr spc="-45" dirty="0"/>
              <a:t> </a:t>
            </a:r>
            <a:r>
              <a:rPr dirty="0"/>
              <a:t>decompose</a:t>
            </a:r>
            <a:r>
              <a:rPr spc="-55" dirty="0"/>
              <a:t> </a:t>
            </a:r>
            <a:r>
              <a:rPr spc="-110" dirty="0"/>
              <a:t>a</a:t>
            </a:r>
            <a:r>
              <a:rPr spc="-55" dirty="0"/>
              <a:t> </a:t>
            </a:r>
            <a:r>
              <a:rPr spc="80" dirty="0"/>
              <a:t>matrix</a:t>
            </a:r>
            <a:r>
              <a:rPr spc="-55" dirty="0"/>
              <a:t> </a:t>
            </a:r>
            <a:r>
              <a:rPr spc="120" dirty="0"/>
              <a:t>into</a:t>
            </a:r>
            <a:r>
              <a:rPr spc="-60" dirty="0"/>
              <a:t> </a:t>
            </a:r>
            <a:r>
              <a:rPr spc="-110" dirty="0"/>
              <a:t>a</a:t>
            </a:r>
            <a:r>
              <a:rPr spc="-50" dirty="0"/>
              <a:t> </a:t>
            </a:r>
            <a:r>
              <a:rPr spc="55" dirty="0"/>
              <a:t>set</a:t>
            </a:r>
            <a:r>
              <a:rPr spc="-50" dirty="0"/>
              <a:t> </a:t>
            </a:r>
            <a:r>
              <a:rPr spc="140" dirty="0"/>
              <a:t>of </a:t>
            </a:r>
            <a:r>
              <a:rPr dirty="0"/>
              <a:t>eigenvectors</a:t>
            </a:r>
            <a:r>
              <a:rPr spc="120" dirty="0"/>
              <a:t> </a:t>
            </a:r>
            <a:r>
              <a:rPr dirty="0"/>
              <a:t>and</a:t>
            </a:r>
            <a:r>
              <a:rPr spc="120" dirty="0"/>
              <a:t> </a:t>
            </a:r>
            <a:r>
              <a:rPr spc="-10" dirty="0"/>
              <a:t>eigenvalues.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189134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Eigen</a:t>
            </a:r>
            <a:r>
              <a:rPr spc="-195" dirty="0"/>
              <a:t> </a:t>
            </a:r>
            <a:r>
              <a:rPr spc="100" dirty="0"/>
              <a:t>Decompotition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519097"/>
            <a:ext cx="7469505" cy="4398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Microsoft Sans Serif"/>
                <a:cs typeface="Microsoft Sans Serif"/>
              </a:rPr>
              <a:t>A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vector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an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eigenvector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of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-110" dirty="0">
                <a:latin typeface="Microsoft Sans Serif"/>
                <a:cs typeface="Microsoft Sans Serif"/>
              </a:rPr>
              <a:t>a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matrix</a:t>
            </a:r>
            <a:r>
              <a:rPr sz="2600" spc="-105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if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190" dirty="0">
                <a:latin typeface="Microsoft Sans Serif"/>
                <a:cs typeface="Microsoft Sans Serif"/>
              </a:rPr>
              <a:t>it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satisfies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following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equation.</a:t>
            </a:r>
            <a:endParaRPr sz="2600">
              <a:latin typeface="Microsoft Sans Serif"/>
              <a:cs typeface="Microsoft Sans Serif"/>
            </a:endParaRPr>
          </a:p>
          <a:p>
            <a:pPr marL="9525" algn="ctr">
              <a:lnSpc>
                <a:spcPct val="100000"/>
              </a:lnSpc>
              <a:spcBef>
                <a:spcPts val="795"/>
              </a:spcBef>
            </a:pPr>
            <a:r>
              <a:rPr sz="2600" i="1" spc="-95" dirty="0">
                <a:latin typeface="Arial"/>
                <a:cs typeface="Arial"/>
              </a:rPr>
              <a:t>A</a:t>
            </a:r>
            <a:r>
              <a:rPr sz="2600" i="1" spc="-125" dirty="0">
                <a:latin typeface="Arial"/>
                <a:cs typeface="Arial"/>
              </a:rPr>
              <a:t> </a:t>
            </a:r>
            <a:r>
              <a:rPr sz="2600" i="1" spc="-229" dirty="0">
                <a:latin typeface="Arial"/>
                <a:cs typeface="Arial"/>
              </a:rPr>
              <a:t>·</a:t>
            </a:r>
            <a:r>
              <a:rPr sz="2600" i="1" spc="-125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v</a:t>
            </a:r>
            <a:r>
              <a:rPr sz="2600" i="1" spc="-145" dirty="0">
                <a:latin typeface="Arial"/>
                <a:cs typeface="Arial"/>
              </a:rPr>
              <a:t> </a:t>
            </a:r>
            <a:r>
              <a:rPr sz="2600" i="1" spc="-70" dirty="0">
                <a:latin typeface="Arial"/>
                <a:cs typeface="Arial"/>
              </a:rPr>
              <a:t>=</a:t>
            </a:r>
            <a:r>
              <a:rPr sz="2600" i="1" spc="-130" dirty="0"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λ</a:t>
            </a:r>
            <a:r>
              <a:rPr sz="2600" i="1" spc="-120" dirty="0">
                <a:latin typeface="Arial"/>
                <a:cs typeface="Arial"/>
              </a:rPr>
              <a:t> </a:t>
            </a:r>
            <a:r>
              <a:rPr sz="2600" i="1" spc="-229" dirty="0">
                <a:latin typeface="Arial"/>
                <a:cs typeface="Arial"/>
              </a:rPr>
              <a:t>·</a:t>
            </a:r>
            <a:r>
              <a:rPr sz="2600" i="1" spc="-135" dirty="0">
                <a:latin typeface="Arial"/>
                <a:cs typeface="Arial"/>
              </a:rPr>
              <a:t> </a:t>
            </a:r>
            <a:r>
              <a:rPr sz="2600" i="1" spc="-50" dirty="0">
                <a:latin typeface="Arial"/>
                <a:cs typeface="Arial"/>
              </a:rPr>
              <a:t>v</a:t>
            </a:r>
            <a:endParaRPr sz="2600">
              <a:latin typeface="Arial"/>
              <a:cs typeface="Arial"/>
            </a:endParaRPr>
          </a:p>
          <a:p>
            <a:pPr marL="12700" marR="161290">
              <a:lnSpc>
                <a:spcPct val="100099"/>
              </a:lnSpc>
              <a:spcBef>
                <a:spcPts val="810"/>
              </a:spcBef>
            </a:pPr>
            <a:r>
              <a:rPr sz="2600" spc="-40" dirty="0">
                <a:latin typeface="Microsoft Sans Serif"/>
                <a:cs typeface="Microsoft Sans Serif"/>
              </a:rPr>
              <a:t>This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called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eigenvalue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equation,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where</a:t>
            </a:r>
            <a:r>
              <a:rPr sz="2600" spc="-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</a:t>
            </a:r>
            <a:r>
              <a:rPr sz="2600" spc="-15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is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parent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square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matrix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that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we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are </a:t>
            </a:r>
            <a:r>
              <a:rPr sz="2600" dirty="0">
                <a:latin typeface="Microsoft Sans Serif"/>
                <a:cs typeface="Microsoft Sans Serif"/>
              </a:rPr>
              <a:t>decomposing,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eigenvector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170" dirty="0">
                <a:latin typeface="Microsoft Sans Serif"/>
                <a:cs typeface="Microsoft Sans Serif"/>
              </a:rPr>
              <a:t>of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45" dirty="0">
                <a:latin typeface="Microsoft Sans Serif"/>
                <a:cs typeface="Microsoft Sans Serif"/>
              </a:rPr>
              <a:t>matrix, </a:t>
            </a:r>
            <a:r>
              <a:rPr sz="2600" dirty="0">
                <a:latin typeface="Microsoft Sans Serif"/>
                <a:cs typeface="Microsoft Sans Serif"/>
              </a:rPr>
              <a:t>and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λ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lowercase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Greek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145" dirty="0">
                <a:latin typeface="Microsoft Sans Serif"/>
                <a:cs typeface="Microsoft Sans Serif"/>
              </a:rPr>
              <a:t>letter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lambda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and </a:t>
            </a:r>
            <a:r>
              <a:rPr sz="2600" dirty="0">
                <a:latin typeface="Microsoft Sans Serif"/>
                <a:cs typeface="Microsoft Sans Serif"/>
              </a:rPr>
              <a:t>represents</a:t>
            </a:r>
            <a:r>
              <a:rPr sz="2600" spc="12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 </a:t>
            </a:r>
            <a:r>
              <a:rPr sz="2600" dirty="0">
                <a:latin typeface="Microsoft Sans Serif"/>
                <a:cs typeface="Microsoft Sans Serif"/>
              </a:rPr>
              <a:t>eigenvalue</a:t>
            </a:r>
            <a:r>
              <a:rPr sz="2600" spc="11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scalar.</a:t>
            </a:r>
            <a:endParaRPr sz="2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600" spc="60" dirty="0">
                <a:latin typeface="Microsoft Sans Serif"/>
                <a:cs typeface="Microsoft Sans Serif"/>
              </a:rPr>
              <a:t>Or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135" dirty="0">
                <a:latin typeface="Microsoft Sans Serif"/>
                <a:cs typeface="Microsoft Sans Serif"/>
              </a:rPr>
              <a:t>without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14" dirty="0">
                <a:latin typeface="Microsoft Sans Serif"/>
                <a:cs typeface="Microsoft Sans Serif"/>
              </a:rPr>
              <a:t>the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150" dirty="0">
                <a:latin typeface="Microsoft Sans Serif"/>
                <a:cs typeface="Microsoft Sans Serif"/>
              </a:rPr>
              <a:t>dot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notation.</a:t>
            </a:r>
            <a:endParaRPr sz="2600">
              <a:latin typeface="Microsoft Sans Serif"/>
              <a:cs typeface="Microsoft Sans Serif"/>
            </a:endParaRPr>
          </a:p>
          <a:p>
            <a:pPr marL="8255" algn="ctr">
              <a:lnSpc>
                <a:spcPct val="100000"/>
              </a:lnSpc>
              <a:spcBef>
                <a:spcPts val="800"/>
              </a:spcBef>
            </a:pPr>
            <a:r>
              <a:rPr sz="2600" i="1" spc="-70" dirty="0">
                <a:latin typeface="Arial"/>
                <a:cs typeface="Arial"/>
              </a:rPr>
              <a:t>Av</a:t>
            </a:r>
            <a:r>
              <a:rPr sz="2600" i="1" spc="-120" dirty="0">
                <a:latin typeface="Arial"/>
                <a:cs typeface="Arial"/>
              </a:rPr>
              <a:t> </a:t>
            </a:r>
            <a:r>
              <a:rPr sz="2600" i="1" spc="-70" dirty="0">
                <a:latin typeface="Arial"/>
                <a:cs typeface="Arial"/>
              </a:rPr>
              <a:t>=</a:t>
            </a:r>
            <a:r>
              <a:rPr sz="2600" i="1" spc="-125" dirty="0">
                <a:latin typeface="Arial"/>
                <a:cs typeface="Arial"/>
              </a:rPr>
              <a:t> </a:t>
            </a:r>
            <a:r>
              <a:rPr sz="2600" i="1" spc="-35" dirty="0">
                <a:latin typeface="Arial"/>
                <a:cs typeface="Arial"/>
              </a:rPr>
              <a:t>λv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89321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978336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305560"/>
            <a:chOff x="0" y="0"/>
            <a:chExt cx="9144000" cy="13055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0825" cy="1089025"/>
            </a:xfrm>
            <a:custGeom>
              <a:avLst/>
              <a:gdLst/>
              <a:ahLst/>
              <a:cxnLst/>
              <a:rect l="l" t="t" r="r" b="b"/>
              <a:pathLst>
                <a:path w="9140825" h="1089025">
                  <a:moveTo>
                    <a:pt x="0" y="1088999"/>
                  </a:moveTo>
                  <a:lnTo>
                    <a:pt x="9140761" y="1088999"/>
                  </a:lnTo>
                  <a:lnTo>
                    <a:pt x="9140761" y="0"/>
                  </a:lnTo>
                  <a:lnTo>
                    <a:pt x="0" y="0"/>
                  </a:lnTo>
                  <a:lnTo>
                    <a:pt x="0" y="108899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88999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>
                  <a:moveTo>
                    <a:pt x="9143631" y="0"/>
                  </a:moveTo>
                  <a:lnTo>
                    <a:pt x="0" y="0"/>
                  </a:lnTo>
                  <a:lnTo>
                    <a:pt x="0" y="216001"/>
                  </a:lnTo>
                  <a:lnTo>
                    <a:pt x="9143631" y="216001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01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0"/>
                </a:move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lnTo>
                  <a:pt x="0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Eigen</a:t>
            </a:r>
            <a:r>
              <a:rPr spc="-195" dirty="0"/>
              <a:t> </a:t>
            </a:r>
            <a:r>
              <a:rPr spc="100" dirty="0"/>
              <a:t>Decompotition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503629"/>
            <a:ext cx="12255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1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9358" y="1519110"/>
            <a:ext cx="7764780" cy="4693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6200" marR="43180">
              <a:lnSpc>
                <a:spcPct val="101499"/>
              </a:lnSpc>
              <a:spcBef>
                <a:spcPts val="90"/>
              </a:spcBef>
            </a:pPr>
            <a:r>
              <a:rPr sz="2150" dirty="0">
                <a:latin typeface="Microsoft Sans Serif"/>
                <a:cs typeface="Microsoft Sans Serif"/>
              </a:rPr>
              <a:t>A</a:t>
            </a:r>
            <a:r>
              <a:rPr sz="2150" spc="15" dirty="0">
                <a:latin typeface="Microsoft Sans Serif"/>
                <a:cs typeface="Microsoft Sans Serif"/>
              </a:rPr>
              <a:t> </a:t>
            </a:r>
            <a:r>
              <a:rPr sz="2150" spc="80" dirty="0">
                <a:latin typeface="Microsoft Sans Serif"/>
                <a:cs typeface="Microsoft Sans Serif"/>
              </a:rPr>
              <a:t>matrix</a:t>
            </a:r>
            <a:r>
              <a:rPr sz="2150" spc="1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could</a:t>
            </a:r>
            <a:r>
              <a:rPr sz="2150" spc="1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have</a:t>
            </a:r>
            <a:r>
              <a:rPr sz="2150" spc="1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one</a:t>
            </a:r>
            <a:r>
              <a:rPr sz="2150" spc="10" dirty="0">
                <a:latin typeface="Microsoft Sans Serif"/>
                <a:cs typeface="Microsoft Sans Serif"/>
              </a:rPr>
              <a:t> </a:t>
            </a:r>
            <a:r>
              <a:rPr sz="2150" spc="55" dirty="0">
                <a:latin typeface="Microsoft Sans Serif"/>
                <a:cs typeface="Microsoft Sans Serif"/>
              </a:rPr>
              <a:t>eigenvector</a:t>
            </a:r>
            <a:r>
              <a:rPr sz="2150" spc="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and eigenvalue</a:t>
            </a:r>
            <a:r>
              <a:rPr sz="2150" spc="10" dirty="0">
                <a:latin typeface="Microsoft Sans Serif"/>
                <a:cs typeface="Microsoft Sans Serif"/>
              </a:rPr>
              <a:t> </a:t>
            </a:r>
            <a:r>
              <a:rPr sz="2150" spc="145" dirty="0">
                <a:latin typeface="Microsoft Sans Serif"/>
                <a:cs typeface="Microsoft Sans Serif"/>
              </a:rPr>
              <a:t>for</a:t>
            </a:r>
            <a:r>
              <a:rPr sz="2150" spc="5" dirty="0">
                <a:latin typeface="Microsoft Sans Serif"/>
                <a:cs typeface="Microsoft Sans Serif"/>
              </a:rPr>
              <a:t> </a:t>
            </a:r>
            <a:r>
              <a:rPr sz="2150" spc="-20" dirty="0">
                <a:latin typeface="Microsoft Sans Serif"/>
                <a:cs typeface="Microsoft Sans Serif"/>
              </a:rPr>
              <a:t>each </a:t>
            </a:r>
            <a:r>
              <a:rPr sz="2150" dirty="0">
                <a:latin typeface="Microsoft Sans Serif"/>
                <a:cs typeface="Microsoft Sans Serif"/>
              </a:rPr>
              <a:t>dimension</a:t>
            </a:r>
            <a:r>
              <a:rPr sz="2150" spc="20" dirty="0">
                <a:latin typeface="Microsoft Sans Serif"/>
                <a:cs typeface="Microsoft Sans Serif"/>
              </a:rPr>
              <a:t> </a:t>
            </a:r>
            <a:r>
              <a:rPr sz="2150" spc="155" dirty="0">
                <a:latin typeface="Microsoft Sans Serif"/>
                <a:cs typeface="Microsoft Sans Serif"/>
              </a:rPr>
              <a:t>of</a:t>
            </a:r>
            <a:r>
              <a:rPr sz="2150" spc="15" dirty="0">
                <a:latin typeface="Microsoft Sans Serif"/>
                <a:cs typeface="Microsoft Sans Serif"/>
              </a:rPr>
              <a:t> </a:t>
            </a:r>
            <a:r>
              <a:rPr sz="2150" spc="105" dirty="0">
                <a:latin typeface="Microsoft Sans Serif"/>
                <a:cs typeface="Microsoft Sans Serif"/>
              </a:rPr>
              <a:t>the</a:t>
            </a:r>
            <a:r>
              <a:rPr sz="2150" spc="30" dirty="0">
                <a:latin typeface="Microsoft Sans Serif"/>
                <a:cs typeface="Microsoft Sans Serif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parent</a:t>
            </a:r>
            <a:r>
              <a:rPr sz="2150" spc="20" dirty="0">
                <a:latin typeface="Microsoft Sans Serif"/>
                <a:cs typeface="Microsoft Sans Serif"/>
              </a:rPr>
              <a:t> </a:t>
            </a:r>
            <a:r>
              <a:rPr sz="2150" spc="45" dirty="0">
                <a:latin typeface="Microsoft Sans Serif"/>
                <a:cs typeface="Microsoft Sans Serif"/>
              </a:rPr>
              <a:t>matrix.</a:t>
            </a:r>
            <a:endParaRPr sz="2150" dirty="0">
              <a:latin typeface="Microsoft Sans Serif"/>
              <a:cs typeface="Microsoft Sans Serif"/>
            </a:endParaRPr>
          </a:p>
          <a:p>
            <a:pPr marL="76200" marR="412115">
              <a:lnSpc>
                <a:spcPct val="101699"/>
              </a:lnSpc>
              <a:spcBef>
                <a:spcPts val="665"/>
              </a:spcBef>
            </a:pPr>
            <a:r>
              <a:rPr sz="2150" spc="125" dirty="0">
                <a:latin typeface="Microsoft Sans Serif"/>
                <a:cs typeface="Microsoft Sans Serif"/>
              </a:rPr>
              <a:t>Not</a:t>
            </a:r>
            <a:r>
              <a:rPr sz="2150" spc="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all</a:t>
            </a:r>
            <a:r>
              <a:rPr sz="2150" spc="6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square</a:t>
            </a:r>
            <a:r>
              <a:rPr sz="2150" spc="5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matrices</a:t>
            </a:r>
            <a:r>
              <a:rPr sz="2150" spc="50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can</a:t>
            </a:r>
            <a:r>
              <a:rPr sz="2150" spc="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be</a:t>
            </a:r>
            <a:r>
              <a:rPr sz="2150" spc="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decomposed</a:t>
            </a:r>
            <a:r>
              <a:rPr sz="2150" spc="35" dirty="0">
                <a:latin typeface="Microsoft Sans Serif"/>
                <a:cs typeface="Microsoft Sans Serif"/>
              </a:rPr>
              <a:t> </a:t>
            </a:r>
            <a:r>
              <a:rPr sz="2150" spc="95" dirty="0">
                <a:latin typeface="Microsoft Sans Serif"/>
                <a:cs typeface="Microsoft Sans Serif"/>
              </a:rPr>
              <a:t>into </a:t>
            </a:r>
            <a:r>
              <a:rPr sz="2150" dirty="0">
                <a:latin typeface="Microsoft Sans Serif"/>
                <a:cs typeface="Microsoft Sans Serif"/>
              </a:rPr>
              <a:t>eigenvectors</a:t>
            </a:r>
            <a:r>
              <a:rPr sz="2150" spc="2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and</a:t>
            </a:r>
            <a:r>
              <a:rPr sz="2150" spc="3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eigenvalues,</a:t>
            </a:r>
            <a:r>
              <a:rPr sz="2150" spc="3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and</a:t>
            </a:r>
            <a:r>
              <a:rPr sz="2150" spc="3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some</a:t>
            </a:r>
            <a:r>
              <a:rPr sz="2150" spc="3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can</a:t>
            </a:r>
            <a:r>
              <a:rPr sz="2150" spc="25" dirty="0">
                <a:latin typeface="Microsoft Sans Serif"/>
                <a:cs typeface="Microsoft Sans Serif"/>
              </a:rPr>
              <a:t> </a:t>
            </a:r>
            <a:r>
              <a:rPr sz="2150" spc="55" dirty="0">
                <a:latin typeface="Microsoft Sans Serif"/>
                <a:cs typeface="Microsoft Sans Serif"/>
              </a:rPr>
              <a:t>only</a:t>
            </a:r>
            <a:r>
              <a:rPr sz="2150" spc="15" dirty="0">
                <a:latin typeface="Microsoft Sans Serif"/>
                <a:cs typeface="Microsoft Sans Serif"/>
              </a:rPr>
              <a:t> </a:t>
            </a:r>
            <a:r>
              <a:rPr sz="2150" spc="-25" dirty="0">
                <a:latin typeface="Microsoft Sans Serif"/>
                <a:cs typeface="Microsoft Sans Serif"/>
              </a:rPr>
              <a:t>be </a:t>
            </a:r>
            <a:r>
              <a:rPr sz="2150" dirty="0">
                <a:latin typeface="Microsoft Sans Serif"/>
                <a:cs typeface="Microsoft Sans Serif"/>
              </a:rPr>
              <a:t>decomposed</a:t>
            </a:r>
            <a:r>
              <a:rPr sz="2150" spc="60" dirty="0">
                <a:latin typeface="Microsoft Sans Serif"/>
                <a:cs typeface="Microsoft Sans Serif"/>
              </a:rPr>
              <a:t> </a:t>
            </a:r>
            <a:r>
              <a:rPr sz="2150" spc="50" dirty="0">
                <a:latin typeface="Microsoft Sans Serif"/>
                <a:cs typeface="Microsoft Sans Serif"/>
              </a:rPr>
              <a:t>in</a:t>
            </a:r>
            <a:r>
              <a:rPr sz="2150" spc="85" dirty="0">
                <a:latin typeface="Microsoft Sans Serif"/>
                <a:cs typeface="Microsoft Sans Serif"/>
              </a:rPr>
              <a:t> </a:t>
            </a:r>
            <a:r>
              <a:rPr sz="2150" spc="-80" dirty="0">
                <a:latin typeface="Microsoft Sans Serif"/>
                <a:cs typeface="Microsoft Sans Serif"/>
              </a:rPr>
              <a:t>a</a:t>
            </a:r>
            <a:r>
              <a:rPr sz="2150" spc="7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way</a:t>
            </a:r>
            <a:r>
              <a:rPr sz="2150" spc="80" dirty="0">
                <a:latin typeface="Microsoft Sans Serif"/>
                <a:cs typeface="Microsoft Sans Serif"/>
              </a:rPr>
              <a:t> </a:t>
            </a:r>
            <a:r>
              <a:rPr sz="2150" spc="125" dirty="0">
                <a:latin typeface="Microsoft Sans Serif"/>
                <a:cs typeface="Microsoft Sans Serif"/>
              </a:rPr>
              <a:t>that</a:t>
            </a:r>
            <a:r>
              <a:rPr sz="2150" spc="8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requires</a:t>
            </a:r>
            <a:r>
              <a:rPr sz="2150" spc="8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complex</a:t>
            </a:r>
            <a:r>
              <a:rPr sz="2150" spc="9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numbers.</a:t>
            </a:r>
            <a:r>
              <a:rPr sz="2150" spc="90" dirty="0">
                <a:latin typeface="Microsoft Sans Serif"/>
                <a:cs typeface="Microsoft Sans Serif"/>
              </a:rPr>
              <a:t> </a:t>
            </a:r>
            <a:r>
              <a:rPr sz="2150" spc="-25" dirty="0">
                <a:latin typeface="Microsoft Sans Serif"/>
                <a:cs typeface="Microsoft Sans Serif"/>
              </a:rPr>
              <a:t>The </a:t>
            </a:r>
            <a:r>
              <a:rPr sz="2150" spc="70" dirty="0">
                <a:latin typeface="Microsoft Sans Serif"/>
                <a:cs typeface="Microsoft Sans Serif"/>
              </a:rPr>
              <a:t>parent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80" dirty="0">
                <a:latin typeface="Microsoft Sans Serif"/>
                <a:cs typeface="Microsoft Sans Serif"/>
              </a:rPr>
              <a:t>matrix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can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be</a:t>
            </a:r>
            <a:r>
              <a:rPr sz="2150" spc="-3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shown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175" dirty="0">
                <a:latin typeface="Microsoft Sans Serif"/>
                <a:cs typeface="Microsoft Sans Serif"/>
              </a:rPr>
              <a:t>to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be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</a:t>
            </a:r>
            <a:r>
              <a:rPr sz="2150" spc="-35" dirty="0">
                <a:latin typeface="Microsoft Sans Serif"/>
                <a:cs typeface="Microsoft Sans Serif"/>
              </a:rPr>
              <a:t> </a:t>
            </a:r>
            <a:r>
              <a:rPr sz="2150" spc="80" dirty="0">
                <a:latin typeface="Microsoft Sans Serif"/>
                <a:cs typeface="Microsoft Sans Serif"/>
              </a:rPr>
              <a:t>product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160" dirty="0">
                <a:latin typeface="Microsoft Sans Serif"/>
                <a:cs typeface="Microsoft Sans Serif"/>
              </a:rPr>
              <a:t>of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80" dirty="0">
                <a:latin typeface="Microsoft Sans Serif"/>
                <a:cs typeface="Microsoft Sans Serif"/>
              </a:rPr>
              <a:t>the </a:t>
            </a:r>
            <a:r>
              <a:rPr sz="2150" spc="10" dirty="0">
                <a:latin typeface="Microsoft Sans Serif"/>
                <a:cs typeface="Microsoft Sans Serif"/>
              </a:rPr>
              <a:t>eigenvectors</a:t>
            </a:r>
            <a:r>
              <a:rPr sz="2150" spc="125" dirty="0">
                <a:latin typeface="Microsoft Sans Serif"/>
                <a:cs typeface="Microsoft Sans Serif"/>
              </a:rPr>
              <a:t> </a:t>
            </a:r>
            <a:r>
              <a:rPr sz="2150" spc="10" dirty="0">
                <a:latin typeface="Microsoft Sans Serif"/>
                <a:cs typeface="Microsoft Sans Serif"/>
              </a:rPr>
              <a:t>and</a:t>
            </a:r>
            <a:r>
              <a:rPr sz="2150" spc="130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eigenvalues.</a:t>
            </a:r>
            <a:endParaRPr sz="2150" dirty="0">
              <a:latin typeface="Microsoft Sans Serif"/>
              <a:cs typeface="Microsoft Sans Serif"/>
            </a:endParaRPr>
          </a:p>
          <a:p>
            <a:pPr marL="76200" marR="2215515">
              <a:lnSpc>
                <a:spcPct val="127400"/>
              </a:lnSpc>
              <a:spcBef>
                <a:spcPts val="5"/>
              </a:spcBef>
              <a:tabLst>
                <a:tab pos="1899285" algn="l"/>
              </a:tabLst>
            </a:pPr>
            <a:r>
              <a:rPr sz="2150" dirty="0">
                <a:latin typeface="Microsoft Sans Serif"/>
                <a:cs typeface="Microsoft Sans Serif"/>
              </a:rPr>
              <a:t>A</a:t>
            </a:r>
            <a:r>
              <a:rPr sz="2150" spc="-8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=</a:t>
            </a:r>
            <a:r>
              <a:rPr sz="2150" spc="-8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Q</a:t>
            </a:r>
            <a:r>
              <a:rPr sz="2150" spc="-8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·</a:t>
            </a:r>
            <a:r>
              <a:rPr sz="2150" spc="-9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Λ</a:t>
            </a:r>
            <a:r>
              <a:rPr sz="2150" spc="-8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·</a:t>
            </a:r>
            <a:r>
              <a:rPr sz="2150" spc="-9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Q</a:t>
            </a:r>
            <a:r>
              <a:rPr sz="2150" spc="-65" dirty="0">
                <a:latin typeface="Microsoft Sans Serif"/>
                <a:cs typeface="Microsoft Sans Serif"/>
              </a:rPr>
              <a:t> </a:t>
            </a:r>
            <a:r>
              <a:rPr sz="1875" spc="-75" baseline="17777" dirty="0">
                <a:latin typeface="Microsoft Sans Serif"/>
                <a:cs typeface="Microsoft Sans Serif"/>
              </a:rPr>
              <a:t>T</a:t>
            </a:r>
            <a:r>
              <a:rPr sz="1875" baseline="17777" dirty="0">
                <a:latin typeface="Microsoft Sans Serif"/>
                <a:cs typeface="Microsoft Sans Serif"/>
              </a:rPr>
              <a:t>	</a:t>
            </a:r>
            <a:r>
              <a:rPr sz="2150" dirty="0">
                <a:latin typeface="Microsoft Sans Serif"/>
                <a:cs typeface="Microsoft Sans Serif"/>
              </a:rPr>
              <a:t>Or,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spc="125" dirty="0">
                <a:latin typeface="Microsoft Sans Serif"/>
                <a:cs typeface="Microsoft Sans Serif"/>
              </a:rPr>
              <a:t>without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spc="100" dirty="0">
                <a:latin typeface="Microsoft Sans Serif"/>
                <a:cs typeface="Microsoft Sans Serif"/>
              </a:rPr>
              <a:t>the</a:t>
            </a:r>
            <a:r>
              <a:rPr sz="2150" spc="-35" dirty="0">
                <a:latin typeface="Microsoft Sans Serif"/>
                <a:cs typeface="Microsoft Sans Serif"/>
              </a:rPr>
              <a:t> </a:t>
            </a:r>
            <a:r>
              <a:rPr sz="2150" spc="140" dirty="0">
                <a:latin typeface="Microsoft Sans Serif"/>
                <a:cs typeface="Microsoft Sans Serif"/>
              </a:rPr>
              <a:t>dot</a:t>
            </a:r>
            <a:r>
              <a:rPr sz="2150" spc="-55" dirty="0">
                <a:latin typeface="Microsoft Sans Serif"/>
                <a:cs typeface="Microsoft Sans Serif"/>
              </a:rPr>
              <a:t> </a:t>
            </a:r>
            <a:r>
              <a:rPr sz="2150" spc="65" dirty="0">
                <a:latin typeface="Microsoft Sans Serif"/>
                <a:cs typeface="Microsoft Sans Serif"/>
              </a:rPr>
              <a:t>notation. </a:t>
            </a:r>
            <a:r>
              <a:rPr sz="2150" dirty="0">
                <a:latin typeface="Microsoft Sans Serif"/>
                <a:cs typeface="Microsoft Sans Serif"/>
              </a:rPr>
              <a:t>A</a:t>
            </a:r>
            <a:r>
              <a:rPr sz="2150" spc="-8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=</a:t>
            </a:r>
            <a:r>
              <a:rPr sz="2150" spc="-75" dirty="0">
                <a:latin typeface="Microsoft Sans Serif"/>
                <a:cs typeface="Microsoft Sans Serif"/>
              </a:rPr>
              <a:t> </a:t>
            </a:r>
            <a:r>
              <a:rPr sz="2150" spc="-20" dirty="0">
                <a:latin typeface="Microsoft Sans Serif"/>
                <a:cs typeface="Microsoft Sans Serif"/>
              </a:rPr>
              <a:t>QΛQ</a:t>
            </a:r>
            <a:r>
              <a:rPr sz="1875" spc="-30" baseline="17777" dirty="0">
                <a:latin typeface="Microsoft Sans Serif"/>
                <a:cs typeface="Microsoft Sans Serif"/>
              </a:rPr>
              <a:t>T</a:t>
            </a:r>
            <a:endParaRPr sz="1875" baseline="17777" dirty="0">
              <a:latin typeface="Microsoft Sans Serif"/>
              <a:cs typeface="Microsoft Sans Serif"/>
            </a:endParaRPr>
          </a:p>
          <a:p>
            <a:pPr marL="76200" marR="133985">
              <a:lnSpc>
                <a:spcPct val="101699"/>
              </a:lnSpc>
              <a:spcBef>
                <a:spcPts val="665"/>
              </a:spcBef>
            </a:pPr>
            <a:r>
              <a:rPr sz="2150" dirty="0">
                <a:latin typeface="Microsoft Sans Serif"/>
                <a:cs typeface="Microsoft Sans Serif"/>
              </a:rPr>
              <a:t>Where</a:t>
            </a:r>
            <a:r>
              <a:rPr sz="2150" spc="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Q</a:t>
            </a:r>
            <a:r>
              <a:rPr sz="2150" spc="1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is</a:t>
            </a:r>
            <a:r>
              <a:rPr sz="2150" spc="15" dirty="0">
                <a:latin typeface="Microsoft Sans Serif"/>
                <a:cs typeface="Microsoft Sans Serif"/>
              </a:rPr>
              <a:t> </a:t>
            </a:r>
            <a:r>
              <a:rPr sz="2150" spc="-80" dirty="0">
                <a:latin typeface="Microsoft Sans Serif"/>
                <a:cs typeface="Microsoft Sans Serif"/>
              </a:rPr>
              <a:t>a</a:t>
            </a:r>
            <a:r>
              <a:rPr sz="2150" dirty="0">
                <a:latin typeface="Microsoft Sans Serif"/>
                <a:cs typeface="Microsoft Sans Serif"/>
              </a:rPr>
              <a:t> </a:t>
            </a:r>
            <a:r>
              <a:rPr sz="2150" spc="80" dirty="0">
                <a:latin typeface="Microsoft Sans Serif"/>
                <a:cs typeface="Microsoft Sans Serif"/>
              </a:rPr>
              <a:t>matrix</a:t>
            </a:r>
            <a:r>
              <a:rPr sz="2150" dirty="0">
                <a:latin typeface="Microsoft Sans Serif"/>
                <a:cs typeface="Microsoft Sans Serif"/>
              </a:rPr>
              <a:t> comprised</a:t>
            </a:r>
            <a:r>
              <a:rPr sz="2150" spc="10" dirty="0">
                <a:latin typeface="Microsoft Sans Serif"/>
                <a:cs typeface="Microsoft Sans Serif"/>
              </a:rPr>
              <a:t> </a:t>
            </a:r>
            <a:r>
              <a:rPr sz="2150" spc="160" dirty="0">
                <a:latin typeface="Microsoft Sans Serif"/>
                <a:cs typeface="Microsoft Sans Serif"/>
              </a:rPr>
              <a:t>of</a:t>
            </a:r>
            <a:r>
              <a:rPr sz="2150" spc="5" dirty="0">
                <a:latin typeface="Microsoft Sans Serif"/>
                <a:cs typeface="Microsoft Sans Serif"/>
              </a:rPr>
              <a:t> </a:t>
            </a:r>
            <a:r>
              <a:rPr sz="2150" spc="105" dirty="0">
                <a:latin typeface="Microsoft Sans Serif"/>
                <a:cs typeface="Microsoft Sans Serif"/>
              </a:rPr>
              <a:t>the</a:t>
            </a:r>
            <a:r>
              <a:rPr sz="2150" spc="1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eigenvectors,</a:t>
            </a:r>
            <a:r>
              <a:rPr sz="2150" spc="1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Λ</a:t>
            </a:r>
            <a:r>
              <a:rPr sz="2150" spc="1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is</a:t>
            </a:r>
            <a:r>
              <a:rPr sz="2150" spc="5" dirty="0">
                <a:latin typeface="Microsoft Sans Serif"/>
                <a:cs typeface="Microsoft Sans Serif"/>
              </a:rPr>
              <a:t> </a:t>
            </a:r>
            <a:r>
              <a:rPr sz="2150" spc="80" dirty="0">
                <a:latin typeface="Microsoft Sans Serif"/>
                <a:cs typeface="Microsoft Sans Serif"/>
              </a:rPr>
              <a:t>the </a:t>
            </a:r>
            <a:r>
              <a:rPr sz="2150" dirty="0">
                <a:latin typeface="Microsoft Sans Serif"/>
                <a:cs typeface="Microsoft Sans Serif"/>
              </a:rPr>
              <a:t>uppercase</a:t>
            </a:r>
            <a:r>
              <a:rPr sz="2150" spc="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Greek</a:t>
            </a:r>
            <a:r>
              <a:rPr sz="2150" spc="-10" dirty="0">
                <a:latin typeface="Microsoft Sans Serif"/>
                <a:cs typeface="Microsoft Sans Serif"/>
              </a:rPr>
              <a:t> </a:t>
            </a:r>
            <a:r>
              <a:rPr sz="2150" spc="130" dirty="0">
                <a:latin typeface="Microsoft Sans Serif"/>
                <a:cs typeface="Microsoft Sans Serif"/>
              </a:rPr>
              <a:t>letter</a:t>
            </a:r>
            <a:r>
              <a:rPr sz="2150" spc="-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lambda</a:t>
            </a:r>
            <a:r>
              <a:rPr sz="2150" spc="-1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and is</a:t>
            </a:r>
            <a:r>
              <a:rPr sz="2150" spc="-5" dirty="0">
                <a:latin typeface="Microsoft Sans Serif"/>
                <a:cs typeface="Microsoft Sans Serif"/>
              </a:rPr>
              <a:t> </a:t>
            </a:r>
            <a:r>
              <a:rPr sz="2150" spc="100" dirty="0">
                <a:latin typeface="Microsoft Sans Serif"/>
                <a:cs typeface="Microsoft Sans Serif"/>
              </a:rPr>
              <a:t>the</a:t>
            </a:r>
            <a:r>
              <a:rPr sz="2150" spc="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diagonal</a:t>
            </a:r>
            <a:r>
              <a:rPr sz="2150" spc="5" dirty="0">
                <a:latin typeface="Microsoft Sans Serif"/>
                <a:cs typeface="Microsoft Sans Serif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matrix </a:t>
            </a:r>
            <a:r>
              <a:rPr sz="2150" dirty="0">
                <a:latin typeface="Microsoft Sans Serif"/>
                <a:cs typeface="Microsoft Sans Serif"/>
              </a:rPr>
              <a:t>comprised</a:t>
            </a:r>
            <a:r>
              <a:rPr sz="2150" spc="5" dirty="0">
                <a:latin typeface="Microsoft Sans Serif"/>
                <a:cs typeface="Microsoft Sans Serif"/>
              </a:rPr>
              <a:t> </a:t>
            </a:r>
            <a:r>
              <a:rPr sz="2150" spc="160" dirty="0">
                <a:latin typeface="Microsoft Sans Serif"/>
                <a:cs typeface="Microsoft Sans Serif"/>
              </a:rPr>
              <a:t>of</a:t>
            </a:r>
            <a:r>
              <a:rPr sz="2150" spc="5" dirty="0">
                <a:latin typeface="Microsoft Sans Serif"/>
                <a:cs typeface="Microsoft Sans Serif"/>
              </a:rPr>
              <a:t> </a:t>
            </a:r>
            <a:r>
              <a:rPr sz="2150" spc="105" dirty="0">
                <a:latin typeface="Microsoft Sans Serif"/>
                <a:cs typeface="Microsoft Sans Serif"/>
              </a:rPr>
              <a:t>the</a:t>
            </a:r>
            <a:r>
              <a:rPr sz="2150" spc="1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eigenvalues,</a:t>
            </a:r>
            <a:r>
              <a:rPr sz="2150" spc="1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and</a:t>
            </a:r>
            <a:r>
              <a:rPr sz="2150" spc="1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Q</a:t>
            </a:r>
            <a:r>
              <a:rPr sz="1875" baseline="17777" dirty="0">
                <a:latin typeface="Microsoft Sans Serif"/>
                <a:cs typeface="Microsoft Sans Serif"/>
              </a:rPr>
              <a:t>T</a:t>
            </a:r>
            <a:r>
              <a:rPr sz="1875" spc="359" baseline="17777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is </a:t>
            </a:r>
            <a:r>
              <a:rPr sz="2150" spc="105" dirty="0">
                <a:latin typeface="Microsoft Sans Serif"/>
                <a:cs typeface="Microsoft Sans Serif"/>
              </a:rPr>
              <a:t>the</a:t>
            </a:r>
            <a:r>
              <a:rPr sz="2150" spc="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transpose</a:t>
            </a:r>
            <a:r>
              <a:rPr sz="2150" spc="15" dirty="0">
                <a:latin typeface="Microsoft Sans Serif"/>
                <a:cs typeface="Microsoft Sans Serif"/>
              </a:rPr>
              <a:t> </a:t>
            </a:r>
            <a:r>
              <a:rPr sz="2150" spc="155" dirty="0">
                <a:latin typeface="Microsoft Sans Serif"/>
                <a:cs typeface="Microsoft Sans Serif"/>
              </a:rPr>
              <a:t>of</a:t>
            </a:r>
            <a:r>
              <a:rPr sz="2150" spc="5" dirty="0">
                <a:latin typeface="Microsoft Sans Serif"/>
                <a:cs typeface="Microsoft Sans Serif"/>
              </a:rPr>
              <a:t> </a:t>
            </a:r>
            <a:r>
              <a:rPr sz="2150" spc="75" dirty="0">
                <a:latin typeface="Microsoft Sans Serif"/>
                <a:cs typeface="Microsoft Sans Serif"/>
              </a:rPr>
              <a:t>the </a:t>
            </a:r>
            <a:r>
              <a:rPr sz="2150" spc="80" dirty="0">
                <a:latin typeface="Microsoft Sans Serif"/>
                <a:cs typeface="Microsoft Sans Serif"/>
              </a:rPr>
              <a:t>matrix</a:t>
            </a:r>
            <a:r>
              <a:rPr sz="2150" spc="1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comprised</a:t>
            </a:r>
            <a:r>
              <a:rPr sz="2150" spc="5" dirty="0">
                <a:latin typeface="Microsoft Sans Serif"/>
                <a:cs typeface="Microsoft Sans Serif"/>
              </a:rPr>
              <a:t> </a:t>
            </a:r>
            <a:r>
              <a:rPr sz="2150" spc="160" dirty="0">
                <a:latin typeface="Microsoft Sans Serif"/>
                <a:cs typeface="Microsoft Sans Serif"/>
              </a:rPr>
              <a:t>of</a:t>
            </a:r>
            <a:r>
              <a:rPr sz="2150" spc="10" dirty="0">
                <a:latin typeface="Microsoft Sans Serif"/>
                <a:cs typeface="Microsoft Sans Serif"/>
              </a:rPr>
              <a:t> </a:t>
            </a:r>
            <a:r>
              <a:rPr sz="2150" spc="105" dirty="0">
                <a:latin typeface="Microsoft Sans Serif"/>
                <a:cs typeface="Microsoft Sans Serif"/>
              </a:rPr>
              <a:t>the</a:t>
            </a:r>
            <a:r>
              <a:rPr sz="2150" spc="10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eigenvectors.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2255659"/>
            <a:ext cx="12255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4841189"/>
            <a:ext cx="122555" cy="358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305560"/>
            <a:chOff x="0" y="0"/>
            <a:chExt cx="9144000" cy="13055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0825" cy="1089025"/>
            </a:xfrm>
            <a:custGeom>
              <a:avLst/>
              <a:gdLst/>
              <a:ahLst/>
              <a:cxnLst/>
              <a:rect l="l" t="t" r="r" b="b"/>
              <a:pathLst>
                <a:path w="9140825" h="1089025">
                  <a:moveTo>
                    <a:pt x="0" y="1088999"/>
                  </a:moveTo>
                  <a:lnTo>
                    <a:pt x="9140761" y="1088999"/>
                  </a:lnTo>
                  <a:lnTo>
                    <a:pt x="9140761" y="0"/>
                  </a:lnTo>
                  <a:lnTo>
                    <a:pt x="0" y="0"/>
                  </a:lnTo>
                  <a:lnTo>
                    <a:pt x="0" y="108899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88999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>
                  <a:moveTo>
                    <a:pt x="9143631" y="0"/>
                  </a:moveTo>
                  <a:lnTo>
                    <a:pt x="0" y="0"/>
                  </a:lnTo>
                  <a:lnTo>
                    <a:pt x="0" y="216001"/>
                  </a:lnTo>
                  <a:lnTo>
                    <a:pt x="9143631" y="216001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01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0"/>
                </a:move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lnTo>
                  <a:pt x="0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Eigen</a:t>
            </a:r>
            <a:r>
              <a:rPr spc="-195" dirty="0"/>
              <a:t> </a:t>
            </a:r>
            <a:r>
              <a:rPr spc="100" dirty="0"/>
              <a:t>Decompotition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501101"/>
            <a:ext cx="133985" cy="397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7415" y="1518742"/>
            <a:ext cx="7639684" cy="4686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2450" spc="-20" dirty="0">
                <a:latin typeface="Microsoft Sans Serif"/>
                <a:cs typeface="Microsoft Sans Serif"/>
              </a:rPr>
              <a:t>Eigen</a:t>
            </a:r>
            <a:r>
              <a:rPr sz="2450" spc="-125" dirty="0">
                <a:latin typeface="Microsoft Sans Serif"/>
                <a:cs typeface="Microsoft Sans Serif"/>
              </a:rPr>
              <a:t> </a:t>
            </a:r>
            <a:r>
              <a:rPr sz="2450" spc="-20" dirty="0">
                <a:latin typeface="Microsoft Sans Serif"/>
                <a:cs typeface="Microsoft Sans Serif"/>
              </a:rPr>
              <a:t>is</a:t>
            </a:r>
            <a:r>
              <a:rPr sz="2450" spc="-110" dirty="0">
                <a:latin typeface="Microsoft Sans Serif"/>
                <a:cs typeface="Microsoft Sans Serif"/>
              </a:rPr>
              <a:t> </a:t>
            </a:r>
            <a:r>
              <a:rPr sz="2450" spc="130" dirty="0">
                <a:latin typeface="Microsoft Sans Serif"/>
                <a:cs typeface="Microsoft Sans Serif"/>
              </a:rPr>
              <a:t>not</a:t>
            </a:r>
            <a:r>
              <a:rPr sz="2450" spc="-105" dirty="0">
                <a:latin typeface="Microsoft Sans Serif"/>
                <a:cs typeface="Microsoft Sans Serif"/>
              </a:rPr>
              <a:t> </a:t>
            </a:r>
            <a:r>
              <a:rPr sz="2450" spc="-100" dirty="0">
                <a:latin typeface="Microsoft Sans Serif"/>
                <a:cs typeface="Microsoft Sans Serif"/>
              </a:rPr>
              <a:t>a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name,</a:t>
            </a:r>
            <a:r>
              <a:rPr sz="2450" spc="-110" dirty="0">
                <a:latin typeface="Microsoft Sans Serif"/>
                <a:cs typeface="Microsoft Sans Serif"/>
              </a:rPr>
              <a:t> </a:t>
            </a:r>
            <a:r>
              <a:rPr sz="2450" spc="-20" dirty="0">
                <a:latin typeface="Microsoft Sans Serif"/>
                <a:cs typeface="Microsoft Sans Serif"/>
              </a:rPr>
              <a:t>e.g.</a:t>
            </a:r>
            <a:r>
              <a:rPr sz="2450" spc="-105" dirty="0">
                <a:latin typeface="Microsoft Sans Serif"/>
                <a:cs typeface="Microsoft Sans Serif"/>
              </a:rPr>
              <a:t> </a:t>
            </a:r>
            <a:r>
              <a:rPr sz="2450" spc="105" dirty="0">
                <a:latin typeface="Microsoft Sans Serif"/>
                <a:cs typeface="Microsoft Sans Serif"/>
              </a:rPr>
              <a:t>the</a:t>
            </a:r>
            <a:r>
              <a:rPr sz="2450" spc="-95" dirty="0">
                <a:latin typeface="Microsoft Sans Serif"/>
                <a:cs typeface="Microsoft Sans Serif"/>
              </a:rPr>
              <a:t> </a:t>
            </a:r>
            <a:r>
              <a:rPr sz="2450" spc="85" dirty="0">
                <a:latin typeface="Microsoft Sans Serif"/>
                <a:cs typeface="Microsoft Sans Serif"/>
              </a:rPr>
              <a:t>method</a:t>
            </a:r>
            <a:r>
              <a:rPr sz="2450" spc="-105" dirty="0">
                <a:latin typeface="Microsoft Sans Serif"/>
                <a:cs typeface="Microsoft Sans Serif"/>
              </a:rPr>
              <a:t> </a:t>
            </a:r>
            <a:r>
              <a:rPr sz="2450" spc="-20" dirty="0">
                <a:latin typeface="Microsoft Sans Serif"/>
                <a:cs typeface="Microsoft Sans Serif"/>
              </a:rPr>
              <a:t>is</a:t>
            </a:r>
            <a:r>
              <a:rPr sz="2450" spc="-105" dirty="0">
                <a:latin typeface="Microsoft Sans Serif"/>
                <a:cs typeface="Microsoft Sans Serif"/>
              </a:rPr>
              <a:t> </a:t>
            </a:r>
            <a:r>
              <a:rPr sz="2450" spc="135" dirty="0">
                <a:latin typeface="Microsoft Sans Serif"/>
                <a:cs typeface="Microsoft Sans Serif"/>
              </a:rPr>
              <a:t>not</a:t>
            </a:r>
            <a:r>
              <a:rPr sz="2450" spc="-10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named </a:t>
            </a:r>
            <a:r>
              <a:rPr sz="2450" spc="114" dirty="0">
                <a:latin typeface="Microsoft Sans Serif"/>
                <a:cs typeface="Microsoft Sans Serif"/>
              </a:rPr>
              <a:t>after</a:t>
            </a:r>
            <a:r>
              <a:rPr sz="2450" spc="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“Eigen”;</a:t>
            </a:r>
            <a:r>
              <a:rPr sz="2450" spc="1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eigen</a:t>
            </a:r>
            <a:r>
              <a:rPr sz="2450" spc="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(pronounced</a:t>
            </a:r>
            <a:r>
              <a:rPr sz="2450" spc="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eye-</a:t>
            </a:r>
            <a:r>
              <a:rPr sz="2450" spc="-20" dirty="0">
                <a:latin typeface="Microsoft Sans Serif"/>
                <a:cs typeface="Microsoft Sans Serif"/>
              </a:rPr>
              <a:t>gan)</a:t>
            </a:r>
            <a:r>
              <a:rPr sz="2450" spc="5" dirty="0">
                <a:latin typeface="Microsoft Sans Serif"/>
                <a:cs typeface="Microsoft Sans Serif"/>
              </a:rPr>
              <a:t> </a:t>
            </a:r>
            <a:r>
              <a:rPr sz="2450" spc="-20" dirty="0">
                <a:latin typeface="Microsoft Sans Serif"/>
                <a:cs typeface="Microsoft Sans Serif"/>
              </a:rPr>
              <a:t>is</a:t>
            </a:r>
            <a:r>
              <a:rPr sz="2450" spc="5" dirty="0">
                <a:latin typeface="Microsoft Sans Serif"/>
                <a:cs typeface="Microsoft Sans Serif"/>
              </a:rPr>
              <a:t> </a:t>
            </a:r>
            <a:r>
              <a:rPr sz="2450" spc="-105" dirty="0">
                <a:latin typeface="Microsoft Sans Serif"/>
                <a:cs typeface="Microsoft Sans Serif"/>
              </a:rPr>
              <a:t>a</a:t>
            </a:r>
            <a:r>
              <a:rPr sz="2450" spc="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German </a:t>
            </a:r>
            <a:r>
              <a:rPr sz="2450" spc="95" dirty="0">
                <a:latin typeface="Microsoft Sans Serif"/>
                <a:cs typeface="Microsoft Sans Serif"/>
              </a:rPr>
              <a:t>word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spc="130" dirty="0">
                <a:latin typeface="Microsoft Sans Serif"/>
                <a:cs typeface="Microsoft Sans Serif"/>
              </a:rPr>
              <a:t>that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spc="-25" dirty="0">
                <a:latin typeface="Microsoft Sans Serif"/>
                <a:cs typeface="Microsoft Sans Serif"/>
              </a:rPr>
              <a:t>means</a:t>
            </a:r>
            <a:r>
              <a:rPr sz="2450" spc="-55" dirty="0">
                <a:latin typeface="Microsoft Sans Serif"/>
                <a:cs typeface="Microsoft Sans Serif"/>
              </a:rPr>
              <a:t> </a:t>
            </a:r>
            <a:r>
              <a:rPr sz="2450" spc="75" dirty="0">
                <a:latin typeface="Microsoft Sans Serif"/>
                <a:cs typeface="Microsoft Sans Serif"/>
              </a:rPr>
              <a:t>own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spc="95" dirty="0">
                <a:latin typeface="Microsoft Sans Serif"/>
                <a:cs typeface="Microsoft Sans Serif"/>
              </a:rPr>
              <a:t>or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innate,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spc="-130" dirty="0">
                <a:latin typeface="Microsoft Sans Serif"/>
                <a:cs typeface="Microsoft Sans Serif"/>
              </a:rPr>
              <a:t>as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in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spc="45" dirty="0">
                <a:latin typeface="Microsoft Sans Serif"/>
                <a:cs typeface="Microsoft Sans Serif"/>
              </a:rPr>
              <a:t>belonging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spc="180" dirty="0">
                <a:latin typeface="Microsoft Sans Serif"/>
                <a:cs typeface="Microsoft Sans Serif"/>
              </a:rPr>
              <a:t>to</a:t>
            </a:r>
            <a:r>
              <a:rPr sz="2450" spc="-45" dirty="0">
                <a:latin typeface="Microsoft Sans Serif"/>
                <a:cs typeface="Microsoft Sans Serif"/>
              </a:rPr>
              <a:t> </a:t>
            </a:r>
            <a:r>
              <a:rPr sz="2450" spc="80" dirty="0">
                <a:latin typeface="Microsoft Sans Serif"/>
                <a:cs typeface="Microsoft Sans Serif"/>
              </a:rPr>
              <a:t>the </a:t>
            </a:r>
            <a:r>
              <a:rPr sz="2450" spc="70" dirty="0">
                <a:latin typeface="Microsoft Sans Serif"/>
                <a:cs typeface="Microsoft Sans Serif"/>
              </a:rPr>
              <a:t>parent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40" dirty="0">
                <a:latin typeface="Microsoft Sans Serif"/>
                <a:cs typeface="Microsoft Sans Serif"/>
              </a:rPr>
              <a:t>matrix.</a:t>
            </a:r>
            <a:endParaRPr sz="2450">
              <a:latin typeface="Microsoft Sans Serif"/>
              <a:cs typeface="Microsoft Sans Serif"/>
            </a:endParaRPr>
          </a:p>
          <a:p>
            <a:pPr marL="12700" marR="245745">
              <a:lnSpc>
                <a:spcPct val="100000"/>
              </a:lnSpc>
              <a:spcBef>
                <a:spcPts val="730"/>
              </a:spcBef>
            </a:pPr>
            <a:r>
              <a:rPr sz="2450" spc="10" dirty="0">
                <a:latin typeface="Microsoft Sans Serif"/>
                <a:cs typeface="Microsoft Sans Serif"/>
              </a:rPr>
              <a:t>A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spc="10" dirty="0">
                <a:latin typeface="Microsoft Sans Serif"/>
                <a:cs typeface="Microsoft Sans Serif"/>
              </a:rPr>
              <a:t>decomposition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spc="65" dirty="0">
                <a:latin typeface="Microsoft Sans Serif"/>
                <a:cs typeface="Microsoft Sans Serif"/>
              </a:rPr>
              <a:t>operation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spc="10" dirty="0">
                <a:latin typeface="Microsoft Sans Serif"/>
                <a:cs typeface="Microsoft Sans Serif"/>
              </a:rPr>
              <a:t>does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spc="135" dirty="0">
                <a:latin typeface="Microsoft Sans Serif"/>
                <a:cs typeface="Microsoft Sans Serif"/>
              </a:rPr>
              <a:t>not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spc="70" dirty="0">
                <a:latin typeface="Microsoft Sans Serif"/>
                <a:cs typeface="Microsoft Sans Serif"/>
              </a:rPr>
              <a:t>result</a:t>
            </a:r>
            <a:r>
              <a:rPr sz="2450" spc="-15" dirty="0">
                <a:latin typeface="Microsoft Sans Serif"/>
                <a:cs typeface="Microsoft Sans Serif"/>
              </a:rPr>
              <a:t> </a:t>
            </a:r>
            <a:r>
              <a:rPr sz="2450" spc="10" dirty="0">
                <a:latin typeface="Microsoft Sans Serif"/>
                <a:cs typeface="Microsoft Sans Serif"/>
              </a:rPr>
              <a:t>in</a:t>
            </a:r>
            <a:r>
              <a:rPr sz="2450" spc="-25" dirty="0">
                <a:latin typeface="Microsoft Sans Serif"/>
                <a:cs typeface="Microsoft Sans Serif"/>
              </a:rPr>
              <a:t> </a:t>
            </a:r>
            <a:r>
              <a:rPr sz="2450" spc="-60" dirty="0">
                <a:latin typeface="Microsoft Sans Serif"/>
                <a:cs typeface="Microsoft Sans Serif"/>
              </a:rPr>
              <a:t>a </a:t>
            </a:r>
            <a:r>
              <a:rPr sz="2450" dirty="0">
                <a:latin typeface="Microsoft Sans Serif"/>
                <a:cs typeface="Microsoft Sans Serif"/>
              </a:rPr>
              <a:t>compression</a:t>
            </a:r>
            <a:r>
              <a:rPr sz="2450" spc="-55" dirty="0">
                <a:latin typeface="Microsoft Sans Serif"/>
                <a:cs typeface="Microsoft Sans Serif"/>
              </a:rPr>
              <a:t> </a:t>
            </a:r>
            <a:r>
              <a:rPr sz="2450" spc="160" dirty="0">
                <a:latin typeface="Microsoft Sans Serif"/>
                <a:cs typeface="Microsoft Sans Serif"/>
              </a:rPr>
              <a:t>of</a:t>
            </a:r>
            <a:r>
              <a:rPr sz="2450" spc="-55" dirty="0">
                <a:latin typeface="Microsoft Sans Serif"/>
                <a:cs typeface="Microsoft Sans Serif"/>
              </a:rPr>
              <a:t> </a:t>
            </a:r>
            <a:r>
              <a:rPr sz="2450" spc="110" dirty="0">
                <a:latin typeface="Microsoft Sans Serif"/>
                <a:cs typeface="Microsoft Sans Serif"/>
              </a:rPr>
              <a:t>the</a:t>
            </a:r>
            <a:r>
              <a:rPr sz="2450" spc="-60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matrix;</a:t>
            </a:r>
            <a:r>
              <a:rPr sz="2450" spc="-5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instead,</a:t>
            </a:r>
            <a:r>
              <a:rPr sz="2450" spc="-55" dirty="0">
                <a:latin typeface="Microsoft Sans Serif"/>
                <a:cs typeface="Microsoft Sans Serif"/>
              </a:rPr>
              <a:t> </a:t>
            </a:r>
            <a:r>
              <a:rPr sz="2450" spc="175" dirty="0">
                <a:latin typeface="Microsoft Sans Serif"/>
                <a:cs typeface="Microsoft Sans Serif"/>
              </a:rPr>
              <a:t>it</a:t>
            </a:r>
            <a:r>
              <a:rPr sz="2450" spc="-5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breaks</a:t>
            </a:r>
            <a:r>
              <a:rPr sz="2450" spc="-50" dirty="0">
                <a:latin typeface="Microsoft Sans Serif"/>
                <a:cs typeface="Microsoft Sans Serif"/>
              </a:rPr>
              <a:t> </a:t>
            </a:r>
            <a:r>
              <a:rPr sz="2450" spc="175" dirty="0">
                <a:latin typeface="Microsoft Sans Serif"/>
                <a:cs typeface="Microsoft Sans Serif"/>
              </a:rPr>
              <a:t>it</a:t>
            </a:r>
            <a:r>
              <a:rPr sz="2450" spc="-55" dirty="0">
                <a:latin typeface="Microsoft Sans Serif"/>
                <a:cs typeface="Microsoft Sans Serif"/>
              </a:rPr>
              <a:t> </a:t>
            </a:r>
            <a:r>
              <a:rPr sz="2450" spc="55" dirty="0">
                <a:latin typeface="Microsoft Sans Serif"/>
                <a:cs typeface="Microsoft Sans Serif"/>
              </a:rPr>
              <a:t>down </a:t>
            </a:r>
            <a:r>
              <a:rPr sz="2450" spc="110" dirty="0">
                <a:latin typeface="Microsoft Sans Serif"/>
                <a:cs typeface="Microsoft Sans Serif"/>
              </a:rPr>
              <a:t>into</a:t>
            </a:r>
            <a:r>
              <a:rPr sz="2450" spc="25" dirty="0">
                <a:latin typeface="Microsoft Sans Serif"/>
                <a:cs typeface="Microsoft Sans Serif"/>
              </a:rPr>
              <a:t> </a:t>
            </a:r>
            <a:r>
              <a:rPr sz="2450" spc="80" dirty="0">
                <a:latin typeface="Microsoft Sans Serif"/>
                <a:cs typeface="Microsoft Sans Serif"/>
              </a:rPr>
              <a:t>constituent</a:t>
            </a:r>
            <a:r>
              <a:rPr sz="2450" spc="30" dirty="0">
                <a:latin typeface="Microsoft Sans Serif"/>
                <a:cs typeface="Microsoft Sans Serif"/>
              </a:rPr>
              <a:t> </a:t>
            </a:r>
            <a:r>
              <a:rPr sz="2450" spc="50" dirty="0">
                <a:latin typeface="Microsoft Sans Serif"/>
                <a:cs typeface="Microsoft Sans Serif"/>
              </a:rPr>
              <a:t>parts</a:t>
            </a:r>
            <a:r>
              <a:rPr sz="2450" spc="25" dirty="0">
                <a:latin typeface="Microsoft Sans Serif"/>
                <a:cs typeface="Microsoft Sans Serif"/>
              </a:rPr>
              <a:t> </a:t>
            </a:r>
            <a:r>
              <a:rPr sz="2450" spc="185" dirty="0">
                <a:latin typeface="Microsoft Sans Serif"/>
                <a:cs typeface="Microsoft Sans Serif"/>
              </a:rPr>
              <a:t>to</a:t>
            </a:r>
            <a:r>
              <a:rPr sz="2450" spc="2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make</a:t>
            </a:r>
            <a:r>
              <a:rPr sz="2450" spc="3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certain</a:t>
            </a:r>
            <a:r>
              <a:rPr sz="2450" spc="3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operations</a:t>
            </a:r>
            <a:r>
              <a:rPr sz="2450" spc="35" dirty="0">
                <a:latin typeface="Microsoft Sans Serif"/>
                <a:cs typeface="Microsoft Sans Serif"/>
              </a:rPr>
              <a:t> </a:t>
            </a:r>
            <a:r>
              <a:rPr sz="2450" spc="25" dirty="0">
                <a:latin typeface="Microsoft Sans Serif"/>
                <a:cs typeface="Microsoft Sans Serif"/>
              </a:rPr>
              <a:t>on </a:t>
            </a:r>
            <a:r>
              <a:rPr sz="2450" spc="110" dirty="0">
                <a:latin typeface="Microsoft Sans Serif"/>
                <a:cs typeface="Microsoft Sans Serif"/>
              </a:rPr>
              <a:t>the</a:t>
            </a:r>
            <a:r>
              <a:rPr sz="2450" spc="-90" dirty="0">
                <a:latin typeface="Microsoft Sans Serif"/>
                <a:cs typeface="Microsoft Sans Serif"/>
              </a:rPr>
              <a:t> </a:t>
            </a:r>
            <a:r>
              <a:rPr sz="2450" spc="75" dirty="0">
                <a:latin typeface="Microsoft Sans Serif"/>
                <a:cs typeface="Microsoft Sans Serif"/>
              </a:rPr>
              <a:t>matrix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easier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180" dirty="0">
                <a:latin typeface="Microsoft Sans Serif"/>
                <a:cs typeface="Microsoft Sans Serif"/>
              </a:rPr>
              <a:t>to</a:t>
            </a:r>
            <a:r>
              <a:rPr sz="2450" spc="-85" dirty="0">
                <a:latin typeface="Microsoft Sans Serif"/>
                <a:cs typeface="Microsoft Sans Serif"/>
              </a:rPr>
              <a:t> </a:t>
            </a:r>
            <a:r>
              <a:rPr sz="2450" spc="65" dirty="0">
                <a:latin typeface="Microsoft Sans Serif"/>
                <a:cs typeface="Microsoft Sans Serif"/>
              </a:rPr>
              <a:t>perform.</a:t>
            </a:r>
            <a:endParaRPr sz="2450">
              <a:latin typeface="Microsoft Sans Serif"/>
              <a:cs typeface="Microsoft Sans Serif"/>
            </a:endParaRPr>
          </a:p>
          <a:p>
            <a:pPr marL="12700" marR="109220">
              <a:lnSpc>
                <a:spcPct val="100000"/>
              </a:lnSpc>
              <a:spcBef>
                <a:spcPts val="720"/>
              </a:spcBef>
            </a:pPr>
            <a:r>
              <a:rPr sz="2450" dirty="0">
                <a:latin typeface="Microsoft Sans Serif"/>
                <a:cs typeface="Microsoft Sans Serif"/>
              </a:rPr>
              <a:t>Like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other</a:t>
            </a:r>
            <a:r>
              <a:rPr sz="2450" spc="-70" dirty="0">
                <a:latin typeface="Microsoft Sans Serif"/>
                <a:cs typeface="Microsoft Sans Serif"/>
              </a:rPr>
              <a:t> </a:t>
            </a:r>
            <a:r>
              <a:rPr sz="2450" spc="75" dirty="0">
                <a:latin typeface="Microsoft Sans Serif"/>
                <a:cs typeface="Microsoft Sans Serif"/>
              </a:rPr>
              <a:t>matrix</a:t>
            </a:r>
            <a:r>
              <a:rPr sz="2450" spc="-75" dirty="0">
                <a:latin typeface="Microsoft Sans Serif"/>
                <a:cs typeface="Microsoft Sans Serif"/>
              </a:rPr>
              <a:t> </a:t>
            </a:r>
            <a:r>
              <a:rPr sz="2450" spc="45" dirty="0">
                <a:latin typeface="Microsoft Sans Serif"/>
                <a:cs typeface="Microsoft Sans Serif"/>
              </a:rPr>
              <a:t>decomposition</a:t>
            </a:r>
            <a:r>
              <a:rPr sz="2450" spc="-80" dirty="0">
                <a:latin typeface="Microsoft Sans Serif"/>
                <a:cs typeface="Microsoft Sans Serif"/>
              </a:rPr>
              <a:t> </a:t>
            </a:r>
            <a:r>
              <a:rPr sz="2450" spc="-10" dirty="0">
                <a:latin typeface="Microsoft Sans Serif"/>
                <a:cs typeface="Microsoft Sans Serif"/>
              </a:rPr>
              <a:t>methods, </a:t>
            </a:r>
            <a:r>
              <a:rPr sz="2450" dirty="0">
                <a:latin typeface="Microsoft Sans Serif"/>
                <a:cs typeface="Microsoft Sans Serif"/>
              </a:rPr>
              <a:t>Eigendecomposition</a:t>
            </a:r>
            <a:r>
              <a:rPr sz="2450" spc="-30" dirty="0">
                <a:latin typeface="Microsoft Sans Serif"/>
                <a:cs typeface="Microsoft Sans Serif"/>
              </a:rPr>
              <a:t> </a:t>
            </a:r>
            <a:r>
              <a:rPr sz="2450" spc="-20" dirty="0">
                <a:latin typeface="Microsoft Sans Serif"/>
                <a:cs typeface="Microsoft Sans Serif"/>
              </a:rPr>
              <a:t>is</a:t>
            </a:r>
            <a:r>
              <a:rPr sz="2450" spc="-3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used</a:t>
            </a:r>
            <a:r>
              <a:rPr sz="2450" spc="-30" dirty="0">
                <a:latin typeface="Microsoft Sans Serif"/>
                <a:cs typeface="Microsoft Sans Serif"/>
              </a:rPr>
              <a:t> </a:t>
            </a:r>
            <a:r>
              <a:rPr sz="2450" spc="-130" dirty="0">
                <a:latin typeface="Microsoft Sans Serif"/>
                <a:cs typeface="Microsoft Sans Serif"/>
              </a:rPr>
              <a:t>as</a:t>
            </a:r>
            <a:r>
              <a:rPr sz="2450" spc="-3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an</a:t>
            </a:r>
            <a:r>
              <a:rPr sz="2450" spc="-30" dirty="0">
                <a:latin typeface="Microsoft Sans Serif"/>
                <a:cs typeface="Microsoft Sans Serif"/>
              </a:rPr>
              <a:t> </a:t>
            </a:r>
            <a:r>
              <a:rPr sz="2450" spc="70" dirty="0">
                <a:latin typeface="Microsoft Sans Serif"/>
                <a:cs typeface="Microsoft Sans Serif"/>
              </a:rPr>
              <a:t>element</a:t>
            </a:r>
            <a:r>
              <a:rPr sz="2450" spc="-30" dirty="0">
                <a:latin typeface="Microsoft Sans Serif"/>
                <a:cs typeface="Microsoft Sans Serif"/>
              </a:rPr>
              <a:t> </a:t>
            </a:r>
            <a:r>
              <a:rPr sz="2450" spc="180" dirty="0">
                <a:latin typeface="Microsoft Sans Serif"/>
                <a:cs typeface="Microsoft Sans Serif"/>
              </a:rPr>
              <a:t>to</a:t>
            </a:r>
            <a:r>
              <a:rPr sz="2450" spc="-35" dirty="0">
                <a:latin typeface="Microsoft Sans Serif"/>
                <a:cs typeface="Microsoft Sans Serif"/>
              </a:rPr>
              <a:t> </a:t>
            </a:r>
            <a:r>
              <a:rPr sz="2450" spc="45" dirty="0">
                <a:latin typeface="Microsoft Sans Serif"/>
                <a:cs typeface="Microsoft Sans Serif"/>
              </a:rPr>
              <a:t>simplify </a:t>
            </a:r>
            <a:r>
              <a:rPr sz="2450" spc="110" dirty="0">
                <a:latin typeface="Microsoft Sans Serif"/>
                <a:cs typeface="Microsoft Sans Serif"/>
              </a:rPr>
              <a:t>the</a:t>
            </a:r>
            <a:r>
              <a:rPr sz="2450" spc="5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calculation</a:t>
            </a:r>
            <a:r>
              <a:rPr sz="2450" spc="10" dirty="0">
                <a:latin typeface="Microsoft Sans Serif"/>
                <a:cs typeface="Microsoft Sans Serif"/>
              </a:rPr>
              <a:t> </a:t>
            </a:r>
            <a:r>
              <a:rPr sz="2450" spc="160" dirty="0">
                <a:latin typeface="Microsoft Sans Serif"/>
                <a:cs typeface="Microsoft Sans Serif"/>
              </a:rPr>
              <a:t>of</a:t>
            </a:r>
            <a:r>
              <a:rPr sz="2450" spc="10" dirty="0">
                <a:latin typeface="Microsoft Sans Serif"/>
                <a:cs typeface="Microsoft Sans Serif"/>
              </a:rPr>
              <a:t> </a:t>
            </a:r>
            <a:r>
              <a:rPr sz="2450" spc="100" dirty="0">
                <a:latin typeface="Microsoft Sans Serif"/>
                <a:cs typeface="Microsoft Sans Serif"/>
              </a:rPr>
              <a:t>other</a:t>
            </a:r>
            <a:r>
              <a:rPr sz="2450" spc="10" dirty="0">
                <a:latin typeface="Microsoft Sans Serif"/>
                <a:cs typeface="Microsoft Sans Serif"/>
              </a:rPr>
              <a:t> </a:t>
            </a:r>
            <a:r>
              <a:rPr sz="2450" spc="65" dirty="0">
                <a:latin typeface="Microsoft Sans Serif"/>
                <a:cs typeface="Microsoft Sans Serif"/>
              </a:rPr>
              <a:t>more</a:t>
            </a:r>
            <a:r>
              <a:rPr sz="2450" spc="10" dirty="0">
                <a:latin typeface="Microsoft Sans Serif"/>
                <a:cs typeface="Microsoft Sans Serif"/>
              </a:rPr>
              <a:t> </a:t>
            </a:r>
            <a:r>
              <a:rPr sz="2450" dirty="0">
                <a:latin typeface="Microsoft Sans Serif"/>
                <a:cs typeface="Microsoft Sans Serif"/>
              </a:rPr>
              <a:t>complex</a:t>
            </a:r>
            <a:r>
              <a:rPr sz="2450" spc="5" dirty="0">
                <a:latin typeface="Microsoft Sans Serif"/>
                <a:cs typeface="Microsoft Sans Serif"/>
              </a:rPr>
              <a:t> </a:t>
            </a:r>
            <a:r>
              <a:rPr sz="2450" spc="65" dirty="0">
                <a:latin typeface="Microsoft Sans Serif"/>
                <a:cs typeface="Microsoft Sans Serif"/>
              </a:rPr>
              <a:t>matrix </a:t>
            </a:r>
            <a:r>
              <a:rPr sz="2450" spc="-10" dirty="0">
                <a:latin typeface="Microsoft Sans Serif"/>
                <a:cs typeface="Microsoft Sans Serif"/>
              </a:rPr>
              <a:t>operations.</a:t>
            </a:r>
            <a:endParaRPr sz="24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3087268"/>
            <a:ext cx="133985" cy="397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4673422"/>
            <a:ext cx="133985" cy="397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45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Eigen</a:t>
            </a:r>
            <a:r>
              <a:rPr spc="-145" dirty="0"/>
              <a:t> </a:t>
            </a:r>
            <a:r>
              <a:rPr spc="95" dirty="0"/>
              <a:t>Vector</a:t>
            </a:r>
            <a:r>
              <a:rPr spc="-135" dirty="0"/>
              <a:t> </a:t>
            </a:r>
            <a:r>
              <a:rPr dirty="0"/>
              <a:t>and</a:t>
            </a:r>
            <a:r>
              <a:rPr spc="-135" dirty="0"/>
              <a:t> </a:t>
            </a:r>
            <a:r>
              <a:rPr spc="-10" dirty="0"/>
              <a:t>Values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2181"/>
            <a:ext cx="12509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0414" y="1518729"/>
            <a:ext cx="7712075" cy="43815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854710">
              <a:lnSpc>
                <a:spcPct val="101899"/>
              </a:lnSpc>
              <a:spcBef>
                <a:spcPts val="80"/>
              </a:spcBef>
            </a:pPr>
            <a:r>
              <a:rPr sz="2200" dirty="0">
                <a:latin typeface="Microsoft Sans Serif"/>
                <a:cs typeface="Microsoft Sans Serif"/>
              </a:rPr>
              <a:t>Eigenvectors</a:t>
            </a:r>
            <a:r>
              <a:rPr sz="2200" spc="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are</a:t>
            </a:r>
            <a:r>
              <a:rPr sz="2200" spc="85" dirty="0">
                <a:latin typeface="Microsoft Sans Serif"/>
                <a:cs typeface="Microsoft Sans Serif"/>
              </a:rPr>
              <a:t> </a:t>
            </a:r>
            <a:r>
              <a:rPr sz="2200" spc="105" dirty="0">
                <a:latin typeface="Microsoft Sans Serif"/>
                <a:cs typeface="Microsoft Sans Serif"/>
              </a:rPr>
              <a:t>unit</a:t>
            </a:r>
            <a:r>
              <a:rPr sz="2200" spc="7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vectors,</a:t>
            </a:r>
            <a:r>
              <a:rPr sz="2200" spc="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which</a:t>
            </a:r>
            <a:r>
              <a:rPr sz="2200" spc="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means</a:t>
            </a:r>
            <a:r>
              <a:rPr sz="2200" spc="70" dirty="0">
                <a:latin typeface="Microsoft Sans Serif"/>
                <a:cs typeface="Microsoft Sans Serif"/>
              </a:rPr>
              <a:t> </a:t>
            </a:r>
            <a:r>
              <a:rPr sz="2200" spc="135" dirty="0">
                <a:latin typeface="Microsoft Sans Serif"/>
                <a:cs typeface="Microsoft Sans Serif"/>
              </a:rPr>
              <a:t>that</a:t>
            </a:r>
            <a:r>
              <a:rPr sz="2200" spc="60" dirty="0">
                <a:latin typeface="Microsoft Sans Serif"/>
                <a:cs typeface="Microsoft Sans Serif"/>
              </a:rPr>
              <a:t> </a:t>
            </a:r>
            <a:r>
              <a:rPr sz="2200" spc="90" dirty="0">
                <a:latin typeface="Microsoft Sans Serif"/>
                <a:cs typeface="Microsoft Sans Serif"/>
              </a:rPr>
              <a:t>their length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spc="100" dirty="0">
                <a:latin typeface="Microsoft Sans Serif"/>
                <a:cs typeface="Microsoft Sans Serif"/>
              </a:rPr>
              <a:t>or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spc="65" dirty="0">
                <a:latin typeface="Microsoft Sans Serif"/>
                <a:cs typeface="Microsoft Sans Serif"/>
              </a:rPr>
              <a:t>magnitude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is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equal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spc="180" dirty="0">
                <a:latin typeface="Microsoft Sans Serif"/>
                <a:cs typeface="Microsoft Sans Serif"/>
              </a:rPr>
              <a:t>to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1.0.</a:t>
            </a:r>
            <a:endParaRPr sz="2200">
              <a:latin typeface="Microsoft Sans Serif"/>
              <a:cs typeface="Microsoft Sans Serif"/>
            </a:endParaRPr>
          </a:p>
          <a:p>
            <a:pPr marL="12700" marR="5080">
              <a:lnSpc>
                <a:spcPct val="101899"/>
              </a:lnSpc>
              <a:spcBef>
                <a:spcPts val="680"/>
              </a:spcBef>
            </a:pPr>
            <a:r>
              <a:rPr sz="2200" dirty="0">
                <a:latin typeface="Microsoft Sans Serif"/>
                <a:cs typeface="Microsoft Sans Serif"/>
              </a:rPr>
              <a:t>They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are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spc="135" dirty="0">
                <a:latin typeface="Microsoft Sans Serif"/>
                <a:cs typeface="Microsoft Sans Serif"/>
              </a:rPr>
              <a:t>often</a:t>
            </a:r>
            <a:r>
              <a:rPr sz="2200" dirty="0">
                <a:latin typeface="Microsoft Sans Serif"/>
                <a:cs typeface="Microsoft Sans Serif"/>
              </a:rPr>
              <a:t> </a:t>
            </a:r>
            <a:r>
              <a:rPr sz="2200" spc="95" dirty="0">
                <a:latin typeface="Microsoft Sans Serif"/>
                <a:cs typeface="Microsoft Sans Serif"/>
              </a:rPr>
              <a:t>referred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spc="-90" dirty="0">
                <a:latin typeface="Microsoft Sans Serif"/>
                <a:cs typeface="Microsoft Sans Serif"/>
              </a:rPr>
              <a:t>as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spc="110" dirty="0">
                <a:latin typeface="Microsoft Sans Serif"/>
                <a:cs typeface="Microsoft Sans Serif"/>
              </a:rPr>
              <a:t>right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vectors,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which</a:t>
            </a:r>
            <a:r>
              <a:rPr sz="2200" spc="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simply</a:t>
            </a:r>
            <a:r>
              <a:rPr sz="2200" spc="55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means</a:t>
            </a:r>
            <a:r>
              <a:rPr sz="2200" spc="-8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80" dirty="0">
                <a:latin typeface="Microsoft Sans Serif"/>
                <a:cs typeface="Microsoft Sans Serif"/>
              </a:rPr>
              <a:t> </a:t>
            </a:r>
            <a:r>
              <a:rPr sz="2200" spc="50" dirty="0">
                <a:latin typeface="Microsoft Sans Serif"/>
                <a:cs typeface="Microsoft Sans Serif"/>
              </a:rPr>
              <a:t>column</a:t>
            </a:r>
            <a:r>
              <a:rPr sz="2200" spc="-80" dirty="0">
                <a:latin typeface="Microsoft Sans Serif"/>
                <a:cs typeface="Microsoft Sans Serif"/>
              </a:rPr>
              <a:t> </a:t>
            </a:r>
            <a:r>
              <a:rPr sz="2200" spc="75" dirty="0">
                <a:latin typeface="Microsoft Sans Serif"/>
                <a:cs typeface="Microsoft Sans Serif"/>
              </a:rPr>
              <a:t>vector</a:t>
            </a:r>
            <a:r>
              <a:rPr sz="2200" spc="-80" dirty="0">
                <a:latin typeface="Microsoft Sans Serif"/>
                <a:cs typeface="Microsoft Sans Serif"/>
              </a:rPr>
              <a:t> </a:t>
            </a:r>
            <a:r>
              <a:rPr sz="2200" spc="-60" dirty="0">
                <a:latin typeface="Microsoft Sans Serif"/>
                <a:cs typeface="Microsoft Sans Serif"/>
              </a:rPr>
              <a:t>(as</a:t>
            </a:r>
            <a:r>
              <a:rPr sz="2200" spc="-85" dirty="0">
                <a:latin typeface="Microsoft Sans Serif"/>
                <a:cs typeface="Microsoft Sans Serif"/>
              </a:rPr>
              <a:t> </a:t>
            </a:r>
            <a:r>
              <a:rPr sz="2200" spc="45" dirty="0">
                <a:latin typeface="Microsoft Sans Serif"/>
                <a:cs typeface="Microsoft Sans Serif"/>
              </a:rPr>
              <a:t>opposed</a:t>
            </a:r>
            <a:r>
              <a:rPr sz="2200" spc="-75" dirty="0">
                <a:latin typeface="Microsoft Sans Serif"/>
                <a:cs typeface="Microsoft Sans Serif"/>
              </a:rPr>
              <a:t> </a:t>
            </a:r>
            <a:r>
              <a:rPr sz="2200" spc="180" dirty="0">
                <a:latin typeface="Microsoft Sans Serif"/>
                <a:cs typeface="Microsoft Sans Serif"/>
              </a:rPr>
              <a:t>to</a:t>
            </a:r>
            <a:r>
              <a:rPr sz="2200" spc="-7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75" dirty="0">
                <a:latin typeface="Microsoft Sans Serif"/>
                <a:cs typeface="Microsoft Sans Serif"/>
              </a:rPr>
              <a:t> </a:t>
            </a:r>
            <a:r>
              <a:rPr sz="2200" spc="110" dirty="0">
                <a:latin typeface="Microsoft Sans Serif"/>
                <a:cs typeface="Microsoft Sans Serif"/>
              </a:rPr>
              <a:t>row</a:t>
            </a:r>
            <a:r>
              <a:rPr sz="2200" spc="-75" dirty="0">
                <a:latin typeface="Microsoft Sans Serif"/>
                <a:cs typeface="Microsoft Sans Serif"/>
              </a:rPr>
              <a:t> </a:t>
            </a:r>
            <a:r>
              <a:rPr sz="2200" spc="70" dirty="0">
                <a:latin typeface="Microsoft Sans Serif"/>
                <a:cs typeface="Microsoft Sans Serif"/>
              </a:rPr>
              <a:t>vector</a:t>
            </a:r>
            <a:r>
              <a:rPr sz="2200" spc="-80" dirty="0">
                <a:latin typeface="Microsoft Sans Serif"/>
                <a:cs typeface="Microsoft Sans Serif"/>
              </a:rPr>
              <a:t> </a:t>
            </a:r>
            <a:r>
              <a:rPr sz="2200" spc="100" dirty="0">
                <a:latin typeface="Microsoft Sans Serif"/>
                <a:cs typeface="Microsoft Sans Serif"/>
              </a:rPr>
              <a:t>or</a:t>
            </a:r>
            <a:r>
              <a:rPr sz="2200" spc="-8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75" dirty="0">
                <a:latin typeface="Microsoft Sans Serif"/>
                <a:cs typeface="Microsoft Sans Serif"/>
              </a:rPr>
              <a:t> </a:t>
            </a:r>
            <a:r>
              <a:rPr sz="2200" spc="140" dirty="0">
                <a:latin typeface="Microsoft Sans Serif"/>
                <a:cs typeface="Microsoft Sans Serif"/>
              </a:rPr>
              <a:t>left </a:t>
            </a:r>
            <a:r>
              <a:rPr sz="2200" spc="45" dirty="0">
                <a:latin typeface="Microsoft Sans Serif"/>
                <a:cs typeface="Microsoft Sans Serif"/>
              </a:rPr>
              <a:t>vector).</a:t>
            </a:r>
            <a:r>
              <a:rPr sz="2200" spc="-7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70" dirty="0">
                <a:latin typeface="Microsoft Sans Serif"/>
                <a:cs typeface="Microsoft Sans Serif"/>
              </a:rPr>
              <a:t> </a:t>
            </a:r>
            <a:r>
              <a:rPr sz="2200" spc="90" dirty="0">
                <a:latin typeface="Microsoft Sans Serif"/>
                <a:cs typeface="Microsoft Sans Serif"/>
              </a:rPr>
              <a:t>right-</a:t>
            </a:r>
            <a:r>
              <a:rPr sz="2200" spc="65" dirty="0">
                <a:latin typeface="Microsoft Sans Serif"/>
                <a:cs typeface="Microsoft Sans Serif"/>
              </a:rPr>
              <a:t>vector</a:t>
            </a:r>
            <a:r>
              <a:rPr sz="2200" spc="-7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is</a:t>
            </a:r>
            <a:r>
              <a:rPr sz="2200" spc="-7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spc="70" dirty="0">
                <a:latin typeface="Microsoft Sans Serif"/>
                <a:cs typeface="Microsoft Sans Serif"/>
              </a:rPr>
              <a:t>vector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spc="-90" dirty="0">
                <a:latin typeface="Microsoft Sans Serif"/>
                <a:cs typeface="Microsoft Sans Serif"/>
              </a:rPr>
              <a:t>as</a:t>
            </a:r>
            <a:r>
              <a:rPr sz="2200" spc="-75" dirty="0">
                <a:latin typeface="Microsoft Sans Serif"/>
                <a:cs typeface="Microsoft Sans Serif"/>
              </a:rPr>
              <a:t> </a:t>
            </a:r>
            <a:r>
              <a:rPr sz="2200" spc="75" dirty="0">
                <a:latin typeface="Microsoft Sans Serif"/>
                <a:cs typeface="Microsoft Sans Serif"/>
              </a:rPr>
              <a:t>we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spc="55" dirty="0">
                <a:latin typeface="Microsoft Sans Serif"/>
                <a:cs typeface="Microsoft Sans Serif"/>
              </a:rPr>
              <a:t>understand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spc="60" dirty="0">
                <a:latin typeface="Microsoft Sans Serif"/>
                <a:cs typeface="Microsoft Sans Serif"/>
              </a:rPr>
              <a:t>them.</a:t>
            </a:r>
            <a:endParaRPr sz="2200">
              <a:latin typeface="Microsoft Sans Serif"/>
              <a:cs typeface="Microsoft Sans Serif"/>
            </a:endParaRPr>
          </a:p>
          <a:p>
            <a:pPr marL="12700" marR="217804">
              <a:lnSpc>
                <a:spcPct val="101800"/>
              </a:lnSpc>
              <a:spcBef>
                <a:spcPts val="680"/>
              </a:spcBef>
            </a:pPr>
            <a:r>
              <a:rPr sz="2200" dirty="0">
                <a:latin typeface="Microsoft Sans Serif"/>
                <a:cs typeface="Microsoft Sans Serif"/>
              </a:rPr>
              <a:t>Eigenvalues</a:t>
            </a:r>
            <a:r>
              <a:rPr sz="2200" spc="-4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are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spc="70" dirty="0">
                <a:latin typeface="Microsoft Sans Serif"/>
                <a:cs typeface="Microsoft Sans Serif"/>
              </a:rPr>
              <a:t>coefficients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spc="55" dirty="0">
                <a:latin typeface="Microsoft Sans Serif"/>
                <a:cs typeface="Microsoft Sans Serif"/>
              </a:rPr>
              <a:t>applied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spc="180" dirty="0">
                <a:latin typeface="Microsoft Sans Serif"/>
                <a:cs typeface="Microsoft Sans Serif"/>
              </a:rPr>
              <a:t>to</a:t>
            </a:r>
            <a:r>
              <a:rPr sz="2200" spc="-45" dirty="0">
                <a:latin typeface="Microsoft Sans Serif"/>
                <a:cs typeface="Microsoft Sans Serif"/>
              </a:rPr>
              <a:t> </a:t>
            </a:r>
            <a:r>
              <a:rPr sz="2200" spc="45" dirty="0">
                <a:latin typeface="Microsoft Sans Serif"/>
                <a:cs typeface="Microsoft Sans Serif"/>
              </a:rPr>
              <a:t>eigenvectors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spc="114" dirty="0">
                <a:latin typeface="Microsoft Sans Serif"/>
                <a:cs typeface="Microsoft Sans Serif"/>
              </a:rPr>
              <a:t>that </a:t>
            </a:r>
            <a:r>
              <a:rPr sz="2200" dirty="0">
                <a:latin typeface="Microsoft Sans Serif"/>
                <a:cs typeface="Microsoft Sans Serif"/>
              </a:rPr>
              <a:t>give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spc="110" dirty="0">
                <a:latin typeface="Microsoft Sans Serif"/>
                <a:cs typeface="Microsoft Sans Serif"/>
              </a:rPr>
              <a:t>the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spc="50" dirty="0">
                <a:latin typeface="Microsoft Sans Serif"/>
                <a:cs typeface="Microsoft Sans Serif"/>
              </a:rPr>
              <a:t>vectors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100" dirty="0">
                <a:latin typeface="Microsoft Sans Serif"/>
                <a:cs typeface="Microsoft Sans Serif"/>
              </a:rPr>
              <a:t>their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spc="90" dirty="0">
                <a:latin typeface="Microsoft Sans Serif"/>
                <a:cs typeface="Microsoft Sans Serif"/>
              </a:rPr>
              <a:t>length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spc="100" dirty="0">
                <a:latin typeface="Microsoft Sans Serif"/>
                <a:cs typeface="Microsoft Sans Serif"/>
              </a:rPr>
              <a:t>or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spc="55" dirty="0">
                <a:latin typeface="Microsoft Sans Serif"/>
                <a:cs typeface="Microsoft Sans Serif"/>
              </a:rPr>
              <a:t>magnitude.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For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example,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-50" dirty="0">
                <a:latin typeface="Microsoft Sans Serif"/>
                <a:cs typeface="Microsoft Sans Serif"/>
              </a:rPr>
              <a:t>a </a:t>
            </a:r>
            <a:r>
              <a:rPr sz="2200" spc="55" dirty="0">
                <a:latin typeface="Microsoft Sans Serif"/>
                <a:cs typeface="Microsoft Sans Serif"/>
              </a:rPr>
              <a:t>negative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eigenvalue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may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reverse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spc="110" dirty="0">
                <a:latin typeface="Microsoft Sans Serif"/>
                <a:cs typeface="Microsoft Sans Serif"/>
              </a:rPr>
              <a:t>the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spc="75" dirty="0">
                <a:latin typeface="Microsoft Sans Serif"/>
                <a:cs typeface="Microsoft Sans Serif"/>
              </a:rPr>
              <a:t>direction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spc="165" dirty="0">
                <a:latin typeface="Microsoft Sans Serif"/>
                <a:cs typeface="Microsoft Sans Serif"/>
              </a:rPr>
              <a:t>of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spc="85" dirty="0">
                <a:latin typeface="Microsoft Sans Serif"/>
                <a:cs typeface="Microsoft Sans Serif"/>
              </a:rPr>
              <a:t>the </a:t>
            </a:r>
            <a:r>
              <a:rPr sz="2200" spc="60" dirty="0">
                <a:latin typeface="Microsoft Sans Serif"/>
                <a:cs typeface="Microsoft Sans Serif"/>
              </a:rPr>
              <a:t>eigenvector</a:t>
            </a:r>
            <a:r>
              <a:rPr sz="2200" spc="-50" dirty="0">
                <a:latin typeface="Microsoft Sans Serif"/>
                <a:cs typeface="Microsoft Sans Serif"/>
              </a:rPr>
              <a:t> </a:t>
            </a:r>
            <a:r>
              <a:rPr sz="2200" spc="-90" dirty="0">
                <a:latin typeface="Microsoft Sans Serif"/>
                <a:cs typeface="Microsoft Sans Serif"/>
              </a:rPr>
              <a:t>as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spc="105" dirty="0">
                <a:latin typeface="Microsoft Sans Serif"/>
                <a:cs typeface="Microsoft Sans Serif"/>
              </a:rPr>
              <a:t>part</a:t>
            </a:r>
            <a:r>
              <a:rPr sz="2200" spc="-50" dirty="0">
                <a:latin typeface="Microsoft Sans Serif"/>
                <a:cs typeface="Microsoft Sans Serif"/>
              </a:rPr>
              <a:t> </a:t>
            </a:r>
            <a:r>
              <a:rPr sz="2200" spc="165" dirty="0">
                <a:latin typeface="Microsoft Sans Serif"/>
                <a:cs typeface="Microsoft Sans Serif"/>
              </a:rPr>
              <a:t>of</a:t>
            </a:r>
            <a:r>
              <a:rPr sz="2200" spc="-5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scaling</a:t>
            </a:r>
            <a:r>
              <a:rPr sz="2200" spc="-55" dirty="0">
                <a:latin typeface="Microsoft Sans Serif"/>
                <a:cs typeface="Microsoft Sans Serif"/>
              </a:rPr>
              <a:t> </a:t>
            </a:r>
            <a:r>
              <a:rPr sz="2200" spc="60" dirty="0">
                <a:latin typeface="Microsoft Sans Serif"/>
                <a:cs typeface="Microsoft Sans Serif"/>
              </a:rPr>
              <a:t>it.</a:t>
            </a:r>
            <a:endParaRPr sz="2200">
              <a:latin typeface="Microsoft Sans Serif"/>
              <a:cs typeface="Microsoft Sans Serif"/>
            </a:endParaRPr>
          </a:p>
          <a:p>
            <a:pPr marL="12700" marR="41910" algn="just">
              <a:lnSpc>
                <a:spcPct val="101699"/>
              </a:lnSpc>
              <a:spcBef>
                <a:spcPts val="700"/>
              </a:spcBef>
            </a:pP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45" dirty="0">
                <a:latin typeface="Microsoft Sans Serif"/>
                <a:cs typeface="Microsoft Sans Serif"/>
              </a:rPr>
              <a:t> </a:t>
            </a:r>
            <a:r>
              <a:rPr sz="2200" spc="85" dirty="0">
                <a:latin typeface="Microsoft Sans Serif"/>
                <a:cs typeface="Microsoft Sans Serif"/>
              </a:rPr>
              <a:t>matrix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spc="135" dirty="0">
                <a:latin typeface="Microsoft Sans Serif"/>
                <a:cs typeface="Microsoft Sans Serif"/>
              </a:rPr>
              <a:t>that</a:t>
            </a:r>
            <a:r>
              <a:rPr sz="2200" spc="-50" dirty="0">
                <a:latin typeface="Microsoft Sans Serif"/>
                <a:cs typeface="Microsoft Sans Serif"/>
              </a:rPr>
              <a:t> </a:t>
            </a:r>
            <a:r>
              <a:rPr sz="2200" spc="-35" dirty="0">
                <a:latin typeface="Microsoft Sans Serif"/>
                <a:cs typeface="Microsoft Sans Serif"/>
              </a:rPr>
              <a:t>has</a:t>
            </a:r>
            <a:r>
              <a:rPr sz="2200" spc="-50" dirty="0">
                <a:latin typeface="Microsoft Sans Serif"/>
                <a:cs typeface="Microsoft Sans Serif"/>
              </a:rPr>
              <a:t> </a:t>
            </a:r>
            <a:r>
              <a:rPr sz="2200" spc="65" dirty="0">
                <a:latin typeface="Microsoft Sans Serif"/>
                <a:cs typeface="Microsoft Sans Serif"/>
              </a:rPr>
              <a:t>only</a:t>
            </a:r>
            <a:r>
              <a:rPr sz="2200" spc="-45" dirty="0">
                <a:latin typeface="Microsoft Sans Serif"/>
                <a:cs typeface="Microsoft Sans Serif"/>
              </a:rPr>
              <a:t> </a:t>
            </a:r>
            <a:r>
              <a:rPr sz="2200" spc="60" dirty="0">
                <a:latin typeface="Microsoft Sans Serif"/>
                <a:cs typeface="Microsoft Sans Serif"/>
              </a:rPr>
              <a:t>positive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eigenvalues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is</a:t>
            </a:r>
            <a:r>
              <a:rPr sz="2200" spc="-50" dirty="0">
                <a:latin typeface="Microsoft Sans Serif"/>
                <a:cs typeface="Microsoft Sans Serif"/>
              </a:rPr>
              <a:t> </a:t>
            </a:r>
            <a:r>
              <a:rPr sz="2200" spc="95" dirty="0">
                <a:latin typeface="Microsoft Sans Serif"/>
                <a:cs typeface="Microsoft Sans Serif"/>
              </a:rPr>
              <a:t>referred</a:t>
            </a:r>
            <a:r>
              <a:rPr sz="2200" spc="-45" dirty="0">
                <a:latin typeface="Microsoft Sans Serif"/>
                <a:cs typeface="Microsoft Sans Serif"/>
              </a:rPr>
              <a:t> </a:t>
            </a:r>
            <a:r>
              <a:rPr sz="2200" spc="175" dirty="0">
                <a:latin typeface="Microsoft Sans Serif"/>
                <a:cs typeface="Microsoft Sans Serif"/>
              </a:rPr>
              <a:t>to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spc="-25" dirty="0">
                <a:latin typeface="Microsoft Sans Serif"/>
                <a:cs typeface="Microsoft Sans Serif"/>
              </a:rPr>
              <a:t>as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spc="60" dirty="0">
                <a:latin typeface="Microsoft Sans Serif"/>
                <a:cs typeface="Microsoft Sans Serif"/>
              </a:rPr>
              <a:t>positive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spc="100" dirty="0">
                <a:latin typeface="Microsoft Sans Serif"/>
                <a:cs typeface="Microsoft Sans Serif"/>
              </a:rPr>
              <a:t>definite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spc="65" dirty="0">
                <a:latin typeface="Microsoft Sans Serif"/>
                <a:cs typeface="Microsoft Sans Serif"/>
              </a:rPr>
              <a:t>matrix,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whereas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150" dirty="0">
                <a:latin typeface="Microsoft Sans Serif"/>
                <a:cs typeface="Microsoft Sans Serif"/>
              </a:rPr>
              <a:t>if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spc="110" dirty="0">
                <a:latin typeface="Microsoft Sans Serif"/>
                <a:cs typeface="Microsoft Sans Serif"/>
              </a:rPr>
              <a:t>the</a:t>
            </a:r>
            <a:r>
              <a:rPr sz="2200" spc="-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eigenvalues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are</a:t>
            </a:r>
            <a:r>
              <a:rPr sz="2200" spc="-10" dirty="0">
                <a:latin typeface="Microsoft Sans Serif"/>
                <a:cs typeface="Microsoft Sans Serif"/>
              </a:rPr>
              <a:t> </a:t>
            </a:r>
            <a:r>
              <a:rPr sz="2200" spc="25" dirty="0">
                <a:latin typeface="Microsoft Sans Serif"/>
                <a:cs typeface="Microsoft Sans Serif"/>
              </a:rPr>
              <a:t>all </a:t>
            </a:r>
            <a:r>
              <a:rPr sz="2200" dirty="0">
                <a:latin typeface="Microsoft Sans Serif"/>
                <a:cs typeface="Microsoft Sans Serif"/>
              </a:rPr>
              <a:t>negative,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spc="170" dirty="0">
                <a:latin typeface="Microsoft Sans Serif"/>
                <a:cs typeface="Microsoft Sans Serif"/>
              </a:rPr>
              <a:t>it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is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spc="90" dirty="0">
                <a:latin typeface="Microsoft Sans Serif"/>
                <a:cs typeface="Microsoft Sans Serif"/>
              </a:rPr>
              <a:t>referred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spc="180" dirty="0">
                <a:latin typeface="Microsoft Sans Serif"/>
                <a:cs typeface="Microsoft Sans Serif"/>
              </a:rPr>
              <a:t>to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-90" dirty="0">
                <a:latin typeface="Microsoft Sans Serif"/>
                <a:cs typeface="Microsoft Sans Serif"/>
              </a:rPr>
              <a:t>as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55" dirty="0">
                <a:latin typeface="Microsoft Sans Serif"/>
                <a:cs typeface="Microsoft Sans Serif"/>
              </a:rPr>
              <a:t>negative</a:t>
            </a:r>
            <a:r>
              <a:rPr sz="2200" spc="-20" dirty="0">
                <a:latin typeface="Microsoft Sans Serif"/>
                <a:cs typeface="Microsoft Sans Serif"/>
              </a:rPr>
              <a:t> </a:t>
            </a:r>
            <a:r>
              <a:rPr sz="2200" spc="100" dirty="0">
                <a:latin typeface="Microsoft Sans Serif"/>
                <a:cs typeface="Microsoft Sans Serif"/>
              </a:rPr>
              <a:t>definite</a:t>
            </a:r>
            <a:r>
              <a:rPr sz="2200" spc="-15" dirty="0">
                <a:latin typeface="Microsoft Sans Serif"/>
                <a:cs typeface="Microsoft Sans Serif"/>
              </a:rPr>
              <a:t> </a:t>
            </a:r>
            <a:r>
              <a:rPr sz="2200" spc="55" dirty="0">
                <a:latin typeface="Microsoft Sans Serif"/>
                <a:cs typeface="Microsoft Sans Serif"/>
              </a:rPr>
              <a:t>matrix.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271852"/>
            <a:ext cx="12509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383178"/>
            <a:ext cx="12509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836134"/>
            <a:ext cx="12509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Eigen</a:t>
            </a:r>
            <a:r>
              <a:rPr spc="-145" dirty="0"/>
              <a:t> </a:t>
            </a:r>
            <a:r>
              <a:rPr spc="95" dirty="0"/>
              <a:t>Vector</a:t>
            </a:r>
            <a:r>
              <a:rPr spc="-135" dirty="0"/>
              <a:t> </a:t>
            </a:r>
            <a:r>
              <a:rPr dirty="0"/>
              <a:t>and</a:t>
            </a:r>
            <a:r>
              <a:rPr spc="-135" dirty="0"/>
              <a:t> </a:t>
            </a:r>
            <a:r>
              <a:rPr spc="-10" dirty="0"/>
              <a:t>Values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00"/>
              </a:spcBef>
            </a:pPr>
            <a:r>
              <a:rPr spc="-20" dirty="0"/>
              <a:t>They</a:t>
            </a:r>
            <a:r>
              <a:rPr spc="-120" dirty="0"/>
              <a:t> </a:t>
            </a:r>
            <a:r>
              <a:rPr spc="-10" dirty="0"/>
              <a:t>have</a:t>
            </a:r>
            <a:r>
              <a:rPr spc="-130" dirty="0"/>
              <a:t> </a:t>
            </a:r>
            <a:r>
              <a:rPr dirty="0"/>
              <a:t>many</a:t>
            </a:r>
            <a:r>
              <a:rPr spc="-125" dirty="0"/>
              <a:t> </a:t>
            </a:r>
            <a:r>
              <a:rPr spc="-10" dirty="0"/>
              <a:t>uses!</a:t>
            </a:r>
          </a:p>
          <a:p>
            <a:pPr marL="88900" marR="5080">
              <a:lnSpc>
                <a:spcPct val="100000"/>
              </a:lnSpc>
              <a:spcBef>
                <a:spcPts val="800"/>
              </a:spcBef>
            </a:pPr>
            <a:r>
              <a:rPr dirty="0"/>
              <a:t>A</a:t>
            </a:r>
            <a:r>
              <a:rPr spc="-65" dirty="0"/>
              <a:t> </a:t>
            </a:r>
            <a:r>
              <a:rPr dirty="0"/>
              <a:t>simple</a:t>
            </a:r>
            <a:r>
              <a:rPr spc="-70" dirty="0"/>
              <a:t> </a:t>
            </a:r>
            <a:r>
              <a:rPr dirty="0"/>
              <a:t>example</a:t>
            </a:r>
            <a:r>
              <a:rPr spc="-70" dirty="0"/>
              <a:t> </a:t>
            </a:r>
            <a:r>
              <a:rPr dirty="0"/>
              <a:t>is</a:t>
            </a:r>
            <a:r>
              <a:rPr spc="-60" dirty="0"/>
              <a:t> </a:t>
            </a:r>
            <a:r>
              <a:rPr spc="135" dirty="0"/>
              <a:t>that</a:t>
            </a:r>
            <a:r>
              <a:rPr spc="-60" dirty="0"/>
              <a:t> </a:t>
            </a:r>
            <a:r>
              <a:rPr dirty="0"/>
              <a:t>an</a:t>
            </a:r>
            <a:r>
              <a:rPr spc="-60" dirty="0"/>
              <a:t> </a:t>
            </a:r>
            <a:r>
              <a:rPr spc="50" dirty="0"/>
              <a:t>eigenvector</a:t>
            </a:r>
            <a:r>
              <a:rPr spc="-65" dirty="0"/>
              <a:t> </a:t>
            </a:r>
            <a:r>
              <a:rPr dirty="0"/>
              <a:t>does</a:t>
            </a:r>
            <a:r>
              <a:rPr spc="-70" dirty="0"/>
              <a:t> </a:t>
            </a:r>
            <a:r>
              <a:rPr spc="114" dirty="0"/>
              <a:t>not </a:t>
            </a:r>
            <a:r>
              <a:rPr spc="-10" dirty="0"/>
              <a:t>change</a:t>
            </a:r>
            <a:r>
              <a:rPr spc="-105" dirty="0"/>
              <a:t> </a:t>
            </a:r>
            <a:r>
              <a:rPr spc="70" dirty="0"/>
              <a:t>direction</a:t>
            </a:r>
            <a:r>
              <a:rPr spc="-90" dirty="0"/>
              <a:t> </a:t>
            </a:r>
            <a:r>
              <a:rPr spc="50" dirty="0"/>
              <a:t>in</a:t>
            </a:r>
            <a:r>
              <a:rPr spc="-90" dirty="0"/>
              <a:t> </a:t>
            </a:r>
            <a:r>
              <a:rPr spc="-110" dirty="0"/>
              <a:t>a</a:t>
            </a:r>
            <a:r>
              <a:rPr spc="-100" dirty="0"/>
              <a:t> </a:t>
            </a:r>
            <a:r>
              <a:rPr spc="60" dirty="0"/>
              <a:t>transformation: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97212"/>
            <a:ext cx="140970" cy="1023619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1999" y="3527640"/>
            <a:ext cx="5219280" cy="232379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Eigen</a:t>
            </a:r>
            <a:r>
              <a:rPr spc="-145" dirty="0"/>
              <a:t> </a:t>
            </a:r>
            <a:r>
              <a:rPr spc="95" dirty="0"/>
              <a:t>Vector</a:t>
            </a:r>
            <a:r>
              <a:rPr spc="-135" dirty="0"/>
              <a:t> </a:t>
            </a:r>
            <a:r>
              <a:rPr dirty="0"/>
              <a:t>and</a:t>
            </a:r>
            <a:r>
              <a:rPr spc="-135" dirty="0"/>
              <a:t> </a:t>
            </a:r>
            <a:r>
              <a:rPr spc="-10" dirty="0"/>
              <a:t>Values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519097"/>
            <a:ext cx="623125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Microsoft Sans Serif"/>
                <a:cs typeface="Microsoft Sans Serif"/>
              </a:rPr>
              <a:t>For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-110" dirty="0">
                <a:latin typeface="Microsoft Sans Serif"/>
                <a:cs typeface="Microsoft Sans Serif"/>
              </a:rPr>
              <a:t>a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square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matrix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-30" dirty="0">
                <a:latin typeface="Microsoft Sans Serif"/>
                <a:cs typeface="Microsoft Sans Serif"/>
              </a:rPr>
              <a:t>A,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an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Eigenvector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and </a:t>
            </a:r>
            <a:r>
              <a:rPr sz="2600" dirty="0">
                <a:latin typeface="Microsoft Sans Serif"/>
                <a:cs typeface="Microsoft Sans Serif"/>
              </a:rPr>
              <a:t>Eigenvalue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make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this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55" dirty="0">
                <a:latin typeface="Microsoft Sans Serif"/>
                <a:cs typeface="Microsoft Sans Serif"/>
              </a:rPr>
              <a:t>equation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true:</a:t>
            </a:r>
            <a:endParaRPr sz="26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3995" y="2951645"/>
            <a:ext cx="4161599" cy="1649158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Eigen</a:t>
            </a:r>
            <a:r>
              <a:rPr spc="-165" dirty="0"/>
              <a:t> </a:t>
            </a:r>
            <a:r>
              <a:rPr spc="95" dirty="0"/>
              <a:t>Vector</a:t>
            </a:r>
            <a:r>
              <a:rPr spc="-140" dirty="0"/>
              <a:t> </a:t>
            </a:r>
            <a:r>
              <a:rPr dirty="0"/>
              <a:t>and</a:t>
            </a:r>
            <a:r>
              <a:rPr spc="-145" dirty="0"/>
              <a:t> </a:t>
            </a:r>
            <a:r>
              <a:rPr spc="-20" dirty="0"/>
              <a:t>Values</a:t>
            </a:r>
            <a:r>
              <a:rPr spc="-150" dirty="0"/>
              <a:t> </a:t>
            </a:r>
            <a:r>
              <a:rPr spc="-120" dirty="0"/>
              <a:t>:</a:t>
            </a:r>
            <a:r>
              <a:rPr spc="-12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519097"/>
            <a:ext cx="36391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0" dirty="0">
                <a:latin typeface="Microsoft Sans Serif"/>
                <a:cs typeface="Microsoft Sans Serif"/>
              </a:rPr>
              <a:t>Example:</a:t>
            </a:r>
            <a:r>
              <a:rPr sz="2600" spc="-1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For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65" dirty="0">
                <a:latin typeface="Microsoft Sans Serif"/>
                <a:cs typeface="Microsoft Sans Serif"/>
              </a:rPr>
              <a:t>this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70" dirty="0">
                <a:latin typeface="Microsoft Sans Serif"/>
                <a:cs typeface="Microsoft Sans Serif"/>
              </a:rPr>
              <a:t>matrix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994736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9017" y="3013811"/>
            <a:ext cx="264414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Microsoft Sans Serif"/>
                <a:cs typeface="Microsoft Sans Serif"/>
              </a:rPr>
              <a:t>an</a:t>
            </a:r>
            <a:r>
              <a:rPr sz="2600" spc="-120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eigenvector</a:t>
            </a:r>
            <a:r>
              <a:rPr sz="2600" spc="-120" dirty="0">
                <a:latin typeface="Microsoft Sans Serif"/>
                <a:cs typeface="Microsoft Sans Serif"/>
              </a:rPr>
              <a:t> </a:t>
            </a:r>
            <a:r>
              <a:rPr sz="2600" spc="-25" dirty="0">
                <a:latin typeface="Microsoft Sans Serif"/>
                <a:cs typeface="Microsoft Sans Serif"/>
              </a:rPr>
              <a:t>is: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4489450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9017" y="4508537"/>
            <a:ext cx="477901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130" dirty="0">
                <a:latin typeface="Microsoft Sans Serif"/>
                <a:cs typeface="Microsoft Sans Serif"/>
              </a:rPr>
              <a:t>with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110" dirty="0">
                <a:latin typeface="Microsoft Sans Serif"/>
                <a:cs typeface="Microsoft Sans Serif"/>
              </a:rPr>
              <a:t>a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matching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eigenvalue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165" dirty="0">
                <a:latin typeface="Microsoft Sans Serif"/>
                <a:cs typeface="Microsoft Sans Serif"/>
              </a:rPr>
              <a:t>of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0" dirty="0">
                <a:latin typeface="Microsoft Sans Serif"/>
                <a:cs typeface="Microsoft Sans Serif"/>
              </a:rPr>
              <a:t>6</a:t>
            </a:r>
            <a:endParaRPr sz="260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3043" y="2214359"/>
            <a:ext cx="1056957" cy="80928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5994" y="3430079"/>
            <a:ext cx="618845" cy="96155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Eigen</a:t>
            </a:r>
            <a:r>
              <a:rPr spc="-165" dirty="0"/>
              <a:t> </a:t>
            </a:r>
            <a:r>
              <a:rPr spc="95" dirty="0"/>
              <a:t>Vector</a:t>
            </a:r>
            <a:r>
              <a:rPr spc="-140" dirty="0"/>
              <a:t> </a:t>
            </a:r>
            <a:r>
              <a:rPr dirty="0"/>
              <a:t>and</a:t>
            </a:r>
            <a:r>
              <a:rPr spc="-145" dirty="0"/>
              <a:t> </a:t>
            </a:r>
            <a:r>
              <a:rPr spc="-20" dirty="0"/>
              <a:t>Values</a:t>
            </a:r>
            <a:r>
              <a:rPr spc="-150" dirty="0"/>
              <a:t> </a:t>
            </a:r>
            <a:r>
              <a:rPr spc="-120" dirty="0"/>
              <a:t>:</a:t>
            </a:r>
            <a:r>
              <a:rPr spc="-12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519097"/>
            <a:ext cx="17538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Microsoft Sans Serif"/>
                <a:cs typeface="Microsoft Sans Serif"/>
              </a:rPr>
              <a:t>Av</a:t>
            </a:r>
            <a:r>
              <a:rPr sz="2600" spc="-1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gives</a:t>
            </a:r>
            <a:r>
              <a:rPr sz="2600" spc="-120" dirty="0">
                <a:latin typeface="Microsoft Sans Serif"/>
                <a:cs typeface="Microsoft Sans Serif"/>
              </a:rPr>
              <a:t> </a:t>
            </a:r>
            <a:r>
              <a:rPr sz="2600" spc="-30" dirty="0">
                <a:latin typeface="Microsoft Sans Serif"/>
                <a:cs typeface="Microsoft Sans Serif"/>
              </a:rPr>
              <a:t>us: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493693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9017" y="3511702"/>
            <a:ext cx="17780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Microsoft Sans Serif"/>
                <a:cs typeface="Microsoft Sans Serif"/>
              </a:rPr>
              <a:t>λv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gives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spc="-35" dirty="0">
                <a:latin typeface="Microsoft Sans Serif"/>
                <a:cs typeface="Microsoft Sans Serif"/>
              </a:rPr>
              <a:t>us</a:t>
            </a:r>
            <a:r>
              <a:rPr sz="2600" spc="-114" dirty="0">
                <a:latin typeface="Microsoft Sans Serif"/>
                <a:cs typeface="Microsoft Sans Serif"/>
              </a:rPr>
              <a:t> </a:t>
            </a:r>
            <a:r>
              <a:rPr sz="2600" spc="-50" dirty="0">
                <a:latin typeface="Microsoft Sans Serif"/>
                <a:cs typeface="Microsoft Sans Serif"/>
              </a:rPr>
              <a:t>: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5486653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"/>
                <a:cs typeface="Arial"/>
              </a:rPr>
              <a:t>•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9017" y="5504294"/>
            <a:ext cx="640334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20" dirty="0">
                <a:latin typeface="Microsoft Sans Serif"/>
                <a:cs typeface="Microsoft Sans Serif"/>
              </a:rPr>
              <a:t>Yes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they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are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equal!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155" dirty="0">
                <a:latin typeface="Microsoft Sans Serif"/>
                <a:cs typeface="Microsoft Sans Serif"/>
              </a:rPr>
              <a:t>So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Av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=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λv</a:t>
            </a:r>
            <a:r>
              <a:rPr sz="2600" spc="-80" dirty="0">
                <a:latin typeface="Microsoft Sans Serif"/>
                <a:cs typeface="Microsoft Sans Serif"/>
              </a:rPr>
              <a:t> </a:t>
            </a:r>
            <a:r>
              <a:rPr sz="2600" spc="-130" dirty="0">
                <a:latin typeface="Microsoft Sans Serif"/>
                <a:cs typeface="Microsoft Sans Serif"/>
              </a:rPr>
              <a:t>as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promised.</a:t>
            </a:r>
            <a:endParaRPr sz="260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9960" y="2231644"/>
            <a:ext cx="5324043" cy="10079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05240" y="4319638"/>
            <a:ext cx="4190758" cy="933119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Eigen</a:t>
            </a:r>
            <a:r>
              <a:rPr spc="-145" dirty="0"/>
              <a:t> </a:t>
            </a:r>
            <a:r>
              <a:rPr spc="95" dirty="0"/>
              <a:t>Vector</a:t>
            </a:r>
            <a:r>
              <a:rPr spc="-135" dirty="0"/>
              <a:t> </a:t>
            </a:r>
            <a:r>
              <a:rPr dirty="0"/>
              <a:t>and</a:t>
            </a:r>
            <a:r>
              <a:rPr spc="-135" dirty="0"/>
              <a:t> </a:t>
            </a:r>
            <a:r>
              <a:rPr spc="-10" dirty="0"/>
              <a:t>Values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003540" cy="26828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marR="52069" indent="-343535">
              <a:lnSpc>
                <a:spcPct val="99700"/>
              </a:lnSpc>
              <a:spcBef>
                <a:spcPts val="11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Microsoft Sans Serif"/>
                <a:cs typeface="Microsoft Sans Serif"/>
              </a:rPr>
              <a:t>Decomposing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-114" dirty="0">
                <a:latin typeface="Microsoft Sans Serif"/>
                <a:cs typeface="Microsoft Sans Serif"/>
              </a:rPr>
              <a:t>a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matrix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in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terms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185" dirty="0">
                <a:latin typeface="Microsoft Sans Serif"/>
                <a:cs typeface="Microsoft Sans Serif"/>
              </a:rPr>
              <a:t>of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its </a:t>
            </a:r>
            <a:r>
              <a:rPr sz="2800" dirty="0">
                <a:latin typeface="Microsoft Sans Serif"/>
                <a:cs typeface="Microsoft Sans Serif"/>
              </a:rPr>
              <a:t>eigenvalues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and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80" dirty="0">
                <a:latin typeface="Microsoft Sans Serif"/>
                <a:cs typeface="Microsoft Sans Serif"/>
              </a:rPr>
              <a:t>its</a:t>
            </a:r>
            <a:r>
              <a:rPr sz="2800" spc="-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eigenvectors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gives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valuable </a:t>
            </a:r>
            <a:r>
              <a:rPr sz="2800" dirty="0">
                <a:latin typeface="Microsoft Sans Serif"/>
                <a:cs typeface="Microsoft Sans Serif"/>
              </a:rPr>
              <a:t>insights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into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properties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185" dirty="0">
                <a:latin typeface="Microsoft Sans Serif"/>
                <a:cs typeface="Microsoft Sans Serif"/>
              </a:rPr>
              <a:t>of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matrix.</a:t>
            </a:r>
            <a:endParaRPr sz="2800">
              <a:latin typeface="Microsoft Sans Serif"/>
              <a:cs typeface="Microsoft Sans Serif"/>
            </a:endParaRPr>
          </a:p>
          <a:p>
            <a:pPr marL="355600" marR="5080" indent="-343535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Microsoft Sans Serif"/>
                <a:cs typeface="Microsoft Sans Serif"/>
              </a:rPr>
              <a:t>Certain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85" dirty="0">
                <a:latin typeface="Microsoft Sans Serif"/>
                <a:cs typeface="Microsoft Sans Serif"/>
              </a:rPr>
              <a:t>matrix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calculations,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like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65" dirty="0">
                <a:latin typeface="Microsoft Sans Serif"/>
                <a:cs typeface="Microsoft Sans Serif"/>
              </a:rPr>
              <a:t>computing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spc="95" dirty="0">
                <a:latin typeface="Microsoft Sans Serif"/>
                <a:cs typeface="Microsoft Sans Serif"/>
              </a:rPr>
              <a:t>the </a:t>
            </a:r>
            <a:r>
              <a:rPr sz="2800" spc="80" dirty="0">
                <a:latin typeface="Microsoft Sans Serif"/>
                <a:cs typeface="Microsoft Sans Serif"/>
              </a:rPr>
              <a:t>power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180" dirty="0">
                <a:latin typeface="Microsoft Sans Serif"/>
                <a:cs typeface="Microsoft Sans Serif"/>
              </a:rPr>
              <a:t>of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65" dirty="0">
                <a:latin typeface="Microsoft Sans Serif"/>
                <a:cs typeface="Microsoft Sans Serif"/>
              </a:rPr>
              <a:t>matrix,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become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much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easier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20" dirty="0">
                <a:latin typeface="Microsoft Sans Serif"/>
                <a:cs typeface="Microsoft Sans Serif"/>
              </a:rPr>
              <a:t>when </a:t>
            </a:r>
            <a:r>
              <a:rPr sz="2800" spc="65" dirty="0">
                <a:latin typeface="Microsoft Sans Serif"/>
                <a:cs typeface="Microsoft Sans Serif"/>
              </a:rPr>
              <a:t>we</a:t>
            </a:r>
            <a:r>
              <a:rPr sz="2800" spc="20" dirty="0">
                <a:latin typeface="Microsoft Sans Serif"/>
                <a:cs typeface="Microsoft Sans Serif"/>
              </a:rPr>
              <a:t> </a:t>
            </a:r>
            <a:r>
              <a:rPr sz="2800" spc="-40" dirty="0">
                <a:latin typeface="Microsoft Sans Serif"/>
                <a:cs typeface="Microsoft Sans Serif"/>
              </a:rPr>
              <a:t>use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eigendecomposition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180" dirty="0">
                <a:latin typeface="Microsoft Sans Serif"/>
                <a:cs typeface="Microsoft Sans Serif"/>
              </a:rPr>
              <a:t>of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20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matrix.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Confirm</a:t>
            </a:r>
            <a:r>
              <a:rPr spc="-145" dirty="0"/>
              <a:t> </a:t>
            </a:r>
            <a:r>
              <a:rPr spc="-20" dirty="0"/>
              <a:t>Eigen</a:t>
            </a:r>
            <a:r>
              <a:rPr spc="-140" dirty="0"/>
              <a:t> </a:t>
            </a:r>
            <a:r>
              <a:rPr spc="95" dirty="0"/>
              <a:t>Vector</a:t>
            </a:r>
            <a:r>
              <a:rPr spc="-130" dirty="0"/>
              <a:t> </a:t>
            </a:r>
            <a:r>
              <a:rPr dirty="0"/>
              <a:t>and</a:t>
            </a:r>
            <a:r>
              <a:rPr spc="-135" dirty="0"/>
              <a:t> </a:t>
            </a:r>
            <a:r>
              <a:rPr spc="-10" dirty="0"/>
              <a:t>Values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7952740" cy="5078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964565" indent="-343535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Microsoft Sans Serif"/>
                <a:cs typeface="Microsoft Sans Serif"/>
              </a:rPr>
              <a:t>We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-60" dirty="0">
                <a:latin typeface="Microsoft Sans Serif"/>
                <a:cs typeface="Microsoft Sans Serif"/>
              </a:rPr>
              <a:t>can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80" dirty="0">
                <a:latin typeface="Microsoft Sans Serif"/>
                <a:cs typeface="Microsoft Sans Serif"/>
              </a:rPr>
              <a:t>confirm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145" dirty="0">
                <a:latin typeface="Microsoft Sans Serif"/>
                <a:cs typeface="Microsoft Sans Serif"/>
              </a:rPr>
              <a:t>that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-110" dirty="0">
                <a:latin typeface="Microsoft Sans Serif"/>
                <a:cs typeface="Microsoft Sans Serif"/>
              </a:rPr>
              <a:t>a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vector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is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indeed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an </a:t>
            </a:r>
            <a:r>
              <a:rPr sz="2800" spc="50" dirty="0">
                <a:latin typeface="Microsoft Sans Serif"/>
                <a:cs typeface="Microsoft Sans Serif"/>
              </a:rPr>
              <a:t>eigenvector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80" dirty="0">
                <a:latin typeface="Microsoft Sans Serif"/>
                <a:cs typeface="Microsoft Sans Serif"/>
              </a:rPr>
              <a:t>of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10" dirty="0">
                <a:latin typeface="Microsoft Sans Serif"/>
                <a:cs typeface="Microsoft Sans Serif"/>
              </a:rPr>
              <a:t>a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matrix.</a:t>
            </a:r>
            <a:endParaRPr sz="2800">
              <a:latin typeface="Microsoft Sans Serif"/>
              <a:cs typeface="Microsoft Sans Serif"/>
            </a:endParaRPr>
          </a:p>
          <a:p>
            <a:pPr marL="355600" marR="38735" indent="-343535">
              <a:lnSpc>
                <a:spcPct val="100000"/>
              </a:lnSpc>
              <a:spcBef>
                <a:spcPts val="78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Microsoft Sans Serif"/>
                <a:cs typeface="Microsoft Sans Serif"/>
              </a:rPr>
              <a:t>We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do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65" dirty="0">
                <a:latin typeface="Microsoft Sans Serif"/>
                <a:cs typeface="Microsoft Sans Serif"/>
              </a:rPr>
              <a:t>this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by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85" dirty="0">
                <a:latin typeface="Microsoft Sans Serif"/>
                <a:cs typeface="Microsoft Sans Serif"/>
              </a:rPr>
              <a:t>multiplying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candidate </a:t>
            </a:r>
            <a:r>
              <a:rPr sz="2800" spc="50" dirty="0">
                <a:latin typeface="Microsoft Sans Serif"/>
                <a:cs typeface="Microsoft Sans Serif"/>
              </a:rPr>
              <a:t>eigenvector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by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value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vector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and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comparing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result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140" dirty="0">
                <a:latin typeface="Microsoft Sans Serif"/>
                <a:cs typeface="Microsoft Sans Serif"/>
              </a:rPr>
              <a:t>with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eigenvalue.</a:t>
            </a:r>
            <a:endParaRPr sz="2800">
              <a:latin typeface="Microsoft Sans Serif"/>
              <a:cs typeface="Microsoft Sans Serif"/>
            </a:endParaRPr>
          </a:p>
          <a:p>
            <a:pPr marL="355600" marR="5080" indent="-343535">
              <a:lnSpc>
                <a:spcPct val="100000"/>
              </a:lnSpc>
              <a:spcBef>
                <a:spcPts val="78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Microsoft Sans Serif"/>
                <a:cs typeface="Microsoft Sans Serif"/>
              </a:rPr>
              <a:t>First,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we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110" dirty="0">
                <a:latin typeface="Microsoft Sans Serif"/>
                <a:cs typeface="Microsoft Sans Serif"/>
              </a:rPr>
              <a:t>will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define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-110" dirty="0">
                <a:latin typeface="Microsoft Sans Serif"/>
                <a:cs typeface="Microsoft Sans Serif"/>
              </a:rPr>
              <a:t>a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matrix,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100" dirty="0">
                <a:latin typeface="Microsoft Sans Serif"/>
                <a:cs typeface="Microsoft Sans Serif"/>
              </a:rPr>
              <a:t>then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calculate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100" dirty="0">
                <a:latin typeface="Microsoft Sans Serif"/>
                <a:cs typeface="Microsoft Sans Serif"/>
              </a:rPr>
              <a:t>the </a:t>
            </a:r>
            <a:r>
              <a:rPr sz="2800" dirty="0">
                <a:latin typeface="Microsoft Sans Serif"/>
                <a:cs typeface="Microsoft Sans Serif"/>
              </a:rPr>
              <a:t>eigenvalues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and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eigenvectors.</a:t>
            </a:r>
            <a:endParaRPr sz="2800">
              <a:latin typeface="Microsoft Sans Serif"/>
              <a:cs typeface="Microsoft Sans Serif"/>
            </a:endParaRPr>
          </a:p>
          <a:p>
            <a:pPr marL="355600" marR="33020" indent="-343535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Microsoft Sans Serif"/>
                <a:cs typeface="Microsoft Sans Serif"/>
              </a:rPr>
              <a:t>We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10" dirty="0">
                <a:latin typeface="Microsoft Sans Serif"/>
                <a:cs typeface="Microsoft Sans Serif"/>
              </a:rPr>
              <a:t>will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00" dirty="0">
                <a:latin typeface="Microsoft Sans Serif"/>
                <a:cs typeface="Microsoft Sans Serif"/>
              </a:rPr>
              <a:t>then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30" dirty="0">
                <a:latin typeface="Microsoft Sans Serif"/>
                <a:cs typeface="Microsoft Sans Serif"/>
              </a:rPr>
              <a:t>test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90" dirty="0">
                <a:latin typeface="Microsoft Sans Serif"/>
                <a:cs typeface="Microsoft Sans Serif"/>
              </a:rPr>
              <a:t>whether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40" dirty="0">
                <a:latin typeface="Microsoft Sans Serif"/>
                <a:cs typeface="Microsoft Sans Serif"/>
              </a:rPr>
              <a:t>first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70" dirty="0">
                <a:latin typeface="Microsoft Sans Serif"/>
                <a:cs typeface="Microsoft Sans Serif"/>
              </a:rPr>
              <a:t>vector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and </a:t>
            </a:r>
            <a:r>
              <a:rPr sz="2800" dirty="0">
                <a:latin typeface="Microsoft Sans Serif"/>
                <a:cs typeface="Microsoft Sans Serif"/>
              </a:rPr>
              <a:t>value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are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in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105" dirty="0">
                <a:latin typeface="Microsoft Sans Serif"/>
                <a:cs typeface="Microsoft Sans Serif"/>
              </a:rPr>
              <a:t>fact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an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eigenvalue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and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40" dirty="0">
                <a:latin typeface="Microsoft Sans Serif"/>
                <a:cs typeface="Microsoft Sans Serif"/>
              </a:rPr>
              <a:t>eigenvector </a:t>
            </a:r>
            <a:r>
              <a:rPr sz="2800" spc="165" dirty="0">
                <a:latin typeface="Microsoft Sans Serif"/>
                <a:cs typeface="Microsoft Sans Serif"/>
              </a:rPr>
              <a:t>for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matrix.</a:t>
            </a:r>
            <a:endParaRPr sz="2800">
              <a:latin typeface="Microsoft Sans Serif"/>
              <a:cs typeface="Microsoft Sans Serif"/>
            </a:endParaRPr>
          </a:p>
          <a:p>
            <a:pPr marL="5169535">
              <a:lnSpc>
                <a:spcPct val="100000"/>
              </a:lnSpc>
              <a:spcBef>
                <a:spcPts val="1680"/>
              </a:spcBef>
            </a:pPr>
            <a:r>
              <a:rPr sz="1800" i="1" spc="-10" dirty="0">
                <a:solidFill>
                  <a:srgbClr val="003366"/>
                </a:solidFill>
                <a:latin typeface="Arial"/>
                <a:cs typeface="Arial"/>
              </a:rPr>
              <a:t>Example...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305560"/>
            <a:chOff x="0" y="0"/>
            <a:chExt cx="9144000" cy="130556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0825" cy="1089025"/>
            </a:xfrm>
            <a:custGeom>
              <a:avLst/>
              <a:gdLst/>
              <a:ahLst/>
              <a:cxnLst/>
              <a:rect l="l" t="t" r="r" b="b"/>
              <a:pathLst>
                <a:path w="9140825" h="1089025">
                  <a:moveTo>
                    <a:pt x="0" y="1088999"/>
                  </a:moveTo>
                  <a:lnTo>
                    <a:pt x="9140761" y="1088999"/>
                  </a:lnTo>
                  <a:lnTo>
                    <a:pt x="9140761" y="0"/>
                  </a:lnTo>
                  <a:lnTo>
                    <a:pt x="0" y="0"/>
                  </a:lnTo>
                  <a:lnTo>
                    <a:pt x="0" y="108899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1088999"/>
              <a:ext cx="9144000" cy="216535"/>
            </a:xfrm>
            <a:custGeom>
              <a:avLst/>
              <a:gdLst/>
              <a:ahLst/>
              <a:cxnLst/>
              <a:rect l="l" t="t" r="r" b="b"/>
              <a:pathLst>
                <a:path w="9144000" h="216534">
                  <a:moveTo>
                    <a:pt x="9143631" y="0"/>
                  </a:moveTo>
                  <a:lnTo>
                    <a:pt x="0" y="0"/>
                  </a:lnTo>
                  <a:lnTo>
                    <a:pt x="0" y="216001"/>
                  </a:lnTo>
                  <a:lnTo>
                    <a:pt x="9143631" y="216001"/>
                  </a:lnTo>
                  <a:lnTo>
                    <a:pt x="9143631" y="0"/>
                  </a:lnTo>
                  <a:close/>
                </a:path>
              </a:pathLst>
            </a:custGeom>
            <a:solidFill>
              <a:srgbClr val="001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0"/>
                </a:move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lnTo>
                  <a:pt x="0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617457" y="5403999"/>
            <a:ext cx="3868420" cy="9601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23850">
              <a:lnSpc>
                <a:spcPct val="127800"/>
              </a:lnSpc>
              <a:spcBef>
                <a:spcPts val="95"/>
              </a:spcBef>
            </a:pPr>
            <a:r>
              <a:rPr sz="2400" b="1" spc="-10" dirty="0">
                <a:solidFill>
                  <a:srgbClr val="0000FF"/>
                </a:solidFill>
                <a:latin typeface="Courier New"/>
                <a:cs typeface="Courier New"/>
                <a:hlinkClick r:id="rId2"/>
              </a:rPr>
              <a:t>contact@mitu.co.in</a:t>
            </a:r>
            <a:r>
              <a:rPr sz="2400" b="1" spc="-1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0000FF"/>
                </a:solidFill>
                <a:latin typeface="Courier New"/>
                <a:cs typeface="Courier New"/>
                <a:hlinkClick r:id="rId3"/>
              </a:rPr>
              <a:t>tushar@tusharkute.com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 idx="4294967295"/>
          </p:nvPr>
        </p:nvSpPr>
        <p:spPr>
          <a:xfrm>
            <a:off x="535940" y="333984"/>
            <a:ext cx="729995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0543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Thank</a:t>
            </a:r>
            <a:r>
              <a:rPr spc="-185" dirty="0"/>
              <a:t> </a:t>
            </a:r>
            <a:r>
              <a:rPr spc="-25" dirty="0"/>
              <a:t>you</a:t>
            </a:r>
          </a:p>
        </p:txBody>
      </p:sp>
      <p:sp>
        <p:nvSpPr>
          <p:cNvPr id="8" name="object 8"/>
          <p:cNvSpPr/>
          <p:nvPr/>
        </p:nvSpPr>
        <p:spPr>
          <a:xfrm>
            <a:off x="71996" y="1368005"/>
            <a:ext cx="9000490" cy="432434"/>
          </a:xfrm>
          <a:custGeom>
            <a:avLst/>
            <a:gdLst/>
            <a:ahLst/>
            <a:cxnLst/>
            <a:rect l="l" t="t" r="r" b="b"/>
            <a:pathLst>
              <a:path w="9000490" h="432435">
                <a:moveTo>
                  <a:pt x="9000007" y="0"/>
                </a:moveTo>
                <a:lnTo>
                  <a:pt x="0" y="0"/>
                </a:lnTo>
                <a:lnTo>
                  <a:pt x="0" y="431990"/>
                </a:lnTo>
                <a:lnTo>
                  <a:pt x="4500003" y="431990"/>
                </a:lnTo>
                <a:lnTo>
                  <a:pt x="9000007" y="431990"/>
                </a:lnTo>
                <a:lnTo>
                  <a:pt x="9000007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1996" y="1368005"/>
            <a:ext cx="9000490" cy="432434"/>
          </a:xfrm>
          <a:prstGeom prst="rect">
            <a:avLst/>
          </a:prstGeom>
          <a:ln w="3175">
            <a:solidFill>
              <a:srgbClr val="FFD21F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60"/>
              </a:spcBef>
            </a:pPr>
            <a:r>
              <a:rPr sz="1400" i="1" spc="-45" dirty="0">
                <a:latin typeface="Arial"/>
                <a:cs typeface="Arial"/>
              </a:rPr>
              <a:t>This</a:t>
            </a:r>
            <a:r>
              <a:rPr sz="1400" i="1" spc="-4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presentation</a:t>
            </a:r>
            <a:r>
              <a:rPr sz="1400" i="1" spc="-40" dirty="0">
                <a:latin typeface="Arial"/>
                <a:cs typeface="Arial"/>
              </a:rPr>
              <a:t> </a:t>
            </a:r>
            <a:r>
              <a:rPr sz="1400" i="1" spc="-55" dirty="0">
                <a:latin typeface="Arial"/>
                <a:cs typeface="Arial"/>
              </a:rPr>
              <a:t>is</a:t>
            </a:r>
            <a:r>
              <a:rPr sz="1400" i="1" spc="-4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created</a:t>
            </a:r>
            <a:r>
              <a:rPr sz="1400" i="1" spc="-40" dirty="0">
                <a:latin typeface="Arial"/>
                <a:cs typeface="Arial"/>
              </a:rPr>
              <a:t> </a:t>
            </a:r>
            <a:r>
              <a:rPr sz="1400" i="1" spc="-30" dirty="0">
                <a:latin typeface="Arial"/>
                <a:cs typeface="Arial"/>
              </a:rPr>
              <a:t>using</a:t>
            </a:r>
            <a:r>
              <a:rPr sz="1400" i="1" spc="-4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LibreOffice</a:t>
            </a:r>
            <a:r>
              <a:rPr sz="1400" i="1" spc="-25" dirty="0">
                <a:latin typeface="Arial"/>
                <a:cs typeface="Arial"/>
              </a:rPr>
              <a:t> </a:t>
            </a:r>
            <a:r>
              <a:rPr sz="1400" i="1" spc="-45" dirty="0">
                <a:latin typeface="Arial"/>
                <a:cs typeface="Arial"/>
              </a:rPr>
              <a:t>Impress</a:t>
            </a:r>
            <a:r>
              <a:rPr sz="1400" i="1" spc="-40" dirty="0">
                <a:latin typeface="Arial"/>
                <a:cs typeface="Arial"/>
              </a:rPr>
              <a:t> </a:t>
            </a:r>
            <a:r>
              <a:rPr sz="1400" i="1" spc="-20" dirty="0">
                <a:latin typeface="Arial"/>
                <a:cs typeface="Arial"/>
              </a:rPr>
              <a:t>5.1.6.2,</a:t>
            </a:r>
            <a:r>
              <a:rPr sz="1400" i="1" spc="-35" dirty="0">
                <a:latin typeface="Arial"/>
                <a:cs typeface="Arial"/>
              </a:rPr>
              <a:t> </a:t>
            </a:r>
            <a:r>
              <a:rPr sz="1400" i="1" spc="-40" dirty="0">
                <a:latin typeface="Arial"/>
                <a:cs typeface="Arial"/>
              </a:rPr>
              <a:t>can</a:t>
            </a:r>
            <a:r>
              <a:rPr sz="1400" i="1" spc="-30" dirty="0">
                <a:latin typeface="Arial"/>
                <a:cs typeface="Arial"/>
              </a:rPr>
              <a:t> be</a:t>
            </a:r>
            <a:r>
              <a:rPr sz="1400" i="1" spc="-40" dirty="0">
                <a:latin typeface="Arial"/>
                <a:cs typeface="Arial"/>
              </a:rPr>
              <a:t> </a:t>
            </a:r>
            <a:r>
              <a:rPr sz="1400" i="1" spc="-60" dirty="0">
                <a:latin typeface="Arial"/>
                <a:cs typeface="Arial"/>
              </a:rPr>
              <a:t>used</a:t>
            </a:r>
            <a:r>
              <a:rPr sz="1400" i="1" spc="-4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freely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spc="-75" dirty="0">
                <a:latin typeface="Arial"/>
                <a:cs typeface="Arial"/>
              </a:rPr>
              <a:t>as</a:t>
            </a:r>
            <a:r>
              <a:rPr sz="1400" i="1" spc="-4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per</a:t>
            </a:r>
            <a:r>
              <a:rPr sz="1400" i="1" spc="-30" dirty="0">
                <a:latin typeface="Arial"/>
                <a:cs typeface="Arial"/>
              </a:rPr>
              <a:t> </a:t>
            </a:r>
            <a:r>
              <a:rPr sz="1400" i="1" spc="-110" dirty="0">
                <a:latin typeface="Arial"/>
                <a:cs typeface="Arial"/>
              </a:rPr>
              <a:t>GNU</a:t>
            </a:r>
            <a:r>
              <a:rPr sz="1400" i="1" spc="-35" dirty="0">
                <a:latin typeface="Arial"/>
                <a:cs typeface="Arial"/>
              </a:rPr>
              <a:t> </a:t>
            </a:r>
            <a:r>
              <a:rPr sz="1400" i="1" spc="-30" dirty="0">
                <a:latin typeface="Arial"/>
                <a:cs typeface="Arial"/>
              </a:rPr>
              <a:t>General</a:t>
            </a:r>
            <a:r>
              <a:rPr sz="1400" i="1" spc="-40" dirty="0">
                <a:latin typeface="Arial"/>
                <a:cs typeface="Arial"/>
              </a:rPr>
              <a:t> </a:t>
            </a:r>
            <a:r>
              <a:rPr sz="1400" i="1" spc="-20" dirty="0">
                <a:latin typeface="Arial"/>
                <a:cs typeface="Arial"/>
              </a:rPr>
              <a:t>Public</a:t>
            </a:r>
            <a:r>
              <a:rPr sz="1400" i="1" spc="-35" dirty="0">
                <a:latin typeface="Arial"/>
                <a:cs typeface="Arial"/>
              </a:rPr>
              <a:t> </a:t>
            </a:r>
            <a:r>
              <a:rPr sz="1400" i="1" spc="-10" dirty="0">
                <a:latin typeface="Arial"/>
                <a:cs typeface="Arial"/>
              </a:rPr>
              <a:t>License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43999" y="4176001"/>
            <a:ext cx="3384550" cy="1080135"/>
          </a:xfrm>
          <a:custGeom>
            <a:avLst/>
            <a:gdLst/>
            <a:ahLst/>
            <a:cxnLst/>
            <a:rect l="l" t="t" r="r" b="b"/>
            <a:pathLst>
              <a:path w="3384550" h="1080135">
                <a:moveTo>
                  <a:pt x="3384003" y="0"/>
                </a:moveTo>
                <a:lnTo>
                  <a:pt x="0" y="0"/>
                </a:lnTo>
                <a:lnTo>
                  <a:pt x="0" y="1079995"/>
                </a:lnTo>
                <a:lnTo>
                  <a:pt x="1691995" y="1079995"/>
                </a:lnTo>
                <a:lnTo>
                  <a:pt x="3384003" y="1079995"/>
                </a:lnTo>
                <a:lnTo>
                  <a:pt x="3384003" y="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843999" y="4176001"/>
            <a:ext cx="3384550" cy="1080135"/>
          </a:xfrm>
          <a:prstGeom prst="rect">
            <a:avLst/>
          </a:prstGeom>
          <a:ln w="3175">
            <a:solidFill>
              <a:srgbClr val="3364A3"/>
            </a:solidFill>
          </a:ln>
        </p:spPr>
        <p:txBody>
          <a:bodyPr vert="horz" wrap="square" lIns="0" tIns="128270" rIns="0" bIns="0" rtlCol="0">
            <a:spAutoFit/>
          </a:bodyPr>
          <a:lstStyle/>
          <a:p>
            <a:pPr marL="537845" marR="532130" indent="635" algn="ctr">
              <a:lnSpc>
                <a:spcPct val="100000"/>
              </a:lnSpc>
              <a:spcBef>
                <a:spcPts val="1010"/>
              </a:spcBef>
            </a:pPr>
            <a:r>
              <a:rPr sz="1800" b="1" dirty="0">
                <a:latin typeface="Arial"/>
                <a:cs typeface="Arial"/>
              </a:rPr>
              <a:t>Web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Resources </a:t>
            </a:r>
            <a:r>
              <a:rPr sz="1800" spc="45" dirty="0">
                <a:latin typeface="Microsoft Sans Serif"/>
                <a:cs typeface="Microsoft Sans Serif"/>
              </a:rPr>
              <a:t>https://mitu.co.in </a:t>
            </a:r>
            <a:r>
              <a:rPr sz="1800" spc="45" dirty="0">
                <a:latin typeface="Microsoft Sans Serif"/>
                <a:cs typeface="Microsoft Sans Serif"/>
                <a:hlinkClick r:id="rId4"/>
              </a:rPr>
              <a:t>http://tusharkute.com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5282" y="3161157"/>
            <a:ext cx="1494713" cy="25848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1682" y="2225878"/>
            <a:ext cx="706323" cy="70632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19997" y="2231644"/>
            <a:ext cx="959764" cy="72000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150186" y="3182657"/>
            <a:ext cx="15455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50" dirty="0">
                <a:solidFill>
                  <a:srgbClr val="3C5997"/>
                </a:solidFill>
                <a:latin typeface="Trebuchet MS"/>
                <a:cs typeface="Trebuchet MS"/>
              </a:rPr>
              <a:t>/mITuSkillologies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19994" y="2188806"/>
            <a:ext cx="791997" cy="79307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060342" y="3129381"/>
            <a:ext cx="12579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CA9E0"/>
                </a:solidFill>
                <a:latin typeface="Source Han Sans JP"/>
                <a:cs typeface="Source Han Sans JP"/>
              </a:rPr>
              <a:t>@mitu_group</a:t>
            </a:r>
            <a:endParaRPr sz="1500">
              <a:latin typeface="Source Han Sans JP"/>
              <a:cs typeface="Source Han Sans JP"/>
            </a:endParaRPr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20003" y="2294280"/>
            <a:ext cx="657364" cy="65736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5754496" y="3129381"/>
            <a:ext cx="14871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475" marR="5080" indent="-23241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2CA9E0"/>
                </a:solidFill>
                <a:latin typeface="Source Han Sans JP"/>
                <a:cs typeface="Source Han Sans JP"/>
              </a:rPr>
              <a:t>/company/mitu- skillologies</a:t>
            </a:r>
            <a:endParaRPr sz="1500">
              <a:latin typeface="Source Han Sans JP"/>
              <a:cs typeface="Source Han Sans JP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32001" y="2268359"/>
            <a:ext cx="1120317" cy="61127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452258" y="3119297"/>
            <a:ext cx="15068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3333"/>
                </a:solidFill>
                <a:latin typeface="Source Han Sans JP"/>
                <a:cs typeface="Source Han Sans JP"/>
              </a:rPr>
              <a:t>MITUSkillologies</a:t>
            </a:r>
            <a:endParaRPr sz="1500">
              <a:latin typeface="Source Han Sans JP"/>
              <a:cs typeface="Source Han Sans JP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5012</Words>
  <Application>Microsoft Office PowerPoint</Application>
  <PresentationFormat>On-screen Show (4:3)</PresentationFormat>
  <Paragraphs>565</Paragraphs>
  <Slides>80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7" baseType="lpstr">
      <vt:lpstr>Arial</vt:lpstr>
      <vt:lpstr>Courier New</vt:lpstr>
      <vt:lpstr>Microsoft Sans Serif</vt:lpstr>
      <vt:lpstr>Source Han Sans JP</vt:lpstr>
      <vt:lpstr>Times New Roman</vt:lpstr>
      <vt:lpstr>Trebuchet MS</vt:lpstr>
      <vt:lpstr>Office Theme</vt:lpstr>
      <vt:lpstr>Linear Algebra</vt:lpstr>
      <vt:lpstr>What is Linear Algebra</vt:lpstr>
      <vt:lpstr>What is Linear Algebra</vt:lpstr>
      <vt:lpstr>Numerical Linear Algebra</vt:lpstr>
      <vt:lpstr>Linear Algebra and Statistics</vt:lpstr>
      <vt:lpstr>Applications of Linear Algebra</vt:lpstr>
      <vt:lpstr>Linear Algebra in Machine Learning</vt:lpstr>
      <vt:lpstr>Example</vt:lpstr>
      <vt:lpstr>Vector</vt:lpstr>
      <vt:lpstr>Vector</vt:lpstr>
      <vt:lpstr>Vector</vt:lpstr>
      <vt:lpstr>Vector Arithmetic</vt:lpstr>
      <vt:lpstr>Vector Arithmetic</vt:lpstr>
      <vt:lpstr>Vector Arithmetic</vt:lpstr>
      <vt:lpstr>Vector Arithmetic</vt:lpstr>
      <vt:lpstr>Vector Arithmetic</vt:lpstr>
      <vt:lpstr>Vector Arithmetic</vt:lpstr>
      <vt:lpstr>Vector Arithmetic</vt:lpstr>
      <vt:lpstr>Vector Arithmetic</vt:lpstr>
      <vt:lpstr>Vector Arithmetic</vt:lpstr>
      <vt:lpstr>Vector Arithmetic</vt:lpstr>
      <vt:lpstr>Vector Arithmetic</vt:lpstr>
      <vt:lpstr>Vector Norm</vt:lpstr>
      <vt:lpstr>Vector Norm</vt:lpstr>
      <vt:lpstr>Vector L1 Norm</vt:lpstr>
      <vt:lpstr>Vector L1 Norm</vt:lpstr>
      <vt:lpstr>Vector L2 Norm</vt:lpstr>
      <vt:lpstr>Vector L2 Norm</vt:lpstr>
      <vt:lpstr>Matrix</vt:lpstr>
      <vt:lpstr>Matrix</vt:lpstr>
      <vt:lpstr>Matrix Arithmetic</vt:lpstr>
      <vt:lpstr>Matrix Arithmetic</vt:lpstr>
      <vt:lpstr>Matrix Arithmetic</vt:lpstr>
      <vt:lpstr>Matrix Arithmetic</vt:lpstr>
      <vt:lpstr>Matrix Arithmetic</vt:lpstr>
      <vt:lpstr>Matrix Arithmetic</vt:lpstr>
      <vt:lpstr>Matrix Arithmetic</vt:lpstr>
      <vt:lpstr>Matrix Arithmetic</vt:lpstr>
      <vt:lpstr>Matrix Arithmetic</vt:lpstr>
      <vt:lpstr>Matrix Arithmetic</vt:lpstr>
      <vt:lpstr>Matrix Arithmetic</vt:lpstr>
      <vt:lpstr>Matrix Arithmetic</vt:lpstr>
      <vt:lpstr>Matrix Arithmetic</vt:lpstr>
      <vt:lpstr>Linear Equations using Matrix</vt:lpstr>
      <vt:lpstr>System of Linear Equations</vt:lpstr>
      <vt:lpstr>System of Linear Equations</vt:lpstr>
      <vt:lpstr>System of Linear Equations</vt:lpstr>
      <vt:lpstr>System of Linear Equations</vt:lpstr>
      <vt:lpstr>System of Linear Equations</vt:lpstr>
      <vt:lpstr>System of Linear Equations</vt:lpstr>
      <vt:lpstr>System of Linear Equations</vt:lpstr>
      <vt:lpstr>Linear Equations</vt:lpstr>
      <vt:lpstr>Dimensions</vt:lpstr>
      <vt:lpstr>Variables</vt:lpstr>
      <vt:lpstr>Variables</vt:lpstr>
      <vt:lpstr>Variables</vt:lpstr>
      <vt:lpstr>Independent</vt:lpstr>
      <vt:lpstr>Where the Equations are True</vt:lpstr>
      <vt:lpstr>Where the Equations are True</vt:lpstr>
      <vt:lpstr>Linear Independence</vt:lpstr>
      <vt:lpstr>Linear Independence</vt:lpstr>
      <vt:lpstr>Picture of Linear Independence</vt:lpstr>
      <vt:lpstr>Matrix Factorization</vt:lpstr>
      <vt:lpstr>Matrix Decompotition</vt:lpstr>
      <vt:lpstr>Matrix Decompotition</vt:lpstr>
      <vt:lpstr>LU Decompotition</vt:lpstr>
      <vt:lpstr>LU Decompotition</vt:lpstr>
      <vt:lpstr>LU Decompotition</vt:lpstr>
      <vt:lpstr>Eigen Decompotition</vt:lpstr>
      <vt:lpstr>Eigen Decompotition</vt:lpstr>
      <vt:lpstr>Eigen Decompotition</vt:lpstr>
      <vt:lpstr>Eigen Decompotition</vt:lpstr>
      <vt:lpstr>Eigen Vector and Values</vt:lpstr>
      <vt:lpstr>Eigen Vector and Values</vt:lpstr>
      <vt:lpstr>Eigen Vector and Values</vt:lpstr>
      <vt:lpstr>Eigen Vector and Values : Example</vt:lpstr>
      <vt:lpstr>Eigen Vector and Values : Example</vt:lpstr>
      <vt:lpstr>Eigen Vector and Values</vt:lpstr>
      <vt:lpstr>Confirm Eigen Vector and Values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 Powerpoint presentation</dc:title>
  <dc:creator>Presentation Magazine</dc:creator>
  <cp:lastModifiedBy>Sanjit Setua</cp:lastModifiedBy>
  <cp:revision>3</cp:revision>
  <dcterms:created xsi:type="dcterms:W3CDTF">2024-09-06T02:03:37Z</dcterms:created>
  <dcterms:modified xsi:type="dcterms:W3CDTF">2024-09-06T02:31:33Z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2021-06-06T00:00:00Z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6.4</vt:lpwstr>
  </property>
  <property fmtid="{D5CDD505-2E9C-101B-9397-08002B2CF9AE}" pid="5" name="LastSaved">
    <vt:filetime>2021-06-06T00:00:00Z</vt:filetime>
  </property>
</Properties>
</file>